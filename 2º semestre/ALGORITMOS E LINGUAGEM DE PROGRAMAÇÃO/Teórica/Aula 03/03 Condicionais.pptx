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62.xml" ContentType="application/vnd.openxmlformats-officedocument.presentationml.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67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slides/slide63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68.xml" ContentType="application/vnd.openxmlformats-officedocument.presentationml.slide+xml"/>
  <Override PartName="/ppt/slides/slide58.xml" ContentType="application/vnd.openxmlformats-officedocument.presentationml.slide+xml"/>
  <Override PartName="/ppt/viewProps.xml" ContentType="application/vnd.openxmlformats-officedocument.presentationml.viewProps+xml"/>
  <Override PartName="/ppt/slides/slide69.xml" ContentType="application/vnd.openxmlformats-officedocument.presentationml.slide+xml"/>
  <Override PartName="/ppt/slides/slide59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64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slides/slide60.xml" ContentType="application/vnd.openxmlformats-officedocument.presentationml.slide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7"/>
  </p:notesMasterIdLst>
  <p:sldIdLst>
    <p:sldId id="317" r:id="rId57"/>
    <p:sldId id="318" r:id="rId58"/>
    <p:sldId id="319" r:id="rId59"/>
    <p:sldId id="320" r:id="rId60"/>
    <p:sldId id="321" r:id="rId61"/>
    <p:sldId id="322" r:id="rId62"/>
    <p:sldId id="325" r:id="rId63"/>
    <p:sldId id="326" r:id="rId64"/>
    <p:sldId id="323" r:id="rId65"/>
    <p:sldId id="324" r:id="rId66"/>
    <p:sldId id="327" r:id="rId67"/>
    <p:sldId id="328" r:id="rId68"/>
    <p:sldId id="329" r:id="rId69"/>
    <p:sldId id="330" r:id="rId70"/>
    <p:sldId id="331" r:id="rId71"/>
    <p:sldId id="332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2" autoAdjust="0"/>
    <p:restoredTop sz="92615" autoAdjust="0"/>
  </p:normalViewPr>
  <p:slideViewPr>
    <p:cSldViewPr snapToGrid="0">
      <p:cViewPr varScale="1">
        <p:scale>
          <a:sx n="99" d="100"/>
          <a:sy n="99" d="100"/>
        </p:scale>
        <p:origin x="12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62.xml" Id="rId63" /><Relationship Type="http://schemas.openxmlformats.org/officeDocument/2006/relationships/slide" Target="/ppt/slides/slide67.xml" Id="rId68" /><Relationship Type="http://schemas.openxmlformats.org/officeDocument/2006/relationships/slide" Target="/ppt/slides/slide57.xml" Id="rId58" /><Relationship Type="http://schemas.openxmlformats.org/officeDocument/2006/relationships/presProps" Target="/ppt/presProps.xml" Id="rId128" /><Relationship Type="http://schemas.openxmlformats.org/officeDocument/2006/relationships/slide" Target="/ppt/slides/slide63.xml" Id="rId64" /><Relationship Type="http://schemas.openxmlformats.org/officeDocument/2006/relationships/slide" Target="/ppt/slides/slide68.xml" Id="rId69" /><Relationship Type="http://schemas.openxmlformats.org/officeDocument/2006/relationships/slide" Target="/ppt/slides/slide58.xml" Id="rId59" /><Relationship Type="http://schemas.openxmlformats.org/officeDocument/2006/relationships/viewProps" Target="/ppt/viewProps.xml" Id="rId129" /><Relationship Type="http://schemas.openxmlformats.org/officeDocument/2006/relationships/slide" Target="/ppt/slides/slide69.xml" Id="rId7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9.xml" Id="rId60" /><Relationship Type="http://schemas.openxmlformats.org/officeDocument/2006/relationships/slide" Target="/ppt/slides/slide64.xml" Id="rId65" /><Relationship Type="http://schemas.openxmlformats.org/officeDocument/2006/relationships/theme" Target="/ppt/theme/theme1.xml" Id="rId130" /><Relationship Type="http://schemas.openxmlformats.org/officeDocument/2006/relationships/slide" Target="/ppt/slides/slide70.xml" Id="rId71" /><Relationship Type="http://schemas.openxmlformats.org/officeDocument/2006/relationships/slide" Target="/ppt/slides/slide65.xml" Id="rId66" /><Relationship Type="http://schemas.openxmlformats.org/officeDocument/2006/relationships/tableStyles" Target="/ppt/tableStyles.xml" Id="rId131" /><Relationship Type="http://schemas.openxmlformats.org/officeDocument/2006/relationships/slide" Target="/ppt/slides/slide60.xml" Id="rId61" /><Relationship Type="http://schemas.openxmlformats.org/officeDocument/2006/relationships/slide" Target="/ppt/slides/slide71.xml" Id="rId72" /><Relationship Type="http://schemas.openxmlformats.org/officeDocument/2006/relationships/slide" Target="/ppt/slides/slide66.xml" Id="rId67" /><Relationship Type="http://schemas.openxmlformats.org/officeDocument/2006/relationships/slide" Target="/ppt/slides/slide61.xml" Id="rId62" /><Relationship Type="http://schemas.openxmlformats.org/officeDocument/2006/relationships/slide" Target="/ppt/slides/slide56.xml" Id="rId57" /><Relationship Type="http://schemas.openxmlformats.org/officeDocument/2006/relationships/notesMaster" Target="/ppt/notesMasters/notesMaster1.xml" Id="rId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56.xml" Id="rId2" /><Relationship Type="http://schemas.openxmlformats.org/officeDocument/2006/relationships/notesMaster" Target="/ppt/notesMasters/notesMaster1.xml" Id="rI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59.xml" Id="rId2" /><Relationship Type="http://schemas.openxmlformats.org/officeDocument/2006/relationships/notesMaster" Target="/ppt/notesMasters/notesMaster1.xml" Id="rI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61.xml" Id="rId2" /><Relationship Type="http://schemas.openxmlformats.org/officeDocument/2006/relationships/notesMaster" Target="/ppt/notesMasters/notesMaster1.xml" Id="rI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62.xml" Id="rId2" /><Relationship Type="http://schemas.openxmlformats.org/officeDocument/2006/relationships/notesMaster" Target="/ppt/notesMasters/notesMaster1.xml" Id="rI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63.xml" Id="rId2" /><Relationship Type="http://schemas.openxmlformats.org/officeDocument/2006/relationships/notesMaster" Target="/ppt/notesMasters/notesMaster1.xml" Id="rI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66.xml" Id="rId2" /><Relationship Type="http://schemas.openxmlformats.org/officeDocument/2006/relationships/notesMaster" Target="/ppt/notesMasters/notesMaster1.xml" Id="rId1" /></Relationship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044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07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03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9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31529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2" y="1056440"/>
            <a:ext cx="11387433" cy="5704366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801557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theme" Target="/ppt/theme/theme1.xml" Id="rId6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56.xml.rels>&#65279;<?xml version="1.0" encoding="utf-8"?><Relationships xmlns="http://schemas.openxmlformats.org/package/2006/relationships"><Relationship Type="http://schemas.openxmlformats.org/officeDocument/2006/relationships/notesSlide" Target="/ppt/notesSlides/notesSlide12.xml" Id="rId2" /><Relationship Type="http://schemas.openxmlformats.org/officeDocument/2006/relationships/slideLayout" Target="/ppt/slideLayouts/slideLayout2.xml" Id="rId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notesSlide" Target="/ppt/notesSlides/notesSlide13.xml" Id="rId2" /><Relationship Type="http://schemas.openxmlformats.org/officeDocument/2006/relationships/slideLayout" Target="/ppt/slideLayouts/slideLayout5.xml" Id="rId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notesSlide" Target="/ppt/notesSlides/notesSlide14.xml" Id="rId2" /><Relationship Type="http://schemas.openxmlformats.org/officeDocument/2006/relationships/slideLayout" Target="/ppt/slideLayouts/slideLayout5.xml" Id="rId1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image" Target="/ppt/media/image22.png" Id="rId3" /><Relationship Type="http://schemas.openxmlformats.org/officeDocument/2006/relationships/notesSlide" Target="/ppt/notesSlides/notesSlide15.xml" Id="rId2" /><Relationship Type="http://schemas.openxmlformats.org/officeDocument/2006/relationships/slideLayout" Target="/ppt/slideLayouts/slideLayout5.xml" Id="rId1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image" Target="/ppt/media/image23.png" Id="rId3" /><Relationship Type="http://schemas.openxmlformats.org/officeDocument/2006/relationships/notesSlide" Target="/ppt/notesSlides/notesSlide16.xml" Id="rId2" /><Relationship Type="http://schemas.openxmlformats.org/officeDocument/2006/relationships/slideLayout" Target="/ppt/slideLayouts/slideLayout5.xml" Id="rId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notesSlide" Target="/ppt/notesSlides/notesSlide17.xml" Id="rId2" /><Relationship Type="http://schemas.openxmlformats.org/officeDocument/2006/relationships/slideLayout" Target="/ppt/slideLayouts/slideLayout5.xml" Id="rId1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image" Target="/ppt/media/image24.png" Id="rId2" /><Relationship Type="http://schemas.openxmlformats.org/officeDocument/2006/relationships/slideLayout" Target="/ppt/slideLayouts/slideLayout5.xml" Id="rId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image" Target="/ppt/media/image25.png" Id="rId2" /><Relationship Type="http://schemas.openxmlformats.org/officeDocument/2006/relationships/slideLayout" Target="/ppt/slideLayouts/slideLayout5.xml" Id="rId1" /></Relationships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e </a:t>
            </a:r>
            <a:r>
              <a:rPr lang="en-US" dirty="0" err="1"/>
              <a:t>Linguagens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Condicionais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EXPRESSÕES CONDICIONAIS</a:t>
            </a:r>
          </a:p>
          <a:p>
            <a:pPr lvl="1"/>
            <a:r>
              <a:rPr lang="pt-BR" dirty="0"/>
              <a:t>O fluxo de um programa em C se refere à ordem em que as instruções são executadas e </a:t>
            </a:r>
            <a:r>
              <a:rPr lang="pt-BR" dirty="0">
                <a:solidFill>
                  <a:srgbClr val="FF0000"/>
                </a:solidFill>
              </a:rPr>
              <a:t>desvios</a:t>
            </a:r>
            <a:r>
              <a:rPr lang="pt-BR" dirty="0"/>
              <a:t> são mecanismos que alteram essa ordem.</a:t>
            </a:r>
          </a:p>
          <a:p>
            <a:pPr lvl="1"/>
            <a:r>
              <a:rPr lang="pt-BR" dirty="0"/>
              <a:t>As expressões condicionais são formas de desvio que permitem ao programa tomar decisões baseadas em condições (testes lógicos que resultem em </a:t>
            </a:r>
            <a:r>
              <a:rPr lang="pt-BR" dirty="0" err="1">
                <a:solidFill>
                  <a:srgbClr val="FF0000"/>
                </a:solidFill>
              </a:rPr>
              <a:t>true</a:t>
            </a:r>
            <a:r>
              <a:rPr lang="pt-BR" dirty="0"/>
              <a:t> ou </a:t>
            </a:r>
            <a:r>
              <a:rPr lang="pt-BR" dirty="0">
                <a:solidFill>
                  <a:srgbClr val="FF0000"/>
                </a:solidFill>
              </a:rPr>
              <a:t>false</a:t>
            </a:r>
            <a:r>
              <a:rPr lang="pt-BR" dirty="0"/>
              <a:t>).</a:t>
            </a:r>
          </a:p>
          <a:p>
            <a:pPr lvl="2"/>
            <a:r>
              <a:rPr lang="pt-BR" dirty="0"/>
              <a:t>Desta forma há a execução de escopos diferentes, dependendo do resultado dessas condições.</a:t>
            </a:r>
          </a:p>
          <a:p>
            <a:pPr lvl="1"/>
            <a:r>
              <a:rPr lang="pt-BR" dirty="0"/>
              <a:t>As estruturas condicionais mais comuns são </a:t>
            </a:r>
            <a:r>
              <a:rPr lang="pt-BR" dirty="0" err="1">
                <a:solidFill>
                  <a:srgbClr val="FF0000"/>
                </a:solidFill>
              </a:rPr>
              <a:t>if</a:t>
            </a:r>
            <a:r>
              <a:rPr lang="pt-BR" dirty="0"/>
              <a:t>, </a:t>
            </a:r>
            <a:r>
              <a:rPr lang="pt-BR" dirty="0" err="1">
                <a:solidFill>
                  <a:srgbClr val="FF0000"/>
                </a:solidFill>
              </a:rPr>
              <a:t>if-else</a:t>
            </a:r>
            <a:r>
              <a:rPr lang="pt-BR" dirty="0"/>
              <a:t> e </a:t>
            </a:r>
            <a:r>
              <a:rPr lang="pt-BR" dirty="0">
                <a:solidFill>
                  <a:srgbClr val="FF0000"/>
                </a:solidFill>
              </a:rPr>
              <a:t>switch-case</a:t>
            </a:r>
            <a:r>
              <a:rPr lang="pt-BR" dirty="0"/>
              <a:t>.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if</a:t>
            </a:r>
            <a:r>
              <a:rPr lang="pt-BR" dirty="0">
                <a:solidFill>
                  <a:srgbClr val="FF6600"/>
                </a:solidFill>
              </a:rPr>
              <a:t>:</a:t>
            </a:r>
            <a:r>
              <a:rPr lang="pt-BR" dirty="0"/>
              <a:t> executa um escopo de código se uma condição for verdadeira.</a:t>
            </a:r>
          </a:p>
          <a:p>
            <a:pPr lvl="2"/>
            <a:r>
              <a:rPr lang="pt-BR" dirty="0" err="1">
                <a:solidFill>
                  <a:srgbClr val="FF0000"/>
                </a:solidFill>
              </a:rPr>
              <a:t>if-else</a:t>
            </a:r>
            <a:r>
              <a:rPr lang="pt-BR" dirty="0">
                <a:solidFill>
                  <a:srgbClr val="FF0000"/>
                </a:solidFill>
              </a:rPr>
              <a:t>: </a:t>
            </a:r>
            <a:r>
              <a:rPr lang="pt-BR" dirty="0"/>
              <a:t>executa um escopo se a condição for verdadeira e outro escopo se for falsa.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switch-case: </a:t>
            </a:r>
            <a:r>
              <a:rPr lang="pt-BR" dirty="0"/>
              <a:t>permite escolher entre múltiplos escopo de código com base no valor de uma expressão.</a:t>
            </a:r>
          </a:p>
        </p:txBody>
      </p:sp>
    </p:spTree>
    <p:extLst>
      <p:ext uri="{BB962C8B-B14F-4D97-AF65-F5344CB8AC3E}">
        <p14:creationId xmlns:p14="http://schemas.microsoft.com/office/powerpoint/2010/main" val="27145014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SINTAXE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if</a:t>
            </a:r>
            <a:r>
              <a:rPr lang="pt-BR" dirty="0">
                <a:solidFill>
                  <a:srgbClr val="FF0000"/>
                </a:solidFill>
              </a:rPr>
              <a:t>:</a:t>
            </a:r>
            <a:r>
              <a:rPr lang="pt-BR" dirty="0"/>
              <a:t> permite executar um escopo de código se uma condição for verdadeira.</a:t>
            </a:r>
          </a:p>
          <a:p>
            <a:pPr marL="1828754" lvl="3" indent="0">
              <a:lnSpc>
                <a:spcPct val="120000"/>
              </a:lnSpc>
              <a:buNone/>
            </a:pPr>
            <a:r>
              <a:rPr lang="pt-BR" sz="1400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400" b="1" dirty="0">
                <a:effectLst/>
                <a:latin typeface="Courier New" panose="02070309020205020404" pitchFamily="49" charset="0"/>
              </a:rPr>
              <a:t>(</a:t>
            </a:r>
            <a:r>
              <a:rPr lang="pt-BR" sz="1400" b="1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condição</a:t>
            </a:r>
            <a:r>
              <a:rPr lang="pt-BR" sz="1400" b="1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1828754" lvl="3" indent="0">
              <a:lnSpc>
                <a:spcPct val="120000"/>
              </a:lnSpc>
              <a:buNone/>
            </a:pPr>
            <a:r>
              <a:rPr lang="pt-BR" sz="1400" b="1" dirty="0">
                <a:effectLst/>
                <a:latin typeface="Courier New" panose="02070309020205020404" pitchFamily="49" charset="0"/>
              </a:rPr>
              <a:t>{</a:t>
            </a:r>
            <a:br>
              <a:rPr lang="pt-BR" sz="1400" b="1" dirty="0"/>
            </a:br>
            <a:r>
              <a:rPr lang="pt-BR" sz="1400" b="1" dirty="0"/>
              <a:t>        </a:t>
            </a:r>
            <a:r>
              <a:rPr lang="pt-BR" sz="1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// Escopo de código a ser executado se a condição for verdadeira</a:t>
            </a:r>
          </a:p>
          <a:p>
            <a:pPr marL="1828754" lvl="3" indent="0">
              <a:lnSpc>
                <a:spcPct val="120000"/>
              </a:lnSpc>
              <a:buNone/>
            </a:pPr>
            <a:r>
              <a:rPr lang="pt-BR" sz="1400" b="1" dirty="0">
                <a:effectLst/>
                <a:latin typeface="Courier New" panose="02070309020205020404" pitchFamily="49" charset="0"/>
              </a:rPr>
              <a:t>}</a:t>
            </a:r>
            <a:endParaRPr lang="pt-BR" sz="1400" b="1" dirty="0"/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else</a:t>
            </a:r>
            <a:r>
              <a:rPr lang="pt-BR" dirty="0">
                <a:solidFill>
                  <a:srgbClr val="FF0000"/>
                </a:solidFill>
              </a:rPr>
              <a:t>: </a:t>
            </a:r>
            <a:r>
              <a:rPr lang="pt-BR" dirty="0"/>
              <a:t>permite executar um escopo de código se a condição anterior for falsa e essa for verdadeira.</a:t>
            </a:r>
          </a:p>
          <a:p>
            <a:pPr marL="1828754" lvl="3" indent="0">
              <a:lnSpc>
                <a:spcPct val="110000"/>
              </a:lnSpc>
              <a:buNone/>
            </a:pPr>
            <a:r>
              <a:rPr lang="pt-BR" sz="1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 (</a:t>
            </a:r>
            <a:r>
              <a:rPr lang="pt-BR" sz="1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condição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1828754" lvl="3" indent="0">
              <a:lnSpc>
                <a:spcPct val="11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{</a:t>
            </a:r>
            <a:br>
              <a:rPr lang="pt-BR" sz="1400" b="1" dirty="0"/>
            </a:br>
            <a:r>
              <a:rPr lang="pt-BR" sz="1400" b="1" dirty="0"/>
              <a:t>       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// Escopo de código se a condição for verdadeira</a:t>
            </a:r>
          </a:p>
          <a:p>
            <a:pPr marL="1828754" lvl="3" indent="0">
              <a:lnSpc>
                <a:spcPct val="11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}</a:t>
            </a:r>
          </a:p>
          <a:p>
            <a:pPr marL="1828754" lvl="3" indent="0">
              <a:lnSpc>
                <a:spcPct val="110000"/>
              </a:lnSpc>
              <a:buNone/>
            </a:pP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e</a:t>
            </a:r>
            <a:r>
              <a:rPr lang="pt-BR" sz="1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lse</a:t>
            </a:r>
            <a:endParaRPr lang="pt-BR" sz="14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marL="1828754" lvl="3" indent="0">
              <a:lnSpc>
                <a:spcPct val="11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{ </a:t>
            </a:r>
          </a:p>
          <a:p>
            <a:pPr marL="1828754" lvl="3" indent="0">
              <a:lnSpc>
                <a:spcPct val="11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   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// Escopo de código se a condição anterior for falsa</a:t>
            </a:r>
            <a:br>
              <a:rPr lang="pt-BR" sz="1400" b="1" dirty="0">
                <a:solidFill>
                  <a:srgbClr val="FF0000"/>
                </a:solidFill>
              </a:rPr>
            </a:br>
            <a:r>
              <a:rPr lang="pt-BR" sz="1400" b="1" i="0" dirty="0">
                <a:effectLst/>
                <a:latin typeface="Courier New" panose="02070309020205020404" pitchFamily="49" charset="0"/>
              </a:rPr>
              <a:t>}</a:t>
            </a:r>
            <a:endParaRPr lang="pt-BR" sz="1400" b="1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50624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SINTAXE</a:t>
            </a:r>
          </a:p>
          <a:p>
            <a:pPr lvl="1"/>
            <a:r>
              <a:rPr lang="pt-BR" dirty="0" err="1">
                <a:solidFill>
                  <a:srgbClr val="FF0000"/>
                </a:solidFill>
              </a:rPr>
              <a:t>else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 err="1">
                <a:solidFill>
                  <a:srgbClr val="FF0000"/>
                </a:solidFill>
              </a:rPr>
              <a:t>if</a:t>
            </a:r>
            <a:r>
              <a:rPr lang="pt-BR" dirty="0">
                <a:solidFill>
                  <a:srgbClr val="FF0000"/>
                </a:solidFill>
              </a:rPr>
              <a:t>:</a:t>
            </a:r>
            <a:r>
              <a:rPr lang="pt-BR" dirty="0"/>
              <a:t> permite uma sequência de verificações.</a:t>
            </a: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 (</a:t>
            </a:r>
            <a:r>
              <a:rPr lang="pt-BR" sz="1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condição1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{</a:t>
            </a:r>
            <a:br>
              <a:rPr lang="pt-BR" sz="1400" b="1" dirty="0"/>
            </a:br>
            <a:r>
              <a:rPr lang="pt-BR" sz="1400" b="1" dirty="0"/>
              <a:t>        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// Escopo de código a ser executado se a condição 1 for verdadeira</a:t>
            </a: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}</a:t>
            </a:r>
            <a:endParaRPr lang="pt-BR" sz="1400" b="1" dirty="0"/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e</a:t>
            </a:r>
            <a:r>
              <a:rPr lang="pt-BR" sz="1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lse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(</a:t>
            </a:r>
            <a:r>
              <a:rPr lang="pt-BR" sz="1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condição2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{</a:t>
            </a:r>
            <a:br>
              <a:rPr lang="pt-BR" sz="1400" b="1" dirty="0"/>
            </a:br>
            <a:r>
              <a:rPr lang="pt-BR" sz="1400" b="1" dirty="0"/>
              <a:t>       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// Escopo de código a ser executado se a condição 1 for falsa e</a:t>
            </a: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  // 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 condição 2 for verdadeira</a:t>
            </a: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}</a:t>
            </a: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e</a:t>
            </a:r>
            <a:r>
              <a:rPr lang="pt-BR" sz="14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lse</a:t>
            </a:r>
            <a:endParaRPr lang="pt-BR" sz="1400" b="1" i="0" dirty="0">
              <a:solidFill>
                <a:srgbClr val="FF0000"/>
              </a:solidFill>
              <a:effectLst/>
              <a:latin typeface="Courier New" panose="02070309020205020404" pitchFamily="49" charset="0"/>
            </a:endParaRP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{ </a:t>
            </a:r>
          </a:p>
          <a:p>
            <a:pPr marL="1828754" lvl="3" indent="0">
              <a:lnSpc>
                <a:spcPct val="100000"/>
              </a:lnSpc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   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// Escopo de código se as condições anteriores forem falsas</a:t>
            </a:r>
            <a:br>
              <a:rPr lang="pt-BR" sz="1400" b="1" dirty="0"/>
            </a:br>
            <a:r>
              <a:rPr lang="pt-BR" sz="1400" b="1" i="0" dirty="0">
                <a:effectLst/>
                <a:latin typeface="Courier New" panose="02070309020205020404" pitchFamily="49" charset="0"/>
              </a:rPr>
              <a:t>}</a:t>
            </a:r>
            <a:endParaRPr lang="pt-BR" sz="1400" b="1" dirty="0"/>
          </a:p>
          <a:p>
            <a:pPr lvl="1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018A94B-EC02-9FFE-3EDD-75199F26869A}"/>
              </a:ext>
            </a:extLst>
          </p:cNvPr>
          <p:cNvSpPr txBox="1"/>
          <p:nvPr/>
        </p:nvSpPr>
        <p:spPr>
          <a:xfrm>
            <a:off x="1093610" y="5694761"/>
            <a:ext cx="9293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err="1">
                <a:solidFill>
                  <a:srgbClr val="FF0000"/>
                </a:solidFill>
              </a:rPr>
              <a:t>Obs</a:t>
            </a:r>
            <a:r>
              <a:rPr lang="pt-BR" dirty="0">
                <a:solidFill>
                  <a:srgbClr val="FF0000"/>
                </a:solidFill>
              </a:rPr>
              <a:t>: Notem que se a condição 1 for verdadeira, será executado seu escopo e, ao final deste, o fluxo do código segue para depois dessa sequência, ou seja: se condicao1 for verdadeira, mesmo que condicao2 seja verdadeira, somente o escopo da condicao1 será executada.</a:t>
            </a:r>
          </a:p>
        </p:txBody>
      </p:sp>
    </p:spTree>
    <p:extLst>
      <p:ext uri="{BB962C8B-B14F-4D97-AF65-F5344CB8AC3E}">
        <p14:creationId xmlns:p14="http://schemas.microsoft.com/office/powerpoint/2010/main" val="28568500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SINTAXE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switch-case: </a:t>
            </a:r>
            <a:r>
              <a:rPr lang="pt-BR" dirty="0"/>
              <a:t>permite escolher entre vários escopos de código com base no valor de uma variável. </a:t>
            </a:r>
          </a:p>
          <a:p>
            <a:pPr marL="1828754" lvl="3" indent="0">
              <a:buNone/>
            </a:pP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switch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 (</a:t>
            </a:r>
            <a:r>
              <a:rPr lang="pt-BR" sz="1400" b="1" i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variavel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1828754" lvl="3" indent="0"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{</a:t>
            </a:r>
            <a:br>
              <a:rPr lang="pt-BR" sz="1400" b="1" dirty="0"/>
            </a:br>
            <a:r>
              <a:rPr lang="pt-BR" sz="1400" b="1" dirty="0"/>
              <a:t>	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 </a:t>
            </a:r>
            <a:r>
              <a:rPr lang="pt-BR" sz="1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valor1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:</a:t>
            </a:r>
            <a:br>
              <a:rPr lang="pt-BR" sz="1400" b="1" dirty="0"/>
            </a:br>
            <a:r>
              <a:rPr lang="pt-BR" sz="1400" b="1" dirty="0"/>
              <a:t>		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// Bloco de código se </a:t>
            </a:r>
            <a:r>
              <a:rPr lang="pt-BR" sz="1400" b="1" i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variavel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== valor1</a:t>
            </a:r>
          </a:p>
          <a:p>
            <a:pPr marL="1828754" lvl="3" indent="0">
              <a:buNone/>
            </a:pPr>
            <a:r>
              <a:rPr lang="pt-BR" sz="1400" b="1" i="1" dirty="0">
                <a:latin typeface="Courier New" panose="02070309020205020404" pitchFamily="49" charset="0"/>
              </a:rPr>
              <a:t>		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break;</a:t>
            </a:r>
            <a:br>
              <a:rPr lang="pt-BR" sz="1400" b="1" dirty="0"/>
            </a:br>
            <a:r>
              <a:rPr lang="pt-BR" sz="1400" b="1" dirty="0"/>
              <a:t>	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case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 </a:t>
            </a:r>
            <a:r>
              <a:rPr lang="pt-BR" sz="1400" b="1" i="0" dirty="0">
                <a:solidFill>
                  <a:srgbClr val="00B050"/>
                </a:solidFill>
                <a:effectLst/>
                <a:latin typeface="Courier New" panose="02070309020205020404" pitchFamily="49" charset="0"/>
              </a:rPr>
              <a:t>valor2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:</a:t>
            </a:r>
            <a:br>
              <a:rPr lang="pt-BR" sz="1400" b="1" dirty="0"/>
            </a:br>
            <a:r>
              <a:rPr lang="pt-BR" sz="1400" b="1" dirty="0"/>
              <a:t>		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 Bloco de código se </a:t>
            </a:r>
            <a:r>
              <a:rPr lang="pt-BR" sz="1400" b="1" i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variavel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== valor2</a:t>
            </a:r>
          </a:p>
          <a:p>
            <a:pPr marL="1828754" lvl="3" indent="0">
              <a:buNone/>
            </a:pPr>
            <a:r>
              <a:rPr lang="pt-BR" sz="1400" b="1" i="1" dirty="0">
                <a:latin typeface="Courier New" panose="02070309020205020404" pitchFamily="49" charset="0"/>
              </a:rPr>
              <a:t>		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break;</a:t>
            </a:r>
          </a:p>
          <a:p>
            <a:pPr marL="1828754" lvl="3" indent="0">
              <a:buNone/>
            </a:pPr>
            <a:r>
              <a:rPr lang="pt-BR" sz="1400" b="1" dirty="0">
                <a:latin typeface="Courier New" panose="02070309020205020404" pitchFamily="49" charset="0"/>
              </a:rPr>
              <a:t>	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default</a:t>
            </a:r>
            <a:r>
              <a:rPr lang="pt-BR" sz="1400" b="1" i="0" dirty="0">
                <a:effectLst/>
                <a:latin typeface="Courier New" panose="02070309020205020404" pitchFamily="49" charset="0"/>
              </a:rPr>
              <a:t>:</a:t>
            </a:r>
          </a:p>
          <a:p>
            <a:pPr marL="1828754" lvl="3" indent="0">
              <a:buNone/>
            </a:pPr>
            <a:r>
              <a:rPr lang="pt-BR" sz="1400" b="1" dirty="0">
                <a:latin typeface="Courier New" panose="02070309020205020404" pitchFamily="49" charset="0"/>
              </a:rPr>
              <a:t>		</a:t>
            </a:r>
            <a:r>
              <a:rPr lang="pt-BR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//</a:t>
            </a:r>
            <a:r>
              <a:rPr lang="pt-BR" sz="1400" b="1" i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Bloco de código se nenhum dos casos anteriores corresponder</a:t>
            </a:r>
          </a:p>
          <a:p>
            <a:pPr marL="1828754" lvl="3" indent="0">
              <a:buNone/>
            </a:pPr>
            <a:r>
              <a:rPr lang="pt-BR" sz="1400" b="1" i="0" dirty="0">
                <a:effectLst/>
                <a:latin typeface="Courier New" panose="02070309020205020404" pitchFamily="49" charset="0"/>
              </a:rPr>
              <a:t>}</a:t>
            </a:r>
            <a:endParaRPr lang="pt-BR" sz="1400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5088E24-7270-339F-5D50-4A62AC052D90}"/>
              </a:ext>
            </a:extLst>
          </p:cNvPr>
          <p:cNvSpPr txBox="1"/>
          <p:nvPr/>
        </p:nvSpPr>
        <p:spPr>
          <a:xfrm>
            <a:off x="2084173" y="6427256"/>
            <a:ext cx="650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solidFill>
                  <a:srgbClr val="FF0000"/>
                </a:solidFill>
              </a:rPr>
              <a:t>Obs.: a chamada break serve para interromper a execução do case.</a:t>
            </a:r>
          </a:p>
        </p:txBody>
      </p:sp>
    </p:spTree>
    <p:extLst>
      <p:ext uri="{BB962C8B-B14F-4D97-AF65-F5344CB8AC3E}">
        <p14:creationId xmlns:p14="http://schemas.microsoft.com/office/powerpoint/2010/main" val="8060541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SÃO FEITOS OS TESTES LÓGICOS?</a:t>
            </a:r>
          </a:p>
          <a:p>
            <a:pPr lvl="1"/>
            <a:r>
              <a:rPr lang="pt-BR" dirty="0"/>
              <a:t>Em C, os testes lógicos utilizam </a:t>
            </a:r>
            <a:r>
              <a:rPr lang="pt-BR" dirty="0">
                <a:solidFill>
                  <a:srgbClr val="FF0000"/>
                </a:solidFill>
              </a:rPr>
              <a:t>operadores relacionais </a:t>
            </a:r>
            <a:r>
              <a:rPr lang="pt-BR" dirty="0"/>
              <a:t>e </a:t>
            </a:r>
            <a:r>
              <a:rPr lang="pt-BR" dirty="0">
                <a:solidFill>
                  <a:srgbClr val="FF0000"/>
                </a:solidFill>
              </a:rPr>
              <a:t>operadores lógicos</a:t>
            </a:r>
            <a:r>
              <a:rPr lang="pt-BR" dirty="0">
                <a:solidFill>
                  <a:srgbClr val="FF6600"/>
                </a:solidFill>
              </a:rPr>
              <a:t>.</a:t>
            </a:r>
          </a:p>
          <a:p>
            <a:pPr lvl="1"/>
            <a:r>
              <a:rPr lang="pt-BR" dirty="0"/>
              <a:t>São usados para construir expressões que avaliam condições e tomam decisões.</a:t>
            </a:r>
          </a:p>
          <a:p>
            <a:pPr lvl="2"/>
            <a:r>
              <a:rPr lang="pt-BR" dirty="0"/>
              <a:t>Os </a:t>
            </a:r>
            <a:r>
              <a:rPr lang="pt-BR" dirty="0">
                <a:solidFill>
                  <a:srgbClr val="FF0000"/>
                </a:solidFill>
              </a:rPr>
              <a:t>operadores relacionais </a:t>
            </a:r>
            <a:r>
              <a:rPr lang="pt-BR" dirty="0"/>
              <a:t>comparam valores.</a:t>
            </a:r>
          </a:p>
          <a:p>
            <a:pPr lvl="2"/>
            <a:r>
              <a:rPr lang="pt-BR" dirty="0"/>
              <a:t>Os </a:t>
            </a:r>
            <a:r>
              <a:rPr lang="pt-BR" dirty="0">
                <a:solidFill>
                  <a:srgbClr val="FF0000"/>
                </a:solidFill>
              </a:rPr>
              <a:t>operadores lógicos </a:t>
            </a:r>
            <a:r>
              <a:rPr lang="pt-BR" dirty="0"/>
              <a:t>combinam expressões relacionais.</a:t>
            </a:r>
          </a:p>
          <a:p>
            <a:pPr lvl="1"/>
            <a:r>
              <a:rPr lang="pt-BR" dirty="0"/>
              <a:t>O resultado de ambos os tipos de operadores é um valor booleano </a:t>
            </a:r>
            <a:r>
              <a:rPr lang="pt-BR" dirty="0" err="1">
                <a:solidFill>
                  <a:srgbClr val="FF0000"/>
                </a:solidFill>
              </a:rPr>
              <a:t>true</a:t>
            </a:r>
            <a:r>
              <a:rPr lang="pt-BR" dirty="0"/>
              <a:t> ou </a:t>
            </a:r>
            <a:r>
              <a:rPr lang="pt-BR" dirty="0">
                <a:solidFill>
                  <a:srgbClr val="FF0000"/>
                </a:solidFill>
              </a:rPr>
              <a:t>false</a:t>
            </a:r>
            <a:r>
              <a:rPr lang="pt-BR" dirty="0"/>
              <a:t>, associados também a inteiros (0 para falso e 1 para verdadeiro).</a:t>
            </a:r>
          </a:p>
          <a:p>
            <a:pPr lvl="2"/>
            <a:r>
              <a:rPr lang="pt-BR" dirty="0"/>
              <a:t>A maioria dos compiladores consideram que qualquer valor diferente de zero seja tratado como verdadeiro.</a:t>
            </a:r>
          </a:p>
        </p:txBody>
      </p:sp>
    </p:spTree>
    <p:extLst>
      <p:ext uri="{BB962C8B-B14F-4D97-AF65-F5344CB8AC3E}">
        <p14:creationId xmlns:p14="http://schemas.microsoft.com/office/powerpoint/2010/main" val="12778174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</a:t>
            </a:r>
            <a:r>
              <a:rPr lang="pt-BR" dirty="0" err="1"/>
              <a:t>if-else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3F69BB-7B60-7CAF-20C7-61DE666DD70C}"/>
              </a:ext>
            </a:extLst>
          </p:cNvPr>
          <p:cNvSpPr txBox="1"/>
          <p:nvPr/>
        </p:nvSpPr>
        <p:spPr>
          <a:xfrm>
            <a:off x="591670" y="1590160"/>
            <a:ext cx="3567002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#include &lt;</a:t>
            </a:r>
            <a:r>
              <a:rPr lang="pt-BR" sz="1000" dirty="0" err="1"/>
              <a:t>stdio.h</a:t>
            </a:r>
            <a:r>
              <a:rPr lang="pt-BR" sz="1000" dirty="0"/>
              <a:t>&gt;</a:t>
            </a:r>
          </a:p>
          <a:p>
            <a:endParaRPr lang="pt-BR" sz="1000" dirty="0"/>
          </a:p>
          <a:p>
            <a:r>
              <a:rPr lang="pt-BR" sz="1000" dirty="0" err="1"/>
              <a:t>int</a:t>
            </a:r>
            <a:r>
              <a:rPr lang="pt-BR" sz="1000" dirty="0"/>
              <a:t> </a:t>
            </a:r>
            <a:r>
              <a:rPr lang="pt-BR" sz="1000" dirty="0" err="1"/>
              <a:t>main</a:t>
            </a:r>
            <a:r>
              <a:rPr lang="pt-BR" sz="1000" dirty="0"/>
              <a:t>() {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int</a:t>
            </a:r>
            <a:r>
              <a:rPr lang="pt-BR" sz="1000" dirty="0"/>
              <a:t> i;</a:t>
            </a:r>
          </a:p>
          <a:p>
            <a:endParaRPr lang="pt-BR" sz="1000" dirty="0"/>
          </a:p>
          <a:p>
            <a:r>
              <a:rPr lang="pt-BR" sz="1000" dirty="0"/>
              <a:t>    </a:t>
            </a:r>
            <a:r>
              <a:rPr lang="pt-BR" sz="1000" dirty="0" err="1"/>
              <a:t>printf</a:t>
            </a:r>
            <a:r>
              <a:rPr lang="pt-BR" sz="1000" dirty="0"/>
              <a:t>("Digite um valor inteiro para i: ");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scanf</a:t>
            </a:r>
            <a:r>
              <a:rPr lang="pt-BR" sz="1000" dirty="0"/>
              <a:t>("%d", &amp;i);</a:t>
            </a:r>
          </a:p>
          <a:p>
            <a:endParaRPr lang="pt-BR" sz="1000" dirty="0"/>
          </a:p>
          <a:p>
            <a:r>
              <a:rPr lang="pt-BR" sz="1000" dirty="0"/>
              <a:t>    </a:t>
            </a:r>
            <a:r>
              <a:rPr lang="pt-BR" sz="1000" dirty="0" err="1"/>
              <a:t>if</a:t>
            </a:r>
            <a:r>
              <a:rPr lang="pt-BR" sz="1000" dirty="0"/>
              <a:t> (i == 0)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("i é igual a zero.\n");</a:t>
            </a:r>
          </a:p>
          <a:p>
            <a:r>
              <a:rPr lang="pt-BR" sz="1000" dirty="0"/>
              <a:t>    }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else</a:t>
            </a:r>
            <a:r>
              <a:rPr lang="pt-BR" sz="1000" dirty="0"/>
              <a:t> </a:t>
            </a:r>
            <a:r>
              <a:rPr lang="pt-BR" sz="1000" dirty="0" err="1"/>
              <a:t>if</a:t>
            </a:r>
            <a:r>
              <a:rPr lang="pt-BR" sz="1000" dirty="0"/>
              <a:t> (i &gt; 0 &amp;&amp; i &lt; 10)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("i é positivo e menor que 10.\n");</a:t>
            </a:r>
          </a:p>
          <a:p>
            <a:r>
              <a:rPr lang="pt-BR" sz="1000" dirty="0"/>
              <a:t>    }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else</a:t>
            </a:r>
            <a:r>
              <a:rPr lang="pt-BR" sz="1000" dirty="0"/>
              <a:t> </a:t>
            </a:r>
            <a:r>
              <a:rPr lang="pt-BR" sz="1000" dirty="0" err="1"/>
              <a:t>if</a:t>
            </a:r>
            <a:r>
              <a:rPr lang="pt-BR" sz="1000" dirty="0"/>
              <a:t> (i &gt;= 10 &amp;&amp; i &lt;= 100)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("i está entre 10 e 100 (inclusive).\n");</a:t>
            </a:r>
          </a:p>
          <a:p>
            <a:r>
              <a:rPr lang="pt-BR" sz="1000" dirty="0"/>
              <a:t>    }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else</a:t>
            </a:r>
            <a:r>
              <a:rPr lang="pt-BR" sz="1000" dirty="0"/>
              <a:t> </a:t>
            </a:r>
            <a:r>
              <a:rPr lang="pt-BR" sz="1000" dirty="0" err="1"/>
              <a:t>if</a:t>
            </a:r>
            <a:r>
              <a:rPr lang="pt-BR" sz="1000" dirty="0"/>
              <a:t> (i &lt; 0 || i &gt; 100)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("i é negativo ou maior que 100.\n");</a:t>
            </a:r>
          </a:p>
          <a:p>
            <a:r>
              <a:rPr lang="pt-BR" sz="1000" dirty="0"/>
              <a:t>    }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else</a:t>
            </a:r>
            <a:r>
              <a:rPr lang="pt-BR" sz="1000" dirty="0"/>
              <a:t>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("Valor de i não se encaixa em nenhuma condição.\n");</a:t>
            </a:r>
          </a:p>
          <a:p>
            <a:r>
              <a:rPr lang="pt-BR" sz="1000" dirty="0"/>
              <a:t>    }</a:t>
            </a:r>
          </a:p>
          <a:p>
            <a:endParaRPr lang="pt-BR" sz="1000" dirty="0"/>
          </a:p>
          <a:p>
            <a:r>
              <a:rPr lang="pt-BR" sz="1000" dirty="0"/>
              <a:t>    // Exemplos adicionais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if</a:t>
            </a:r>
            <a:r>
              <a:rPr lang="pt-BR" sz="1000" dirty="0"/>
              <a:t> ((i % 2) == 0)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("i é par.\n");</a:t>
            </a:r>
          </a:p>
          <a:p>
            <a:r>
              <a:rPr lang="pt-BR" sz="1000" dirty="0"/>
              <a:t>    } </a:t>
            </a:r>
            <a:r>
              <a:rPr lang="pt-BR" sz="1000" dirty="0" err="1"/>
              <a:t>else</a:t>
            </a:r>
            <a:r>
              <a:rPr lang="pt-BR" sz="1000" dirty="0"/>
              <a:t>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("i é ímpar.\n");</a:t>
            </a:r>
          </a:p>
          <a:p>
            <a:r>
              <a:rPr lang="pt-BR" sz="1000" dirty="0"/>
              <a:t>    }</a:t>
            </a:r>
          </a:p>
          <a:p>
            <a:endParaRPr lang="pt-BR" sz="1000" dirty="0"/>
          </a:p>
          <a:p>
            <a:r>
              <a:rPr lang="pt-BR" sz="1000" dirty="0"/>
              <a:t>    </a:t>
            </a:r>
            <a:r>
              <a:rPr lang="pt-BR" sz="1000" dirty="0" err="1"/>
              <a:t>return</a:t>
            </a:r>
            <a:r>
              <a:rPr lang="pt-BR" sz="1000" dirty="0"/>
              <a:t> 0;</a:t>
            </a:r>
          </a:p>
          <a:p>
            <a:r>
              <a:rPr lang="pt-BR" sz="1000" dirty="0"/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485BCBC-2BDE-CB5B-E9E6-7E7A4EC997EA}"/>
              </a:ext>
            </a:extLst>
          </p:cNvPr>
          <p:cNvSpPr txBox="1"/>
          <p:nvPr/>
        </p:nvSpPr>
        <p:spPr>
          <a:xfrm>
            <a:off x="2127735" y="1500506"/>
            <a:ext cx="2922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Código em texto para vocês poderem copiar e colar numa IDE.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4A3036F-2C43-6294-E5D7-9740582B6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048" y="97194"/>
            <a:ext cx="6192114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2857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switch-case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D14BC23-1218-37AF-C0E9-98B53AC2D7A1}"/>
              </a:ext>
            </a:extLst>
          </p:cNvPr>
          <p:cNvSpPr txBox="1"/>
          <p:nvPr/>
        </p:nvSpPr>
        <p:spPr>
          <a:xfrm>
            <a:off x="591670" y="1525612"/>
            <a:ext cx="2794355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00" dirty="0"/>
              <a:t>#include &lt;</a:t>
            </a:r>
            <a:r>
              <a:rPr lang="pt-BR" sz="900" dirty="0" err="1"/>
              <a:t>stdio.h</a:t>
            </a:r>
            <a:r>
              <a:rPr lang="pt-BR" sz="900" dirty="0"/>
              <a:t>&gt;</a:t>
            </a:r>
          </a:p>
          <a:p>
            <a:endParaRPr lang="pt-BR" sz="900" dirty="0"/>
          </a:p>
          <a:p>
            <a:r>
              <a:rPr lang="pt-BR" sz="900" dirty="0" err="1"/>
              <a:t>int</a:t>
            </a:r>
            <a:r>
              <a:rPr lang="pt-BR" sz="900" dirty="0"/>
              <a:t> </a:t>
            </a:r>
            <a:r>
              <a:rPr lang="pt-BR" sz="900" dirty="0" err="1"/>
              <a:t>main</a:t>
            </a:r>
            <a:r>
              <a:rPr lang="pt-BR" sz="900" dirty="0"/>
              <a:t>() {</a:t>
            </a:r>
          </a:p>
          <a:p>
            <a:r>
              <a:rPr lang="pt-BR" sz="900" dirty="0"/>
              <a:t>    </a:t>
            </a:r>
            <a:r>
              <a:rPr lang="pt-BR" sz="900" dirty="0" err="1"/>
              <a:t>int</a:t>
            </a:r>
            <a:r>
              <a:rPr lang="pt-BR" sz="900" dirty="0"/>
              <a:t> </a:t>
            </a:r>
            <a:r>
              <a:rPr lang="pt-BR" sz="900" dirty="0" err="1"/>
              <a:t>opcao</a:t>
            </a:r>
            <a:r>
              <a:rPr lang="pt-BR" sz="900" dirty="0"/>
              <a:t>;</a:t>
            </a:r>
          </a:p>
          <a:p>
            <a:endParaRPr lang="pt-BR" sz="900" dirty="0"/>
          </a:p>
          <a:p>
            <a:r>
              <a:rPr lang="pt-BR" sz="900" dirty="0"/>
              <a:t>    do {</a:t>
            </a:r>
          </a:p>
          <a:p>
            <a:r>
              <a:rPr lang="pt-BR" sz="900" dirty="0"/>
              <a:t>        </a:t>
            </a:r>
            <a:r>
              <a:rPr lang="pt-BR" sz="900" dirty="0" err="1"/>
              <a:t>printf</a:t>
            </a:r>
            <a:r>
              <a:rPr lang="pt-BR" sz="900" dirty="0"/>
              <a:t>("\n=== MENU AGENDA TELEFÔNICA ===\n");</a:t>
            </a:r>
          </a:p>
          <a:p>
            <a:r>
              <a:rPr lang="pt-BR" sz="900" dirty="0"/>
              <a:t>        </a:t>
            </a:r>
            <a:r>
              <a:rPr lang="pt-BR" sz="900" dirty="0" err="1"/>
              <a:t>printf</a:t>
            </a:r>
            <a:r>
              <a:rPr lang="pt-BR" sz="900" dirty="0"/>
              <a:t>("0 - Incluir contato\n");</a:t>
            </a:r>
          </a:p>
          <a:p>
            <a:r>
              <a:rPr lang="pt-BR" sz="900" dirty="0"/>
              <a:t>        </a:t>
            </a:r>
            <a:r>
              <a:rPr lang="pt-BR" sz="900" dirty="0" err="1"/>
              <a:t>printf</a:t>
            </a:r>
            <a:r>
              <a:rPr lang="pt-BR" sz="900" dirty="0"/>
              <a:t>("1 - Excluir contato\n");</a:t>
            </a:r>
          </a:p>
          <a:p>
            <a:r>
              <a:rPr lang="pt-BR" sz="900" dirty="0"/>
              <a:t>        </a:t>
            </a:r>
            <a:r>
              <a:rPr lang="pt-BR" sz="900" dirty="0" err="1"/>
              <a:t>printf</a:t>
            </a:r>
            <a:r>
              <a:rPr lang="pt-BR" sz="900" dirty="0"/>
              <a:t>("3 - Alterar contato\n");</a:t>
            </a:r>
          </a:p>
          <a:p>
            <a:r>
              <a:rPr lang="pt-BR" sz="900" dirty="0"/>
              <a:t>        </a:t>
            </a:r>
            <a:r>
              <a:rPr lang="pt-BR" sz="900" dirty="0" err="1"/>
              <a:t>printf</a:t>
            </a:r>
            <a:r>
              <a:rPr lang="pt-BR" sz="900" dirty="0"/>
              <a:t>("4 - Ligar para contato\n");</a:t>
            </a:r>
          </a:p>
          <a:p>
            <a:r>
              <a:rPr lang="pt-BR" sz="900" dirty="0"/>
              <a:t>        </a:t>
            </a:r>
            <a:r>
              <a:rPr lang="pt-BR" sz="900" dirty="0" err="1"/>
              <a:t>printf</a:t>
            </a:r>
            <a:r>
              <a:rPr lang="pt-BR" sz="900" dirty="0"/>
              <a:t>("5 - Sair\n");</a:t>
            </a:r>
          </a:p>
          <a:p>
            <a:r>
              <a:rPr lang="pt-BR" sz="900" dirty="0"/>
              <a:t>        </a:t>
            </a:r>
            <a:r>
              <a:rPr lang="pt-BR" sz="900" dirty="0" err="1"/>
              <a:t>printf</a:t>
            </a:r>
            <a:r>
              <a:rPr lang="pt-BR" sz="900" dirty="0"/>
              <a:t>("Escolha uma opção: ");</a:t>
            </a:r>
          </a:p>
          <a:p>
            <a:r>
              <a:rPr lang="pt-BR" sz="900" dirty="0"/>
              <a:t>        </a:t>
            </a:r>
            <a:r>
              <a:rPr lang="pt-BR" sz="900" dirty="0" err="1"/>
              <a:t>scanf</a:t>
            </a:r>
            <a:r>
              <a:rPr lang="pt-BR" sz="900" dirty="0"/>
              <a:t>("%d", &amp;</a:t>
            </a:r>
            <a:r>
              <a:rPr lang="pt-BR" sz="900" dirty="0" err="1"/>
              <a:t>opcao</a:t>
            </a:r>
            <a:r>
              <a:rPr lang="pt-BR" sz="900" dirty="0"/>
              <a:t>);</a:t>
            </a:r>
          </a:p>
          <a:p>
            <a:endParaRPr lang="pt-BR" sz="900" dirty="0"/>
          </a:p>
          <a:p>
            <a:r>
              <a:rPr lang="pt-BR" sz="900" dirty="0"/>
              <a:t>        switch(</a:t>
            </a:r>
            <a:r>
              <a:rPr lang="pt-BR" sz="900" dirty="0" err="1"/>
              <a:t>opcao</a:t>
            </a:r>
            <a:r>
              <a:rPr lang="pt-BR" sz="900" dirty="0"/>
              <a:t>) {</a:t>
            </a:r>
          </a:p>
          <a:p>
            <a:r>
              <a:rPr lang="pt-BR" sz="900" dirty="0"/>
              <a:t>            case 0:</a:t>
            </a:r>
          </a:p>
          <a:p>
            <a:r>
              <a:rPr lang="pt-BR" sz="900" dirty="0"/>
              <a:t>                </a:t>
            </a:r>
            <a:r>
              <a:rPr lang="pt-BR" sz="900" dirty="0" err="1"/>
              <a:t>printf</a:t>
            </a:r>
            <a:r>
              <a:rPr lang="pt-BR" sz="900" dirty="0"/>
              <a:t>("Incluindo novo contato...\n");</a:t>
            </a:r>
          </a:p>
          <a:p>
            <a:r>
              <a:rPr lang="pt-BR" sz="900" dirty="0"/>
              <a:t>                break;</a:t>
            </a:r>
          </a:p>
          <a:p>
            <a:r>
              <a:rPr lang="pt-BR" sz="900" dirty="0"/>
              <a:t>            case 1:</a:t>
            </a:r>
          </a:p>
          <a:p>
            <a:r>
              <a:rPr lang="pt-BR" sz="900" dirty="0"/>
              <a:t>                </a:t>
            </a:r>
            <a:r>
              <a:rPr lang="pt-BR" sz="900" dirty="0" err="1"/>
              <a:t>printf</a:t>
            </a:r>
            <a:r>
              <a:rPr lang="pt-BR" sz="900" dirty="0"/>
              <a:t>("Excluindo contato...\n");</a:t>
            </a:r>
          </a:p>
          <a:p>
            <a:r>
              <a:rPr lang="pt-BR" sz="900" dirty="0"/>
              <a:t>                break;</a:t>
            </a:r>
          </a:p>
          <a:p>
            <a:r>
              <a:rPr lang="pt-BR" sz="900" dirty="0"/>
              <a:t>            case 3:</a:t>
            </a:r>
          </a:p>
          <a:p>
            <a:r>
              <a:rPr lang="pt-BR" sz="900" dirty="0"/>
              <a:t>                </a:t>
            </a:r>
            <a:r>
              <a:rPr lang="pt-BR" sz="900" dirty="0" err="1"/>
              <a:t>printf</a:t>
            </a:r>
            <a:r>
              <a:rPr lang="pt-BR" sz="900" dirty="0"/>
              <a:t>("Alterando contato...\n");</a:t>
            </a:r>
          </a:p>
          <a:p>
            <a:r>
              <a:rPr lang="pt-BR" sz="900" dirty="0"/>
              <a:t>                break;</a:t>
            </a:r>
          </a:p>
          <a:p>
            <a:r>
              <a:rPr lang="pt-BR" sz="900" dirty="0"/>
              <a:t>            case 4:</a:t>
            </a:r>
          </a:p>
          <a:p>
            <a:r>
              <a:rPr lang="pt-BR" sz="900" dirty="0"/>
              <a:t>                </a:t>
            </a:r>
            <a:r>
              <a:rPr lang="pt-BR" sz="900" dirty="0" err="1"/>
              <a:t>printf</a:t>
            </a:r>
            <a:r>
              <a:rPr lang="pt-BR" sz="900" dirty="0"/>
              <a:t>("Ligando para contato...\n");</a:t>
            </a:r>
          </a:p>
          <a:p>
            <a:r>
              <a:rPr lang="pt-BR" sz="900" dirty="0"/>
              <a:t>                break;</a:t>
            </a:r>
          </a:p>
          <a:p>
            <a:r>
              <a:rPr lang="pt-BR" sz="900" dirty="0"/>
              <a:t>            case 5:</a:t>
            </a:r>
          </a:p>
          <a:p>
            <a:r>
              <a:rPr lang="pt-BR" sz="900" dirty="0"/>
              <a:t>                </a:t>
            </a:r>
            <a:r>
              <a:rPr lang="pt-BR" sz="900" dirty="0" err="1"/>
              <a:t>printf</a:t>
            </a:r>
            <a:r>
              <a:rPr lang="pt-BR" sz="900" dirty="0"/>
              <a:t>("Saindo do menu...\n");</a:t>
            </a:r>
          </a:p>
          <a:p>
            <a:r>
              <a:rPr lang="pt-BR" sz="900" dirty="0"/>
              <a:t>                break;</a:t>
            </a:r>
          </a:p>
          <a:p>
            <a:r>
              <a:rPr lang="pt-BR" sz="900" dirty="0"/>
              <a:t>            default:</a:t>
            </a:r>
          </a:p>
          <a:p>
            <a:r>
              <a:rPr lang="pt-BR" sz="900" dirty="0"/>
              <a:t>                </a:t>
            </a:r>
            <a:r>
              <a:rPr lang="pt-BR" sz="900" dirty="0" err="1"/>
              <a:t>printf</a:t>
            </a:r>
            <a:r>
              <a:rPr lang="pt-BR" sz="900" dirty="0"/>
              <a:t>("Opção inválida!\n");</a:t>
            </a:r>
          </a:p>
          <a:p>
            <a:r>
              <a:rPr lang="pt-BR" sz="900" dirty="0"/>
              <a:t>        }</a:t>
            </a:r>
          </a:p>
          <a:p>
            <a:r>
              <a:rPr lang="pt-BR" sz="900" dirty="0"/>
              <a:t>    } </a:t>
            </a:r>
            <a:r>
              <a:rPr lang="pt-BR" sz="900" dirty="0" err="1"/>
              <a:t>while</a:t>
            </a:r>
            <a:r>
              <a:rPr lang="pt-BR" sz="900" dirty="0"/>
              <a:t>(</a:t>
            </a:r>
            <a:r>
              <a:rPr lang="pt-BR" sz="900" dirty="0" err="1"/>
              <a:t>opcao</a:t>
            </a:r>
            <a:r>
              <a:rPr lang="pt-BR" sz="900" dirty="0"/>
              <a:t> != 5);</a:t>
            </a:r>
          </a:p>
          <a:p>
            <a:endParaRPr lang="pt-BR" sz="900" dirty="0"/>
          </a:p>
          <a:p>
            <a:r>
              <a:rPr lang="pt-BR" sz="900" dirty="0"/>
              <a:t>    </a:t>
            </a:r>
            <a:r>
              <a:rPr lang="pt-BR" sz="900" dirty="0" err="1"/>
              <a:t>return</a:t>
            </a:r>
            <a:r>
              <a:rPr lang="pt-BR" sz="900" dirty="0"/>
              <a:t> 0;</a:t>
            </a:r>
          </a:p>
          <a:p>
            <a:r>
              <a:rPr lang="pt-BR" sz="900" dirty="0"/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4670370-41EA-592E-9AFB-A03061DAC285}"/>
              </a:ext>
            </a:extLst>
          </p:cNvPr>
          <p:cNvSpPr txBox="1"/>
          <p:nvPr/>
        </p:nvSpPr>
        <p:spPr>
          <a:xfrm>
            <a:off x="2504253" y="1590160"/>
            <a:ext cx="2922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Código em texto para vocês poderem copiar e colar numa IDE.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2480325-D36C-7D31-EC44-6D71D2ECE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285" y="-1"/>
            <a:ext cx="5031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149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OPERADORES RELACIONAIS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==</a:t>
            </a:r>
            <a:r>
              <a:rPr lang="pt-BR" dirty="0">
                <a:solidFill>
                  <a:srgbClr val="FF6600"/>
                </a:solidFill>
              </a:rPr>
              <a:t>	</a:t>
            </a:r>
            <a:r>
              <a:rPr lang="pt-BR" dirty="0"/>
              <a:t>Retorna verdadeiro se os operandos são iguais.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!= </a:t>
            </a:r>
            <a:r>
              <a:rPr lang="pt-BR" dirty="0"/>
              <a:t>	Retorna verdadeiro se os operandos não são iguais.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&gt; </a:t>
            </a:r>
            <a:r>
              <a:rPr lang="pt-BR" dirty="0"/>
              <a:t>	Retorna verdadeiro se o operando da esquerda é maior que o da direita.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&lt; </a:t>
            </a:r>
            <a:r>
              <a:rPr lang="pt-BR" dirty="0"/>
              <a:t>	Retorna verdadeiro se o operando da esquerda é menor que o da direita.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&gt;= </a:t>
            </a:r>
            <a:r>
              <a:rPr lang="pt-BR" dirty="0"/>
              <a:t>	Retorna verdadeiro se o operando da esquerda é maior ou igual ao da direita.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&lt;= </a:t>
            </a:r>
            <a:r>
              <a:rPr lang="pt-BR" dirty="0"/>
              <a:t>	Retorna verdadeiro se o operando da esquerda é menor ou igual ao da direita. </a:t>
            </a:r>
          </a:p>
        </p:txBody>
      </p:sp>
    </p:spTree>
    <p:extLst>
      <p:ext uri="{BB962C8B-B14F-4D97-AF65-F5344CB8AC3E}">
        <p14:creationId xmlns:p14="http://schemas.microsoft.com/office/powerpoint/2010/main" val="1867775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OPERADORES LÓGICOS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&amp;&amp; </a:t>
            </a:r>
            <a:r>
              <a:rPr lang="pt-BR" dirty="0">
                <a:solidFill>
                  <a:srgbClr val="FF6600"/>
                </a:solidFill>
              </a:rPr>
              <a:t>	</a:t>
            </a:r>
            <a:r>
              <a:rPr lang="pt-BR" dirty="0"/>
              <a:t>Retorna verdadeiro se ambas as expressões conectadas forem verdadeiras. 		Caso contrário, retorna falso.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|| </a:t>
            </a:r>
            <a:r>
              <a:rPr lang="pt-BR" dirty="0">
                <a:solidFill>
                  <a:srgbClr val="FF6600"/>
                </a:solidFill>
              </a:rPr>
              <a:t>	</a:t>
            </a:r>
            <a:r>
              <a:rPr lang="pt-BR" dirty="0"/>
              <a:t>Retorna verdadeiro se pelo menos uma das expressões conectadas for 			verdadeira. Retorna falso apenas se ambas as expressões forem falsas.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! </a:t>
            </a:r>
            <a:r>
              <a:rPr lang="pt-BR" dirty="0"/>
              <a:t>	Retorna o valor booleano oposto à expressão que ele precede. Se a expressão for 		verdadeira, ! a tornará falsa; se for falsa, ! a tornará verdadeira.</a:t>
            </a:r>
          </a:p>
        </p:txBody>
      </p:sp>
    </p:spTree>
    <p:extLst>
      <p:ext uri="{BB962C8B-B14F-4D97-AF65-F5344CB8AC3E}">
        <p14:creationId xmlns:p14="http://schemas.microsoft.com/office/powerpoint/2010/main" val="1194733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B1AF4-021D-DB58-8113-646A9084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2727B-67EB-7F69-6312-697E4AB7B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TESTES LÓGICOS COMPOSTOS - HIERARQUIA</a:t>
            </a:r>
          </a:p>
          <a:p>
            <a:pPr lvl="1"/>
            <a:r>
              <a:rPr lang="pt-BR" dirty="0"/>
              <a:t>Em C, quando usamos expressões condicionais compostas, ou seja, com mais de uma condição combinada usando os operadores &amp;&amp; (E), || (OU) e parênteses, é importante entender que existe uma ordem de avaliação, chamada hierarquia de operadores.</a:t>
            </a:r>
          </a:p>
          <a:p>
            <a:pPr lvl="2"/>
            <a:r>
              <a:rPr lang="pt-BR" dirty="0"/>
              <a:t>Tudo o que estiver entre parênteses é avaliado primeiro.</a:t>
            </a:r>
          </a:p>
          <a:p>
            <a:pPr lvl="1"/>
            <a:r>
              <a:rPr lang="pt-BR" dirty="0"/>
              <a:t>Hierarquia dos operadores lógicos:</a:t>
            </a:r>
          </a:p>
          <a:p>
            <a:pPr lvl="2"/>
            <a:r>
              <a:rPr lang="pt-BR" dirty="0"/>
              <a:t>()</a:t>
            </a:r>
          </a:p>
          <a:p>
            <a:pPr lvl="2"/>
            <a:r>
              <a:rPr lang="pt-BR" dirty="0"/>
              <a:t>!</a:t>
            </a:r>
          </a:p>
          <a:p>
            <a:pPr lvl="2"/>
            <a:r>
              <a:rPr lang="pt-BR" dirty="0"/>
              <a:t>&amp;&amp;</a:t>
            </a:r>
          </a:p>
          <a:p>
            <a:pPr lvl="2"/>
            <a:r>
              <a:rPr lang="pt-BR" dirty="0"/>
              <a:t>||</a:t>
            </a:r>
          </a:p>
        </p:txBody>
      </p:sp>
    </p:spTree>
    <p:extLst>
      <p:ext uri="{BB962C8B-B14F-4D97-AF65-F5344CB8AC3E}">
        <p14:creationId xmlns:p14="http://schemas.microsoft.com/office/powerpoint/2010/main" val="206939725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B1AF4-021D-DB58-8113-646A90840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2727B-67EB-7F69-6312-697E4AB7B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4" y="1056442"/>
            <a:ext cx="11134395" cy="5801557"/>
          </a:xfrm>
        </p:spPr>
        <p:txBody>
          <a:bodyPr/>
          <a:lstStyle/>
          <a:p>
            <a:r>
              <a:rPr lang="pt-BR" dirty="0"/>
              <a:t>TESTES LÓGICOS COMPOSTOS – HIERARQUIA</a:t>
            </a:r>
          </a:p>
          <a:p>
            <a:pPr lvl="1"/>
            <a:r>
              <a:rPr lang="pt-BR" dirty="0"/>
              <a:t>Exemplo: A verificação abaixo refere-se à uma vaga de professor de uma Faculdade que exige que o candidato esteja saudável e que tenha diploma de mestrado ou doutorado.</a:t>
            </a:r>
          </a:p>
          <a:p>
            <a:pPr lvl="2"/>
            <a:r>
              <a:rPr lang="pt-BR" dirty="0"/>
              <a:t>Notem que o candidato poderá concorrer à vaga caso ambos os </a:t>
            </a:r>
            <a:r>
              <a:rPr lang="pt-BR" dirty="0">
                <a:solidFill>
                  <a:srgbClr val="FF0000"/>
                </a:solidFill>
              </a:rPr>
              <a:t>testes 1</a:t>
            </a:r>
            <a:r>
              <a:rPr lang="pt-BR" dirty="0">
                <a:solidFill>
                  <a:srgbClr val="FF6600"/>
                </a:solidFill>
              </a:rPr>
              <a:t> </a:t>
            </a:r>
            <a:r>
              <a:rPr lang="pt-BR" dirty="0"/>
              <a:t>e</a:t>
            </a:r>
            <a:r>
              <a:rPr lang="pt-BR" dirty="0">
                <a:solidFill>
                  <a:srgbClr val="FF6600"/>
                </a:solidFill>
              </a:rPr>
              <a:t> </a:t>
            </a:r>
            <a:r>
              <a:rPr lang="pt-BR" dirty="0">
                <a:solidFill>
                  <a:srgbClr val="FF0000"/>
                </a:solidFill>
              </a:rPr>
              <a:t>2</a:t>
            </a:r>
            <a:r>
              <a:rPr lang="pt-BR" dirty="0">
                <a:solidFill>
                  <a:srgbClr val="FF6600"/>
                </a:solidFill>
              </a:rPr>
              <a:t> </a:t>
            </a:r>
            <a:r>
              <a:rPr lang="pt-BR" dirty="0"/>
              <a:t>resultem em </a:t>
            </a:r>
            <a:r>
              <a:rPr lang="pt-BR" dirty="0" err="1">
                <a:solidFill>
                  <a:srgbClr val="FF0000"/>
                </a:solidFill>
              </a:rPr>
              <a:t>true</a:t>
            </a:r>
            <a:r>
              <a:rPr lang="pt-BR" dirty="0"/>
              <a:t> (por causa do </a:t>
            </a:r>
            <a:r>
              <a:rPr lang="pt-BR" dirty="0">
                <a:solidFill>
                  <a:srgbClr val="FF0000"/>
                </a:solidFill>
              </a:rPr>
              <a:t>&amp;&amp;</a:t>
            </a:r>
            <a:r>
              <a:rPr lang="pt-BR" dirty="0"/>
              <a:t>).</a:t>
            </a:r>
          </a:p>
          <a:p>
            <a:pPr lvl="2"/>
            <a:r>
              <a:rPr lang="pt-BR" dirty="0"/>
              <a:t>Já o </a:t>
            </a:r>
            <a:r>
              <a:rPr lang="pt-BR" dirty="0">
                <a:solidFill>
                  <a:srgbClr val="FF0000"/>
                </a:solidFill>
              </a:rPr>
              <a:t>teste 2</a:t>
            </a:r>
            <a:r>
              <a:rPr lang="pt-BR" dirty="0"/>
              <a:t> resultará em </a:t>
            </a:r>
            <a:r>
              <a:rPr lang="pt-BR" dirty="0" err="1">
                <a:solidFill>
                  <a:srgbClr val="FF0000"/>
                </a:solidFill>
              </a:rPr>
              <a:t>true</a:t>
            </a:r>
            <a:r>
              <a:rPr lang="pt-BR" dirty="0"/>
              <a:t> se o </a:t>
            </a:r>
            <a:r>
              <a:rPr lang="pt-BR" dirty="0">
                <a:solidFill>
                  <a:srgbClr val="0070C0"/>
                </a:solidFill>
              </a:rPr>
              <a:t>teste3</a:t>
            </a:r>
            <a:r>
              <a:rPr lang="pt-BR" dirty="0"/>
              <a:t> ou o </a:t>
            </a:r>
            <a:r>
              <a:rPr lang="pt-BR" dirty="0">
                <a:solidFill>
                  <a:srgbClr val="0070C0"/>
                </a:solidFill>
              </a:rPr>
              <a:t>teste4</a:t>
            </a:r>
            <a:r>
              <a:rPr lang="pt-BR" dirty="0"/>
              <a:t> resultarem em </a:t>
            </a:r>
            <a:r>
              <a:rPr lang="pt-BR" dirty="0" err="1">
                <a:solidFill>
                  <a:srgbClr val="FF0000"/>
                </a:solidFill>
              </a:rPr>
              <a:t>true</a:t>
            </a:r>
            <a:r>
              <a:rPr lang="pt-BR" dirty="0"/>
              <a:t> (por causa do </a:t>
            </a:r>
            <a:r>
              <a:rPr lang="pt-BR" dirty="0">
                <a:solidFill>
                  <a:srgbClr val="FF0000"/>
                </a:solidFill>
              </a:rPr>
              <a:t>||</a:t>
            </a:r>
            <a:r>
              <a:rPr lang="pt-BR" dirty="0"/>
              <a:t>).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3F6F46-C0B2-94BB-221C-2E3FF682A257}"/>
              </a:ext>
            </a:extLst>
          </p:cNvPr>
          <p:cNvSpPr txBox="1"/>
          <p:nvPr/>
        </p:nvSpPr>
        <p:spPr>
          <a:xfrm>
            <a:off x="471279" y="4809507"/>
            <a:ext cx="49889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>
                <a:solidFill>
                  <a:srgbClr val="FF0000"/>
                </a:solidFill>
              </a:rPr>
              <a:t>!</a:t>
            </a:r>
            <a:r>
              <a:rPr lang="pt-BR" dirty="0">
                <a:solidFill>
                  <a:srgbClr val="00B050"/>
                </a:solidFill>
              </a:rPr>
              <a:t>doente</a:t>
            </a:r>
            <a:r>
              <a:rPr lang="pt-BR" dirty="0"/>
              <a:t> &amp;&amp; (</a:t>
            </a:r>
            <a:r>
              <a:rPr lang="pt-BR" dirty="0" err="1">
                <a:solidFill>
                  <a:srgbClr val="00B050"/>
                </a:solidFill>
              </a:rPr>
              <a:t>tem_mestrado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|| </a:t>
            </a:r>
            <a:r>
              <a:rPr lang="pt-BR" dirty="0" err="1">
                <a:solidFill>
                  <a:srgbClr val="00B050"/>
                </a:solidFill>
              </a:rPr>
              <a:t>tem_doutorado</a:t>
            </a:r>
            <a:r>
              <a:rPr lang="pt-BR" dirty="0"/>
              <a:t>))</a:t>
            </a:r>
          </a:p>
          <a:p>
            <a:r>
              <a:rPr lang="pt-BR" dirty="0"/>
              <a:t>{</a:t>
            </a:r>
          </a:p>
          <a:p>
            <a:r>
              <a:rPr lang="pt-BR" sz="1600" dirty="0"/>
              <a:t>    </a:t>
            </a:r>
            <a:r>
              <a:rPr lang="pt-BR" sz="1600" dirty="0">
                <a:solidFill>
                  <a:srgbClr val="FF0000"/>
                </a:solidFill>
              </a:rPr>
              <a:t>// Candidato válido</a:t>
            </a:r>
          </a:p>
          <a:p>
            <a:r>
              <a:rPr lang="pt-BR" dirty="0"/>
              <a:t>}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23E53BC-7D2F-E3DA-2F2D-621D7A47608D}"/>
              </a:ext>
            </a:extLst>
          </p:cNvPr>
          <p:cNvSpPr txBox="1"/>
          <p:nvPr/>
        </p:nvSpPr>
        <p:spPr>
          <a:xfrm>
            <a:off x="6195560" y="4811380"/>
            <a:ext cx="49889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if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/>
              <a:t>(</a:t>
            </a:r>
            <a:r>
              <a:rPr lang="pt-BR" dirty="0">
                <a:solidFill>
                  <a:srgbClr val="FF0000"/>
                </a:solidFill>
              </a:rPr>
              <a:t>!</a:t>
            </a:r>
            <a:r>
              <a:rPr lang="pt-BR" dirty="0">
                <a:solidFill>
                  <a:srgbClr val="00B050"/>
                </a:solidFill>
              </a:rPr>
              <a:t>doente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/>
              <a:t>&amp;&amp;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pt-BR" dirty="0"/>
              <a:t>(</a:t>
            </a:r>
            <a:r>
              <a:rPr lang="pt-BR" dirty="0" err="1">
                <a:solidFill>
                  <a:srgbClr val="00B050"/>
                </a:solidFill>
              </a:rPr>
              <a:t>tem_mestrado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|| </a:t>
            </a:r>
            <a:r>
              <a:rPr lang="pt-BR" dirty="0" err="1">
                <a:solidFill>
                  <a:srgbClr val="00B050"/>
                </a:solidFill>
              </a:rPr>
              <a:t>tem_doutorado</a:t>
            </a:r>
            <a:r>
              <a:rPr lang="pt-BR" dirty="0"/>
              <a:t>))</a:t>
            </a:r>
          </a:p>
          <a:p>
            <a:r>
              <a:rPr lang="pt-BR" dirty="0"/>
              <a:t>{</a:t>
            </a:r>
          </a:p>
          <a:p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pt-BR" sz="1600" dirty="0">
                <a:solidFill>
                  <a:srgbClr val="FF0000"/>
                </a:solidFill>
              </a:rPr>
              <a:t>// Candidato válido</a:t>
            </a:r>
          </a:p>
          <a:p>
            <a:r>
              <a:rPr lang="pt-BR" dirty="0"/>
              <a:t>}</a:t>
            </a:r>
          </a:p>
        </p:txBody>
      </p:sp>
      <p:sp>
        <p:nvSpPr>
          <p:cNvPr id="18" name="Chave Esquerda 17">
            <a:extLst>
              <a:ext uri="{FF2B5EF4-FFF2-40B4-BE49-F238E27FC236}">
                <a16:creationId xmlns:a16="http://schemas.microsoft.com/office/drawing/2014/main" id="{EAB36FE5-1AB0-DA37-CC04-EFEF42F8B19F}"/>
              </a:ext>
            </a:extLst>
          </p:cNvPr>
          <p:cNvSpPr/>
          <p:nvPr/>
        </p:nvSpPr>
        <p:spPr>
          <a:xfrm rot="5400000">
            <a:off x="6756232" y="3902686"/>
            <a:ext cx="250257" cy="688205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47C2305-494B-7BE7-C3D2-581FC7A4DD3E}"/>
              </a:ext>
            </a:extLst>
          </p:cNvPr>
          <p:cNvSpPr/>
          <p:nvPr/>
        </p:nvSpPr>
        <p:spPr>
          <a:xfrm>
            <a:off x="6462661" y="3775149"/>
            <a:ext cx="837397" cy="346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FF0000"/>
                </a:solidFill>
              </a:rPr>
              <a:t>teste1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DD711F0-35C9-9785-E8F8-8F771B3B06DA}"/>
              </a:ext>
            </a:extLst>
          </p:cNvPr>
          <p:cNvSpPr/>
          <p:nvPr/>
        </p:nvSpPr>
        <p:spPr>
          <a:xfrm>
            <a:off x="8899709" y="3775149"/>
            <a:ext cx="837397" cy="346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FF0000"/>
                </a:solidFill>
              </a:rPr>
              <a:t>teste2</a:t>
            </a:r>
          </a:p>
        </p:txBody>
      </p:sp>
      <p:sp>
        <p:nvSpPr>
          <p:cNvPr id="21" name="Chave Esquerda 20">
            <a:extLst>
              <a:ext uri="{FF2B5EF4-FFF2-40B4-BE49-F238E27FC236}">
                <a16:creationId xmlns:a16="http://schemas.microsoft.com/office/drawing/2014/main" id="{3DFF9AF5-701D-978D-03C6-CE491E0530B1}"/>
              </a:ext>
            </a:extLst>
          </p:cNvPr>
          <p:cNvSpPr/>
          <p:nvPr/>
        </p:nvSpPr>
        <p:spPr>
          <a:xfrm rot="5400000">
            <a:off x="8315522" y="4047064"/>
            <a:ext cx="250257" cy="1342726"/>
          </a:xfrm>
          <a:prstGeom prst="leftBrac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B0F0"/>
              </a:solidFill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3132D26-6BF5-2623-46DC-0E63B2000287}"/>
              </a:ext>
            </a:extLst>
          </p:cNvPr>
          <p:cNvSpPr/>
          <p:nvPr/>
        </p:nvSpPr>
        <p:spPr>
          <a:xfrm>
            <a:off x="8021951" y="4246788"/>
            <a:ext cx="837397" cy="346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70C0"/>
                </a:solidFill>
              </a:rPr>
              <a:t>teste3</a:t>
            </a:r>
          </a:p>
        </p:txBody>
      </p:sp>
      <p:sp>
        <p:nvSpPr>
          <p:cNvPr id="23" name="Chave Esquerda 22">
            <a:extLst>
              <a:ext uri="{FF2B5EF4-FFF2-40B4-BE49-F238E27FC236}">
                <a16:creationId xmlns:a16="http://schemas.microsoft.com/office/drawing/2014/main" id="{669B238A-C9C5-303F-47CF-584B2394AE28}"/>
              </a:ext>
            </a:extLst>
          </p:cNvPr>
          <p:cNvSpPr/>
          <p:nvPr/>
        </p:nvSpPr>
        <p:spPr>
          <a:xfrm rot="5400000">
            <a:off x="10038545" y="3987738"/>
            <a:ext cx="250257" cy="1461380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B0F0"/>
              </a:solidFill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BA3BB4A-91C8-98B1-1119-6616DAA36772}"/>
              </a:ext>
            </a:extLst>
          </p:cNvPr>
          <p:cNvSpPr/>
          <p:nvPr/>
        </p:nvSpPr>
        <p:spPr>
          <a:xfrm>
            <a:off x="9737934" y="4246788"/>
            <a:ext cx="837397" cy="3465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rgbClr val="0070C0"/>
                </a:solidFill>
              </a:rPr>
              <a:t>teste4</a:t>
            </a:r>
          </a:p>
        </p:txBody>
      </p:sp>
      <p:sp>
        <p:nvSpPr>
          <p:cNvPr id="25" name="Chave Esquerda 24">
            <a:extLst>
              <a:ext uri="{FF2B5EF4-FFF2-40B4-BE49-F238E27FC236}">
                <a16:creationId xmlns:a16="http://schemas.microsoft.com/office/drawing/2014/main" id="{22C7E947-8653-FCFE-0A29-D0B33999230C}"/>
              </a:ext>
            </a:extLst>
          </p:cNvPr>
          <p:cNvSpPr/>
          <p:nvPr/>
        </p:nvSpPr>
        <p:spPr>
          <a:xfrm rot="5400000">
            <a:off x="9190620" y="2660224"/>
            <a:ext cx="250257" cy="317312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C3164F9E-7A89-0737-E9F3-9F09C4D974D7}"/>
              </a:ext>
            </a:extLst>
          </p:cNvPr>
          <p:cNvSpPr/>
          <p:nvPr/>
        </p:nvSpPr>
        <p:spPr>
          <a:xfrm>
            <a:off x="7263336" y="3823276"/>
            <a:ext cx="505951" cy="250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&amp;&amp;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90B5C65-AC62-8C2B-DC5C-1112247B2C85}"/>
              </a:ext>
            </a:extLst>
          </p:cNvPr>
          <p:cNvSpPr/>
          <p:nvPr/>
        </p:nvSpPr>
        <p:spPr>
          <a:xfrm>
            <a:off x="9017420" y="4287231"/>
            <a:ext cx="505951" cy="250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||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09F57CE-EE0B-602F-F4AB-E4C1817E0DA2}"/>
              </a:ext>
            </a:extLst>
          </p:cNvPr>
          <p:cNvSpPr/>
          <p:nvPr/>
        </p:nvSpPr>
        <p:spPr>
          <a:xfrm>
            <a:off x="6537258" y="3775149"/>
            <a:ext cx="3173129" cy="346510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8E9D879-F7F7-952F-DC1A-D1DC0BDA3F8C}"/>
              </a:ext>
            </a:extLst>
          </p:cNvPr>
          <p:cNvSpPr/>
          <p:nvPr/>
        </p:nvSpPr>
        <p:spPr>
          <a:xfrm>
            <a:off x="7769287" y="4288822"/>
            <a:ext cx="3094293" cy="307543"/>
          </a:xfrm>
          <a:prstGeom prst="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6441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F036D-507A-1C90-0726-51540F91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D69F87-E50B-2A6F-8D2E-F5D5ACCE4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TESTES LÓGICOS COMPOSTOS</a:t>
            </a:r>
          </a:p>
          <a:p>
            <a:pPr lvl="1"/>
            <a:r>
              <a:rPr lang="pt-BR" dirty="0"/>
              <a:t>Uma empresa está recrutando candidatos para uma vaga que devem satisfazer aos seguintes critérios:</a:t>
            </a:r>
          </a:p>
          <a:p>
            <a:pPr lvl="2"/>
            <a:r>
              <a:rPr lang="pt-BR" dirty="0"/>
              <a:t>Ter entre 21 e 50 anos.</a:t>
            </a:r>
          </a:p>
          <a:p>
            <a:pPr lvl="2"/>
            <a:r>
              <a:rPr lang="pt-BR" dirty="0"/>
              <a:t>Ter peso entre 60kg e 90kg.</a:t>
            </a:r>
          </a:p>
          <a:p>
            <a:pPr lvl="2"/>
            <a:r>
              <a:rPr lang="pt-BR" dirty="0"/>
              <a:t>Estar saudável.</a:t>
            </a:r>
          </a:p>
          <a:p>
            <a:pPr lvl="2"/>
            <a:r>
              <a:rPr lang="pt-BR" dirty="0"/>
              <a:t>Ter cursado até o ensino médio.</a:t>
            </a:r>
          </a:p>
          <a:p>
            <a:pPr lvl="1"/>
            <a:r>
              <a:rPr lang="pt-BR" dirty="0"/>
              <a:t>Faça um programa em C que leia os dados do candidato e responda se satisfaz ou não os critérios apresentados.</a:t>
            </a:r>
          </a:p>
        </p:txBody>
      </p:sp>
    </p:spTree>
    <p:extLst>
      <p:ext uri="{BB962C8B-B14F-4D97-AF65-F5344CB8AC3E}">
        <p14:creationId xmlns:p14="http://schemas.microsoft.com/office/powerpoint/2010/main" val="10826317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76A8E-58D3-66A7-D642-E3D712D9E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EDDF49-1B55-7175-2E78-A270AF7C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473" y="553648"/>
            <a:ext cx="9450119" cy="584916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9CE2C34-ECA0-67A4-98D2-285EA13B2356}"/>
              </a:ext>
            </a:extLst>
          </p:cNvPr>
          <p:cNvSpPr txBox="1"/>
          <p:nvPr/>
        </p:nvSpPr>
        <p:spPr>
          <a:xfrm>
            <a:off x="122779" y="2127183"/>
            <a:ext cx="2441694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" dirty="0"/>
              <a:t>#include &lt;</a:t>
            </a:r>
            <a:r>
              <a:rPr lang="pt-BR" sz="400" dirty="0" err="1"/>
              <a:t>stdio.h</a:t>
            </a:r>
            <a:r>
              <a:rPr lang="pt-BR" sz="400" dirty="0"/>
              <a:t>&gt;</a:t>
            </a:r>
          </a:p>
          <a:p>
            <a:endParaRPr lang="pt-BR" sz="400" dirty="0"/>
          </a:p>
          <a:p>
            <a:r>
              <a:rPr lang="pt-BR" sz="400" dirty="0" err="1"/>
              <a:t>int</a:t>
            </a:r>
            <a:r>
              <a:rPr lang="pt-BR" sz="400" dirty="0"/>
              <a:t> </a:t>
            </a:r>
            <a:r>
              <a:rPr lang="pt-BR" sz="400" dirty="0" err="1"/>
              <a:t>main</a:t>
            </a:r>
            <a:r>
              <a:rPr lang="pt-BR" sz="400" dirty="0"/>
              <a:t>() {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int</a:t>
            </a:r>
            <a:r>
              <a:rPr lang="pt-BR" sz="400" dirty="0"/>
              <a:t> idade;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float</a:t>
            </a:r>
            <a:r>
              <a:rPr lang="pt-BR" sz="400" dirty="0"/>
              <a:t> peso;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int</a:t>
            </a:r>
            <a:r>
              <a:rPr lang="pt-BR" sz="400" dirty="0"/>
              <a:t> </a:t>
            </a:r>
            <a:r>
              <a:rPr lang="pt-BR" sz="400" dirty="0" err="1"/>
              <a:t>saudavel</a:t>
            </a:r>
            <a:r>
              <a:rPr lang="pt-BR" sz="400" dirty="0"/>
              <a:t>;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int</a:t>
            </a:r>
            <a:r>
              <a:rPr lang="pt-BR" sz="400" dirty="0"/>
              <a:t> </a:t>
            </a:r>
            <a:r>
              <a:rPr lang="pt-BR" sz="400" dirty="0" err="1"/>
              <a:t>ensino_medio</a:t>
            </a:r>
            <a:r>
              <a:rPr lang="pt-BR" sz="400" dirty="0"/>
              <a:t>;</a:t>
            </a:r>
          </a:p>
          <a:p>
            <a:endParaRPr lang="pt-BR" sz="400" dirty="0"/>
          </a:p>
          <a:p>
            <a:r>
              <a:rPr lang="pt-BR" sz="400" dirty="0"/>
              <a:t>    </a:t>
            </a:r>
            <a:r>
              <a:rPr lang="pt-BR" sz="400" dirty="0" err="1"/>
              <a:t>printf</a:t>
            </a:r>
            <a:r>
              <a:rPr lang="pt-BR" sz="400" dirty="0"/>
              <a:t>("Idade: ");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scanf</a:t>
            </a:r>
            <a:r>
              <a:rPr lang="pt-BR" sz="400" dirty="0"/>
              <a:t>("%d", &amp;idade);</a:t>
            </a:r>
          </a:p>
          <a:p>
            <a:endParaRPr lang="pt-BR" sz="400" dirty="0"/>
          </a:p>
          <a:p>
            <a:r>
              <a:rPr lang="pt-BR" sz="400" dirty="0"/>
              <a:t>    </a:t>
            </a:r>
            <a:r>
              <a:rPr lang="pt-BR" sz="400" dirty="0" err="1"/>
              <a:t>printf</a:t>
            </a:r>
            <a:r>
              <a:rPr lang="pt-BR" sz="400" dirty="0"/>
              <a:t>("Peso (kg): ");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scanf</a:t>
            </a:r>
            <a:r>
              <a:rPr lang="pt-BR" sz="400" dirty="0"/>
              <a:t>("%f", &amp;peso);</a:t>
            </a:r>
          </a:p>
          <a:p>
            <a:endParaRPr lang="pt-BR" sz="400" dirty="0"/>
          </a:p>
          <a:p>
            <a:r>
              <a:rPr lang="pt-BR" sz="400" dirty="0"/>
              <a:t>    </a:t>
            </a:r>
            <a:r>
              <a:rPr lang="pt-BR" sz="400" dirty="0" err="1"/>
              <a:t>printf</a:t>
            </a:r>
            <a:r>
              <a:rPr lang="pt-BR" sz="400" dirty="0"/>
              <a:t>("Está saudável? (1 para sim, 0 para não): ");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scanf</a:t>
            </a:r>
            <a:r>
              <a:rPr lang="pt-BR" sz="400" dirty="0"/>
              <a:t>("%d", &amp;</a:t>
            </a:r>
            <a:r>
              <a:rPr lang="pt-BR" sz="400" dirty="0" err="1"/>
              <a:t>saudavel</a:t>
            </a:r>
            <a:r>
              <a:rPr lang="pt-BR" sz="400" dirty="0"/>
              <a:t>);</a:t>
            </a:r>
          </a:p>
          <a:p>
            <a:endParaRPr lang="pt-BR" sz="400" dirty="0"/>
          </a:p>
          <a:p>
            <a:r>
              <a:rPr lang="pt-BR" sz="400" dirty="0"/>
              <a:t>    </a:t>
            </a:r>
            <a:r>
              <a:rPr lang="pt-BR" sz="400" dirty="0" err="1"/>
              <a:t>printf</a:t>
            </a:r>
            <a:r>
              <a:rPr lang="pt-BR" sz="400" dirty="0"/>
              <a:t>("Cursou até o ensino médio? (1 para sim, 0 para não): ");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scanf</a:t>
            </a:r>
            <a:r>
              <a:rPr lang="pt-BR" sz="400" dirty="0"/>
              <a:t>("%d", &amp;</a:t>
            </a:r>
            <a:r>
              <a:rPr lang="pt-BR" sz="400" dirty="0" err="1"/>
              <a:t>ensino_medio</a:t>
            </a:r>
            <a:r>
              <a:rPr lang="pt-BR" sz="400" dirty="0"/>
              <a:t>);</a:t>
            </a:r>
          </a:p>
          <a:p>
            <a:endParaRPr lang="pt-BR" sz="400" dirty="0"/>
          </a:p>
          <a:p>
            <a:r>
              <a:rPr lang="pt-BR" sz="400" dirty="0"/>
              <a:t>    </a:t>
            </a:r>
            <a:r>
              <a:rPr lang="pt-BR" sz="400" dirty="0" err="1"/>
              <a:t>if</a:t>
            </a:r>
            <a:r>
              <a:rPr lang="pt-BR" sz="400" dirty="0"/>
              <a:t> ((idade &gt;= 21 &amp;&amp; idade &lt;= 50) &amp;&amp; (peso &gt;= 60 &amp;&amp; peso &lt;= 90) &amp;&amp; </a:t>
            </a:r>
            <a:r>
              <a:rPr lang="pt-BR" sz="400" dirty="0" err="1"/>
              <a:t>saudavel</a:t>
            </a:r>
            <a:r>
              <a:rPr lang="pt-BR" sz="400" dirty="0"/>
              <a:t> == 1 &amp;&amp; </a:t>
            </a:r>
            <a:r>
              <a:rPr lang="pt-BR" sz="400" dirty="0" err="1"/>
              <a:t>ensino_medio</a:t>
            </a:r>
            <a:r>
              <a:rPr lang="pt-BR" sz="400" dirty="0"/>
              <a:t> == 1)</a:t>
            </a:r>
          </a:p>
          <a:p>
            <a:r>
              <a:rPr lang="pt-BR" sz="400" dirty="0"/>
              <a:t>    {</a:t>
            </a:r>
          </a:p>
          <a:p>
            <a:r>
              <a:rPr lang="pt-BR" sz="400" dirty="0"/>
              <a:t>        </a:t>
            </a:r>
            <a:r>
              <a:rPr lang="pt-BR" sz="400" dirty="0" err="1"/>
              <a:t>printf</a:t>
            </a:r>
            <a:r>
              <a:rPr lang="pt-BR" sz="400" dirty="0"/>
              <a:t>("Candidato aprovado para a vaga.\n");</a:t>
            </a:r>
          </a:p>
          <a:p>
            <a:r>
              <a:rPr lang="pt-BR" sz="400" dirty="0"/>
              <a:t>    }</a:t>
            </a:r>
          </a:p>
          <a:p>
            <a:r>
              <a:rPr lang="pt-BR" sz="400" dirty="0"/>
              <a:t>    </a:t>
            </a:r>
            <a:r>
              <a:rPr lang="pt-BR" sz="400" dirty="0" err="1"/>
              <a:t>else</a:t>
            </a:r>
            <a:endParaRPr lang="pt-BR" sz="400" dirty="0"/>
          </a:p>
          <a:p>
            <a:r>
              <a:rPr lang="pt-BR" sz="400" dirty="0"/>
              <a:t>    {</a:t>
            </a:r>
          </a:p>
          <a:p>
            <a:r>
              <a:rPr lang="pt-BR" sz="400" dirty="0"/>
              <a:t>        </a:t>
            </a:r>
            <a:r>
              <a:rPr lang="pt-BR" sz="400" dirty="0" err="1"/>
              <a:t>printf</a:t>
            </a:r>
            <a:r>
              <a:rPr lang="pt-BR" sz="400" dirty="0"/>
              <a:t>("Candidato não atende aos critérios.\n");</a:t>
            </a:r>
          </a:p>
          <a:p>
            <a:r>
              <a:rPr lang="pt-BR" sz="400" dirty="0"/>
              <a:t>    }</a:t>
            </a:r>
          </a:p>
          <a:p>
            <a:endParaRPr lang="pt-BR" sz="400" dirty="0"/>
          </a:p>
          <a:p>
            <a:r>
              <a:rPr lang="pt-BR" sz="400" dirty="0"/>
              <a:t>    </a:t>
            </a:r>
            <a:r>
              <a:rPr lang="pt-BR" sz="400" dirty="0" err="1"/>
              <a:t>return</a:t>
            </a:r>
            <a:r>
              <a:rPr lang="pt-BR" sz="400" dirty="0"/>
              <a:t> 0;</a:t>
            </a:r>
          </a:p>
          <a:p>
            <a:r>
              <a:rPr lang="pt-BR" sz="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01883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F036D-507A-1C90-0726-51540F91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D69F87-E50B-2A6F-8D2E-F5D5ACCE4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DE TESTES LÓGICOS COMPOSTOS</a:t>
            </a:r>
          </a:p>
          <a:p>
            <a:pPr lvl="1"/>
            <a:r>
              <a:rPr lang="pt-BR" dirty="0"/>
              <a:t>Um sistema de segurança só libera o acesso se:</a:t>
            </a:r>
          </a:p>
          <a:p>
            <a:pPr lvl="2"/>
            <a:r>
              <a:rPr lang="pt-BR" dirty="0"/>
              <a:t>A pessoa não estiver bloqueada e.</a:t>
            </a:r>
          </a:p>
          <a:p>
            <a:pPr lvl="2"/>
            <a:r>
              <a:rPr lang="pt-BR" dirty="0"/>
              <a:t>Tenha senha válida ou tenha cartão de acesso.</a:t>
            </a:r>
          </a:p>
          <a:p>
            <a:pPr lvl="1"/>
            <a:r>
              <a:rPr lang="pt-BR" dirty="0"/>
              <a:t>Escreva um programa em C que leia esses dados e responda se a pessoa está ou não liberada.</a:t>
            </a:r>
          </a:p>
        </p:txBody>
      </p:sp>
    </p:spTree>
    <p:extLst>
      <p:ext uri="{BB962C8B-B14F-4D97-AF65-F5344CB8AC3E}">
        <p14:creationId xmlns:p14="http://schemas.microsoft.com/office/powerpoint/2010/main" val="17635123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F036D-507A-1C90-0726-51540F91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A96228-4882-9681-4D3E-AE04C2D65243}"/>
              </a:ext>
            </a:extLst>
          </p:cNvPr>
          <p:cNvSpPr txBox="1"/>
          <p:nvPr/>
        </p:nvSpPr>
        <p:spPr>
          <a:xfrm>
            <a:off x="587141" y="1424539"/>
            <a:ext cx="3558988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#include &lt;</a:t>
            </a:r>
            <a:r>
              <a:rPr lang="pt-BR" sz="1000" dirty="0" err="1"/>
              <a:t>stdio.h</a:t>
            </a:r>
            <a:r>
              <a:rPr lang="pt-BR" sz="1000" dirty="0"/>
              <a:t>&gt;</a:t>
            </a:r>
          </a:p>
          <a:p>
            <a:endParaRPr lang="pt-BR" sz="1000" dirty="0"/>
          </a:p>
          <a:p>
            <a:r>
              <a:rPr lang="pt-BR" sz="1000" dirty="0" err="1"/>
              <a:t>int</a:t>
            </a:r>
            <a:r>
              <a:rPr lang="pt-BR" sz="1000" dirty="0"/>
              <a:t> </a:t>
            </a:r>
            <a:r>
              <a:rPr lang="pt-BR" sz="1000" dirty="0" err="1"/>
              <a:t>main</a:t>
            </a:r>
            <a:r>
              <a:rPr lang="pt-BR" sz="1000" dirty="0"/>
              <a:t>() {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int</a:t>
            </a:r>
            <a:r>
              <a:rPr lang="pt-BR" sz="1000" dirty="0"/>
              <a:t> bloqueado;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int</a:t>
            </a:r>
            <a:r>
              <a:rPr lang="pt-BR" sz="1000" dirty="0"/>
              <a:t> </a:t>
            </a:r>
            <a:r>
              <a:rPr lang="pt-BR" sz="1000" dirty="0" err="1"/>
              <a:t>senha_valida</a:t>
            </a:r>
            <a:r>
              <a:rPr lang="pt-BR" sz="1000" dirty="0"/>
              <a:t>;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int</a:t>
            </a:r>
            <a:r>
              <a:rPr lang="pt-BR" sz="1000" dirty="0"/>
              <a:t> </a:t>
            </a:r>
            <a:r>
              <a:rPr lang="pt-BR" sz="1000" dirty="0" err="1"/>
              <a:t>cartao_acesso</a:t>
            </a:r>
            <a:r>
              <a:rPr lang="pt-BR" sz="1000" dirty="0"/>
              <a:t>;</a:t>
            </a:r>
          </a:p>
          <a:p>
            <a:endParaRPr lang="pt-BR" sz="1000" dirty="0"/>
          </a:p>
          <a:p>
            <a:r>
              <a:rPr lang="pt-BR" sz="1000" dirty="0"/>
              <a:t>    </a:t>
            </a:r>
            <a:r>
              <a:rPr lang="pt-BR" sz="1000" dirty="0" err="1"/>
              <a:t>printf</a:t>
            </a:r>
            <a:r>
              <a:rPr lang="pt-BR" sz="1000" dirty="0"/>
              <a:t>("Está bloqueado? (1 para sim, 0 para não): ");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scanf</a:t>
            </a:r>
            <a:r>
              <a:rPr lang="pt-BR" sz="1000" dirty="0"/>
              <a:t>("%d", &amp;bloqueado);</a:t>
            </a:r>
          </a:p>
          <a:p>
            <a:endParaRPr lang="pt-BR" sz="1000" dirty="0"/>
          </a:p>
          <a:p>
            <a:r>
              <a:rPr lang="pt-BR" sz="1000" dirty="0"/>
              <a:t>    </a:t>
            </a:r>
            <a:r>
              <a:rPr lang="pt-BR" sz="1000" dirty="0" err="1"/>
              <a:t>printf</a:t>
            </a:r>
            <a:r>
              <a:rPr lang="pt-BR" sz="1000" dirty="0"/>
              <a:t>("Senha válida? (1 para sim, 0 para não): ");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scanf</a:t>
            </a:r>
            <a:r>
              <a:rPr lang="pt-BR" sz="1000" dirty="0"/>
              <a:t>("%d", &amp;</a:t>
            </a:r>
            <a:r>
              <a:rPr lang="pt-BR" sz="1000" dirty="0" err="1"/>
              <a:t>senha_valida</a:t>
            </a:r>
            <a:r>
              <a:rPr lang="pt-BR" sz="1000" dirty="0"/>
              <a:t>);</a:t>
            </a:r>
          </a:p>
          <a:p>
            <a:endParaRPr lang="pt-BR" sz="1000" dirty="0"/>
          </a:p>
          <a:p>
            <a:r>
              <a:rPr lang="pt-BR" sz="1000" dirty="0"/>
              <a:t>    </a:t>
            </a:r>
            <a:r>
              <a:rPr lang="pt-BR" sz="1000" dirty="0" err="1"/>
              <a:t>printf</a:t>
            </a:r>
            <a:r>
              <a:rPr lang="pt-BR" sz="1000" dirty="0"/>
              <a:t>("Cartão de acesso presente? (1 para sim, 0 para não): ");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scanf</a:t>
            </a:r>
            <a:r>
              <a:rPr lang="pt-BR" sz="1000" dirty="0"/>
              <a:t>("%d", &amp;</a:t>
            </a:r>
            <a:r>
              <a:rPr lang="pt-BR" sz="1000" dirty="0" err="1"/>
              <a:t>cartao_acesso</a:t>
            </a:r>
            <a:r>
              <a:rPr lang="pt-BR" sz="1000" dirty="0"/>
              <a:t>);</a:t>
            </a:r>
          </a:p>
          <a:p>
            <a:endParaRPr lang="pt-BR" sz="1000" dirty="0"/>
          </a:p>
          <a:p>
            <a:r>
              <a:rPr lang="pt-BR" sz="1000" dirty="0"/>
              <a:t>    </a:t>
            </a:r>
            <a:r>
              <a:rPr lang="pt-BR" sz="1000" dirty="0" err="1"/>
              <a:t>if</a:t>
            </a:r>
            <a:r>
              <a:rPr lang="pt-BR" sz="1000" dirty="0"/>
              <a:t> (!bloqueado &amp;&amp; (</a:t>
            </a:r>
            <a:r>
              <a:rPr lang="pt-BR" sz="1000" dirty="0" err="1"/>
              <a:t>senha_valida</a:t>
            </a:r>
            <a:r>
              <a:rPr lang="pt-BR" sz="1000" dirty="0"/>
              <a:t> || </a:t>
            </a:r>
            <a:r>
              <a:rPr lang="pt-BR" sz="1000" dirty="0" err="1"/>
              <a:t>cartao_acesso</a:t>
            </a:r>
            <a:r>
              <a:rPr lang="pt-BR" sz="1000" dirty="0"/>
              <a:t>))</a:t>
            </a:r>
          </a:p>
          <a:p>
            <a:r>
              <a:rPr lang="pt-BR" sz="1000" dirty="0"/>
              <a:t>   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("Acesso LIBERADO.\n");</a:t>
            </a:r>
          </a:p>
          <a:p>
            <a:r>
              <a:rPr lang="pt-BR" sz="1000" dirty="0"/>
              <a:t>    }</a:t>
            </a:r>
          </a:p>
          <a:p>
            <a:r>
              <a:rPr lang="pt-BR" sz="1000" dirty="0"/>
              <a:t>    </a:t>
            </a:r>
            <a:r>
              <a:rPr lang="pt-BR" sz="1000" dirty="0" err="1"/>
              <a:t>else</a:t>
            </a:r>
            <a:endParaRPr lang="pt-BR" sz="1000" dirty="0"/>
          </a:p>
          <a:p>
            <a:r>
              <a:rPr lang="pt-BR" sz="1000" dirty="0"/>
              <a:t>    {</a:t>
            </a:r>
          </a:p>
          <a:p>
            <a:r>
              <a:rPr lang="pt-BR" sz="1000" dirty="0"/>
              <a:t>        </a:t>
            </a:r>
            <a:r>
              <a:rPr lang="pt-BR" sz="1000" dirty="0" err="1"/>
              <a:t>printf</a:t>
            </a:r>
            <a:r>
              <a:rPr lang="pt-BR" sz="1000" dirty="0"/>
              <a:t>("Acesso NEGADO.\n");</a:t>
            </a:r>
          </a:p>
          <a:p>
            <a:r>
              <a:rPr lang="pt-BR" sz="1000" dirty="0"/>
              <a:t>    }</a:t>
            </a:r>
          </a:p>
          <a:p>
            <a:endParaRPr lang="pt-BR" sz="1000" dirty="0"/>
          </a:p>
          <a:p>
            <a:r>
              <a:rPr lang="pt-BR" sz="1000" dirty="0"/>
              <a:t>    </a:t>
            </a:r>
            <a:r>
              <a:rPr lang="pt-BR" sz="1000" dirty="0" err="1"/>
              <a:t>return</a:t>
            </a:r>
            <a:r>
              <a:rPr lang="pt-BR" sz="1000" dirty="0"/>
              <a:t> 0;</a:t>
            </a:r>
          </a:p>
          <a:p>
            <a:r>
              <a:rPr lang="pt-BR" sz="1000" dirty="0"/>
              <a:t>}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DC9708-CAC2-E444-38BF-78A9ECFD2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426" y="1198439"/>
            <a:ext cx="633500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6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12000</Words>
  <Application>Microsoft Office PowerPoint</Application>
  <PresentationFormat>Widescreen</PresentationFormat>
  <Paragraphs>1257</Paragraphs>
  <Slides>125</Slides>
  <Notes>39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125</vt:i4>
      </vt:variant>
    </vt:vector>
  </HeadingPairs>
  <TitlesOfParts>
    <vt:vector size="134" baseType="lpstr">
      <vt:lpstr>Arial</vt:lpstr>
      <vt:lpstr>Arial Narrow</vt:lpstr>
      <vt:lpstr>Calibri</vt:lpstr>
      <vt:lpstr>Cambria Math</vt:lpstr>
      <vt:lpstr>Courier New</vt:lpstr>
      <vt:lpstr>Poppins</vt:lpstr>
      <vt:lpstr>Roboto</vt:lpstr>
      <vt:lpstr>Segoe UI</vt:lpstr>
      <vt:lpstr>Office Theme</vt:lpstr>
      <vt:lpstr>Algoritmos e Linguagens de Programação Prof. Dr. Paulo Cesar de Alvarenga Lucci  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Algoritmos e Linguagens de Programação Prof. Dr. Paulo Cesar de Alvarenga Lucci  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Algoritmos</vt:lpstr>
      <vt:lpstr>Introdução</vt:lpstr>
      <vt:lpstr>Algoritmos</vt:lpstr>
      <vt:lpstr>Algoritmos</vt:lpstr>
      <vt:lpstr>Algoritmos</vt:lpstr>
      <vt:lpstr>Algoritmos</vt:lpstr>
      <vt:lpstr>Algoritmos</vt:lpstr>
      <vt:lpstr>Algoritmos e Linguagens de Programação Prof. Dr. Paulo Cesar de Alvarenga Lucci  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Algoritmos e Linguagens de Programação Prof. Dr. Paulo Cesar de Alvarenga Lucci  Linguagem C</vt:lpstr>
      <vt:lpstr>Exercícios</vt:lpstr>
      <vt:lpstr>Exercícios</vt:lpstr>
      <vt:lpstr>Algoritmos e Linguagens de Programação Prof. Dr. Paulo Cesar de Alvarenga Lucci  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Algoritmos e Linguagens de Programação Prof. Dr. Paulo Cesar de Alvarenga Lucci  Linguagem C</vt:lpstr>
      <vt:lpstr>Exercícios</vt:lpstr>
      <vt:lpstr>Exercícios</vt:lpstr>
      <vt:lpstr>Exercícios</vt:lpstr>
      <vt:lpstr>Algoritmos e Linguagens de Programação Prof. Dr. Paulo Cesar de Alvarenga Lucci  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Algoritmos e Linguagens de Programação Prof. Dr. Paulo Cesar de Alvarenga Lucci  Loops</vt:lpstr>
      <vt:lpstr>Exercícios</vt:lpstr>
      <vt:lpstr>Exercícios</vt:lpstr>
      <vt:lpstr>Exercícios</vt:lpstr>
      <vt:lpstr>Exercícios</vt:lpstr>
      <vt:lpstr>Exercícios</vt:lpstr>
      <vt:lpstr>Algoritmos e Linguagens de Programação Prof. Dr. Paulo Cesar de Alvarenga Lucci  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Algoritmos e Linguagens de Programação Prof. Dr. Paulo Cesar de Alvarenga Lucci  Vetores</vt:lpstr>
      <vt:lpstr>Exercícios</vt:lpstr>
      <vt:lpstr>Exercícios</vt:lpstr>
      <vt:lpstr>Algoritmos e Linguagens de Programação Prof. Dr. Paulo Cesar de Alvarenga Lucci  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Algoritmos e Linguagens de Programação Prof. Dr. Paulo Cesar de Alvarenga Lucci  Matrizes</vt:lpstr>
      <vt:lpstr>Exercícios</vt:lpstr>
      <vt:lpstr>Exercícios</vt:lpstr>
      <vt:lpstr>Algoritmos e Linguagens de Programação Prof. Dr. Paulo Cesar de Alvarenga Lucci  Strings</vt:lpstr>
      <vt:lpstr>Strings</vt:lpstr>
      <vt:lpstr>Strings</vt:lpstr>
      <vt:lpstr>Strings</vt:lpstr>
      <vt:lpstr>Strings</vt:lpstr>
      <vt:lpstr>Strings</vt:lpstr>
      <vt:lpstr>Strings</vt:lpstr>
      <vt:lpstr>Algoritmos e Linguagens de Programação Prof. Dr. Paulo Cesar de Alvarenga Lucci  Strings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Cesar Lucci</cp:lastModifiedBy>
  <cp:revision>101</cp:revision>
  <dcterms:created xsi:type="dcterms:W3CDTF">2024-05-23T06:52:39Z</dcterms:created>
  <dcterms:modified xsi:type="dcterms:W3CDTF">2025-08-06T07:34:47Z</dcterms:modified>
</cp:coreProperties>
</file>