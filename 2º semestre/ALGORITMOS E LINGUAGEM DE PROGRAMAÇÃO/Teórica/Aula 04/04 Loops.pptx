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image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337" r:id="rId2"/>
    <p:sldId id="338" r:id="rId3"/>
    <p:sldId id="339" r:id="rId4"/>
    <p:sldId id="340" r:id="rId5"/>
    <p:sldId id="341" r:id="rId6"/>
    <p:sldId id="342" r:id="rId7"/>
    <p:sldId id="343" r:id="rId8"/>
    <p:sldId id="344" r:id="rId9"/>
    <p:sldId id="34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600"/>
    <a:srgbClr val="66FF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72" autoAdjust="0"/>
    <p:restoredTop sz="92615" autoAdjust="0"/>
  </p:normalViewPr>
  <p:slideViewPr>
    <p:cSldViewPr snapToGrid="0">
      <p:cViewPr varScale="1">
        <p:scale>
          <a:sx n="67" d="100"/>
          <a:sy n="67" d="100"/>
        </p:scale>
        <p:origin x="1050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645D65-A921-BD45-A74E-FDD6A94C7828}" type="datetimeFigureOut">
              <a:rPr lang="en-US"/>
              <a:t>8/12/2025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DA7C62-858D-9C4B-9AE8-88FCCBB43389}" type="slidenum">
              <a:rPr lang="en-US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71799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DA7C62-858D-9C4B-9AE8-88FCCBB43389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0944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441B2-6D24-C85E-41B0-069A5949843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16625" y="2672394"/>
            <a:ext cx="10424532" cy="4185606"/>
          </a:xfrm>
        </p:spPr>
        <p:txBody>
          <a:bodyPr/>
          <a:lstStyle>
            <a:lvl1pPr>
              <a:defRPr/>
            </a:lvl1pPr>
          </a:lstStyle>
          <a:p>
            <a:r>
              <a:rPr lang="en-US" dirty="0" err="1"/>
              <a:t>Disciplina</a:t>
            </a:r>
            <a:br>
              <a:rPr lang="en-US" dirty="0"/>
            </a:br>
            <a:br>
              <a:rPr lang="en-US" dirty="0"/>
            </a:br>
            <a:r>
              <a:rPr lang="en-US" sz="4000" dirty="0" err="1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Título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39948CD5-BAAB-00C0-E2AB-BB06808349C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16624" y="1996751"/>
            <a:ext cx="10508600" cy="5904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 err="1">
                <a:solidFill>
                  <a:srgbClr val="FF6600"/>
                </a:solidFill>
              </a:rPr>
              <a:t>Faculdade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67599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BAF87665-2B38-32D5-5C08-E3F93CB4CCB5}"/>
              </a:ext>
            </a:extLst>
          </p:cNvPr>
          <p:cNvSpPr/>
          <p:nvPr userDrawn="1"/>
        </p:nvSpPr>
        <p:spPr>
          <a:xfrm flipV="1">
            <a:off x="98322" y="1056440"/>
            <a:ext cx="11387433" cy="5704366"/>
          </a:xfrm>
          <a:prstGeom prst="roundRect">
            <a:avLst>
              <a:gd name="adj" fmla="val 3256"/>
            </a:avLst>
          </a:prstGeom>
          <a:solidFill>
            <a:schemeClr val="bg1">
              <a:lumMod val="95000"/>
            </a:schemeClr>
          </a:solidFill>
          <a:ln w="31750" cap="flat">
            <a:noFill/>
            <a:prstDash val="solid"/>
            <a:miter/>
          </a:ln>
        </p:spPr>
        <p:txBody>
          <a:bodyPr rtlCol="0" anchor="ctr"/>
          <a:lstStyle/>
          <a:p>
            <a:endParaRPr lang="en-US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BBB241D-DF81-835E-2D67-F68371147B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5273" y="97194"/>
            <a:ext cx="11591925" cy="869594"/>
          </a:xfrm>
        </p:spPr>
        <p:txBody>
          <a:bodyPr>
            <a:noAutofit/>
          </a:bodyPr>
          <a:lstStyle>
            <a:lvl1pPr>
              <a:defRPr sz="3600">
                <a:solidFill>
                  <a:srgbClr val="66FF33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9CCECFD-6308-0021-7A87-69C4BBF577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10890590" cy="5801557"/>
          </a:xfrm>
        </p:spPr>
        <p:txBody>
          <a:bodyPr>
            <a:normAutofit/>
          </a:bodyPr>
          <a:lstStyle>
            <a:lvl1pPr marL="28575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800">
                <a:solidFill>
                  <a:srgbClr val="FF0000"/>
                </a:solidFill>
                <a:latin typeface="Poppins" pitchFamily="2" charset="77"/>
                <a:cs typeface="Poppins" pitchFamily="2" charset="77"/>
              </a:defRPr>
            </a:lvl1pPr>
            <a:lvl2pPr marL="895335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7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2pPr>
            <a:lvl3pPr marL="1504920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6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3pPr>
            <a:lvl4pPr marL="2114504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5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4pPr>
            <a:lvl5pPr marL="2724089" indent="-285750">
              <a:lnSpc>
                <a:spcPct val="150000"/>
              </a:lnSpc>
              <a:buFont typeface="Courier New" panose="02070309020205020404" pitchFamily="49" charset="0"/>
              <a:buChar char="o"/>
              <a:defRPr sz="1400">
                <a:solidFill>
                  <a:schemeClr val="tx1"/>
                </a:solidFill>
                <a:latin typeface="Poppins" pitchFamily="2" charset="77"/>
                <a:cs typeface="Poppins" pitchFamily="2" charset="77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5393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2000">
              <a:schemeClr val="accent6"/>
            </a:gs>
            <a:gs pos="26000">
              <a:schemeClr val="accent4"/>
            </a:gs>
            <a:gs pos="96000">
              <a:schemeClr val="accent1"/>
            </a:gs>
            <a:gs pos="54000">
              <a:schemeClr val="accent1"/>
            </a:gs>
          </a:gsLst>
          <a:lin ang="6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78E521-62AB-88F5-654A-026EBED2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FD7E2F2-56F5-188A-BC96-0E8873B1FA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020013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  <p:sldLayoutId id="2147483667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Roboto" panose="02000000000000000000" pitchFamily="2" charset="0"/>
          <a:ea typeface="Roboto" panose="02000000000000000000" pitchFamily="2" charset="0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image"/><Relationship Id="rId2" Type="http://schemas.openxmlformats.org/officeDocument/2006/relationships/image" Target="../media/image4.image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F6EF-72F7-5FC0-B815-1E1AE661D1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6625" y="2382253"/>
            <a:ext cx="10424532" cy="4475747"/>
          </a:xfrm>
        </p:spPr>
        <p:txBody>
          <a:bodyPr/>
          <a:lstStyle/>
          <a:p>
            <a:r>
              <a:rPr lang="en-US" dirty="0" err="1"/>
              <a:t>Algoritmos</a:t>
            </a:r>
            <a:r>
              <a:rPr lang="en-US" dirty="0"/>
              <a:t> e </a:t>
            </a:r>
            <a:r>
              <a:rPr lang="en-US" dirty="0" err="1"/>
              <a:t>Linguagens</a:t>
            </a:r>
            <a:r>
              <a:rPr lang="en-US" dirty="0"/>
              <a:t> de </a:t>
            </a:r>
            <a:r>
              <a:rPr lang="en-US" dirty="0" err="1"/>
              <a:t>Programação</a:t>
            </a:r>
            <a:br>
              <a:rPr lang="en-US" dirty="0"/>
            </a:br>
            <a:r>
              <a:rPr lang="en-US" sz="1400" i="1" dirty="0">
                <a:solidFill>
                  <a:schemeClr val="bg1">
                    <a:lumMod val="6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Prof. Dr. Paulo Cesar de Alvarenga Lucci</a:t>
            </a:r>
            <a:br>
              <a:rPr lang="en-US" dirty="0"/>
            </a:br>
            <a:br>
              <a:rPr lang="en-US" dirty="0"/>
            </a:br>
            <a:r>
              <a:rPr lang="en-US" sz="4000" dirty="0">
                <a:solidFill>
                  <a:srgbClr val="66FF33"/>
                </a:solidFill>
                <a:latin typeface="Arial Narrow" panose="020B0606020202030204" pitchFamily="34" charset="0"/>
                <a:cs typeface="Segoe UI" panose="020B0502040204020203" pitchFamily="34" charset="0"/>
              </a:rPr>
              <a:t>Loops</a:t>
            </a:r>
            <a:endParaRPr lang="en-US" dirty="0">
              <a:solidFill>
                <a:srgbClr val="66FF33"/>
              </a:solidFill>
              <a:latin typeface="Arial Narrow" panose="020B0606020202030204" pitchFamily="34" charset="0"/>
              <a:cs typeface="Segoe UI" panose="020B0502040204020203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D66FD4-6C1B-4401-8F47-FEB0342D2525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866775" y="2838600"/>
            <a:ext cx="10508600" cy="590400"/>
          </a:xfrm>
        </p:spPr>
        <p:txBody>
          <a:bodyPr/>
          <a:lstStyle/>
          <a:p>
            <a:pPr marL="0" indent="0">
              <a:buNone/>
            </a:pPr>
            <a:r>
              <a:rPr lang="en-US" dirty="0" err="1">
                <a:solidFill>
                  <a:srgbClr val="FF6600"/>
                </a:solidFill>
              </a:rPr>
              <a:t>Engenharia</a:t>
            </a:r>
            <a:r>
              <a:rPr lang="en-US" dirty="0">
                <a:solidFill>
                  <a:srgbClr val="FF6600"/>
                </a:solidFill>
              </a:rPr>
              <a:t> de Software – PUC Campinas</a:t>
            </a:r>
          </a:p>
        </p:txBody>
      </p:sp>
    </p:spTree>
    <p:extLst>
      <p:ext uri="{BB962C8B-B14F-4D97-AF65-F5344CB8AC3E}">
        <p14:creationId xmlns:p14="http://schemas.microsoft.com/office/powerpoint/2010/main" val="14425258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 QUE SÂO?</a:t>
            </a:r>
          </a:p>
          <a:p>
            <a:pPr lvl="1"/>
            <a:r>
              <a:rPr lang="pt-BR" dirty="0"/>
              <a:t>São estruturas que permitem repetir comandos automaticamente.</a:t>
            </a:r>
          </a:p>
          <a:p>
            <a:pPr lvl="1"/>
            <a:r>
              <a:rPr lang="pt-BR" dirty="0"/>
              <a:t>Evitam que o mesmo código seja escrito várias vezes.</a:t>
            </a:r>
          </a:p>
          <a:p>
            <a:pPr lvl="1"/>
            <a:r>
              <a:rPr lang="pt-BR" dirty="0"/>
              <a:t>A repetição ocorre enquanto uma condição lógica for verdadeira.</a:t>
            </a:r>
          </a:p>
          <a:p>
            <a:pPr lvl="1"/>
            <a:r>
              <a:rPr lang="pt-BR" dirty="0"/>
              <a:t>Há duas formas de se construir um bloco com o comando de repetição: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Incondicional</a:t>
            </a:r>
          </a:p>
          <a:p>
            <a:pPr lvl="3"/>
            <a:r>
              <a:rPr lang="pt-BR" dirty="0"/>
              <a:t>O número de repetições é conhecido e fixado antes de entrar no loop.</a:t>
            </a:r>
          </a:p>
          <a:p>
            <a:pPr lvl="3"/>
            <a:r>
              <a:rPr lang="pt-BR" dirty="0"/>
              <a:t>Comando </a:t>
            </a:r>
            <a:r>
              <a:rPr lang="pt-BR" dirty="0">
                <a:solidFill>
                  <a:srgbClr val="FF0000"/>
                </a:solidFill>
              </a:rPr>
              <a:t>for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Condicional</a:t>
            </a:r>
          </a:p>
          <a:p>
            <a:pPr lvl="3"/>
            <a:r>
              <a:rPr lang="pt-BR" dirty="0"/>
              <a:t>O número de repetições depende de uma condição.</a:t>
            </a:r>
          </a:p>
          <a:p>
            <a:pPr lvl="3"/>
            <a:r>
              <a:rPr lang="pt-BR" dirty="0"/>
              <a:t>Comandos 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r>
              <a:rPr lang="pt-BR" dirty="0"/>
              <a:t> e </a:t>
            </a:r>
            <a:r>
              <a:rPr lang="pt-BR" dirty="0">
                <a:solidFill>
                  <a:srgbClr val="FF0000"/>
                </a:solidFill>
              </a:rPr>
              <a:t>do-</a:t>
            </a:r>
            <a:r>
              <a:rPr lang="pt-BR" dirty="0" err="1">
                <a:solidFill>
                  <a:srgbClr val="FF0000"/>
                </a:solidFill>
              </a:rPr>
              <a:t>while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45014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FOR</a:t>
            </a:r>
          </a:p>
          <a:p>
            <a:pPr lvl="1"/>
            <a:r>
              <a:rPr lang="pt-BR" dirty="0"/>
              <a:t>Usado quando sabemos quantas vezes queremos repetir.</a:t>
            </a:r>
          </a:p>
          <a:p>
            <a:pPr lvl="1"/>
            <a:r>
              <a:rPr lang="pt-BR" dirty="0"/>
              <a:t>Possui três partes:</a:t>
            </a:r>
          </a:p>
          <a:p>
            <a:pPr lvl="2"/>
            <a:r>
              <a:rPr lang="pt-BR" dirty="0"/>
              <a:t>Inicialização (</a:t>
            </a:r>
            <a:r>
              <a:rPr lang="pt-BR" dirty="0">
                <a:solidFill>
                  <a:srgbClr val="00B050"/>
                </a:solidFill>
              </a:rPr>
              <a:t>início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Verificação de parada (</a:t>
            </a:r>
            <a:r>
              <a:rPr lang="pt-BR" dirty="0">
                <a:solidFill>
                  <a:srgbClr val="FF0000"/>
                </a:solidFill>
              </a:rPr>
              <a:t>condição</a:t>
            </a:r>
            <a:r>
              <a:rPr lang="pt-BR" dirty="0"/>
              <a:t>).</a:t>
            </a:r>
          </a:p>
          <a:p>
            <a:pPr lvl="2"/>
            <a:r>
              <a:rPr lang="pt-BR" dirty="0"/>
              <a:t>Incremento ou decremento (</a:t>
            </a:r>
            <a:r>
              <a:rPr lang="pt-BR" dirty="0">
                <a:solidFill>
                  <a:srgbClr val="0070C0"/>
                </a:solidFill>
              </a:rPr>
              <a:t>passo</a:t>
            </a:r>
            <a:r>
              <a:rPr lang="pt-BR" dirty="0"/>
              <a:t>).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r>
              <a:rPr lang="pt-BR" dirty="0"/>
              <a:t>Cada vez que o loop retorna no cabeçalho do </a:t>
            </a:r>
            <a:r>
              <a:rPr lang="pt-BR" dirty="0">
                <a:solidFill>
                  <a:srgbClr val="FF0000"/>
                </a:solidFill>
              </a:rPr>
              <a:t>FOR</a:t>
            </a:r>
            <a:r>
              <a:rPr lang="pt-BR" dirty="0"/>
              <a:t>, a condição de parada é testada. Se ainda não foi satisfeita, o incremento ou decremento é realizado e é entrado novamente no escopo do </a:t>
            </a:r>
            <a:r>
              <a:rPr lang="pt-BR" dirty="0">
                <a:solidFill>
                  <a:srgbClr val="FF0000"/>
                </a:solidFill>
              </a:rPr>
              <a:t>FOR</a:t>
            </a:r>
            <a:r>
              <a:rPr lang="pt-BR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91AC7F04-0016-AACC-587D-82F1626418F1}"/>
              </a:ext>
            </a:extLst>
          </p:cNvPr>
          <p:cNvSpPr txBox="1"/>
          <p:nvPr/>
        </p:nvSpPr>
        <p:spPr>
          <a:xfrm>
            <a:off x="1776111" y="4046220"/>
            <a:ext cx="2799613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for (</a:t>
            </a:r>
            <a:r>
              <a:rPr lang="pt-BR" b="1" dirty="0">
                <a:solidFill>
                  <a:srgbClr val="00B050"/>
                </a:solidFill>
              </a:rPr>
              <a:t>início</a:t>
            </a:r>
            <a:r>
              <a:rPr lang="pt-BR" b="1" dirty="0"/>
              <a:t>; </a:t>
            </a:r>
            <a:r>
              <a:rPr lang="pt-BR" b="1" dirty="0">
                <a:solidFill>
                  <a:srgbClr val="FF0000"/>
                </a:solidFill>
              </a:rPr>
              <a:t>condição</a:t>
            </a:r>
            <a:r>
              <a:rPr lang="pt-BR" b="1" dirty="0"/>
              <a:t>; </a:t>
            </a:r>
            <a:r>
              <a:rPr lang="pt-BR" b="1" dirty="0">
                <a:solidFill>
                  <a:srgbClr val="0070C0"/>
                </a:solidFill>
              </a:rPr>
              <a:t>passo</a:t>
            </a:r>
            <a:r>
              <a:rPr lang="pt-BR" b="1" dirty="0"/>
              <a:t>)</a:t>
            </a:r>
          </a:p>
          <a:p>
            <a:r>
              <a:rPr lang="pt-BR" b="1" dirty="0"/>
              <a:t>{</a:t>
            </a:r>
          </a:p>
          <a:p>
            <a:r>
              <a:rPr lang="pt-BR" sz="1600" b="1" dirty="0"/>
              <a:t>    </a:t>
            </a:r>
            <a:r>
              <a:rPr lang="pt-BR" sz="1600" b="1" dirty="0">
                <a:solidFill>
                  <a:srgbClr val="FF0000"/>
                </a:solidFill>
              </a:rPr>
              <a:t>// comandos a repetir</a:t>
            </a:r>
          </a:p>
          <a:p>
            <a:r>
              <a:rPr lang="pt-BR" b="1" dirty="0"/>
              <a:t>}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B589A9-002B-7533-1A0A-60CAA39151A4}"/>
              </a:ext>
            </a:extLst>
          </p:cNvPr>
          <p:cNvSpPr txBox="1"/>
          <p:nvPr/>
        </p:nvSpPr>
        <p:spPr>
          <a:xfrm>
            <a:off x="6606559" y="4952558"/>
            <a:ext cx="4408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</a:rPr>
              <a:t>Este código irá imprimir na tela números de 0 a 99.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88200801-23EF-0C60-505B-185C75B553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2317" y="2115856"/>
            <a:ext cx="3523548" cy="2600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4383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WHILE</a:t>
            </a:r>
          </a:p>
          <a:p>
            <a:pPr lvl="1"/>
            <a:r>
              <a:rPr lang="pt-BR" dirty="0"/>
              <a:t>É uma estrutura de repetição que executa um bloco de código enquanto 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 for </a:t>
            </a:r>
            <a:r>
              <a:rPr lang="pt-BR" dirty="0">
                <a:solidFill>
                  <a:srgbClr val="FF0000"/>
                </a:solidFill>
              </a:rPr>
              <a:t>TRUE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 é verificada antes de cada repetição.</a:t>
            </a:r>
          </a:p>
          <a:p>
            <a:pPr lvl="1"/>
            <a:r>
              <a:rPr lang="pt-BR" dirty="0"/>
              <a:t>Pode não executar nenhuma vez, se 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 já começar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Ideal quando não sabemos quantas vezes o código deve repetir.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É obrigatório na utilização de </a:t>
            </a:r>
            <a:r>
              <a:rPr lang="pt-BR" dirty="0">
                <a:solidFill>
                  <a:srgbClr val="FF0000"/>
                </a:solidFill>
              </a:rPr>
              <a:t>WHILE</a:t>
            </a:r>
            <a:r>
              <a:rPr lang="pt-BR" dirty="0"/>
              <a:t> que 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, em algum momento, seja alterada de </a:t>
            </a:r>
            <a:r>
              <a:rPr lang="pt-BR" dirty="0">
                <a:solidFill>
                  <a:srgbClr val="FF0000"/>
                </a:solidFill>
              </a:rPr>
              <a:t>TRUE</a:t>
            </a:r>
            <a:r>
              <a:rPr lang="pt-BR" dirty="0"/>
              <a:t> para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 em seu escopo, caso contrário teremos um “loop infinito”.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E58812A-9D3F-0A72-727C-1FA1C09FE772}"/>
              </a:ext>
            </a:extLst>
          </p:cNvPr>
          <p:cNvSpPr txBox="1"/>
          <p:nvPr/>
        </p:nvSpPr>
        <p:spPr>
          <a:xfrm>
            <a:off x="1207701" y="3848512"/>
            <a:ext cx="2263120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 err="1"/>
              <a:t>while</a:t>
            </a:r>
            <a:r>
              <a:rPr lang="pt-BR" b="1" dirty="0"/>
              <a:t> (</a:t>
            </a:r>
            <a:r>
              <a:rPr lang="pt-BR" b="1" dirty="0">
                <a:solidFill>
                  <a:srgbClr val="00B050"/>
                </a:solidFill>
              </a:rPr>
              <a:t>condição</a:t>
            </a:r>
            <a:r>
              <a:rPr lang="pt-BR" b="1" dirty="0"/>
              <a:t>)</a:t>
            </a:r>
          </a:p>
          <a:p>
            <a:r>
              <a:rPr lang="pt-BR" b="1" dirty="0"/>
              <a:t>{</a:t>
            </a:r>
          </a:p>
          <a:p>
            <a:r>
              <a:rPr lang="pt-BR" sz="1600" b="1" dirty="0"/>
              <a:t>    </a:t>
            </a:r>
            <a:r>
              <a:rPr lang="pt-BR" sz="1600" b="1" dirty="0">
                <a:solidFill>
                  <a:srgbClr val="FF0000"/>
                </a:solidFill>
              </a:rPr>
              <a:t>// comandos a repetir</a:t>
            </a:r>
          </a:p>
          <a:p>
            <a:r>
              <a:rPr lang="pt-BR" b="1" dirty="0"/>
              <a:t>}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428BE3F7-B539-498A-EC3D-40423E3A20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6511" y="1961121"/>
            <a:ext cx="2810267" cy="278168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6DC7D2B6-8566-EB6F-9B7D-C114A6D80598}"/>
              </a:ext>
            </a:extLst>
          </p:cNvPr>
          <p:cNvSpPr txBox="1"/>
          <p:nvPr/>
        </p:nvSpPr>
        <p:spPr>
          <a:xfrm>
            <a:off x="7125456" y="4768384"/>
            <a:ext cx="4408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</a:rPr>
              <a:t>Este código irá imprimir na tela números de 0 a 99.</a:t>
            </a:r>
          </a:p>
        </p:txBody>
      </p:sp>
    </p:spTree>
    <p:extLst>
      <p:ext uri="{BB962C8B-B14F-4D97-AF65-F5344CB8AC3E}">
        <p14:creationId xmlns:p14="http://schemas.microsoft.com/office/powerpoint/2010/main" val="45794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DO-WHILE</a:t>
            </a:r>
          </a:p>
          <a:p>
            <a:pPr lvl="1"/>
            <a:r>
              <a:rPr lang="pt-BR" dirty="0"/>
              <a:t>É uma estrutura de repetição em que 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 é verificada </a:t>
            </a:r>
            <a:r>
              <a:rPr lang="pt-BR" dirty="0">
                <a:solidFill>
                  <a:srgbClr val="FF0000"/>
                </a:solidFill>
              </a:rPr>
              <a:t>após</a:t>
            </a:r>
            <a:r>
              <a:rPr lang="pt-BR" dirty="0"/>
              <a:t> a execução do bloco.</a:t>
            </a:r>
          </a:p>
          <a:p>
            <a:pPr lvl="1"/>
            <a:r>
              <a:rPr lang="pt-BR" dirty="0"/>
              <a:t>Garante pelo menos uma execução, mesmo que a condição seja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Útil quando o código precisa rodar pelo menos uma vez.</a:t>
            </a:r>
          </a:p>
          <a:p>
            <a:pPr lvl="1"/>
            <a:r>
              <a:rPr lang="pt-BR" dirty="0"/>
              <a:t>É obrigatório na utilização de </a:t>
            </a:r>
            <a:r>
              <a:rPr lang="pt-BR" dirty="0">
                <a:solidFill>
                  <a:srgbClr val="FF0000"/>
                </a:solidFill>
              </a:rPr>
              <a:t>DO-WHILE</a:t>
            </a:r>
            <a:r>
              <a:rPr lang="pt-BR" dirty="0"/>
              <a:t> que a </a:t>
            </a:r>
            <a:r>
              <a:rPr lang="pt-BR" dirty="0">
                <a:solidFill>
                  <a:srgbClr val="00B050"/>
                </a:solidFill>
              </a:rPr>
              <a:t>condição</a:t>
            </a:r>
            <a:r>
              <a:rPr lang="pt-BR" dirty="0"/>
              <a:t>, em algum momento, seja alterada de </a:t>
            </a:r>
            <a:r>
              <a:rPr lang="pt-BR" dirty="0">
                <a:solidFill>
                  <a:srgbClr val="FF0000"/>
                </a:solidFill>
              </a:rPr>
              <a:t>TRUE</a:t>
            </a:r>
            <a:r>
              <a:rPr lang="pt-BR" dirty="0"/>
              <a:t> para </a:t>
            </a:r>
            <a:r>
              <a:rPr lang="pt-BR" dirty="0">
                <a:solidFill>
                  <a:srgbClr val="FF0000"/>
                </a:solidFill>
              </a:rPr>
              <a:t>FALSE</a:t>
            </a:r>
            <a:r>
              <a:rPr lang="pt-BR" dirty="0"/>
              <a:t> em seu escopo, caso contrário teremos um “loop infinito”.</a:t>
            </a:r>
          </a:p>
          <a:p>
            <a:pPr lvl="1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24564F6-BEBA-3484-4348-1070A9E11C5C}"/>
              </a:ext>
            </a:extLst>
          </p:cNvPr>
          <p:cNvSpPr txBox="1"/>
          <p:nvPr/>
        </p:nvSpPr>
        <p:spPr>
          <a:xfrm>
            <a:off x="1170948" y="4082340"/>
            <a:ext cx="224458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b="1" dirty="0"/>
              <a:t>do</a:t>
            </a:r>
          </a:p>
          <a:p>
            <a:r>
              <a:rPr lang="pt-BR" b="1" dirty="0"/>
              <a:t>{</a:t>
            </a:r>
          </a:p>
          <a:p>
            <a:r>
              <a:rPr lang="pt-BR" sz="1600" b="1" dirty="0"/>
              <a:t>    </a:t>
            </a:r>
            <a:r>
              <a:rPr lang="pt-BR" sz="1600" b="1" dirty="0">
                <a:solidFill>
                  <a:srgbClr val="FF0000"/>
                </a:solidFill>
              </a:rPr>
              <a:t>// comandos a repetir</a:t>
            </a:r>
          </a:p>
          <a:p>
            <a:r>
              <a:rPr lang="pt-BR" b="1" dirty="0"/>
              <a:t>}</a:t>
            </a:r>
          </a:p>
          <a:p>
            <a:r>
              <a:rPr lang="pt-BR" b="1" dirty="0" err="1"/>
              <a:t>while</a:t>
            </a:r>
            <a:r>
              <a:rPr lang="pt-BR" b="1" dirty="0"/>
              <a:t> (</a:t>
            </a:r>
            <a:r>
              <a:rPr lang="pt-BR" b="1" dirty="0">
                <a:solidFill>
                  <a:srgbClr val="00B050"/>
                </a:solidFill>
              </a:rPr>
              <a:t>condição</a:t>
            </a:r>
            <a:r>
              <a:rPr lang="pt-BR" b="1" dirty="0"/>
              <a:t>);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3A93E86-CA13-C255-94A7-26518477A6D6}"/>
              </a:ext>
            </a:extLst>
          </p:cNvPr>
          <p:cNvSpPr txBox="1"/>
          <p:nvPr/>
        </p:nvSpPr>
        <p:spPr>
          <a:xfrm>
            <a:off x="7121888" y="6318725"/>
            <a:ext cx="44088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</a:rPr>
              <a:t>Este código irá imprimir na tela números de 0 a 99.</a:t>
            </a:r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C07E8D6-A5D9-A03A-8FD4-684A53300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9252" y="3685064"/>
            <a:ext cx="2762636" cy="2972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9366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grpSp>
        <p:nvGrpSpPr>
          <p:cNvPr id="4" name="object 7">
            <a:extLst>
              <a:ext uri="{FF2B5EF4-FFF2-40B4-BE49-F238E27FC236}">
                <a16:creationId xmlns:a16="http://schemas.microsoft.com/office/drawing/2014/main" id="{89A134B3-AACD-E65B-F462-3FCABAFD1520}"/>
              </a:ext>
            </a:extLst>
          </p:cNvPr>
          <p:cNvGrpSpPr/>
          <p:nvPr/>
        </p:nvGrpSpPr>
        <p:grpSpPr>
          <a:xfrm>
            <a:off x="295273" y="1966785"/>
            <a:ext cx="3238341" cy="3778250"/>
            <a:chOff x="406962" y="1970704"/>
            <a:chExt cx="3702050" cy="4319270"/>
          </a:xfrm>
        </p:grpSpPr>
        <p:pic>
          <p:nvPicPr>
            <p:cNvPr id="5" name="object 8">
              <a:extLst>
                <a:ext uri="{FF2B5EF4-FFF2-40B4-BE49-F238E27FC236}">
                  <a16:creationId xmlns:a16="http://schemas.microsoft.com/office/drawing/2014/main" id="{5F0D3CF2-5608-55C0-FA5A-65A2567AB92E}"/>
                </a:ext>
              </a:extLst>
            </p:cNvPr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22027" y="1987296"/>
              <a:ext cx="3669791" cy="4285488"/>
            </a:xfrm>
            <a:prstGeom prst="rect">
              <a:avLst/>
            </a:prstGeom>
          </p:spPr>
        </p:pic>
        <p:sp>
          <p:nvSpPr>
            <p:cNvPr id="6" name="object 9">
              <a:extLst>
                <a:ext uri="{FF2B5EF4-FFF2-40B4-BE49-F238E27FC236}">
                  <a16:creationId xmlns:a16="http://schemas.microsoft.com/office/drawing/2014/main" id="{256C04E5-870F-09F1-91D1-DAC58E9D9236}"/>
                </a:ext>
              </a:extLst>
            </p:cNvPr>
            <p:cNvSpPr/>
            <p:nvPr/>
          </p:nvSpPr>
          <p:spPr>
            <a:xfrm>
              <a:off x="417457" y="1981200"/>
              <a:ext cx="3680460" cy="4297680"/>
            </a:xfrm>
            <a:custGeom>
              <a:avLst/>
              <a:gdLst/>
              <a:ahLst/>
              <a:cxnLst/>
              <a:rect l="l" t="t" r="r" b="b"/>
              <a:pathLst>
                <a:path w="3680460" h="4297680">
                  <a:moveTo>
                    <a:pt x="0" y="0"/>
                  </a:moveTo>
                  <a:lnTo>
                    <a:pt x="0" y="4297679"/>
                  </a:lnTo>
                  <a:lnTo>
                    <a:pt x="3680459" y="4297679"/>
                  </a:lnTo>
                  <a:lnTo>
                    <a:pt x="3680459" y="0"/>
                  </a:lnTo>
                  <a:lnTo>
                    <a:pt x="0" y="0"/>
                  </a:lnTo>
                  <a:close/>
                </a:path>
              </a:pathLst>
            </a:custGeom>
            <a:ln w="20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7" name="object 10">
            <a:extLst>
              <a:ext uri="{FF2B5EF4-FFF2-40B4-BE49-F238E27FC236}">
                <a16:creationId xmlns:a16="http://schemas.microsoft.com/office/drawing/2014/main" id="{DF180F1F-AAF0-EF24-B19B-076DF1683FC3}"/>
              </a:ext>
            </a:extLst>
          </p:cNvPr>
          <p:cNvGrpSpPr/>
          <p:nvPr/>
        </p:nvGrpSpPr>
        <p:grpSpPr>
          <a:xfrm>
            <a:off x="4056466" y="1975966"/>
            <a:ext cx="3311464" cy="3754032"/>
            <a:chOff x="4142282" y="3599860"/>
            <a:chExt cx="3102610" cy="3517265"/>
          </a:xfrm>
        </p:grpSpPr>
        <p:pic>
          <p:nvPicPr>
            <p:cNvPr id="8" name="object 11">
              <a:extLst>
                <a:ext uri="{FF2B5EF4-FFF2-40B4-BE49-F238E27FC236}">
                  <a16:creationId xmlns:a16="http://schemas.microsoft.com/office/drawing/2014/main" id="{9D49CE5B-0B3A-5406-D81C-4699E5844F8D}"/>
                </a:ext>
              </a:extLst>
            </p:cNvPr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158874" y="3616451"/>
              <a:ext cx="3070860" cy="3483864"/>
            </a:xfrm>
            <a:prstGeom prst="rect">
              <a:avLst/>
            </a:prstGeom>
          </p:spPr>
        </p:pic>
        <p:sp>
          <p:nvSpPr>
            <p:cNvPr id="9" name="object 12">
              <a:extLst>
                <a:ext uri="{FF2B5EF4-FFF2-40B4-BE49-F238E27FC236}">
                  <a16:creationId xmlns:a16="http://schemas.microsoft.com/office/drawing/2014/main" id="{CDF4CFF7-CEC6-6AB6-FEE0-F52EB783D458}"/>
                </a:ext>
              </a:extLst>
            </p:cNvPr>
            <p:cNvSpPr/>
            <p:nvPr/>
          </p:nvSpPr>
          <p:spPr>
            <a:xfrm>
              <a:off x="4152777" y="3610355"/>
              <a:ext cx="3081655" cy="3496310"/>
            </a:xfrm>
            <a:custGeom>
              <a:avLst/>
              <a:gdLst/>
              <a:ahLst/>
              <a:cxnLst/>
              <a:rect l="l" t="t" r="r" b="b"/>
              <a:pathLst>
                <a:path w="3081654" h="3496309">
                  <a:moveTo>
                    <a:pt x="0" y="0"/>
                  </a:moveTo>
                  <a:lnTo>
                    <a:pt x="0" y="3496055"/>
                  </a:lnTo>
                  <a:lnTo>
                    <a:pt x="3081527" y="3496055"/>
                  </a:lnTo>
                  <a:lnTo>
                    <a:pt x="3081527" y="0"/>
                  </a:lnTo>
                  <a:lnTo>
                    <a:pt x="0" y="0"/>
                  </a:lnTo>
                  <a:close/>
                </a:path>
              </a:pathLst>
            </a:custGeom>
            <a:ln w="20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0" name="object 9">
            <a:extLst>
              <a:ext uri="{FF2B5EF4-FFF2-40B4-BE49-F238E27FC236}">
                <a16:creationId xmlns:a16="http://schemas.microsoft.com/office/drawing/2014/main" id="{B63F78ED-DA46-3956-8A57-856AF5879590}"/>
              </a:ext>
            </a:extLst>
          </p:cNvPr>
          <p:cNvGrpSpPr/>
          <p:nvPr/>
        </p:nvGrpSpPr>
        <p:grpSpPr>
          <a:xfrm>
            <a:off x="7835097" y="1993673"/>
            <a:ext cx="2905230" cy="3751967"/>
            <a:chOff x="5410250" y="3738544"/>
            <a:chExt cx="2719070" cy="3511550"/>
          </a:xfrm>
        </p:grpSpPr>
        <p:sp>
          <p:nvSpPr>
            <p:cNvPr id="11" name="object 10">
              <a:extLst>
                <a:ext uri="{FF2B5EF4-FFF2-40B4-BE49-F238E27FC236}">
                  <a16:creationId xmlns:a16="http://schemas.microsoft.com/office/drawing/2014/main" id="{2FE5DC32-4A19-22BA-0183-8703BA5BBCC3}"/>
                </a:ext>
              </a:extLst>
            </p:cNvPr>
            <p:cNvSpPr/>
            <p:nvPr/>
          </p:nvSpPr>
          <p:spPr>
            <a:xfrm>
              <a:off x="5420745" y="3749039"/>
              <a:ext cx="2697480" cy="3489960"/>
            </a:xfrm>
            <a:custGeom>
              <a:avLst/>
              <a:gdLst/>
              <a:ahLst/>
              <a:cxnLst/>
              <a:rect l="l" t="t" r="r" b="b"/>
              <a:pathLst>
                <a:path w="2697479" h="3489959">
                  <a:moveTo>
                    <a:pt x="2697479" y="3489959"/>
                  </a:moveTo>
                  <a:lnTo>
                    <a:pt x="2697479" y="0"/>
                  </a:lnTo>
                  <a:lnTo>
                    <a:pt x="0" y="0"/>
                  </a:lnTo>
                  <a:lnTo>
                    <a:pt x="0" y="3489959"/>
                  </a:lnTo>
                  <a:lnTo>
                    <a:pt x="2697479" y="3489959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1">
              <a:extLst>
                <a:ext uri="{FF2B5EF4-FFF2-40B4-BE49-F238E27FC236}">
                  <a16:creationId xmlns:a16="http://schemas.microsoft.com/office/drawing/2014/main" id="{0C8D647F-FFCD-9958-477F-A94CF5189DFD}"/>
                </a:ext>
              </a:extLst>
            </p:cNvPr>
            <p:cNvSpPr/>
            <p:nvPr/>
          </p:nvSpPr>
          <p:spPr>
            <a:xfrm>
              <a:off x="5420745" y="3749039"/>
              <a:ext cx="2697480" cy="3489960"/>
            </a:xfrm>
            <a:custGeom>
              <a:avLst/>
              <a:gdLst/>
              <a:ahLst/>
              <a:cxnLst/>
              <a:rect l="l" t="t" r="r" b="b"/>
              <a:pathLst>
                <a:path w="2697479" h="3489959">
                  <a:moveTo>
                    <a:pt x="0" y="0"/>
                  </a:moveTo>
                  <a:lnTo>
                    <a:pt x="0" y="3489959"/>
                  </a:lnTo>
                  <a:lnTo>
                    <a:pt x="2697479" y="3489959"/>
                  </a:lnTo>
                  <a:lnTo>
                    <a:pt x="2697479" y="0"/>
                  </a:lnTo>
                  <a:lnTo>
                    <a:pt x="0" y="0"/>
                  </a:lnTo>
                  <a:close/>
                </a:path>
              </a:pathLst>
            </a:custGeom>
            <a:ln w="2099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2">
              <a:extLst>
                <a:ext uri="{FF2B5EF4-FFF2-40B4-BE49-F238E27FC236}">
                  <a16:creationId xmlns:a16="http://schemas.microsoft.com/office/drawing/2014/main" id="{79638E5F-1980-B3D4-1A1E-34DDBBCF5C33}"/>
                </a:ext>
              </a:extLst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871850" y="3866387"/>
              <a:ext cx="1935479" cy="3246120"/>
            </a:xfrm>
            <a:prstGeom prst="rect">
              <a:avLst/>
            </a:prstGeom>
          </p:spPr>
        </p:pic>
      </p:grp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111B9CEE-96B9-D318-BC0C-813E8F4B2F48}"/>
              </a:ext>
            </a:extLst>
          </p:cNvPr>
          <p:cNvSpPr txBox="1"/>
          <p:nvPr/>
        </p:nvSpPr>
        <p:spPr>
          <a:xfrm>
            <a:off x="1689315" y="5844215"/>
            <a:ext cx="81596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>
                <a:solidFill>
                  <a:srgbClr val="FF0000"/>
                </a:solidFill>
              </a:rPr>
              <a:t>FOR				WHILE			          DO-WHILE</a:t>
            </a:r>
          </a:p>
        </p:txBody>
      </p:sp>
    </p:spTree>
    <p:extLst>
      <p:ext uri="{BB962C8B-B14F-4D97-AF65-F5344CB8AC3E}">
        <p14:creationId xmlns:p14="http://schemas.microsoft.com/office/powerpoint/2010/main" val="32051962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COMANDOS DE CONTROLE DE FLUXO</a:t>
            </a:r>
          </a:p>
          <a:p>
            <a:pPr lvl="1"/>
            <a:r>
              <a:rPr lang="pt-BR" dirty="0"/>
              <a:t>Permitem alterar o fluxo de execução de uma estrutura de repetição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break</a:t>
            </a:r>
          </a:p>
          <a:p>
            <a:pPr lvl="3"/>
            <a:r>
              <a:rPr lang="pt-BR" dirty="0"/>
              <a:t>Pode ser tanto usado para terminar um teste </a:t>
            </a:r>
            <a:r>
              <a:rPr lang="pt-BR" dirty="0">
                <a:solidFill>
                  <a:srgbClr val="FF0000"/>
                </a:solidFill>
              </a:rPr>
              <a:t>case</a:t>
            </a:r>
            <a:r>
              <a:rPr lang="pt-BR" dirty="0"/>
              <a:t> dentro de um comando </a:t>
            </a:r>
            <a:r>
              <a:rPr lang="pt-BR" dirty="0">
                <a:solidFill>
                  <a:srgbClr val="FF0000"/>
                </a:solidFill>
              </a:rPr>
              <a:t>switch</a:t>
            </a:r>
            <a:r>
              <a:rPr lang="pt-BR" dirty="0"/>
              <a:t> ou interromper a execução de um </a:t>
            </a:r>
            <a:r>
              <a:rPr lang="pt-BR" dirty="0">
                <a:solidFill>
                  <a:srgbClr val="FF0000"/>
                </a:solidFill>
              </a:rPr>
              <a:t>loop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FA2F99E-9277-DEEE-5F16-22725B474A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4790" y="3653335"/>
            <a:ext cx="3710967" cy="1948568"/>
          </a:xfrm>
          <a:prstGeom prst="rect">
            <a:avLst/>
          </a:prstGeom>
        </p:spPr>
      </p:pic>
      <p:sp>
        <p:nvSpPr>
          <p:cNvPr id="7" name="CaixaDeTexto 6">
            <a:extLst>
              <a:ext uri="{FF2B5EF4-FFF2-40B4-BE49-F238E27FC236}">
                <a16:creationId xmlns:a16="http://schemas.microsoft.com/office/drawing/2014/main" id="{03F53D72-5525-DFD1-15BC-955026EC3638}"/>
              </a:ext>
            </a:extLst>
          </p:cNvPr>
          <p:cNvSpPr txBox="1"/>
          <p:nvPr/>
        </p:nvSpPr>
        <p:spPr>
          <a:xfrm>
            <a:off x="2886772" y="5801558"/>
            <a:ext cx="5392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rgbClr val="FF0000"/>
                </a:solidFill>
              </a:rPr>
              <a:t>Este loop irá parar no primeiro múltiplo de 15 entre 100 e 199.</a:t>
            </a:r>
          </a:p>
        </p:txBody>
      </p:sp>
    </p:spTree>
    <p:extLst>
      <p:ext uri="{BB962C8B-B14F-4D97-AF65-F5344CB8AC3E}">
        <p14:creationId xmlns:p14="http://schemas.microsoft.com/office/powerpoint/2010/main" val="27525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6273911" cy="5801557"/>
          </a:xfrm>
        </p:spPr>
        <p:txBody>
          <a:bodyPr>
            <a:normAutofit/>
          </a:bodyPr>
          <a:lstStyle/>
          <a:p>
            <a:r>
              <a:rPr lang="pt-BR" dirty="0"/>
              <a:t>COMANDOS DE CONTROLE DE FLUXO</a:t>
            </a:r>
          </a:p>
          <a:p>
            <a:pPr lvl="2"/>
            <a:r>
              <a:rPr lang="pt-BR" dirty="0">
                <a:solidFill>
                  <a:srgbClr val="FF0000"/>
                </a:solidFill>
              </a:rPr>
              <a:t>continue</a:t>
            </a:r>
          </a:p>
          <a:p>
            <a:pPr lvl="3"/>
            <a:r>
              <a:rPr lang="pt-BR" dirty="0"/>
              <a:t>Parecido com o </a:t>
            </a:r>
            <a:r>
              <a:rPr lang="pt-BR" dirty="0">
                <a:solidFill>
                  <a:srgbClr val="FF0000"/>
                </a:solidFill>
              </a:rPr>
              <a:t>break</a:t>
            </a:r>
            <a:r>
              <a:rPr lang="pt-BR" dirty="0"/>
              <a:t>.</a:t>
            </a:r>
          </a:p>
          <a:p>
            <a:pPr lvl="3"/>
            <a:r>
              <a:rPr lang="pt-BR" dirty="0"/>
              <a:t>A diferença é que o comando </a:t>
            </a:r>
            <a:r>
              <a:rPr lang="pt-BR" dirty="0">
                <a:solidFill>
                  <a:srgbClr val="FF0000"/>
                </a:solidFill>
              </a:rPr>
              <a:t>continue</a:t>
            </a:r>
            <a:r>
              <a:rPr lang="pt-BR" dirty="0"/>
              <a:t> simplesmente interrompe a execução da iteração corrente passando para a próxima iteração do loop, se houver uma.</a:t>
            </a:r>
          </a:p>
          <a:p>
            <a:pPr lvl="3"/>
            <a:endParaRPr lang="pt-BR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9DF7592-1292-4D99-9D98-763D949E47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9185" y="3177308"/>
            <a:ext cx="5476005" cy="3583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09551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B92875-5352-D82E-4E4B-36DBDEA21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Loops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8E04751-A2AB-D0B1-E97D-3140F64A4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5275" y="1056442"/>
            <a:ext cx="7391884" cy="5801557"/>
          </a:xfrm>
        </p:spPr>
        <p:txBody>
          <a:bodyPr>
            <a:normAutofit/>
          </a:bodyPr>
          <a:lstStyle/>
          <a:p>
            <a:r>
              <a:rPr lang="pt-BR" dirty="0"/>
              <a:t>COMANDOS DE CONTROLE DE FLUXO</a:t>
            </a:r>
          </a:p>
          <a:p>
            <a:pPr lvl="2"/>
            <a:r>
              <a:rPr lang="pt-BR" dirty="0" err="1">
                <a:solidFill>
                  <a:srgbClr val="FF6600"/>
                </a:solidFill>
              </a:rPr>
              <a:t>exit</a:t>
            </a:r>
            <a:endParaRPr lang="pt-BR" dirty="0">
              <a:solidFill>
                <a:srgbClr val="FF6600"/>
              </a:solidFill>
            </a:endParaRPr>
          </a:p>
          <a:p>
            <a:pPr lvl="3"/>
            <a:r>
              <a:rPr lang="pt-BR" dirty="0"/>
              <a:t>Provoca a terminação de um programa, retornando o controle ao sistema operacional.</a:t>
            </a:r>
          </a:p>
          <a:p>
            <a:pPr lvl="3"/>
            <a:r>
              <a:rPr lang="pt-BR" dirty="0"/>
              <a:t>Esta função interrompe o programa como um todo.</a:t>
            </a:r>
          </a:p>
          <a:p>
            <a:pPr lvl="3"/>
            <a:r>
              <a:rPr lang="pt-BR" dirty="0"/>
              <a:t>O código é usado para indicar qual condição causou a interrupção do programa.</a:t>
            </a:r>
          </a:p>
          <a:p>
            <a:pPr lvl="3"/>
            <a:r>
              <a:rPr lang="pt-BR" dirty="0"/>
              <a:t>Usualmente o valor 0 indica que o programa terminou sem problemas.</a:t>
            </a:r>
          </a:p>
          <a:p>
            <a:pPr lvl="4"/>
            <a:r>
              <a:rPr lang="pt-BR" dirty="0"/>
              <a:t>Um valor diferente de 0 indica um erro.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5363F04C-60CE-4FB1-9A17-D1B759800B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7513" y="3014663"/>
            <a:ext cx="4425788" cy="3746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17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24">
      <a:dk1>
        <a:srgbClr val="000000"/>
      </a:dk1>
      <a:lt1>
        <a:srgbClr val="FFFFFF"/>
      </a:lt1>
      <a:dk2>
        <a:srgbClr val="4B2D96"/>
      </a:dk2>
      <a:lt2>
        <a:srgbClr val="F8F8F8"/>
      </a:lt2>
      <a:accent1>
        <a:srgbClr val="120C26"/>
      </a:accent1>
      <a:accent2>
        <a:srgbClr val="1D1340"/>
      </a:accent2>
      <a:accent3>
        <a:srgbClr val="48358C"/>
      </a:accent3>
      <a:accent4>
        <a:srgbClr val="553FA6"/>
      </a:accent4>
      <a:accent5>
        <a:srgbClr val="A6768C"/>
      </a:accent5>
      <a:accent6>
        <a:srgbClr val="EFE4E8"/>
      </a:accent6>
      <a:hlink>
        <a:srgbClr val="A6768C"/>
      </a:hlink>
      <a:folHlink>
        <a:srgbClr val="919191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798</TotalTime>
  <Words>574</Words>
  <Application>Microsoft Office PowerPoint</Application>
  <PresentationFormat>Widescreen</PresentationFormat>
  <Paragraphs>81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7" baseType="lpstr">
      <vt:lpstr>Arial</vt:lpstr>
      <vt:lpstr>Arial Narrow</vt:lpstr>
      <vt:lpstr>Calibri</vt:lpstr>
      <vt:lpstr>Courier New</vt:lpstr>
      <vt:lpstr>Poppins</vt:lpstr>
      <vt:lpstr>Roboto</vt:lpstr>
      <vt:lpstr>Segoe UI</vt:lpstr>
      <vt:lpstr>Office Theme</vt:lpstr>
      <vt:lpstr>Algoritmos e Linguagens de Programação Prof. Dr. Paulo Cesar de Alvarenga Lucci  Loops</vt:lpstr>
      <vt:lpstr>Loops</vt:lpstr>
      <vt:lpstr>Loops</vt:lpstr>
      <vt:lpstr>Loops</vt:lpstr>
      <vt:lpstr>Loops</vt:lpstr>
      <vt:lpstr>Loops</vt:lpstr>
      <vt:lpstr>Loops</vt:lpstr>
      <vt:lpstr>Loops</vt:lpstr>
      <vt:lpstr>Loops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Algoritmos e Linguagens de Programação Prof. Dr. Paulo Cesar de Alvarenga Lucci  Loops</dc:title>
  <dc:creator>Yasin Arafat</dc:creator>
  <cp:lastModifiedBy>P147316</cp:lastModifiedBy>
  <cp:revision>103</cp:revision>
  <dcterms:created xsi:type="dcterms:W3CDTF">2024-05-23T06:52:39Z</dcterms:created>
  <dcterms:modified xsi:type="dcterms:W3CDTF">2025-08-12T10:48:44Z</dcterms:modified>
</cp:coreProperties>
</file>