
<file path=[Content_Types].xml><?xml version="1.0" encoding="utf-8"?>
<Types xmlns="http://schemas.openxmlformats.org/package/2006/content-types">
  <Default Extension="xml" ContentType="application/vnd.openxmlformats-officedocument.extended-properties+xml"/>
  <Default Extension="png" ContentType="image/png"/>
  <Default Extension="jpg" ContentType="image/jpeg"/>
  <Default Extension="emf" ContentType="image/x-emf"/>
  <Default Extension="rels" ContentType="application/vnd.openxmlformats-package.relationshi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20.xml" ContentType="application/vnd.openxmlformats-officedocument.presentationml.slide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slideLayouts/slideLayout4.xml" ContentType="application/vnd.openxmlformats-officedocument.presentationml.slideLayout+xml"/>
  <Override PartName="/ppt/slides/slide15.xml" ContentType="application/vnd.openxmlformats-officedocument.presentationml.slide+xml"/>
  <Override PartName="/ppt/slides/slide10.xml" ContentType="application/vnd.openxmlformats-officedocument.presentationml.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slides/slide21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26.xml" ContentType="application/vnd.openxmlformats-officedocument.presentationml.slide+xml"/>
  <Override PartName="/ppt/slides/slide11.xml" ContentType="application/vnd.openxmlformats-officedocument.presentationml.slide+xml"/>
  <Override PartName="/ppt/slides/slide16.xml" ContentType="application/vnd.openxmlformats-officedocument.presentationml.slide+xml"/>
  <Override PartName="/ppt/viewProps.xml" ContentType="application/vnd.openxmlformats-officedocument.presentationml.viewProps+xml"/>
  <Override PartName="/ppt/slides/slide22.xml" ContentType="application/vnd.openxmlformats-officedocument.presentationml.slide+xml"/>
  <Override PartName="/ppt/slides/slide12.xml" ContentType="application/vnd.openxmlformats-officedocument.presentationml.slide+xml"/>
  <Override PartName="/ppt/slides/slide17.xml" ContentType="application/vnd.openxmlformats-officedocument.presentationml.slide+xml"/>
  <Override PartName="/ppt/slides/slide23.xml" ContentType="application/vnd.openxmlformats-officedocument.presentationml.slide+xml"/>
  <Override PartName="/ppt/tableStyles.xml" ContentType="application/vnd.openxmlformats-officedocument.presentationml.tableStyles+xml"/>
  <Override PartName="/ppt/slides/slide18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13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/docProps/app.xml" Id="rId3" /><Relationship Type="http://schemas.openxmlformats.org/package/2006/relationships/metadata/core-properties" Target="/docProps/core.xml" Id="rId2" /><Relationship Type="http://schemas.openxmlformats.org/officeDocument/2006/relationships/officeDocument" Target="/ppt/presentation.xml" Id="rId1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7"/>
  </p:notesMasterIdLst>
  <p:sldIdLst>
    <p:sldId id="264" r:id="rId10"/>
    <p:sldId id="266" r:id="rId11"/>
    <p:sldId id="268" r:id="rId12"/>
    <p:sldId id="269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65" r:id="rId22"/>
    <p:sldId id="279" r:id="rId23"/>
    <p:sldId id="280" r:id="rId24"/>
    <p:sldId id="281" r:id="rId25"/>
    <p:sldId id="282" r:id="rId26"/>
    <p:sldId id="28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2" autoAdjust="0"/>
    <p:restoredTop sz="92615" autoAdjust="0"/>
  </p:normalViewPr>
  <p:slideViewPr>
    <p:cSldViewPr snapToGrid="0">
      <p:cViewPr varScale="1">
        <p:scale>
          <a:sx n="99" d="100"/>
          <a:sy n="99" d="100"/>
        </p:scale>
        <p:origin x="1218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20.xml" Id="rId21" /><Relationship Type="http://schemas.openxmlformats.org/officeDocument/2006/relationships/slide" Target="/ppt/slides/slide15.xml" Id="rId16" /><Relationship Type="http://schemas.openxmlformats.org/officeDocument/2006/relationships/slide" Target="/ppt/slides/slide10.xml" Id="rId11" /><Relationship Type="http://schemas.openxmlformats.org/officeDocument/2006/relationships/presProps" Target="/ppt/presProps.xml" Id="rId128" /><Relationship Type="http://schemas.openxmlformats.org/officeDocument/2006/relationships/slide" Target="/ppt/slides/slide21.xml" Id="rId22" /><Relationship Type="http://schemas.openxmlformats.org/officeDocument/2006/relationships/slide" Target="/ppt/slides/slide26.xml" Id="rId27" /><Relationship Type="http://schemas.openxmlformats.org/officeDocument/2006/relationships/slide" Target="/ppt/slides/slide11.xml" Id="rId12" /><Relationship Type="http://schemas.openxmlformats.org/officeDocument/2006/relationships/slide" Target="/ppt/slides/slide16.xml" Id="rId17" /><Relationship Type="http://schemas.openxmlformats.org/officeDocument/2006/relationships/viewProps" Target="/ppt/viewProps.xml" Id="rId129" /><Relationship Type="http://schemas.openxmlformats.org/officeDocument/2006/relationships/slideMaster" Target="/ppt/slideMasters/slideMaster1.xml" Id="rId1" /><Relationship Type="http://schemas.openxmlformats.org/officeDocument/2006/relationships/slide" Target="/ppt/slides/slide22.xml" Id="rId23" /><Relationship Type="http://schemas.openxmlformats.org/officeDocument/2006/relationships/theme" Target="/ppt/theme/theme1.xml" Id="rId130" /><Relationship Type="http://schemas.openxmlformats.org/officeDocument/2006/relationships/slide" Target="/ppt/slides/slide12.xml" Id="rId13" /><Relationship Type="http://schemas.openxmlformats.org/officeDocument/2006/relationships/slide" Target="/ppt/slides/slide17.xml" Id="rId18" /><Relationship Type="http://schemas.openxmlformats.org/officeDocument/2006/relationships/slide" Target="/ppt/slides/slide23.xml" Id="rId24" /><Relationship Type="http://schemas.openxmlformats.org/officeDocument/2006/relationships/tableStyles" Target="/ppt/tableStyles.xml" Id="rId131" /><Relationship Type="http://schemas.openxmlformats.org/officeDocument/2006/relationships/slide" Target="/ppt/slides/slide18.xml" Id="rId19" /><Relationship Type="http://schemas.openxmlformats.org/officeDocument/2006/relationships/slide" Target="/ppt/slides/slide13.xml" Id="rId14" /><Relationship Type="http://schemas.openxmlformats.org/officeDocument/2006/relationships/slide" Target="/ppt/slides/slide24.xml" Id="rId25" /><Relationship Type="http://schemas.openxmlformats.org/officeDocument/2006/relationships/slide" Target="/ppt/slides/slide19.xml" Id="rId20" /><Relationship Type="http://schemas.openxmlformats.org/officeDocument/2006/relationships/slide" Target="/ppt/slides/slide14.xml" Id="rId15" /><Relationship Type="http://schemas.openxmlformats.org/officeDocument/2006/relationships/notesMaster" Target="/ppt/notesMasters/notesMaster1.xml" Id="rId127" /><Relationship Type="http://schemas.openxmlformats.org/officeDocument/2006/relationships/slide" Target="/ppt/slides/slide9.xml" Id="rId10" /><Relationship Type="http://schemas.openxmlformats.org/officeDocument/2006/relationships/slide" Target="/ppt/slides/slide25.xml" Id="rId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45D65-A921-BD45-A74E-FDD6A94C7828}" type="datetimeFigureOut">
              <a:rPr lang="en-US"/>
              <a:t>8/6/2025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DA7C62-858D-9C4B-9AE8-88FCCBB43389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179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9.xml" Id="rId2" /><Relationship Type="http://schemas.openxmlformats.org/officeDocument/2006/relationships/notesMaster" Target="/ppt/notesMasters/notesMaster1.xml" Id="rI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10.xml" Id="rId2" /><Relationship Type="http://schemas.openxmlformats.org/officeDocument/2006/relationships/notesMaster" Target="/ppt/notesMasters/notesMaster1.xml" Id="rI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18.xml" Id="rId2" /><Relationship Type="http://schemas.openxmlformats.org/officeDocument/2006/relationships/notesMaster" Target="/ppt/notesMasters/notesMaster1.xml" Id="rI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21.xml" Id="rId2" /><Relationship Type="http://schemas.openxmlformats.org/officeDocument/2006/relationships/notesMaster" Target="/ppt/notesMasters/notesMaster1.xml" Id="rId1" 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44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799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260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841615"/>
      </p:ext>
    </p:extLst>
  </p:cSld>
  <p:clrMapOvr>
    <a:masterClrMapping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441B2-6D24-C85E-41B0-069A594984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625" y="2672394"/>
            <a:ext cx="10424532" cy="418560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Disciplina</a:t>
            </a:r>
            <a:br>
              <a:rPr lang="en-US" dirty="0"/>
            </a:br>
            <a:br>
              <a:rPr lang="en-US" dirty="0"/>
            </a:br>
            <a:r>
              <a:rPr lang="en-US" sz="40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Título</a:t>
            </a:r>
            <a:endParaRPr lang="en-US" dirty="0">
              <a:solidFill>
                <a:srgbClr val="66FF33"/>
              </a:solidFill>
              <a:latin typeface="Arial Narrow" panose="020B0606020202030204" pitchFamily="34" charset="0"/>
              <a:cs typeface="Segoe UI" panose="020B0502040204020203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9948CD5-BAAB-00C0-E2AB-BB06808349C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6624" y="1996751"/>
            <a:ext cx="10508600" cy="590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err="1">
                <a:solidFill>
                  <a:srgbClr val="FF6600"/>
                </a:solidFill>
              </a:rPr>
              <a:t>Faculdade</a:t>
            </a:r>
            <a:endParaRPr lang="en-US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759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gradFill flip="none" rotWithShape="1">
          <a:gsLst>
            <a:gs pos="2000">
              <a:schemeClr val="accent6"/>
            </a:gs>
            <a:gs pos="25000">
              <a:schemeClr val="accent4"/>
            </a:gs>
            <a:gs pos="96000">
              <a:schemeClr val="accent1"/>
            </a:gs>
            <a:gs pos="54000">
              <a:schemeClr val="accent1"/>
            </a:gs>
          </a:gsLst>
          <a:lin ang="30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573606BF-313A-A12A-6637-E9DEB1A9FA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0"/>
            <a:ext cx="9867900" cy="3429000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8B74D21-0C80-2844-4EBC-D123382C8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3558620"/>
            <a:ext cx="9867899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5829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AF87665-2B38-32D5-5C08-E3F93CB4CCB5}"/>
              </a:ext>
            </a:extLst>
          </p:cNvPr>
          <p:cNvSpPr/>
          <p:nvPr userDrawn="1"/>
        </p:nvSpPr>
        <p:spPr>
          <a:xfrm flipV="1">
            <a:off x="98322" y="1056440"/>
            <a:ext cx="11087541" cy="5704365"/>
          </a:xfrm>
          <a:prstGeom prst="roundRect">
            <a:avLst>
              <a:gd name="adj" fmla="val 3256"/>
            </a:avLst>
          </a:prstGeom>
          <a:solidFill>
            <a:schemeClr val="bg1">
              <a:lumMod val="95000"/>
            </a:schemeClr>
          </a:solidFill>
          <a:ln w="317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BBB241D-DF81-835E-2D67-F68371147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3" y="97194"/>
            <a:ext cx="11591925" cy="869594"/>
          </a:xfrm>
        </p:spPr>
        <p:txBody>
          <a:bodyPr>
            <a:noAutofit/>
          </a:bodyPr>
          <a:lstStyle>
            <a:lvl1pPr>
              <a:defRPr sz="3600">
                <a:solidFill>
                  <a:srgbClr val="66FF33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CCECFD-6308-0021-7A87-69C4BBF57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2"/>
            <a:ext cx="10890590" cy="5801557"/>
          </a:xfrm>
        </p:spPr>
        <p:txBody>
          <a:bodyPr>
            <a:normAutofit/>
          </a:bodyPr>
          <a:lstStyle>
            <a:lvl1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800">
                <a:solidFill>
                  <a:srgbClr val="FF0000"/>
                </a:solidFill>
                <a:latin typeface="Poppins" pitchFamily="2" charset="77"/>
                <a:cs typeface="Poppins" pitchFamily="2" charset="77"/>
              </a:defRPr>
            </a:lvl1pPr>
            <a:lvl2pPr marL="895335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7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1504920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6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3pPr>
            <a:lvl4pPr marL="2114504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5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4pPr>
            <a:lvl5pPr marL="2724089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4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5393947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2.xml" Id="rId2" /><Relationship Type="http://schemas.openxmlformats.org/officeDocument/2006/relationships/theme" Target="/ppt/theme/theme1.xml" Id="rId6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">
              <a:schemeClr val="accent6"/>
            </a:gs>
            <a:gs pos="26000">
              <a:schemeClr val="accent4"/>
            </a:gs>
            <a:gs pos="96000">
              <a:schemeClr val="accent1"/>
            </a:gs>
            <a:gs pos="54000">
              <a:schemeClr val="accent1"/>
            </a:gs>
          </a:gsLst>
          <a:lin ang="6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78E521-62AB-88F5-654A-026EBED27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7E2F2-56F5-188A-BC96-0E8873B1F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2001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  <p:sldLayoutId id="2147483663" r:id="rId3"/>
    <p:sldLayoutId id="2147483666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9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Id2" /><Relationship Type="http://schemas.openxmlformats.org/officeDocument/2006/relationships/slideLayout" Target="/ppt/slideLayouts/slideLayout2.xml" Id="rI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5.png" Id="rId7" /><Relationship Type="http://schemas.openxmlformats.org/officeDocument/2006/relationships/notesSlide" Target="/ppt/notesSlides/notesSlide3.xml" Id="rId2" /><Relationship Type="http://schemas.openxmlformats.org/officeDocument/2006/relationships/slideLayout" Target="/ppt/slideLayouts/slideLayout4.xml" Id="rId1" /><Relationship Type="http://schemas.openxmlformats.org/officeDocument/2006/relationships/image" Target="/ppt/media/image4.jpg" Id="rId6" /><Relationship Type="http://schemas.openxmlformats.org/officeDocument/2006/relationships/image" Target="/ppt/media/image3.jpg" Id="rId5" /><Relationship Type="http://schemas.openxmlformats.org/officeDocument/2006/relationships/image" Target="/ppt/media/image2.jpg" Id="rId4" /><Relationship Type="http://schemas.openxmlformats.org/officeDocument/2006/relationships/hyperlink" Target="https://www.youtube.com/watch?v=nD7rvpZCcL8" TargetMode="External" Id="rI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7.jpg" Id="rId3" /><Relationship Type="http://schemas.openxmlformats.org/officeDocument/2006/relationships/image" Target="/ppt/media/image6.png" Id="rId2" /><Relationship Type="http://schemas.openxmlformats.org/officeDocument/2006/relationships/slideLayout" Target="/ppt/slideLayouts/slideLayout4.xml" Id="rId1" /><Relationship Type="http://schemas.openxmlformats.org/officeDocument/2006/relationships/image" Target="/ppt/media/image8.png" Id="rI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9.jpg" Id="rId2" /><Relationship Type="http://schemas.openxmlformats.org/officeDocument/2006/relationships/slideLayout" Target="/ppt/slideLayouts/slideLayout4.xml" Id="rI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10.jpg" Id="rId2" /><Relationship Type="http://schemas.openxmlformats.org/officeDocument/2006/relationships/slideLayout" Target="/ppt/slideLayouts/slideLayout4.xml" Id="rI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I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I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Id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Id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notesSlide" Target="/ppt/notesSlides/notesSlide4.xml" Id="rId2" /><Relationship Type="http://schemas.openxmlformats.org/officeDocument/2006/relationships/slideLayout" Target="/ppt/slideLayouts/slideLayout4.xml" Id="rId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image" Target="/ppt/media/image11.emf" Id="rId2" /><Relationship Type="http://schemas.openxmlformats.org/officeDocument/2006/relationships/slideLayout" Target="/ppt/slideLayouts/slideLayout4.xml" Id="rId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Id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image" Target="/ppt/media/image12.jpg" Id="rId3" /><Relationship Type="http://schemas.openxmlformats.org/officeDocument/2006/relationships/notesSlide" Target="/ppt/notesSlides/notesSlide5.xml" Id="rId2" /><Relationship Type="http://schemas.openxmlformats.org/officeDocument/2006/relationships/slideLayout" Target="/ppt/slideLayouts/slideLayout4.xml" Id="rId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Id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Id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Id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Id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Id1" /></Relationships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DF6EF-72F7-5FC0-B815-1E1AE661D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625" y="2382253"/>
            <a:ext cx="10424532" cy="4475747"/>
          </a:xfrm>
        </p:spPr>
        <p:txBody>
          <a:bodyPr/>
          <a:lstStyle/>
          <a:p>
            <a:r>
              <a:rPr lang="en-US" dirty="0" err="1"/>
              <a:t>Algoritmos</a:t>
            </a:r>
            <a:r>
              <a:rPr lang="en-US" dirty="0"/>
              <a:t> e </a:t>
            </a:r>
            <a:r>
              <a:rPr lang="en-US" dirty="0" err="1"/>
              <a:t>Linguagens</a:t>
            </a:r>
            <a:r>
              <a:rPr lang="en-US" dirty="0"/>
              <a:t> de </a:t>
            </a:r>
            <a:r>
              <a:rPr lang="en-US" dirty="0" err="1"/>
              <a:t>Programação</a:t>
            </a:r>
            <a:br>
              <a:rPr lang="en-US" dirty="0"/>
            </a:br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Prof. Dr. Paulo Cesar de Alvarenga Lucci</a:t>
            </a:r>
            <a:br>
              <a:rPr lang="en-US" dirty="0"/>
            </a:br>
            <a:br>
              <a:rPr lang="en-US" dirty="0"/>
            </a:br>
            <a:r>
              <a:rPr lang="en-US" sz="40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Introdução</a:t>
            </a:r>
            <a:endParaRPr lang="en-US" dirty="0">
              <a:solidFill>
                <a:srgbClr val="66FF33"/>
              </a:solidFill>
              <a:latin typeface="Arial Narrow" panose="020B060602020203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D66FD4-6C1B-4401-8F47-FEB0342D2525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866775" y="2838600"/>
            <a:ext cx="10508600" cy="59040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FF6600"/>
                </a:solidFill>
              </a:rPr>
              <a:t>Engenharia</a:t>
            </a:r>
            <a:r>
              <a:rPr lang="en-US" dirty="0">
                <a:solidFill>
                  <a:srgbClr val="FF6600"/>
                </a:solidFill>
              </a:rPr>
              <a:t> de Software – PUC Campinas</a:t>
            </a:r>
          </a:p>
        </p:txBody>
      </p:sp>
    </p:spTree>
    <p:extLst>
      <p:ext uri="{BB962C8B-B14F-4D97-AF65-F5344CB8AC3E}">
        <p14:creationId xmlns:p14="http://schemas.microsoft.com/office/powerpoint/2010/main" val="1442525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A67717-9C59-D999-81E2-06925E54F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C781B8-6702-8DCF-223A-BE0ABDCB7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RÁPIDA VIAGEM NO TEMPO</a:t>
            </a:r>
          </a:p>
          <a:p>
            <a:pPr lvl="1"/>
            <a:r>
              <a:rPr lang="pt-BR" dirty="0"/>
              <a:t>Em 1801, o </a:t>
            </a:r>
            <a:r>
              <a:rPr lang="pt-BR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tear de </a:t>
            </a:r>
            <a:r>
              <a:rPr lang="pt-BR" dirty="0" err="1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Jacquard</a:t>
            </a:r>
            <a:r>
              <a:rPr lang="pt-BR" dirty="0">
                <a:solidFill>
                  <a:srgbClr val="FF0000"/>
                </a:solidFill>
              </a:rPr>
              <a:t> </a:t>
            </a:r>
            <a:r>
              <a:rPr lang="pt-BR" dirty="0"/>
              <a:t>usava cartões perfurados para "programar" desenhos — uma máquina seguindo instruções.</a:t>
            </a:r>
          </a:p>
          <a:p>
            <a:pPr lvl="2"/>
            <a:r>
              <a:rPr lang="pt-BR" dirty="0"/>
              <a:t>É um tipo de tear mecânico que revolucionou a indústria têxtil porque permitia tecer padrões complexos automaticamente, como desenhos em tecidos.</a:t>
            </a:r>
          </a:p>
          <a:p>
            <a:pPr lvl="2"/>
            <a:r>
              <a:rPr lang="pt-BR" dirty="0"/>
              <a:t>O tear utilizava cartões perfurados para controlar o padrão do tecido.</a:t>
            </a:r>
          </a:p>
          <a:p>
            <a:pPr lvl="2"/>
            <a:r>
              <a:rPr lang="pt-BR" dirty="0"/>
              <a:t>Cada cartão representava uma linha do desenho, e os furos determinavam quais fios deveriam ser levantados ou abaixados.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Conexão com a computação:</a:t>
            </a:r>
          </a:p>
          <a:p>
            <a:pPr lvl="2"/>
            <a:r>
              <a:rPr lang="pt-BR" dirty="0"/>
              <a:t>Esse tear foi uma das primeiras máquinas programáveis da história!</a:t>
            </a:r>
          </a:p>
          <a:p>
            <a:pPr lvl="3"/>
            <a:r>
              <a:rPr lang="pt-BR" dirty="0">
                <a:solidFill>
                  <a:srgbClr val="FF0000"/>
                </a:solidFill>
              </a:rPr>
              <a:t>Charles Babbage </a:t>
            </a:r>
            <a:r>
              <a:rPr lang="pt-BR" dirty="0"/>
              <a:t>se inspirou nos cartões perfurados do tear de </a:t>
            </a:r>
            <a:r>
              <a:rPr lang="pt-BR" dirty="0" err="1"/>
              <a:t>Jacquard</a:t>
            </a:r>
            <a:r>
              <a:rPr lang="pt-BR" dirty="0"/>
              <a:t> para criar sua Máquina Analítica.</a:t>
            </a:r>
          </a:p>
          <a:p>
            <a:pPr lvl="3"/>
            <a:r>
              <a:rPr lang="pt-BR" dirty="0">
                <a:solidFill>
                  <a:srgbClr val="FF0000"/>
                </a:solidFill>
              </a:rPr>
              <a:t>Mais tarde, Ada </a:t>
            </a:r>
            <a:r>
              <a:rPr lang="pt-BR" dirty="0" err="1">
                <a:solidFill>
                  <a:srgbClr val="FF0000"/>
                </a:solidFill>
              </a:rPr>
              <a:t>Lovelace</a:t>
            </a:r>
            <a:r>
              <a:rPr lang="pt-BR" dirty="0">
                <a:solidFill>
                  <a:srgbClr val="FF0000"/>
                </a:solidFill>
              </a:rPr>
              <a:t> </a:t>
            </a:r>
            <a:r>
              <a:rPr lang="pt-BR" dirty="0"/>
              <a:t>escreveu algoritmos para essa máquina. Os mesmos cartões perfurados foram usados até meados do século XX para programar computadores!</a:t>
            </a:r>
          </a:p>
        </p:txBody>
      </p:sp>
      <p:pic>
        <p:nvPicPr>
          <p:cNvPr id="6146" name="Picture 2" descr="Jacquard: a incrível história de uma invenção que inspirou o primeiro">
            <a:extLst>
              <a:ext uri="{FF2B5EF4-FFF2-40B4-BE49-F238E27FC236}">
                <a16:creationId xmlns:a16="http://schemas.microsoft.com/office/drawing/2014/main" id="{75B1A8C0-9E38-93CD-F624-E3EDD40B42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5" t="-239" r="5286" b="239"/>
          <a:stretch/>
        </p:blipFill>
        <p:spPr bwMode="auto">
          <a:xfrm>
            <a:off x="137961" y="4790218"/>
            <a:ext cx="1336878" cy="903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O que tem a ver um tear com a era dos computadores? (V.3, N.2, P.3, 2020)">
            <a:extLst>
              <a:ext uri="{FF2B5EF4-FFF2-40B4-BE49-F238E27FC236}">
                <a16:creationId xmlns:a16="http://schemas.microsoft.com/office/drawing/2014/main" id="{DDD69158-3D50-5863-FDCD-1CFA19004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3686" y="97194"/>
            <a:ext cx="2088590" cy="1392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O tear Jacquard não só revolucionou a indústria têxtil mas foi o primeiro  computador do mundo - Stylo Urbano">
            <a:extLst>
              <a:ext uri="{FF2B5EF4-FFF2-40B4-BE49-F238E27FC236}">
                <a16:creationId xmlns:a16="http://schemas.microsoft.com/office/drawing/2014/main" id="{E60CE486-251A-AF95-0699-8D7FF57B1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9279" y="97194"/>
            <a:ext cx="2552721" cy="1392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Ada Lovelace – Wikipédia, a enciclopédia livre">
            <a:extLst>
              <a:ext uri="{FF2B5EF4-FFF2-40B4-BE49-F238E27FC236}">
                <a16:creationId xmlns:a16="http://schemas.microsoft.com/office/drawing/2014/main" id="{8F5CB2D7-4C7D-95BD-E497-D681338DC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710" y="5457489"/>
            <a:ext cx="976639" cy="1264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6244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A67717-9C59-D999-81E2-06925E54F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C781B8-6702-8DCF-223A-BE0ABDCB7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EVOLUÇÃO DAS ARQUITETURAS E HARDWARES</a:t>
            </a:r>
          </a:p>
          <a:p>
            <a:pPr lvl="1"/>
            <a:r>
              <a:rPr lang="pt-BR" dirty="0"/>
              <a:t>Após as ideias pioneiras de Babbage e </a:t>
            </a:r>
            <a:r>
              <a:rPr lang="pt-BR" dirty="0" err="1"/>
              <a:t>Lovelace</a:t>
            </a:r>
            <a:r>
              <a:rPr lang="pt-BR" dirty="0"/>
              <a:t> no século XIX, o século XX trouxe os primeiros computadores eletrônicos reais, que exigiam linguagens de programação mais próximas da máquina e mais fáceis para os humanos entenderem.</a:t>
            </a:r>
          </a:p>
        </p:txBody>
      </p:sp>
      <p:pic>
        <p:nvPicPr>
          <p:cNvPr id="7170" name="Picture 2" descr="Ada Lovelace, Charles Babbage e ENIAC: uma breve história da computação |  Alura">
            <a:extLst>
              <a:ext uri="{FF2B5EF4-FFF2-40B4-BE49-F238E27FC236}">
                <a16:creationId xmlns:a16="http://schemas.microsoft.com/office/drawing/2014/main" id="{EC324BF3-98EC-EE4E-4F6B-00C158A078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3" y="3717516"/>
            <a:ext cx="3098849" cy="242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Quem inventou o computador? Conheça Charles Babbage e a máquina diferencial">
            <a:extLst>
              <a:ext uri="{FF2B5EF4-FFF2-40B4-BE49-F238E27FC236}">
                <a16:creationId xmlns:a16="http://schemas.microsoft.com/office/drawing/2014/main" id="{10F8C97F-8BA6-D3A1-2EDF-5C0961EA4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867" y="3717516"/>
            <a:ext cx="2425187" cy="2425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Quem são os principais personagens na história dos computadores? | ANDRÉ  PRZYBYSZ">
            <a:extLst>
              <a:ext uri="{FF2B5EF4-FFF2-40B4-BE49-F238E27FC236}">
                <a16:creationId xmlns:a16="http://schemas.microsoft.com/office/drawing/2014/main" id="{455E7C61-3DAE-2667-8080-AE0DE646C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4558" y="3717516"/>
            <a:ext cx="4311443" cy="242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073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0094D3-930D-4CF7-262A-C7F4FE604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67B289-F0C6-4416-5B0A-381ABCC4F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DA TEORIA AO SURGIMENTO DAS LINGUAGENS MODERNAS</a:t>
            </a:r>
          </a:p>
          <a:p>
            <a:pPr lvl="1"/>
            <a:r>
              <a:rPr lang="pt-BR" dirty="0"/>
              <a:t>As ideias evoluíram e abriram caminho para um futuro onde máquinas poderiam executar algoritmos complexos.</a:t>
            </a:r>
          </a:p>
          <a:p>
            <a:pPr lvl="1"/>
            <a:r>
              <a:rPr lang="pt-BR" dirty="0"/>
              <a:t>Mas para isso se tornar realidade, era preciso mais do que imaginação: era necessário construir os computadores de verdade.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E foi o que começou a acontecer no século XX, com o surgimento do hardware eletrônico, arquiteturas de processamento e a famosa </a:t>
            </a:r>
            <a:r>
              <a:rPr lang="pt-BR" u="sng" dirty="0">
                <a:solidFill>
                  <a:srgbClr val="FF0000"/>
                </a:solidFill>
              </a:rPr>
              <a:t>Arquitetura de von Neumann</a:t>
            </a:r>
            <a:r>
              <a:rPr lang="pt-BR" dirty="0">
                <a:solidFill>
                  <a:srgbClr val="FF0000"/>
                </a:solidFill>
              </a:rPr>
              <a:t> (1945).</a:t>
            </a:r>
          </a:p>
          <a:p>
            <a:pPr lvl="2"/>
            <a:r>
              <a:rPr lang="pt-BR" dirty="0"/>
              <a:t>Organizou o funcionamento dos computadores em três grandes componentes:</a:t>
            </a:r>
          </a:p>
          <a:p>
            <a:pPr lvl="3"/>
            <a:r>
              <a:rPr lang="pt-BR" dirty="0"/>
              <a:t>Memória (onde os dados e instruções ficam guardados).</a:t>
            </a:r>
          </a:p>
          <a:p>
            <a:pPr lvl="3"/>
            <a:r>
              <a:rPr lang="pt-BR" dirty="0"/>
              <a:t>Unidade de controle e processamento (CPU).</a:t>
            </a:r>
          </a:p>
          <a:p>
            <a:pPr lvl="3"/>
            <a:r>
              <a:rPr lang="pt-BR" dirty="0"/>
              <a:t>Entrada/Saída.</a:t>
            </a:r>
          </a:p>
          <a:p>
            <a:pPr lvl="2"/>
            <a:r>
              <a:rPr lang="pt-BR" dirty="0"/>
              <a:t>Essa arquitetura tornou possível executar programas armazenados na                   memória, algo essencial para a programação como conhecemos hoje.</a:t>
            </a:r>
          </a:p>
          <a:p>
            <a:pPr lvl="1"/>
            <a:endParaRPr lang="pt-BR" dirty="0">
              <a:solidFill>
                <a:srgbClr val="FF6600"/>
              </a:solidFill>
            </a:endParaRPr>
          </a:p>
        </p:txBody>
      </p:sp>
      <p:pic>
        <p:nvPicPr>
          <p:cNvPr id="8194" name="Picture 2" descr="j:john_von_neumann [Wiki Computação]">
            <a:extLst>
              <a:ext uri="{FF2B5EF4-FFF2-40B4-BE49-F238E27FC236}">
                <a16:creationId xmlns:a16="http://schemas.microsoft.com/office/drawing/2014/main" id="{919239BA-83B3-6BE4-2B5E-3A68E8F715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" r="4065"/>
          <a:stretch/>
        </p:blipFill>
        <p:spPr bwMode="auto">
          <a:xfrm>
            <a:off x="9350477" y="4680875"/>
            <a:ext cx="2694031" cy="195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1147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FBB10D-24DE-7E14-8FEC-4FF37C82B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E98150-5429-01F8-2634-C165579AF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POR QUE SURGIRAM AS LINGUAGENS?</a:t>
            </a:r>
          </a:p>
          <a:p>
            <a:pPr lvl="1"/>
            <a:r>
              <a:rPr lang="pt-BR" dirty="0"/>
              <a:t>Com o hardware funcionando e o conceito de programa armazenado, surgia uma nova necessidade:</a:t>
            </a:r>
          </a:p>
          <a:p>
            <a:pPr lvl="2"/>
            <a:r>
              <a:rPr lang="pt-BR" dirty="0"/>
              <a:t>Como escrever instruções para a máquina entender?</a:t>
            </a:r>
          </a:p>
          <a:p>
            <a:pPr lvl="3"/>
            <a:r>
              <a:rPr lang="pt-BR" dirty="0"/>
              <a:t>É aí que entram as primeiras linguagens de programação, que evoluíram rapidamente.</a:t>
            </a:r>
          </a:p>
        </p:txBody>
      </p:sp>
      <p:pic>
        <p:nvPicPr>
          <p:cNvPr id="9218" name="Picture 2" descr="Timeline of the most popular programming languages | Pascal BORNET">
            <a:extLst>
              <a:ext uri="{FF2B5EF4-FFF2-40B4-BE49-F238E27FC236}">
                <a16:creationId xmlns:a16="http://schemas.microsoft.com/office/drawing/2014/main" id="{9414081D-5008-2B56-D8EA-AF20D27268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79" b="6491"/>
          <a:stretch/>
        </p:blipFill>
        <p:spPr bwMode="auto">
          <a:xfrm>
            <a:off x="4140688" y="3429000"/>
            <a:ext cx="3910624" cy="314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EC3A735B-3C8A-F4DA-96BF-69DE5D172A22}"/>
              </a:ext>
            </a:extLst>
          </p:cNvPr>
          <p:cNvSpPr/>
          <p:nvPr/>
        </p:nvSpPr>
        <p:spPr>
          <a:xfrm>
            <a:off x="6188975" y="4203290"/>
            <a:ext cx="1061884" cy="38345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2531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A67717-9C59-D999-81E2-06925E54F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C781B8-6702-8DCF-223A-BE0ABDCB7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EVOLUÇÃO DAS LINGUAGENS DE PROGRAMAÇÃO</a:t>
            </a:r>
          </a:p>
          <a:p>
            <a:pPr lvl="1"/>
            <a:r>
              <a:rPr lang="pt-BR" dirty="0"/>
              <a:t>A sequência dessa evolução é: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Assembly (1949): </a:t>
            </a:r>
            <a:r>
              <a:rPr lang="pt-BR" dirty="0"/>
              <a:t>primeira linguagem simbólica de baixo nível — próxima ao código binário.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Fortran (1957): </a:t>
            </a:r>
            <a:r>
              <a:rPr lang="pt-BR" dirty="0"/>
              <a:t>primeira linguagem de alto nível, voltada para cálculos científicos.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COBOL (1959): </a:t>
            </a:r>
            <a:r>
              <a:rPr lang="pt-BR" dirty="0"/>
              <a:t>criada para aplicações de negócios — voltada à clareza e legibilidade.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BASIC (1964): </a:t>
            </a:r>
            <a:r>
              <a:rPr lang="pt-BR" dirty="0"/>
              <a:t>desenvolvida para ser simples e educativa — muito usada em computadores pessoais.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Pascal (1970): </a:t>
            </a:r>
            <a:r>
              <a:rPr lang="pt-BR" dirty="0"/>
              <a:t>ensinava programação estruturada — influenciou a didática de ensino.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C (1972): </a:t>
            </a:r>
            <a:r>
              <a:rPr lang="pt-BR" dirty="0"/>
              <a:t>desenvolvida por Dennis Ritchie nos laboratórios da Bell.</a:t>
            </a:r>
          </a:p>
          <a:p>
            <a:pPr lvl="3"/>
            <a:r>
              <a:rPr lang="pt-BR" dirty="0"/>
              <a:t>Equilibrava eficiência com estrutura, e se tornou a base para muitos sistemas operacionais, inclusive o UNIX.</a:t>
            </a:r>
          </a:p>
          <a:p>
            <a:pPr lvl="3"/>
            <a:r>
              <a:rPr lang="pt-BR" dirty="0"/>
              <a:t>Influenciou praticamente todas as linguagens modernas, como C++, Java, C#, Python...</a:t>
            </a:r>
          </a:p>
        </p:txBody>
      </p:sp>
    </p:spTree>
    <p:extLst>
      <p:ext uri="{BB962C8B-B14F-4D97-AF65-F5344CB8AC3E}">
        <p14:creationId xmlns:p14="http://schemas.microsoft.com/office/powerpoint/2010/main" val="3573587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A67717-9C59-D999-81E2-06925E54F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C781B8-6702-8DCF-223A-BE0ABDCB7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LINGUAGEM C E O CÉREBRO DA MÁQUINA</a:t>
            </a:r>
          </a:p>
          <a:p>
            <a:pPr lvl="1"/>
            <a:r>
              <a:rPr lang="pt-BR" dirty="0"/>
              <a:t>Criada na década de 1970, a linguagem C deu ao programador o poder de controlar o funcionamento interno do computador, com precisão e eficiência.</a:t>
            </a:r>
          </a:p>
          <a:p>
            <a:pPr lvl="1"/>
            <a:r>
              <a:rPr lang="pt-BR" dirty="0"/>
              <a:t>C é rápida, poderosa e essencial para entender como a máquina funciona por dentro.</a:t>
            </a:r>
          </a:p>
          <a:p>
            <a:pPr lvl="1"/>
            <a:r>
              <a:rPr lang="pt-BR" dirty="0"/>
              <a:t>Ela conversa diretamente com a Arquitetura de von Neumann: memória, CPU, instruções.</a:t>
            </a:r>
          </a:p>
          <a:p>
            <a:pPr lvl="1"/>
            <a:r>
              <a:rPr lang="pt-BR" dirty="0"/>
              <a:t>Ao aprender C, você não está só programando — você está pensando como a máquina.</a:t>
            </a:r>
          </a:p>
        </p:txBody>
      </p:sp>
    </p:spTree>
    <p:extLst>
      <p:ext uri="{BB962C8B-B14F-4D97-AF65-F5344CB8AC3E}">
        <p14:creationId xmlns:p14="http://schemas.microsoft.com/office/powerpoint/2010/main" val="1337648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A67717-9C59-D999-81E2-06925E54F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C781B8-6702-8DCF-223A-BE0ABDCB7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POR QUE ISSO IMPORTA?</a:t>
            </a:r>
          </a:p>
          <a:p>
            <a:pPr lvl="1"/>
            <a:r>
              <a:rPr lang="pt-BR" dirty="0"/>
              <a:t>Porque a programação não é somente conhecer comandos. É uma habilidade de pensamento lógico, resolução de problemas e inovação.</a:t>
            </a:r>
          </a:p>
          <a:p>
            <a:pPr lvl="1"/>
            <a:r>
              <a:rPr lang="pt-BR" dirty="0"/>
              <a:t>Aprender C promove uma base sólida.</a:t>
            </a:r>
          </a:p>
          <a:p>
            <a:pPr lvl="2"/>
            <a:r>
              <a:rPr lang="pt-BR" dirty="0"/>
              <a:t>Você entende como um computador funciona de verdade, e isso te diferencia em qualquer área.</a:t>
            </a:r>
          </a:p>
          <a:p>
            <a:pPr lvl="1"/>
            <a:r>
              <a:rPr lang="pt-BR" dirty="0"/>
              <a:t>Você não está só aprendendo a programar: está aprendendo a pensar como quem cria tecnologia.</a:t>
            </a:r>
          </a:p>
        </p:txBody>
      </p:sp>
    </p:spTree>
    <p:extLst>
      <p:ext uri="{BB962C8B-B14F-4D97-AF65-F5344CB8AC3E}">
        <p14:creationId xmlns:p14="http://schemas.microsoft.com/office/powerpoint/2010/main" val="3862201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A67717-9C59-D999-81E2-06925E54F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C781B8-6702-8DCF-223A-BE0ABDCB7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2"/>
            <a:ext cx="10890590" cy="5801557"/>
          </a:xfrm>
        </p:spPr>
        <p:txBody>
          <a:bodyPr>
            <a:normAutofit/>
          </a:bodyPr>
          <a:lstStyle/>
          <a:p>
            <a:r>
              <a:rPr lang="pt-BR" dirty="0"/>
              <a:t>COMPONENTES BÁSICOS: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Hardware:</a:t>
            </a:r>
          </a:p>
          <a:p>
            <a:pPr lvl="2"/>
            <a:r>
              <a:rPr lang="pt-BR" dirty="0"/>
              <a:t>Eletrônicos:</a:t>
            </a:r>
          </a:p>
          <a:p>
            <a:pPr lvl="3"/>
            <a:r>
              <a:rPr lang="pt-BR" dirty="0"/>
              <a:t>Processador.</a:t>
            </a:r>
          </a:p>
          <a:p>
            <a:pPr lvl="3"/>
            <a:r>
              <a:rPr lang="pt-BR" dirty="0"/>
              <a:t>Memória.</a:t>
            </a:r>
          </a:p>
          <a:p>
            <a:pPr lvl="3"/>
            <a:r>
              <a:rPr lang="pt-BR" dirty="0"/>
              <a:t>Controladores.</a:t>
            </a:r>
          </a:p>
          <a:p>
            <a:pPr lvl="2"/>
            <a:r>
              <a:rPr lang="pt-BR" dirty="0"/>
              <a:t>Periféricos:</a:t>
            </a:r>
          </a:p>
          <a:p>
            <a:pPr lvl="3"/>
            <a:r>
              <a:rPr lang="pt-BR" dirty="0"/>
              <a:t>Dispositivos de entrada e saída (teclado, mouse, monitor, impressora </a:t>
            </a:r>
            <a:r>
              <a:rPr lang="pt-BR" dirty="0" err="1"/>
              <a:t>etc</a:t>
            </a:r>
            <a:r>
              <a:rPr lang="pt-BR" dirty="0"/>
              <a:t>).</a:t>
            </a:r>
          </a:p>
          <a:p>
            <a:pPr lvl="3"/>
            <a:r>
              <a:rPr lang="pt-BR" dirty="0"/>
              <a:t>Memória removível.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Software:</a:t>
            </a:r>
          </a:p>
          <a:p>
            <a:pPr lvl="2"/>
            <a:r>
              <a:rPr lang="pt-BR" dirty="0"/>
              <a:t>Sistema operacional.</a:t>
            </a:r>
          </a:p>
          <a:p>
            <a:pPr lvl="2"/>
            <a:r>
              <a:rPr lang="pt-BR" dirty="0"/>
              <a:t>Aplicativos.</a:t>
            </a:r>
          </a:p>
          <a:p>
            <a:pPr lvl="2"/>
            <a:r>
              <a:rPr lang="pt-BR" dirty="0"/>
              <a:t>Jogos.</a:t>
            </a:r>
          </a:p>
        </p:txBody>
      </p:sp>
    </p:spTree>
    <p:extLst>
      <p:ext uri="{BB962C8B-B14F-4D97-AF65-F5344CB8AC3E}">
        <p14:creationId xmlns:p14="http://schemas.microsoft.com/office/powerpoint/2010/main" val="2266331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A67717-9C59-D999-81E2-06925E54F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C781B8-6702-8DCF-223A-BE0ABDCB7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TIPOS DE MEMÓRIA: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Volátil: </a:t>
            </a:r>
            <a:r>
              <a:rPr lang="pt-BR" dirty="0"/>
              <a:t>informações disponíveis enquanto o computador estiver ligado.</a:t>
            </a:r>
          </a:p>
          <a:p>
            <a:pPr lvl="2"/>
            <a:r>
              <a:rPr lang="pt-BR" dirty="0"/>
              <a:t>RAM (Random </a:t>
            </a:r>
            <a:r>
              <a:rPr lang="pt-BR" dirty="0" err="1"/>
              <a:t>access</a:t>
            </a:r>
            <a:r>
              <a:rPr lang="pt-BR" dirty="0"/>
              <a:t> </a:t>
            </a:r>
            <a:r>
              <a:rPr lang="pt-BR" dirty="0" err="1"/>
              <a:t>memory</a:t>
            </a:r>
            <a:r>
              <a:rPr lang="pt-BR" dirty="0"/>
              <a:t>):</a:t>
            </a:r>
          </a:p>
          <a:p>
            <a:pPr lvl="3"/>
            <a:r>
              <a:rPr lang="pt-BR" dirty="0"/>
              <a:t>É o espaço de trabalho do computador, tudo o que está sendo usado no momento passa por ela.</a:t>
            </a:r>
          </a:p>
          <a:p>
            <a:pPr lvl="2"/>
            <a:r>
              <a:rPr lang="pt-BR" dirty="0"/>
              <a:t>Cache:</a:t>
            </a:r>
          </a:p>
          <a:p>
            <a:pPr lvl="3"/>
            <a:r>
              <a:rPr lang="pt-BR" dirty="0"/>
              <a:t>Guarda dados usados com frequência para que o processador acesse tudo mais rápido.</a:t>
            </a:r>
          </a:p>
          <a:p>
            <a:pPr lvl="2"/>
            <a:r>
              <a:rPr lang="pt-BR" sz="1400" dirty="0">
                <a:solidFill>
                  <a:srgbClr val="00B050"/>
                </a:solidFill>
              </a:rPr>
              <a:t>A RAM surgiu para dar ao processador acesso aos dados em uso, e a cache foi criada para acelerar ainda mais esse acesso, guardando as informações mais usadas bem perto da CPU.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Persistente: </a:t>
            </a:r>
            <a:r>
              <a:rPr lang="pt-BR" dirty="0"/>
              <a:t>informações armazenadas mesmo com o computador desligado.</a:t>
            </a:r>
          </a:p>
          <a:p>
            <a:pPr lvl="2"/>
            <a:r>
              <a:rPr lang="pt-BR" dirty="0"/>
              <a:t>HD (internas ou externas).</a:t>
            </a:r>
          </a:p>
          <a:p>
            <a:pPr lvl="2"/>
            <a:r>
              <a:rPr lang="pt-BR" dirty="0"/>
              <a:t>ROM (</a:t>
            </a:r>
            <a:r>
              <a:rPr lang="pt-BR" dirty="0" err="1"/>
              <a:t>read</a:t>
            </a:r>
            <a:r>
              <a:rPr lang="pt-BR" dirty="0"/>
              <a:t> </a:t>
            </a:r>
            <a:r>
              <a:rPr lang="pt-BR" dirty="0" err="1"/>
              <a:t>only</a:t>
            </a:r>
            <a:r>
              <a:rPr lang="pt-BR" dirty="0"/>
              <a:t> </a:t>
            </a:r>
            <a:r>
              <a:rPr lang="pt-BR" dirty="0" err="1"/>
              <a:t>memory</a:t>
            </a:r>
            <a:r>
              <a:rPr lang="pt-BR" dirty="0"/>
              <a:t>): armazena as instruções essenciais que o computador precisa para iniciar, antes mesmo de carregar o sistema operacional.</a:t>
            </a:r>
          </a:p>
        </p:txBody>
      </p:sp>
    </p:spTree>
    <p:extLst>
      <p:ext uri="{BB962C8B-B14F-4D97-AF65-F5344CB8AC3E}">
        <p14:creationId xmlns:p14="http://schemas.microsoft.com/office/powerpoint/2010/main" val="22470326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A67717-9C59-D999-81E2-06925E54F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C781B8-6702-8DCF-223A-BE0ABDCB7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LINGUAGEM BINÁRIA É O IDIOMA NATIVO DOS COMPUTADORES</a:t>
            </a:r>
          </a:p>
          <a:p>
            <a:pPr lvl="1"/>
            <a:r>
              <a:rPr lang="pt-BR" dirty="0"/>
              <a:t>Ela se baseia em apenas dois símbolos: 0 e 1, que representam dois estados possíveis.</a:t>
            </a:r>
          </a:p>
          <a:p>
            <a:pPr lvl="2"/>
            <a:r>
              <a:rPr lang="pt-BR" dirty="0"/>
              <a:t>Esses estados correspondem diretamente ao funcionamento dos transistores, os minúsculos interruptores eletrônicos que compõem os circuitos internos do computador.</a:t>
            </a:r>
          </a:p>
          <a:p>
            <a:pPr lvl="1"/>
            <a:r>
              <a:rPr lang="pt-BR" dirty="0"/>
              <a:t>Cada transistor pode estar ligado (</a:t>
            </a:r>
            <a:r>
              <a:rPr lang="pt-BR" i="1" dirty="0" err="1"/>
              <a:t>on</a:t>
            </a:r>
            <a:r>
              <a:rPr lang="pt-BR" dirty="0"/>
              <a:t>) ou desligado (</a:t>
            </a:r>
            <a:r>
              <a:rPr lang="pt-BR" i="1" dirty="0"/>
              <a:t>off</a:t>
            </a:r>
            <a:r>
              <a:rPr lang="pt-BR" dirty="0"/>
              <a:t>) — exatamente como um interruptor de luz. Quando está ligado, representa o 1; quando desligado, o 0.</a:t>
            </a:r>
          </a:p>
          <a:p>
            <a:pPr lvl="1"/>
            <a:r>
              <a:rPr lang="pt-BR" dirty="0"/>
              <a:t>Juntos, bilhões desses transistores formando combinações de 0s e 1s tornam possível toda a tecnologia digital: desde simples cálculos até inteligência artificial.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D87FB16-96EE-7460-5F3F-F50A61A3E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88" y="4793832"/>
            <a:ext cx="10769600" cy="175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6373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A67717-9C59-D999-81E2-06925E54F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Algoritmos</a:t>
            </a:r>
          </a:p>
        </p:txBody>
      </p:sp>
    </p:spTree>
    <p:extLst>
      <p:ext uri="{BB962C8B-B14F-4D97-AF65-F5344CB8AC3E}">
        <p14:creationId xmlns:p14="http://schemas.microsoft.com/office/powerpoint/2010/main" val="8573117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A67717-9C59-D999-81E2-06925E54F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C781B8-6702-8DCF-223A-BE0ABDCB7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2"/>
            <a:ext cx="7087302" cy="5801557"/>
          </a:xfrm>
        </p:spPr>
        <p:txBody>
          <a:bodyPr/>
          <a:lstStyle/>
          <a:p>
            <a:r>
              <a:rPr lang="pt-BR" dirty="0"/>
              <a:t>ALGORITMOS</a:t>
            </a:r>
          </a:p>
          <a:p>
            <a:pPr lvl="1"/>
            <a:r>
              <a:rPr lang="pt-BR" dirty="0"/>
              <a:t>Desde que o ser humano aprendeu a contar e registrar passos lógicos para resolver problemas, os algoritmos já existiam.</a:t>
            </a:r>
          </a:p>
          <a:p>
            <a:pPr lvl="1"/>
            <a:r>
              <a:rPr lang="pt-BR" dirty="0"/>
              <a:t>Algoritmos são basicamente passos bem definidos que servem para resolver um problema ou realizar uma tarefa.</a:t>
            </a:r>
          </a:p>
          <a:p>
            <a:pPr lvl="2"/>
            <a:r>
              <a:rPr lang="pt-BR" dirty="0"/>
              <a:t>É uma sequência lógica de instruções que descreve como fazer algo.</a:t>
            </a:r>
          </a:p>
        </p:txBody>
      </p:sp>
      <p:pic>
        <p:nvPicPr>
          <p:cNvPr id="6" name="Imagem 5" descr="Diagrama">
            <a:extLst>
              <a:ext uri="{FF2B5EF4-FFF2-40B4-BE49-F238E27FC236}">
                <a16:creationId xmlns:a16="http://schemas.microsoft.com/office/drawing/2014/main" id="{C273C9C3-C0C1-4775-160F-1E56D6198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2577" y="1289786"/>
            <a:ext cx="4681042" cy="472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9136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A67717-9C59-D999-81E2-06925E54F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C781B8-6702-8DCF-223A-BE0ABDCB7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QUE SÃO ALGORITMOS, AFINAL?</a:t>
            </a:r>
          </a:p>
          <a:p>
            <a:pPr lvl="1"/>
            <a:r>
              <a:rPr lang="pt-BR" dirty="0">
                <a:solidFill>
                  <a:srgbClr val="FF6600"/>
                </a:solidFill>
              </a:rPr>
              <a:t>Algoritmos </a:t>
            </a:r>
            <a:r>
              <a:rPr lang="pt-BR" dirty="0"/>
              <a:t>são conjuntos de passos lógicos, finitos e ordenados, usados para resolver problemas ou executar tarefas.</a:t>
            </a:r>
          </a:p>
          <a:p>
            <a:pPr lvl="2"/>
            <a:r>
              <a:rPr lang="pt-BR" dirty="0">
                <a:solidFill>
                  <a:srgbClr val="FF6600"/>
                </a:solidFill>
              </a:rPr>
              <a:t>Não dependem de linguagem computacional. É raciocínio!</a:t>
            </a:r>
          </a:p>
          <a:p>
            <a:pPr lvl="1"/>
            <a:r>
              <a:rPr lang="pt-BR" dirty="0"/>
              <a:t>Em </a:t>
            </a:r>
            <a:r>
              <a:rPr lang="pt-BR" dirty="0">
                <a:solidFill>
                  <a:srgbClr val="FF6600"/>
                </a:solidFill>
              </a:rPr>
              <a:t>Engenharia de Software</a:t>
            </a:r>
            <a:r>
              <a:rPr lang="pt-BR" dirty="0"/>
              <a:t>, eles são muito mais que instruções: são modelos de raciocínio que guiam o comportamento de sistemas complexos.</a:t>
            </a:r>
          </a:p>
          <a:p>
            <a:pPr lvl="1"/>
            <a:r>
              <a:rPr lang="pt-BR" dirty="0"/>
              <a:t>Saber pensar </a:t>
            </a:r>
            <a:r>
              <a:rPr lang="pt-BR" dirty="0">
                <a:solidFill>
                  <a:srgbClr val="FF6600"/>
                </a:solidFill>
              </a:rPr>
              <a:t>algoritmicamente</a:t>
            </a:r>
            <a:r>
              <a:rPr lang="pt-BR" dirty="0"/>
              <a:t> é o primeiro passo para projetar soluções eficientes, escaláveis e corretas.</a:t>
            </a:r>
          </a:p>
        </p:txBody>
      </p:sp>
    </p:spTree>
    <p:extLst>
      <p:ext uri="{BB962C8B-B14F-4D97-AF65-F5344CB8AC3E}">
        <p14:creationId xmlns:p14="http://schemas.microsoft.com/office/powerpoint/2010/main" val="32918725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A67717-9C59-D999-81E2-06925E54F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C781B8-6702-8DCF-223A-BE0ABDCB7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EFICIÊNCIA IMPORTA:</a:t>
            </a:r>
          </a:p>
          <a:p>
            <a:pPr lvl="1"/>
            <a:r>
              <a:rPr lang="pt-BR" dirty="0"/>
              <a:t>Nem todo algoritmo que resolve um problema é necessariamente bom.</a:t>
            </a:r>
          </a:p>
          <a:p>
            <a:pPr lvl="1"/>
            <a:r>
              <a:rPr lang="pt-BR" dirty="0"/>
              <a:t>Tempo e espaço são recursos limitados.</a:t>
            </a:r>
          </a:p>
          <a:p>
            <a:pPr lvl="2"/>
            <a:r>
              <a:rPr lang="pt-BR" dirty="0"/>
              <a:t>Por isso, analisamos algoritmos considerando:</a:t>
            </a:r>
          </a:p>
          <a:p>
            <a:pPr lvl="3"/>
            <a:r>
              <a:rPr lang="pt-BR" dirty="0">
                <a:solidFill>
                  <a:srgbClr val="FF0000"/>
                </a:solidFill>
                <a:ea typeface="Roboto" panose="02000000000000000000" pitchFamily="2" charset="0"/>
              </a:rPr>
              <a:t>Complexidade de tempo </a:t>
            </a:r>
            <a:r>
              <a:rPr lang="pt-BR" dirty="0"/>
              <a:t>– quanto tempo ele leva para rodar.</a:t>
            </a:r>
          </a:p>
          <a:p>
            <a:pPr lvl="3"/>
            <a:r>
              <a:rPr lang="pt-BR" dirty="0">
                <a:solidFill>
                  <a:srgbClr val="FF0000"/>
                </a:solidFill>
              </a:rPr>
              <a:t>Complexidade de espaço </a:t>
            </a:r>
            <a:r>
              <a:rPr lang="pt-BR" dirty="0"/>
              <a:t>– quanto de memória ele consome.</a:t>
            </a:r>
          </a:p>
          <a:p>
            <a:pPr lvl="1"/>
            <a:r>
              <a:rPr lang="pt-BR" dirty="0"/>
              <a:t>Otimizar algoritmos é essencial para aplicações reais, especialmente em sistemas embarcados, bancos de dados e IA.</a:t>
            </a:r>
          </a:p>
        </p:txBody>
      </p:sp>
    </p:spTree>
    <p:extLst>
      <p:ext uri="{BB962C8B-B14F-4D97-AF65-F5344CB8AC3E}">
        <p14:creationId xmlns:p14="http://schemas.microsoft.com/office/powerpoint/2010/main" val="39189439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A67717-9C59-D999-81E2-06925E54F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C781B8-6702-8DCF-223A-BE0ABDCB7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ALGORITMOS CLÁSSICOS QUE TODO ENGENHEIRO DE SOFTWARE DEVERIA CONHECER</a:t>
            </a:r>
          </a:p>
          <a:p>
            <a:pPr lvl="1"/>
            <a:r>
              <a:rPr lang="pt-BR" dirty="0"/>
              <a:t>Algumas estruturas e problemas aparecem em quase todos os domínios da computação.</a:t>
            </a:r>
          </a:p>
          <a:p>
            <a:pPr lvl="1"/>
            <a:r>
              <a:rPr lang="pt-BR" dirty="0"/>
              <a:t>Por essa razão, vale conhecer bem: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Busca: </a:t>
            </a:r>
            <a:r>
              <a:rPr lang="pt-BR" dirty="0"/>
              <a:t>binária, linear.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Ordenação: </a:t>
            </a:r>
            <a:r>
              <a:rPr lang="pt-BR" dirty="0" err="1"/>
              <a:t>quicksort</a:t>
            </a:r>
            <a:r>
              <a:rPr lang="pt-BR" dirty="0"/>
              <a:t>, </a:t>
            </a:r>
            <a:r>
              <a:rPr lang="pt-BR" dirty="0" err="1"/>
              <a:t>mergesort</a:t>
            </a:r>
            <a:r>
              <a:rPr lang="pt-BR" dirty="0"/>
              <a:t>, </a:t>
            </a:r>
            <a:r>
              <a:rPr lang="pt-BR" dirty="0" err="1"/>
              <a:t>heapsort</a:t>
            </a:r>
            <a:r>
              <a:rPr lang="pt-BR" dirty="0"/>
              <a:t>.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Grafos: </a:t>
            </a:r>
            <a:r>
              <a:rPr lang="pt-BR" dirty="0" err="1"/>
              <a:t>Dijkstra</a:t>
            </a:r>
            <a:r>
              <a:rPr lang="pt-BR" dirty="0"/>
              <a:t>, BFS, DFS, </a:t>
            </a:r>
            <a:r>
              <a:rPr lang="pt-BR" dirty="0" err="1"/>
              <a:t>Kruskal</a:t>
            </a:r>
            <a:r>
              <a:rPr lang="pt-BR" dirty="0"/>
              <a:t>.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Tabelas </a:t>
            </a:r>
            <a:r>
              <a:rPr lang="pt-BR" dirty="0" err="1">
                <a:solidFill>
                  <a:srgbClr val="FF0000"/>
                </a:solidFill>
              </a:rPr>
              <a:t>Hash</a:t>
            </a:r>
            <a:r>
              <a:rPr lang="pt-BR" dirty="0">
                <a:solidFill>
                  <a:srgbClr val="FF0000"/>
                </a:solidFill>
              </a:rPr>
              <a:t>.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Árvores: </a:t>
            </a:r>
            <a:r>
              <a:rPr lang="pt-BR" dirty="0"/>
              <a:t>AVL, B, Trie.</a:t>
            </a:r>
          </a:p>
          <a:p>
            <a:pPr lvl="1"/>
            <a:r>
              <a:rPr lang="pt-BR" dirty="0"/>
              <a:t>Mais do que memorizar, o importante é entender como e por que funcionam, e quando cada um deve ser aplicado.</a:t>
            </a:r>
          </a:p>
        </p:txBody>
      </p:sp>
    </p:spTree>
    <p:extLst>
      <p:ext uri="{BB962C8B-B14F-4D97-AF65-F5344CB8AC3E}">
        <p14:creationId xmlns:p14="http://schemas.microsoft.com/office/powerpoint/2010/main" val="17771278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A67717-9C59-D999-81E2-06925E54F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C781B8-6702-8DCF-223A-BE0ABDCB7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NO FINAL DAS CONTAS</a:t>
            </a:r>
          </a:p>
          <a:p>
            <a:pPr lvl="1"/>
            <a:r>
              <a:rPr lang="pt-BR" dirty="0"/>
              <a:t>Antes de aprender qualquer linguagem de programação, o que realmente importa é:</a:t>
            </a:r>
          </a:p>
          <a:p>
            <a:pPr lvl="2"/>
            <a:r>
              <a:rPr lang="pt-BR" dirty="0"/>
              <a:t>Aprender a pensar algoritmicamente.</a:t>
            </a:r>
          </a:p>
          <a:p>
            <a:pPr lvl="2"/>
            <a:r>
              <a:rPr lang="pt-BR" dirty="0"/>
              <a:t>Desenvolver o raciocínio lógico por trás da solução de problemas.</a:t>
            </a:r>
          </a:p>
          <a:p>
            <a:pPr lvl="1"/>
            <a:r>
              <a:rPr lang="pt-BR" dirty="0"/>
              <a:t>Porque linguagem é só a forma — o pensamento vem antes.</a:t>
            </a:r>
          </a:p>
        </p:txBody>
      </p:sp>
    </p:spTree>
    <p:extLst>
      <p:ext uri="{BB962C8B-B14F-4D97-AF65-F5344CB8AC3E}">
        <p14:creationId xmlns:p14="http://schemas.microsoft.com/office/powerpoint/2010/main" val="2792589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A67717-9C59-D999-81E2-06925E54F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C781B8-6702-8DCF-223A-BE0ABDCB7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DESAFIOS SIMPLES QUE EXIGEM ALGORITMO: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Como saber se um número é par ou ímpar?</a:t>
            </a:r>
          </a:p>
          <a:p>
            <a:pPr lvl="2"/>
            <a:r>
              <a:rPr lang="pt-BR" dirty="0"/>
              <a:t>→ Dividir por 2 e verificar o resto.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Como saber se um número é primo?</a:t>
            </a:r>
          </a:p>
          <a:p>
            <a:pPr lvl="2"/>
            <a:r>
              <a:rPr lang="pt-BR" dirty="0"/>
              <a:t>→ Verificar se ele tem apenas dois divisores: 1 e ele mesmo.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Como ordenar um vetor de inteiros em ordem crescente?</a:t>
            </a:r>
          </a:p>
          <a:p>
            <a:pPr lvl="2"/>
            <a:r>
              <a:rPr lang="pt-BR" dirty="0"/>
              <a:t>→ Comparar elementos em pares e troca-los de posição se o 1º for maior que o 2º.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Como adicionar ou remover elementos de uma lista?</a:t>
            </a:r>
          </a:p>
          <a:p>
            <a:pPr lvl="2"/>
            <a:r>
              <a:rPr lang="pt-BR" dirty="0"/>
              <a:t>→ Realocar os elementos existentes de forma a abrir uma posição (para adicionar elemento) ou sobrescrever uma posição (para remover elementos).</a:t>
            </a:r>
          </a:p>
        </p:txBody>
      </p:sp>
    </p:spTree>
    <p:extLst>
      <p:ext uri="{BB962C8B-B14F-4D97-AF65-F5344CB8AC3E}">
        <p14:creationId xmlns:p14="http://schemas.microsoft.com/office/powerpoint/2010/main" val="3361123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4">
      <a:dk1>
        <a:srgbClr val="000000"/>
      </a:dk1>
      <a:lt1>
        <a:srgbClr val="FFFFFF"/>
      </a:lt1>
      <a:dk2>
        <a:srgbClr val="4B2D96"/>
      </a:dk2>
      <a:lt2>
        <a:srgbClr val="F8F8F8"/>
      </a:lt2>
      <a:accent1>
        <a:srgbClr val="120C26"/>
      </a:accent1>
      <a:accent2>
        <a:srgbClr val="1D1340"/>
      </a:accent2>
      <a:accent3>
        <a:srgbClr val="48358C"/>
      </a:accent3>
      <a:accent4>
        <a:srgbClr val="553FA6"/>
      </a:accent4>
      <a:accent5>
        <a:srgbClr val="A6768C"/>
      </a:accent5>
      <a:accent6>
        <a:srgbClr val="EFE4E8"/>
      </a:accent6>
      <a:hlink>
        <a:srgbClr val="A6768C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</TotalTime>
  <Words>12000</Words>
  <Application>Microsoft Office PowerPoint</Application>
  <PresentationFormat>Widescreen</PresentationFormat>
  <Paragraphs>1257</Paragraphs>
  <Slides>125</Slides>
  <Notes>39</Notes>
  <HiddenSlides>0</HiddenSlides>
  <MMClips>0</MMClips>
  <ScaleCrop>false</ScaleCrop>
  <HeadingPairs>
    <vt:vector size="8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0</vt:i4>
      </vt:variant>
      <vt:variant>
        <vt:lpstr>Títulos de slides</vt:lpstr>
      </vt:variant>
      <vt:variant>
        <vt:i4>125</vt:i4>
      </vt:variant>
    </vt:vector>
  </HeadingPairs>
  <TitlesOfParts>
    <vt:vector size="134" baseType="lpstr">
      <vt:lpstr>Arial</vt:lpstr>
      <vt:lpstr>Arial Narrow</vt:lpstr>
      <vt:lpstr>Calibri</vt:lpstr>
      <vt:lpstr>Cambria Math</vt:lpstr>
      <vt:lpstr>Courier New</vt:lpstr>
      <vt:lpstr>Poppins</vt:lpstr>
      <vt:lpstr>Roboto</vt:lpstr>
      <vt:lpstr>Segoe UI</vt:lpstr>
      <vt:lpstr>Office Theme</vt:lpstr>
      <vt:lpstr>Algoritmos e Linguagens de Programação Prof. Dr. Paulo Cesar de Alvarenga Lucci  Apresentação</vt:lpstr>
      <vt:lpstr>Apresentação</vt:lpstr>
      <vt:lpstr>Apresentação</vt:lpstr>
      <vt:lpstr>Apresentação</vt:lpstr>
      <vt:lpstr>Apresentação</vt:lpstr>
      <vt:lpstr>Apresentação</vt:lpstr>
      <vt:lpstr>Apresentação</vt:lpstr>
      <vt:lpstr>Apresentação</vt:lpstr>
      <vt:lpstr>Algoritmos e Linguagens de Programação Prof. Dr. Paulo Cesar de Alvarenga Lucci  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Algoritmos</vt:lpstr>
      <vt:lpstr>Introdução</vt:lpstr>
      <vt:lpstr>Algoritmos</vt:lpstr>
      <vt:lpstr>Algoritmos</vt:lpstr>
      <vt:lpstr>Algoritmos</vt:lpstr>
      <vt:lpstr>Algoritmos</vt:lpstr>
      <vt:lpstr>Algoritmos</vt:lpstr>
      <vt:lpstr>Algoritmos e Linguagens de Programação Prof. Dr. Paulo Cesar de Alvarenga Lucci  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Algoritmos e Linguagens de Programação Prof. Dr. Paulo Cesar de Alvarenga Lucci  Linguagem C</vt:lpstr>
      <vt:lpstr>Exercícios</vt:lpstr>
      <vt:lpstr>Exercícios</vt:lpstr>
      <vt:lpstr>Algoritmos e Linguagens de Programação Prof. Dr. Paulo Cesar de Alvarenga Lucci  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Algoritmos e Linguagens de Programação Prof. Dr. Paulo Cesar de Alvarenga Lucci  Linguagem C</vt:lpstr>
      <vt:lpstr>Exercícios</vt:lpstr>
      <vt:lpstr>Exercícios</vt:lpstr>
      <vt:lpstr>Exercícios</vt:lpstr>
      <vt:lpstr>Algoritmos e Linguagens de Programação Prof. Dr. Paulo Cesar de Alvarenga Lucci  Loops</vt:lpstr>
      <vt:lpstr>Loops</vt:lpstr>
      <vt:lpstr>Loops</vt:lpstr>
      <vt:lpstr>Loops</vt:lpstr>
      <vt:lpstr>Loops</vt:lpstr>
      <vt:lpstr>Loops</vt:lpstr>
      <vt:lpstr>Loops</vt:lpstr>
      <vt:lpstr>Loops</vt:lpstr>
      <vt:lpstr>Loops</vt:lpstr>
      <vt:lpstr>Algoritmos e Linguagens de Programação Prof. Dr. Paulo Cesar de Alvarenga Lucci  Loops</vt:lpstr>
      <vt:lpstr>Exercícios</vt:lpstr>
      <vt:lpstr>Exercícios</vt:lpstr>
      <vt:lpstr>Exercícios</vt:lpstr>
      <vt:lpstr>Exercícios</vt:lpstr>
      <vt:lpstr>Exercícios</vt:lpstr>
      <vt:lpstr>Algoritmos e Linguagens de Programação Prof. Dr. Paulo Cesar de Alvarenga Lucci  Vetores</vt:lpstr>
      <vt:lpstr>Vetores</vt:lpstr>
      <vt:lpstr>Vetores</vt:lpstr>
      <vt:lpstr>Vetores</vt:lpstr>
      <vt:lpstr>Vetores</vt:lpstr>
      <vt:lpstr>Vetores</vt:lpstr>
      <vt:lpstr>Vetores</vt:lpstr>
      <vt:lpstr>Vetores</vt:lpstr>
      <vt:lpstr>Vetores</vt:lpstr>
      <vt:lpstr>Algoritmos e Linguagens de Programação Prof. Dr. Paulo Cesar de Alvarenga Lucci  Vetores</vt:lpstr>
      <vt:lpstr>Exercícios</vt:lpstr>
      <vt:lpstr>Exercícios</vt:lpstr>
      <vt:lpstr>Algoritmos e Linguagens de Programação Prof. Dr. Paulo Cesar de Alvarenga Lucci  Matrizes</vt:lpstr>
      <vt:lpstr>Matrizes</vt:lpstr>
      <vt:lpstr>Matrizes</vt:lpstr>
      <vt:lpstr>Matrizes</vt:lpstr>
      <vt:lpstr>Matrizes</vt:lpstr>
      <vt:lpstr>Matrizes</vt:lpstr>
      <vt:lpstr>Matrizes</vt:lpstr>
      <vt:lpstr>Matrizes</vt:lpstr>
      <vt:lpstr>Matrizes</vt:lpstr>
      <vt:lpstr>Matrizes</vt:lpstr>
      <vt:lpstr>Algoritmos e Linguagens de Programação Prof. Dr. Paulo Cesar de Alvarenga Lucci  Matrizes</vt:lpstr>
      <vt:lpstr>Exercícios</vt:lpstr>
      <vt:lpstr>Exercícios</vt:lpstr>
      <vt:lpstr>Algoritmos e Linguagens de Programação Prof. Dr. Paulo Cesar de Alvarenga Lucci  Strings</vt:lpstr>
      <vt:lpstr>Strings</vt:lpstr>
      <vt:lpstr>Strings</vt:lpstr>
      <vt:lpstr>Strings</vt:lpstr>
      <vt:lpstr>Strings</vt:lpstr>
      <vt:lpstr>Strings</vt:lpstr>
      <vt:lpstr>Strings</vt:lpstr>
      <vt:lpstr>Algoritmos e Linguagens de Programação Prof. Dr. Paulo Cesar de Alvarenga Lucci  Strings</vt:lpstr>
      <vt:lpstr>Exercícios</vt:lpstr>
      <vt:lpstr>Exercícios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Yasin Arafat</dc:creator>
  <cp:lastModifiedBy>Cesar Lucci</cp:lastModifiedBy>
  <cp:revision>101</cp:revision>
  <dcterms:created xsi:type="dcterms:W3CDTF">2024-05-23T06:52:39Z</dcterms:created>
  <dcterms:modified xsi:type="dcterms:W3CDTF">2025-08-06T07:34:47Z</dcterms:modified>
</cp:coreProperties>
</file>