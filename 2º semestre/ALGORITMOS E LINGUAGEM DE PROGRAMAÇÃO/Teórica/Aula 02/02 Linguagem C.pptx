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png" ContentType="image/png"/>
  <Default Extension="rels" ContentType="application/vnd.openxmlformats-package.relationshi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41.xml" ContentType="application/vnd.openxmlformats-officedocument.presentationml.slide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s/slide46.xml" ContentType="application/vnd.openxmlformats-officedocument.presentationml.slide+xml"/>
  <Override PartName="/ppt/slides/slide31.xml" ContentType="application/vnd.openxmlformats-officedocument.presentationml.slide+xml"/>
  <Override PartName="/ppt/slides/slide36.xml" ContentType="application/vnd.openxmlformats-officedocument.presentationml.slide+xml"/>
  <Override PartName="/ppt/slides/slide52.xml" ContentType="application/vnd.openxmlformats-officedocument.presentationml.slide+xml"/>
  <Override PartName="/ppt/notesSlides/notesSlide1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slides/slide42.xml" ContentType="application/vnd.openxmlformats-officedocument.presentationml.slide+xml"/>
  <Override PartName="/ppt/slides/slide47.xml" ContentType="application/vnd.openxmlformats-officedocument.presentationml.slide+xml"/>
  <Override PartName="/ppt/slides/slide32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37.xml" ContentType="application/vnd.openxmlformats-officedocument.presentationml.slide+xml"/>
  <Override PartName="/ppt/viewProps.xml" ContentType="application/vnd.openxmlformats-officedocument.presentationml.viewProps+xml"/>
  <Override PartName="/ppt/slides/slide27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8.xml" ContentType="application/vnd.openxmlformats-officedocument.presentationml.slide+xml"/>
  <Override PartName="/ppt/slides/slide43.xml" ContentType="application/vnd.openxmlformats-officedocument.presentationml.slide+xml"/>
  <Override PartName="/ppt/slides/slide38.xml" ContentType="application/vnd.openxmlformats-officedocument.presentationml.slide+xml"/>
  <Override PartName="/ppt/slides/slide33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4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4.xml" ContentType="application/vnd.openxmlformats-officedocument.presentationml.slide+xml"/>
  <Override PartName="/ppt/tableStyles.xml" ContentType="application/vnd.openxmlformats-officedocument.presentationml.tableStyles+xml"/>
  <Override PartName="/ppt/slides/slide29.xml" ContentType="application/vnd.openxmlformats-officedocument.presentationml.slide+xml"/>
  <Override PartName="/ppt/slides/slide34.xml" ContentType="application/vnd.openxmlformats-officedocument.presentationml.slide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slides/slide40.xml" ContentType="application/vnd.openxmlformats-officedocument.presentationml.slide+xml"/>
  <Override PartName="/ppt/slides/slide35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30.xml" ContentType="application/vnd.openxmlformats-officedocument.presentationml.slide+xml"/>
  <Override PartName="/ppt/slides/slide5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Id3" /><Relationship Type="http://schemas.openxmlformats.org/package/2006/relationships/metadata/core-properties" Target="/docProps/core.xml" Id="rId2" /><Relationship Type="http://schemas.openxmlformats.org/officeDocument/2006/relationships/officeDocument" Target="/ppt/presentation.xml" Id="rId1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7"/>
  </p:notesMasterIdLst>
  <p:sldIdLst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2" autoAdjust="0"/>
    <p:restoredTop sz="92615" autoAdjust="0"/>
  </p:normalViewPr>
  <p:slideViewPr>
    <p:cSldViewPr snapToGrid="0">
      <p:cViewPr varScale="1">
        <p:scale>
          <a:sx n="99" d="100"/>
          <a:sy n="99" d="100"/>
        </p:scale>
        <p:origin x="121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41.xml" Id="rId42" /><Relationship Type="http://schemas.openxmlformats.org/officeDocument/2006/relationships/slide" Target="/ppt/slides/slide46.xml" Id="rId47" /><Relationship Type="http://schemas.openxmlformats.org/officeDocument/2006/relationships/slide" Target="/ppt/slides/slide31.xml" Id="rId32" /><Relationship Type="http://schemas.openxmlformats.org/officeDocument/2006/relationships/slide" Target="/ppt/slides/slide36.xml" Id="rId37" /><Relationship Type="http://schemas.openxmlformats.org/officeDocument/2006/relationships/slide" Target="/ppt/slides/slide52.xml" Id="rId53" /><Relationship Type="http://schemas.openxmlformats.org/officeDocument/2006/relationships/presProps" Target="/ppt/presProps.xml" Id="rId128" /><Relationship Type="http://schemas.openxmlformats.org/officeDocument/2006/relationships/slide" Target="/ppt/slides/slide42.xml" Id="rId43" /><Relationship Type="http://schemas.openxmlformats.org/officeDocument/2006/relationships/slide" Target="/ppt/slides/slide47.xml" Id="rId48" /><Relationship Type="http://schemas.openxmlformats.org/officeDocument/2006/relationships/slide" Target="/ppt/slides/slide32.xml" Id="rId33" /><Relationship Type="http://schemas.openxmlformats.org/officeDocument/2006/relationships/slide" Target="/ppt/slides/slide37.xml" Id="rId38" /><Relationship Type="http://schemas.openxmlformats.org/officeDocument/2006/relationships/viewProps" Target="/ppt/viewProps.xml" Id="rId129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27.xml" Id="rId28" /><Relationship Type="http://schemas.openxmlformats.org/officeDocument/2006/relationships/slide" Target="/ppt/slides/slide48.xml" Id="rId49" /><Relationship Type="http://schemas.openxmlformats.org/officeDocument/2006/relationships/slide" Target="/ppt/slides/slide43.xml" Id="rId44" /><Relationship Type="http://schemas.openxmlformats.org/officeDocument/2006/relationships/theme" Target="/ppt/theme/theme1.xml" Id="rId130" /><Relationship Type="http://schemas.openxmlformats.org/officeDocument/2006/relationships/slide" Target="/ppt/slides/slide38.xml" Id="rId39" /><Relationship Type="http://schemas.openxmlformats.org/officeDocument/2006/relationships/slide" Target="/ppt/slides/slide33.xml" Id="rId34" /><Relationship Type="http://schemas.openxmlformats.org/officeDocument/2006/relationships/slide" Target="/ppt/slides/slide49.xml" Id="rId50" /><Relationship Type="http://schemas.openxmlformats.org/officeDocument/2006/relationships/slide" Target="/ppt/slides/slide28.xml" Id="rId29" /><Relationship Type="http://schemas.openxmlformats.org/officeDocument/2006/relationships/slide" Target="/ppt/slides/slide39.xml" Id="rId40" /><Relationship Type="http://schemas.openxmlformats.org/officeDocument/2006/relationships/slide" Target="/ppt/slides/slide44.xml" Id="rId45" /><Relationship Type="http://schemas.openxmlformats.org/officeDocument/2006/relationships/tableStyles" Target="/ppt/tableStyles.xml" Id="rId131" /><Relationship Type="http://schemas.openxmlformats.org/officeDocument/2006/relationships/slide" Target="/ppt/slides/slide29.xml" Id="rId30" /><Relationship Type="http://schemas.openxmlformats.org/officeDocument/2006/relationships/slide" Target="/ppt/slides/slide34.xml" Id="rId35" /><Relationship Type="http://schemas.openxmlformats.org/officeDocument/2006/relationships/slide" Target="/ppt/slides/slide50.xml" Id="rId51" /><Relationship Type="http://schemas.openxmlformats.org/officeDocument/2006/relationships/slide" Target="/ppt/slides/slide45.xml" Id="rId46" /><Relationship Type="http://schemas.openxmlformats.org/officeDocument/2006/relationships/slide" Target="/ppt/slides/slide40.xml" Id="rId41" /><Relationship Type="http://schemas.openxmlformats.org/officeDocument/2006/relationships/slide" Target="/ppt/slides/slide35.xml" Id="rId36" /><Relationship Type="http://schemas.openxmlformats.org/officeDocument/2006/relationships/notesMaster" Target="/ppt/notesMasters/notesMaster1.xml" Id="rId127" /><Relationship Type="http://schemas.openxmlformats.org/officeDocument/2006/relationships/slide" Target="/ppt/slides/slide30.xml" Id="rId31" /><Relationship Type="http://schemas.openxmlformats.org/officeDocument/2006/relationships/slide" Target="/ppt/slides/slide51.xml" Id="rId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45D65-A921-BD45-A74E-FDD6A94C7828}" type="datetimeFigureOut">
              <a:rPr lang="en-US"/>
              <a:t>8/6/2025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DA7C62-858D-9C4B-9AE8-88FCCBB43389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79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27.xml" Id="rId2" /><Relationship Type="http://schemas.openxmlformats.org/officeDocument/2006/relationships/notesMaster" Target="/ppt/notesMasters/notesMaster1.xml" Id="rI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32.xml" Id="rId2" /><Relationship Type="http://schemas.openxmlformats.org/officeDocument/2006/relationships/notesMaster" Target="/ppt/notesMasters/notesMaster1.xml" Id="rI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33.xml" Id="rId2" /><Relationship Type="http://schemas.openxmlformats.org/officeDocument/2006/relationships/notesMaster" Target="/ppt/notesMasters/notesMaster1.xml" Id="rI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35.xml" Id="rId2" /><Relationship Type="http://schemas.openxmlformats.org/officeDocument/2006/relationships/notesMaster" Target="/ppt/notesMasters/notesMaster1.xml" Id="rI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52.xml" Id="rId2" /><Relationship Type="http://schemas.openxmlformats.org/officeDocument/2006/relationships/notesMaster" Target="/ppt/notesMasters/notesMaster1.xml" Id="rId1" 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448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911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6515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9663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19518"/>
      </p:ext>
    </p:extLst>
  </p:cSld>
  <p:clrMapOvr>
    <a:masterClrMapping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441B2-6D24-C85E-41B0-069A594984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625" y="2672394"/>
            <a:ext cx="10424532" cy="418560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Disciplina</a:t>
            </a:r>
            <a:br>
              <a:rPr lang="en-US" dirty="0"/>
            </a:br>
            <a:br>
              <a:rPr lang="en-US" dirty="0"/>
            </a:br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Título</a:t>
            </a:r>
            <a:endParaRPr lang="en-US" dirty="0">
              <a:solidFill>
                <a:srgbClr val="66FF3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9948CD5-BAAB-00C0-E2AB-BB06808349C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624" y="1996751"/>
            <a:ext cx="10508600" cy="590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err="1">
                <a:solidFill>
                  <a:srgbClr val="FF6600"/>
                </a:solidFill>
              </a:rPr>
              <a:t>Faculdade</a:t>
            </a:r>
            <a:endParaRPr lang="en-US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759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AF87665-2B38-32D5-5C08-E3F93CB4CCB5}"/>
              </a:ext>
            </a:extLst>
          </p:cNvPr>
          <p:cNvSpPr/>
          <p:nvPr userDrawn="1"/>
        </p:nvSpPr>
        <p:spPr>
          <a:xfrm flipV="1">
            <a:off x="98322" y="1056440"/>
            <a:ext cx="11387433" cy="5704366"/>
          </a:xfrm>
          <a:prstGeom prst="roundRect">
            <a:avLst>
              <a:gd name="adj" fmla="val 3256"/>
            </a:avLst>
          </a:prstGeom>
          <a:solidFill>
            <a:schemeClr val="bg1">
              <a:lumMod val="95000"/>
            </a:schemeClr>
          </a:solidFill>
          <a:ln w="317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BBB241D-DF81-835E-2D67-F68371147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3" y="97194"/>
            <a:ext cx="11591925" cy="869594"/>
          </a:xfrm>
        </p:spPr>
        <p:txBody>
          <a:bodyPr>
            <a:noAutofit/>
          </a:bodyPr>
          <a:lstStyle>
            <a:lvl1pPr>
              <a:defRPr sz="3600">
                <a:solidFill>
                  <a:srgbClr val="66FF33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CCECFD-6308-0021-7A87-69C4BBF57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2"/>
            <a:ext cx="10890590" cy="5801557"/>
          </a:xfr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800">
                <a:solidFill>
                  <a:srgbClr val="FF0000"/>
                </a:solidFill>
                <a:latin typeface="Poppins" pitchFamily="2" charset="77"/>
                <a:cs typeface="Poppins" pitchFamily="2" charset="77"/>
              </a:defRPr>
            </a:lvl1pPr>
            <a:lvl2pPr marL="895335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7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1504920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6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3pPr>
            <a:lvl4pPr marL="2114504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5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4pPr>
            <a:lvl5pPr marL="2724089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4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539394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2" /><Relationship Type="http://schemas.openxmlformats.org/officeDocument/2006/relationships/theme" Target="/ppt/theme/theme1.xml" Id="rId6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">
              <a:schemeClr val="accent6"/>
            </a:gs>
            <a:gs pos="26000">
              <a:schemeClr val="accent4"/>
            </a:gs>
            <a:gs pos="96000">
              <a:schemeClr val="accent1"/>
            </a:gs>
            <a:gs pos="54000">
              <a:schemeClr val="accent1"/>
            </a:gs>
          </a:gsLst>
          <a:lin ang="6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78E521-62AB-88F5-654A-026EBED2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7E2F2-56F5-188A-BC96-0E8873B1F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200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  <p:sldLayoutId id="214748366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27.xml.rels>&#65279;<?xml version="1.0" encoding="utf-8"?><Relationships xmlns="http://schemas.openxmlformats.org/package/2006/relationships"><Relationship Type="http://schemas.openxmlformats.org/officeDocument/2006/relationships/notesSlide" Target="/ppt/notesSlides/notesSlide6.xml" Id="rId2" /><Relationship Type="http://schemas.openxmlformats.org/officeDocument/2006/relationships/slideLayout" Target="/ppt/slideLayouts/slideLayout2.xml" Id="rId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image" Target="/ppt/media/image13.png" Id="rId2" /><Relationship Type="http://schemas.openxmlformats.org/officeDocument/2006/relationships/slideLayout" Target="/ppt/slideLayouts/slideLayout5.xml" Id="rId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notesSlide" Target="/ppt/notesSlides/notesSlide7.xml" Id="rId2" /><Relationship Type="http://schemas.openxmlformats.org/officeDocument/2006/relationships/slideLayout" Target="/ppt/slideLayouts/slideLayout5.xml" Id="rId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image" Target="/ppt/media/image14.png" Id="rId3" /><Relationship Type="http://schemas.openxmlformats.org/officeDocument/2006/relationships/notesSlide" Target="/ppt/notesSlides/notesSlide8.xml" Id="rId2" /><Relationship Type="http://schemas.openxmlformats.org/officeDocument/2006/relationships/slideLayout" Target="/ppt/slideLayouts/slideLayout5.xml" Id="rId1" /><Relationship Type="http://schemas.openxmlformats.org/officeDocument/2006/relationships/image" Target="/ppt/media/image15.png" Id="rId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image" Target="/ppt/media/image16.png" Id="rId2" /><Relationship Type="http://schemas.openxmlformats.org/officeDocument/2006/relationships/slideLayout" Target="/ppt/slideLayouts/slideLayout5.xml" Id="rId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image" Target="/ppt/media/image17.png" Id="rId3" /><Relationship Type="http://schemas.openxmlformats.org/officeDocument/2006/relationships/notesSlide" Target="/ppt/notesSlides/notesSlide9.xml" Id="rId2" /><Relationship Type="http://schemas.openxmlformats.org/officeDocument/2006/relationships/slideLayout" Target="/ppt/slideLayouts/slideLayout5.xml" Id="rId1" /><Relationship Type="http://schemas.openxmlformats.org/officeDocument/2006/relationships/image" Target="/ppt/media/image18.png" Id="rId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image" Target="/ppt/media/image19.png" Id="rId2" /><Relationship Type="http://schemas.openxmlformats.org/officeDocument/2006/relationships/slideLayout" Target="/ppt/slideLayouts/slideLayout5.xml" Id="rId1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image" Target="/ppt/media/image20.png" Id="rId2" /><Relationship Type="http://schemas.openxmlformats.org/officeDocument/2006/relationships/slideLayout" Target="/ppt/slideLayouts/slideLayout5.xml" Id="rId1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image" Target="/ppt/media/image21.png" Id="rId3" /><Relationship Type="http://schemas.openxmlformats.org/officeDocument/2006/relationships/notesSlide" Target="/ppt/notesSlides/notesSlide10.xml" Id="rId2" /><Relationship Type="http://schemas.openxmlformats.org/officeDocument/2006/relationships/slideLayout" Target="/ppt/slideLayouts/slideLayout5.xml" Id="rId1" /></Relationships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DF6EF-72F7-5FC0-B815-1E1AE661D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625" y="2382253"/>
            <a:ext cx="10424532" cy="4475747"/>
          </a:xfrm>
        </p:spPr>
        <p:txBody>
          <a:bodyPr/>
          <a:lstStyle/>
          <a:p>
            <a:r>
              <a:rPr lang="en-US" dirty="0" err="1"/>
              <a:t>Algoritmos</a:t>
            </a:r>
            <a:r>
              <a:rPr lang="en-US" dirty="0"/>
              <a:t> e </a:t>
            </a:r>
            <a:r>
              <a:rPr lang="en-US" dirty="0" err="1"/>
              <a:t>Linguagens</a:t>
            </a:r>
            <a:r>
              <a:rPr lang="en-US" dirty="0"/>
              <a:t> de </a:t>
            </a:r>
            <a:r>
              <a:rPr lang="en-US" dirty="0" err="1"/>
              <a:t>Programação</a:t>
            </a:r>
            <a:br>
              <a:rPr lang="en-US" dirty="0"/>
            </a:br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Prof. Dr. Paulo Cesar de Alvarenga Lucci</a:t>
            </a:r>
            <a:br>
              <a:rPr lang="en-US" dirty="0"/>
            </a:br>
            <a:br>
              <a:rPr lang="en-US" dirty="0"/>
            </a:br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Linguagem</a:t>
            </a:r>
            <a:r>
              <a:rPr lang="en-US" sz="40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C</a:t>
            </a:r>
            <a:endParaRPr lang="en-US" dirty="0">
              <a:solidFill>
                <a:srgbClr val="66FF3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66FD4-6C1B-4401-8F47-FEB0342D252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866775" y="2838600"/>
            <a:ext cx="10508600" cy="59040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FF6600"/>
                </a:solidFill>
              </a:rPr>
              <a:t>Engenharia</a:t>
            </a:r>
            <a:r>
              <a:rPr lang="en-US" dirty="0">
                <a:solidFill>
                  <a:srgbClr val="FF6600"/>
                </a:solidFill>
              </a:rPr>
              <a:t> de Software – PUC Campinas</a:t>
            </a:r>
          </a:p>
        </p:txBody>
      </p:sp>
    </p:spTree>
    <p:extLst>
      <p:ext uri="{BB962C8B-B14F-4D97-AF65-F5344CB8AC3E}">
        <p14:creationId xmlns:p14="http://schemas.microsoft.com/office/powerpoint/2010/main" val="14425258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92875-5352-D82E-4E4B-36DBDEA2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04751-A2AB-D0B1-E97D-3140F64A4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 INÍCIO DE TUDO</a:t>
            </a:r>
          </a:p>
          <a:p>
            <a:pPr lvl="1"/>
            <a:r>
              <a:rPr lang="pt-BR" dirty="0"/>
              <a:t>Onde escrevemos código em C?</a:t>
            </a:r>
          </a:p>
          <a:p>
            <a:pPr lvl="2"/>
            <a:r>
              <a:rPr lang="pt-BR" dirty="0"/>
              <a:t>Um programa em C é, na prática, um simples arquivo de texto com a extensão </a:t>
            </a:r>
            <a:r>
              <a:rPr lang="pt-BR" dirty="0">
                <a:solidFill>
                  <a:srgbClr val="FF0000"/>
                </a:solidFill>
              </a:rPr>
              <a:t>.c</a:t>
            </a:r>
            <a:r>
              <a:rPr lang="pt-BR" dirty="0"/>
              <a:t>.</a:t>
            </a:r>
          </a:p>
          <a:p>
            <a:pPr lvl="2"/>
            <a:r>
              <a:rPr lang="pt-BR" dirty="0"/>
              <a:t>Mas para programar com conforto, usamos ferramentas chamadas </a:t>
            </a:r>
            <a:r>
              <a:rPr lang="pt-BR" dirty="0" err="1"/>
              <a:t>IDEs</a:t>
            </a:r>
            <a:r>
              <a:rPr lang="pt-BR" dirty="0"/>
              <a:t> (Ambientes de Desenvolvimento Integrado), que reúnem:</a:t>
            </a:r>
          </a:p>
          <a:p>
            <a:pPr lvl="3"/>
            <a:r>
              <a:rPr lang="pt-BR" dirty="0"/>
              <a:t>Um editor de código.</a:t>
            </a:r>
          </a:p>
          <a:p>
            <a:pPr lvl="3"/>
            <a:r>
              <a:rPr lang="pt-BR" dirty="0">
                <a:solidFill>
                  <a:srgbClr val="FF0000"/>
                </a:solidFill>
              </a:rPr>
              <a:t>Um compilador.</a:t>
            </a:r>
          </a:p>
          <a:p>
            <a:pPr lvl="3"/>
            <a:r>
              <a:rPr lang="pt-BR" dirty="0"/>
              <a:t>Um terminal para execução.</a:t>
            </a:r>
          </a:p>
          <a:p>
            <a:pPr lvl="3"/>
            <a:r>
              <a:rPr lang="pt-BR" dirty="0"/>
              <a:t>Recursos como destaque de sintaxe, autocompletar e depuração.</a:t>
            </a:r>
          </a:p>
          <a:p>
            <a:pPr lvl="1"/>
            <a:r>
              <a:rPr lang="pt-BR" dirty="0"/>
              <a:t>Exemplos de </a:t>
            </a:r>
            <a:r>
              <a:rPr lang="pt-BR" dirty="0" err="1"/>
              <a:t>IDEs</a:t>
            </a:r>
            <a:r>
              <a:rPr lang="pt-BR" dirty="0"/>
              <a:t>:</a:t>
            </a:r>
          </a:p>
          <a:p>
            <a:pPr lvl="2"/>
            <a:r>
              <a:rPr lang="pt-BR" dirty="0" err="1"/>
              <a:t>Code</a:t>
            </a:r>
            <a:r>
              <a:rPr lang="pt-BR" dirty="0"/>
              <a:t>::</a:t>
            </a:r>
            <a:r>
              <a:rPr lang="pt-BR" dirty="0" err="1"/>
              <a:t>Blocks</a:t>
            </a:r>
            <a:r>
              <a:rPr lang="pt-BR" dirty="0"/>
              <a:t>.</a:t>
            </a:r>
          </a:p>
          <a:p>
            <a:pPr lvl="2"/>
            <a:r>
              <a:rPr lang="pt-BR" dirty="0" err="1"/>
              <a:t>Dev</a:t>
            </a:r>
            <a:r>
              <a:rPr lang="pt-BR" dirty="0"/>
              <a:t>-C++.</a:t>
            </a:r>
          </a:p>
          <a:p>
            <a:pPr lvl="2"/>
            <a:r>
              <a:rPr lang="pt-BR" dirty="0"/>
              <a:t>Visual Studio (com extensão C/C++).</a:t>
            </a:r>
          </a:p>
          <a:p>
            <a:pPr lvl="2"/>
            <a:r>
              <a:rPr lang="pt-BR" dirty="0" err="1"/>
              <a:t>Clion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45014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92875-5352-D82E-4E4B-36DBDEA2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04751-A2AB-D0B1-E97D-3140F64A4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QUE É UM COMPILADOR?</a:t>
            </a:r>
          </a:p>
          <a:p>
            <a:pPr lvl="1"/>
            <a:r>
              <a:rPr lang="pt-BR" dirty="0"/>
              <a:t>O compilador é o programa que transforma o código-fonte em linguagem de máquina, criando um executável.</a:t>
            </a:r>
          </a:p>
          <a:p>
            <a:pPr lvl="1"/>
            <a:r>
              <a:rPr lang="pt-BR" dirty="0"/>
              <a:t>Etapas básicas:</a:t>
            </a:r>
          </a:p>
          <a:p>
            <a:pPr lvl="2"/>
            <a:r>
              <a:rPr lang="pt-BR" dirty="0"/>
              <a:t>Você escreve o código.</a:t>
            </a:r>
          </a:p>
          <a:p>
            <a:pPr lvl="2"/>
            <a:r>
              <a:rPr lang="pt-BR" dirty="0"/>
              <a:t>O compilador analisa o código e verifica erros (não erros de execução).</a:t>
            </a:r>
          </a:p>
          <a:p>
            <a:pPr lvl="2"/>
            <a:r>
              <a:rPr lang="pt-BR" dirty="0"/>
              <a:t>Ele converte para código de máquina.</a:t>
            </a:r>
          </a:p>
          <a:p>
            <a:pPr lvl="2"/>
            <a:r>
              <a:rPr lang="pt-BR" dirty="0"/>
              <a:t>O sistema gera um executável (</a:t>
            </a:r>
            <a:r>
              <a:rPr lang="pt-BR" dirty="0">
                <a:solidFill>
                  <a:srgbClr val="FF0000"/>
                </a:solidFill>
              </a:rPr>
              <a:t>.</a:t>
            </a:r>
            <a:r>
              <a:rPr lang="pt-BR" dirty="0" err="1">
                <a:solidFill>
                  <a:srgbClr val="FF0000"/>
                </a:solidFill>
              </a:rPr>
              <a:t>exe</a:t>
            </a:r>
            <a:r>
              <a:rPr lang="pt-BR" dirty="0">
                <a:solidFill>
                  <a:srgbClr val="FF6600"/>
                </a:solidFill>
              </a:rPr>
              <a:t> </a:t>
            </a:r>
            <a:r>
              <a:rPr lang="pt-BR" dirty="0"/>
              <a:t>no Windows).</a:t>
            </a:r>
          </a:p>
        </p:txBody>
      </p:sp>
    </p:spTree>
    <p:extLst>
      <p:ext uri="{BB962C8B-B14F-4D97-AF65-F5344CB8AC3E}">
        <p14:creationId xmlns:p14="http://schemas.microsoft.com/office/powerpoint/2010/main" val="23756549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DDF8F2-F7BA-1EF5-C432-92181EE16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E3302-76F8-FAEC-092E-DBE4130FF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POR QUE C PRECISA DE COMPILAÇÃO?</a:t>
            </a:r>
          </a:p>
          <a:p>
            <a:pPr lvl="1"/>
            <a:r>
              <a:rPr lang="pt-BR" dirty="0"/>
              <a:t>O C foi criado para ser eficiente, próximo do hardware e com foco em desempenho.</a:t>
            </a:r>
          </a:p>
          <a:p>
            <a:pPr lvl="1"/>
            <a:r>
              <a:rPr lang="pt-BR" dirty="0"/>
              <a:t>Por isso, traduzimos o código para linguagem de máquina antes da execução.</a:t>
            </a:r>
          </a:p>
          <a:p>
            <a:pPr lvl="1"/>
            <a:r>
              <a:rPr lang="pt-BR" dirty="0"/>
              <a:t>Isso torna o programa mais rápido, leve e direto, ideal para sistemas embarcados, drivers, sistemas operacionais e jogos.</a:t>
            </a:r>
          </a:p>
          <a:p>
            <a:r>
              <a:rPr lang="pt-BR" dirty="0"/>
              <a:t>E O PYTHON, POR QUE NÃO PRECISA DE COMPILAÇÃO?</a:t>
            </a:r>
          </a:p>
          <a:p>
            <a:pPr lvl="1"/>
            <a:r>
              <a:rPr lang="pt-BR" dirty="0"/>
              <a:t>Python foi criado com outro objetivo: facilitar o desenvolvimento, a leitura e a produtividade.</a:t>
            </a:r>
          </a:p>
          <a:p>
            <a:pPr lvl="1"/>
            <a:r>
              <a:rPr lang="pt-BR" dirty="0"/>
              <a:t>Ele é uma linguagem interpretada, ou seja, o código é executado linha por linha, em tempo real, por um interpretador (como o python3).</a:t>
            </a:r>
          </a:p>
          <a:p>
            <a:pPr lvl="1"/>
            <a:r>
              <a:rPr lang="pt-BR" dirty="0"/>
              <a:t>Isso torna o Python:</a:t>
            </a:r>
          </a:p>
          <a:p>
            <a:pPr lvl="2"/>
            <a:r>
              <a:rPr lang="pt-BR" dirty="0"/>
              <a:t>Extremamente fácil de escrever e entender.</a:t>
            </a:r>
          </a:p>
          <a:p>
            <a:pPr lvl="2"/>
            <a:r>
              <a:rPr lang="pt-BR" dirty="0"/>
              <a:t>Mais flexível, com tipagem dinâmica.</a:t>
            </a:r>
          </a:p>
          <a:p>
            <a:pPr lvl="2"/>
            <a:r>
              <a:rPr lang="pt-BR" dirty="0"/>
              <a:t>Ideal para protótipos rápidos, scripts, automações, análise de dados, inteligência artificial, </a:t>
            </a:r>
            <a:r>
              <a:rPr lang="pt-BR" dirty="0" err="1"/>
              <a:t>backends</a:t>
            </a:r>
            <a:r>
              <a:rPr lang="pt-BR" dirty="0"/>
              <a:t> web...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Em contrapartida, ele não tem a mesma velocidade ou controle de baixo nível que o C oferece.</a:t>
            </a:r>
          </a:p>
        </p:txBody>
      </p:sp>
    </p:spTree>
    <p:extLst>
      <p:ext uri="{BB962C8B-B14F-4D97-AF65-F5344CB8AC3E}">
        <p14:creationId xmlns:p14="http://schemas.microsoft.com/office/powerpoint/2010/main" val="21179860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46106-00B3-CF92-E7B7-5E01C2E96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3AE934-0143-A72F-0487-F7B23D771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FUNÇÃO MAIN()</a:t>
            </a:r>
          </a:p>
          <a:p>
            <a:pPr lvl="1"/>
            <a:r>
              <a:rPr lang="pt-BR" dirty="0"/>
              <a:t>Todo programa C começa a ser executado por um ponto de entrada, que é o </a:t>
            </a:r>
            <a:r>
              <a:rPr lang="pt-BR" u="sng" dirty="0"/>
              <a:t>arquivo</a:t>
            </a:r>
            <a:r>
              <a:rPr lang="pt-BR" dirty="0"/>
              <a:t> </a:t>
            </a:r>
            <a:r>
              <a:rPr lang="pt-BR" dirty="0" err="1">
                <a:solidFill>
                  <a:srgbClr val="0070C0"/>
                </a:solidFill>
              </a:rPr>
              <a:t>main.c</a:t>
            </a:r>
            <a:r>
              <a:rPr lang="pt-BR" dirty="0"/>
              <a:t>, </a:t>
            </a:r>
            <a:r>
              <a:rPr lang="pt-BR" u="sng" dirty="0"/>
              <a:t>função</a:t>
            </a:r>
            <a:r>
              <a:rPr lang="pt-BR" dirty="0"/>
              <a:t> </a:t>
            </a:r>
            <a:r>
              <a:rPr lang="pt-BR" dirty="0" err="1">
                <a:solidFill>
                  <a:srgbClr val="FF0000"/>
                </a:solidFill>
              </a:rPr>
              <a:t>main</a:t>
            </a:r>
            <a:r>
              <a:rPr lang="pt-BR" dirty="0">
                <a:solidFill>
                  <a:srgbClr val="FF0000"/>
                </a:solidFill>
              </a:rPr>
              <a:t>()</a:t>
            </a:r>
          </a:p>
          <a:p>
            <a:pPr lvl="1"/>
            <a:endParaRPr lang="pt-BR" dirty="0">
              <a:solidFill>
                <a:srgbClr val="FF0000"/>
              </a:solidFill>
            </a:endParaRPr>
          </a:p>
          <a:p>
            <a:pPr lvl="1"/>
            <a:endParaRPr lang="pt-BR" dirty="0">
              <a:solidFill>
                <a:srgbClr val="FF0000"/>
              </a:solidFill>
            </a:endParaRPr>
          </a:p>
          <a:p>
            <a:pPr marL="609585" lvl="1" indent="0">
              <a:buNone/>
            </a:pPr>
            <a:endParaRPr lang="pt-BR" dirty="0">
              <a:solidFill>
                <a:srgbClr val="FF0000"/>
              </a:solidFill>
            </a:endParaRPr>
          </a:p>
          <a:p>
            <a:pPr marL="609585" lvl="1" indent="0">
              <a:buNone/>
            </a:pPr>
            <a:endParaRPr lang="pt-BR" dirty="0">
              <a:solidFill>
                <a:srgbClr val="FF0000"/>
              </a:solidFill>
            </a:endParaRPr>
          </a:p>
          <a:p>
            <a:pPr lvl="1"/>
            <a:r>
              <a:rPr lang="pt-BR" dirty="0"/>
              <a:t>Sem </a:t>
            </a:r>
            <a:r>
              <a:rPr lang="pt-BR" dirty="0" err="1">
                <a:solidFill>
                  <a:srgbClr val="FF0000"/>
                </a:solidFill>
              </a:rPr>
              <a:t>main</a:t>
            </a:r>
            <a:r>
              <a:rPr lang="pt-BR" dirty="0">
                <a:solidFill>
                  <a:srgbClr val="FF0000"/>
                </a:solidFill>
              </a:rPr>
              <a:t>()</a:t>
            </a:r>
            <a:r>
              <a:rPr lang="pt-BR" dirty="0"/>
              <a:t>, o compilador não encontrará o ponto de partida para a execução.</a:t>
            </a:r>
          </a:p>
          <a:p>
            <a:pPr lvl="1"/>
            <a:r>
              <a:rPr lang="pt-BR" dirty="0"/>
              <a:t>Você pode ter várias funções auxiliares, mas o </a:t>
            </a:r>
            <a:r>
              <a:rPr lang="pt-BR" dirty="0" err="1">
                <a:solidFill>
                  <a:srgbClr val="FF0000"/>
                </a:solidFill>
              </a:rPr>
              <a:t>main</a:t>
            </a:r>
            <a:r>
              <a:rPr lang="pt-BR" dirty="0">
                <a:solidFill>
                  <a:srgbClr val="FF0000"/>
                </a:solidFill>
              </a:rPr>
              <a:t>() </a:t>
            </a:r>
            <a:r>
              <a:rPr lang="pt-BR" dirty="0"/>
              <a:t>é o coração do programa.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D842DF7-B85B-ADCF-A308-AF0FE8390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836" y="2280586"/>
            <a:ext cx="3200847" cy="1676634"/>
          </a:xfrm>
          <a:prstGeom prst="rect">
            <a:avLst/>
          </a:prstGeom>
        </p:spPr>
      </p:pic>
      <p:sp>
        <p:nvSpPr>
          <p:cNvPr id="28" name="Forma Livre: Forma 27">
            <a:extLst>
              <a:ext uri="{FF2B5EF4-FFF2-40B4-BE49-F238E27FC236}">
                <a16:creationId xmlns:a16="http://schemas.microsoft.com/office/drawing/2014/main" id="{0DF55C5A-52DD-2F74-5736-192612DD9E0E}"/>
              </a:ext>
            </a:extLst>
          </p:cNvPr>
          <p:cNvSpPr/>
          <p:nvPr/>
        </p:nvSpPr>
        <p:spPr>
          <a:xfrm>
            <a:off x="1665171" y="2300438"/>
            <a:ext cx="4417995" cy="520096"/>
          </a:xfrm>
          <a:custGeom>
            <a:avLst/>
            <a:gdLst>
              <a:gd name="connsiteX0" fmla="*/ 0 w 4417995"/>
              <a:gd name="connsiteY0" fmla="*/ 0 h 520096"/>
              <a:gd name="connsiteX1" fmla="*/ 2136808 w 4417995"/>
              <a:gd name="connsiteY1" fmla="*/ 519764 h 520096"/>
              <a:gd name="connsiteX2" fmla="*/ 4417995 w 4417995"/>
              <a:gd name="connsiteY2" fmla="*/ 86627 h 520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17995" h="520096">
                <a:moveTo>
                  <a:pt x="0" y="0"/>
                </a:moveTo>
                <a:cubicBezTo>
                  <a:pt x="700238" y="252663"/>
                  <a:pt x="1400476" y="505326"/>
                  <a:pt x="2136808" y="519764"/>
                </a:cubicBezTo>
                <a:cubicBezTo>
                  <a:pt x="2873140" y="534202"/>
                  <a:pt x="4111591" y="73793"/>
                  <a:pt x="4417995" y="86627"/>
                </a:cubicBezTo>
              </a:path>
            </a:pathLst>
          </a:custGeom>
          <a:noFill/>
          <a:ln>
            <a:solidFill>
              <a:srgbClr val="00B0F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5C1DD066-C138-D4A0-D308-E2A5484471A3}"/>
              </a:ext>
            </a:extLst>
          </p:cNvPr>
          <p:cNvSpPr/>
          <p:nvPr/>
        </p:nvSpPr>
        <p:spPr>
          <a:xfrm>
            <a:off x="3282215" y="2319688"/>
            <a:ext cx="3012707" cy="849522"/>
          </a:xfrm>
          <a:custGeom>
            <a:avLst/>
            <a:gdLst>
              <a:gd name="connsiteX0" fmla="*/ 0 w 3012707"/>
              <a:gd name="connsiteY0" fmla="*/ 0 h 849522"/>
              <a:gd name="connsiteX1" fmla="*/ 1270534 w 3012707"/>
              <a:gd name="connsiteY1" fmla="*/ 827773 h 849522"/>
              <a:gd name="connsiteX2" fmla="*/ 3012707 w 3012707"/>
              <a:gd name="connsiteY2" fmla="*/ 635268 h 849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12707" h="849522">
                <a:moveTo>
                  <a:pt x="0" y="0"/>
                </a:moveTo>
                <a:cubicBezTo>
                  <a:pt x="384208" y="360947"/>
                  <a:pt x="768416" y="721895"/>
                  <a:pt x="1270534" y="827773"/>
                </a:cubicBezTo>
                <a:cubicBezTo>
                  <a:pt x="1772652" y="933651"/>
                  <a:pt x="2563528" y="617622"/>
                  <a:pt x="3012707" y="635268"/>
                </a:cubicBezTo>
              </a:path>
            </a:pathLst>
          </a:cu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1402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8BBA4A-7F7A-C059-0DFA-09FB6EF61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AE8BDA-5EE2-B587-A520-E8743EE85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SINTAXE BÁSICA DA LINGUAGEM C</a:t>
            </a:r>
          </a:p>
          <a:p>
            <a:pPr lvl="1"/>
            <a:r>
              <a:rPr lang="pt-BR" dirty="0"/>
              <a:t>A linguagem C é precisa, minimalista e próxima do hardware.</a:t>
            </a:r>
          </a:p>
          <a:p>
            <a:pPr lvl="1"/>
            <a:r>
              <a:rPr lang="pt-BR" dirty="0"/>
              <a:t>Sua sintaxe é direta e expressiva.</a:t>
            </a:r>
          </a:p>
          <a:p>
            <a:pPr lvl="1"/>
            <a:r>
              <a:rPr lang="pt-BR" dirty="0"/>
              <a:t>Delimitadores obrigatórios:</a:t>
            </a:r>
          </a:p>
          <a:p>
            <a:pPr lvl="2"/>
            <a:r>
              <a:rPr lang="pt-BR" dirty="0"/>
              <a:t>ponto e vírgula </a:t>
            </a:r>
            <a:r>
              <a:rPr lang="pt-BR" dirty="0">
                <a:solidFill>
                  <a:srgbClr val="FF0000"/>
                </a:solidFill>
              </a:rPr>
              <a:t>;</a:t>
            </a:r>
            <a:r>
              <a:rPr lang="pt-BR" dirty="0"/>
              <a:t> para declarar final de instrução.</a:t>
            </a:r>
          </a:p>
          <a:p>
            <a:pPr lvl="2"/>
            <a:r>
              <a:rPr lang="pt-BR" dirty="0"/>
              <a:t>Blocos (</a:t>
            </a:r>
            <a:r>
              <a:rPr lang="pt-BR" dirty="0">
                <a:solidFill>
                  <a:srgbClr val="FF0000"/>
                </a:solidFill>
              </a:rPr>
              <a:t>escopo</a:t>
            </a:r>
            <a:r>
              <a:rPr lang="pt-BR" dirty="0"/>
              <a:t>) de código: delimitados por </a:t>
            </a:r>
            <a:r>
              <a:rPr lang="pt-BR" dirty="0">
                <a:solidFill>
                  <a:srgbClr val="FF0000"/>
                </a:solidFill>
              </a:rPr>
              <a:t>{}</a:t>
            </a:r>
            <a:r>
              <a:rPr lang="pt-BR" dirty="0"/>
              <a:t>.</a:t>
            </a:r>
          </a:p>
          <a:p>
            <a:pPr lvl="2"/>
            <a:r>
              <a:rPr lang="pt-BR" dirty="0"/>
              <a:t>Declaração de variáveis: precisa informar o tipo, antes de serem utilizadas.</a:t>
            </a:r>
          </a:p>
          <a:p>
            <a:pPr lvl="3"/>
            <a:r>
              <a:rPr lang="pt-BR" dirty="0"/>
              <a:t>Exemplo: </a:t>
            </a:r>
            <a:r>
              <a:rPr lang="pt-BR" dirty="0" err="1"/>
              <a:t>int</a:t>
            </a:r>
            <a:r>
              <a:rPr lang="pt-BR" dirty="0"/>
              <a:t>, </a:t>
            </a:r>
            <a:r>
              <a:rPr lang="pt-BR" dirty="0" err="1"/>
              <a:t>float</a:t>
            </a:r>
            <a:r>
              <a:rPr lang="pt-BR" dirty="0"/>
              <a:t>, </a:t>
            </a:r>
            <a:r>
              <a:rPr lang="pt-BR" dirty="0" err="1"/>
              <a:t>double</a:t>
            </a:r>
            <a:r>
              <a:rPr lang="pt-BR" dirty="0"/>
              <a:t>, char.</a:t>
            </a:r>
          </a:p>
          <a:p>
            <a:pPr lvl="2"/>
            <a:r>
              <a:rPr lang="pt-BR" dirty="0"/>
              <a:t>Funções: precisam ser declaradas antes de serem utilizadas.</a:t>
            </a:r>
          </a:p>
          <a:p>
            <a:pPr lvl="1"/>
            <a:r>
              <a:rPr lang="pt-BR" dirty="0"/>
              <a:t>Comentários no código: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//</a:t>
            </a:r>
            <a:r>
              <a:rPr lang="pt-BR" dirty="0"/>
              <a:t> </a:t>
            </a:r>
            <a:r>
              <a:rPr lang="pt-BR" dirty="0">
                <a:solidFill>
                  <a:srgbClr val="00B050"/>
                </a:solidFill>
              </a:rPr>
              <a:t>comentário de uma linha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/*</a:t>
            </a:r>
            <a:r>
              <a:rPr lang="pt-BR" dirty="0"/>
              <a:t> </a:t>
            </a:r>
            <a:r>
              <a:rPr lang="pt-BR" dirty="0">
                <a:solidFill>
                  <a:srgbClr val="00B050"/>
                </a:solidFill>
              </a:rPr>
              <a:t>comentário de</a:t>
            </a:r>
          </a:p>
          <a:p>
            <a:pPr marL="1219170" lvl="2" indent="0">
              <a:buNone/>
            </a:pPr>
            <a:r>
              <a:rPr lang="pt-BR" dirty="0">
                <a:solidFill>
                  <a:srgbClr val="00B050"/>
                </a:solidFill>
              </a:rPr>
              <a:t>	várias linhas </a:t>
            </a:r>
            <a:r>
              <a:rPr lang="pt-BR" dirty="0">
                <a:solidFill>
                  <a:srgbClr val="FF0000"/>
                </a:solidFill>
              </a:rPr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26072742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D20067-F5AF-EE44-5D3E-BECA120EF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7CD8F8-8C49-21BB-B74C-695F91074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2"/>
            <a:ext cx="6022717" cy="5801557"/>
          </a:xfrm>
        </p:spPr>
        <p:txBody>
          <a:bodyPr>
            <a:normAutofit/>
          </a:bodyPr>
          <a:lstStyle/>
          <a:p>
            <a:r>
              <a:rPr lang="pt-BR" dirty="0"/>
              <a:t>EXEMPLO DE CÓDIGO C</a:t>
            </a:r>
          </a:p>
          <a:p>
            <a:pPr lvl="1"/>
            <a:r>
              <a:rPr lang="pt-BR" dirty="0"/>
              <a:t>No código C ao lado, podemos observar linhas enumeradas que facilitam a organização e diálogo sobre o código.</a:t>
            </a:r>
          </a:p>
          <a:p>
            <a:pPr lvl="1"/>
            <a:r>
              <a:rPr lang="pt-BR" dirty="0"/>
              <a:t>Na linha 1 temos a inclusão de uma biblioteca (</a:t>
            </a:r>
            <a:r>
              <a:rPr lang="pt-BR" dirty="0" err="1">
                <a:solidFill>
                  <a:srgbClr val="FF0000"/>
                </a:solidFill>
              </a:rPr>
              <a:t>stdio.h</a:t>
            </a:r>
            <a:r>
              <a:rPr lang="pt-BR" dirty="0"/>
              <a:t>), a qual fornece funções padrão para entrada e saída de dados em C.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1B059EB-601E-6DAA-41A2-9D38DFA83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992" y="1436202"/>
            <a:ext cx="5753903" cy="456311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67FB391-3E2A-8257-34F2-B15C99F1E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0726" y="5722436"/>
            <a:ext cx="3343742" cy="103837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6866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FF732-F1DE-8EBA-5C0C-3FA634BA7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6D815A-D13D-9F00-6E70-3EEB14DC4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PRINCIPAIS BIBLIOTECAS DA LINGUAGEM C</a:t>
            </a:r>
          </a:p>
          <a:p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D4C0974-91A0-DEA1-B8FB-51D23DE01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249" y="1568956"/>
            <a:ext cx="7468642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9891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EBA2BE5-2648-D5C0-8293-D1AA55DEA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548" y="3520825"/>
            <a:ext cx="4142406" cy="331392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3C52C822-9B2D-932C-2B65-01D45EF30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9076" y="97194"/>
            <a:ext cx="3540417" cy="333180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7D20067-F5AF-EE44-5D3E-BECA120EF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7CD8F8-8C49-21BB-B74C-695F91074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2"/>
            <a:ext cx="7387915" cy="5801557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INDENTAÇÃO</a:t>
            </a:r>
          </a:p>
          <a:p>
            <a:pPr lvl="1"/>
            <a:r>
              <a:rPr lang="pt-BR" dirty="0"/>
              <a:t> É o recuo do código usando espaços ou tabulações para organizar visualmente os blocos de comandos.</a:t>
            </a:r>
          </a:p>
          <a:p>
            <a:pPr lvl="1"/>
            <a:r>
              <a:rPr lang="pt-BR" dirty="0"/>
              <a:t>Sua utilização permite: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Organização e Leitura</a:t>
            </a:r>
          </a:p>
          <a:p>
            <a:pPr lvl="3"/>
            <a:r>
              <a:rPr lang="pt-BR" dirty="0"/>
              <a:t>Um código bem indentado é muito mais fácil de entender. Você enxerga rapidamente onde começa e termina cada bloco.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Evita Erros</a:t>
            </a:r>
          </a:p>
          <a:p>
            <a:pPr lvl="3"/>
            <a:r>
              <a:rPr lang="pt-BR" dirty="0"/>
              <a:t>Embora o compilador C não exija indentação para funcionar, um código mal indentado pode esconder erros lógicos.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Trabalho em equipe</a:t>
            </a:r>
          </a:p>
          <a:p>
            <a:pPr lvl="3"/>
            <a:r>
              <a:rPr lang="pt-BR" dirty="0"/>
              <a:t>Em projetos com várias pessoas, seguir padrões de indentação é essencial para que todos entendam o código com facilidade.</a:t>
            </a:r>
          </a:p>
          <a:p>
            <a:pPr lvl="1"/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383BCAB-0C46-DB80-0BD1-CEB21896CD6D}"/>
              </a:ext>
            </a:extLst>
          </p:cNvPr>
          <p:cNvSpPr txBox="1"/>
          <p:nvPr/>
        </p:nvSpPr>
        <p:spPr>
          <a:xfrm>
            <a:off x="10171259" y="198644"/>
            <a:ext cx="18869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Código sem indentação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83F35C1-BAFE-C8E1-8EC2-6B928D971932}"/>
              </a:ext>
            </a:extLst>
          </p:cNvPr>
          <p:cNvSpPr txBox="1"/>
          <p:nvPr/>
        </p:nvSpPr>
        <p:spPr>
          <a:xfrm>
            <a:off x="10171258" y="3621694"/>
            <a:ext cx="1895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Código com indentação</a:t>
            </a:r>
          </a:p>
        </p:txBody>
      </p:sp>
    </p:spTree>
    <p:extLst>
      <p:ext uri="{BB962C8B-B14F-4D97-AF65-F5344CB8AC3E}">
        <p14:creationId xmlns:p14="http://schemas.microsoft.com/office/powerpoint/2010/main" val="8122954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7204E-F2B6-F454-AFDF-2D7821350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BE2B83-D3E6-939A-D133-9968CFBD7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DADOS</a:t>
            </a:r>
          </a:p>
          <a:p>
            <a:pPr lvl="1"/>
            <a:r>
              <a:rPr lang="pt-BR" dirty="0"/>
              <a:t>Todo o trabalho realizado por um computador é baseado na manipulação das informações contidas em sua memória.</a:t>
            </a:r>
          </a:p>
          <a:p>
            <a:pPr lvl="1"/>
            <a:r>
              <a:rPr lang="pt-BR" dirty="0"/>
              <a:t>Os dados podem ser valores numéricos, booleanos, caracteres, estruturas ou objetos.</a:t>
            </a:r>
          </a:p>
          <a:p>
            <a:pPr lvl="1"/>
            <a:r>
              <a:rPr lang="pt-BR" dirty="0"/>
              <a:t>Para que o programa possa manipular os dados, o programa deve reservar endereços de memória que são identificados por um nome.</a:t>
            </a:r>
          </a:p>
          <a:p>
            <a:pPr lvl="1"/>
            <a:r>
              <a:rPr lang="pt-BR" dirty="0"/>
              <a:t>Através deste nome, a informação contida no respectivo endereço de memória pode ser modificada ou utilizada em expressões, comandos e funções do programa.</a:t>
            </a:r>
          </a:p>
          <a:p>
            <a:pPr lvl="1"/>
            <a:r>
              <a:rPr lang="pt-BR" dirty="0"/>
              <a:t>Os </a:t>
            </a:r>
            <a:r>
              <a:rPr lang="pt-BR" dirty="0">
                <a:solidFill>
                  <a:srgbClr val="FF0000"/>
                </a:solidFill>
              </a:rPr>
              <a:t>tipos primitivos </a:t>
            </a:r>
            <a:r>
              <a:rPr lang="pt-BR" dirty="0"/>
              <a:t>são os tipos básicos, fundamentais para declarar variáveis.</a:t>
            </a:r>
          </a:p>
          <a:p>
            <a:pPr lvl="2"/>
            <a:r>
              <a:rPr lang="pt-BR" dirty="0"/>
              <a:t>Eles servem como base para construir estruturas mais complexas.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788769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7204E-F2B6-F454-AFDF-2D7821350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BE2B83-D3E6-939A-D133-9968CFBD7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PRINCIPAIS TIPOS PRIMITIVOS</a:t>
            </a:r>
          </a:p>
          <a:p>
            <a:pPr lvl="1"/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54978D72-B37E-B5B1-F74F-B2DBD0D2A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571461"/>
              </p:ext>
            </p:extLst>
          </p:nvPr>
        </p:nvGraphicFramePr>
        <p:xfrm>
          <a:off x="295273" y="2057812"/>
          <a:ext cx="10890592" cy="385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122">
                  <a:extLst>
                    <a:ext uri="{9D8B030D-6E8A-4147-A177-3AD203B41FA5}">
                      <a16:colId xmlns:a16="http://schemas.microsoft.com/office/drawing/2014/main" val="3666947520"/>
                    </a:ext>
                  </a:extLst>
                </a:gridCol>
                <a:gridCol w="2152452">
                  <a:extLst>
                    <a:ext uri="{9D8B030D-6E8A-4147-A177-3AD203B41FA5}">
                      <a16:colId xmlns:a16="http://schemas.microsoft.com/office/drawing/2014/main" val="1959298873"/>
                    </a:ext>
                  </a:extLst>
                </a:gridCol>
                <a:gridCol w="7363018">
                  <a:extLst>
                    <a:ext uri="{9D8B030D-6E8A-4147-A177-3AD203B41FA5}">
                      <a16:colId xmlns:a16="http://schemas.microsoft.com/office/drawing/2014/main" val="1044437990"/>
                    </a:ext>
                  </a:extLst>
                </a:gridCol>
              </a:tblGrid>
              <a:tr h="481542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bytes (OS 64bits)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892540"/>
                  </a:ext>
                </a:extLst>
              </a:tr>
              <a:tr h="481542">
                <a:tc>
                  <a:txBody>
                    <a:bodyPr/>
                    <a:lstStyle/>
                    <a:p>
                      <a:pPr algn="ctr"/>
                      <a:r>
                        <a:rPr lang="pt-BR" i="1" dirty="0">
                          <a:solidFill>
                            <a:srgbClr val="FF0000"/>
                          </a:solidFill>
                        </a:rPr>
                        <a:t>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Inteiro na faixa -32.768 a 32.767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299062"/>
                  </a:ext>
                </a:extLst>
              </a:tr>
              <a:tr h="481542">
                <a:tc>
                  <a:txBody>
                    <a:bodyPr/>
                    <a:lstStyle/>
                    <a:p>
                      <a:pPr algn="ctr"/>
                      <a:r>
                        <a:rPr lang="pt-BR" i="1" dirty="0" err="1">
                          <a:solidFill>
                            <a:srgbClr val="FF0000"/>
                          </a:solidFill>
                        </a:rPr>
                        <a:t>int</a:t>
                      </a:r>
                      <a:endParaRPr lang="pt-BR" i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Inteiro na faixa -2.147.483.648 a 2.147.483.647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273916"/>
                  </a:ext>
                </a:extLst>
              </a:tr>
              <a:tr h="481542">
                <a:tc>
                  <a:txBody>
                    <a:bodyPr/>
                    <a:lstStyle/>
                    <a:p>
                      <a:pPr algn="ctr"/>
                      <a:r>
                        <a:rPr lang="pt-BR" i="1" dirty="0" err="1">
                          <a:solidFill>
                            <a:srgbClr val="FF0000"/>
                          </a:solidFill>
                        </a:rPr>
                        <a:t>long</a:t>
                      </a:r>
                      <a:endParaRPr lang="pt-BR" i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Inteiro na faixa -9.223.372.036.854.775.808 a 9.223.372.036.854.775.807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798610"/>
                  </a:ext>
                </a:extLst>
              </a:tr>
              <a:tr h="481542">
                <a:tc>
                  <a:txBody>
                    <a:bodyPr/>
                    <a:lstStyle/>
                    <a:p>
                      <a:pPr algn="ctr"/>
                      <a:r>
                        <a:rPr lang="pt-BR" i="1" dirty="0" err="1">
                          <a:solidFill>
                            <a:srgbClr val="FF0000"/>
                          </a:solidFill>
                        </a:rPr>
                        <a:t>float</a:t>
                      </a:r>
                      <a:endParaRPr lang="pt-BR" i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Real na faixa ±1,2 × 10⁻³⁸ a ±3,4 × 10³⁸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029638"/>
                  </a:ext>
                </a:extLst>
              </a:tr>
              <a:tr h="481542">
                <a:tc>
                  <a:txBody>
                    <a:bodyPr/>
                    <a:lstStyle/>
                    <a:p>
                      <a:pPr algn="ctr"/>
                      <a:r>
                        <a:rPr lang="pt-BR" i="1" dirty="0" err="1">
                          <a:solidFill>
                            <a:srgbClr val="FF0000"/>
                          </a:solidFill>
                        </a:rPr>
                        <a:t>double</a:t>
                      </a:r>
                      <a:endParaRPr lang="pt-BR" i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Real na faixa ±2,2 × 10⁻³⁰⁸ a ±1,8 × 10³⁰⁸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770482"/>
                  </a:ext>
                </a:extLst>
              </a:tr>
              <a:tr h="481542">
                <a:tc>
                  <a:txBody>
                    <a:bodyPr/>
                    <a:lstStyle/>
                    <a:p>
                      <a:pPr algn="ctr"/>
                      <a:r>
                        <a:rPr lang="pt-BR" i="1" dirty="0">
                          <a:solidFill>
                            <a:srgbClr val="FF0000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Um único </a:t>
                      </a:r>
                      <a:r>
                        <a:rPr lang="pt-BR" dirty="0" err="1"/>
                        <a:t>caracter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996300"/>
                  </a:ext>
                </a:extLst>
              </a:tr>
              <a:tr h="481542">
                <a:tc>
                  <a:txBody>
                    <a:bodyPr/>
                    <a:lstStyle/>
                    <a:p>
                      <a:pPr algn="ctr"/>
                      <a:r>
                        <a:rPr lang="pt-BR" i="1" dirty="0" err="1">
                          <a:solidFill>
                            <a:srgbClr val="FF0000"/>
                          </a:solidFill>
                        </a:rPr>
                        <a:t>bool</a:t>
                      </a:r>
                      <a:endParaRPr lang="pt-BR" i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Booleano (</a:t>
                      </a:r>
                      <a:r>
                        <a:rPr lang="pt-BR" dirty="0" err="1"/>
                        <a:t>true</a:t>
                      </a:r>
                      <a:r>
                        <a:rPr lang="pt-BR" dirty="0"/>
                        <a:t> ou false)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224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82565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72002-D0E6-2012-6715-CBFA24CDE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050D66-6A6F-0D8F-6A34-922D63020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DECLARAÇÃO DE VARIÁVEIS</a:t>
            </a:r>
          </a:p>
          <a:p>
            <a:pPr lvl="1"/>
            <a:r>
              <a:rPr lang="pt-BR" dirty="0"/>
              <a:t>Em C, toda variável precisa ser declarada antes de ser usada, informando ao compilador qual o tipo de dado que ela vai armazenar e qual será o seu nome.</a:t>
            </a:r>
          </a:p>
          <a:p>
            <a:pPr lvl="1"/>
            <a:r>
              <a:rPr lang="pt-BR" dirty="0"/>
              <a:t>A estrutura básica é: 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tipo</a:t>
            </a:r>
            <a:r>
              <a:rPr lang="pt-BR" dirty="0"/>
              <a:t> </a:t>
            </a:r>
            <a:r>
              <a:rPr lang="pt-BR" dirty="0" err="1">
                <a:solidFill>
                  <a:srgbClr val="00B050"/>
                </a:solidFill>
              </a:rPr>
              <a:t>nome_da_variavel</a:t>
            </a:r>
            <a:r>
              <a:rPr lang="pt-BR" dirty="0"/>
              <a:t>;</a:t>
            </a:r>
          </a:p>
          <a:p>
            <a:pPr lvl="1"/>
            <a:r>
              <a:rPr lang="pt-BR" dirty="0"/>
              <a:t>Exemplos:</a:t>
            </a:r>
          </a:p>
          <a:p>
            <a:pPr lvl="2"/>
            <a:r>
              <a:rPr lang="pt-BR" dirty="0" err="1">
                <a:solidFill>
                  <a:srgbClr val="FF0000"/>
                </a:solidFill>
              </a:rPr>
              <a:t>int</a:t>
            </a:r>
            <a:r>
              <a:rPr lang="pt-BR" dirty="0"/>
              <a:t> </a:t>
            </a:r>
            <a:r>
              <a:rPr lang="pt-BR" dirty="0">
                <a:solidFill>
                  <a:srgbClr val="00B050"/>
                </a:solidFill>
              </a:rPr>
              <a:t>idade</a:t>
            </a:r>
            <a:r>
              <a:rPr lang="pt-BR" dirty="0"/>
              <a:t>;</a:t>
            </a:r>
          </a:p>
          <a:p>
            <a:pPr lvl="2"/>
            <a:r>
              <a:rPr lang="pt-BR" dirty="0" err="1">
                <a:solidFill>
                  <a:srgbClr val="FF0000"/>
                </a:solidFill>
              </a:rPr>
              <a:t>float</a:t>
            </a:r>
            <a:r>
              <a:rPr lang="pt-BR" dirty="0"/>
              <a:t> </a:t>
            </a:r>
            <a:r>
              <a:rPr lang="pt-BR" dirty="0">
                <a:solidFill>
                  <a:srgbClr val="00B050"/>
                </a:solidFill>
              </a:rPr>
              <a:t>temperatura</a:t>
            </a:r>
            <a:r>
              <a:rPr lang="pt-BR" dirty="0"/>
              <a:t>;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char</a:t>
            </a:r>
            <a:r>
              <a:rPr lang="pt-BR" dirty="0"/>
              <a:t> </a:t>
            </a:r>
            <a:r>
              <a:rPr lang="pt-BR" dirty="0">
                <a:solidFill>
                  <a:srgbClr val="00B050"/>
                </a:solidFill>
              </a:rPr>
              <a:t>letra</a:t>
            </a:r>
            <a:r>
              <a:rPr lang="pt-BR" dirty="0"/>
              <a:t>;</a:t>
            </a:r>
          </a:p>
          <a:p>
            <a:pPr lvl="2"/>
            <a:r>
              <a:rPr lang="pt-BR" dirty="0" err="1">
                <a:solidFill>
                  <a:srgbClr val="FF0000"/>
                </a:solidFill>
              </a:rPr>
              <a:t>double</a:t>
            </a:r>
            <a:r>
              <a:rPr lang="pt-BR" dirty="0"/>
              <a:t> </a:t>
            </a:r>
            <a:r>
              <a:rPr lang="pt-BR" dirty="0">
                <a:solidFill>
                  <a:srgbClr val="00B050"/>
                </a:solidFill>
              </a:rPr>
              <a:t>salario</a:t>
            </a:r>
            <a:r>
              <a:rPr lang="pt-BR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6521084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F25E7-E68F-801B-3223-9C7A400B4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E5BCB1-FB31-D79D-68FD-E554C67C9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NOMES DE VARIÁVEIS</a:t>
            </a:r>
          </a:p>
          <a:p>
            <a:pPr lvl="1"/>
            <a:r>
              <a:rPr lang="pt-BR" dirty="0"/>
              <a:t>O nome da variável deve:</a:t>
            </a:r>
          </a:p>
          <a:p>
            <a:pPr lvl="2"/>
            <a:r>
              <a:rPr lang="pt-BR" dirty="0"/>
              <a:t>Começar com uma letra ou </a:t>
            </a:r>
            <a:r>
              <a:rPr lang="pt-BR" dirty="0" err="1"/>
              <a:t>underline</a:t>
            </a:r>
            <a:r>
              <a:rPr lang="pt-BR" dirty="0"/>
              <a:t> (</a:t>
            </a:r>
            <a:r>
              <a:rPr lang="pt-BR" dirty="0">
                <a:solidFill>
                  <a:srgbClr val="FF0000"/>
                </a:solidFill>
              </a:rPr>
              <a:t>_</a:t>
            </a:r>
            <a:r>
              <a:rPr lang="pt-BR" dirty="0"/>
              <a:t>).</a:t>
            </a:r>
          </a:p>
          <a:p>
            <a:pPr lvl="2"/>
            <a:r>
              <a:rPr lang="pt-BR" dirty="0"/>
              <a:t>Pode conter letras, números e </a:t>
            </a:r>
            <a:r>
              <a:rPr lang="pt-BR" dirty="0" err="1"/>
              <a:t>underlines</a:t>
            </a:r>
            <a:r>
              <a:rPr lang="pt-BR" dirty="0"/>
              <a:t>.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Não pode ter </a:t>
            </a:r>
            <a:r>
              <a:rPr lang="pt-BR" dirty="0"/>
              <a:t>espaços, acentos, símbolos especiais nem palavras reservadas do C.</a:t>
            </a:r>
          </a:p>
          <a:p>
            <a:pPr lvl="1"/>
            <a:r>
              <a:rPr lang="pt-BR" dirty="0"/>
              <a:t>Exemplos válidos:</a:t>
            </a:r>
          </a:p>
          <a:p>
            <a:pPr lvl="2"/>
            <a:r>
              <a:rPr lang="pt-BR" dirty="0" err="1">
                <a:solidFill>
                  <a:srgbClr val="FF0000"/>
                </a:solidFill>
              </a:rPr>
              <a:t>int</a:t>
            </a:r>
            <a:r>
              <a:rPr lang="pt-BR" dirty="0"/>
              <a:t> </a:t>
            </a:r>
            <a:r>
              <a:rPr lang="pt-BR" dirty="0">
                <a:solidFill>
                  <a:srgbClr val="00B050"/>
                </a:solidFill>
              </a:rPr>
              <a:t>idade</a:t>
            </a:r>
            <a:r>
              <a:rPr lang="pt-BR" dirty="0"/>
              <a:t>;</a:t>
            </a:r>
          </a:p>
          <a:p>
            <a:pPr lvl="2"/>
            <a:r>
              <a:rPr lang="pt-BR" dirty="0" err="1">
                <a:solidFill>
                  <a:srgbClr val="FF0000"/>
                </a:solidFill>
              </a:rPr>
              <a:t>float</a:t>
            </a:r>
            <a:r>
              <a:rPr lang="pt-BR" dirty="0"/>
              <a:t> </a:t>
            </a:r>
            <a:r>
              <a:rPr lang="pt-BR" dirty="0" err="1">
                <a:solidFill>
                  <a:srgbClr val="00B050"/>
                </a:solidFill>
              </a:rPr>
              <a:t>preco_total</a:t>
            </a:r>
            <a:r>
              <a:rPr lang="pt-BR" dirty="0"/>
              <a:t>;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char</a:t>
            </a:r>
            <a:r>
              <a:rPr lang="pt-BR" dirty="0"/>
              <a:t> </a:t>
            </a:r>
            <a:r>
              <a:rPr lang="pt-BR" dirty="0">
                <a:solidFill>
                  <a:srgbClr val="00B050"/>
                </a:solidFill>
              </a:rPr>
              <a:t>_letra</a:t>
            </a:r>
            <a:r>
              <a:rPr lang="pt-BR" dirty="0"/>
              <a:t>;</a:t>
            </a:r>
          </a:p>
          <a:p>
            <a:pPr lvl="1"/>
            <a:r>
              <a:rPr lang="pt-BR" dirty="0"/>
              <a:t>Exemplos não válidos:</a:t>
            </a:r>
          </a:p>
          <a:p>
            <a:pPr lvl="2"/>
            <a:r>
              <a:rPr lang="pt-BR" dirty="0" err="1">
                <a:solidFill>
                  <a:srgbClr val="FF0000"/>
                </a:solidFill>
              </a:rPr>
              <a:t>int</a:t>
            </a:r>
            <a:r>
              <a:rPr lang="pt-BR" dirty="0"/>
              <a:t> </a:t>
            </a:r>
            <a:r>
              <a:rPr lang="pt-BR" dirty="0">
                <a:solidFill>
                  <a:srgbClr val="00B050"/>
                </a:solidFill>
              </a:rPr>
              <a:t>2idade</a:t>
            </a:r>
            <a:r>
              <a:rPr lang="pt-BR" dirty="0"/>
              <a:t>;        	// não pode começar com número.</a:t>
            </a:r>
          </a:p>
          <a:p>
            <a:pPr lvl="2"/>
            <a:r>
              <a:rPr lang="pt-BR" dirty="0" err="1">
                <a:solidFill>
                  <a:srgbClr val="FF0000"/>
                </a:solidFill>
              </a:rPr>
              <a:t>float</a:t>
            </a:r>
            <a:r>
              <a:rPr lang="pt-BR" dirty="0"/>
              <a:t> </a:t>
            </a:r>
            <a:r>
              <a:rPr lang="pt-BR" dirty="0">
                <a:solidFill>
                  <a:srgbClr val="00B050"/>
                </a:solidFill>
              </a:rPr>
              <a:t>preço-total</a:t>
            </a:r>
            <a:r>
              <a:rPr lang="pt-BR" dirty="0"/>
              <a:t>; 	// não pode conter hífen nem acento.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char</a:t>
            </a:r>
            <a:r>
              <a:rPr lang="pt-BR" dirty="0"/>
              <a:t> </a:t>
            </a:r>
            <a:r>
              <a:rPr lang="pt-BR" dirty="0" err="1">
                <a:solidFill>
                  <a:srgbClr val="00B050"/>
                </a:solidFill>
              </a:rPr>
              <a:t>return</a:t>
            </a:r>
            <a:r>
              <a:rPr lang="pt-BR" dirty="0"/>
              <a:t>;       	// "</a:t>
            </a:r>
            <a:r>
              <a:rPr lang="pt-BR" dirty="0" err="1"/>
              <a:t>return</a:t>
            </a:r>
            <a:r>
              <a:rPr lang="pt-BR" dirty="0"/>
              <a:t>" é palavra reservada.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F640489-1BC8-4BFC-A977-3CA962C2EAFA}"/>
              </a:ext>
            </a:extLst>
          </p:cNvPr>
          <p:cNvSpPr txBox="1"/>
          <p:nvPr/>
        </p:nvSpPr>
        <p:spPr>
          <a:xfrm>
            <a:off x="6091235" y="3852672"/>
            <a:ext cx="4840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B050"/>
                </a:solidFill>
              </a:rPr>
              <a:t>Dica:</a:t>
            </a:r>
            <a:r>
              <a:rPr lang="pt-BR" dirty="0">
                <a:solidFill>
                  <a:srgbClr val="00B050"/>
                </a:solidFill>
              </a:rPr>
              <a:t> Sempre declare as variáveis com nomes que tenham significado no contexto do programa.</a:t>
            </a:r>
          </a:p>
          <a:p>
            <a:r>
              <a:rPr lang="pt-BR" dirty="0">
                <a:solidFill>
                  <a:srgbClr val="00B050"/>
                </a:solidFill>
              </a:rPr>
              <a:t>Isso facilita a leitura e manutenção do código!</a:t>
            </a:r>
          </a:p>
        </p:txBody>
      </p:sp>
    </p:spTree>
    <p:extLst>
      <p:ext uri="{BB962C8B-B14F-4D97-AF65-F5344CB8AC3E}">
        <p14:creationId xmlns:p14="http://schemas.microsoft.com/office/powerpoint/2010/main" val="23134923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72002-D0E6-2012-6715-CBFA24CDE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050D66-6A6F-0D8F-6A34-922D63020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ATRIBUIÇÃO DE VALORES</a:t>
            </a:r>
          </a:p>
          <a:p>
            <a:pPr lvl="1"/>
            <a:r>
              <a:rPr lang="pt-BR" dirty="0"/>
              <a:t>Uma variável declarada, supostamente deverá ter algum valor atribuído a ela.</a:t>
            </a:r>
          </a:p>
          <a:p>
            <a:pPr lvl="1"/>
            <a:r>
              <a:rPr lang="pt-BR" dirty="0"/>
              <a:t>Podemos fazer isso no momento da declaração ou depois.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Inicialização durante declaração (variável não constante):</a:t>
            </a:r>
          </a:p>
          <a:p>
            <a:pPr lvl="2"/>
            <a:r>
              <a:rPr lang="pt-BR" dirty="0" err="1">
                <a:solidFill>
                  <a:srgbClr val="FF0000"/>
                </a:solidFill>
              </a:rPr>
              <a:t>int</a:t>
            </a:r>
            <a:r>
              <a:rPr lang="pt-BR" dirty="0"/>
              <a:t> </a:t>
            </a:r>
            <a:r>
              <a:rPr lang="pt-BR" dirty="0">
                <a:solidFill>
                  <a:srgbClr val="00B050"/>
                </a:solidFill>
              </a:rPr>
              <a:t>idade</a:t>
            </a:r>
            <a:r>
              <a:rPr lang="pt-BR" dirty="0"/>
              <a:t> = 25;</a:t>
            </a:r>
          </a:p>
          <a:p>
            <a:pPr lvl="2"/>
            <a:r>
              <a:rPr lang="pt-BR" dirty="0" err="1">
                <a:solidFill>
                  <a:srgbClr val="FF0000"/>
                </a:solidFill>
              </a:rPr>
              <a:t>float</a:t>
            </a:r>
            <a:r>
              <a:rPr lang="pt-BR" dirty="0"/>
              <a:t> </a:t>
            </a:r>
            <a:r>
              <a:rPr lang="pt-BR" dirty="0">
                <a:solidFill>
                  <a:srgbClr val="00B050"/>
                </a:solidFill>
              </a:rPr>
              <a:t>peso</a:t>
            </a:r>
            <a:r>
              <a:rPr lang="pt-BR" dirty="0"/>
              <a:t> = 70.5;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char</a:t>
            </a:r>
            <a:r>
              <a:rPr lang="pt-BR" dirty="0"/>
              <a:t> </a:t>
            </a:r>
            <a:r>
              <a:rPr lang="pt-BR" dirty="0">
                <a:solidFill>
                  <a:srgbClr val="00B050"/>
                </a:solidFill>
              </a:rPr>
              <a:t>letra</a:t>
            </a:r>
            <a:r>
              <a:rPr lang="pt-BR" dirty="0"/>
              <a:t> = 'A’;</a:t>
            </a:r>
          </a:p>
          <a:p>
            <a:pPr lvl="3"/>
            <a:r>
              <a:rPr lang="pt-BR" dirty="0"/>
              <a:t>Essas variáveis podem mudar de valor ao longo do programa:</a:t>
            </a:r>
          </a:p>
          <a:p>
            <a:pPr lvl="4"/>
            <a:r>
              <a:rPr lang="pt-BR" dirty="0">
                <a:solidFill>
                  <a:srgbClr val="00B050"/>
                </a:solidFill>
              </a:rPr>
              <a:t>idade</a:t>
            </a:r>
            <a:r>
              <a:rPr lang="pt-BR" dirty="0"/>
              <a:t> = 30;	// valor alterado</a:t>
            </a:r>
          </a:p>
          <a:p>
            <a:pPr lvl="4"/>
            <a:r>
              <a:rPr lang="pt-BR" dirty="0">
                <a:solidFill>
                  <a:srgbClr val="00B050"/>
                </a:solidFill>
              </a:rPr>
              <a:t>peso</a:t>
            </a:r>
            <a:r>
              <a:rPr lang="pt-BR" dirty="0"/>
              <a:t> = 72.0;	// valor alterado</a:t>
            </a:r>
          </a:p>
          <a:p>
            <a:pPr lvl="4"/>
            <a:r>
              <a:rPr lang="pt-BR" dirty="0">
                <a:solidFill>
                  <a:srgbClr val="00B050"/>
                </a:solidFill>
              </a:rPr>
              <a:t>letra</a:t>
            </a:r>
            <a:r>
              <a:rPr lang="pt-BR" dirty="0"/>
              <a:t> = 'B’;	 	// valor alterado</a:t>
            </a:r>
          </a:p>
        </p:txBody>
      </p:sp>
    </p:spTree>
    <p:extLst>
      <p:ext uri="{BB962C8B-B14F-4D97-AF65-F5344CB8AC3E}">
        <p14:creationId xmlns:p14="http://schemas.microsoft.com/office/powerpoint/2010/main" val="38042289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72002-D0E6-2012-6715-CBFA24CDE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050D66-6A6F-0D8F-6A34-922D63020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ATRIBUIÇÃO DE VALORES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Inicialização posterior à declaração (variável não constante):</a:t>
            </a:r>
          </a:p>
          <a:p>
            <a:pPr lvl="2"/>
            <a:r>
              <a:rPr lang="pt-BR" dirty="0" err="1">
                <a:solidFill>
                  <a:srgbClr val="FF0000"/>
                </a:solidFill>
              </a:rPr>
              <a:t>int</a:t>
            </a:r>
            <a:r>
              <a:rPr lang="pt-BR" dirty="0"/>
              <a:t> </a:t>
            </a:r>
            <a:r>
              <a:rPr lang="pt-BR" dirty="0">
                <a:solidFill>
                  <a:srgbClr val="00B050"/>
                </a:solidFill>
              </a:rPr>
              <a:t>idade</a:t>
            </a:r>
            <a:r>
              <a:rPr lang="pt-BR" dirty="0"/>
              <a:t>;</a:t>
            </a:r>
          </a:p>
          <a:p>
            <a:pPr lvl="2"/>
            <a:r>
              <a:rPr lang="pt-BR" dirty="0" err="1">
                <a:solidFill>
                  <a:srgbClr val="FF0000"/>
                </a:solidFill>
              </a:rPr>
              <a:t>float</a:t>
            </a:r>
            <a:r>
              <a:rPr lang="pt-BR" dirty="0"/>
              <a:t> </a:t>
            </a:r>
            <a:r>
              <a:rPr lang="pt-BR" dirty="0">
                <a:solidFill>
                  <a:srgbClr val="00B050"/>
                </a:solidFill>
              </a:rPr>
              <a:t>peso</a:t>
            </a:r>
            <a:r>
              <a:rPr lang="pt-BR" dirty="0"/>
              <a:t>;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char</a:t>
            </a:r>
            <a:r>
              <a:rPr lang="pt-BR" dirty="0"/>
              <a:t> </a:t>
            </a:r>
            <a:r>
              <a:rPr lang="pt-BR" dirty="0">
                <a:solidFill>
                  <a:srgbClr val="00B050"/>
                </a:solidFill>
              </a:rPr>
              <a:t>letra</a:t>
            </a:r>
            <a:r>
              <a:rPr lang="pt-BR" dirty="0"/>
              <a:t>;</a:t>
            </a:r>
          </a:p>
          <a:p>
            <a:pPr lvl="2"/>
            <a:r>
              <a:rPr lang="pt-BR" dirty="0">
                <a:solidFill>
                  <a:srgbClr val="00B050"/>
                </a:solidFill>
              </a:rPr>
              <a:t>idade</a:t>
            </a:r>
            <a:r>
              <a:rPr lang="pt-BR" dirty="0"/>
              <a:t> = 25;</a:t>
            </a:r>
          </a:p>
          <a:p>
            <a:pPr lvl="2"/>
            <a:r>
              <a:rPr lang="pt-BR" dirty="0">
                <a:solidFill>
                  <a:srgbClr val="00B050"/>
                </a:solidFill>
              </a:rPr>
              <a:t>peso</a:t>
            </a:r>
            <a:r>
              <a:rPr lang="pt-BR" dirty="0"/>
              <a:t> = 70.5;</a:t>
            </a:r>
          </a:p>
          <a:p>
            <a:pPr lvl="2"/>
            <a:r>
              <a:rPr lang="pt-BR" dirty="0">
                <a:solidFill>
                  <a:srgbClr val="00B050"/>
                </a:solidFill>
              </a:rPr>
              <a:t>letra</a:t>
            </a:r>
            <a:r>
              <a:rPr lang="pt-BR" dirty="0"/>
              <a:t> = 'A’;</a:t>
            </a:r>
          </a:p>
          <a:p>
            <a:pPr lvl="1"/>
            <a:r>
              <a:rPr lang="pt-BR" dirty="0"/>
              <a:t>Essas variáveis podem mudar de valor ao longo do programa:</a:t>
            </a:r>
          </a:p>
          <a:p>
            <a:pPr lvl="2"/>
            <a:r>
              <a:rPr lang="pt-BR" dirty="0">
                <a:solidFill>
                  <a:srgbClr val="00B050"/>
                </a:solidFill>
              </a:rPr>
              <a:t>idade</a:t>
            </a:r>
            <a:r>
              <a:rPr lang="pt-BR" dirty="0"/>
              <a:t> = 30;	// valor alterado</a:t>
            </a:r>
          </a:p>
          <a:p>
            <a:pPr lvl="2"/>
            <a:r>
              <a:rPr lang="pt-BR" dirty="0">
                <a:solidFill>
                  <a:srgbClr val="00B050"/>
                </a:solidFill>
              </a:rPr>
              <a:t>peso</a:t>
            </a:r>
            <a:r>
              <a:rPr lang="pt-BR" dirty="0"/>
              <a:t> = 72.0;	// valor alterado</a:t>
            </a:r>
          </a:p>
          <a:p>
            <a:pPr lvl="2"/>
            <a:r>
              <a:rPr lang="pt-BR" dirty="0">
                <a:solidFill>
                  <a:srgbClr val="00B050"/>
                </a:solidFill>
              </a:rPr>
              <a:t>letra</a:t>
            </a:r>
            <a:r>
              <a:rPr lang="pt-BR" dirty="0"/>
              <a:t> = 'B’;	 	// valor alterado</a:t>
            </a:r>
          </a:p>
        </p:txBody>
      </p:sp>
    </p:spTree>
    <p:extLst>
      <p:ext uri="{BB962C8B-B14F-4D97-AF65-F5344CB8AC3E}">
        <p14:creationId xmlns:p14="http://schemas.microsoft.com/office/powerpoint/2010/main" val="7112579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72002-D0E6-2012-6715-CBFA24CDE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050D66-6A6F-0D8F-6A34-922D63020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ATRIBUIÇÃO DE VALORES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Variáveis constantes (</a:t>
            </a:r>
            <a:r>
              <a:rPr lang="pt-BR" dirty="0" err="1">
                <a:solidFill>
                  <a:srgbClr val="FF0000"/>
                </a:solidFill>
              </a:rPr>
              <a:t>const</a:t>
            </a:r>
            <a:r>
              <a:rPr lang="pt-BR" dirty="0">
                <a:solidFill>
                  <a:srgbClr val="FF0000"/>
                </a:solidFill>
              </a:rPr>
              <a:t>)</a:t>
            </a:r>
          </a:p>
          <a:p>
            <a:pPr lvl="2"/>
            <a:r>
              <a:rPr lang="pt-BR" dirty="0"/>
              <a:t>Se você quiser impor a uma variável um valor imutável, use a palavra-chave </a:t>
            </a:r>
            <a:r>
              <a:rPr lang="pt-BR" dirty="0" err="1">
                <a:solidFill>
                  <a:srgbClr val="FF0000"/>
                </a:solidFill>
              </a:rPr>
              <a:t>const</a:t>
            </a:r>
            <a:r>
              <a:rPr lang="pt-BR" dirty="0"/>
              <a:t> antes de seu tipo.</a:t>
            </a:r>
          </a:p>
          <a:p>
            <a:pPr lvl="3"/>
            <a:r>
              <a:rPr lang="pt-BR" dirty="0" err="1">
                <a:solidFill>
                  <a:srgbClr val="FF0000"/>
                </a:solidFill>
              </a:rPr>
              <a:t>const</a:t>
            </a:r>
            <a:r>
              <a:rPr lang="pt-BR" dirty="0"/>
              <a:t> </a:t>
            </a:r>
            <a:r>
              <a:rPr lang="pt-BR" dirty="0" err="1">
                <a:solidFill>
                  <a:srgbClr val="FF0000"/>
                </a:solidFill>
              </a:rPr>
              <a:t>int</a:t>
            </a:r>
            <a:r>
              <a:rPr lang="pt-BR" dirty="0"/>
              <a:t> </a:t>
            </a:r>
            <a:r>
              <a:rPr lang="pt-BR" dirty="0" err="1">
                <a:solidFill>
                  <a:srgbClr val="00B050"/>
                </a:solidFill>
              </a:rPr>
              <a:t>dias_da_semana</a:t>
            </a:r>
            <a:r>
              <a:rPr lang="pt-BR" dirty="0">
                <a:solidFill>
                  <a:srgbClr val="00B050"/>
                </a:solidFill>
              </a:rPr>
              <a:t> </a:t>
            </a:r>
            <a:r>
              <a:rPr lang="pt-BR" dirty="0"/>
              <a:t>= 7;</a:t>
            </a:r>
          </a:p>
          <a:p>
            <a:pPr lvl="3"/>
            <a:r>
              <a:rPr lang="pt-BR" dirty="0" err="1">
                <a:solidFill>
                  <a:srgbClr val="FF0000"/>
                </a:solidFill>
              </a:rPr>
              <a:t>const</a:t>
            </a:r>
            <a:r>
              <a:rPr lang="pt-BR" dirty="0"/>
              <a:t> </a:t>
            </a:r>
            <a:r>
              <a:rPr lang="pt-BR" dirty="0" err="1">
                <a:solidFill>
                  <a:srgbClr val="FF0000"/>
                </a:solidFill>
              </a:rPr>
              <a:t>float</a:t>
            </a:r>
            <a:r>
              <a:rPr lang="pt-BR" dirty="0"/>
              <a:t> </a:t>
            </a:r>
            <a:r>
              <a:rPr lang="pt-BR" dirty="0">
                <a:solidFill>
                  <a:srgbClr val="00B050"/>
                </a:solidFill>
              </a:rPr>
              <a:t>pi</a:t>
            </a:r>
            <a:r>
              <a:rPr lang="pt-BR" dirty="0"/>
              <a:t> = 3.1415;</a:t>
            </a:r>
          </a:p>
          <a:p>
            <a:pPr lvl="2"/>
            <a:r>
              <a:rPr lang="pt-BR" dirty="0"/>
              <a:t>Qualquer tentativa de modificar seu valor causará erro de compilação.</a:t>
            </a:r>
          </a:p>
          <a:p>
            <a:pPr lvl="2"/>
            <a:r>
              <a:rPr lang="pt-BR" dirty="0"/>
              <a:t>Por que usar </a:t>
            </a:r>
            <a:r>
              <a:rPr lang="pt-BR" dirty="0" err="1">
                <a:solidFill>
                  <a:srgbClr val="FF0000"/>
                </a:solidFill>
              </a:rPr>
              <a:t>const</a:t>
            </a:r>
            <a:r>
              <a:rPr lang="pt-BR" dirty="0"/>
              <a:t>?</a:t>
            </a:r>
          </a:p>
          <a:p>
            <a:pPr lvl="3"/>
            <a:r>
              <a:rPr lang="pt-BR" dirty="0"/>
              <a:t>Torna o código mais seguro pois evita alterações acidentais.</a:t>
            </a:r>
          </a:p>
          <a:p>
            <a:pPr lvl="3"/>
            <a:r>
              <a:rPr lang="pt-BR" dirty="0"/>
              <a:t>Melhora a clareza semântica pois quem lê o código sabe que o valor é fixo.</a:t>
            </a:r>
          </a:p>
          <a:p>
            <a:pPr lvl="3"/>
            <a:r>
              <a:rPr lang="pt-BR" dirty="0"/>
              <a:t>O compilador pode até otimizar o código melhor por saber que o valor não muda.</a:t>
            </a:r>
          </a:p>
        </p:txBody>
      </p:sp>
    </p:spTree>
    <p:extLst>
      <p:ext uri="{BB962C8B-B14F-4D97-AF65-F5344CB8AC3E}">
        <p14:creationId xmlns:p14="http://schemas.microsoft.com/office/powerpoint/2010/main" val="37328455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644EC-A609-142B-C450-5153FFDE7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BEA8EE-EABE-BD3E-0AD4-333EF17C6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4" y="1056442"/>
            <a:ext cx="11092053" cy="5801557"/>
          </a:xfrm>
        </p:spPr>
        <p:txBody>
          <a:bodyPr>
            <a:normAutofit/>
          </a:bodyPr>
          <a:lstStyle/>
          <a:p>
            <a:r>
              <a:rPr lang="pt-BR" dirty="0"/>
              <a:t>OPERADORES</a:t>
            </a:r>
          </a:p>
          <a:p>
            <a:pPr lvl="1"/>
            <a:r>
              <a:rPr lang="pt-BR" dirty="0"/>
              <a:t>São símbolos especiais que realizam operações em operandos (variáveis, valores ou expressões).</a:t>
            </a:r>
          </a:p>
          <a:p>
            <a:pPr lvl="2"/>
            <a:r>
              <a:rPr lang="pt-BR" dirty="0"/>
              <a:t>Eles formam a base de qualquer linguagem de programação, permitindo a execução de cálculos matemáticos, comparações lógicas e outras operações.</a:t>
            </a:r>
          </a:p>
        </p:txBody>
      </p:sp>
    </p:spTree>
    <p:extLst>
      <p:ext uri="{BB962C8B-B14F-4D97-AF65-F5344CB8AC3E}">
        <p14:creationId xmlns:p14="http://schemas.microsoft.com/office/powerpoint/2010/main" val="14238265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39F8BDF-0F2A-9F00-1508-A6BC979546D1}"/>
              </a:ext>
            </a:extLst>
          </p:cNvPr>
          <p:cNvSpPr/>
          <p:nvPr/>
        </p:nvSpPr>
        <p:spPr>
          <a:xfrm>
            <a:off x="10424160" y="1056442"/>
            <a:ext cx="1463038" cy="57043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61644EC-A609-142B-C450-5153FFDE7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BEA8EE-EABE-BD3E-0AD4-333EF17C6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4" y="1056442"/>
            <a:ext cx="11591924" cy="5801557"/>
          </a:xfrm>
        </p:spPr>
        <p:txBody>
          <a:bodyPr>
            <a:normAutofit/>
          </a:bodyPr>
          <a:lstStyle/>
          <a:p>
            <a:r>
              <a:rPr lang="pt-BR" dirty="0"/>
              <a:t>OPERADORES</a:t>
            </a:r>
          </a:p>
          <a:p>
            <a:pPr lvl="1"/>
            <a:r>
              <a:rPr lang="pt-BR" sz="1600" dirty="0"/>
              <a:t>Em C, existem diversos os operadores, sendo os principais: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Operadores Aritméticos:</a:t>
            </a:r>
            <a:r>
              <a:rPr lang="pt-BR" dirty="0">
                <a:solidFill>
                  <a:srgbClr val="FF6600"/>
                </a:solidFill>
              </a:rPr>
              <a:t> </a:t>
            </a:r>
            <a:r>
              <a:rPr lang="pt-BR" dirty="0"/>
              <a:t>Realizam operações matemáticas como adição, subtração, multiplicação, divisão e módulo.</a:t>
            </a:r>
          </a:p>
          <a:p>
            <a:pPr lvl="3"/>
            <a:r>
              <a:rPr lang="pt-BR" sz="1600" dirty="0"/>
              <a:t>Exemplo: +, -, *, /, %. 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Operadores Relacionais: </a:t>
            </a:r>
            <a:r>
              <a:rPr lang="pt-BR" dirty="0"/>
              <a:t>Comparar valores e retornam um valor booleano (verdadeiro ou falso). </a:t>
            </a:r>
          </a:p>
          <a:p>
            <a:pPr lvl="3"/>
            <a:r>
              <a:rPr lang="pt-BR" sz="1600" dirty="0"/>
              <a:t>Exemplo: == (igual a), != (diferente de), &gt; (maior que), &lt; (menor que), &gt;= (maior ou igual a), &lt;= (menor ou igual a).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Operadores Lógicos: </a:t>
            </a:r>
            <a:r>
              <a:rPr lang="pt-BR" dirty="0"/>
              <a:t>Combinam condições para formar expressões lógicas mais complexas. </a:t>
            </a:r>
          </a:p>
          <a:p>
            <a:pPr lvl="3"/>
            <a:r>
              <a:rPr lang="pt-BR" sz="1600" dirty="0"/>
              <a:t>Exemplo: &amp;&amp; (AND lógico), || (OR lógico), ! (NOT lógico).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Operadores de Atribuição: </a:t>
            </a:r>
            <a:r>
              <a:rPr lang="pt-BR" dirty="0"/>
              <a:t>Atribuem valores a variáveis. </a:t>
            </a:r>
          </a:p>
          <a:p>
            <a:pPr lvl="3"/>
            <a:r>
              <a:rPr lang="pt-BR" sz="1600" dirty="0"/>
              <a:t>Exemplo: = (atribuição), += (atribuição com adição), -= (atribuição com subtração), etc.</a:t>
            </a:r>
          </a:p>
        </p:txBody>
      </p:sp>
    </p:spTree>
    <p:extLst>
      <p:ext uri="{BB962C8B-B14F-4D97-AF65-F5344CB8AC3E}">
        <p14:creationId xmlns:p14="http://schemas.microsoft.com/office/powerpoint/2010/main" val="13989941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F76D94-062C-E0D9-0D47-DD57FC1DD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712685-805F-5675-2838-1098DE040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OPERADORES DE ATRIBUIÇÃO</a:t>
            </a:r>
          </a:p>
          <a:p>
            <a:pPr lvl="1"/>
            <a:r>
              <a:rPr lang="pt-BR" dirty="0"/>
              <a:t>Em C, os operadores ++, --, +=, -=, *=, e /= são usados para operações de incremento, decremento e atribuição com operações aritméticas, respectivamente.</a:t>
            </a:r>
          </a:p>
          <a:p>
            <a:pPr lvl="1"/>
            <a:r>
              <a:rPr lang="pt-BR" dirty="0"/>
              <a:t>Eles oferecem formas mais concisas de expressar certas operações em comparação com suas versões completas. </a:t>
            </a:r>
          </a:p>
          <a:p>
            <a:pPr lvl="1"/>
            <a:r>
              <a:rPr lang="pt-BR" dirty="0"/>
              <a:t>Operadores de incremento e decremento:</a:t>
            </a:r>
          </a:p>
          <a:p>
            <a:pPr lvl="2"/>
            <a:r>
              <a:rPr lang="pt-BR" dirty="0"/>
              <a:t>++ (incremento): Adiciona 1 ao valor de uma variável.</a:t>
            </a:r>
          </a:p>
          <a:p>
            <a:pPr lvl="3"/>
            <a:r>
              <a:rPr lang="pt-BR" dirty="0"/>
              <a:t>Exemplo:</a:t>
            </a:r>
          </a:p>
          <a:p>
            <a:pPr lvl="4"/>
            <a:r>
              <a:rPr lang="pt-BR" dirty="0" err="1">
                <a:solidFill>
                  <a:srgbClr val="FF0000"/>
                </a:solidFill>
              </a:rPr>
              <a:t>int</a:t>
            </a:r>
            <a:r>
              <a:rPr lang="pt-BR" dirty="0"/>
              <a:t> </a:t>
            </a:r>
            <a:r>
              <a:rPr lang="pt-BR" dirty="0">
                <a:solidFill>
                  <a:srgbClr val="00B050"/>
                </a:solidFill>
              </a:rPr>
              <a:t>a</a:t>
            </a:r>
            <a:r>
              <a:rPr lang="pt-BR" dirty="0"/>
              <a:t> = 3;</a:t>
            </a:r>
          </a:p>
          <a:p>
            <a:pPr lvl="4"/>
            <a:r>
              <a:rPr lang="pt-BR" dirty="0">
                <a:solidFill>
                  <a:srgbClr val="00B050"/>
                </a:solidFill>
              </a:rPr>
              <a:t>a</a:t>
            </a:r>
            <a:r>
              <a:rPr lang="pt-BR" dirty="0"/>
              <a:t>++; </a:t>
            </a:r>
            <a:r>
              <a:rPr lang="pt-BR" dirty="0">
                <a:solidFill>
                  <a:srgbClr val="FF0000"/>
                </a:solidFill>
              </a:rPr>
              <a:t>//aqui a estará valendo 4</a:t>
            </a:r>
          </a:p>
          <a:p>
            <a:pPr lvl="2"/>
            <a:r>
              <a:rPr lang="pt-BR" dirty="0"/>
              <a:t>-- (decremento): Subtrai 1 do valor de uma variável.</a:t>
            </a:r>
          </a:p>
          <a:p>
            <a:pPr lvl="3"/>
            <a:r>
              <a:rPr lang="pt-BR" dirty="0"/>
              <a:t>Exemplo:</a:t>
            </a:r>
          </a:p>
          <a:p>
            <a:pPr lvl="4"/>
            <a:r>
              <a:rPr lang="pt-BR" dirty="0" err="1">
                <a:solidFill>
                  <a:srgbClr val="FF0000"/>
                </a:solidFill>
              </a:rPr>
              <a:t>int</a:t>
            </a:r>
            <a:r>
              <a:rPr lang="pt-BR" dirty="0"/>
              <a:t> </a:t>
            </a:r>
            <a:r>
              <a:rPr lang="pt-BR" dirty="0">
                <a:solidFill>
                  <a:srgbClr val="00B050"/>
                </a:solidFill>
              </a:rPr>
              <a:t>a</a:t>
            </a:r>
            <a:r>
              <a:rPr lang="pt-BR" dirty="0"/>
              <a:t> = 3;</a:t>
            </a:r>
          </a:p>
          <a:p>
            <a:pPr lvl="4"/>
            <a:r>
              <a:rPr lang="pt-BR" dirty="0">
                <a:solidFill>
                  <a:srgbClr val="00B050"/>
                </a:solidFill>
              </a:rPr>
              <a:t>a</a:t>
            </a:r>
            <a:r>
              <a:rPr lang="pt-BR" dirty="0"/>
              <a:t>--; </a:t>
            </a:r>
            <a:r>
              <a:rPr lang="pt-BR" dirty="0">
                <a:solidFill>
                  <a:srgbClr val="FF0000"/>
                </a:solidFill>
              </a:rPr>
              <a:t>//aqui a estará valendo 2</a:t>
            </a:r>
          </a:p>
        </p:txBody>
      </p:sp>
    </p:spTree>
    <p:extLst>
      <p:ext uri="{BB962C8B-B14F-4D97-AF65-F5344CB8AC3E}">
        <p14:creationId xmlns:p14="http://schemas.microsoft.com/office/powerpoint/2010/main" val="9364191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F76D94-062C-E0D9-0D47-DD57FC1DD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712685-805F-5675-2838-1098DE040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OPERADORES DE ATRIBUIÇÃO COMPOSTA</a:t>
            </a:r>
          </a:p>
          <a:p>
            <a:pPr lvl="1"/>
            <a:r>
              <a:rPr lang="pt-BR" dirty="0"/>
              <a:t>+= (atribuição de adição): Adiciona o valor à direita ao valor da variável à esquerda e atribui o resultado à variável à esquerda.</a:t>
            </a:r>
          </a:p>
          <a:p>
            <a:pPr lvl="2"/>
            <a:r>
              <a:rPr lang="pt-BR" dirty="0"/>
              <a:t>Exemplo: </a:t>
            </a:r>
            <a:r>
              <a:rPr lang="pt-BR" dirty="0">
                <a:solidFill>
                  <a:srgbClr val="FF0000"/>
                </a:solidFill>
              </a:rPr>
              <a:t>x</a:t>
            </a:r>
            <a:r>
              <a:rPr lang="pt-BR" dirty="0"/>
              <a:t> += 5 </a:t>
            </a:r>
            <a:r>
              <a:rPr lang="pt-BR" dirty="0">
                <a:solidFill>
                  <a:srgbClr val="FF0000"/>
                </a:solidFill>
              </a:rPr>
              <a:t>//é equivalente a x = x + 5.</a:t>
            </a:r>
          </a:p>
          <a:p>
            <a:pPr lvl="1"/>
            <a:r>
              <a:rPr lang="pt-BR" dirty="0"/>
              <a:t>-= (atribuição de subtração): Subtrai o valor à direita do valor da variável à esquerda e atribui o resultado à variável à esquerda.</a:t>
            </a:r>
          </a:p>
          <a:p>
            <a:pPr lvl="2"/>
            <a:r>
              <a:rPr lang="pt-BR" dirty="0"/>
              <a:t>Exemplo: </a:t>
            </a:r>
            <a:r>
              <a:rPr lang="pt-BR" dirty="0">
                <a:solidFill>
                  <a:srgbClr val="FF0000"/>
                </a:solidFill>
              </a:rPr>
              <a:t>x</a:t>
            </a:r>
            <a:r>
              <a:rPr lang="pt-BR" dirty="0"/>
              <a:t> -= 3 </a:t>
            </a:r>
            <a:r>
              <a:rPr lang="pt-BR" dirty="0">
                <a:solidFill>
                  <a:srgbClr val="FF0000"/>
                </a:solidFill>
              </a:rPr>
              <a:t>//é equivalente a x = x - 3.</a:t>
            </a:r>
          </a:p>
          <a:p>
            <a:pPr lvl="1"/>
            <a:r>
              <a:rPr lang="pt-BR" dirty="0"/>
              <a:t>*= (atribuição de multiplicação): Multiplica o valor da variável à esquerda pelo valor à direita e atribui o resultado à variável à esquerda.</a:t>
            </a:r>
          </a:p>
          <a:p>
            <a:pPr lvl="2"/>
            <a:r>
              <a:rPr lang="pt-BR" dirty="0"/>
              <a:t>Exemplo: </a:t>
            </a:r>
            <a:r>
              <a:rPr lang="pt-BR" dirty="0">
                <a:solidFill>
                  <a:srgbClr val="FF0000"/>
                </a:solidFill>
              </a:rPr>
              <a:t>x</a:t>
            </a:r>
            <a:r>
              <a:rPr lang="pt-BR" dirty="0"/>
              <a:t> *= 2 </a:t>
            </a:r>
            <a:r>
              <a:rPr lang="pt-BR" dirty="0">
                <a:solidFill>
                  <a:srgbClr val="FF0000"/>
                </a:solidFill>
              </a:rPr>
              <a:t>//é equivalente a x = x * 2.</a:t>
            </a:r>
          </a:p>
          <a:p>
            <a:pPr lvl="1"/>
            <a:r>
              <a:rPr lang="pt-BR" dirty="0"/>
              <a:t>/= (atribuição de divisão): Divide o valor da variável à esquerda pelo valor à direita e atribui o resultado à variável à esquerda.</a:t>
            </a:r>
          </a:p>
          <a:p>
            <a:pPr lvl="2"/>
            <a:r>
              <a:rPr lang="pt-BR" dirty="0"/>
              <a:t>Exemplo: </a:t>
            </a:r>
            <a:r>
              <a:rPr lang="pt-BR" dirty="0">
                <a:solidFill>
                  <a:srgbClr val="FF0000"/>
                </a:solidFill>
              </a:rPr>
              <a:t>x</a:t>
            </a:r>
            <a:r>
              <a:rPr lang="pt-BR" dirty="0"/>
              <a:t> /= 4 </a:t>
            </a:r>
            <a:r>
              <a:rPr lang="pt-BR" dirty="0">
                <a:solidFill>
                  <a:srgbClr val="FF0000"/>
                </a:solidFill>
              </a:rPr>
              <a:t>//é equivalente a x = x / 4. </a:t>
            </a:r>
          </a:p>
        </p:txBody>
      </p:sp>
    </p:spTree>
    <p:extLst>
      <p:ext uri="{BB962C8B-B14F-4D97-AF65-F5344CB8AC3E}">
        <p14:creationId xmlns:p14="http://schemas.microsoft.com/office/powerpoint/2010/main" val="25973687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5A3DBF-D473-5340-82D0-1A6078B07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A9F807-7BC9-A59F-60EA-213FE8565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COMANDOS DE ENTRADA E SAÍDA</a:t>
            </a:r>
          </a:p>
          <a:p>
            <a:pPr lvl="1"/>
            <a:r>
              <a:rPr lang="pt-BR" dirty="0"/>
              <a:t>Em C, comandos de entrada e saída (E/S) são funções que permitem a interação de um programa com o usuário ou outros dispositivos externos.</a:t>
            </a:r>
          </a:p>
          <a:p>
            <a:pPr lvl="1"/>
            <a:r>
              <a:rPr lang="pt-BR" dirty="0"/>
              <a:t>A entrada se refere à leitura de dados do exterior para o programa, enquanto a saída se refere à exibição de dados do programa para o exterior. </a:t>
            </a:r>
          </a:p>
          <a:p>
            <a:pPr lvl="1"/>
            <a:r>
              <a:rPr lang="pt-BR" dirty="0"/>
              <a:t>Os comandos de entrada e saída são essenciais para qualquer programa interativo.</a:t>
            </a:r>
          </a:p>
          <a:p>
            <a:pPr lvl="1"/>
            <a:r>
              <a:rPr lang="pt-BR" dirty="0"/>
              <a:t>Eles permitem que o programa receba informações do usuário e forneça resultados de forma compreensível.</a:t>
            </a:r>
          </a:p>
          <a:p>
            <a:pPr lvl="1"/>
            <a:r>
              <a:rPr lang="pt-BR" dirty="0"/>
              <a:t>Além disso, a capacidade de ler e gravar dados em arquivos é fundamental para a persistência de informações e para a interação com outros sistemas. </a:t>
            </a:r>
          </a:p>
        </p:txBody>
      </p:sp>
    </p:spTree>
    <p:extLst>
      <p:ext uri="{BB962C8B-B14F-4D97-AF65-F5344CB8AC3E}">
        <p14:creationId xmlns:p14="http://schemas.microsoft.com/office/powerpoint/2010/main" val="3006115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5A3DBF-D473-5340-82D0-1A6078B07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A9F807-7BC9-A59F-60EA-213FE8565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COMANDOS DE ENTRADA (LEITURA):</a:t>
            </a:r>
          </a:p>
          <a:p>
            <a:pPr lvl="1"/>
            <a:r>
              <a:rPr lang="pt-BR" dirty="0" err="1">
                <a:solidFill>
                  <a:srgbClr val="FF0000"/>
                </a:solidFill>
              </a:rPr>
              <a:t>scanf</a:t>
            </a:r>
            <a:r>
              <a:rPr lang="pt-BR" dirty="0">
                <a:solidFill>
                  <a:srgbClr val="FF0000"/>
                </a:solidFill>
              </a:rPr>
              <a:t>(): </a:t>
            </a:r>
            <a:r>
              <a:rPr lang="pt-BR" dirty="0"/>
              <a:t>lê dados formatados do teclado e armazena em variáveis. É a função mais comum para entrada de dados em C. </a:t>
            </a:r>
          </a:p>
          <a:p>
            <a:pPr lvl="1"/>
            <a:r>
              <a:rPr lang="pt-BR" dirty="0" err="1">
                <a:solidFill>
                  <a:srgbClr val="FF0000"/>
                </a:solidFill>
              </a:rPr>
              <a:t>getchar</a:t>
            </a:r>
            <a:r>
              <a:rPr lang="pt-BR" dirty="0">
                <a:solidFill>
                  <a:srgbClr val="FF0000"/>
                </a:solidFill>
              </a:rPr>
              <a:t>(): </a:t>
            </a:r>
            <a:r>
              <a:rPr lang="pt-BR" dirty="0"/>
              <a:t>lê um único caractere da entrada padrão (geralmente o teclado). </a:t>
            </a:r>
          </a:p>
          <a:p>
            <a:pPr lvl="1"/>
            <a:r>
              <a:rPr lang="pt-BR" dirty="0" err="1">
                <a:solidFill>
                  <a:srgbClr val="FF0000"/>
                </a:solidFill>
              </a:rPr>
              <a:t>fgets</a:t>
            </a:r>
            <a:r>
              <a:rPr lang="pt-BR" dirty="0">
                <a:solidFill>
                  <a:srgbClr val="FF0000"/>
                </a:solidFill>
              </a:rPr>
              <a:t>(): </a:t>
            </a:r>
            <a:r>
              <a:rPr lang="pt-BR" dirty="0"/>
              <a:t>lê uma </a:t>
            </a:r>
            <a:r>
              <a:rPr lang="pt-BR" dirty="0" err="1"/>
              <a:t>string</a:t>
            </a:r>
            <a:r>
              <a:rPr lang="pt-BR" dirty="0"/>
              <a:t> de um fluxo de dados (como teclado ou arquivo) e armazena em um buffer (área de memória).</a:t>
            </a:r>
          </a:p>
        </p:txBody>
      </p:sp>
    </p:spTree>
    <p:extLst>
      <p:ext uri="{BB962C8B-B14F-4D97-AF65-F5344CB8AC3E}">
        <p14:creationId xmlns:p14="http://schemas.microsoft.com/office/powerpoint/2010/main" val="31801765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5A3DBF-D473-5340-82D0-1A6078B07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A9F807-7BC9-A59F-60EA-213FE8565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COMANDOS DE SAÍDA (ESCRITA):</a:t>
            </a:r>
          </a:p>
          <a:p>
            <a:pPr lvl="1"/>
            <a:r>
              <a:rPr lang="pt-BR" dirty="0" err="1">
                <a:solidFill>
                  <a:srgbClr val="FF0000"/>
                </a:solidFill>
              </a:rPr>
              <a:t>printf</a:t>
            </a:r>
            <a:r>
              <a:rPr lang="pt-BR" dirty="0">
                <a:solidFill>
                  <a:srgbClr val="FF0000"/>
                </a:solidFill>
              </a:rPr>
              <a:t>(): </a:t>
            </a:r>
            <a:r>
              <a:rPr lang="pt-BR" dirty="0"/>
              <a:t>Exibe dados formatados na saída padrão (geralmente a tela). </a:t>
            </a:r>
          </a:p>
          <a:p>
            <a:pPr lvl="1"/>
            <a:r>
              <a:rPr lang="pt-BR" dirty="0" err="1">
                <a:solidFill>
                  <a:srgbClr val="FF0000"/>
                </a:solidFill>
              </a:rPr>
              <a:t>putchar</a:t>
            </a:r>
            <a:r>
              <a:rPr lang="pt-BR" dirty="0">
                <a:solidFill>
                  <a:srgbClr val="FF0000"/>
                </a:solidFill>
              </a:rPr>
              <a:t>(): </a:t>
            </a:r>
            <a:r>
              <a:rPr lang="pt-BR" dirty="0"/>
              <a:t>Escreve um único caractere na saída padrão. </a:t>
            </a:r>
          </a:p>
          <a:p>
            <a:pPr lvl="1"/>
            <a:r>
              <a:rPr lang="pt-BR" dirty="0" err="1">
                <a:solidFill>
                  <a:srgbClr val="FF0000"/>
                </a:solidFill>
              </a:rPr>
              <a:t>puts</a:t>
            </a:r>
            <a:r>
              <a:rPr lang="pt-BR" dirty="0">
                <a:solidFill>
                  <a:srgbClr val="FF0000"/>
                </a:solidFill>
              </a:rPr>
              <a:t>(): </a:t>
            </a:r>
            <a:r>
              <a:rPr lang="pt-BR" dirty="0"/>
              <a:t>Escreve uma </a:t>
            </a:r>
            <a:r>
              <a:rPr lang="pt-BR" dirty="0" err="1"/>
              <a:t>string</a:t>
            </a:r>
            <a:r>
              <a:rPr lang="pt-BR" dirty="0"/>
              <a:t> na saída padrão, adicionando automaticamente um caractere de nova linha no final. </a:t>
            </a:r>
          </a:p>
          <a:p>
            <a:pPr lvl="1"/>
            <a:r>
              <a:rPr lang="pt-BR" dirty="0" err="1">
                <a:solidFill>
                  <a:srgbClr val="FF0000"/>
                </a:solidFill>
              </a:rPr>
              <a:t>fprintf</a:t>
            </a:r>
            <a:r>
              <a:rPr lang="pt-BR" dirty="0">
                <a:solidFill>
                  <a:srgbClr val="FF0000"/>
                </a:solidFill>
              </a:rPr>
              <a:t>(): </a:t>
            </a:r>
            <a:r>
              <a:rPr lang="pt-BR" dirty="0"/>
              <a:t>Escreve dados formatados em um arquivo. </a:t>
            </a:r>
          </a:p>
        </p:txBody>
      </p:sp>
    </p:spTree>
    <p:extLst>
      <p:ext uri="{BB962C8B-B14F-4D97-AF65-F5344CB8AC3E}">
        <p14:creationId xmlns:p14="http://schemas.microsoft.com/office/powerpoint/2010/main" val="36734012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5A3DBF-D473-5340-82D0-1A6078B07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A9F807-7BC9-A59F-60EA-213FE8565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ESPECIFICADORES DE FORMATO EM C</a:t>
            </a:r>
          </a:p>
          <a:p>
            <a:pPr lvl="1"/>
            <a:r>
              <a:rPr lang="pt-BR" dirty="0"/>
              <a:t>Ao usar funções como </a:t>
            </a:r>
            <a:r>
              <a:rPr lang="pt-BR" dirty="0" err="1"/>
              <a:t>printf</a:t>
            </a:r>
            <a:r>
              <a:rPr lang="pt-BR" dirty="0"/>
              <a:t>() e </a:t>
            </a:r>
            <a:r>
              <a:rPr lang="pt-BR" dirty="0" err="1"/>
              <a:t>scanf</a:t>
            </a:r>
            <a:r>
              <a:rPr lang="pt-BR" dirty="0"/>
              <a:t>(), é necessário indicar o tipo de dado a ser lido ou impresso.</a:t>
            </a:r>
          </a:p>
          <a:p>
            <a:pPr lvl="1"/>
            <a:r>
              <a:rPr lang="pt-BR" dirty="0"/>
              <a:t>Para isso, utilizamos especificadores de formato, que começam com %.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9DE5638-ECFA-06B8-224E-5A4809E4A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626" y="2823419"/>
            <a:ext cx="9441888" cy="337840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5F87068-6CFE-EA32-E444-4F03BCFE6143}"/>
              </a:ext>
            </a:extLst>
          </p:cNvPr>
          <p:cNvSpPr txBox="1"/>
          <p:nvPr/>
        </p:nvSpPr>
        <p:spPr>
          <a:xfrm>
            <a:off x="1692378" y="6246651"/>
            <a:ext cx="80963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FF0000"/>
                </a:solidFill>
              </a:rPr>
              <a:t>¹ Para </a:t>
            </a:r>
            <a:r>
              <a:rPr lang="pt-BR" sz="1600" dirty="0" err="1">
                <a:solidFill>
                  <a:srgbClr val="FF0000"/>
                </a:solidFill>
              </a:rPr>
              <a:t>strings</a:t>
            </a:r>
            <a:r>
              <a:rPr lang="pt-BR" sz="1600" dirty="0">
                <a:solidFill>
                  <a:srgbClr val="FF0000"/>
                </a:solidFill>
              </a:rPr>
              <a:t>, não é necessário usar &amp; no </a:t>
            </a:r>
            <a:r>
              <a:rPr lang="pt-BR" sz="1600" dirty="0" err="1">
                <a:solidFill>
                  <a:srgbClr val="FF0000"/>
                </a:solidFill>
              </a:rPr>
              <a:t>scanf</a:t>
            </a:r>
            <a:r>
              <a:rPr lang="pt-BR" sz="1600" dirty="0">
                <a:solidFill>
                  <a:srgbClr val="FF0000"/>
                </a:solidFill>
              </a:rPr>
              <a:t>, pois o nome do </a:t>
            </a:r>
            <a:r>
              <a:rPr lang="pt-BR" sz="1600" dirty="0" err="1">
                <a:solidFill>
                  <a:srgbClr val="FF0000"/>
                </a:solidFill>
              </a:rPr>
              <a:t>array</a:t>
            </a:r>
            <a:r>
              <a:rPr lang="pt-BR" sz="1600" dirty="0">
                <a:solidFill>
                  <a:srgbClr val="FF0000"/>
                </a:solidFill>
              </a:rPr>
              <a:t> já representa o endereço.</a:t>
            </a:r>
          </a:p>
        </p:txBody>
      </p:sp>
    </p:spTree>
    <p:extLst>
      <p:ext uri="{BB962C8B-B14F-4D97-AF65-F5344CB8AC3E}">
        <p14:creationId xmlns:p14="http://schemas.microsoft.com/office/powerpoint/2010/main" val="16161463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5A3DBF-D473-5340-82D0-1A6078B07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A9F807-7BC9-A59F-60EA-213FE8565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CARACTERES ESPECIAS DO PRINTF</a:t>
            </a:r>
          </a:p>
          <a:p>
            <a:pPr lvl="1"/>
            <a:r>
              <a:rPr lang="pt-BR" dirty="0"/>
              <a:t>Em C, o </a:t>
            </a:r>
            <a:r>
              <a:rPr lang="pt-BR" dirty="0" err="1"/>
              <a:t>printf</a:t>
            </a:r>
            <a:r>
              <a:rPr lang="pt-BR" dirty="0"/>
              <a:t>() permite a inclusão de caracteres especiais (também chamados de sequências de escape) que controlam a formatação da saída.</a:t>
            </a:r>
          </a:p>
          <a:p>
            <a:pPr lvl="1"/>
            <a:r>
              <a:rPr lang="pt-BR" dirty="0"/>
              <a:t>Esses caracteres sempre começam com uma barra invertida (</a:t>
            </a:r>
            <a:r>
              <a:rPr lang="pt-BR" dirty="0">
                <a:solidFill>
                  <a:srgbClr val="FF6600"/>
                </a:solidFill>
              </a:rPr>
              <a:t>\</a:t>
            </a:r>
            <a:r>
              <a:rPr lang="pt-BR" dirty="0"/>
              <a:t>) e são seguidos por uma letra ou número.</a:t>
            </a:r>
          </a:p>
          <a:p>
            <a:pPr lvl="1"/>
            <a:r>
              <a:rPr lang="pt-BR" dirty="0"/>
              <a:t>Aqui estão os principais: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2F3BBAC-E278-7B7B-133B-97D1359C77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9576"/>
          <a:stretch/>
        </p:blipFill>
        <p:spPr>
          <a:xfrm>
            <a:off x="4074181" y="3429000"/>
            <a:ext cx="7962114" cy="318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8272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5A3DBF-D473-5340-82D0-1A6078B07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A9F807-7BC9-A59F-60EA-213FE8565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33EA1C-4338-60AB-7945-8746B1C2350F}"/>
              </a:ext>
            </a:extLst>
          </p:cNvPr>
          <p:cNvSpPr txBox="1"/>
          <p:nvPr/>
        </p:nvSpPr>
        <p:spPr>
          <a:xfrm>
            <a:off x="8983018" y="1750809"/>
            <a:ext cx="2202847" cy="4770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// </a:t>
            </a:r>
            <a:r>
              <a:rPr lang="pt-BR" sz="800" dirty="0" err="1"/>
              <a:t>main.c</a:t>
            </a:r>
            <a:endParaRPr lang="pt-BR" sz="800" dirty="0"/>
          </a:p>
          <a:p>
            <a:r>
              <a:rPr lang="pt-BR" sz="800" dirty="0"/>
              <a:t>#include &lt;</a:t>
            </a:r>
            <a:r>
              <a:rPr lang="pt-BR" sz="800" dirty="0" err="1"/>
              <a:t>stdio.h</a:t>
            </a:r>
            <a:r>
              <a:rPr lang="pt-BR" sz="800" dirty="0"/>
              <a:t>&gt;</a:t>
            </a:r>
          </a:p>
          <a:p>
            <a:endParaRPr lang="pt-BR" sz="800" dirty="0"/>
          </a:p>
          <a:p>
            <a:r>
              <a:rPr lang="pt-BR" sz="800" dirty="0" err="1"/>
              <a:t>int</a:t>
            </a:r>
            <a:r>
              <a:rPr lang="pt-BR" sz="800" dirty="0"/>
              <a:t> </a:t>
            </a:r>
            <a:r>
              <a:rPr lang="pt-BR" sz="800" dirty="0" err="1"/>
              <a:t>main</a:t>
            </a:r>
            <a:r>
              <a:rPr lang="pt-BR" sz="800" dirty="0"/>
              <a:t>() {</a:t>
            </a:r>
          </a:p>
          <a:p>
            <a:r>
              <a:rPr lang="pt-BR" sz="800" dirty="0"/>
              <a:t>    </a:t>
            </a:r>
            <a:r>
              <a:rPr lang="pt-BR" sz="800" dirty="0" err="1"/>
              <a:t>int</a:t>
            </a:r>
            <a:r>
              <a:rPr lang="pt-BR" sz="800" dirty="0"/>
              <a:t> idade;</a:t>
            </a:r>
          </a:p>
          <a:p>
            <a:r>
              <a:rPr lang="pt-BR" sz="800" dirty="0"/>
              <a:t>    char letra;</a:t>
            </a:r>
          </a:p>
          <a:p>
            <a:r>
              <a:rPr lang="pt-BR" sz="800" dirty="0"/>
              <a:t>    </a:t>
            </a:r>
            <a:r>
              <a:rPr lang="pt-BR" sz="800" dirty="0" err="1"/>
              <a:t>float</a:t>
            </a:r>
            <a:r>
              <a:rPr lang="pt-BR" sz="800" dirty="0"/>
              <a:t> altura;</a:t>
            </a:r>
          </a:p>
          <a:p>
            <a:r>
              <a:rPr lang="pt-BR" sz="800" dirty="0"/>
              <a:t>    </a:t>
            </a:r>
            <a:r>
              <a:rPr lang="pt-BR" sz="800" dirty="0" err="1"/>
              <a:t>double</a:t>
            </a:r>
            <a:r>
              <a:rPr lang="pt-BR" sz="800" dirty="0"/>
              <a:t> peso;</a:t>
            </a:r>
          </a:p>
          <a:p>
            <a:r>
              <a:rPr lang="pt-BR" sz="800" dirty="0"/>
              <a:t>    char nome[50];</a:t>
            </a:r>
          </a:p>
          <a:p>
            <a:endParaRPr lang="pt-BR" sz="800" dirty="0"/>
          </a:p>
          <a:p>
            <a:r>
              <a:rPr lang="pt-BR" sz="800" dirty="0"/>
              <a:t>    </a:t>
            </a:r>
            <a:r>
              <a:rPr lang="pt-BR" sz="800" dirty="0" err="1"/>
              <a:t>printf</a:t>
            </a:r>
            <a:r>
              <a:rPr lang="pt-BR" sz="800" dirty="0"/>
              <a:t>("Digite seu nome: ");</a:t>
            </a:r>
          </a:p>
          <a:p>
            <a:r>
              <a:rPr lang="pt-BR" sz="800" dirty="0"/>
              <a:t>    </a:t>
            </a:r>
            <a:r>
              <a:rPr lang="pt-BR" sz="800" dirty="0" err="1"/>
              <a:t>fgets</a:t>
            </a:r>
            <a:r>
              <a:rPr lang="pt-BR" sz="800" dirty="0"/>
              <a:t>(nome, </a:t>
            </a:r>
            <a:r>
              <a:rPr lang="pt-BR" sz="800" dirty="0" err="1"/>
              <a:t>sizeof</a:t>
            </a:r>
            <a:r>
              <a:rPr lang="pt-BR" sz="800" dirty="0"/>
              <a:t>(nome), </a:t>
            </a:r>
            <a:r>
              <a:rPr lang="pt-BR" sz="800" dirty="0" err="1"/>
              <a:t>stdin</a:t>
            </a:r>
            <a:r>
              <a:rPr lang="pt-BR" sz="800" dirty="0"/>
              <a:t>);</a:t>
            </a:r>
          </a:p>
          <a:p>
            <a:endParaRPr lang="pt-BR" sz="800" dirty="0"/>
          </a:p>
          <a:p>
            <a:r>
              <a:rPr lang="pt-BR" sz="800" dirty="0"/>
              <a:t>    </a:t>
            </a:r>
            <a:r>
              <a:rPr lang="pt-BR" sz="800" dirty="0" err="1"/>
              <a:t>printf</a:t>
            </a:r>
            <a:r>
              <a:rPr lang="pt-BR" sz="800" dirty="0"/>
              <a:t>("Digite sua idade: ");</a:t>
            </a:r>
          </a:p>
          <a:p>
            <a:r>
              <a:rPr lang="pt-BR" sz="800" dirty="0"/>
              <a:t>    </a:t>
            </a:r>
            <a:r>
              <a:rPr lang="pt-BR" sz="800" dirty="0" err="1"/>
              <a:t>scanf</a:t>
            </a:r>
            <a:r>
              <a:rPr lang="pt-BR" sz="800" dirty="0"/>
              <a:t>("%d", &amp;idade);</a:t>
            </a:r>
          </a:p>
          <a:p>
            <a:endParaRPr lang="pt-BR" sz="800" dirty="0"/>
          </a:p>
          <a:p>
            <a:r>
              <a:rPr lang="pt-BR" sz="800" dirty="0"/>
              <a:t>    </a:t>
            </a:r>
            <a:r>
              <a:rPr lang="pt-BR" sz="800" dirty="0" err="1"/>
              <a:t>printf</a:t>
            </a:r>
            <a:r>
              <a:rPr lang="pt-BR" sz="800" dirty="0"/>
              <a:t>("Digite sua altura (</a:t>
            </a:r>
            <a:r>
              <a:rPr lang="pt-BR" sz="800" dirty="0" err="1"/>
              <a:t>ex</a:t>
            </a:r>
            <a:r>
              <a:rPr lang="pt-BR" sz="800" dirty="0"/>
              <a:t>: 1.75): ");</a:t>
            </a:r>
          </a:p>
          <a:p>
            <a:r>
              <a:rPr lang="pt-BR" sz="800" dirty="0"/>
              <a:t>    </a:t>
            </a:r>
            <a:r>
              <a:rPr lang="pt-BR" sz="800" dirty="0" err="1"/>
              <a:t>scanf</a:t>
            </a:r>
            <a:r>
              <a:rPr lang="pt-BR" sz="800" dirty="0"/>
              <a:t>("%f", &amp;altura);</a:t>
            </a:r>
          </a:p>
          <a:p>
            <a:endParaRPr lang="pt-BR" sz="800" dirty="0"/>
          </a:p>
          <a:p>
            <a:r>
              <a:rPr lang="pt-BR" sz="800" dirty="0"/>
              <a:t>    </a:t>
            </a:r>
            <a:r>
              <a:rPr lang="pt-BR" sz="800" dirty="0" err="1"/>
              <a:t>printf</a:t>
            </a:r>
            <a:r>
              <a:rPr lang="pt-BR" sz="800" dirty="0"/>
              <a:t>("Digite seu peso (</a:t>
            </a:r>
            <a:r>
              <a:rPr lang="pt-BR" sz="800" dirty="0" err="1"/>
              <a:t>ex</a:t>
            </a:r>
            <a:r>
              <a:rPr lang="pt-BR" sz="800" dirty="0"/>
              <a:t>: 70.5): ");</a:t>
            </a:r>
          </a:p>
          <a:p>
            <a:r>
              <a:rPr lang="pt-BR" sz="800" dirty="0"/>
              <a:t>    </a:t>
            </a:r>
            <a:r>
              <a:rPr lang="pt-BR" sz="800" dirty="0" err="1"/>
              <a:t>scanf</a:t>
            </a:r>
            <a:r>
              <a:rPr lang="pt-BR" sz="800" dirty="0"/>
              <a:t>("%</a:t>
            </a:r>
            <a:r>
              <a:rPr lang="pt-BR" sz="800" dirty="0" err="1"/>
              <a:t>lf</a:t>
            </a:r>
            <a:r>
              <a:rPr lang="pt-BR" sz="800" dirty="0"/>
              <a:t>", &amp;peso);</a:t>
            </a:r>
          </a:p>
          <a:p>
            <a:endParaRPr lang="pt-BR" sz="800" dirty="0"/>
          </a:p>
          <a:p>
            <a:r>
              <a:rPr lang="pt-BR" sz="800" dirty="0"/>
              <a:t>    </a:t>
            </a:r>
            <a:r>
              <a:rPr lang="pt-BR" sz="800" dirty="0" err="1"/>
              <a:t>getchar</a:t>
            </a:r>
            <a:r>
              <a:rPr lang="pt-BR" sz="800" dirty="0"/>
              <a:t>(); // consumir '\n' deixado pelo </a:t>
            </a:r>
            <a:r>
              <a:rPr lang="pt-BR" sz="800" dirty="0" err="1"/>
              <a:t>scanf</a:t>
            </a:r>
            <a:endParaRPr lang="pt-BR" sz="800" dirty="0"/>
          </a:p>
          <a:p>
            <a:r>
              <a:rPr lang="pt-BR" sz="800" dirty="0"/>
              <a:t>    </a:t>
            </a:r>
            <a:r>
              <a:rPr lang="pt-BR" sz="800" dirty="0" err="1"/>
              <a:t>printf</a:t>
            </a:r>
            <a:r>
              <a:rPr lang="pt-BR" sz="800" dirty="0"/>
              <a:t>("Digite a inicial do seu nome: ");</a:t>
            </a:r>
          </a:p>
          <a:p>
            <a:r>
              <a:rPr lang="pt-BR" sz="800" dirty="0"/>
              <a:t>    letra = </a:t>
            </a:r>
            <a:r>
              <a:rPr lang="pt-BR" sz="800" dirty="0" err="1"/>
              <a:t>getchar</a:t>
            </a:r>
            <a:r>
              <a:rPr lang="pt-BR" sz="800" dirty="0"/>
              <a:t>();</a:t>
            </a:r>
          </a:p>
          <a:p>
            <a:endParaRPr lang="pt-BR" sz="800" dirty="0"/>
          </a:p>
          <a:p>
            <a:r>
              <a:rPr lang="pt-BR" sz="800" dirty="0"/>
              <a:t>    // Saída na tela com </a:t>
            </a:r>
            <a:r>
              <a:rPr lang="pt-BR" sz="800" dirty="0" err="1"/>
              <a:t>printf</a:t>
            </a:r>
            <a:endParaRPr lang="pt-BR" sz="800" dirty="0"/>
          </a:p>
          <a:p>
            <a:r>
              <a:rPr lang="pt-BR" sz="800" dirty="0"/>
              <a:t>    </a:t>
            </a:r>
            <a:r>
              <a:rPr lang="pt-BR" sz="800" dirty="0" err="1"/>
              <a:t>printf</a:t>
            </a:r>
            <a:r>
              <a:rPr lang="pt-BR" sz="800" dirty="0"/>
              <a:t>("\n--- DADOS DIGITADOS ---\n");</a:t>
            </a:r>
          </a:p>
          <a:p>
            <a:r>
              <a:rPr lang="pt-BR" sz="800" dirty="0"/>
              <a:t>    </a:t>
            </a:r>
            <a:r>
              <a:rPr lang="pt-BR" sz="800" dirty="0" err="1"/>
              <a:t>printf</a:t>
            </a:r>
            <a:r>
              <a:rPr lang="pt-BR" sz="800" dirty="0"/>
              <a:t>("Nome: %s", nome); // </a:t>
            </a:r>
            <a:r>
              <a:rPr lang="pt-BR" sz="800" dirty="0" err="1"/>
              <a:t>fgets</a:t>
            </a:r>
            <a:r>
              <a:rPr lang="pt-BR" sz="800" dirty="0"/>
              <a:t> inclui o '\n'</a:t>
            </a:r>
          </a:p>
          <a:p>
            <a:r>
              <a:rPr lang="pt-BR" sz="800" dirty="0"/>
              <a:t>    </a:t>
            </a:r>
            <a:r>
              <a:rPr lang="pt-BR" sz="800" dirty="0" err="1"/>
              <a:t>printf</a:t>
            </a:r>
            <a:r>
              <a:rPr lang="pt-BR" sz="800" dirty="0"/>
              <a:t>("Idade: %d anos\n", idade);</a:t>
            </a:r>
          </a:p>
          <a:p>
            <a:r>
              <a:rPr lang="pt-BR" sz="800" dirty="0"/>
              <a:t>    </a:t>
            </a:r>
            <a:r>
              <a:rPr lang="pt-BR" sz="800" dirty="0" err="1"/>
              <a:t>printf</a:t>
            </a:r>
            <a:r>
              <a:rPr lang="pt-BR" sz="800" dirty="0"/>
              <a:t>("Altura: %.2f m\n", altura);</a:t>
            </a:r>
          </a:p>
          <a:p>
            <a:r>
              <a:rPr lang="pt-BR" sz="800" dirty="0"/>
              <a:t>    </a:t>
            </a:r>
            <a:r>
              <a:rPr lang="pt-BR" sz="800" dirty="0" err="1"/>
              <a:t>printf</a:t>
            </a:r>
            <a:r>
              <a:rPr lang="pt-BR" sz="800" dirty="0"/>
              <a:t>("Peso: %.2lf kg\n", peso);</a:t>
            </a:r>
          </a:p>
          <a:p>
            <a:r>
              <a:rPr lang="pt-BR" sz="800" dirty="0"/>
              <a:t>    </a:t>
            </a:r>
            <a:r>
              <a:rPr lang="pt-BR" sz="800" dirty="0" err="1"/>
              <a:t>printf</a:t>
            </a:r>
            <a:r>
              <a:rPr lang="pt-BR" sz="800" dirty="0"/>
              <a:t>("Inicial do nome: ");</a:t>
            </a:r>
          </a:p>
          <a:p>
            <a:r>
              <a:rPr lang="pt-BR" sz="800" dirty="0"/>
              <a:t>    </a:t>
            </a:r>
            <a:r>
              <a:rPr lang="pt-BR" sz="800" dirty="0" err="1"/>
              <a:t>putchar</a:t>
            </a:r>
            <a:r>
              <a:rPr lang="pt-BR" sz="800" dirty="0"/>
              <a:t>(letra);</a:t>
            </a:r>
          </a:p>
          <a:p>
            <a:r>
              <a:rPr lang="pt-BR" sz="800" dirty="0"/>
              <a:t>    </a:t>
            </a:r>
            <a:r>
              <a:rPr lang="pt-BR" sz="800" dirty="0" err="1"/>
              <a:t>printf</a:t>
            </a:r>
            <a:r>
              <a:rPr lang="pt-BR" sz="800" dirty="0"/>
              <a:t>("\n");</a:t>
            </a:r>
          </a:p>
          <a:p>
            <a:endParaRPr lang="pt-BR" sz="800" dirty="0"/>
          </a:p>
          <a:p>
            <a:r>
              <a:rPr lang="pt-BR" sz="800" dirty="0"/>
              <a:t>    </a:t>
            </a:r>
            <a:r>
              <a:rPr lang="pt-BR" sz="800" dirty="0" err="1"/>
              <a:t>return</a:t>
            </a:r>
            <a:r>
              <a:rPr lang="pt-BR" sz="800" dirty="0"/>
              <a:t> 0;</a:t>
            </a:r>
          </a:p>
          <a:p>
            <a:r>
              <a:rPr lang="pt-BR" sz="800" dirty="0"/>
              <a:t>}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6BBB6F3-003E-66C7-A639-EEFA839CF5D2}"/>
              </a:ext>
            </a:extLst>
          </p:cNvPr>
          <p:cNvSpPr txBox="1"/>
          <p:nvPr/>
        </p:nvSpPr>
        <p:spPr>
          <a:xfrm>
            <a:off x="8550050" y="1179483"/>
            <a:ext cx="29220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Código em texto para vocês poderem copiar e colar numa IDE.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71B21A3-4A1A-9533-A694-B8BB4800D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546" y="0"/>
            <a:ext cx="48851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823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4">
      <a:dk1>
        <a:srgbClr val="000000"/>
      </a:dk1>
      <a:lt1>
        <a:srgbClr val="FFFFFF"/>
      </a:lt1>
      <a:dk2>
        <a:srgbClr val="4B2D96"/>
      </a:dk2>
      <a:lt2>
        <a:srgbClr val="F8F8F8"/>
      </a:lt2>
      <a:accent1>
        <a:srgbClr val="120C26"/>
      </a:accent1>
      <a:accent2>
        <a:srgbClr val="1D1340"/>
      </a:accent2>
      <a:accent3>
        <a:srgbClr val="48358C"/>
      </a:accent3>
      <a:accent4>
        <a:srgbClr val="553FA6"/>
      </a:accent4>
      <a:accent5>
        <a:srgbClr val="A6768C"/>
      </a:accent5>
      <a:accent6>
        <a:srgbClr val="EFE4E8"/>
      </a:accent6>
      <a:hlink>
        <a:srgbClr val="A6768C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12000</Words>
  <Application>Microsoft Office PowerPoint</Application>
  <PresentationFormat>Widescreen</PresentationFormat>
  <Paragraphs>1257</Paragraphs>
  <Slides>125</Slides>
  <Notes>39</Notes>
  <HiddenSlides>0</HiddenSlides>
  <MMClips>0</MMClips>
  <ScaleCrop>false</ScaleCrop>
  <HeadingPairs>
    <vt:vector size="8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0</vt:i4>
      </vt:variant>
      <vt:variant>
        <vt:lpstr>Títulos de slides</vt:lpstr>
      </vt:variant>
      <vt:variant>
        <vt:i4>125</vt:i4>
      </vt:variant>
    </vt:vector>
  </HeadingPairs>
  <TitlesOfParts>
    <vt:vector size="134" baseType="lpstr">
      <vt:lpstr>Arial</vt:lpstr>
      <vt:lpstr>Arial Narrow</vt:lpstr>
      <vt:lpstr>Calibri</vt:lpstr>
      <vt:lpstr>Cambria Math</vt:lpstr>
      <vt:lpstr>Courier New</vt:lpstr>
      <vt:lpstr>Poppins</vt:lpstr>
      <vt:lpstr>Roboto</vt:lpstr>
      <vt:lpstr>Segoe UI</vt:lpstr>
      <vt:lpstr>Office Theme</vt:lpstr>
      <vt:lpstr>Algoritmos e Linguagens de Programação Prof. Dr. Paulo Cesar de Alvarenga Lucci  Apresentação</vt:lpstr>
      <vt:lpstr>Apresentação</vt:lpstr>
      <vt:lpstr>Apresentação</vt:lpstr>
      <vt:lpstr>Apresentação</vt:lpstr>
      <vt:lpstr>Apresentação</vt:lpstr>
      <vt:lpstr>Apresentação</vt:lpstr>
      <vt:lpstr>Apresentação</vt:lpstr>
      <vt:lpstr>Apresentação</vt:lpstr>
      <vt:lpstr>Algoritmos e Linguagens de Programação Prof. Dr. Paulo Cesar de Alvarenga Lucci  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Algoritmos</vt:lpstr>
      <vt:lpstr>Introdução</vt:lpstr>
      <vt:lpstr>Algoritmos</vt:lpstr>
      <vt:lpstr>Algoritmos</vt:lpstr>
      <vt:lpstr>Algoritmos</vt:lpstr>
      <vt:lpstr>Algoritmos</vt:lpstr>
      <vt:lpstr>Algoritmos</vt:lpstr>
      <vt:lpstr>Algoritmos e Linguagens de Programação Prof. Dr. Paulo Cesar de Alvarenga Lucci  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Algoritmos e Linguagens de Programação Prof. Dr. Paulo Cesar de Alvarenga Lucci  Linguagem C</vt:lpstr>
      <vt:lpstr>Exercícios</vt:lpstr>
      <vt:lpstr>Exercícios</vt:lpstr>
      <vt:lpstr>Algoritmos e Linguagens de Programação Prof. Dr. Paulo Cesar de Alvarenga Lucci  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Algoritmos e Linguagens de Programação Prof. Dr. Paulo Cesar de Alvarenga Lucci  Linguagem C</vt:lpstr>
      <vt:lpstr>Exercícios</vt:lpstr>
      <vt:lpstr>Exercícios</vt:lpstr>
      <vt:lpstr>Exercícios</vt:lpstr>
      <vt:lpstr>Algoritmos e Linguagens de Programação Prof. Dr. Paulo Cesar de Alvarenga Lucci  Loops</vt:lpstr>
      <vt:lpstr>Loops</vt:lpstr>
      <vt:lpstr>Loops</vt:lpstr>
      <vt:lpstr>Loops</vt:lpstr>
      <vt:lpstr>Loops</vt:lpstr>
      <vt:lpstr>Loops</vt:lpstr>
      <vt:lpstr>Loops</vt:lpstr>
      <vt:lpstr>Loops</vt:lpstr>
      <vt:lpstr>Loops</vt:lpstr>
      <vt:lpstr>Algoritmos e Linguagens de Programação Prof. Dr. Paulo Cesar de Alvarenga Lucci  Loops</vt:lpstr>
      <vt:lpstr>Exercícios</vt:lpstr>
      <vt:lpstr>Exercícios</vt:lpstr>
      <vt:lpstr>Exercícios</vt:lpstr>
      <vt:lpstr>Exercícios</vt:lpstr>
      <vt:lpstr>Exercícios</vt:lpstr>
      <vt:lpstr>Algoritmos e Linguagens de Programação Prof. Dr. Paulo Cesar de Alvarenga Lucci  Vetores</vt:lpstr>
      <vt:lpstr>Vetores</vt:lpstr>
      <vt:lpstr>Vetores</vt:lpstr>
      <vt:lpstr>Vetores</vt:lpstr>
      <vt:lpstr>Vetores</vt:lpstr>
      <vt:lpstr>Vetores</vt:lpstr>
      <vt:lpstr>Vetores</vt:lpstr>
      <vt:lpstr>Vetores</vt:lpstr>
      <vt:lpstr>Vetores</vt:lpstr>
      <vt:lpstr>Algoritmos e Linguagens de Programação Prof. Dr. Paulo Cesar de Alvarenga Lucci  Vetores</vt:lpstr>
      <vt:lpstr>Exercícios</vt:lpstr>
      <vt:lpstr>Exercícios</vt:lpstr>
      <vt:lpstr>Algoritmos e Linguagens de Programação Prof. Dr. Paulo Cesar de Alvarenga Lucci  Matrizes</vt:lpstr>
      <vt:lpstr>Matrizes</vt:lpstr>
      <vt:lpstr>Matrizes</vt:lpstr>
      <vt:lpstr>Matrizes</vt:lpstr>
      <vt:lpstr>Matrizes</vt:lpstr>
      <vt:lpstr>Matrizes</vt:lpstr>
      <vt:lpstr>Matrizes</vt:lpstr>
      <vt:lpstr>Matrizes</vt:lpstr>
      <vt:lpstr>Matrizes</vt:lpstr>
      <vt:lpstr>Matrizes</vt:lpstr>
      <vt:lpstr>Algoritmos e Linguagens de Programação Prof. Dr. Paulo Cesar de Alvarenga Lucci  Matrizes</vt:lpstr>
      <vt:lpstr>Exercícios</vt:lpstr>
      <vt:lpstr>Exercícios</vt:lpstr>
      <vt:lpstr>Algoritmos e Linguagens de Programação Prof. Dr. Paulo Cesar de Alvarenga Lucci  Strings</vt:lpstr>
      <vt:lpstr>Strings</vt:lpstr>
      <vt:lpstr>Strings</vt:lpstr>
      <vt:lpstr>Strings</vt:lpstr>
      <vt:lpstr>Strings</vt:lpstr>
      <vt:lpstr>Strings</vt:lpstr>
      <vt:lpstr>Strings</vt:lpstr>
      <vt:lpstr>Algoritmos e Linguagens de Programação Prof. Dr. Paulo Cesar de Alvarenga Lucci  Strings</vt:lpstr>
      <vt:lpstr>Exercícios</vt:lpstr>
      <vt:lpstr>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Yasin Arafat</dc:creator>
  <cp:lastModifiedBy>Cesar Lucci</cp:lastModifiedBy>
  <cp:revision>101</cp:revision>
  <dcterms:created xsi:type="dcterms:W3CDTF">2024-05-23T06:52:39Z</dcterms:created>
  <dcterms:modified xsi:type="dcterms:W3CDTF">2025-08-06T07:34:47Z</dcterms:modified>
</cp:coreProperties>
</file>