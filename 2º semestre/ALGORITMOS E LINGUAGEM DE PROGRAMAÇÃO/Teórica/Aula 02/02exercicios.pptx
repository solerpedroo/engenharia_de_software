
<file path=[Content_Types].xml><?xml version="1.0" encoding="utf-8"?>
<Types xmlns="http://schemas.openxmlformats.org/package/2006/content-types">
  <Default Extension="xml" ContentType="application/vnd.openxmlformats-officedocument.extended-properties+xml"/>
  <Default Extension="rels" ContentType="application/vnd.openxmlformats-package.relationship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s/slide53.xml" ContentType="application/vnd.openxmlformats-officedocument.presentationml.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5.xml" ContentType="application/vnd.openxmlformats-officedocument.presentationml.slideLayout+xml"/>
  <Override PartName="/ppt/slides/slide54.xml" ContentType="application/vnd.openxmlformats-officedocument.presentationml.slide+xml"/>
  <Override PartName="/ppt/tableStyles.xml" ContentType="application/vnd.openxmlformats-officedocument.presentationml.tableStyles+xml"/>
  <Override PartName="/ppt/slides/slide5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/docProps/app.xml" Id="rId3" /><Relationship Type="http://schemas.openxmlformats.org/package/2006/relationships/metadata/core-properties" Target="/docProps/core.xml" Id="rId2" /><Relationship Type="http://schemas.openxmlformats.org/officeDocument/2006/relationships/officeDocument" Target="/ppt/presentation.xml" Id="rId1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7"/>
  </p:notesMasterIdLst>
  <p:sldIdLst>
    <p:sldId id="314" r:id="rId54"/>
    <p:sldId id="315" r:id="rId55"/>
    <p:sldId id="316" r:id="rId5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72" autoAdjust="0"/>
    <p:restoredTop sz="92615" autoAdjust="0"/>
  </p:normalViewPr>
  <p:slideViewPr>
    <p:cSldViewPr snapToGrid="0">
      <p:cViewPr varScale="1">
        <p:scale>
          <a:sx n="99" d="100"/>
          <a:sy n="99" d="100"/>
        </p:scale>
        <p:origin x="1218" y="7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128" /><Relationship Type="http://schemas.openxmlformats.org/officeDocument/2006/relationships/viewProps" Target="/ppt/viewProps.xml" Id="rId129" /><Relationship Type="http://schemas.openxmlformats.org/officeDocument/2006/relationships/slide" Target="/ppt/slides/slide53.xml" Id="rId54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130" /><Relationship Type="http://schemas.openxmlformats.org/officeDocument/2006/relationships/slide" Target="/ppt/slides/slide54.xml" Id="rId55" /><Relationship Type="http://schemas.openxmlformats.org/officeDocument/2006/relationships/tableStyles" Target="/ppt/tableStyles.xml" Id="rId131" /><Relationship Type="http://schemas.openxmlformats.org/officeDocument/2006/relationships/slide" Target="/ppt/slides/slide55.xml" Id="rId56" /><Relationship Type="http://schemas.openxmlformats.org/officeDocument/2006/relationships/notesMaster" Target="/ppt/notesMasters/notesMaster1.xml" Id="rId1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53.xml" Id="rId2" /><Relationship Type="http://schemas.openxmlformats.org/officeDocument/2006/relationships/notesMaster" Target="/ppt/notesMasters/notesMaster1.xml" Id="rId1" 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41B2-6D24-C85E-41B0-069A594984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625" y="2672394"/>
            <a:ext cx="10424532" cy="418560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Disciplina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Título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948CD5-BAAB-00C0-E2AB-BB06808349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624" y="1996751"/>
            <a:ext cx="10508600" cy="590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err="1">
                <a:solidFill>
                  <a:srgbClr val="FF6600"/>
                </a:solidFill>
              </a:rPr>
              <a:t>Faculdade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F87665-2B38-32D5-5C08-E3F93CB4CCB5}"/>
              </a:ext>
            </a:extLst>
          </p:cNvPr>
          <p:cNvSpPr/>
          <p:nvPr userDrawn="1"/>
        </p:nvSpPr>
        <p:spPr>
          <a:xfrm flipV="1">
            <a:off x="98322" y="1056440"/>
            <a:ext cx="11387433" cy="5704366"/>
          </a:xfrm>
          <a:prstGeom prst="roundRect">
            <a:avLst>
              <a:gd name="adj" fmla="val 3256"/>
            </a:avLst>
          </a:prstGeom>
          <a:solidFill>
            <a:schemeClr val="bg1">
              <a:lumMod val="95000"/>
            </a:schemeClr>
          </a:solidFill>
          <a:ln w="317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BB241D-DF81-835E-2D67-F6837114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3" y="97194"/>
            <a:ext cx="11591925" cy="869594"/>
          </a:xfrm>
        </p:spPr>
        <p:txBody>
          <a:bodyPr>
            <a:noAutofit/>
          </a:bodyPr>
          <a:lstStyle>
            <a:lvl1pPr>
              <a:defRPr sz="3600">
                <a:solidFill>
                  <a:srgbClr val="66FF3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CCECFD-6308-0021-7A87-69C4BBF5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10890590" cy="5801557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800">
                <a:solidFill>
                  <a:srgbClr val="FF0000"/>
                </a:solidFill>
                <a:latin typeface="Poppins" pitchFamily="2" charset="77"/>
                <a:cs typeface="Poppins" pitchFamily="2" charset="77"/>
              </a:defRPr>
            </a:lvl1pPr>
            <a:lvl2pPr marL="895335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7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50492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6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2114504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5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724089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Id2" /><Relationship Type="http://schemas.openxmlformats.org/officeDocument/2006/relationships/theme" Target="/ppt/theme/theme1.xml" Id="rId6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a16="http://schemas.microsoft.com/office/drawing/2014/main" xmlns:p14="http://schemas.microsoft.com/office/powerpoint/2010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accent6"/>
            </a:gs>
            <a:gs pos="26000">
              <a:schemeClr val="accent4"/>
            </a:gs>
            <a:gs pos="96000">
              <a:schemeClr val="accent1"/>
            </a:gs>
            <a:gs pos="54000">
              <a:schemeClr val="accent1"/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2"/>
    <p:sldLayoutId id="2147483667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53.xml.rels>&#65279;<?xml version="1.0" encoding="utf-8"?><Relationships xmlns="http://schemas.openxmlformats.org/package/2006/relationships"><Relationship Type="http://schemas.openxmlformats.org/officeDocument/2006/relationships/notesSlide" Target="/ppt/notesSlides/notesSlide11.xml" Id="rId2" /><Relationship Type="http://schemas.openxmlformats.org/officeDocument/2006/relationships/slideLayout" Target="/ppt/slideLayouts/slideLayout2.xml" Id="rId1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Id1" /></Relationships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dirty="0" err="1"/>
              <a:t>Algoritmos</a:t>
            </a:r>
            <a:r>
              <a:rPr lang="en-US" dirty="0"/>
              <a:t> e </a:t>
            </a:r>
            <a:r>
              <a:rPr lang="en-US" dirty="0" err="1"/>
              <a:t>Linguagens</a:t>
            </a:r>
            <a:r>
              <a:rPr lang="en-US" dirty="0"/>
              <a:t> de </a:t>
            </a:r>
            <a:r>
              <a:rPr lang="en-US" dirty="0" err="1"/>
              <a:t>Programação</a:t>
            </a:r>
            <a:br>
              <a:rPr lang="en-US" dirty="0"/>
            </a:b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Prof. Dr. Paulo Cesar de Alvarenga Lucci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Linguagem</a:t>
            </a: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 C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66FD4-6C1B-4401-8F47-FEB0342D252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6775" y="2838600"/>
            <a:ext cx="10508600" cy="590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6600"/>
                </a:solidFill>
              </a:rPr>
              <a:t>Engenharia</a:t>
            </a:r>
            <a:r>
              <a:rPr lang="en-US" dirty="0">
                <a:solidFill>
                  <a:srgbClr val="FF6600"/>
                </a:solidFill>
              </a:rPr>
              <a:t> de Software – PUC Campinas</a:t>
            </a: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1) </a:t>
            </a:r>
            <a:r>
              <a:rPr lang="pt-BR" dirty="0">
                <a:solidFill>
                  <a:schemeClr val="tx1"/>
                </a:solidFill>
              </a:rPr>
              <a:t>A partir de duas variáveis do tipo </a:t>
            </a:r>
            <a:r>
              <a:rPr lang="pt-BR" dirty="0" err="1">
                <a:solidFill>
                  <a:schemeClr val="tx1"/>
                </a:solidFill>
              </a:rPr>
              <a:t>int</a:t>
            </a:r>
            <a:r>
              <a:rPr lang="pt-BR" dirty="0">
                <a:solidFill>
                  <a:schemeClr val="tx1"/>
                </a:solidFill>
              </a:rPr>
              <a:t>: A=5 e B=13, como poderíamos trocar o valor dessas variáveis, ou seja, A=13 e B=5? Essa troca de valores chamamos de SWAP.</a:t>
            </a:r>
          </a:p>
          <a:p>
            <a:pPr lvl="1"/>
            <a:r>
              <a:rPr lang="pt-BR" sz="1200" dirty="0"/>
              <a:t>Dica:</a:t>
            </a:r>
          </a:p>
          <a:p>
            <a:pPr lvl="2"/>
            <a:r>
              <a:rPr lang="pt-BR" sz="1100" dirty="0"/>
              <a:t>Se fizer A = B, e depois B =A, terminaremos com A = 13 e B = 13 (pense um pouco).</a:t>
            </a:r>
          </a:p>
          <a:p>
            <a:pPr lvl="2"/>
            <a:r>
              <a:rPr lang="pt-BR" sz="1100" dirty="0"/>
              <a:t>Por isso, faça uso de uma variável temporária que guarde o valor de A.</a:t>
            </a:r>
          </a:p>
          <a:p>
            <a:r>
              <a:rPr lang="pt-BR" dirty="0"/>
              <a:t>2) </a:t>
            </a:r>
            <a:r>
              <a:rPr lang="pt-BR" dirty="0">
                <a:solidFill>
                  <a:schemeClr val="tx1"/>
                </a:solidFill>
              </a:rPr>
              <a:t>Faça um programa para receber um número inteiro representando segundos e imprimir a quantidade correspondente em horas, minutos e segundos.</a:t>
            </a:r>
          </a:p>
          <a:p>
            <a:pPr lvl="1"/>
            <a:r>
              <a:rPr lang="pt-BR" sz="1200" dirty="0"/>
              <a:t>Dica:</a:t>
            </a:r>
          </a:p>
          <a:p>
            <a:pPr lvl="2"/>
            <a:r>
              <a:rPr lang="pt-BR" sz="1100" dirty="0"/>
              <a:t>A quantidade de minutos de uma certa quantidade de segundos é a parte inteira da divisão segundos/60.</a:t>
            </a:r>
          </a:p>
          <a:p>
            <a:pPr lvl="3"/>
            <a:r>
              <a:rPr lang="pt-BR" sz="1000" dirty="0"/>
              <a:t>O resto dessa divisão será a quantidade de segundos que não totalizou minuto (menos que 60s).</a:t>
            </a:r>
          </a:p>
          <a:p>
            <a:pPr lvl="2"/>
            <a:r>
              <a:rPr lang="pt-BR" sz="1100" dirty="0"/>
              <a:t>Da mesma forma. A quantidade de horas de uma certa quantidade de minutos corresponde à parte inteira da divisão minutos/60.</a:t>
            </a:r>
          </a:p>
          <a:p>
            <a:pPr lvl="3"/>
            <a:r>
              <a:rPr lang="pt-BR" sz="1000" dirty="0"/>
              <a:t>O resto dessa divisão será a quantidade de minutos que não totalizou hora (menos que 60min). </a:t>
            </a:r>
          </a:p>
          <a:p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5014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9F82B3-6C62-E9C3-2C81-B5D35391E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2AE07F-3F73-1DEC-403D-AB15A4F91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3) </a:t>
            </a:r>
            <a:r>
              <a:rPr lang="pt-BR" dirty="0">
                <a:solidFill>
                  <a:schemeClr val="tx1"/>
                </a:solidFill>
              </a:rPr>
              <a:t>Construir um programa que leia o salário mensal atual de um funcionário e o percentual de reajuste. Determine o valor do novo salário e imprima os valores lidos e o novo salário.</a:t>
            </a:r>
          </a:p>
          <a:p>
            <a:pPr lvl="1"/>
            <a:r>
              <a:rPr lang="pt-BR" sz="1200" dirty="0"/>
              <a:t>Dica:</a:t>
            </a:r>
          </a:p>
          <a:p>
            <a:pPr lvl="2"/>
            <a:r>
              <a:rPr lang="pt-BR" sz="1100" dirty="0"/>
              <a:t>O valor do novo salário corresponde ao </a:t>
            </a:r>
            <a:r>
              <a:rPr lang="pt-BR" sz="1100" dirty="0" err="1"/>
              <a:t>salario_inicial</a:t>
            </a:r>
            <a:r>
              <a:rPr lang="pt-BR" sz="1100" dirty="0"/>
              <a:t> * (1 + percentual / 100).</a:t>
            </a:r>
          </a:p>
          <a:p>
            <a:pPr lvl="2"/>
            <a:r>
              <a:rPr lang="pt-BR" sz="1100" dirty="0"/>
              <a:t>Lembre-se que para que esse código funcione corretamente, </a:t>
            </a:r>
            <a:r>
              <a:rPr lang="pt-BR" sz="1100" u="sng" dirty="0" err="1"/>
              <a:t>salario_inicial</a:t>
            </a:r>
            <a:r>
              <a:rPr lang="pt-BR" sz="1100" dirty="0"/>
              <a:t> e </a:t>
            </a:r>
            <a:r>
              <a:rPr lang="pt-BR" sz="1100" u="sng" dirty="0"/>
              <a:t>percentual</a:t>
            </a:r>
            <a:r>
              <a:rPr lang="pt-BR" sz="1100" dirty="0"/>
              <a:t> devem ser do tipo </a:t>
            </a:r>
            <a:r>
              <a:rPr lang="pt-BR" sz="1100" u="sng" dirty="0" err="1"/>
              <a:t>double</a:t>
            </a:r>
            <a:r>
              <a:rPr lang="pt-BR" sz="1100" dirty="0"/>
              <a:t>.</a:t>
            </a:r>
          </a:p>
          <a:p>
            <a:r>
              <a:rPr lang="pt-BR" dirty="0"/>
              <a:t>4) </a:t>
            </a:r>
            <a:r>
              <a:rPr lang="pt-BR" dirty="0">
                <a:solidFill>
                  <a:schemeClr val="tx1"/>
                </a:solidFill>
              </a:rPr>
              <a:t>O cálculo básico para estimar a gordura corporal é o Índice de Massa Corporal (IMC). É calculado dividindo o peso (em quilogramas) pela altura ao quadrado (em metros). Embora o IMC não meça diretamente a gordura corporal, ele é amplamente utilizado como uma ferramenta de triagem para avaliar se uma pessoa está abaixo do peso, com peso normal, com sobrepeso ou obesa. Faça um programa que leia o peso e altura de um indivíduo e imprima seu IMC.</a:t>
            </a:r>
          </a:p>
          <a:p>
            <a:pPr lvl="1"/>
            <a:r>
              <a:rPr lang="pt-BR" sz="1200" dirty="0"/>
              <a:t>Dica:</a:t>
            </a:r>
          </a:p>
          <a:p>
            <a:pPr lvl="2"/>
            <a:r>
              <a:rPr lang="pt-BR" sz="1100" dirty="0"/>
              <a:t>Lembre-se que para que esse código funcione corretamente, </a:t>
            </a:r>
            <a:r>
              <a:rPr lang="pt-BR" sz="1100" u="sng" dirty="0"/>
              <a:t>peso</a:t>
            </a:r>
            <a:r>
              <a:rPr lang="pt-BR" sz="1100" dirty="0"/>
              <a:t> e </a:t>
            </a:r>
            <a:r>
              <a:rPr lang="pt-BR" sz="1100" u="sng" dirty="0"/>
              <a:t>altura</a:t>
            </a:r>
            <a:r>
              <a:rPr lang="pt-BR" sz="1100" dirty="0"/>
              <a:t> devem ser do tipo </a:t>
            </a:r>
            <a:r>
              <a:rPr lang="pt-BR" sz="1100" u="sng" dirty="0" err="1"/>
              <a:t>double</a:t>
            </a:r>
            <a:r>
              <a:rPr lang="pt-BR" sz="1100" dirty="0"/>
              <a:t>.</a:t>
            </a:r>
          </a:p>
          <a:p>
            <a:endParaRPr lang="pt-BR" dirty="0">
              <a:solidFill>
                <a:schemeClr val="tx1"/>
              </a:solidFill>
            </a:endParaRPr>
          </a:p>
          <a:p>
            <a:endParaRPr lang="pt-B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238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rgbClr val="000000"/>
      </a:dk1>
      <a:lt1>
        <a:srgbClr val="FFFFFF"/>
      </a:lt1>
      <a:dk2>
        <a:srgbClr val="4B2D96"/>
      </a:dk2>
      <a:lt2>
        <a:srgbClr val="F8F8F8"/>
      </a:lt2>
      <a:accent1>
        <a:srgbClr val="120C26"/>
      </a:accent1>
      <a:accent2>
        <a:srgbClr val="1D1340"/>
      </a:accent2>
      <a:accent3>
        <a:srgbClr val="48358C"/>
      </a:accent3>
      <a:accent4>
        <a:srgbClr val="553FA6"/>
      </a:accent4>
      <a:accent5>
        <a:srgbClr val="A6768C"/>
      </a:accent5>
      <a:accent6>
        <a:srgbClr val="EFE4E8"/>
      </a:accent6>
      <a:hlink>
        <a:srgbClr val="A6768C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12000</Words>
  <Application>Microsoft Office PowerPoint</Application>
  <PresentationFormat>Widescreen</PresentationFormat>
  <Paragraphs>1257</Paragraphs>
  <Slides>125</Slides>
  <Notes>39</Notes>
  <HiddenSlides>0</HiddenSlides>
  <MMClips>0</MMClips>
  <ScaleCrop>false</ScaleCrop>
  <HeadingPairs>
    <vt:vector size="8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0</vt:i4>
      </vt:variant>
      <vt:variant>
        <vt:lpstr>Títulos de slides</vt:lpstr>
      </vt:variant>
      <vt:variant>
        <vt:i4>125</vt:i4>
      </vt:variant>
    </vt:vector>
  </HeadingPairs>
  <TitlesOfParts>
    <vt:vector size="134" baseType="lpstr">
      <vt:lpstr>Arial</vt:lpstr>
      <vt:lpstr>Arial Narrow</vt:lpstr>
      <vt:lpstr>Calibri</vt:lpstr>
      <vt:lpstr>Cambria Math</vt:lpstr>
      <vt:lpstr>Courier New</vt:lpstr>
      <vt:lpstr>Poppins</vt:lpstr>
      <vt:lpstr>Roboto</vt:lpstr>
      <vt:lpstr>Segoe UI</vt:lpstr>
      <vt:lpstr>Office Theme</vt:lpstr>
      <vt:lpstr>Algoritmos e Linguagens de Programação Prof. Dr. Paulo Cesar de Alvarenga Lucci  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Apresentação</vt:lpstr>
      <vt:lpstr>Algoritmos e Linguagens de Programação Prof. Dr. Paulo Cesar de Alvarenga Lucci  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Introdução</vt:lpstr>
      <vt:lpstr>Algoritmos</vt:lpstr>
      <vt:lpstr>Introdução</vt:lpstr>
      <vt:lpstr>Algoritmos</vt:lpstr>
      <vt:lpstr>Algoritmos</vt:lpstr>
      <vt:lpstr>Algoritmos</vt:lpstr>
      <vt:lpstr>Algoritmos</vt:lpstr>
      <vt:lpstr>Algoritmos</vt:lpstr>
      <vt:lpstr>Algoritmos e Linguagens de Programação Prof. Dr. Paulo Cesar de Alvarenga Lucci  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Linguagem C</vt:lpstr>
      <vt:lpstr>Algoritmos e Linguagens de Programação Prof. Dr. Paulo Cesar de Alvarenga Lucci  Linguagem C</vt:lpstr>
      <vt:lpstr>Exercícios</vt:lpstr>
      <vt:lpstr>Exercícios</vt:lpstr>
      <vt:lpstr>Algoritmos e Linguagens de Programação Prof. Dr. Paulo Cesar de Alvarenga Lucci  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Condicionais</vt:lpstr>
      <vt:lpstr>Algoritmos e Linguagens de Programação Prof. Dr. Paulo Cesar de Alvarenga Lucci  Linguagem C</vt:lpstr>
      <vt:lpstr>Exercícios</vt:lpstr>
      <vt:lpstr>Exercícios</vt:lpstr>
      <vt:lpstr>Exercícios</vt:lpstr>
      <vt:lpstr>Algoritmos e Linguagens de Programação Prof. Dr. Paulo Cesar de Alvarenga Lucci  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  <vt:lpstr>Algoritmos e Linguagens de Programação Prof. Dr. Paulo Cesar de Alvarenga Lucci  Loops</vt:lpstr>
      <vt:lpstr>Exercícios</vt:lpstr>
      <vt:lpstr>Exercícios</vt:lpstr>
      <vt:lpstr>Exercícios</vt:lpstr>
      <vt:lpstr>Exercícios</vt:lpstr>
      <vt:lpstr>Exercícios</vt:lpstr>
      <vt:lpstr>Algoritmos e Linguagens de Programação Prof. Dr. Paulo Cesar de Alvarenga Lucci  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Vetores</vt:lpstr>
      <vt:lpstr>Algoritmos e Linguagens de Programação Prof. Dr. Paulo Cesar de Alvarenga Lucci  Vetores</vt:lpstr>
      <vt:lpstr>Exercícios</vt:lpstr>
      <vt:lpstr>Exercícios</vt:lpstr>
      <vt:lpstr>Algoritmos e Linguagens de Programação Prof. Dr. Paulo Cesar de Alvarenga Lucci  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Matrizes</vt:lpstr>
      <vt:lpstr>Algoritmos e Linguagens de Programação Prof. Dr. Paulo Cesar de Alvarenga Lucci  Matrizes</vt:lpstr>
      <vt:lpstr>Exercícios</vt:lpstr>
      <vt:lpstr>Exercícios</vt:lpstr>
      <vt:lpstr>Algoritmos e Linguagens de Programação Prof. Dr. Paulo Cesar de Alvarenga Lucci  Strings</vt:lpstr>
      <vt:lpstr>Strings</vt:lpstr>
      <vt:lpstr>Strings</vt:lpstr>
      <vt:lpstr>Strings</vt:lpstr>
      <vt:lpstr>Strings</vt:lpstr>
      <vt:lpstr>Strings</vt:lpstr>
      <vt:lpstr>Strings</vt:lpstr>
      <vt:lpstr>Algoritmos e Linguagens de Programação Prof. Dr. Paulo Cesar de Alvarenga Lucci  Strings</vt:lpstr>
      <vt:lpstr>Exercícios</vt:lpstr>
      <vt:lpstr>Exercícios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Yasin Arafat</dc:creator>
  <cp:lastModifiedBy>Cesar Lucci</cp:lastModifiedBy>
  <cp:revision>101</cp:revision>
  <dcterms:created xsi:type="dcterms:W3CDTF">2024-05-23T06:52:39Z</dcterms:created>
  <dcterms:modified xsi:type="dcterms:W3CDTF">2025-08-06T07:34:47Z</dcterms:modified>
</cp:coreProperties>
</file>