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png" ContentType="image/png"/>
  <Default Extension="rels" ContentType="application/vnd.openxmlformats-package.relationshi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Id3" /><Relationship Type="http://schemas.openxmlformats.org/package/2006/relationships/metadata/core-properties" Target="/docProps/core.xml" Id="rId2" /><Relationship Type="http://schemas.openxmlformats.org/officeDocument/2006/relationships/officeDocument" Target="/ppt/presentation.xml" Id="rId1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2" autoAdjust="0"/>
    <p:restoredTop sz="92615" autoAdjust="0"/>
  </p:normalViewPr>
  <p:slideViewPr>
    <p:cSldViewPr snapToGrid="0">
      <p:cViewPr varScale="1">
        <p:scale>
          <a:sx n="99" d="100"/>
          <a:sy n="99" d="100"/>
        </p:scale>
        <p:origin x="121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Id128" /><Relationship Type="http://schemas.openxmlformats.org/officeDocument/2006/relationships/slide" Target="/ppt/slides/slide4.xml" Id="rId5" /><Relationship Type="http://schemas.openxmlformats.org/officeDocument/2006/relationships/viewProps" Target="/ppt/viewProps.xml" Id="rId129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6" /><Relationship Type="http://schemas.openxmlformats.org/officeDocument/2006/relationships/theme" Target="/ppt/theme/theme1.xml" Id="rId130" /><Relationship Type="http://schemas.openxmlformats.org/officeDocument/2006/relationships/slide" Target="/ppt/slides/slide6.xml" Id="rId7" /><Relationship Type="http://schemas.openxmlformats.org/officeDocument/2006/relationships/slide" Target="/ppt/slides/slide1.xml" Id="rId2" /><Relationship Type="http://schemas.openxmlformats.org/officeDocument/2006/relationships/tableStyles" Target="/ppt/tableStyles.xml" Id="rId131" /><Relationship Type="http://schemas.openxmlformats.org/officeDocument/2006/relationships/slide" Target="/ppt/slides/slide7.xml" Id="rId8" /><Relationship Type="http://schemas.openxmlformats.org/officeDocument/2006/relationships/slide" Target="/ppt/slides/slide2.xml" Id="rId3" /><Relationship Type="http://schemas.openxmlformats.org/officeDocument/2006/relationships/notesMaster" Target="/ppt/notesMasters/notesMaster1.xml" Id="rId127" /><Relationship Type="http://schemas.openxmlformats.org/officeDocument/2006/relationships/slide" Target="/ppt/slides/slide3.xml" Id="rId4" /><Relationship Type="http://schemas.openxmlformats.org/officeDocument/2006/relationships/slide" Target="/ppt/slides/slide8.xml" Id="rI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45D65-A921-BD45-A74E-FDD6A94C7828}" type="datetimeFigureOut">
              <a:rPr lang="en-US"/>
              <a:t>8/6/2025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DA7C62-858D-9C4B-9AE8-88FCCBB43389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79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44815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AF87665-2B38-32D5-5C08-E3F93CB4CCB5}"/>
              </a:ext>
            </a:extLst>
          </p:cNvPr>
          <p:cNvSpPr/>
          <p:nvPr userDrawn="1"/>
        </p:nvSpPr>
        <p:spPr>
          <a:xfrm flipV="1">
            <a:off x="98323" y="1056437"/>
            <a:ext cx="11087540" cy="5704365"/>
          </a:xfrm>
          <a:prstGeom prst="roundRect">
            <a:avLst>
              <a:gd name="adj" fmla="val 3256"/>
            </a:avLst>
          </a:prstGeom>
          <a:solidFill>
            <a:schemeClr val="bg1">
              <a:lumMod val="95000"/>
            </a:schemeClr>
          </a:solidFill>
          <a:ln w="317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BBB241D-DF81-835E-2D67-F68371147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3" y="97194"/>
            <a:ext cx="11591925" cy="869594"/>
          </a:xfrm>
        </p:spPr>
        <p:txBody>
          <a:bodyPr>
            <a:noAutofit/>
          </a:bodyPr>
          <a:lstStyle>
            <a:lvl1pPr>
              <a:defRPr sz="3600">
                <a:solidFill>
                  <a:srgbClr val="66FF33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CCECFD-6308-0021-7A87-69C4BBF57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800">
                <a:solidFill>
                  <a:srgbClr val="FF0000"/>
                </a:solidFill>
                <a:latin typeface="Poppins" pitchFamily="2" charset="77"/>
                <a:cs typeface="Poppins" pitchFamily="2" charset="77"/>
              </a:defRPr>
            </a:lvl1pPr>
            <a:lvl2pPr marL="895335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7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1504920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6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3pPr>
            <a:lvl4pPr marL="2114504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5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4pPr>
            <a:lvl5pPr marL="2724089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4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5393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441B2-6D24-C85E-41B0-069A594984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625" y="2672394"/>
            <a:ext cx="10424532" cy="418560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Disciplina</a:t>
            </a:r>
            <a:br>
              <a:rPr lang="en-US" dirty="0"/>
            </a:br>
            <a:br>
              <a:rPr lang="en-US" dirty="0"/>
            </a:br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Título</a:t>
            </a:r>
            <a:endParaRPr lang="en-US" dirty="0">
              <a:solidFill>
                <a:srgbClr val="66FF33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9948CD5-BAAB-00C0-E2AB-BB06808349C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624" y="1996751"/>
            <a:ext cx="10508600" cy="590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err="1">
                <a:solidFill>
                  <a:srgbClr val="FF6600"/>
                </a:solidFill>
              </a:rPr>
              <a:t>Faculdade</a:t>
            </a:r>
            <a:endParaRPr lang="en-US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759944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Id6" /></Relationships>
</file>

<file path=ppt/slideMasters/slideMaster1.xml><?xml version="1.0" encoding="utf-8"?>
<p:sldMaster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">
              <a:schemeClr val="accent6"/>
            </a:gs>
            <a:gs pos="26000">
              <a:schemeClr val="accent4"/>
            </a:gs>
            <a:gs pos="96000">
              <a:schemeClr val="accent1"/>
            </a:gs>
            <a:gs pos="54000">
              <a:schemeClr val="accent1"/>
            </a:gs>
          </a:gsLst>
          <a:lin ang="6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78E521-62AB-88F5-654A-026EBED2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7E2F2-56F5-188A-BC96-0E8873B1F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200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2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1.png" Id="rId2" /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DF6EF-72F7-5FC0-B815-1E1AE661D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625" y="2382253"/>
            <a:ext cx="10424532" cy="4475747"/>
          </a:xfrm>
        </p:spPr>
        <p:txBody>
          <a:bodyPr/>
          <a:lstStyle/>
          <a:p>
            <a:r>
              <a:rPr lang="en-US" dirty="0" err="1"/>
              <a:t>Algoritmos</a:t>
            </a:r>
            <a:r>
              <a:rPr lang="en-US" dirty="0"/>
              <a:t> e </a:t>
            </a:r>
            <a:r>
              <a:rPr lang="en-US" dirty="0" err="1"/>
              <a:t>Linguagens</a:t>
            </a:r>
            <a:r>
              <a:rPr lang="en-US" dirty="0"/>
              <a:t> de </a:t>
            </a:r>
            <a:r>
              <a:rPr lang="en-US" dirty="0" err="1"/>
              <a:t>Programação</a:t>
            </a:r>
            <a:br>
              <a:rPr lang="en-US" dirty="0"/>
            </a:br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Prof. Dr. Paulo Cesar de Alvarenga Lucci</a:t>
            </a:r>
            <a:br>
              <a:rPr lang="en-US" dirty="0"/>
            </a:br>
            <a:br>
              <a:rPr lang="en-US" dirty="0"/>
            </a:br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Apresentação</a:t>
            </a:r>
            <a:endParaRPr lang="en-US" dirty="0">
              <a:solidFill>
                <a:srgbClr val="66FF33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66FD4-6C1B-4401-8F47-FEB0342D252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866775" y="2838600"/>
            <a:ext cx="10508600" cy="59040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FF6600"/>
                </a:solidFill>
              </a:rPr>
              <a:t>Engenharia</a:t>
            </a:r>
            <a:r>
              <a:rPr lang="en-US" dirty="0">
                <a:solidFill>
                  <a:srgbClr val="FF6600"/>
                </a:solidFill>
              </a:rPr>
              <a:t> de Software – PUC Campinas</a:t>
            </a:r>
          </a:p>
        </p:txBody>
      </p:sp>
    </p:spTree>
    <p:extLst>
      <p:ext uri="{BB962C8B-B14F-4D97-AF65-F5344CB8AC3E}">
        <p14:creationId xmlns:p14="http://schemas.microsoft.com/office/powerpoint/2010/main" val="1442525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73871F-8822-F11E-1427-340A42BF4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Apresentação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1D66A7-B663-6000-EF9A-D456157E8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2"/>
            <a:ext cx="10890590" cy="5704363"/>
          </a:xfrm>
        </p:spPr>
        <p:txBody>
          <a:bodyPr>
            <a:normAutofit/>
          </a:bodyPr>
          <a:lstStyle/>
          <a:p>
            <a:r>
              <a:rPr lang="pt-BR" dirty="0"/>
              <a:t>Estuda representações de problemas em algoritmos e  linguagem de programação C.</a:t>
            </a:r>
          </a:p>
          <a:p>
            <a:r>
              <a:rPr lang="pt-BR" dirty="0"/>
              <a:t>Aprofunda conceitos básicos de programação:  alocação de variáveis, estruturas de decisão e iteração,  funções e alocação dinâmica de memória.</a:t>
            </a:r>
          </a:p>
          <a:p>
            <a:r>
              <a:rPr lang="pt-BR" dirty="0"/>
              <a:t>Conteúdo: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7C186E14-C60F-A6F5-E10A-6BB3A3FC458C}"/>
              </a:ext>
            </a:extLst>
          </p:cNvPr>
          <p:cNvSpPr txBox="1">
            <a:spLocks/>
          </p:cNvSpPr>
          <p:nvPr/>
        </p:nvSpPr>
        <p:spPr>
          <a:xfrm>
            <a:off x="295273" y="3006924"/>
            <a:ext cx="10890590" cy="3052913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>
            <a:lvl1pPr marL="285750" indent="-28575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Poppins" pitchFamily="2" charset="77"/>
                <a:ea typeface="Roboto" panose="02000000000000000000" pitchFamily="2" charset="0"/>
                <a:cs typeface="Poppins" pitchFamily="2" charset="77"/>
              </a:defRPr>
            </a:lvl1pPr>
            <a:lvl2pPr marL="895335" indent="-28575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504920" indent="-28575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500" kern="1200">
                <a:solidFill>
                  <a:schemeClr val="bg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2114504" indent="-28575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724089" indent="-28575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300" kern="1200">
                <a:solidFill>
                  <a:schemeClr val="bg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pt-BR" dirty="0">
                <a:solidFill>
                  <a:schemeClr val="tx1"/>
                </a:solidFill>
              </a:rPr>
              <a:t>Linguagem C.</a:t>
            </a:r>
          </a:p>
          <a:p>
            <a:pPr lvl="1"/>
            <a:r>
              <a:rPr lang="pt-BR" dirty="0">
                <a:solidFill>
                  <a:schemeClr val="tx1"/>
                </a:solidFill>
              </a:rPr>
              <a:t>Algoritmos.</a:t>
            </a:r>
          </a:p>
          <a:p>
            <a:pPr lvl="1"/>
            <a:r>
              <a:rPr lang="pt-BR" dirty="0">
                <a:solidFill>
                  <a:schemeClr val="tx1"/>
                </a:solidFill>
              </a:rPr>
              <a:t>Variáveis.</a:t>
            </a:r>
          </a:p>
          <a:p>
            <a:pPr lvl="1"/>
            <a:r>
              <a:rPr lang="pt-BR" dirty="0">
                <a:solidFill>
                  <a:schemeClr val="tx1"/>
                </a:solidFill>
              </a:rPr>
              <a:t>Condicionais.</a:t>
            </a:r>
          </a:p>
          <a:p>
            <a:pPr lvl="1"/>
            <a:r>
              <a:rPr lang="pt-BR" dirty="0">
                <a:solidFill>
                  <a:schemeClr val="tx1"/>
                </a:solidFill>
              </a:rPr>
              <a:t>Loops.</a:t>
            </a:r>
          </a:p>
          <a:p>
            <a:pPr lvl="1"/>
            <a:r>
              <a:rPr lang="pt-BR" dirty="0">
                <a:solidFill>
                  <a:schemeClr val="tx1"/>
                </a:solidFill>
              </a:rPr>
              <a:t>Vetores.</a:t>
            </a:r>
          </a:p>
          <a:p>
            <a:pPr lvl="1"/>
            <a:r>
              <a:rPr lang="pt-BR" dirty="0">
                <a:solidFill>
                  <a:schemeClr val="tx1"/>
                </a:solidFill>
              </a:rPr>
              <a:t>Matrizes.</a:t>
            </a:r>
          </a:p>
          <a:p>
            <a:pPr lvl="1"/>
            <a:r>
              <a:rPr lang="pt-BR" dirty="0">
                <a:solidFill>
                  <a:schemeClr val="tx1"/>
                </a:solidFill>
              </a:rPr>
              <a:t>Strings.</a:t>
            </a:r>
          </a:p>
          <a:p>
            <a:pPr lvl="1"/>
            <a:r>
              <a:rPr lang="pt-BR" dirty="0">
                <a:solidFill>
                  <a:schemeClr val="tx1"/>
                </a:solidFill>
              </a:rPr>
              <a:t>Ponteiros.</a:t>
            </a:r>
          </a:p>
          <a:p>
            <a:pPr lvl="1"/>
            <a:r>
              <a:rPr lang="pt-BR" dirty="0">
                <a:solidFill>
                  <a:schemeClr val="tx1"/>
                </a:solidFill>
              </a:rPr>
              <a:t>Funções.</a:t>
            </a:r>
          </a:p>
          <a:p>
            <a:pPr lvl="1"/>
            <a:r>
              <a:rPr lang="pt-BR" dirty="0" err="1">
                <a:solidFill>
                  <a:schemeClr val="tx1"/>
                </a:solidFill>
              </a:rPr>
              <a:t>Structs</a:t>
            </a:r>
            <a:r>
              <a:rPr lang="pt-BR" dirty="0">
                <a:solidFill>
                  <a:schemeClr val="tx1"/>
                </a:solidFill>
              </a:rPr>
              <a:t>.</a:t>
            </a:r>
          </a:p>
          <a:p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C04229E6-EE17-72A9-71A2-87ECAC55F12C}"/>
              </a:ext>
            </a:extLst>
          </p:cNvPr>
          <p:cNvCxnSpPr>
            <a:cxnSpLocks/>
          </p:cNvCxnSpPr>
          <p:nvPr/>
        </p:nvCxnSpPr>
        <p:spPr>
          <a:xfrm>
            <a:off x="4485378" y="3181394"/>
            <a:ext cx="0" cy="27742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have Esquerda 10">
            <a:extLst>
              <a:ext uri="{FF2B5EF4-FFF2-40B4-BE49-F238E27FC236}">
                <a16:creationId xmlns:a16="http://schemas.microsoft.com/office/drawing/2014/main" id="{F7268C78-A173-3DB4-08A3-B4A842DB6D46}"/>
              </a:ext>
            </a:extLst>
          </p:cNvPr>
          <p:cNvSpPr/>
          <p:nvPr/>
        </p:nvSpPr>
        <p:spPr>
          <a:xfrm rot="16200000">
            <a:off x="2014029" y="4776629"/>
            <a:ext cx="372979" cy="2745721"/>
          </a:xfrm>
          <a:prstGeom prst="leftBrac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F6600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DE5B7D7-F138-5BDC-1E93-FDA924CC24EC}"/>
              </a:ext>
            </a:extLst>
          </p:cNvPr>
          <p:cNvSpPr txBox="1"/>
          <p:nvPr/>
        </p:nvSpPr>
        <p:spPr>
          <a:xfrm>
            <a:off x="884765" y="6363726"/>
            <a:ext cx="2616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Matéria da P1 Teórica</a:t>
            </a:r>
          </a:p>
        </p:txBody>
      </p:sp>
      <p:sp>
        <p:nvSpPr>
          <p:cNvPr id="13" name="Chave Esquerda 12">
            <a:extLst>
              <a:ext uri="{FF2B5EF4-FFF2-40B4-BE49-F238E27FC236}">
                <a16:creationId xmlns:a16="http://schemas.microsoft.com/office/drawing/2014/main" id="{BB10ED34-BDF3-9C1C-BCB5-D02736583E3C}"/>
              </a:ext>
            </a:extLst>
          </p:cNvPr>
          <p:cNvSpPr/>
          <p:nvPr/>
        </p:nvSpPr>
        <p:spPr>
          <a:xfrm rot="16200000">
            <a:off x="6957387" y="4769261"/>
            <a:ext cx="372979" cy="2745721"/>
          </a:xfrm>
          <a:prstGeom prst="leftBrac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F6600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F78E96B-3C10-1E89-77C0-CB1632DBA373}"/>
              </a:ext>
            </a:extLst>
          </p:cNvPr>
          <p:cNvSpPr txBox="1"/>
          <p:nvPr/>
        </p:nvSpPr>
        <p:spPr>
          <a:xfrm>
            <a:off x="5811262" y="6344362"/>
            <a:ext cx="2675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FF660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pt-BR" dirty="0">
                <a:solidFill>
                  <a:srgbClr val="FF0000"/>
                </a:solidFill>
              </a:rPr>
              <a:t>Matéria da P2 Teórica</a:t>
            </a:r>
          </a:p>
        </p:txBody>
      </p:sp>
    </p:spTree>
    <p:extLst>
      <p:ext uri="{BB962C8B-B14F-4D97-AF65-F5344CB8AC3E}">
        <p14:creationId xmlns:p14="http://schemas.microsoft.com/office/powerpoint/2010/main" val="1985876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F5ED59-D9A5-D33C-DA2A-45D654B6C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Apresentação</a:t>
            </a:r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A34D981-FB0C-7359-517F-E0C379FD11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numCol="2">
                <a:normAutofit/>
              </a:bodyPr>
              <a:lstStyle/>
              <a:p>
                <a:r>
                  <a:rPr lang="pt-BR" dirty="0"/>
                  <a:t>CRITÉRIO DE AVALIAÇÃO:</a:t>
                </a:r>
              </a:p>
              <a:p>
                <a:pPr lvl="1"/>
                <a:r>
                  <a:rPr lang="pt-BR" dirty="0"/>
                  <a:t>TEÓRICA:</a:t>
                </a:r>
              </a:p>
              <a:p>
                <a:pPr lvl="2"/>
                <a:r>
                  <a:rPr lang="pt-BR" dirty="0"/>
                  <a:t>P1: 05/09/25</a:t>
                </a:r>
              </a:p>
              <a:p>
                <a:pPr lvl="2"/>
                <a:r>
                  <a:rPr lang="pt-BR" dirty="0"/>
                  <a:t>P2: 29/09/25</a:t>
                </a:r>
              </a:p>
              <a:p>
                <a:pPr lvl="2"/>
                <a:r>
                  <a:rPr lang="pt-BR" dirty="0"/>
                  <a:t>Média Teórica: MT = 0,4.P1 + 0,6.P2</a:t>
                </a:r>
              </a:p>
              <a:p>
                <a:pPr lvl="1"/>
                <a:r>
                  <a:rPr lang="pt-BR" dirty="0"/>
                  <a:t>PRÁTICA</a:t>
                </a:r>
              </a:p>
              <a:p>
                <a:pPr lvl="2"/>
                <a:r>
                  <a:rPr lang="pt-BR" dirty="0"/>
                  <a:t>Trabalho individual: 27/11/25</a:t>
                </a:r>
              </a:p>
              <a:p>
                <a:pPr lvl="2"/>
                <a:r>
                  <a:rPr lang="pt-BR" dirty="0"/>
                  <a:t>Média Prática: MP = Nota do trabalho.</a:t>
                </a:r>
              </a:p>
              <a:p>
                <a:pPr lvl="2"/>
                <a:endParaRPr lang="pt-BR" dirty="0"/>
              </a:p>
              <a:p>
                <a:pPr lvl="2"/>
                <a:endParaRPr lang="pt-BR" dirty="0"/>
              </a:p>
              <a:p>
                <a:pPr lvl="2"/>
                <a:endParaRPr lang="pt-BR" dirty="0"/>
              </a:p>
              <a:p>
                <a:pPr lvl="2"/>
                <a:endParaRPr lang="pt-BR" sz="1500" b="1" dirty="0">
                  <a:solidFill>
                    <a:srgbClr val="66FF33"/>
                  </a:solidFill>
                </a:endParaRPr>
              </a:p>
              <a:p>
                <a:pPr lvl="1"/>
                <a:endParaRPr lang="pt-BR" dirty="0"/>
              </a:p>
              <a:p>
                <a:pPr lvl="1"/>
                <a:r>
                  <a:rPr lang="pt-BR" dirty="0"/>
                  <a:t>MÉDIA FINAL:</a:t>
                </a:r>
              </a:p>
              <a:p>
                <a:pPr lvl="2"/>
                <a:r>
                  <a:rPr lang="pt-BR" dirty="0"/>
                  <a:t>Se (MT </a:t>
                </a:r>
                <a14:m>
                  <m:oMath xmlns:m="http://schemas.openxmlformats.org/officeDocument/2006/math">
                    <m:r>
                      <a:rPr lang="pt-BR" b="0" i="1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pt-BR" dirty="0"/>
                  <a:t> 5,0)  e  (MP </a:t>
                </a:r>
                <a14:m>
                  <m:oMath xmlns:m="http://schemas.openxmlformats.org/officeDocument/2006/math">
                    <m:r>
                      <a:rPr lang="pt-BR" b="0" i="1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pt-BR" dirty="0"/>
                  <a:t> 5,0):</a:t>
                </a:r>
              </a:p>
              <a:p>
                <a:pPr marL="1219170" lvl="2" indent="0">
                  <a:buNone/>
                </a:pPr>
                <a:r>
                  <a:rPr lang="pt-BR" b="1" dirty="0">
                    <a:solidFill>
                      <a:srgbClr val="66FF33"/>
                    </a:solidFill>
                  </a:rPr>
                  <a:t>	</a:t>
                </a:r>
                <a:r>
                  <a:rPr lang="pt-BR" sz="1500" b="1" dirty="0">
                    <a:solidFill>
                      <a:srgbClr val="00B050"/>
                    </a:solidFill>
                  </a:rPr>
                  <a:t>MF = 0,1.</a:t>
                </a:r>
                <a:r>
                  <a:rPr lang="pt-BR" sz="1500" b="1" dirty="0">
                    <a:solidFill>
                      <a:srgbClr val="FF0000"/>
                    </a:solidFill>
                  </a:rPr>
                  <a:t>PI</a:t>
                </a:r>
                <a:r>
                  <a:rPr lang="pt-BR" sz="1500" b="1" dirty="0">
                    <a:solidFill>
                      <a:srgbClr val="00B050"/>
                    </a:solidFill>
                  </a:rPr>
                  <a:t> + 0,9.( 0,6.MT + 0,4.MP )</a:t>
                </a:r>
              </a:p>
              <a:p>
                <a:pPr lvl="2"/>
                <a:r>
                  <a:rPr lang="pt-BR" dirty="0"/>
                  <a:t>Caso contrário:</a:t>
                </a:r>
              </a:p>
              <a:p>
                <a:pPr marL="1219170" lvl="2" indent="0">
                  <a:buNone/>
                </a:pPr>
                <a:r>
                  <a:rPr lang="pt-BR" b="1" dirty="0">
                    <a:solidFill>
                      <a:srgbClr val="66FF33"/>
                    </a:solidFill>
                  </a:rPr>
                  <a:t>	</a:t>
                </a:r>
                <a:r>
                  <a:rPr lang="pt-BR" sz="1500" b="1" dirty="0">
                    <a:solidFill>
                      <a:srgbClr val="00B050"/>
                    </a:solidFill>
                  </a:rPr>
                  <a:t>MF = min(MT, MP)</a:t>
                </a:r>
              </a:p>
              <a:p>
                <a:pPr marL="1219170" lvl="2" indent="0">
                  <a:buNone/>
                </a:pPr>
                <a:endParaRPr lang="pt-BR" sz="1500" b="1" dirty="0">
                  <a:solidFill>
                    <a:srgbClr val="66FF33"/>
                  </a:solidFill>
                </a:endParaRPr>
              </a:p>
              <a:p>
                <a:pPr lvl="1"/>
                <a:r>
                  <a:rPr lang="pt-BR" sz="1800" dirty="0"/>
                  <a:t>CRITÉRIO DE APROVAÇÃO:</a:t>
                </a:r>
              </a:p>
              <a:p>
                <a:pPr lvl="2"/>
                <a:r>
                  <a:rPr lang="pt-BR" sz="1700" b="1" dirty="0">
                    <a:solidFill>
                      <a:srgbClr val="00B050"/>
                    </a:solidFill>
                  </a:rPr>
                  <a:t>MF </a:t>
                </a:r>
                <a14:m>
                  <m:oMath xmlns:m="http://schemas.openxmlformats.org/officeDocument/2006/math">
                    <m:r>
                      <a:rPr lang="pt-BR" sz="17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pt-BR" sz="1700" b="1" dirty="0">
                    <a:solidFill>
                      <a:srgbClr val="00B050"/>
                    </a:solidFill>
                  </a:rPr>
                  <a:t> 5,0</a:t>
                </a:r>
                <a:r>
                  <a:rPr lang="pt-BR" sz="1700" dirty="0">
                    <a:solidFill>
                      <a:srgbClr val="00B050"/>
                    </a:solidFill>
                  </a:rPr>
                  <a:t>   </a:t>
                </a:r>
                <a:r>
                  <a:rPr lang="pt-BR" sz="1700" dirty="0"/>
                  <a:t>e   </a:t>
                </a:r>
                <a:r>
                  <a:rPr lang="pt-BR" sz="1700" b="1" dirty="0">
                    <a:solidFill>
                      <a:srgbClr val="00B050"/>
                    </a:solidFill>
                  </a:rPr>
                  <a:t>frequência </a:t>
                </a:r>
                <a14:m>
                  <m:oMath xmlns:m="http://schemas.openxmlformats.org/officeDocument/2006/math">
                    <m:r>
                      <a:rPr lang="pt-BR" sz="17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pt-BR" sz="1700" b="1" dirty="0">
                    <a:solidFill>
                      <a:srgbClr val="00B050"/>
                    </a:solidFill>
                  </a:rPr>
                  <a:t> 75%</a:t>
                </a:r>
                <a:endParaRPr lang="pt-BR" sz="1700" b="1" dirty="0"/>
              </a:p>
              <a:p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A34D981-FB0C-7359-517F-E0C379FD11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9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>
            <a:extLst>
              <a:ext uri="{FF2B5EF4-FFF2-40B4-BE49-F238E27FC236}">
                <a16:creationId xmlns:a16="http://schemas.microsoft.com/office/drawing/2014/main" id="{4085102C-5547-FCC5-21A2-0E132B6B5B8E}"/>
              </a:ext>
            </a:extLst>
          </p:cNvPr>
          <p:cNvSpPr txBox="1"/>
          <p:nvPr/>
        </p:nvSpPr>
        <p:spPr>
          <a:xfrm>
            <a:off x="7483642" y="6364709"/>
            <a:ext cx="3294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Obs</a:t>
            </a:r>
            <a:r>
              <a:rPr lang="pt-BR" dirty="0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pt-BR" b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PI</a:t>
            </a:r>
            <a:r>
              <a:rPr lang="pt-BR" dirty="0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– Projeto Integrador</a:t>
            </a:r>
          </a:p>
        </p:txBody>
      </p:sp>
    </p:spTree>
    <p:extLst>
      <p:ext uri="{BB962C8B-B14F-4D97-AF65-F5344CB8AC3E}">
        <p14:creationId xmlns:p14="http://schemas.microsoft.com/office/powerpoint/2010/main" val="1119646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67709-F65F-5BC7-8AD3-FA76C0A5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Apresentação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83F45E-81E0-AA45-B232-3BEE6C837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AULAS TEÓRICAS:</a:t>
            </a:r>
          </a:p>
          <a:p>
            <a:pPr lvl="1"/>
            <a:r>
              <a:rPr lang="pt-BR" dirty="0"/>
              <a:t>Apresentação do conteúdo com exemplos.</a:t>
            </a:r>
          </a:p>
          <a:p>
            <a:pPr lvl="1"/>
            <a:r>
              <a:rPr lang="pt-BR" dirty="0"/>
              <a:t>Exercícios de programação e testes de mesa (no papel).</a:t>
            </a:r>
          </a:p>
          <a:p>
            <a:pPr lvl="1"/>
            <a:r>
              <a:rPr lang="pt-BR" dirty="0"/>
              <a:t>Entrega dos exercícios ao final da aula.</a:t>
            </a:r>
          </a:p>
          <a:p>
            <a:pPr lvl="2"/>
            <a:r>
              <a:rPr lang="pt-BR" dirty="0"/>
              <a:t>Não valem nota.</a:t>
            </a:r>
          </a:p>
          <a:p>
            <a:pPr lvl="2"/>
            <a:r>
              <a:rPr lang="pt-BR" dirty="0"/>
              <a:t>Servem para acompanhar a dedicação de cada aluno(a).</a:t>
            </a:r>
          </a:p>
          <a:p>
            <a:r>
              <a:rPr lang="pt-BR" dirty="0"/>
              <a:t>AULAS PRÁTICAS:</a:t>
            </a:r>
          </a:p>
          <a:p>
            <a:pPr lvl="1"/>
            <a:r>
              <a:rPr lang="pt-BR" dirty="0"/>
              <a:t>Implementações de desafios em IDE.</a:t>
            </a:r>
          </a:p>
          <a:p>
            <a:pPr lvl="1"/>
            <a:r>
              <a:rPr lang="pt-BR" dirty="0"/>
              <a:t>Entrega das implementações ao final da aula.</a:t>
            </a:r>
          </a:p>
          <a:p>
            <a:pPr lvl="2"/>
            <a:r>
              <a:rPr lang="pt-BR" dirty="0"/>
              <a:t>Não valem nota.</a:t>
            </a:r>
          </a:p>
          <a:p>
            <a:pPr lvl="2"/>
            <a:r>
              <a:rPr lang="pt-BR" dirty="0"/>
              <a:t>Servem para acompanhar a dedicação de cada aluno(a).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1359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1AFC2-DFCE-C838-492E-2D52865B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Apresentação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909064-E33F-8F4F-C8EF-442D58D6E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2"/>
            <a:ext cx="10906125" cy="5801557"/>
          </a:xfrm>
        </p:spPr>
        <p:txBody>
          <a:bodyPr>
            <a:normAutofit/>
          </a:bodyPr>
          <a:lstStyle/>
          <a:p>
            <a:r>
              <a:rPr lang="pt-BR" dirty="0"/>
              <a:t>IMPORTÂNCIA DA TENTATIVA NA APRENDIZAGEM DE ALGORITMOS:</a:t>
            </a:r>
          </a:p>
          <a:p>
            <a:pPr lvl="1"/>
            <a:r>
              <a:rPr lang="pt-BR" dirty="0"/>
              <a:t>Aprender algoritmos vai muito além de entender o que está escrito no quadro ou projetado na tela.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Para realmente compreender e dominar os conceitos, é essencial que cada um de vocês tente implementar os exercícios por conta própria</a:t>
            </a:r>
            <a:r>
              <a:rPr lang="pt-BR" dirty="0">
                <a:solidFill>
                  <a:srgbClr val="FF6600"/>
                </a:solidFill>
              </a:rPr>
              <a:t>.</a:t>
            </a:r>
          </a:p>
          <a:p>
            <a:pPr lvl="1"/>
            <a:r>
              <a:rPr lang="pt-BR" dirty="0"/>
              <a:t>É natural ter dúvidas — elas fazem parte do processo. Mas, se eu resolver para vocês, pode até parecer mais fácil: vocês vão entender na hora. Mas entender não é o mesmo que saber fazer.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Sem o esforço ativo, o conhecimento não se fixa.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Só assim o aprendizado se torna duradouro.</a:t>
            </a:r>
          </a:p>
          <a:p>
            <a:pPr lvl="1"/>
            <a:r>
              <a:rPr lang="pt-BR" dirty="0"/>
              <a:t>Estou aqui para ajudar — com dúvidas reais, com erros, com dificuldades que surgem depois de tentativas sinceras.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Não tenham medo de errar. Tenham medo de não tentar.</a:t>
            </a:r>
          </a:p>
        </p:txBody>
      </p:sp>
    </p:spTree>
    <p:extLst>
      <p:ext uri="{BB962C8B-B14F-4D97-AF65-F5344CB8AC3E}">
        <p14:creationId xmlns:p14="http://schemas.microsoft.com/office/powerpoint/2010/main" val="3310482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FA2272-B892-83D6-DDFE-67A28FF2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Apresentação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295B24-0EBC-5434-1A91-A888BE1A0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CHAMADAS</a:t>
            </a:r>
          </a:p>
          <a:p>
            <a:pPr lvl="1"/>
            <a:r>
              <a:rPr lang="pt-BR" dirty="0"/>
              <a:t>Serão realizadas 20min antes do término da aula, aproximadamente.</a:t>
            </a:r>
          </a:p>
          <a:p>
            <a:r>
              <a:rPr lang="pt-BR" dirty="0"/>
              <a:t>Não serão permitidos durante as aulas de exercícios </a:t>
            </a:r>
            <a:r>
              <a:rPr lang="pt-BR" u="sng" dirty="0"/>
              <a:t>teóricos</a:t>
            </a:r>
            <a:r>
              <a:rPr lang="pt-BR" dirty="0"/>
              <a:t>: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Estudos e desenvolvimentos de trabalhos de outra disciplina.</a:t>
            </a:r>
          </a:p>
          <a:p>
            <a:r>
              <a:rPr lang="pt-BR" dirty="0"/>
              <a:t>Não serão permitidos durante as aulas </a:t>
            </a:r>
            <a:r>
              <a:rPr lang="pt-BR" u="sng" dirty="0"/>
              <a:t>práticas</a:t>
            </a:r>
            <a:r>
              <a:rPr lang="pt-BR" dirty="0"/>
              <a:t>: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Estudos e desenvolvimentos de trabalhos de outra disciplina.</a:t>
            </a:r>
          </a:p>
          <a:p>
            <a:pPr lvl="1"/>
            <a:endParaRPr lang="pt-BR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935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25C8FE-6FB6-D5A6-8B58-32D21B7F2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Apresentação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5668D5-6EF7-F236-48D8-DA242086E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BIBLIOGRAFIA BÁSICA:</a:t>
            </a:r>
          </a:p>
          <a:p>
            <a:pPr lvl="1"/>
            <a:r>
              <a:rPr lang="pt-BR" i="1" dirty="0">
                <a:solidFill>
                  <a:srgbClr val="FF6600"/>
                </a:solidFill>
              </a:rPr>
              <a:t>SCHILDT, HERBERT</a:t>
            </a:r>
            <a:r>
              <a:rPr lang="pt-BR" dirty="0"/>
              <a:t> – C Completo e Total, 3ª Edição,  2005.</a:t>
            </a:r>
          </a:p>
          <a:p>
            <a:pPr lvl="1"/>
            <a:r>
              <a:rPr lang="pt-BR" i="1" dirty="0">
                <a:solidFill>
                  <a:srgbClr val="FF6600"/>
                </a:solidFill>
              </a:rPr>
              <a:t>MIZRAHI, V.</a:t>
            </a:r>
            <a:r>
              <a:rPr lang="pt-BR" dirty="0"/>
              <a:t> – Treinamento em  linguagem C:  módulo 1 e módulo 2,</a:t>
            </a:r>
          </a:p>
          <a:p>
            <a:pPr marL="609585" lvl="1" indent="0">
              <a:buNone/>
            </a:pPr>
            <a:r>
              <a:rPr lang="pt-BR" dirty="0"/>
              <a:t>	Editora Makron Books, 2004.</a:t>
            </a:r>
          </a:p>
          <a:p>
            <a:pPr lvl="1"/>
            <a:r>
              <a:rPr lang="pt-BR" i="1" dirty="0">
                <a:solidFill>
                  <a:srgbClr val="FF6600"/>
                </a:solidFill>
              </a:rPr>
              <a:t>DEITEL, H. M., DEITEL, P. J.</a:t>
            </a:r>
            <a:r>
              <a:rPr lang="pt-BR" dirty="0"/>
              <a:t> – C: Como programar, 6a.  Edição;</a:t>
            </a:r>
          </a:p>
          <a:p>
            <a:pPr marL="609585" lvl="1" indent="0">
              <a:buNone/>
            </a:pPr>
            <a:r>
              <a:rPr lang="pt-BR" dirty="0"/>
              <a:t>	Editora Pearson Prentice Hall, 2011.</a:t>
            </a:r>
          </a:p>
        </p:txBody>
      </p:sp>
    </p:spTree>
    <p:extLst>
      <p:ext uri="{BB962C8B-B14F-4D97-AF65-F5344CB8AC3E}">
        <p14:creationId xmlns:p14="http://schemas.microsoft.com/office/powerpoint/2010/main" val="3191800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25C8FE-6FB6-D5A6-8B58-32D21B7F2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Apresentação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5668D5-6EF7-F236-48D8-DA242086E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BIBLIOGRAFIA COMPLEMENTAR:</a:t>
            </a:r>
          </a:p>
          <a:p>
            <a:pPr lvl="1"/>
            <a:r>
              <a:rPr lang="pt-BR" i="1" dirty="0">
                <a:solidFill>
                  <a:srgbClr val="FF6600"/>
                </a:solidFill>
              </a:rPr>
              <a:t>PIVA JUNIOR, D.; ENGELBRECHT, A. M.; NAKAMITI, G. S.;  BIANCHI, F.</a:t>
            </a:r>
            <a:r>
              <a:rPr lang="pt-BR" dirty="0"/>
              <a:t> - Algoritmos e Programação de Computadores,  Editora Elsevier Campus, 2012.</a:t>
            </a:r>
          </a:p>
          <a:p>
            <a:pPr lvl="1"/>
            <a:r>
              <a:rPr lang="pt-BR" i="1" dirty="0">
                <a:solidFill>
                  <a:srgbClr val="FF6600"/>
                </a:solidFill>
              </a:rPr>
              <a:t>TENENBAUM, AARON M; LANGSAM, YEDIDYAH; AUGENSTEIN,  MOSCHE J.</a:t>
            </a:r>
            <a:r>
              <a:rPr lang="pt-BR" i="1" dirty="0"/>
              <a:t> –</a:t>
            </a:r>
            <a:r>
              <a:rPr lang="pt-BR" dirty="0"/>
              <a:t> Estrutura de Dados Usando </a:t>
            </a:r>
            <a:r>
              <a:rPr lang="pt-BR" dirty="0" err="1"/>
              <a:t>C,Editora</a:t>
            </a:r>
            <a:r>
              <a:rPr lang="pt-BR" dirty="0"/>
              <a:t> Pearson  </a:t>
            </a:r>
            <a:r>
              <a:rPr lang="pt-BR" dirty="0" err="1"/>
              <a:t>Education</a:t>
            </a:r>
            <a:r>
              <a:rPr lang="pt-BR" dirty="0"/>
              <a:t> do Brasil, 1ª Edição, 2009.</a:t>
            </a:r>
          </a:p>
          <a:p>
            <a:pPr lvl="1"/>
            <a:r>
              <a:rPr lang="pt-BR" i="1" dirty="0">
                <a:solidFill>
                  <a:srgbClr val="FF6600"/>
                </a:solidFill>
              </a:rPr>
              <a:t>MANZANO, J. A.; OLIVEIRA, J. F. </a:t>
            </a:r>
            <a:r>
              <a:rPr lang="pt-BR" dirty="0"/>
              <a:t>– Algoritmos: Lógica para  Desenvolvimento de Programação de Computadores, Editora  Erica, 22ª Edição, 2009.</a:t>
            </a:r>
          </a:p>
          <a:p>
            <a:pPr lvl="1"/>
            <a:r>
              <a:rPr lang="pt-BR" i="1" dirty="0">
                <a:solidFill>
                  <a:srgbClr val="FF6600"/>
                </a:solidFill>
              </a:rPr>
              <a:t>DAMAS, LUÍS</a:t>
            </a:r>
            <a:r>
              <a:rPr lang="pt-BR" dirty="0"/>
              <a:t> – Linguagem C, Editora LTC, 10ª Edição, 2007.</a:t>
            </a:r>
          </a:p>
          <a:p>
            <a:pPr lvl="1"/>
            <a:r>
              <a:rPr lang="pt-BR" i="1" dirty="0">
                <a:solidFill>
                  <a:srgbClr val="FF6600"/>
                </a:solidFill>
              </a:rPr>
              <a:t>FORBELLONE, A. L.; EBERSPACHER, H</a:t>
            </a:r>
            <a:r>
              <a:rPr lang="pt-BR" dirty="0"/>
              <a:t> – Lógica de Programação,  Editora Pearson </a:t>
            </a:r>
            <a:r>
              <a:rPr lang="pt-BR" dirty="0" err="1"/>
              <a:t>Education</a:t>
            </a:r>
            <a:r>
              <a:rPr lang="pt-BR" dirty="0"/>
              <a:t> do Brasil, 3ªedição, 2005.</a:t>
            </a:r>
          </a:p>
        </p:txBody>
      </p:sp>
    </p:spTree>
    <p:extLst>
      <p:ext uri="{BB962C8B-B14F-4D97-AF65-F5344CB8AC3E}">
        <p14:creationId xmlns:p14="http://schemas.microsoft.com/office/powerpoint/2010/main" val="3816947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4">
      <a:dk1>
        <a:srgbClr val="000000"/>
      </a:dk1>
      <a:lt1>
        <a:srgbClr val="FFFFFF"/>
      </a:lt1>
      <a:dk2>
        <a:srgbClr val="4B2D96"/>
      </a:dk2>
      <a:lt2>
        <a:srgbClr val="F8F8F8"/>
      </a:lt2>
      <a:accent1>
        <a:srgbClr val="120C26"/>
      </a:accent1>
      <a:accent2>
        <a:srgbClr val="1D1340"/>
      </a:accent2>
      <a:accent3>
        <a:srgbClr val="48358C"/>
      </a:accent3>
      <a:accent4>
        <a:srgbClr val="553FA6"/>
      </a:accent4>
      <a:accent5>
        <a:srgbClr val="A6768C"/>
      </a:accent5>
      <a:accent6>
        <a:srgbClr val="EFE4E8"/>
      </a:accent6>
      <a:hlink>
        <a:srgbClr val="A6768C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12000</Words>
  <Application>Microsoft Office PowerPoint</Application>
  <PresentationFormat>Widescreen</PresentationFormat>
  <Paragraphs>1257</Paragraphs>
  <Slides>125</Slides>
  <Notes>39</Notes>
  <HiddenSlides>0</HiddenSlides>
  <MMClips>0</MMClips>
  <ScaleCrop>false</ScaleCrop>
  <HeadingPairs>
    <vt:vector size="8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0</vt:i4>
      </vt:variant>
      <vt:variant>
        <vt:lpstr>Títulos de slides</vt:lpstr>
      </vt:variant>
      <vt:variant>
        <vt:i4>125</vt:i4>
      </vt:variant>
    </vt:vector>
  </HeadingPairs>
  <TitlesOfParts>
    <vt:vector size="134" baseType="lpstr">
      <vt:lpstr>Arial</vt:lpstr>
      <vt:lpstr>Arial Narrow</vt:lpstr>
      <vt:lpstr>Calibri</vt:lpstr>
      <vt:lpstr>Cambria Math</vt:lpstr>
      <vt:lpstr>Courier New</vt:lpstr>
      <vt:lpstr>Poppins</vt:lpstr>
      <vt:lpstr>Roboto</vt:lpstr>
      <vt:lpstr>Segoe UI</vt:lpstr>
      <vt:lpstr>Office Theme</vt:lpstr>
      <vt:lpstr>Algoritmos e Linguagens de Programação Prof. Dr. Paulo Cesar de Alvarenga Lucci  Apresentação</vt:lpstr>
      <vt:lpstr>Apresentação</vt:lpstr>
      <vt:lpstr>Apresentação</vt:lpstr>
      <vt:lpstr>Apresentação</vt:lpstr>
      <vt:lpstr>Apresentação</vt:lpstr>
      <vt:lpstr>Apresentação</vt:lpstr>
      <vt:lpstr>Apresentação</vt:lpstr>
      <vt:lpstr>Apresentação</vt:lpstr>
      <vt:lpstr>Algoritmos e Linguagens de Programação Prof. Dr. Paulo Cesar de Alvarenga Lucci  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Algoritmos</vt:lpstr>
      <vt:lpstr>Introdução</vt:lpstr>
      <vt:lpstr>Algoritmos</vt:lpstr>
      <vt:lpstr>Algoritmos</vt:lpstr>
      <vt:lpstr>Algoritmos</vt:lpstr>
      <vt:lpstr>Algoritmos</vt:lpstr>
      <vt:lpstr>Algoritmos</vt:lpstr>
      <vt:lpstr>Algoritmos e Linguagens de Programação Prof. Dr. Paulo Cesar de Alvarenga Lucci  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Algoritmos e Linguagens de Programação Prof. Dr. Paulo Cesar de Alvarenga Lucci  Linguagem C</vt:lpstr>
      <vt:lpstr>Exercícios</vt:lpstr>
      <vt:lpstr>Exercícios</vt:lpstr>
      <vt:lpstr>Algoritmos e Linguagens de Programação Prof. Dr. Paulo Cesar de Alvarenga Lucci  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Algoritmos e Linguagens de Programação Prof. Dr. Paulo Cesar de Alvarenga Lucci  Linguagem C</vt:lpstr>
      <vt:lpstr>Exercícios</vt:lpstr>
      <vt:lpstr>Exercícios</vt:lpstr>
      <vt:lpstr>Exercícios</vt:lpstr>
      <vt:lpstr>Algoritmos e Linguagens de Programação Prof. Dr. Paulo Cesar de Alvarenga Lucci  Loops</vt:lpstr>
      <vt:lpstr>Loops</vt:lpstr>
      <vt:lpstr>Loops</vt:lpstr>
      <vt:lpstr>Loops</vt:lpstr>
      <vt:lpstr>Loops</vt:lpstr>
      <vt:lpstr>Loops</vt:lpstr>
      <vt:lpstr>Loops</vt:lpstr>
      <vt:lpstr>Loops</vt:lpstr>
      <vt:lpstr>Loops</vt:lpstr>
      <vt:lpstr>Algoritmos e Linguagens de Programação Prof. Dr. Paulo Cesar de Alvarenga Lucci  Loops</vt:lpstr>
      <vt:lpstr>Exercícios</vt:lpstr>
      <vt:lpstr>Exercícios</vt:lpstr>
      <vt:lpstr>Exercícios</vt:lpstr>
      <vt:lpstr>Exercícios</vt:lpstr>
      <vt:lpstr>Exercícios</vt:lpstr>
      <vt:lpstr>Algoritmos e Linguagens de Programação Prof. Dr. Paulo Cesar de Alvarenga Lucci  Vetores</vt:lpstr>
      <vt:lpstr>Vetores</vt:lpstr>
      <vt:lpstr>Vetores</vt:lpstr>
      <vt:lpstr>Vetores</vt:lpstr>
      <vt:lpstr>Vetores</vt:lpstr>
      <vt:lpstr>Vetores</vt:lpstr>
      <vt:lpstr>Vetores</vt:lpstr>
      <vt:lpstr>Vetores</vt:lpstr>
      <vt:lpstr>Vetores</vt:lpstr>
      <vt:lpstr>Algoritmos e Linguagens de Programação Prof. Dr. Paulo Cesar de Alvarenga Lucci  Vetores</vt:lpstr>
      <vt:lpstr>Exercícios</vt:lpstr>
      <vt:lpstr>Exercícios</vt:lpstr>
      <vt:lpstr>Algoritmos e Linguagens de Programação Prof. Dr. Paulo Cesar de Alvarenga Lucci  Matrizes</vt:lpstr>
      <vt:lpstr>Matrizes</vt:lpstr>
      <vt:lpstr>Matrizes</vt:lpstr>
      <vt:lpstr>Matrizes</vt:lpstr>
      <vt:lpstr>Matrizes</vt:lpstr>
      <vt:lpstr>Matrizes</vt:lpstr>
      <vt:lpstr>Matrizes</vt:lpstr>
      <vt:lpstr>Matrizes</vt:lpstr>
      <vt:lpstr>Matrizes</vt:lpstr>
      <vt:lpstr>Matrizes</vt:lpstr>
      <vt:lpstr>Algoritmos e Linguagens de Programação Prof. Dr. Paulo Cesar de Alvarenga Lucci  Matrizes</vt:lpstr>
      <vt:lpstr>Exercícios</vt:lpstr>
      <vt:lpstr>Exercícios</vt:lpstr>
      <vt:lpstr>Algoritmos e Linguagens de Programação Prof. Dr. Paulo Cesar de Alvarenga Lucci  Strings</vt:lpstr>
      <vt:lpstr>Strings</vt:lpstr>
      <vt:lpstr>Strings</vt:lpstr>
      <vt:lpstr>Strings</vt:lpstr>
      <vt:lpstr>Strings</vt:lpstr>
      <vt:lpstr>Strings</vt:lpstr>
      <vt:lpstr>Strings</vt:lpstr>
      <vt:lpstr>Algoritmos e Linguagens de Programação Prof. Dr. Paulo Cesar de Alvarenga Lucci  Strings</vt:lpstr>
      <vt:lpstr>Exercícios</vt:lpstr>
      <vt:lpstr>Exercícios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Yasin Arafat</dc:creator>
  <cp:lastModifiedBy>Cesar Lucci</cp:lastModifiedBy>
  <cp:revision>101</cp:revision>
  <dcterms:created xsi:type="dcterms:W3CDTF">2024-05-23T06:52:39Z</dcterms:created>
  <dcterms:modified xsi:type="dcterms:W3CDTF">2025-08-06T07:34:47Z</dcterms:modified>
</cp:coreProperties>
</file>