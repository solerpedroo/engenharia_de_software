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30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309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310" r:id="rId23"/>
    <p:sldId id="275" r:id="rId24"/>
    <p:sldId id="276" r:id="rId25"/>
    <p:sldId id="311" r:id="rId26"/>
    <p:sldId id="277" r:id="rId27"/>
    <p:sldId id="312" r:id="rId28"/>
    <p:sldId id="313" r:id="rId29"/>
    <p:sldId id="279" r:id="rId30"/>
    <p:sldId id="314" r:id="rId31"/>
    <p:sldId id="280" r:id="rId32"/>
    <p:sldId id="315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303" r:id="rId50"/>
    <p:sldId id="304" r:id="rId51"/>
    <p:sldId id="305" r:id="rId52"/>
    <p:sldId id="306" r:id="rId53"/>
    <p:sldId id="307" r:id="rId54"/>
    <p:sldId id="297" r:id="rId55"/>
  </p:sldIdLst>
  <p:sldSz cx="9144000" cy="6858000" type="screen4x3"/>
  <p:notesSz cx="9144000" cy="6858000"/>
  <p:embeddedFontLst>
    <p:embeddedFont>
      <p:font typeface="Roboto" panose="02000000000000000000" pitchFamily="2" charset="0"/>
      <p:regular r:id="rId57"/>
      <p:bold r:id="rId58"/>
      <p:italic r:id="rId59"/>
      <p:boldItalic r:id="rId60"/>
    </p:embeddedFont>
    <p:embeddedFont>
      <p:font typeface="Tahoma" panose="020B0604030504040204" pitchFamily="34" charset="0"/>
      <p:regular r:id="rId61"/>
      <p:bold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2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3" roundtripDataSignature="AMtx7mhSrhOt6NsjkOiOraJVbL5UVJ+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460" y="64"/>
      </p:cViewPr>
      <p:guideLst>
        <p:guide pos="12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4928e2dbd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64928e2dbd_0_9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364928e2dbd_0_91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4928e2dbd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4928e2dbd_0_9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64928e2dbd_0_97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4928e2dbd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4928e2dbd_0_10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64928e2dbd_0_104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4928e2dbd_0_6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64928e2dbd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4928e2db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64928e2dbd_0_6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4928e2dbd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64928e2dbd_0_8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pessoa - problema - solução - impacto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4928e2db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64928e2dbd_0_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4928e2db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64928e2dbd_0_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64928e2dbd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64928e2dbd_0_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64928e2dbd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64928e2dbd_0_2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928e2db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64928e2dbd_0_4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64928e2db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64928e2dbd_0_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4928e2db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4928e2dbd_0_5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49803eb7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649803eb7b_1_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649803eb7b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649803eb7b_1_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649803eb7b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649803eb7b_1_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649803eb7b_1_6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3649803eb7b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649803eb7b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649803eb7b_1_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49803eb7b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649803eb7b_1_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649803eb7b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649803eb7b_1_3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49803eb7b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649803eb7b_1_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49803eb7b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649803eb7b_1_4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649803eb7b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649803eb7b_1_4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649803eb7b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649803eb7b_1_5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obj">
  <p:cSld name="OBJECT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6"/>
          <p:cNvSpPr txBox="1">
            <a:spLocks noGrp="1"/>
          </p:cNvSpPr>
          <p:nvPr>
            <p:ph type="ctrTitle"/>
          </p:nvPr>
        </p:nvSpPr>
        <p:spPr>
          <a:xfrm>
            <a:off x="902004" y="1172082"/>
            <a:ext cx="6356984" cy="124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Calibri"/>
              <a:buNone/>
              <a:defRPr sz="4800" b="0" i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36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1440"/>
              <a:buChar char="●"/>
              <a:defRPr sz="3200" b="0" i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" name="Google Shape;11;p36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6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7"/>
          <p:cNvSpPr txBox="1"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Calibri"/>
              <a:buNone/>
              <a:defRPr sz="4800" b="0" i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7"/>
          <p:cNvSpPr txBox="1">
            <a:spLocks noGrp="1"/>
          </p:cNvSpPr>
          <p:nvPr>
            <p:ph type="body" idx="1"/>
          </p:nvPr>
        </p:nvSpPr>
        <p:spPr>
          <a:xfrm>
            <a:off x="457110" y="1604520"/>
            <a:ext cx="822933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1440"/>
              <a:buChar char="●"/>
              <a:defRPr sz="3200" b="0" i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3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7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8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8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3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9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9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Calibri"/>
              <a:buNone/>
              <a:defRPr sz="4800" b="0" i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3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9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80528" y="188640"/>
            <a:ext cx="1947058" cy="1080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0"/>
          <p:cNvSpPr txBox="1"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Calibri"/>
              <a:buNone/>
              <a:defRPr sz="4800" b="0" i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0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8607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945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0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8607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945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4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4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3"/>
          <p:cNvSpPr txBox="1"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3"/>
          <p:cNvSpPr txBox="1">
            <a:spLocks noGrp="1"/>
          </p:cNvSpPr>
          <p:nvPr>
            <p:ph type="subTitle" idx="1"/>
          </p:nvPr>
        </p:nvSpPr>
        <p:spPr>
          <a:xfrm>
            <a:off x="457110" y="1604520"/>
            <a:ext cx="822933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945"/>
              <a:buNone/>
              <a:defRPr/>
            </a:lvl1pPr>
            <a:lvl2pPr lvl="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4"/>
          <p:cNvSpPr txBox="1"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body" idx="1"/>
          </p:nvPr>
        </p:nvSpPr>
        <p:spPr>
          <a:xfrm>
            <a:off x="457110" y="1604520"/>
            <a:ext cx="401571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body" idx="2"/>
          </p:nvPr>
        </p:nvSpPr>
        <p:spPr>
          <a:xfrm>
            <a:off x="4673970" y="1604520"/>
            <a:ext cx="401571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6"/>
          <p:cNvSpPr txBox="1">
            <a:spLocks noGrp="1"/>
          </p:cNvSpPr>
          <p:nvPr>
            <p:ph type="subTitle" idx="1"/>
          </p:nvPr>
        </p:nvSpPr>
        <p:spPr>
          <a:xfrm>
            <a:off x="457110" y="273600"/>
            <a:ext cx="822933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lvl="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, 2 partes pequenas de conteúdo e conteúdo" type="twoObjAndObj">
  <p:cSld name="TWO_OBJECTS_AND_OBJEC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7"/>
          <p:cNvSpPr txBox="1"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7"/>
          <p:cNvSpPr txBox="1">
            <a:spLocks noGrp="1"/>
          </p:cNvSpPr>
          <p:nvPr>
            <p:ph type="body" idx="1"/>
          </p:nvPr>
        </p:nvSpPr>
        <p:spPr>
          <a:xfrm>
            <a:off x="457110" y="1604520"/>
            <a:ext cx="401571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47"/>
          <p:cNvSpPr txBox="1">
            <a:spLocks noGrp="1"/>
          </p:cNvSpPr>
          <p:nvPr>
            <p:ph type="body" idx="2"/>
          </p:nvPr>
        </p:nvSpPr>
        <p:spPr>
          <a:xfrm>
            <a:off x="4673970" y="1604520"/>
            <a:ext cx="401571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47"/>
          <p:cNvSpPr txBox="1">
            <a:spLocks noGrp="1"/>
          </p:cNvSpPr>
          <p:nvPr>
            <p:ph type="body" idx="3"/>
          </p:nvPr>
        </p:nvSpPr>
        <p:spPr>
          <a:xfrm>
            <a:off x="457110" y="3682080"/>
            <a:ext cx="401571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8"/>
          <p:cNvSpPr txBox="1"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8"/>
          <p:cNvSpPr txBox="1">
            <a:spLocks noGrp="1"/>
          </p:cNvSpPr>
          <p:nvPr>
            <p:ph type="body" idx="1"/>
          </p:nvPr>
        </p:nvSpPr>
        <p:spPr>
          <a:xfrm>
            <a:off x="457110" y="1604520"/>
            <a:ext cx="401571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48"/>
          <p:cNvSpPr txBox="1">
            <a:spLocks noGrp="1"/>
          </p:cNvSpPr>
          <p:nvPr>
            <p:ph type="body" idx="2"/>
          </p:nvPr>
        </p:nvSpPr>
        <p:spPr>
          <a:xfrm>
            <a:off x="4673970" y="1604520"/>
            <a:ext cx="401571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48"/>
          <p:cNvSpPr txBox="1">
            <a:spLocks noGrp="1"/>
          </p:cNvSpPr>
          <p:nvPr>
            <p:ph type="body" idx="3"/>
          </p:nvPr>
        </p:nvSpPr>
        <p:spPr>
          <a:xfrm>
            <a:off x="4673970" y="3682080"/>
            <a:ext cx="401571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9"/>
          <p:cNvSpPr txBox="1"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9"/>
          <p:cNvSpPr txBox="1">
            <a:spLocks noGrp="1"/>
          </p:cNvSpPr>
          <p:nvPr>
            <p:ph type="body" idx="1"/>
          </p:nvPr>
        </p:nvSpPr>
        <p:spPr>
          <a:xfrm>
            <a:off x="457110" y="1604520"/>
            <a:ext cx="401571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49"/>
          <p:cNvSpPr txBox="1">
            <a:spLocks noGrp="1"/>
          </p:cNvSpPr>
          <p:nvPr>
            <p:ph type="body" idx="2"/>
          </p:nvPr>
        </p:nvSpPr>
        <p:spPr>
          <a:xfrm>
            <a:off x="4673970" y="1604520"/>
            <a:ext cx="401571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49"/>
          <p:cNvSpPr txBox="1">
            <a:spLocks noGrp="1"/>
          </p:cNvSpPr>
          <p:nvPr>
            <p:ph type="body" idx="3"/>
          </p:nvPr>
        </p:nvSpPr>
        <p:spPr>
          <a:xfrm>
            <a:off x="457110" y="3682080"/>
            <a:ext cx="822933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0"/>
          <p:cNvSpPr txBox="1"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0"/>
          <p:cNvSpPr txBox="1">
            <a:spLocks noGrp="1"/>
          </p:cNvSpPr>
          <p:nvPr>
            <p:ph type="body" idx="1"/>
          </p:nvPr>
        </p:nvSpPr>
        <p:spPr>
          <a:xfrm>
            <a:off x="457110" y="1604520"/>
            <a:ext cx="822933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0"/>
          <p:cNvSpPr txBox="1">
            <a:spLocks noGrp="1"/>
          </p:cNvSpPr>
          <p:nvPr>
            <p:ph type="body" idx="2"/>
          </p:nvPr>
        </p:nvSpPr>
        <p:spPr>
          <a:xfrm>
            <a:off x="457110" y="3682080"/>
            <a:ext cx="822933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1"/>
          <p:cNvSpPr txBox="1"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1"/>
          <p:cNvSpPr txBox="1">
            <a:spLocks noGrp="1"/>
          </p:cNvSpPr>
          <p:nvPr>
            <p:ph type="body" idx="1"/>
          </p:nvPr>
        </p:nvSpPr>
        <p:spPr>
          <a:xfrm>
            <a:off x="457110" y="1604520"/>
            <a:ext cx="401571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1"/>
          <p:cNvSpPr txBox="1">
            <a:spLocks noGrp="1"/>
          </p:cNvSpPr>
          <p:nvPr>
            <p:ph type="body" idx="2"/>
          </p:nvPr>
        </p:nvSpPr>
        <p:spPr>
          <a:xfrm>
            <a:off x="4673970" y="1604520"/>
            <a:ext cx="401571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51"/>
          <p:cNvSpPr txBox="1">
            <a:spLocks noGrp="1"/>
          </p:cNvSpPr>
          <p:nvPr>
            <p:ph type="body" idx="3"/>
          </p:nvPr>
        </p:nvSpPr>
        <p:spPr>
          <a:xfrm>
            <a:off x="457110" y="3682080"/>
            <a:ext cx="401571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1"/>
          <p:cNvSpPr txBox="1">
            <a:spLocks noGrp="1"/>
          </p:cNvSpPr>
          <p:nvPr>
            <p:ph type="body" idx="4"/>
          </p:nvPr>
        </p:nvSpPr>
        <p:spPr>
          <a:xfrm>
            <a:off x="4673970" y="3682080"/>
            <a:ext cx="401571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2"/>
          <p:cNvSpPr txBox="1"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2"/>
          <p:cNvSpPr txBox="1">
            <a:spLocks noGrp="1"/>
          </p:cNvSpPr>
          <p:nvPr>
            <p:ph type="body" idx="1"/>
          </p:nvPr>
        </p:nvSpPr>
        <p:spPr>
          <a:xfrm>
            <a:off x="457110" y="1604520"/>
            <a:ext cx="26497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2"/>
          <p:cNvSpPr txBox="1">
            <a:spLocks noGrp="1"/>
          </p:cNvSpPr>
          <p:nvPr>
            <p:ph type="body" idx="2"/>
          </p:nvPr>
        </p:nvSpPr>
        <p:spPr>
          <a:xfrm>
            <a:off x="3239730" y="1604520"/>
            <a:ext cx="26497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52"/>
          <p:cNvSpPr txBox="1">
            <a:spLocks noGrp="1"/>
          </p:cNvSpPr>
          <p:nvPr>
            <p:ph type="body" idx="3"/>
          </p:nvPr>
        </p:nvSpPr>
        <p:spPr>
          <a:xfrm>
            <a:off x="6022350" y="1604520"/>
            <a:ext cx="26497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52"/>
          <p:cNvSpPr txBox="1">
            <a:spLocks noGrp="1"/>
          </p:cNvSpPr>
          <p:nvPr>
            <p:ph type="body" idx="4"/>
          </p:nvPr>
        </p:nvSpPr>
        <p:spPr>
          <a:xfrm>
            <a:off x="457110" y="3682080"/>
            <a:ext cx="26497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52"/>
          <p:cNvSpPr txBox="1">
            <a:spLocks noGrp="1"/>
          </p:cNvSpPr>
          <p:nvPr>
            <p:ph type="body" idx="5"/>
          </p:nvPr>
        </p:nvSpPr>
        <p:spPr>
          <a:xfrm>
            <a:off x="3239730" y="3682080"/>
            <a:ext cx="26497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52"/>
          <p:cNvSpPr txBox="1">
            <a:spLocks noGrp="1"/>
          </p:cNvSpPr>
          <p:nvPr>
            <p:ph type="body" idx="6"/>
          </p:nvPr>
        </p:nvSpPr>
        <p:spPr>
          <a:xfrm>
            <a:off x="6022350" y="3682080"/>
            <a:ext cx="26497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5"/>
          <p:cNvSpPr txBox="1">
            <a:spLocks noGrp="1"/>
          </p:cNvSpPr>
          <p:nvPr>
            <p:ph type="body" idx="1"/>
          </p:nvPr>
        </p:nvSpPr>
        <p:spPr>
          <a:xfrm>
            <a:off x="457110" y="1604520"/>
            <a:ext cx="822933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88607" algn="l" rtl="0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site.elsevier.com/9780120884360/casestudies/Chapter_10.pdf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PEsVB8G4xQ%E2%80%9D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902004" y="1172082"/>
            <a:ext cx="6356984" cy="124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0"/>
              <a:buFont typeface="Calibri"/>
              <a:buNone/>
            </a:pPr>
            <a:r>
              <a:rPr lang="en-US" sz="8000">
                <a:solidFill>
                  <a:srgbClr val="252525"/>
                </a:solidFill>
              </a:rPr>
              <a:t>Design Thinking</a:t>
            </a:r>
            <a:endParaRPr sz="8000"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4419600"/>
            <a:ext cx="5178552" cy="1696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Calibri"/>
              <a:buNone/>
            </a:pPr>
            <a:r>
              <a:rPr lang="en-US"/>
              <a:t>BRASIL</a:t>
            </a:r>
            <a:endParaRPr/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1270" y="1951057"/>
            <a:ext cx="9144000" cy="4373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457200" y="2362200"/>
            <a:ext cx="8472805" cy="1906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0" anchor="t" anchorCtr="0">
            <a:spAutoFit/>
          </a:bodyPr>
          <a:lstStyle/>
          <a:p>
            <a:pPr marL="12700" marR="5080" lvl="0" indent="1206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1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Quando um </a:t>
            </a:r>
            <a:r>
              <a:rPr lang="en-US" sz="3600" b="0" i="1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produto</a:t>
            </a:r>
            <a:r>
              <a:rPr lang="en-US" sz="3600" b="0" i="1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0" i="1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US" sz="3600" b="0" i="1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0" i="1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serviço</a:t>
            </a:r>
            <a:r>
              <a:rPr lang="en-US" sz="3600" b="0" i="1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US" sz="3600" b="0" i="1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inovador</a:t>
            </a:r>
            <a:r>
              <a:rPr lang="en-US" sz="3600" b="0" i="1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0" i="1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ele</a:t>
            </a:r>
            <a:r>
              <a:rPr lang="en-US" sz="3600" b="0" i="1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causa </a:t>
            </a:r>
            <a:r>
              <a:rPr lang="en-US" sz="3600" b="0" i="1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  <a:r>
              <a:rPr lang="en-US" sz="3600" b="0" i="1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0" i="1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US" sz="3600" b="0" i="1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0" i="1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vida</a:t>
            </a:r>
            <a:r>
              <a:rPr lang="en-US" sz="3600" b="0" i="1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das </a:t>
            </a:r>
            <a:r>
              <a:rPr lang="en-US" sz="3600" b="0" i="1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pessoas</a:t>
            </a:r>
            <a:r>
              <a:rPr lang="en-US" sz="3600" b="0" i="1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3600" b="0" i="1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transforma</a:t>
            </a:r>
            <a:r>
              <a:rPr lang="en-US" sz="3600" b="0" i="1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para sempre a forma de </a:t>
            </a:r>
            <a:r>
              <a:rPr lang="en-US" sz="3600" b="0" i="1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essas</a:t>
            </a:r>
            <a:r>
              <a:rPr lang="en-US" sz="3600" b="0" i="1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0" i="1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pessoas</a:t>
            </a:r>
            <a:r>
              <a:rPr lang="en-US" sz="3600" b="0" i="1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0" i="1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viverem</a:t>
            </a:r>
            <a:r>
              <a:rPr lang="en-US" sz="3600" b="0" i="1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3600" b="0" i="1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trabalharem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609600" y="99060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404040"/>
                </a:solidFill>
              </a:rPr>
              <a:t>Inovação</a:t>
            </a:r>
            <a:endParaRPr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/>
        </p:nvSpPr>
        <p:spPr>
          <a:xfrm>
            <a:off x="381000" y="1981200"/>
            <a:ext cx="8472900" cy="3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7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Inovação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é valor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percebido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70"/>
              </a:spcBef>
              <a:spcAft>
                <a:spcPts val="0"/>
              </a:spcAft>
              <a:buNone/>
            </a:pP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4150" lvl="0" indent="1206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Inovação</a:t>
            </a:r>
            <a:r>
              <a:rPr lang="en-US" sz="3600" i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US" sz="3600" i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buscar</a:t>
            </a:r>
            <a:r>
              <a:rPr lang="en-US" sz="3600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i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relevância</a:t>
            </a:r>
            <a:r>
              <a:rPr lang="en-US" sz="3600" i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pela </a:t>
            </a:r>
            <a:r>
              <a:rPr lang="en-US" sz="3600" i="1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criação</a:t>
            </a:r>
            <a:r>
              <a:rPr lang="en-US" sz="3600" i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US" sz="3600" i="1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cultura</a:t>
            </a:r>
            <a:r>
              <a:rPr lang="en-US" sz="3600" i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US" sz="3600" i="1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empatia</a:t>
            </a:r>
            <a:r>
              <a:rPr lang="en-US" sz="3600" i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3600" i="1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cocriação</a:t>
            </a:r>
            <a:r>
              <a:rPr lang="en-US" sz="3600" i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3600" i="1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constante</a:t>
            </a:r>
            <a:r>
              <a:rPr lang="en-US" sz="3600" i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i="1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experimentação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609600" y="990600"/>
            <a:ext cx="457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INOVAÇÃO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EF204-4EF7-1725-AA23-B71EF4EC8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Design </a:t>
            </a:r>
            <a:r>
              <a:rPr lang="pt-BR" dirty="0" err="1"/>
              <a:t>Thinking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5FD829C-0F0A-8D50-C17B-5E1619048C17}"/>
              </a:ext>
            </a:extLst>
          </p:cNvPr>
          <p:cNvSpPr txBox="1"/>
          <p:nvPr/>
        </p:nvSpPr>
        <p:spPr>
          <a:xfrm>
            <a:off x="520996" y="1577554"/>
            <a:ext cx="82508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>
                <a:solidFill>
                  <a:srgbClr val="404040"/>
                </a:solidFill>
                <a:latin typeface="Calibri"/>
                <a:cs typeface="Calibri"/>
              </a:rPr>
              <a:t>Promover </a:t>
            </a:r>
            <a:r>
              <a:rPr lang="pt-BR" sz="3600" dirty="0">
                <a:solidFill>
                  <a:srgbClr val="FF0000"/>
                </a:solidFill>
                <a:latin typeface="Calibri"/>
                <a:cs typeface="Calibri"/>
              </a:rPr>
              <a:t>inovação</a:t>
            </a:r>
            <a:r>
              <a:rPr lang="pt-BR" sz="3600" dirty="0">
                <a:solidFill>
                  <a:srgbClr val="404040"/>
                </a:solidFill>
                <a:latin typeface="Calibri"/>
                <a:cs typeface="Calibri"/>
              </a:rPr>
              <a:t> e gerar um clima propício para a </a:t>
            </a:r>
            <a:r>
              <a:rPr lang="pt-BR" sz="3600" dirty="0">
                <a:solidFill>
                  <a:srgbClr val="FF0000"/>
                </a:solidFill>
                <a:latin typeface="Calibri"/>
                <a:cs typeface="Calibri"/>
              </a:rPr>
              <a:t>criatividade</a:t>
            </a:r>
            <a:r>
              <a:rPr lang="pt-BR" sz="3600" dirty="0">
                <a:solidFill>
                  <a:srgbClr val="404040"/>
                </a:solidFill>
                <a:latin typeface="Calibri"/>
                <a:cs typeface="Calibri"/>
              </a:rPr>
              <a:t> e o desenvolvimento de soluções são algumas das </a:t>
            </a:r>
            <a:r>
              <a:rPr lang="pt-BR" sz="3600" dirty="0">
                <a:solidFill>
                  <a:srgbClr val="FF0000"/>
                </a:solidFill>
                <a:latin typeface="Calibri"/>
                <a:cs typeface="Calibri"/>
              </a:rPr>
              <a:t>propostas</a:t>
            </a:r>
            <a:r>
              <a:rPr lang="pt-BR" sz="3600" dirty="0">
                <a:solidFill>
                  <a:srgbClr val="404040"/>
                </a:solidFill>
                <a:latin typeface="Calibri"/>
                <a:cs typeface="Calibri"/>
              </a:rPr>
              <a:t> do Design </a:t>
            </a:r>
            <a:r>
              <a:rPr lang="pt-BR" sz="3600" dirty="0" err="1">
                <a:solidFill>
                  <a:srgbClr val="404040"/>
                </a:solidFill>
                <a:latin typeface="Calibri"/>
                <a:cs typeface="Calibri"/>
              </a:rPr>
              <a:t>Thinking</a:t>
            </a:r>
            <a:r>
              <a:rPr lang="pt-BR" sz="3600" dirty="0">
                <a:solidFill>
                  <a:srgbClr val="404040"/>
                </a:solidFill>
                <a:latin typeface="Calibri"/>
                <a:cs typeface="Calibri"/>
              </a:rPr>
              <a:t>. </a:t>
            </a:r>
          </a:p>
          <a:p>
            <a:r>
              <a:rPr lang="pt-BR" sz="3600" dirty="0">
                <a:solidFill>
                  <a:srgbClr val="404040"/>
                </a:solidFill>
                <a:latin typeface="Calibri"/>
                <a:cs typeface="Calibri"/>
              </a:rPr>
              <a:t>Essa abordagem foi desenvolvida nos anos de 1990, por Kelley e Brown, que trabalhavam em uma empresa de consultoria em inovação</a:t>
            </a:r>
          </a:p>
        </p:txBody>
      </p:sp>
    </p:spTree>
    <p:extLst>
      <p:ext uri="{BB962C8B-B14F-4D97-AF65-F5344CB8AC3E}">
        <p14:creationId xmlns:p14="http://schemas.microsoft.com/office/powerpoint/2010/main" val="2479896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4928e2dbd_0_91"/>
          <p:cNvSpPr txBox="1">
            <a:spLocks noGrp="1"/>
          </p:cNvSpPr>
          <p:nvPr>
            <p:ph type="title"/>
          </p:nvPr>
        </p:nvSpPr>
        <p:spPr>
          <a:xfrm>
            <a:off x="258425" y="48025"/>
            <a:ext cx="6379500" cy="1251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Diferença entre Criatividade, Inovação e Invenção</a:t>
            </a:r>
            <a:endParaRPr sz="3100"/>
          </a:p>
        </p:txBody>
      </p:sp>
      <p:sp>
        <p:nvSpPr>
          <p:cNvPr id="117" name="Google Shape;117;g364928e2dbd_0_91"/>
          <p:cNvSpPr txBox="1"/>
          <p:nvPr/>
        </p:nvSpPr>
        <p:spPr>
          <a:xfrm>
            <a:off x="585466" y="1638275"/>
            <a:ext cx="7306500" cy="5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Criatividade</a:t>
            </a: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Idéia</a:t>
            </a: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Ação</a:t>
            </a: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sobre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ideia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concretizado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Inovação</a:t>
            </a: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Idéia</a:t>
            </a: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Ação</a:t>
            </a: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lucro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bem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estar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Invenção</a:t>
            </a: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patenteada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só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inovação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Criar</a:t>
            </a: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Valor!!!!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4928e2dbd_0_97"/>
          <p:cNvSpPr txBox="1">
            <a:spLocks noGrp="1"/>
          </p:cNvSpPr>
          <p:nvPr>
            <p:ph type="title"/>
          </p:nvPr>
        </p:nvSpPr>
        <p:spPr>
          <a:xfrm>
            <a:off x="295350" y="48000"/>
            <a:ext cx="6298200" cy="96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Design</a:t>
            </a:r>
            <a:endParaRPr dirty="0"/>
          </a:p>
        </p:txBody>
      </p:sp>
      <p:pic>
        <p:nvPicPr>
          <p:cNvPr id="124" name="Google Shape;124;g364928e2dbd_0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613" y="1553887"/>
            <a:ext cx="6298200" cy="354974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64928e2dbd_0_97"/>
          <p:cNvSpPr txBox="1"/>
          <p:nvPr/>
        </p:nvSpPr>
        <p:spPr>
          <a:xfrm>
            <a:off x="419308" y="5103628"/>
            <a:ext cx="78348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pt-BR" sz="3600" b="1" dirty="0">
                <a:solidFill>
                  <a:srgbClr val="7DA9DF"/>
                </a:solidFill>
                <a:latin typeface="Calibri"/>
                <a:ea typeface="Calibri"/>
                <a:cs typeface="Calibri"/>
                <a:sym typeface="Calibri"/>
              </a:rPr>
              <a:t>Design é tornar um serviço ou produto que é oferecido às pessoas </a:t>
            </a:r>
            <a:r>
              <a:rPr lang="pt-BR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útil</a:t>
            </a:r>
            <a:r>
              <a:rPr lang="pt-BR" sz="3600" b="1" dirty="0">
                <a:solidFill>
                  <a:srgbClr val="7DA9D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eficiente</a:t>
            </a:r>
            <a:r>
              <a:rPr lang="pt-BR" sz="3600" b="1" dirty="0">
                <a:solidFill>
                  <a:srgbClr val="7DA9DF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pt-BR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desejável</a:t>
            </a:r>
            <a:r>
              <a:rPr lang="pt-BR" sz="3600" b="1" dirty="0">
                <a:solidFill>
                  <a:srgbClr val="7DA9D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4928e2dbd_0_104"/>
          <p:cNvSpPr txBox="1">
            <a:spLocks noGrp="1"/>
          </p:cNvSpPr>
          <p:nvPr>
            <p:ph type="title"/>
          </p:nvPr>
        </p:nvSpPr>
        <p:spPr>
          <a:xfrm>
            <a:off x="169826" y="47999"/>
            <a:ext cx="8619600" cy="61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Tipos de Inovação</a:t>
            </a:r>
            <a:endParaRPr/>
          </a:p>
        </p:txBody>
      </p:sp>
      <p:pic>
        <p:nvPicPr>
          <p:cNvPr id="132" name="Google Shape;132;g364928e2dbd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688" y="973805"/>
            <a:ext cx="8048625" cy="566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2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0150" rIns="0" bIns="0" anchor="ctr" anchorCtr="0">
            <a:spAutoFit/>
          </a:bodyPr>
          <a:lstStyle/>
          <a:p>
            <a:pPr marL="91440" marR="5080" lvl="0" indent="0" algn="ctr" rtl="0">
              <a:lnSpc>
                <a:spcPct val="102093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4300"/>
              <a:buFont typeface="Calibri"/>
              <a:buNone/>
            </a:pPr>
            <a:r>
              <a:rPr lang="en-US" sz="3000">
                <a:solidFill>
                  <a:srgbClr val="404040"/>
                </a:solidFill>
              </a:rPr>
              <a:t>SETE CARACTERÍSTICAS PARA A SOBREVIVÊNCIA DE </a:t>
            </a:r>
            <a:r>
              <a:rPr lang="en-US" sz="3000"/>
              <a:t>INOVADORES</a:t>
            </a:r>
            <a:endParaRPr sz="3000"/>
          </a:p>
        </p:txBody>
      </p:sp>
      <p:sp>
        <p:nvSpPr>
          <p:cNvPr id="138" name="Google Shape;138;p5"/>
          <p:cNvSpPr txBox="1"/>
          <p:nvPr/>
        </p:nvSpPr>
        <p:spPr>
          <a:xfrm>
            <a:off x="827328" y="1720723"/>
            <a:ext cx="7084695" cy="494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103504" marR="7620" lvl="0" indent="-171448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E38312"/>
              </a:buClr>
              <a:buSzPts val="2700"/>
              <a:buFont typeface="Noto Sans Symbols"/>
              <a:buChar char="❑"/>
            </a:pP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Pensamento</a:t>
            </a:r>
            <a:r>
              <a:rPr lang="en-US" sz="28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Crítico</a:t>
            </a:r>
            <a:r>
              <a:rPr lang="en-US" sz="28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capacidade</a:t>
            </a:r>
            <a:r>
              <a:rPr lang="en-US" sz="28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para resolver </a:t>
            </a: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problemas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3504" marR="5080" lvl="0" indent="-171448" algn="l" rtl="0">
              <a:lnSpc>
                <a:spcPct val="108214"/>
              </a:lnSpc>
              <a:spcBef>
                <a:spcPts val="1400"/>
              </a:spcBef>
              <a:spcAft>
                <a:spcPts val="0"/>
              </a:spcAft>
              <a:buClr>
                <a:srgbClr val="E38312"/>
              </a:buClr>
              <a:buSzPts val="2700"/>
              <a:buFont typeface="Noto Sans Symbols"/>
              <a:buChar char="❑"/>
            </a:pP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Colaboração</a:t>
            </a:r>
            <a:r>
              <a:rPr lang="en-US" sz="28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28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meio</a:t>
            </a:r>
            <a:r>
              <a:rPr lang="en-US" sz="28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de redes e </a:t>
            </a: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liderança</a:t>
            </a:r>
            <a:r>
              <a:rPr lang="en-US" sz="28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28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influência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9565" marR="0" lvl="0" indent="-317500" algn="l" rtl="0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Clr>
                <a:srgbClr val="E38312"/>
              </a:buClr>
              <a:buSzPts val="2700"/>
              <a:buFont typeface="Noto Sans Symbols"/>
              <a:buChar char="❑"/>
            </a:pP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Agilidade</a:t>
            </a:r>
            <a:r>
              <a:rPr lang="en-US" sz="28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adaptabilidade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8930" marR="0" lvl="0" indent="-317500" algn="l" rtl="0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Clr>
                <a:srgbClr val="E38312"/>
              </a:buClr>
              <a:buSzPts val="2700"/>
              <a:buFont typeface="Noto Sans Symbols"/>
              <a:buChar char="❑"/>
            </a:pP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Iniciativa</a:t>
            </a:r>
            <a:r>
              <a:rPr lang="en-US" sz="28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empreendedorismo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9565" marR="0" lvl="0" indent="-317500" algn="l" rtl="0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>
                <a:srgbClr val="E38312"/>
              </a:buClr>
              <a:buSzPts val="2700"/>
              <a:buFont typeface="Noto Sans Symbols"/>
              <a:buChar char="❑"/>
            </a:pP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Acessar</a:t>
            </a:r>
            <a:r>
              <a:rPr lang="en-US" sz="28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analisar</a:t>
            </a:r>
            <a:r>
              <a:rPr lang="en-US" sz="28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informações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9565" marR="0" lvl="0" indent="-317500" algn="l" rtl="0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>
                <a:srgbClr val="E38312"/>
              </a:buClr>
              <a:buSzPts val="2700"/>
              <a:buFont typeface="Noto Sans Symbols"/>
              <a:buChar char="❑"/>
            </a:pP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Comunicação</a:t>
            </a:r>
            <a:r>
              <a:rPr lang="en-US" sz="28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oral e </a:t>
            </a: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escrita</a:t>
            </a:r>
            <a:r>
              <a:rPr lang="en-US" sz="28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efetiva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9565" marR="0" lvl="0" indent="-317500" algn="l" rtl="0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rgbClr val="E38312"/>
              </a:buClr>
              <a:buSzPts val="2700"/>
              <a:buFont typeface="Noto Sans Symbols"/>
              <a:buChar char="❑"/>
            </a:pP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Curiosidade</a:t>
            </a:r>
            <a:r>
              <a:rPr lang="en-US" sz="28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28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imaginação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2200" y="3436620"/>
            <a:ext cx="2782824" cy="2609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4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375" rIns="0" bIns="0" anchor="ctr" anchorCtr="0">
            <a:spAutoFit/>
          </a:bodyPr>
          <a:lstStyle/>
          <a:p>
            <a:pPr marL="73660" marR="5080" lvl="0" indent="0" algn="ctr" rtl="0">
              <a:lnSpc>
                <a:spcPct val="102093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4300"/>
              <a:buFont typeface="Calibri"/>
              <a:buNone/>
            </a:pPr>
            <a:r>
              <a:rPr lang="en-US" sz="4300">
                <a:solidFill>
                  <a:srgbClr val="404040"/>
                </a:solidFill>
              </a:rPr>
              <a:t>CINCO HABILIDADES DOS INOVADORES</a:t>
            </a:r>
            <a:endParaRPr sz="4300"/>
          </a:p>
        </p:txBody>
      </p:sp>
      <p:sp>
        <p:nvSpPr>
          <p:cNvPr id="145" name="Google Shape;145;p6"/>
          <p:cNvSpPr txBox="1"/>
          <p:nvPr/>
        </p:nvSpPr>
        <p:spPr>
          <a:xfrm>
            <a:off x="810250" y="1667725"/>
            <a:ext cx="7991400" cy="49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0800" rIns="0" bIns="0" anchor="t" anchorCtr="0">
            <a:spAutoFit/>
          </a:bodyPr>
          <a:lstStyle/>
          <a:p>
            <a:pPr marL="464819" marR="0" lvl="0" indent="-4540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8312"/>
              </a:buClr>
              <a:buSzPts val="3900"/>
              <a:buFont typeface="Noto Sans Symbols"/>
              <a:buChar char="❑"/>
            </a:pPr>
            <a:r>
              <a:rPr lang="en-US" sz="4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Questionamento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5455" marR="0" lvl="0" indent="-454025" algn="l" rtl="0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Clr>
                <a:srgbClr val="E38312"/>
              </a:buClr>
              <a:buSzPts val="3900"/>
              <a:buFont typeface="Noto Sans Symbols"/>
              <a:buChar char="❑"/>
            </a:pPr>
            <a:r>
              <a:rPr lang="en-US" sz="4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Associação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4819" marR="0" lvl="0" indent="-454025" algn="l" rtl="0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rgbClr val="E38312"/>
              </a:buClr>
              <a:buSzPts val="3900"/>
              <a:buFont typeface="Noto Sans Symbols"/>
              <a:buChar char="❑"/>
            </a:pPr>
            <a:r>
              <a:rPr lang="en-US" sz="4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Observação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5455" marR="0" lvl="0" indent="-454025" algn="l" rtl="0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E38312"/>
              </a:buClr>
              <a:buSzPts val="3900"/>
              <a:buFont typeface="Noto Sans Symbols"/>
              <a:buChar char="❑"/>
            </a:pPr>
            <a:r>
              <a:rPr lang="en-US" sz="4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Experimentação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4819" marR="0" lvl="0" indent="-454025" algn="l" rtl="0">
              <a:lnSpc>
                <a:spcPct val="100000"/>
              </a:lnSpc>
              <a:spcBef>
                <a:spcPts val="919"/>
              </a:spcBef>
              <a:spcAft>
                <a:spcPts val="0"/>
              </a:spcAft>
              <a:buClr>
                <a:srgbClr val="E38312"/>
              </a:buClr>
              <a:buSzPts val="3900"/>
              <a:buFont typeface="Noto Sans Symbols"/>
              <a:buChar char="❑"/>
            </a:pPr>
            <a:r>
              <a:rPr lang="en-US" sz="4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Integração em redes: (networking) para aprender, compartilhar e combinar perspectivas.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81318" y="1043525"/>
            <a:ext cx="2132948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0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4450" rIns="0" bIns="0" anchor="ctr" anchorCtr="0">
            <a:spAutoFit/>
          </a:bodyPr>
          <a:lstStyle/>
          <a:p>
            <a:pPr marL="12700" marR="5080" lvl="0" indent="0" algn="ctr" rtl="0">
              <a:lnSpc>
                <a:spcPct val="102083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4800"/>
              <a:buFont typeface="Calibri"/>
              <a:buNone/>
            </a:pPr>
            <a:r>
              <a:rPr lang="en-US" sz="3100">
                <a:solidFill>
                  <a:srgbClr val="404040"/>
                </a:solidFill>
              </a:rPr>
              <a:t>QUALIDADES ESSENCIAIS DE UM </a:t>
            </a:r>
            <a:r>
              <a:rPr lang="en-US" sz="3100"/>
              <a:t>INOVADOR</a:t>
            </a:r>
            <a:endParaRPr sz="3100"/>
          </a:p>
        </p:txBody>
      </p:sp>
      <p:sp>
        <p:nvSpPr>
          <p:cNvPr id="152" name="Google Shape;152;p7"/>
          <p:cNvSpPr txBox="1"/>
          <p:nvPr/>
        </p:nvSpPr>
        <p:spPr>
          <a:xfrm>
            <a:off x="810258" y="1635379"/>
            <a:ext cx="8142355" cy="484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925" rIns="0" bIns="0" anchor="t" anchorCtr="0">
            <a:spAutoFit/>
          </a:bodyPr>
          <a:lstStyle/>
          <a:p>
            <a:pPr marL="104139" marR="638175" lvl="0" indent="-196850" algn="l" rtl="0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E38312"/>
              </a:buClr>
              <a:buSzPts val="3100"/>
              <a:buFont typeface="Noto Sans Symbols"/>
              <a:buChar char="❑"/>
            </a:pPr>
            <a:r>
              <a:rPr lang="en-US" sz="3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Curiosidade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que é o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hábito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fazer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boas </a:t>
            </a:r>
            <a:r>
              <a:rPr lang="en-US" sz="32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perguntas</a:t>
            </a:r>
            <a:r>
              <a:rPr lang="en-US" sz="3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 um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desejo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entender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profundamente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39" marR="85725" lvl="0" indent="-196850" algn="l" rtl="0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E38312"/>
              </a:buClr>
              <a:buSzPts val="3100"/>
              <a:buFont typeface="Noto Sans Symbols"/>
              <a:buChar char="❑"/>
            </a:pPr>
            <a:r>
              <a:rPr lang="en-US" sz="3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Colaboração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que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começa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ouvir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aprender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com a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experiência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outras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pessoas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possuem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outras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perspectivas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 expertise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muito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diferentes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sua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própria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5285" marR="0" lvl="0" indent="-363855" algn="l" rtl="0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Clr>
                <a:srgbClr val="E38312"/>
              </a:buClr>
              <a:buSzPts val="3100"/>
              <a:buFont typeface="Noto Sans Symbols"/>
              <a:buChar char="❑"/>
            </a:pPr>
            <a:r>
              <a:rPr lang="en-US" sz="32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Pensamento</a:t>
            </a:r>
            <a:r>
              <a:rPr lang="en-US" sz="3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associativo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integrativo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5285" marR="0" lvl="0" indent="-363855" algn="l" rtl="0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Clr>
                <a:srgbClr val="E38312"/>
              </a:buClr>
              <a:buSzPts val="3100"/>
              <a:buFont typeface="Noto Sans Symbols"/>
              <a:buChar char="❑"/>
            </a:pP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Um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viés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direção</a:t>
            </a:r>
            <a:r>
              <a:rPr lang="en-US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US" sz="32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ação</a:t>
            </a:r>
            <a:r>
              <a:rPr lang="en-US" sz="3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32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experimentação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4800"/>
              <a:buFont typeface="Calibri"/>
              <a:buNone/>
            </a:pPr>
            <a:r>
              <a:rPr lang="en-US">
                <a:solidFill>
                  <a:srgbClr val="404040"/>
                </a:solidFill>
              </a:rPr>
              <a:t>Por que inovar?</a:t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902004" y="1795094"/>
            <a:ext cx="7394700" cy="4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925" rIns="0" bIns="0" anchor="t" anchorCtr="0">
            <a:spAutoFit/>
          </a:bodyPr>
          <a:lstStyle/>
          <a:p>
            <a:pPr marL="12700" marR="5080" lvl="0" indent="1206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Segundo a revista norte-americana Business Week, o </a:t>
            </a: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processo de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inovação </a:t>
            </a: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consiste em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recriar </a:t>
            </a: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modelos de negócio e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</a:t>
            </a: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mercados inteiramente novos que vão ao encontro de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necessidades humanas não atendidas</a:t>
            </a: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sobretudo para selecionar e executar as ideias certas, trazendo-as para o mercado em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 recorde</a:t>
            </a: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/>
        </p:nvSpPr>
        <p:spPr>
          <a:xfrm>
            <a:off x="535940" y="1687195"/>
            <a:ext cx="8466600" cy="3059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300" rIns="0" bIns="0" anchor="t" anchorCtr="0">
            <a:spAutoFit/>
          </a:bodyPr>
          <a:lstStyle/>
          <a:p>
            <a:pPr marL="12700" marR="5080" lvl="0" indent="12065">
              <a:lnSpc>
                <a:spcPct val="90000"/>
              </a:lnSpc>
            </a:pP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Foi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buscando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novos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caminhos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para a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inovação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que se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criou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o que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hoje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conhecido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“ Design Thinking”: </a:t>
            </a:r>
            <a:r>
              <a:rPr lang="en-US" sz="36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abordagem</a:t>
            </a: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focada</a:t>
            </a: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no ser </a:t>
            </a:r>
            <a:r>
              <a:rPr lang="en-US" sz="36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humano</a:t>
            </a: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tendo </a:t>
            </a:r>
            <a:r>
              <a:rPr lang="en-US" sz="36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soluções</a:t>
            </a: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criativas</a:t>
            </a: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meio</a:t>
            </a: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US" sz="36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empatia</a:t>
            </a: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a </a:t>
            </a:r>
            <a:r>
              <a:rPr lang="en-US" sz="36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colaboração</a:t>
            </a: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e a </a:t>
            </a:r>
            <a:r>
              <a:rPr lang="en-US" sz="36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experimentação</a:t>
            </a: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    </a:t>
            </a:r>
            <a:r>
              <a:rPr lang="pt-BR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609600" y="723691"/>
            <a:ext cx="466769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Design Thinking</a:t>
            </a:r>
            <a:endParaRPr sz="48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B406B-DE82-3611-081A-53C6699F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Tradicional </a:t>
            </a:r>
            <a:r>
              <a:rPr lang="pt-BR" dirty="0" err="1"/>
              <a:t>vs</a:t>
            </a:r>
            <a:r>
              <a:rPr lang="pt-BR" dirty="0"/>
              <a:t> DT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FECC7F4-315F-C143-48F4-EB6AEE981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14" y="1383128"/>
            <a:ext cx="8827586" cy="547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466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4928e2dbd_0_61"/>
          <p:cNvSpPr txBox="1"/>
          <p:nvPr/>
        </p:nvSpPr>
        <p:spPr>
          <a:xfrm>
            <a:off x="165000" y="1996225"/>
            <a:ext cx="8814000" cy="25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300" rIns="0" bIns="0" anchor="t" anchorCtr="0">
            <a:spAutoFit/>
          </a:bodyPr>
          <a:lstStyle/>
          <a:p>
            <a:pPr marL="12700" marR="5080" lvl="0" indent="1206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 Design Thinking”: é uma metodologia que integra colaboração multidisciplinar e interativa à criação de produtos, sistemas e serviços inovadores com foco no usuário final.</a:t>
            </a:r>
            <a:endParaRPr sz="36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1206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64928e2dbd_0_61"/>
          <p:cNvSpPr txBox="1"/>
          <p:nvPr/>
        </p:nvSpPr>
        <p:spPr>
          <a:xfrm>
            <a:off x="609600" y="723691"/>
            <a:ext cx="4667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Design Thinking</a:t>
            </a:r>
            <a:endParaRPr sz="48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4300"/>
              <a:buFont typeface="Calibri"/>
              <a:buNone/>
            </a:pPr>
            <a:r>
              <a:rPr lang="en-US" sz="4300">
                <a:solidFill>
                  <a:srgbClr val="404040"/>
                </a:solidFill>
              </a:rPr>
              <a:t>Design Thinking</a:t>
            </a:r>
            <a:endParaRPr sz="4300"/>
          </a:p>
        </p:txBody>
      </p:sp>
      <p:sp>
        <p:nvSpPr>
          <p:cNvPr id="176" name="Google Shape;176;p10"/>
          <p:cNvSpPr txBox="1"/>
          <p:nvPr/>
        </p:nvSpPr>
        <p:spPr>
          <a:xfrm>
            <a:off x="458470" y="1752600"/>
            <a:ext cx="8227060" cy="517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É: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765" marR="3006090" lvl="0" indent="0" algn="l" rtl="0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Centrado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nas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Pessoas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Colaborativo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765" marR="4557395" lvl="0" indent="0" algn="l" rtl="0">
              <a:lnSpc>
                <a:spcPct val="1024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Criativo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Otimista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Experimental</a:t>
            </a:r>
          </a:p>
          <a:p>
            <a:pPr marL="24765" marR="4557395">
              <a:lnSpc>
                <a:spcPct val="102400"/>
              </a:lnSpc>
              <a:spcBef>
                <a:spcPts val="5"/>
              </a:spcBef>
            </a:pP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Iterativo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765" marR="0" lvl="0" indent="0" algn="l" rtl="0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Eleva o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nível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inovação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12065" algn="l" rtl="0">
              <a:lnSpc>
                <a:spcPct val="70000"/>
              </a:lnSpc>
              <a:spcBef>
                <a:spcPts val="141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Busca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estabelecer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correspondência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entre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necessidades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humanas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recursos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técnicos</a:t>
            </a:r>
            <a:r>
              <a:rPr lang="en-US" sz="3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disponíveis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4300"/>
              <a:buFont typeface="Calibri"/>
              <a:buNone/>
            </a:pPr>
            <a:r>
              <a:rPr lang="en-US" sz="4300">
                <a:solidFill>
                  <a:srgbClr val="404040"/>
                </a:solidFill>
              </a:rPr>
              <a:t>Design Thinking</a:t>
            </a:r>
            <a:endParaRPr sz="4300"/>
          </a:p>
        </p:txBody>
      </p:sp>
      <p:sp>
        <p:nvSpPr>
          <p:cNvPr id="182" name="Google Shape;182;p11"/>
          <p:cNvSpPr txBox="1"/>
          <p:nvPr/>
        </p:nvSpPr>
        <p:spPr>
          <a:xfrm>
            <a:off x="937055" y="1037514"/>
            <a:ext cx="4421753" cy="4805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1342390" lvl="0" indent="0" algn="l" rtl="0">
              <a:lnSpc>
                <a:spcPct val="116599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Usa: </a:t>
            </a:r>
          </a:p>
          <a:p>
            <a:pPr marL="12700" marR="1342390" lvl="0" indent="0" algn="l" rtl="0">
              <a:lnSpc>
                <a:spcPct val="116599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44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Empatia</a:t>
            </a:r>
            <a:endParaRPr lang="en-US" sz="44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342390" lvl="0" indent="0" algn="l" rtl="0">
              <a:lnSpc>
                <a:spcPct val="116599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44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Curiosidade</a:t>
            </a:r>
            <a:endParaRPr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Brainstorming </a:t>
            </a:r>
            <a:r>
              <a:rPr lang="en-US" sz="44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Prototipação</a:t>
            </a:r>
            <a:r>
              <a:rPr lang="en-US" sz="4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Storytelling</a:t>
            </a:r>
          </a:p>
        </p:txBody>
      </p:sp>
      <p:grpSp>
        <p:nvGrpSpPr>
          <p:cNvPr id="183" name="Google Shape;183;p11"/>
          <p:cNvGrpSpPr/>
          <p:nvPr/>
        </p:nvGrpSpPr>
        <p:grpSpPr>
          <a:xfrm>
            <a:off x="3124200" y="1136903"/>
            <a:ext cx="5320283" cy="2356104"/>
            <a:chOff x="3124200" y="1136903"/>
            <a:chExt cx="5320283" cy="2356104"/>
          </a:xfrm>
        </p:grpSpPr>
        <p:pic>
          <p:nvPicPr>
            <p:cNvPr id="184" name="Google Shape;184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57800" y="1136903"/>
              <a:ext cx="3186683" cy="23561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1"/>
            <p:cNvSpPr/>
            <p:nvPr/>
          </p:nvSpPr>
          <p:spPr>
            <a:xfrm>
              <a:off x="3124200" y="2324100"/>
              <a:ext cx="1752600" cy="76200"/>
            </a:xfrm>
            <a:custGeom>
              <a:avLst/>
              <a:gdLst/>
              <a:ahLst/>
              <a:cxnLst/>
              <a:rect l="l" t="t" r="r" b="b"/>
              <a:pathLst>
                <a:path w="1752600" h="76200" extrusionOk="0">
                  <a:moveTo>
                    <a:pt x="1676400" y="0"/>
                  </a:moveTo>
                  <a:lnTo>
                    <a:pt x="1676400" y="76200"/>
                  </a:lnTo>
                  <a:lnTo>
                    <a:pt x="1739900" y="44450"/>
                  </a:lnTo>
                  <a:lnTo>
                    <a:pt x="1689100" y="44450"/>
                  </a:lnTo>
                  <a:lnTo>
                    <a:pt x="1689100" y="31750"/>
                  </a:lnTo>
                  <a:lnTo>
                    <a:pt x="1739900" y="31750"/>
                  </a:lnTo>
                  <a:lnTo>
                    <a:pt x="1676400" y="0"/>
                  </a:lnTo>
                  <a:close/>
                </a:path>
                <a:path w="1752600" h="76200" extrusionOk="0">
                  <a:moveTo>
                    <a:pt x="16764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676400" y="44450"/>
                  </a:lnTo>
                  <a:lnTo>
                    <a:pt x="1676400" y="31750"/>
                  </a:lnTo>
                  <a:close/>
                </a:path>
                <a:path w="1752600" h="76200" extrusionOk="0">
                  <a:moveTo>
                    <a:pt x="1739900" y="31750"/>
                  </a:moveTo>
                  <a:lnTo>
                    <a:pt x="1689100" y="31750"/>
                  </a:lnTo>
                  <a:lnTo>
                    <a:pt x="1689100" y="44450"/>
                  </a:lnTo>
                  <a:lnTo>
                    <a:pt x="1739900" y="44450"/>
                  </a:lnTo>
                  <a:lnTo>
                    <a:pt x="1752600" y="38100"/>
                  </a:lnTo>
                  <a:lnTo>
                    <a:pt x="1739900" y="31750"/>
                  </a:lnTo>
                  <a:close/>
                </a:path>
              </a:pathLst>
            </a:custGeom>
            <a:solidFill>
              <a:srgbClr val="E3831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" name="Google Shape;186;p11"/>
          <p:cNvGrpSpPr/>
          <p:nvPr/>
        </p:nvGrpSpPr>
        <p:grpSpPr>
          <a:xfrm>
            <a:off x="3505200" y="3566159"/>
            <a:ext cx="4939283" cy="1810512"/>
            <a:chOff x="3505200" y="3566159"/>
            <a:chExt cx="4939283" cy="1810512"/>
          </a:xfrm>
        </p:grpSpPr>
        <p:pic>
          <p:nvPicPr>
            <p:cNvPr id="187" name="Google Shape;187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263895" y="3566159"/>
              <a:ext cx="3180588" cy="1810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11"/>
            <p:cNvSpPr/>
            <p:nvPr/>
          </p:nvSpPr>
          <p:spPr>
            <a:xfrm>
              <a:off x="3505200" y="4152899"/>
              <a:ext cx="1752600" cy="76200"/>
            </a:xfrm>
            <a:custGeom>
              <a:avLst/>
              <a:gdLst/>
              <a:ahLst/>
              <a:cxnLst/>
              <a:rect l="l" t="t" r="r" b="b"/>
              <a:pathLst>
                <a:path w="1752600" h="76200" extrusionOk="0">
                  <a:moveTo>
                    <a:pt x="1676400" y="0"/>
                  </a:moveTo>
                  <a:lnTo>
                    <a:pt x="1676400" y="76200"/>
                  </a:lnTo>
                  <a:lnTo>
                    <a:pt x="1739900" y="44450"/>
                  </a:lnTo>
                  <a:lnTo>
                    <a:pt x="1689100" y="44450"/>
                  </a:lnTo>
                  <a:lnTo>
                    <a:pt x="1689100" y="31750"/>
                  </a:lnTo>
                  <a:lnTo>
                    <a:pt x="1739900" y="31750"/>
                  </a:lnTo>
                  <a:lnTo>
                    <a:pt x="1676400" y="0"/>
                  </a:lnTo>
                  <a:close/>
                </a:path>
                <a:path w="1752600" h="76200" extrusionOk="0">
                  <a:moveTo>
                    <a:pt x="16764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676400" y="44450"/>
                  </a:lnTo>
                  <a:lnTo>
                    <a:pt x="1676400" y="31750"/>
                  </a:lnTo>
                  <a:close/>
                </a:path>
                <a:path w="1752600" h="76200" extrusionOk="0">
                  <a:moveTo>
                    <a:pt x="1739900" y="31750"/>
                  </a:moveTo>
                  <a:lnTo>
                    <a:pt x="1689100" y="31750"/>
                  </a:lnTo>
                  <a:lnTo>
                    <a:pt x="1689100" y="44450"/>
                  </a:lnTo>
                  <a:lnTo>
                    <a:pt x="1739900" y="44450"/>
                  </a:lnTo>
                  <a:lnTo>
                    <a:pt x="1752600" y="38100"/>
                  </a:lnTo>
                  <a:lnTo>
                    <a:pt x="1739900" y="31750"/>
                  </a:lnTo>
                  <a:close/>
                </a:path>
              </a:pathLst>
            </a:custGeom>
            <a:solidFill>
              <a:srgbClr val="E3831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4928e2dbd_0_68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Storytelling e boas histórias</a:t>
            </a:r>
            <a:endParaRPr/>
          </a:p>
        </p:txBody>
      </p:sp>
      <p:sp>
        <p:nvSpPr>
          <p:cNvPr id="194" name="Google Shape;194;g364928e2dbd_0_68"/>
          <p:cNvSpPr txBox="1">
            <a:spLocks noGrp="1"/>
          </p:cNvSpPr>
          <p:nvPr>
            <p:ph type="body" idx="4294967295"/>
          </p:nvPr>
        </p:nvSpPr>
        <p:spPr>
          <a:xfrm>
            <a:off x="457100" y="1604526"/>
            <a:ext cx="8229300" cy="492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475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1063"/>
              </a:spcBef>
              <a:spcAft>
                <a:spcPts val="0"/>
              </a:spcAft>
              <a:buNone/>
            </a:pPr>
            <a:r>
              <a:rPr lang="en-US" sz="3202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arte de contar histórias no design para criar experiências mais envolventes e empáticas, colocando as necessidades e jornadas do utilizador no centro da narrativa. Para implementá-lo, é crucial conhecer profundamente os utilizadores através de personas, mapear a sua jornada, criar narrativas que incluam um conflito e uma solução que resolva os seus problemas.</a:t>
            </a:r>
            <a:endParaRPr sz="320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344"/>
              <a:buFont typeface="Arial"/>
              <a:buNone/>
            </a:pPr>
            <a:r>
              <a:rPr lang="en-US" sz="320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contexto de Design Thinking, é usado para:</a:t>
            </a:r>
            <a:endParaRPr sz="320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5206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320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Explicar uma ideia ou solução de maneira clara e memorável.</a:t>
            </a:r>
            <a:br>
              <a:rPr lang="en-US" sz="320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320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520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320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Conectar-se emocionalmente com as pessoas (usuários, equipe, clientes).</a:t>
            </a:r>
            <a:br>
              <a:rPr lang="en-US" sz="320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320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520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320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Dar sentido aos dados e pesquisas, mostrando como eles se aplicam à vida real.</a:t>
            </a:r>
            <a:br>
              <a:rPr lang="en-US" sz="320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320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520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320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Engajar o público para que compreenda melhor o problema e a proposta de solução.</a:t>
            </a:r>
            <a:br>
              <a:rPr lang="en-US" sz="320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320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344"/>
              <a:buFont typeface="Arial"/>
              <a:buNone/>
            </a:pPr>
            <a:r>
              <a:rPr lang="en-US" sz="320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resumo: storytelling é a arte de explicar e convencer por meio de histórias — em vez de apenas expor fatos ou números frios.</a:t>
            </a:r>
            <a:endParaRPr sz="320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50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63"/>
              </a:spcBef>
              <a:spcAft>
                <a:spcPts val="0"/>
              </a:spcAft>
              <a:buNone/>
            </a:pPr>
            <a:r>
              <a:rPr lang="en-US" sz="135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https://booksite.elsevier.com/9780120884360/casestudies/Chapter_10.pdf</a:t>
            </a:r>
            <a:endParaRPr sz="1350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63"/>
              </a:spcBef>
              <a:spcAft>
                <a:spcPts val="0"/>
              </a:spcAft>
              <a:buNone/>
            </a:pPr>
            <a:endParaRPr sz="1350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4928e2dbd_0_80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</a:t>
            </a:r>
            <a:endParaRPr/>
          </a:p>
        </p:txBody>
      </p:sp>
      <p:sp>
        <p:nvSpPr>
          <p:cNvPr id="200" name="Google Shape;200;g364928e2dbd_0_80"/>
          <p:cNvSpPr txBox="1">
            <a:spLocks noGrp="1"/>
          </p:cNvSpPr>
          <p:nvPr>
            <p:ph type="body" idx="4294967295"/>
          </p:nvPr>
        </p:nvSpPr>
        <p:spPr>
          <a:xfrm>
            <a:off x="457110" y="160452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6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Problema: Alta taxa de contaminação por doenças respiratórias (como gripe e COVID-19) em transporte público lotado.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63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Solução pensada: Um dispositivo portátil chamado SaveLIFE, que filtra o ar ao redor do usuário.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Maria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32 anos, pega o metrô todos os dias às 7h da manhã para ir trabalhar.</a:t>
            </a:r>
            <a:b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Nos horários de pico, os vagões estão cheios, e </a:t>
            </a:r>
            <a:r>
              <a:rPr lang="en-US" sz="1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sempre fica preocupada com tosses e espirros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 seu redor. Durante a pandemia, ela chegou a ficar doente três vezes, mesmo usando máscara.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dia, ao participar de uma oficina de inovação, Maria conheceu a </a:t>
            </a:r>
            <a:r>
              <a:rPr lang="en-US" sz="15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ideia do </a:t>
            </a:r>
            <a:r>
              <a:rPr lang="en-US" sz="1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SaveLIFE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um colar leve com microfiltro de ar, que cria uma “bolha de proteção” ao redor de sua respiração.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testou o protótipo durante suas viagens de metrô. Em vez da sensação de sufoco da máscara comum, sentiu-se mais segura e confortável.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de algumas semanas, Maria percebeu que não tinha mais adoecido e que se sentia mais tranquila para trabalhar e estar com a família.</a:t>
            </a:r>
            <a:endParaRPr sz="15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SaveLIFE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não foi apenas uma solução técnica — ele devolveu à Maria a </a:t>
            </a:r>
            <a:r>
              <a:rPr lang="en-US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confiança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viver sua rotina com mais segurança.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 txBox="1">
            <a:spLocks noGrp="1"/>
          </p:cNvSpPr>
          <p:nvPr>
            <p:ph type="title"/>
          </p:nvPr>
        </p:nvSpPr>
        <p:spPr>
          <a:xfrm>
            <a:off x="902004" y="1785950"/>
            <a:ext cx="7478395" cy="1910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5" rIns="0" bIns="0" anchor="ctr" anchorCtr="0">
            <a:spAutoFit/>
          </a:bodyPr>
          <a:lstStyle/>
          <a:p>
            <a:pPr marL="12700" marR="382270" lvl="0" indent="2286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4000" b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Quando padrões são quebrados, novos mundos emergem</a:t>
            </a:r>
            <a:r>
              <a:rPr lang="en-US" sz="4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  <a:p>
            <a:pPr marL="4350385" lvl="0" indent="0" algn="ctr" rtl="0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404040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Tuli Kupferberg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22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Calibri"/>
              <a:buNone/>
            </a:pPr>
            <a:r>
              <a:rPr lang="en-US" b="1"/>
              <a:t>O que é Design Thinking?</a:t>
            </a:r>
            <a:br>
              <a:rPr lang="en-US"/>
            </a:br>
            <a:endParaRPr>
              <a:solidFill>
                <a:srgbClr val="404040"/>
              </a:solidFill>
            </a:endParaRPr>
          </a:p>
        </p:txBody>
      </p:sp>
      <p:sp>
        <p:nvSpPr>
          <p:cNvPr id="211" name="Google Shape;211;p14"/>
          <p:cNvSpPr txBox="1">
            <a:spLocks noGrp="1"/>
          </p:cNvSpPr>
          <p:nvPr>
            <p:ph type="body" idx="4294967295"/>
          </p:nvPr>
        </p:nvSpPr>
        <p:spPr>
          <a:xfrm>
            <a:off x="757575" y="2303725"/>
            <a:ext cx="7968600" cy="25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0" anchor="t" anchorCtr="0">
            <a:spAutoFit/>
          </a:bodyPr>
          <a:lstStyle/>
          <a:p>
            <a:pPr marL="324000" lvl="0" indent="-162989" algn="l" rtl="0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SzPts val="1260"/>
              <a:buNone/>
            </a:pPr>
            <a:endParaRPr sz="2800" b="1"/>
          </a:p>
          <a:p>
            <a:pPr marL="323999" lvl="0" indent="0" algn="l" rtl="0">
              <a:lnSpc>
                <a:spcPct val="90000"/>
              </a:lnSpc>
              <a:spcBef>
                <a:spcPts val="1063"/>
              </a:spcBef>
              <a:spcAft>
                <a:spcPts val="0"/>
              </a:spcAft>
              <a:buNone/>
            </a:pPr>
            <a:r>
              <a:rPr lang="en-US" sz="2800"/>
              <a:t>Uma habilidade que permite ao designer alinhar o que as pessoas querem com o que pode ser feito, e produzir uma estratégia de negócios viável que crie valor para o cliente e oportunidade de mercado.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D4033E-16E8-420F-EB0C-54B1AC24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Tres</a:t>
            </a:r>
            <a:r>
              <a:rPr lang="pt-BR" dirty="0"/>
              <a:t> </a:t>
            </a:r>
            <a:r>
              <a:rPr lang="pt-BR" dirty="0" err="1"/>
              <a:t>garndes</a:t>
            </a:r>
            <a:r>
              <a:rPr lang="pt-BR" dirty="0"/>
              <a:t> fases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6205E47-BE15-F0AA-60DD-0CA83F6C3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4026"/>
            <a:ext cx="9144000" cy="522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10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4928e2dbd_0_1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Alguns Modelos</a:t>
            </a:r>
            <a:endParaRPr/>
          </a:p>
        </p:txBody>
      </p:sp>
      <p:pic>
        <p:nvPicPr>
          <p:cNvPr id="217" name="Google Shape;217;g364928e2dbd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" y="2369615"/>
            <a:ext cx="7867650" cy="36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64928e2dbd_0_1"/>
          <p:cNvSpPr/>
          <p:nvPr/>
        </p:nvSpPr>
        <p:spPr>
          <a:xfrm>
            <a:off x="817375" y="2462100"/>
            <a:ext cx="7731000" cy="3468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364928e2dbd_0_1"/>
          <p:cNvSpPr/>
          <p:nvPr/>
        </p:nvSpPr>
        <p:spPr>
          <a:xfrm>
            <a:off x="827350" y="2910675"/>
            <a:ext cx="7731000" cy="837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364928e2dbd_0_1"/>
          <p:cNvSpPr/>
          <p:nvPr/>
        </p:nvSpPr>
        <p:spPr>
          <a:xfrm>
            <a:off x="817450" y="3747975"/>
            <a:ext cx="7731000" cy="837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1703" y="2585250"/>
            <a:ext cx="4655126" cy="349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6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Processo do Design Thinking</a:t>
            </a:r>
            <a:endParaRPr/>
          </a:p>
        </p:txBody>
      </p:sp>
      <p:sp>
        <p:nvSpPr>
          <p:cNvPr id="227" name="Google Shape;227;p16"/>
          <p:cNvSpPr txBox="1"/>
          <p:nvPr/>
        </p:nvSpPr>
        <p:spPr>
          <a:xfrm>
            <a:off x="592525" y="1578250"/>
            <a:ext cx="762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Processo</a:t>
            </a:r>
            <a:r>
              <a:rPr lang="en-US" dirty="0"/>
              <a:t> com 5 </a:t>
            </a:r>
            <a:r>
              <a:rPr lang="en-US" dirty="0" err="1"/>
              <a:t>etapas</a:t>
            </a:r>
            <a:r>
              <a:rPr lang="en-US" dirty="0"/>
              <a:t> </a:t>
            </a:r>
            <a:r>
              <a:rPr lang="en-US" dirty="0" err="1"/>
              <a:t>desenvolvido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d.school</a:t>
            </a:r>
            <a:r>
              <a:rPr lang="en-US" dirty="0"/>
              <a:t> da </a:t>
            </a:r>
            <a:r>
              <a:rPr lang="en-US" dirty="0" err="1"/>
              <a:t>Universidade</a:t>
            </a:r>
            <a:r>
              <a:rPr lang="en-US" dirty="0"/>
              <a:t> Stanford para </a:t>
            </a: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soluções</a:t>
            </a:r>
            <a:r>
              <a:rPr lang="en-US" dirty="0"/>
              <a:t> a </a:t>
            </a:r>
            <a:r>
              <a:rPr lang="en-US" dirty="0" err="1"/>
              <a:t>serem</a:t>
            </a:r>
            <a:r>
              <a:rPr lang="en-US" dirty="0"/>
              <a:t> </a:t>
            </a:r>
            <a:r>
              <a:rPr lang="en-US" dirty="0" err="1"/>
              <a:t>adotadas</a:t>
            </a:r>
            <a:r>
              <a:rPr lang="en-US" dirty="0"/>
              <a:t> </a:t>
            </a:r>
            <a:r>
              <a:rPr lang="en-US" dirty="0" err="1"/>
              <a:t>pelas</a:t>
            </a:r>
            <a:r>
              <a:rPr lang="en-US" dirty="0"/>
              <a:t> </a:t>
            </a:r>
            <a:r>
              <a:rPr lang="en-US" dirty="0" err="1"/>
              <a:t>pessoas</a:t>
            </a:r>
            <a:endParaRPr dirty="0"/>
          </a:p>
        </p:txBody>
      </p:sp>
      <p:pic>
        <p:nvPicPr>
          <p:cNvPr id="228" name="Google Shape;2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513" y="2289438"/>
            <a:ext cx="7553325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A7DB9-12C7-BE9B-8AFB-FE81EE069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Empatia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5A2BDBF-B973-2B9F-78AC-A00C4AD2A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14" y="1388416"/>
            <a:ext cx="8669029" cy="376837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AF0E33F-0BB8-67AD-4C0D-67446707F7BA}"/>
              </a:ext>
            </a:extLst>
          </p:cNvPr>
          <p:cNvSpPr txBox="1"/>
          <p:nvPr/>
        </p:nvSpPr>
        <p:spPr>
          <a:xfrm>
            <a:off x="2407459" y="5244106"/>
            <a:ext cx="224346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Pesquisar</a:t>
            </a:r>
          </a:p>
          <a:p>
            <a:r>
              <a:rPr lang="pt-BR" sz="2400" dirty="0"/>
              <a:t>Etnografia</a:t>
            </a:r>
          </a:p>
          <a:p>
            <a:r>
              <a:rPr lang="pt-BR" sz="2400" dirty="0"/>
              <a:t>Entrevistas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3895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64928e2dbd_0_14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Empatia</a:t>
            </a:r>
            <a:endParaRPr/>
          </a:p>
        </p:txBody>
      </p:sp>
      <p:sp>
        <p:nvSpPr>
          <p:cNvPr id="234" name="Google Shape;234;g364928e2dbd_0_14"/>
          <p:cNvSpPr txBox="1">
            <a:spLocks noGrp="1"/>
          </p:cNvSpPr>
          <p:nvPr>
            <p:ph type="body" idx="4294967295"/>
          </p:nvPr>
        </p:nvSpPr>
        <p:spPr>
          <a:xfrm>
            <a:off x="297625" y="1305476"/>
            <a:ext cx="8229300" cy="455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85000" lnSpcReduction="10000"/>
          </a:bodyPr>
          <a:lstStyle/>
          <a:p>
            <a:pPr marL="457200" lvl="0" indent="-35814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Ganhe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compreensão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empática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814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Reunir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informações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dos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clientes.Normalmente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meio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pesquisas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usuários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814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empatia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crucial para um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processo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design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centrado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ser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humano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814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deixe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lado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suas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próprias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suposições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obtenha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visão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real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usuários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suas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necessidades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814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saber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assista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‘Need-finding and empathy: why your customer can't tell you what they want’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 William Burnet.</a:t>
            </a:r>
            <a:r>
              <a:rPr lang="en-US" sz="2400" dirty="0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4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https://www.youtube.com/watch?v=iPEsVB8G4xQ</a:t>
            </a:r>
            <a:endParaRPr sz="24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35" name="Google Shape;235;g364928e2dbd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9450" y="5114171"/>
            <a:ext cx="2006900" cy="17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AEECB-12DB-A197-007D-536A7427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fazer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2A9796D-4F2D-9889-3A45-7293A8183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14" y="1301100"/>
            <a:ext cx="3562350" cy="482917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D8D5D06-6E3C-4FA7-FE82-EE555294B238}"/>
              </a:ext>
            </a:extLst>
          </p:cNvPr>
          <p:cNvSpPr txBox="1"/>
          <p:nvPr/>
        </p:nvSpPr>
        <p:spPr>
          <a:xfrm>
            <a:off x="3878764" y="1975147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Compartilhar percepções;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Organizar informações coletadas;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Identificar temas e padrões;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Destacar informações mais relevantes.</a:t>
            </a:r>
          </a:p>
        </p:txBody>
      </p:sp>
    </p:spTree>
    <p:extLst>
      <p:ext uri="{BB962C8B-B14F-4D97-AF65-F5344CB8AC3E}">
        <p14:creationId xmlns:p14="http://schemas.microsoft.com/office/powerpoint/2010/main" val="2324597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A77D7-88BD-4C25-383A-BB3B08B7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Persona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539A9BA-AEFD-1CEA-A135-4578CFDE2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79" y="1301100"/>
            <a:ext cx="8543925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722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928e2dbd_0_23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Definição</a:t>
            </a:r>
            <a:endParaRPr/>
          </a:p>
        </p:txBody>
      </p:sp>
      <p:sp>
        <p:nvSpPr>
          <p:cNvPr id="246" name="Google Shape;246;g364928e2dbd_0_23"/>
          <p:cNvSpPr txBox="1">
            <a:spLocks noGrp="1"/>
          </p:cNvSpPr>
          <p:nvPr>
            <p:ph type="body" idx="4294967295"/>
          </p:nvPr>
        </p:nvSpPr>
        <p:spPr>
          <a:xfrm>
            <a:off x="457360" y="273092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288607" algn="l" rtl="0">
              <a:lnSpc>
                <a:spcPct val="150000"/>
              </a:lnSpc>
              <a:spcBef>
                <a:spcPts val="1063"/>
              </a:spcBef>
              <a:spcAft>
                <a:spcPts val="0"/>
              </a:spcAft>
              <a:buSzPts val="945"/>
              <a:buChar char="●"/>
            </a:pPr>
            <a:r>
              <a:rPr lang="en-US" dirty="0" err="1"/>
              <a:t>Acumule</a:t>
            </a:r>
            <a:r>
              <a:rPr lang="en-US" dirty="0"/>
              <a:t> as </a:t>
            </a:r>
            <a:r>
              <a:rPr lang="en-US" dirty="0" err="1"/>
              <a:t>informações</a:t>
            </a:r>
            <a:r>
              <a:rPr lang="en-US" dirty="0"/>
              <a:t> que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coletou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a </a:t>
            </a:r>
            <a:r>
              <a:rPr lang="en-US" dirty="0" err="1"/>
              <a:t>etapa</a:t>
            </a:r>
            <a:r>
              <a:rPr lang="en-US" dirty="0"/>
              <a:t> de </a:t>
            </a:r>
            <a:r>
              <a:rPr lang="en-US" dirty="0" err="1"/>
              <a:t>Empatia</a:t>
            </a:r>
            <a:r>
              <a:rPr lang="en-US" dirty="0"/>
              <a:t>.</a:t>
            </a:r>
            <a:endParaRPr dirty="0"/>
          </a:p>
          <a:p>
            <a:pPr marL="457200" lvl="0" indent="-28860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45"/>
              <a:buChar char="●"/>
            </a:pPr>
            <a:r>
              <a:rPr lang="en-US" dirty="0"/>
              <a:t>Analise e </a:t>
            </a:r>
            <a:r>
              <a:rPr lang="en-US" dirty="0" err="1"/>
              <a:t>sintetize</a:t>
            </a:r>
            <a:r>
              <a:rPr lang="en-US" dirty="0"/>
              <a:t> esses dados para </a:t>
            </a:r>
            <a:r>
              <a:rPr lang="en-US" dirty="0" err="1"/>
              <a:t>definir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centrais</a:t>
            </a:r>
            <a:r>
              <a:rPr lang="en-US" dirty="0"/>
              <a:t>.</a:t>
            </a:r>
            <a:endParaRPr dirty="0"/>
          </a:p>
          <a:p>
            <a:pPr marL="457200" lvl="0" indent="-28860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45"/>
              <a:buChar char="●"/>
            </a:pPr>
            <a:r>
              <a:rPr lang="en-US" dirty="0"/>
              <a:t>Procure formular a </a:t>
            </a:r>
            <a:r>
              <a:rPr lang="en-US" dirty="0" err="1"/>
              <a:t>declaração</a:t>
            </a:r>
            <a:r>
              <a:rPr lang="en-US" dirty="0"/>
              <a:t> do </a:t>
            </a:r>
            <a:r>
              <a:rPr lang="en-US" dirty="0" err="1"/>
              <a:t>problema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forma </a:t>
            </a:r>
            <a:r>
              <a:rPr lang="en-US" dirty="0" err="1"/>
              <a:t>centrada</a:t>
            </a:r>
            <a:r>
              <a:rPr lang="en-US" dirty="0"/>
              <a:t> no ser </a:t>
            </a:r>
            <a:r>
              <a:rPr lang="en-US" dirty="0" err="1"/>
              <a:t>humano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247" name="Google Shape;247;g364928e2dbd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4601" y="4676524"/>
            <a:ext cx="2409399" cy="218147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64928e2dbd_0_23"/>
          <p:cNvSpPr txBox="1"/>
          <p:nvPr/>
        </p:nvSpPr>
        <p:spPr>
          <a:xfrm>
            <a:off x="457350" y="1301100"/>
            <a:ext cx="6944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Declare as necessidades e problemas do seu usuário</a:t>
            </a:r>
            <a:endParaRPr sz="3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CAF7A-B632-6664-27B9-341146D5A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Mapa da empatia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2613799-9F60-79DF-6CCD-166632A634D9}"/>
              </a:ext>
            </a:extLst>
          </p:cNvPr>
          <p:cNvSpPr txBox="1"/>
          <p:nvPr/>
        </p:nvSpPr>
        <p:spPr>
          <a:xfrm>
            <a:off x="712381" y="1828800"/>
            <a:ext cx="81126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Explicita dores, frases recorrentes, emoções da(s) persona(s);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Ajuda a esclarecer necessidades e comportamentos do(s) cliente(s).</a:t>
            </a:r>
          </a:p>
        </p:txBody>
      </p:sp>
    </p:spTree>
    <p:extLst>
      <p:ext uri="{BB962C8B-B14F-4D97-AF65-F5344CB8AC3E}">
        <p14:creationId xmlns:p14="http://schemas.microsoft.com/office/powerpoint/2010/main" val="2960669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64928e2dbd_0_29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Idear </a:t>
            </a:r>
            <a:endParaRPr/>
          </a:p>
        </p:txBody>
      </p:sp>
      <p:sp>
        <p:nvSpPr>
          <p:cNvPr id="254" name="Google Shape;254;g364928e2dbd_0_29"/>
          <p:cNvSpPr txBox="1">
            <a:spLocks noGrp="1"/>
          </p:cNvSpPr>
          <p:nvPr>
            <p:ph type="body" idx="4294967295"/>
          </p:nvPr>
        </p:nvSpPr>
        <p:spPr>
          <a:xfrm>
            <a:off x="457360" y="224247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87350" algn="l" rtl="0">
              <a:lnSpc>
                <a:spcPct val="150000"/>
              </a:lnSpc>
              <a:spcBef>
                <a:spcPts val="1063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Pense fora da caixa.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resolver? Proposta de valor?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Pensamento divergente – gere muitas ideias.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Procure maneiras alternativas de enxergar o problema.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Identifique soluções inovadoras para a declaração do problema que você criou.</a:t>
            </a:r>
            <a:endParaRPr sz="4600"/>
          </a:p>
        </p:txBody>
      </p:sp>
      <p:sp>
        <p:nvSpPr>
          <p:cNvPr id="255" name="Google Shape;255;g364928e2dbd_0_29"/>
          <p:cNvSpPr txBox="1"/>
          <p:nvPr/>
        </p:nvSpPr>
        <p:spPr>
          <a:xfrm>
            <a:off x="457350" y="1301100"/>
            <a:ext cx="6745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Desafie pressupostos e crie ideias</a:t>
            </a:r>
            <a:endParaRPr sz="3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C8D41-E7B7-6A4D-5A13-06D8F1C8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Brainstorming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810C4D-C9BA-2E1A-AF7E-2E873E791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4350"/>
            <a:ext cx="7029450" cy="546735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B295649-DC8A-D630-4D94-8A895973F8A7}"/>
              </a:ext>
            </a:extLst>
          </p:cNvPr>
          <p:cNvSpPr txBox="1"/>
          <p:nvPr/>
        </p:nvSpPr>
        <p:spPr>
          <a:xfrm flipH="1">
            <a:off x="6857998" y="3167390"/>
            <a:ext cx="205208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Mapa de calor - 2 votos por pessoa em silêncio</a:t>
            </a:r>
          </a:p>
          <a:p>
            <a:r>
              <a:rPr lang="pt-BR" sz="2000" dirty="0"/>
              <a:t>Selecionar as 3 ideias mais votadas</a:t>
            </a:r>
          </a:p>
        </p:txBody>
      </p:sp>
    </p:spTree>
    <p:extLst>
      <p:ext uri="{BB962C8B-B14F-4D97-AF65-F5344CB8AC3E}">
        <p14:creationId xmlns:p14="http://schemas.microsoft.com/office/powerpoint/2010/main" val="10598501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4928e2dbd_0_40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Prototipar – começar a criar soluções</a:t>
            </a:r>
            <a:endParaRPr/>
          </a:p>
        </p:txBody>
      </p:sp>
      <p:sp>
        <p:nvSpPr>
          <p:cNvPr id="261" name="Google Shape;261;g364928e2dbd_0_40"/>
          <p:cNvSpPr txBox="1">
            <a:spLocks noGrp="1"/>
          </p:cNvSpPr>
          <p:nvPr>
            <p:ph type="body" idx="4294967295"/>
          </p:nvPr>
        </p:nvSpPr>
        <p:spPr>
          <a:xfrm>
            <a:off x="457110" y="160452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81000" algn="l" rtl="0">
              <a:spcBef>
                <a:spcPts val="106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Fase experimental. Não ´a versão final.</a:t>
            </a:r>
            <a:b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Tente identificar a melhor solução possível para cada um dos problemas.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Produza várias versões reduzidas e de baixo custo do produto.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63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2" name="Google Shape;262;g364928e2dbd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450" y="4665925"/>
            <a:ext cx="8974550" cy="197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64928e2dbd_0_35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Testar - experimentar suas soluções</a:t>
            </a:r>
            <a:endParaRPr/>
          </a:p>
        </p:txBody>
      </p:sp>
      <p:sp>
        <p:nvSpPr>
          <p:cNvPr id="268" name="Google Shape;268;g364928e2dbd_0_35"/>
          <p:cNvSpPr txBox="1">
            <a:spLocks noGrp="1"/>
          </p:cNvSpPr>
          <p:nvPr>
            <p:ph type="body" idx="4294967295"/>
          </p:nvPr>
        </p:nvSpPr>
        <p:spPr>
          <a:xfrm>
            <a:off x="417235" y="199327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288607" algn="l" rtl="0">
              <a:spcBef>
                <a:spcPts val="1063"/>
              </a:spcBef>
              <a:spcAft>
                <a:spcPts val="0"/>
              </a:spcAft>
              <a:buSzPts val="945"/>
              <a:buChar char="●"/>
            </a:pPr>
            <a:r>
              <a:rPr lang="en-US"/>
              <a:t>Teste rigorosamente o produto completo utilizando as melhores soluções.</a:t>
            </a:r>
            <a:br>
              <a:rPr lang="en-US"/>
            </a:br>
            <a:endParaRPr/>
          </a:p>
          <a:p>
            <a:pPr marL="457200" lvl="0" indent="-288607" algn="l" rtl="0">
              <a:spcBef>
                <a:spcPts val="0"/>
              </a:spcBef>
              <a:spcAft>
                <a:spcPts val="0"/>
              </a:spcAft>
              <a:buSzPts val="945"/>
              <a:buChar char="●"/>
            </a:pPr>
            <a:r>
              <a:rPr lang="en-US"/>
              <a:t>Pode ser a fase final — ou pode haver iterações.</a:t>
            </a:r>
            <a:br>
              <a:rPr lang="en-US"/>
            </a:br>
            <a:endParaRPr/>
          </a:p>
          <a:p>
            <a:pPr marL="457200" lvl="0" indent="-288607" algn="l" rtl="0">
              <a:spcBef>
                <a:spcPts val="0"/>
              </a:spcBef>
              <a:spcAft>
                <a:spcPts val="0"/>
              </a:spcAft>
              <a:buSzPts val="945"/>
              <a:buChar char="●"/>
            </a:pPr>
            <a:r>
              <a:rPr lang="en-US"/>
              <a:t>Redefina um ou mais problemas adicionais.</a:t>
            </a:r>
            <a:br>
              <a:rPr lang="en-US"/>
            </a:br>
            <a:endParaRPr/>
          </a:p>
          <a:p>
            <a:pPr marL="457200" lvl="0" indent="-288607" algn="l" rtl="0">
              <a:spcBef>
                <a:spcPts val="0"/>
              </a:spcBef>
              <a:spcAft>
                <a:spcPts val="0"/>
              </a:spcAft>
              <a:buSzPts val="945"/>
              <a:buChar char="●"/>
            </a:pPr>
            <a:r>
              <a:rPr lang="en-US"/>
              <a:t>Volte às etapas anteriores e refine.</a:t>
            </a:r>
            <a:br>
              <a:rPr lang="en-US"/>
            </a:br>
            <a:endParaRPr/>
          </a:p>
          <a:p>
            <a:pPr marL="457200" lvl="0" indent="-288607" algn="l" rtl="0">
              <a:spcBef>
                <a:spcPts val="0"/>
              </a:spcBef>
              <a:spcAft>
                <a:spcPts val="0"/>
              </a:spcAft>
              <a:buSzPts val="945"/>
              <a:buChar char="●"/>
            </a:pPr>
            <a:r>
              <a:rPr lang="en-US"/>
              <a:t>Elimine soluções alternativas.</a:t>
            </a:r>
            <a:endParaRPr/>
          </a:p>
          <a:p>
            <a:pPr marL="457200" lvl="0" indent="0" algn="l" rtl="0">
              <a:spcBef>
                <a:spcPts val="1063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4928e2dbd_0_51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Resumo</a:t>
            </a:r>
            <a:endParaRPr/>
          </a:p>
        </p:txBody>
      </p:sp>
      <p:sp>
        <p:nvSpPr>
          <p:cNvPr id="274" name="Google Shape;274;g364928e2dbd_0_51"/>
          <p:cNvSpPr txBox="1">
            <a:spLocks noGrp="1"/>
          </p:cNvSpPr>
          <p:nvPr>
            <p:ph type="body" idx="4294967295"/>
          </p:nvPr>
        </p:nvSpPr>
        <p:spPr>
          <a:xfrm>
            <a:off x="457100" y="1604526"/>
            <a:ext cx="8229300" cy="461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processo de Design Thinking é iterativo, flexível e focado na colaboração entre designers e usuários, com ênfase em transformar ideias em realidade com base em como os usuários reais pensam, sentem e se comportam.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Design Thinking enfrenta problemas complexos por meio de: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-US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Empatia: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compreender as necessidades humanas envolvidas.</a:t>
            </a:r>
            <a:b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-US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Definir: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reenquadrar e definir o problema de forma centrada no ser humano.</a:t>
            </a:r>
            <a:b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-US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Idear: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gerar muitas ideias em sessões de ideação.</a:t>
            </a:r>
            <a:b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-US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Prototipar: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adotar uma abordagem prática na prototipagem.</a:t>
            </a:r>
            <a:b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-US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Testar: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desenvolver um protótipo/solução para o problema.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3425" rIns="0" bIns="0" anchor="ctr" anchorCtr="0">
            <a:spAutoFit/>
          </a:bodyPr>
          <a:lstStyle/>
          <a:p>
            <a:pPr marL="7366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4800"/>
              <a:buFont typeface="Calibri"/>
              <a:buNone/>
            </a:pPr>
            <a:r>
              <a:rPr lang="en-US">
                <a:solidFill>
                  <a:srgbClr val="404040"/>
                </a:solidFill>
              </a:rPr>
              <a:t>Spaces of design thinking</a:t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3035935" y="1734438"/>
            <a:ext cx="1932305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04040"/>
                </a:solidFill>
                <a:latin typeface="Tahoma"/>
                <a:ea typeface="Tahoma"/>
                <a:cs typeface="Tahoma"/>
                <a:sym typeface="Tahoma"/>
              </a:rPr>
              <a:t>Inspiration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1" name="Google Shape;28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4094" y="4629726"/>
            <a:ext cx="1469402" cy="356314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7"/>
          <p:cNvSpPr txBox="1"/>
          <p:nvPr/>
        </p:nvSpPr>
        <p:spPr>
          <a:xfrm>
            <a:off x="5566028" y="4527041"/>
            <a:ext cx="1504315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Ideation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3" name="Google Shape;28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9372" y="4553526"/>
            <a:ext cx="2829428" cy="43397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7"/>
          <p:cNvSpPr txBox="1"/>
          <p:nvPr/>
        </p:nvSpPr>
        <p:spPr>
          <a:xfrm>
            <a:off x="764540" y="4450841"/>
            <a:ext cx="2863215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Implementation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85" name="Google Shape;285;p17"/>
          <p:cNvGrpSpPr/>
          <p:nvPr/>
        </p:nvGrpSpPr>
        <p:grpSpPr>
          <a:xfrm>
            <a:off x="5522467" y="2133600"/>
            <a:ext cx="1694180" cy="1978025"/>
            <a:chOff x="5522467" y="2133600"/>
            <a:chExt cx="1694180" cy="1978025"/>
          </a:xfrm>
        </p:grpSpPr>
        <p:sp>
          <p:nvSpPr>
            <p:cNvPr id="286" name="Google Shape;286;p17"/>
            <p:cNvSpPr/>
            <p:nvPr/>
          </p:nvSpPr>
          <p:spPr>
            <a:xfrm>
              <a:off x="5522467" y="2133600"/>
              <a:ext cx="1694180" cy="1978025"/>
            </a:xfrm>
            <a:custGeom>
              <a:avLst/>
              <a:gdLst/>
              <a:ahLst/>
              <a:cxnLst/>
              <a:rect l="l" t="t" r="r" b="b"/>
              <a:pathLst>
                <a:path w="1694179" h="1978025" extrusionOk="0">
                  <a:moveTo>
                    <a:pt x="268732" y="0"/>
                  </a:moveTo>
                  <a:lnTo>
                    <a:pt x="214461" y="1489"/>
                  </a:lnTo>
                  <a:lnTo>
                    <a:pt x="160367" y="6093"/>
                  </a:lnTo>
                  <a:lnTo>
                    <a:pt x="106535" y="13789"/>
                  </a:lnTo>
                  <a:lnTo>
                    <a:pt x="53051" y="24550"/>
                  </a:lnTo>
                  <a:lnTo>
                    <a:pt x="0" y="38353"/>
                  </a:lnTo>
                  <a:lnTo>
                    <a:pt x="71120" y="391033"/>
                  </a:lnTo>
                  <a:lnTo>
                    <a:pt x="119909" y="378680"/>
                  </a:lnTo>
                  <a:lnTo>
                    <a:pt x="169211" y="369839"/>
                  </a:lnTo>
                  <a:lnTo>
                    <a:pt x="218870" y="364547"/>
                  </a:lnTo>
                  <a:lnTo>
                    <a:pt x="268732" y="362838"/>
                  </a:lnTo>
                  <a:lnTo>
                    <a:pt x="311983" y="364151"/>
                  </a:lnTo>
                  <a:lnTo>
                    <a:pt x="354667" y="368046"/>
                  </a:lnTo>
                  <a:lnTo>
                    <a:pt x="396732" y="374461"/>
                  </a:lnTo>
                  <a:lnTo>
                    <a:pt x="438123" y="383332"/>
                  </a:lnTo>
                  <a:lnTo>
                    <a:pt x="478790" y="394595"/>
                  </a:lnTo>
                  <a:lnTo>
                    <a:pt x="518677" y="408188"/>
                  </a:lnTo>
                  <a:lnTo>
                    <a:pt x="557733" y="424047"/>
                  </a:lnTo>
                  <a:lnTo>
                    <a:pt x="595905" y="442108"/>
                  </a:lnTo>
                  <a:lnTo>
                    <a:pt x="633140" y="462309"/>
                  </a:lnTo>
                  <a:lnTo>
                    <a:pt x="669385" y="484585"/>
                  </a:lnTo>
                  <a:lnTo>
                    <a:pt x="704588" y="508874"/>
                  </a:lnTo>
                  <a:lnTo>
                    <a:pt x="738694" y="535112"/>
                  </a:lnTo>
                  <a:lnTo>
                    <a:pt x="771652" y="563236"/>
                  </a:lnTo>
                  <a:lnTo>
                    <a:pt x="803409" y="593182"/>
                  </a:lnTo>
                  <a:lnTo>
                    <a:pt x="833912" y="624887"/>
                  </a:lnTo>
                  <a:lnTo>
                    <a:pt x="863107" y="658288"/>
                  </a:lnTo>
                  <a:lnTo>
                    <a:pt x="890943" y="693321"/>
                  </a:lnTo>
                  <a:lnTo>
                    <a:pt x="917366" y="729923"/>
                  </a:lnTo>
                  <a:lnTo>
                    <a:pt x="942323" y="768031"/>
                  </a:lnTo>
                  <a:lnTo>
                    <a:pt x="965762" y="807580"/>
                  </a:lnTo>
                  <a:lnTo>
                    <a:pt x="987629" y="848509"/>
                  </a:lnTo>
                  <a:lnTo>
                    <a:pt x="1007872" y="890753"/>
                  </a:lnTo>
                  <a:lnTo>
                    <a:pt x="1026439" y="934249"/>
                  </a:lnTo>
                  <a:lnTo>
                    <a:pt x="1043275" y="978933"/>
                  </a:lnTo>
                  <a:lnTo>
                    <a:pt x="1058328" y="1024743"/>
                  </a:lnTo>
                  <a:lnTo>
                    <a:pt x="1071546" y="1071615"/>
                  </a:lnTo>
                  <a:lnTo>
                    <a:pt x="1082875" y="1119486"/>
                  </a:lnTo>
                  <a:lnTo>
                    <a:pt x="1092263" y="1168292"/>
                  </a:lnTo>
                  <a:lnTo>
                    <a:pt x="1099657" y="1217969"/>
                  </a:lnTo>
                  <a:lnTo>
                    <a:pt x="1105004" y="1268455"/>
                  </a:lnTo>
                  <a:lnTo>
                    <a:pt x="1108250" y="1319687"/>
                  </a:lnTo>
                  <a:lnTo>
                    <a:pt x="1109345" y="1371600"/>
                  </a:lnTo>
                  <a:lnTo>
                    <a:pt x="1109204" y="1389241"/>
                  </a:lnTo>
                  <a:lnTo>
                    <a:pt x="1108789" y="1406905"/>
                  </a:lnTo>
                  <a:lnTo>
                    <a:pt x="1107186" y="1442212"/>
                  </a:lnTo>
                  <a:lnTo>
                    <a:pt x="822198" y="1418209"/>
                  </a:lnTo>
                  <a:lnTo>
                    <a:pt x="1227328" y="1978025"/>
                  </a:lnTo>
                  <a:lnTo>
                    <a:pt x="1693926" y="1491742"/>
                  </a:lnTo>
                  <a:lnTo>
                    <a:pt x="1408811" y="1467739"/>
                  </a:lnTo>
                  <a:lnTo>
                    <a:pt x="1410071" y="1443716"/>
                  </a:lnTo>
                  <a:lnTo>
                    <a:pt x="1410985" y="1419669"/>
                  </a:lnTo>
                  <a:lnTo>
                    <a:pt x="1411543" y="1395622"/>
                  </a:lnTo>
                  <a:lnTo>
                    <a:pt x="1411732" y="1371600"/>
                  </a:lnTo>
                  <a:lnTo>
                    <a:pt x="1410906" y="1318986"/>
                  </a:lnTo>
                  <a:lnTo>
                    <a:pt x="1408449" y="1266873"/>
                  </a:lnTo>
                  <a:lnTo>
                    <a:pt x="1404391" y="1215297"/>
                  </a:lnTo>
                  <a:lnTo>
                    <a:pt x="1398761" y="1164293"/>
                  </a:lnTo>
                  <a:lnTo>
                    <a:pt x="1391588" y="1113897"/>
                  </a:lnTo>
                  <a:lnTo>
                    <a:pt x="1382903" y="1064144"/>
                  </a:lnTo>
                  <a:lnTo>
                    <a:pt x="1372734" y="1015070"/>
                  </a:lnTo>
                  <a:lnTo>
                    <a:pt x="1361112" y="966710"/>
                  </a:lnTo>
                  <a:lnTo>
                    <a:pt x="1348066" y="919100"/>
                  </a:lnTo>
                  <a:lnTo>
                    <a:pt x="1333626" y="872275"/>
                  </a:lnTo>
                  <a:lnTo>
                    <a:pt x="1317821" y="826271"/>
                  </a:lnTo>
                  <a:lnTo>
                    <a:pt x="1300681" y="781124"/>
                  </a:lnTo>
                  <a:lnTo>
                    <a:pt x="1282236" y="736868"/>
                  </a:lnTo>
                  <a:lnTo>
                    <a:pt x="1262515" y="693539"/>
                  </a:lnTo>
                  <a:lnTo>
                    <a:pt x="1241547" y="651173"/>
                  </a:lnTo>
                  <a:lnTo>
                    <a:pt x="1219363" y="609806"/>
                  </a:lnTo>
                  <a:lnTo>
                    <a:pt x="1195992" y="569472"/>
                  </a:lnTo>
                  <a:lnTo>
                    <a:pt x="1171464" y="530208"/>
                  </a:lnTo>
                  <a:lnTo>
                    <a:pt x="1145808" y="492048"/>
                  </a:lnTo>
                  <a:lnTo>
                    <a:pt x="1119053" y="455029"/>
                  </a:lnTo>
                  <a:lnTo>
                    <a:pt x="1091231" y="419186"/>
                  </a:lnTo>
                  <a:lnTo>
                    <a:pt x="1062369" y="384554"/>
                  </a:lnTo>
                  <a:lnTo>
                    <a:pt x="1032498" y="351169"/>
                  </a:lnTo>
                  <a:lnTo>
                    <a:pt x="1001647" y="319067"/>
                  </a:lnTo>
                  <a:lnTo>
                    <a:pt x="969846" y="288282"/>
                  </a:lnTo>
                  <a:lnTo>
                    <a:pt x="937125" y="258851"/>
                  </a:lnTo>
                  <a:lnTo>
                    <a:pt x="903513" y="230808"/>
                  </a:lnTo>
                  <a:lnTo>
                    <a:pt x="869040" y="204190"/>
                  </a:lnTo>
                  <a:lnTo>
                    <a:pt x="833735" y="179032"/>
                  </a:lnTo>
                  <a:lnTo>
                    <a:pt x="797628" y="155370"/>
                  </a:lnTo>
                  <a:lnTo>
                    <a:pt x="760749" y="133238"/>
                  </a:lnTo>
                  <a:lnTo>
                    <a:pt x="723127" y="112673"/>
                  </a:lnTo>
                  <a:lnTo>
                    <a:pt x="684791" y="93710"/>
                  </a:lnTo>
                  <a:lnTo>
                    <a:pt x="645773" y="76384"/>
                  </a:lnTo>
                  <a:lnTo>
                    <a:pt x="606100" y="60732"/>
                  </a:lnTo>
                  <a:lnTo>
                    <a:pt x="565803" y="46788"/>
                  </a:lnTo>
                  <a:lnTo>
                    <a:pt x="524911" y="34588"/>
                  </a:lnTo>
                  <a:lnTo>
                    <a:pt x="483455" y="24167"/>
                  </a:lnTo>
                  <a:lnTo>
                    <a:pt x="441463" y="15561"/>
                  </a:lnTo>
                  <a:lnTo>
                    <a:pt x="398965" y="8806"/>
                  </a:lnTo>
                  <a:lnTo>
                    <a:pt x="355990" y="3937"/>
                  </a:lnTo>
                  <a:lnTo>
                    <a:pt x="312569" y="990"/>
                  </a:lnTo>
                  <a:lnTo>
                    <a:pt x="268732" y="0"/>
                  </a:lnTo>
                  <a:close/>
                </a:path>
              </a:pathLst>
            </a:custGeom>
            <a:solidFill>
              <a:srgbClr val="626F5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7"/>
            <p:cNvSpPr/>
            <p:nvPr/>
          </p:nvSpPr>
          <p:spPr>
            <a:xfrm>
              <a:off x="5522467" y="2133600"/>
              <a:ext cx="1694180" cy="1978025"/>
            </a:xfrm>
            <a:custGeom>
              <a:avLst/>
              <a:gdLst/>
              <a:ahLst/>
              <a:cxnLst/>
              <a:rect l="l" t="t" r="r" b="b"/>
              <a:pathLst>
                <a:path w="1694179" h="1978025" extrusionOk="0">
                  <a:moveTo>
                    <a:pt x="1107186" y="1442212"/>
                  </a:moveTo>
                  <a:lnTo>
                    <a:pt x="1108112" y="1424570"/>
                  </a:lnTo>
                  <a:lnTo>
                    <a:pt x="1108789" y="1406905"/>
                  </a:lnTo>
                  <a:lnTo>
                    <a:pt x="1109204" y="1389241"/>
                  </a:lnTo>
                  <a:lnTo>
                    <a:pt x="1109345" y="1371600"/>
                  </a:lnTo>
                  <a:lnTo>
                    <a:pt x="1108250" y="1319687"/>
                  </a:lnTo>
                  <a:lnTo>
                    <a:pt x="1105004" y="1268455"/>
                  </a:lnTo>
                  <a:lnTo>
                    <a:pt x="1099657" y="1217969"/>
                  </a:lnTo>
                  <a:lnTo>
                    <a:pt x="1092263" y="1168292"/>
                  </a:lnTo>
                  <a:lnTo>
                    <a:pt x="1082875" y="1119486"/>
                  </a:lnTo>
                  <a:lnTo>
                    <a:pt x="1071546" y="1071615"/>
                  </a:lnTo>
                  <a:lnTo>
                    <a:pt x="1058328" y="1024743"/>
                  </a:lnTo>
                  <a:lnTo>
                    <a:pt x="1043275" y="978933"/>
                  </a:lnTo>
                  <a:lnTo>
                    <a:pt x="1026439" y="934249"/>
                  </a:lnTo>
                  <a:lnTo>
                    <a:pt x="1007872" y="890753"/>
                  </a:lnTo>
                  <a:lnTo>
                    <a:pt x="987629" y="848509"/>
                  </a:lnTo>
                  <a:lnTo>
                    <a:pt x="965762" y="807580"/>
                  </a:lnTo>
                  <a:lnTo>
                    <a:pt x="942323" y="768031"/>
                  </a:lnTo>
                  <a:lnTo>
                    <a:pt x="917366" y="729923"/>
                  </a:lnTo>
                  <a:lnTo>
                    <a:pt x="890943" y="693321"/>
                  </a:lnTo>
                  <a:lnTo>
                    <a:pt x="863107" y="658288"/>
                  </a:lnTo>
                  <a:lnTo>
                    <a:pt x="833912" y="624887"/>
                  </a:lnTo>
                  <a:lnTo>
                    <a:pt x="803409" y="593182"/>
                  </a:lnTo>
                  <a:lnTo>
                    <a:pt x="771652" y="563236"/>
                  </a:lnTo>
                  <a:lnTo>
                    <a:pt x="738694" y="535112"/>
                  </a:lnTo>
                  <a:lnTo>
                    <a:pt x="704588" y="508874"/>
                  </a:lnTo>
                  <a:lnTo>
                    <a:pt x="669385" y="484585"/>
                  </a:lnTo>
                  <a:lnTo>
                    <a:pt x="633140" y="462309"/>
                  </a:lnTo>
                  <a:lnTo>
                    <a:pt x="595905" y="442108"/>
                  </a:lnTo>
                  <a:lnTo>
                    <a:pt x="557733" y="424047"/>
                  </a:lnTo>
                  <a:lnTo>
                    <a:pt x="518677" y="408188"/>
                  </a:lnTo>
                  <a:lnTo>
                    <a:pt x="478790" y="394595"/>
                  </a:lnTo>
                  <a:lnTo>
                    <a:pt x="438123" y="383332"/>
                  </a:lnTo>
                  <a:lnTo>
                    <a:pt x="396732" y="374461"/>
                  </a:lnTo>
                  <a:lnTo>
                    <a:pt x="354667" y="368046"/>
                  </a:lnTo>
                  <a:lnTo>
                    <a:pt x="311983" y="364151"/>
                  </a:lnTo>
                  <a:lnTo>
                    <a:pt x="268732" y="362838"/>
                  </a:lnTo>
                  <a:lnTo>
                    <a:pt x="218870" y="364547"/>
                  </a:lnTo>
                  <a:lnTo>
                    <a:pt x="169211" y="369839"/>
                  </a:lnTo>
                  <a:lnTo>
                    <a:pt x="119909" y="378680"/>
                  </a:lnTo>
                  <a:lnTo>
                    <a:pt x="71120" y="391033"/>
                  </a:lnTo>
                  <a:lnTo>
                    <a:pt x="0" y="38353"/>
                  </a:lnTo>
                  <a:lnTo>
                    <a:pt x="53051" y="24550"/>
                  </a:lnTo>
                  <a:lnTo>
                    <a:pt x="106535" y="13789"/>
                  </a:lnTo>
                  <a:lnTo>
                    <a:pt x="160367" y="6093"/>
                  </a:lnTo>
                  <a:lnTo>
                    <a:pt x="214461" y="1489"/>
                  </a:lnTo>
                  <a:lnTo>
                    <a:pt x="268732" y="0"/>
                  </a:lnTo>
                  <a:lnTo>
                    <a:pt x="312569" y="990"/>
                  </a:lnTo>
                  <a:lnTo>
                    <a:pt x="355990" y="3937"/>
                  </a:lnTo>
                  <a:lnTo>
                    <a:pt x="398965" y="8806"/>
                  </a:lnTo>
                  <a:lnTo>
                    <a:pt x="441463" y="15561"/>
                  </a:lnTo>
                  <a:lnTo>
                    <a:pt x="483455" y="24167"/>
                  </a:lnTo>
                  <a:lnTo>
                    <a:pt x="524911" y="34588"/>
                  </a:lnTo>
                  <a:lnTo>
                    <a:pt x="565803" y="46788"/>
                  </a:lnTo>
                  <a:lnTo>
                    <a:pt x="606100" y="60732"/>
                  </a:lnTo>
                  <a:lnTo>
                    <a:pt x="645773" y="76384"/>
                  </a:lnTo>
                  <a:lnTo>
                    <a:pt x="684791" y="93710"/>
                  </a:lnTo>
                  <a:lnTo>
                    <a:pt x="723127" y="112673"/>
                  </a:lnTo>
                  <a:lnTo>
                    <a:pt x="760749" y="133238"/>
                  </a:lnTo>
                  <a:lnTo>
                    <a:pt x="797628" y="155370"/>
                  </a:lnTo>
                  <a:lnTo>
                    <a:pt x="833735" y="179032"/>
                  </a:lnTo>
                  <a:lnTo>
                    <a:pt x="869040" y="204190"/>
                  </a:lnTo>
                  <a:lnTo>
                    <a:pt x="903513" y="230808"/>
                  </a:lnTo>
                  <a:lnTo>
                    <a:pt x="937125" y="258851"/>
                  </a:lnTo>
                  <a:lnTo>
                    <a:pt x="969846" y="288282"/>
                  </a:lnTo>
                  <a:lnTo>
                    <a:pt x="1001647" y="319067"/>
                  </a:lnTo>
                  <a:lnTo>
                    <a:pt x="1032498" y="351169"/>
                  </a:lnTo>
                  <a:lnTo>
                    <a:pt x="1062369" y="384554"/>
                  </a:lnTo>
                  <a:lnTo>
                    <a:pt x="1091231" y="419186"/>
                  </a:lnTo>
                  <a:lnTo>
                    <a:pt x="1119053" y="455029"/>
                  </a:lnTo>
                  <a:lnTo>
                    <a:pt x="1145808" y="492048"/>
                  </a:lnTo>
                  <a:lnTo>
                    <a:pt x="1171464" y="530208"/>
                  </a:lnTo>
                  <a:lnTo>
                    <a:pt x="1195992" y="569472"/>
                  </a:lnTo>
                  <a:lnTo>
                    <a:pt x="1219363" y="609806"/>
                  </a:lnTo>
                  <a:lnTo>
                    <a:pt x="1241547" y="651173"/>
                  </a:lnTo>
                  <a:lnTo>
                    <a:pt x="1262515" y="693539"/>
                  </a:lnTo>
                  <a:lnTo>
                    <a:pt x="1282236" y="736868"/>
                  </a:lnTo>
                  <a:lnTo>
                    <a:pt x="1300681" y="781124"/>
                  </a:lnTo>
                  <a:lnTo>
                    <a:pt x="1317821" y="826271"/>
                  </a:lnTo>
                  <a:lnTo>
                    <a:pt x="1333626" y="872275"/>
                  </a:lnTo>
                  <a:lnTo>
                    <a:pt x="1348066" y="919100"/>
                  </a:lnTo>
                  <a:lnTo>
                    <a:pt x="1361112" y="966710"/>
                  </a:lnTo>
                  <a:lnTo>
                    <a:pt x="1372734" y="1015070"/>
                  </a:lnTo>
                  <a:lnTo>
                    <a:pt x="1382903" y="1064144"/>
                  </a:lnTo>
                  <a:lnTo>
                    <a:pt x="1391588" y="1113897"/>
                  </a:lnTo>
                  <a:lnTo>
                    <a:pt x="1398761" y="1164293"/>
                  </a:lnTo>
                  <a:lnTo>
                    <a:pt x="1404391" y="1215297"/>
                  </a:lnTo>
                  <a:lnTo>
                    <a:pt x="1408449" y="1266873"/>
                  </a:lnTo>
                  <a:lnTo>
                    <a:pt x="1410906" y="1318986"/>
                  </a:lnTo>
                  <a:lnTo>
                    <a:pt x="1411732" y="1371600"/>
                  </a:lnTo>
                  <a:lnTo>
                    <a:pt x="1411543" y="1395622"/>
                  </a:lnTo>
                  <a:lnTo>
                    <a:pt x="1410985" y="1419669"/>
                  </a:lnTo>
                  <a:lnTo>
                    <a:pt x="1410071" y="1443716"/>
                  </a:lnTo>
                  <a:lnTo>
                    <a:pt x="1408811" y="1467739"/>
                  </a:lnTo>
                  <a:lnTo>
                    <a:pt x="1693926" y="1491742"/>
                  </a:lnTo>
                  <a:lnTo>
                    <a:pt x="1227328" y="1978025"/>
                  </a:lnTo>
                  <a:lnTo>
                    <a:pt x="822198" y="1418209"/>
                  </a:lnTo>
                  <a:lnTo>
                    <a:pt x="1107186" y="144221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p17"/>
          <p:cNvGrpSpPr/>
          <p:nvPr/>
        </p:nvGrpSpPr>
        <p:grpSpPr>
          <a:xfrm>
            <a:off x="1857501" y="5150230"/>
            <a:ext cx="4541520" cy="1250950"/>
            <a:chOff x="1857501" y="5150230"/>
            <a:chExt cx="4541520" cy="1250950"/>
          </a:xfrm>
        </p:grpSpPr>
        <p:sp>
          <p:nvSpPr>
            <p:cNvPr id="289" name="Google Shape;289;p17"/>
            <p:cNvSpPr/>
            <p:nvPr/>
          </p:nvSpPr>
          <p:spPr>
            <a:xfrm>
              <a:off x="1857501" y="5150230"/>
              <a:ext cx="4541520" cy="1250950"/>
            </a:xfrm>
            <a:custGeom>
              <a:avLst/>
              <a:gdLst/>
              <a:ahLst/>
              <a:cxnLst/>
              <a:rect l="l" t="t" r="r" b="b"/>
              <a:pathLst>
                <a:path w="4541520" h="1250950" extrusionOk="0">
                  <a:moveTo>
                    <a:pt x="619887" y="0"/>
                  </a:moveTo>
                  <a:lnTo>
                    <a:pt x="0" y="287147"/>
                  </a:lnTo>
                  <a:lnTo>
                    <a:pt x="504825" y="289306"/>
                  </a:lnTo>
                  <a:lnTo>
                    <a:pt x="504698" y="295148"/>
                  </a:lnTo>
                  <a:lnTo>
                    <a:pt x="508671" y="358310"/>
                  </a:lnTo>
                  <a:lnTo>
                    <a:pt x="520433" y="417555"/>
                  </a:lnTo>
                  <a:lnTo>
                    <a:pt x="539748" y="475692"/>
                  </a:lnTo>
                  <a:lnTo>
                    <a:pt x="566379" y="532610"/>
                  </a:lnTo>
                  <a:lnTo>
                    <a:pt x="600088" y="588197"/>
                  </a:lnTo>
                  <a:lnTo>
                    <a:pt x="640640" y="642342"/>
                  </a:lnTo>
                  <a:lnTo>
                    <a:pt x="687797" y="694933"/>
                  </a:lnTo>
                  <a:lnTo>
                    <a:pt x="741323" y="745858"/>
                  </a:lnTo>
                  <a:lnTo>
                    <a:pt x="770401" y="770662"/>
                  </a:lnTo>
                  <a:lnTo>
                    <a:pt x="800981" y="795007"/>
                  </a:lnTo>
                  <a:lnTo>
                    <a:pt x="833036" y="818880"/>
                  </a:lnTo>
                  <a:lnTo>
                    <a:pt x="866535" y="842267"/>
                  </a:lnTo>
                  <a:lnTo>
                    <a:pt x="901448" y="865154"/>
                  </a:lnTo>
                  <a:lnTo>
                    <a:pt x="937747" y="887527"/>
                  </a:lnTo>
                  <a:lnTo>
                    <a:pt x="975401" y="909372"/>
                  </a:lnTo>
                  <a:lnTo>
                    <a:pt x="1014381" y="930675"/>
                  </a:lnTo>
                  <a:lnTo>
                    <a:pt x="1054657" y="951423"/>
                  </a:lnTo>
                  <a:lnTo>
                    <a:pt x="1096200" y="971600"/>
                  </a:lnTo>
                  <a:lnTo>
                    <a:pt x="1138980" y="991194"/>
                  </a:lnTo>
                  <a:lnTo>
                    <a:pt x="1182968" y="1010191"/>
                  </a:lnTo>
                  <a:lnTo>
                    <a:pt x="1228133" y="1028576"/>
                  </a:lnTo>
                  <a:lnTo>
                    <a:pt x="1274447" y="1046335"/>
                  </a:lnTo>
                  <a:lnTo>
                    <a:pt x="1321880" y="1063455"/>
                  </a:lnTo>
                  <a:lnTo>
                    <a:pt x="1370402" y="1079921"/>
                  </a:lnTo>
                  <a:lnTo>
                    <a:pt x="1419983" y="1095721"/>
                  </a:lnTo>
                  <a:lnTo>
                    <a:pt x="1470594" y="1110839"/>
                  </a:lnTo>
                  <a:lnTo>
                    <a:pt x="1522206" y="1125261"/>
                  </a:lnTo>
                  <a:lnTo>
                    <a:pt x="1574789" y="1138975"/>
                  </a:lnTo>
                  <a:lnTo>
                    <a:pt x="1628313" y="1151965"/>
                  </a:lnTo>
                  <a:lnTo>
                    <a:pt x="1682748" y="1164219"/>
                  </a:lnTo>
                  <a:lnTo>
                    <a:pt x="1738066" y="1175721"/>
                  </a:lnTo>
                  <a:lnTo>
                    <a:pt x="1794236" y="1186459"/>
                  </a:lnTo>
                  <a:lnTo>
                    <a:pt x="1851229" y="1196417"/>
                  </a:lnTo>
                  <a:lnTo>
                    <a:pt x="1909015" y="1205583"/>
                  </a:lnTo>
                  <a:lnTo>
                    <a:pt x="1967565" y="1213942"/>
                  </a:lnTo>
                  <a:lnTo>
                    <a:pt x="2026849" y="1221480"/>
                  </a:lnTo>
                  <a:lnTo>
                    <a:pt x="2086837" y="1228184"/>
                  </a:lnTo>
                  <a:lnTo>
                    <a:pt x="2147501" y="1234039"/>
                  </a:lnTo>
                  <a:lnTo>
                    <a:pt x="2208809" y="1239032"/>
                  </a:lnTo>
                  <a:lnTo>
                    <a:pt x="2270734" y="1243148"/>
                  </a:lnTo>
                  <a:lnTo>
                    <a:pt x="2333245" y="1246373"/>
                  </a:lnTo>
                  <a:lnTo>
                    <a:pt x="2396312" y="1248695"/>
                  </a:lnTo>
                  <a:lnTo>
                    <a:pt x="2459906" y="1250098"/>
                  </a:lnTo>
                  <a:lnTo>
                    <a:pt x="2523998" y="1250569"/>
                  </a:lnTo>
                  <a:lnTo>
                    <a:pt x="2587287" y="1250114"/>
                  </a:lnTo>
                  <a:lnTo>
                    <a:pt x="2650106" y="1248748"/>
                  </a:lnTo>
                  <a:lnTo>
                    <a:pt x="2712425" y="1246484"/>
                  </a:lnTo>
                  <a:lnTo>
                    <a:pt x="2774215" y="1243336"/>
                  </a:lnTo>
                  <a:lnTo>
                    <a:pt x="2835446" y="1239317"/>
                  </a:lnTo>
                  <a:lnTo>
                    <a:pt x="2896090" y="1234439"/>
                  </a:lnTo>
                  <a:lnTo>
                    <a:pt x="2956116" y="1228717"/>
                  </a:lnTo>
                  <a:lnTo>
                    <a:pt x="3015497" y="1222162"/>
                  </a:lnTo>
                  <a:lnTo>
                    <a:pt x="3074201" y="1214790"/>
                  </a:lnTo>
                  <a:lnTo>
                    <a:pt x="3132200" y="1206612"/>
                  </a:lnTo>
                  <a:lnTo>
                    <a:pt x="3189465" y="1197642"/>
                  </a:lnTo>
                  <a:lnTo>
                    <a:pt x="3245966" y="1187893"/>
                  </a:lnTo>
                  <a:lnTo>
                    <a:pt x="3301674" y="1177379"/>
                  </a:lnTo>
                  <a:lnTo>
                    <a:pt x="3356560" y="1166112"/>
                  </a:lnTo>
                  <a:lnTo>
                    <a:pt x="3410594" y="1154106"/>
                  </a:lnTo>
                  <a:lnTo>
                    <a:pt x="3463747" y="1141375"/>
                  </a:lnTo>
                  <a:lnTo>
                    <a:pt x="3515990" y="1127931"/>
                  </a:lnTo>
                  <a:lnTo>
                    <a:pt x="3567293" y="1113787"/>
                  </a:lnTo>
                  <a:lnTo>
                    <a:pt x="3617627" y="1098957"/>
                  </a:lnTo>
                  <a:lnTo>
                    <a:pt x="3666963" y="1083455"/>
                  </a:lnTo>
                  <a:lnTo>
                    <a:pt x="3715271" y="1067292"/>
                  </a:lnTo>
                  <a:lnTo>
                    <a:pt x="3762523" y="1050483"/>
                  </a:lnTo>
                  <a:lnTo>
                    <a:pt x="3808688" y="1033041"/>
                  </a:lnTo>
                  <a:lnTo>
                    <a:pt x="3853737" y="1014979"/>
                  </a:lnTo>
                  <a:lnTo>
                    <a:pt x="3897642" y="996309"/>
                  </a:lnTo>
                  <a:lnTo>
                    <a:pt x="3940373" y="977047"/>
                  </a:lnTo>
                  <a:lnTo>
                    <a:pt x="3981900" y="957204"/>
                  </a:lnTo>
                  <a:lnTo>
                    <a:pt x="4022194" y="936793"/>
                  </a:lnTo>
                  <a:lnTo>
                    <a:pt x="4061226" y="915829"/>
                  </a:lnTo>
                  <a:lnTo>
                    <a:pt x="4098967" y="894324"/>
                  </a:lnTo>
                  <a:lnTo>
                    <a:pt x="4135386" y="872292"/>
                  </a:lnTo>
                  <a:lnTo>
                    <a:pt x="4170456" y="849745"/>
                  </a:lnTo>
                  <a:lnTo>
                    <a:pt x="4204146" y="826698"/>
                  </a:lnTo>
                  <a:lnTo>
                    <a:pt x="4236428" y="803163"/>
                  </a:lnTo>
                  <a:lnTo>
                    <a:pt x="4267271" y="779153"/>
                  </a:lnTo>
                  <a:lnTo>
                    <a:pt x="4296647" y="754681"/>
                  </a:lnTo>
                  <a:lnTo>
                    <a:pt x="4350880" y="704408"/>
                  </a:lnTo>
                  <a:lnTo>
                    <a:pt x="4398892" y="652448"/>
                  </a:lnTo>
                  <a:lnTo>
                    <a:pt x="4440447" y="598907"/>
                  </a:lnTo>
                  <a:lnTo>
                    <a:pt x="4475312" y="543891"/>
                  </a:lnTo>
                  <a:lnTo>
                    <a:pt x="4503252" y="487506"/>
                  </a:lnTo>
                  <a:lnTo>
                    <a:pt x="4524032" y="429858"/>
                  </a:lnTo>
                  <a:lnTo>
                    <a:pt x="4537418" y="371052"/>
                  </a:lnTo>
                  <a:lnTo>
                    <a:pt x="4541266" y="341249"/>
                  </a:lnTo>
                  <a:lnTo>
                    <a:pt x="4322826" y="336550"/>
                  </a:lnTo>
                  <a:lnTo>
                    <a:pt x="4318810" y="366652"/>
                  </a:lnTo>
                  <a:lnTo>
                    <a:pt x="4312614" y="396452"/>
                  </a:lnTo>
                  <a:lnTo>
                    <a:pt x="4293833" y="455073"/>
                  </a:lnTo>
                  <a:lnTo>
                    <a:pt x="4266786" y="512276"/>
                  </a:lnTo>
                  <a:lnTo>
                    <a:pt x="4231780" y="567921"/>
                  </a:lnTo>
                  <a:lnTo>
                    <a:pt x="4189118" y="621874"/>
                  </a:lnTo>
                  <a:lnTo>
                    <a:pt x="4139105" y="673995"/>
                  </a:lnTo>
                  <a:lnTo>
                    <a:pt x="4082046" y="724148"/>
                  </a:lnTo>
                  <a:lnTo>
                    <a:pt x="4050970" y="748444"/>
                  </a:lnTo>
                  <a:lnTo>
                    <a:pt x="4018247" y="772196"/>
                  </a:lnTo>
                  <a:lnTo>
                    <a:pt x="3983914" y="795387"/>
                  </a:lnTo>
                  <a:lnTo>
                    <a:pt x="3948011" y="818000"/>
                  </a:lnTo>
                  <a:lnTo>
                    <a:pt x="3910575" y="840019"/>
                  </a:lnTo>
                  <a:lnTo>
                    <a:pt x="3871643" y="861425"/>
                  </a:lnTo>
                  <a:lnTo>
                    <a:pt x="3831256" y="882201"/>
                  </a:lnTo>
                  <a:lnTo>
                    <a:pt x="3789449" y="902331"/>
                  </a:lnTo>
                  <a:lnTo>
                    <a:pt x="3746262" y="921798"/>
                  </a:lnTo>
                  <a:lnTo>
                    <a:pt x="3701733" y="940583"/>
                  </a:lnTo>
                  <a:lnTo>
                    <a:pt x="3655900" y="958670"/>
                  </a:lnTo>
                  <a:lnTo>
                    <a:pt x="3608800" y="976042"/>
                  </a:lnTo>
                  <a:lnTo>
                    <a:pt x="3560472" y="992682"/>
                  </a:lnTo>
                  <a:lnTo>
                    <a:pt x="3510954" y="1008572"/>
                  </a:lnTo>
                  <a:lnTo>
                    <a:pt x="3460284" y="1023695"/>
                  </a:lnTo>
                  <a:lnTo>
                    <a:pt x="3408501" y="1038034"/>
                  </a:lnTo>
                  <a:lnTo>
                    <a:pt x="3355641" y="1051573"/>
                  </a:lnTo>
                  <a:lnTo>
                    <a:pt x="3301745" y="1064293"/>
                  </a:lnTo>
                  <a:lnTo>
                    <a:pt x="3246848" y="1076177"/>
                  </a:lnTo>
                  <a:lnTo>
                    <a:pt x="3190990" y="1087209"/>
                  </a:lnTo>
                  <a:lnTo>
                    <a:pt x="3134209" y="1097372"/>
                  </a:lnTo>
                  <a:lnTo>
                    <a:pt x="3076543" y="1106647"/>
                  </a:lnTo>
                  <a:lnTo>
                    <a:pt x="3018030" y="1115018"/>
                  </a:lnTo>
                  <a:lnTo>
                    <a:pt x="2958707" y="1122468"/>
                  </a:lnTo>
                  <a:lnTo>
                    <a:pt x="2898614" y="1128980"/>
                  </a:lnTo>
                  <a:lnTo>
                    <a:pt x="2837787" y="1134536"/>
                  </a:lnTo>
                  <a:lnTo>
                    <a:pt x="2776267" y="1139119"/>
                  </a:lnTo>
                  <a:lnTo>
                    <a:pt x="2714089" y="1142712"/>
                  </a:lnTo>
                  <a:lnTo>
                    <a:pt x="2651293" y="1145299"/>
                  </a:lnTo>
                  <a:lnTo>
                    <a:pt x="2587916" y="1146860"/>
                  </a:lnTo>
                  <a:lnTo>
                    <a:pt x="2523998" y="1147381"/>
                  </a:lnTo>
                  <a:lnTo>
                    <a:pt x="2459426" y="1146845"/>
                  </a:lnTo>
                  <a:lnTo>
                    <a:pt x="2395425" y="1145249"/>
                  </a:lnTo>
                  <a:lnTo>
                    <a:pt x="2332034" y="1142610"/>
                  </a:lnTo>
                  <a:lnTo>
                    <a:pt x="2269290" y="1138948"/>
                  </a:lnTo>
                  <a:lnTo>
                    <a:pt x="2207231" y="1134279"/>
                  </a:lnTo>
                  <a:lnTo>
                    <a:pt x="2145896" y="1128622"/>
                  </a:lnTo>
                  <a:lnTo>
                    <a:pt x="2085322" y="1121994"/>
                  </a:lnTo>
                  <a:lnTo>
                    <a:pt x="2025549" y="1114414"/>
                  </a:lnTo>
                  <a:lnTo>
                    <a:pt x="1966613" y="1105900"/>
                  </a:lnTo>
                  <a:lnTo>
                    <a:pt x="1908553" y="1096469"/>
                  </a:lnTo>
                  <a:lnTo>
                    <a:pt x="1851408" y="1086139"/>
                  </a:lnTo>
                  <a:lnTo>
                    <a:pt x="1795214" y="1074929"/>
                  </a:lnTo>
                  <a:lnTo>
                    <a:pt x="1740011" y="1062857"/>
                  </a:lnTo>
                  <a:lnTo>
                    <a:pt x="1685837" y="1049939"/>
                  </a:lnTo>
                  <a:lnTo>
                    <a:pt x="1632729" y="1036195"/>
                  </a:lnTo>
                  <a:lnTo>
                    <a:pt x="1580726" y="1021643"/>
                  </a:lnTo>
                  <a:lnTo>
                    <a:pt x="1529866" y="1006299"/>
                  </a:lnTo>
                  <a:lnTo>
                    <a:pt x="1480186" y="990183"/>
                  </a:lnTo>
                  <a:lnTo>
                    <a:pt x="1431726" y="973311"/>
                  </a:lnTo>
                  <a:lnTo>
                    <a:pt x="1384523" y="955703"/>
                  </a:lnTo>
                  <a:lnTo>
                    <a:pt x="1338615" y="937376"/>
                  </a:lnTo>
                  <a:lnTo>
                    <a:pt x="1294041" y="918348"/>
                  </a:lnTo>
                  <a:lnTo>
                    <a:pt x="1250838" y="898637"/>
                  </a:lnTo>
                  <a:lnTo>
                    <a:pt x="1209045" y="878261"/>
                  </a:lnTo>
                  <a:lnTo>
                    <a:pt x="1168700" y="857238"/>
                  </a:lnTo>
                  <a:lnTo>
                    <a:pt x="1129841" y="835585"/>
                  </a:lnTo>
                  <a:lnTo>
                    <a:pt x="1092505" y="813322"/>
                  </a:lnTo>
                  <a:lnTo>
                    <a:pt x="1056732" y="790465"/>
                  </a:lnTo>
                  <a:lnTo>
                    <a:pt x="1022559" y="767033"/>
                  </a:lnTo>
                  <a:lnTo>
                    <a:pt x="990024" y="743043"/>
                  </a:lnTo>
                  <a:lnTo>
                    <a:pt x="959166" y="718514"/>
                  </a:lnTo>
                  <a:lnTo>
                    <a:pt x="930023" y="693464"/>
                  </a:lnTo>
                  <a:lnTo>
                    <a:pt x="877032" y="641871"/>
                  </a:lnTo>
                  <a:lnTo>
                    <a:pt x="831357" y="588408"/>
                  </a:lnTo>
                  <a:lnTo>
                    <a:pt x="793302" y="533218"/>
                  </a:lnTo>
                  <a:lnTo>
                    <a:pt x="763174" y="476446"/>
                  </a:lnTo>
                  <a:lnTo>
                    <a:pt x="741276" y="418234"/>
                  </a:lnTo>
                  <a:lnTo>
                    <a:pt x="727913" y="358727"/>
                  </a:lnTo>
                  <a:lnTo>
                    <a:pt x="723392" y="298069"/>
                  </a:lnTo>
                  <a:lnTo>
                    <a:pt x="723646" y="290322"/>
                  </a:lnTo>
                  <a:lnTo>
                    <a:pt x="1228471" y="292481"/>
                  </a:lnTo>
                  <a:lnTo>
                    <a:pt x="619887" y="0"/>
                  </a:lnTo>
                  <a:close/>
                </a:path>
              </a:pathLst>
            </a:custGeom>
            <a:solidFill>
              <a:srgbClr val="626F5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7"/>
            <p:cNvSpPr/>
            <p:nvPr/>
          </p:nvSpPr>
          <p:spPr>
            <a:xfrm>
              <a:off x="1857501" y="5150230"/>
              <a:ext cx="4541520" cy="1250950"/>
            </a:xfrm>
            <a:custGeom>
              <a:avLst/>
              <a:gdLst/>
              <a:ahLst/>
              <a:cxnLst/>
              <a:rect l="l" t="t" r="r" b="b"/>
              <a:pathLst>
                <a:path w="4541520" h="1250950" extrusionOk="0">
                  <a:moveTo>
                    <a:pt x="723646" y="290322"/>
                  </a:moveTo>
                  <a:lnTo>
                    <a:pt x="723646" y="292862"/>
                  </a:lnTo>
                  <a:lnTo>
                    <a:pt x="723392" y="295529"/>
                  </a:lnTo>
                  <a:lnTo>
                    <a:pt x="723392" y="298069"/>
                  </a:lnTo>
                  <a:lnTo>
                    <a:pt x="727913" y="358727"/>
                  </a:lnTo>
                  <a:lnTo>
                    <a:pt x="741276" y="418234"/>
                  </a:lnTo>
                  <a:lnTo>
                    <a:pt x="763174" y="476446"/>
                  </a:lnTo>
                  <a:lnTo>
                    <a:pt x="793302" y="533218"/>
                  </a:lnTo>
                  <a:lnTo>
                    <a:pt x="831357" y="588408"/>
                  </a:lnTo>
                  <a:lnTo>
                    <a:pt x="877032" y="641871"/>
                  </a:lnTo>
                  <a:lnTo>
                    <a:pt x="930023" y="693464"/>
                  </a:lnTo>
                  <a:lnTo>
                    <a:pt x="959166" y="718514"/>
                  </a:lnTo>
                  <a:lnTo>
                    <a:pt x="990024" y="743043"/>
                  </a:lnTo>
                  <a:lnTo>
                    <a:pt x="1022559" y="767033"/>
                  </a:lnTo>
                  <a:lnTo>
                    <a:pt x="1056732" y="790465"/>
                  </a:lnTo>
                  <a:lnTo>
                    <a:pt x="1092505" y="813322"/>
                  </a:lnTo>
                  <a:lnTo>
                    <a:pt x="1129841" y="835585"/>
                  </a:lnTo>
                  <a:lnTo>
                    <a:pt x="1168700" y="857238"/>
                  </a:lnTo>
                  <a:lnTo>
                    <a:pt x="1209045" y="878261"/>
                  </a:lnTo>
                  <a:lnTo>
                    <a:pt x="1250838" y="898637"/>
                  </a:lnTo>
                  <a:lnTo>
                    <a:pt x="1294041" y="918348"/>
                  </a:lnTo>
                  <a:lnTo>
                    <a:pt x="1338615" y="937376"/>
                  </a:lnTo>
                  <a:lnTo>
                    <a:pt x="1384523" y="955703"/>
                  </a:lnTo>
                  <a:lnTo>
                    <a:pt x="1431726" y="973311"/>
                  </a:lnTo>
                  <a:lnTo>
                    <a:pt x="1480186" y="990183"/>
                  </a:lnTo>
                  <a:lnTo>
                    <a:pt x="1529866" y="1006299"/>
                  </a:lnTo>
                  <a:lnTo>
                    <a:pt x="1580726" y="1021643"/>
                  </a:lnTo>
                  <a:lnTo>
                    <a:pt x="1632729" y="1036195"/>
                  </a:lnTo>
                  <a:lnTo>
                    <a:pt x="1685837" y="1049939"/>
                  </a:lnTo>
                  <a:lnTo>
                    <a:pt x="1740011" y="1062857"/>
                  </a:lnTo>
                  <a:lnTo>
                    <a:pt x="1795214" y="1074929"/>
                  </a:lnTo>
                  <a:lnTo>
                    <a:pt x="1851408" y="1086139"/>
                  </a:lnTo>
                  <a:lnTo>
                    <a:pt x="1908553" y="1096469"/>
                  </a:lnTo>
                  <a:lnTo>
                    <a:pt x="1966613" y="1105900"/>
                  </a:lnTo>
                  <a:lnTo>
                    <a:pt x="2025549" y="1114414"/>
                  </a:lnTo>
                  <a:lnTo>
                    <a:pt x="2085322" y="1121994"/>
                  </a:lnTo>
                  <a:lnTo>
                    <a:pt x="2145896" y="1128622"/>
                  </a:lnTo>
                  <a:lnTo>
                    <a:pt x="2207231" y="1134279"/>
                  </a:lnTo>
                  <a:lnTo>
                    <a:pt x="2269290" y="1138948"/>
                  </a:lnTo>
                  <a:lnTo>
                    <a:pt x="2332034" y="1142610"/>
                  </a:lnTo>
                  <a:lnTo>
                    <a:pt x="2395425" y="1145249"/>
                  </a:lnTo>
                  <a:lnTo>
                    <a:pt x="2459426" y="1146845"/>
                  </a:lnTo>
                  <a:lnTo>
                    <a:pt x="2523998" y="1147381"/>
                  </a:lnTo>
                  <a:lnTo>
                    <a:pt x="2587916" y="1146860"/>
                  </a:lnTo>
                  <a:lnTo>
                    <a:pt x="2651293" y="1145299"/>
                  </a:lnTo>
                  <a:lnTo>
                    <a:pt x="2714089" y="1142712"/>
                  </a:lnTo>
                  <a:lnTo>
                    <a:pt x="2776267" y="1139119"/>
                  </a:lnTo>
                  <a:lnTo>
                    <a:pt x="2837787" y="1134536"/>
                  </a:lnTo>
                  <a:lnTo>
                    <a:pt x="2898614" y="1128980"/>
                  </a:lnTo>
                  <a:lnTo>
                    <a:pt x="2958707" y="1122468"/>
                  </a:lnTo>
                  <a:lnTo>
                    <a:pt x="3018030" y="1115018"/>
                  </a:lnTo>
                  <a:lnTo>
                    <a:pt x="3076543" y="1106647"/>
                  </a:lnTo>
                  <a:lnTo>
                    <a:pt x="3134209" y="1097372"/>
                  </a:lnTo>
                  <a:lnTo>
                    <a:pt x="3190990" y="1087209"/>
                  </a:lnTo>
                  <a:lnTo>
                    <a:pt x="3246848" y="1076177"/>
                  </a:lnTo>
                  <a:lnTo>
                    <a:pt x="3301745" y="1064293"/>
                  </a:lnTo>
                  <a:lnTo>
                    <a:pt x="3355641" y="1051573"/>
                  </a:lnTo>
                  <a:lnTo>
                    <a:pt x="3408501" y="1038034"/>
                  </a:lnTo>
                  <a:lnTo>
                    <a:pt x="3460284" y="1023695"/>
                  </a:lnTo>
                  <a:lnTo>
                    <a:pt x="3510954" y="1008572"/>
                  </a:lnTo>
                  <a:lnTo>
                    <a:pt x="3560472" y="992682"/>
                  </a:lnTo>
                  <a:lnTo>
                    <a:pt x="3608800" y="976042"/>
                  </a:lnTo>
                  <a:lnTo>
                    <a:pt x="3655900" y="958670"/>
                  </a:lnTo>
                  <a:lnTo>
                    <a:pt x="3701733" y="940583"/>
                  </a:lnTo>
                  <a:lnTo>
                    <a:pt x="3746262" y="921798"/>
                  </a:lnTo>
                  <a:lnTo>
                    <a:pt x="3789449" y="902331"/>
                  </a:lnTo>
                  <a:lnTo>
                    <a:pt x="3831256" y="882201"/>
                  </a:lnTo>
                  <a:lnTo>
                    <a:pt x="3871643" y="861425"/>
                  </a:lnTo>
                  <a:lnTo>
                    <a:pt x="3910575" y="840019"/>
                  </a:lnTo>
                  <a:lnTo>
                    <a:pt x="3948011" y="818000"/>
                  </a:lnTo>
                  <a:lnTo>
                    <a:pt x="3983914" y="795387"/>
                  </a:lnTo>
                  <a:lnTo>
                    <a:pt x="4018247" y="772196"/>
                  </a:lnTo>
                  <a:lnTo>
                    <a:pt x="4050970" y="748444"/>
                  </a:lnTo>
                  <a:lnTo>
                    <a:pt x="4082046" y="724148"/>
                  </a:lnTo>
                  <a:lnTo>
                    <a:pt x="4111437" y="699326"/>
                  </a:lnTo>
                  <a:lnTo>
                    <a:pt x="4165011" y="648172"/>
                  </a:lnTo>
                  <a:lnTo>
                    <a:pt x="4211387" y="595118"/>
                  </a:lnTo>
                  <a:lnTo>
                    <a:pt x="4250259" y="540302"/>
                  </a:lnTo>
                  <a:lnTo>
                    <a:pt x="4281324" y="483860"/>
                  </a:lnTo>
                  <a:lnTo>
                    <a:pt x="4304275" y="425932"/>
                  </a:lnTo>
                  <a:lnTo>
                    <a:pt x="4318810" y="366652"/>
                  </a:lnTo>
                  <a:lnTo>
                    <a:pt x="4322826" y="336550"/>
                  </a:lnTo>
                  <a:lnTo>
                    <a:pt x="4541266" y="341249"/>
                  </a:lnTo>
                  <a:lnTo>
                    <a:pt x="4531664" y="400593"/>
                  </a:lnTo>
                  <a:lnTo>
                    <a:pt x="4514552" y="458834"/>
                  </a:lnTo>
                  <a:lnTo>
                    <a:pt x="4490162" y="515863"/>
                  </a:lnTo>
                  <a:lnTo>
                    <a:pt x="4458730" y="571577"/>
                  </a:lnTo>
                  <a:lnTo>
                    <a:pt x="4420491" y="625868"/>
                  </a:lnTo>
                  <a:lnTo>
                    <a:pt x="4375678" y="678632"/>
                  </a:lnTo>
                  <a:lnTo>
                    <a:pt x="4324527" y="729762"/>
                  </a:lnTo>
                  <a:lnTo>
                    <a:pt x="4267271" y="779153"/>
                  </a:lnTo>
                  <a:lnTo>
                    <a:pt x="4236428" y="803163"/>
                  </a:lnTo>
                  <a:lnTo>
                    <a:pt x="4204146" y="826698"/>
                  </a:lnTo>
                  <a:lnTo>
                    <a:pt x="4170456" y="849745"/>
                  </a:lnTo>
                  <a:lnTo>
                    <a:pt x="4135386" y="872292"/>
                  </a:lnTo>
                  <a:lnTo>
                    <a:pt x="4098967" y="894324"/>
                  </a:lnTo>
                  <a:lnTo>
                    <a:pt x="4061226" y="915829"/>
                  </a:lnTo>
                  <a:lnTo>
                    <a:pt x="4022194" y="936793"/>
                  </a:lnTo>
                  <a:lnTo>
                    <a:pt x="3981900" y="957204"/>
                  </a:lnTo>
                  <a:lnTo>
                    <a:pt x="3940373" y="977047"/>
                  </a:lnTo>
                  <a:lnTo>
                    <a:pt x="3897642" y="996309"/>
                  </a:lnTo>
                  <a:lnTo>
                    <a:pt x="3853737" y="1014979"/>
                  </a:lnTo>
                  <a:lnTo>
                    <a:pt x="3808688" y="1033041"/>
                  </a:lnTo>
                  <a:lnTo>
                    <a:pt x="3762523" y="1050483"/>
                  </a:lnTo>
                  <a:lnTo>
                    <a:pt x="3715271" y="1067292"/>
                  </a:lnTo>
                  <a:lnTo>
                    <a:pt x="3666963" y="1083455"/>
                  </a:lnTo>
                  <a:lnTo>
                    <a:pt x="3617627" y="1098957"/>
                  </a:lnTo>
                  <a:lnTo>
                    <a:pt x="3567293" y="1113787"/>
                  </a:lnTo>
                  <a:lnTo>
                    <a:pt x="3515990" y="1127931"/>
                  </a:lnTo>
                  <a:lnTo>
                    <a:pt x="3463747" y="1141375"/>
                  </a:lnTo>
                  <a:lnTo>
                    <a:pt x="3410594" y="1154106"/>
                  </a:lnTo>
                  <a:lnTo>
                    <a:pt x="3356560" y="1166112"/>
                  </a:lnTo>
                  <a:lnTo>
                    <a:pt x="3301674" y="1177379"/>
                  </a:lnTo>
                  <a:lnTo>
                    <a:pt x="3245966" y="1187893"/>
                  </a:lnTo>
                  <a:lnTo>
                    <a:pt x="3189465" y="1197642"/>
                  </a:lnTo>
                  <a:lnTo>
                    <a:pt x="3132200" y="1206612"/>
                  </a:lnTo>
                  <a:lnTo>
                    <a:pt x="3074201" y="1214790"/>
                  </a:lnTo>
                  <a:lnTo>
                    <a:pt x="3015497" y="1222162"/>
                  </a:lnTo>
                  <a:lnTo>
                    <a:pt x="2956116" y="1228717"/>
                  </a:lnTo>
                  <a:lnTo>
                    <a:pt x="2896090" y="1234439"/>
                  </a:lnTo>
                  <a:lnTo>
                    <a:pt x="2835446" y="1239317"/>
                  </a:lnTo>
                  <a:lnTo>
                    <a:pt x="2774215" y="1243336"/>
                  </a:lnTo>
                  <a:lnTo>
                    <a:pt x="2712425" y="1246484"/>
                  </a:lnTo>
                  <a:lnTo>
                    <a:pt x="2650106" y="1248748"/>
                  </a:lnTo>
                  <a:lnTo>
                    <a:pt x="2587287" y="1250114"/>
                  </a:lnTo>
                  <a:lnTo>
                    <a:pt x="2523998" y="1250569"/>
                  </a:lnTo>
                  <a:lnTo>
                    <a:pt x="2459906" y="1250098"/>
                  </a:lnTo>
                  <a:lnTo>
                    <a:pt x="2396312" y="1248695"/>
                  </a:lnTo>
                  <a:lnTo>
                    <a:pt x="2333245" y="1246373"/>
                  </a:lnTo>
                  <a:lnTo>
                    <a:pt x="2270734" y="1243148"/>
                  </a:lnTo>
                  <a:lnTo>
                    <a:pt x="2208809" y="1239032"/>
                  </a:lnTo>
                  <a:lnTo>
                    <a:pt x="2147501" y="1234039"/>
                  </a:lnTo>
                  <a:lnTo>
                    <a:pt x="2086837" y="1228184"/>
                  </a:lnTo>
                  <a:lnTo>
                    <a:pt x="2026849" y="1221480"/>
                  </a:lnTo>
                  <a:lnTo>
                    <a:pt x="1967565" y="1213942"/>
                  </a:lnTo>
                  <a:lnTo>
                    <a:pt x="1909015" y="1205583"/>
                  </a:lnTo>
                  <a:lnTo>
                    <a:pt x="1851229" y="1196417"/>
                  </a:lnTo>
                  <a:lnTo>
                    <a:pt x="1794236" y="1186459"/>
                  </a:lnTo>
                  <a:lnTo>
                    <a:pt x="1738066" y="1175721"/>
                  </a:lnTo>
                  <a:lnTo>
                    <a:pt x="1682748" y="1164219"/>
                  </a:lnTo>
                  <a:lnTo>
                    <a:pt x="1628313" y="1151965"/>
                  </a:lnTo>
                  <a:lnTo>
                    <a:pt x="1574789" y="1138975"/>
                  </a:lnTo>
                  <a:lnTo>
                    <a:pt x="1522206" y="1125261"/>
                  </a:lnTo>
                  <a:lnTo>
                    <a:pt x="1470594" y="1110839"/>
                  </a:lnTo>
                  <a:lnTo>
                    <a:pt x="1419983" y="1095721"/>
                  </a:lnTo>
                  <a:lnTo>
                    <a:pt x="1370402" y="1079921"/>
                  </a:lnTo>
                  <a:lnTo>
                    <a:pt x="1321880" y="1063455"/>
                  </a:lnTo>
                  <a:lnTo>
                    <a:pt x="1274447" y="1046335"/>
                  </a:lnTo>
                  <a:lnTo>
                    <a:pt x="1228133" y="1028576"/>
                  </a:lnTo>
                  <a:lnTo>
                    <a:pt x="1182968" y="1010191"/>
                  </a:lnTo>
                  <a:lnTo>
                    <a:pt x="1138980" y="991194"/>
                  </a:lnTo>
                  <a:lnTo>
                    <a:pt x="1096200" y="971600"/>
                  </a:lnTo>
                  <a:lnTo>
                    <a:pt x="1054657" y="951423"/>
                  </a:lnTo>
                  <a:lnTo>
                    <a:pt x="1014381" y="930675"/>
                  </a:lnTo>
                  <a:lnTo>
                    <a:pt x="975401" y="909372"/>
                  </a:lnTo>
                  <a:lnTo>
                    <a:pt x="937747" y="887527"/>
                  </a:lnTo>
                  <a:lnTo>
                    <a:pt x="901448" y="865154"/>
                  </a:lnTo>
                  <a:lnTo>
                    <a:pt x="866535" y="842267"/>
                  </a:lnTo>
                  <a:lnTo>
                    <a:pt x="833036" y="818880"/>
                  </a:lnTo>
                  <a:lnTo>
                    <a:pt x="800981" y="795007"/>
                  </a:lnTo>
                  <a:lnTo>
                    <a:pt x="770401" y="770662"/>
                  </a:lnTo>
                  <a:lnTo>
                    <a:pt x="741323" y="745858"/>
                  </a:lnTo>
                  <a:lnTo>
                    <a:pt x="687797" y="694933"/>
                  </a:lnTo>
                  <a:lnTo>
                    <a:pt x="640640" y="642342"/>
                  </a:lnTo>
                  <a:lnTo>
                    <a:pt x="600088" y="588197"/>
                  </a:lnTo>
                  <a:lnTo>
                    <a:pt x="566379" y="532610"/>
                  </a:lnTo>
                  <a:lnTo>
                    <a:pt x="539748" y="475692"/>
                  </a:lnTo>
                  <a:lnTo>
                    <a:pt x="520433" y="417555"/>
                  </a:lnTo>
                  <a:lnTo>
                    <a:pt x="508671" y="358310"/>
                  </a:lnTo>
                  <a:lnTo>
                    <a:pt x="504698" y="298069"/>
                  </a:lnTo>
                  <a:lnTo>
                    <a:pt x="504698" y="295148"/>
                  </a:lnTo>
                  <a:lnTo>
                    <a:pt x="504825" y="292227"/>
                  </a:lnTo>
                  <a:lnTo>
                    <a:pt x="504825" y="289306"/>
                  </a:lnTo>
                  <a:lnTo>
                    <a:pt x="0" y="287147"/>
                  </a:lnTo>
                  <a:lnTo>
                    <a:pt x="619887" y="0"/>
                  </a:lnTo>
                  <a:lnTo>
                    <a:pt x="1228471" y="292481"/>
                  </a:lnTo>
                  <a:lnTo>
                    <a:pt x="723646" y="29032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17"/>
          <p:cNvGrpSpPr/>
          <p:nvPr/>
        </p:nvGrpSpPr>
        <p:grpSpPr>
          <a:xfrm>
            <a:off x="1336852" y="2097532"/>
            <a:ext cx="1450340" cy="2162175"/>
            <a:chOff x="1336852" y="2097532"/>
            <a:chExt cx="1450340" cy="2162175"/>
          </a:xfrm>
        </p:grpSpPr>
        <p:sp>
          <p:nvSpPr>
            <p:cNvPr id="292" name="Google Shape;292;p17"/>
            <p:cNvSpPr/>
            <p:nvPr/>
          </p:nvSpPr>
          <p:spPr>
            <a:xfrm>
              <a:off x="1336852" y="2097532"/>
              <a:ext cx="1450340" cy="2162175"/>
            </a:xfrm>
            <a:custGeom>
              <a:avLst/>
              <a:gdLst/>
              <a:ahLst/>
              <a:cxnLst/>
              <a:rect l="l" t="t" r="r" b="b"/>
              <a:pathLst>
                <a:path w="1450339" h="2162175" extrusionOk="0">
                  <a:moveTo>
                    <a:pt x="807796" y="0"/>
                  </a:moveTo>
                  <a:lnTo>
                    <a:pt x="912317" y="266318"/>
                  </a:lnTo>
                  <a:lnTo>
                    <a:pt x="890197" y="275818"/>
                  </a:lnTo>
                  <a:lnTo>
                    <a:pt x="868232" y="285638"/>
                  </a:lnTo>
                  <a:lnTo>
                    <a:pt x="824814" y="306196"/>
                  </a:lnTo>
                  <a:lnTo>
                    <a:pt x="777989" y="330205"/>
                  </a:lnTo>
                  <a:lnTo>
                    <a:pt x="732335" y="355455"/>
                  </a:lnTo>
                  <a:lnTo>
                    <a:pt x="687870" y="381903"/>
                  </a:lnTo>
                  <a:lnTo>
                    <a:pt x="644613" y="409508"/>
                  </a:lnTo>
                  <a:lnTo>
                    <a:pt x="602583" y="438227"/>
                  </a:lnTo>
                  <a:lnTo>
                    <a:pt x="561798" y="468019"/>
                  </a:lnTo>
                  <a:lnTo>
                    <a:pt x="522278" y="498840"/>
                  </a:lnTo>
                  <a:lnTo>
                    <a:pt x="484040" y="530649"/>
                  </a:lnTo>
                  <a:lnTo>
                    <a:pt x="447105" y="563403"/>
                  </a:lnTo>
                  <a:lnTo>
                    <a:pt x="411490" y="597061"/>
                  </a:lnTo>
                  <a:lnTo>
                    <a:pt x="377214" y="631579"/>
                  </a:lnTo>
                  <a:lnTo>
                    <a:pt x="344297" y="666916"/>
                  </a:lnTo>
                  <a:lnTo>
                    <a:pt x="312756" y="703029"/>
                  </a:lnTo>
                  <a:lnTo>
                    <a:pt x="282611" y="739876"/>
                  </a:lnTo>
                  <a:lnTo>
                    <a:pt x="253881" y="777415"/>
                  </a:lnTo>
                  <a:lnTo>
                    <a:pt x="226583" y="815604"/>
                  </a:lnTo>
                  <a:lnTo>
                    <a:pt x="200738" y="854401"/>
                  </a:lnTo>
                  <a:lnTo>
                    <a:pt x="176364" y="893762"/>
                  </a:lnTo>
                  <a:lnTo>
                    <a:pt x="153479" y="933646"/>
                  </a:lnTo>
                  <a:lnTo>
                    <a:pt x="132102" y="974011"/>
                  </a:lnTo>
                  <a:lnTo>
                    <a:pt x="112252" y="1014814"/>
                  </a:lnTo>
                  <a:lnTo>
                    <a:pt x="93948" y="1056014"/>
                  </a:lnTo>
                  <a:lnTo>
                    <a:pt x="77209" y="1097567"/>
                  </a:lnTo>
                  <a:lnTo>
                    <a:pt x="62053" y="1139432"/>
                  </a:lnTo>
                  <a:lnTo>
                    <a:pt x="48500" y="1181566"/>
                  </a:lnTo>
                  <a:lnTo>
                    <a:pt x="36567" y="1223928"/>
                  </a:lnTo>
                  <a:lnTo>
                    <a:pt x="26274" y="1266474"/>
                  </a:lnTo>
                  <a:lnTo>
                    <a:pt x="17639" y="1309163"/>
                  </a:lnTo>
                  <a:lnTo>
                    <a:pt x="10682" y="1351953"/>
                  </a:lnTo>
                  <a:lnTo>
                    <a:pt x="5420" y="1394801"/>
                  </a:lnTo>
                  <a:lnTo>
                    <a:pt x="1873" y="1437664"/>
                  </a:lnTo>
                  <a:lnTo>
                    <a:pt x="60" y="1480501"/>
                  </a:lnTo>
                  <a:lnTo>
                    <a:pt x="0" y="1523270"/>
                  </a:lnTo>
                  <a:lnTo>
                    <a:pt x="1710" y="1565928"/>
                  </a:lnTo>
                  <a:lnTo>
                    <a:pt x="5210" y="1608433"/>
                  </a:lnTo>
                  <a:lnTo>
                    <a:pt x="10519" y="1650743"/>
                  </a:lnTo>
                  <a:lnTo>
                    <a:pt x="17655" y="1692815"/>
                  </a:lnTo>
                  <a:lnTo>
                    <a:pt x="26637" y="1734607"/>
                  </a:lnTo>
                  <a:lnTo>
                    <a:pt x="37484" y="1776077"/>
                  </a:lnTo>
                  <a:lnTo>
                    <a:pt x="50215" y="1817183"/>
                  </a:lnTo>
                  <a:lnTo>
                    <a:pt x="64848" y="1857882"/>
                  </a:lnTo>
                  <a:lnTo>
                    <a:pt x="81403" y="1898133"/>
                  </a:lnTo>
                  <a:lnTo>
                    <a:pt x="99898" y="1937892"/>
                  </a:lnTo>
                  <a:lnTo>
                    <a:pt x="125214" y="1985917"/>
                  </a:lnTo>
                  <a:lnTo>
                    <a:pt x="153262" y="2032405"/>
                  </a:lnTo>
                  <a:lnTo>
                    <a:pt x="183968" y="2077284"/>
                  </a:lnTo>
                  <a:lnTo>
                    <a:pt x="217258" y="2120480"/>
                  </a:lnTo>
                  <a:lnTo>
                    <a:pt x="253060" y="2161920"/>
                  </a:lnTo>
                  <a:lnTo>
                    <a:pt x="537921" y="1942210"/>
                  </a:lnTo>
                  <a:lnTo>
                    <a:pt x="505317" y="1903918"/>
                  </a:lnTo>
                  <a:lnTo>
                    <a:pt x="475595" y="1863613"/>
                  </a:lnTo>
                  <a:lnTo>
                    <a:pt x="448874" y="1821428"/>
                  </a:lnTo>
                  <a:lnTo>
                    <a:pt x="425272" y="1777491"/>
                  </a:lnTo>
                  <a:lnTo>
                    <a:pt x="407337" y="1738109"/>
                  </a:lnTo>
                  <a:lnTo>
                    <a:pt x="391970" y="1698094"/>
                  </a:lnTo>
                  <a:lnTo>
                    <a:pt x="379135" y="1657521"/>
                  </a:lnTo>
                  <a:lnTo>
                    <a:pt x="368801" y="1616466"/>
                  </a:lnTo>
                  <a:lnTo>
                    <a:pt x="360932" y="1575005"/>
                  </a:lnTo>
                  <a:lnTo>
                    <a:pt x="355497" y="1533212"/>
                  </a:lnTo>
                  <a:lnTo>
                    <a:pt x="352460" y="1491164"/>
                  </a:lnTo>
                  <a:lnTo>
                    <a:pt x="351790" y="1448935"/>
                  </a:lnTo>
                  <a:lnTo>
                    <a:pt x="353452" y="1406601"/>
                  </a:lnTo>
                  <a:lnTo>
                    <a:pt x="357414" y="1364237"/>
                  </a:lnTo>
                  <a:lnTo>
                    <a:pt x="363641" y="1321920"/>
                  </a:lnTo>
                  <a:lnTo>
                    <a:pt x="372100" y="1279724"/>
                  </a:lnTo>
                  <a:lnTo>
                    <a:pt x="382758" y="1237725"/>
                  </a:lnTo>
                  <a:lnTo>
                    <a:pt x="395581" y="1195998"/>
                  </a:lnTo>
                  <a:lnTo>
                    <a:pt x="410536" y="1154619"/>
                  </a:lnTo>
                  <a:lnTo>
                    <a:pt x="427589" y="1113662"/>
                  </a:lnTo>
                  <a:lnTo>
                    <a:pt x="446708" y="1073205"/>
                  </a:lnTo>
                  <a:lnTo>
                    <a:pt x="467858" y="1033321"/>
                  </a:lnTo>
                  <a:lnTo>
                    <a:pt x="491006" y="994087"/>
                  </a:lnTo>
                  <a:lnTo>
                    <a:pt x="516119" y="955578"/>
                  </a:lnTo>
                  <a:lnTo>
                    <a:pt x="543163" y="917869"/>
                  </a:lnTo>
                  <a:lnTo>
                    <a:pt x="572105" y="881036"/>
                  </a:lnTo>
                  <a:lnTo>
                    <a:pt x="602911" y="845154"/>
                  </a:lnTo>
                  <a:lnTo>
                    <a:pt x="635548" y="810299"/>
                  </a:lnTo>
                  <a:lnTo>
                    <a:pt x="669982" y="776546"/>
                  </a:lnTo>
                  <a:lnTo>
                    <a:pt x="706181" y="743970"/>
                  </a:lnTo>
                  <a:lnTo>
                    <a:pt x="744110" y="712648"/>
                  </a:lnTo>
                  <a:lnTo>
                    <a:pt x="783737" y="682653"/>
                  </a:lnTo>
                  <a:lnTo>
                    <a:pt x="825027" y="654063"/>
                  </a:lnTo>
                  <a:lnTo>
                    <a:pt x="867947" y="626951"/>
                  </a:lnTo>
                  <a:lnTo>
                    <a:pt x="912464" y="601395"/>
                  </a:lnTo>
                  <a:lnTo>
                    <a:pt x="958545" y="577468"/>
                  </a:lnTo>
                  <a:lnTo>
                    <a:pt x="1006568" y="555109"/>
                  </a:lnTo>
                  <a:lnTo>
                    <a:pt x="1022807" y="548131"/>
                  </a:lnTo>
                  <a:lnTo>
                    <a:pt x="1127201" y="814323"/>
                  </a:lnTo>
                  <a:lnTo>
                    <a:pt x="1450289" y="203453"/>
                  </a:lnTo>
                  <a:lnTo>
                    <a:pt x="807796" y="0"/>
                  </a:lnTo>
                  <a:close/>
                </a:path>
              </a:pathLst>
            </a:custGeom>
            <a:solidFill>
              <a:srgbClr val="626F5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7"/>
            <p:cNvSpPr/>
            <p:nvPr/>
          </p:nvSpPr>
          <p:spPr>
            <a:xfrm>
              <a:off x="1336852" y="2097532"/>
              <a:ext cx="1450340" cy="2162175"/>
            </a:xfrm>
            <a:custGeom>
              <a:avLst/>
              <a:gdLst/>
              <a:ahLst/>
              <a:cxnLst/>
              <a:rect l="l" t="t" r="r" b="b"/>
              <a:pathLst>
                <a:path w="1450339" h="2162175" extrusionOk="0">
                  <a:moveTo>
                    <a:pt x="1022807" y="548131"/>
                  </a:moveTo>
                  <a:lnTo>
                    <a:pt x="974426" y="569777"/>
                  </a:lnTo>
                  <a:lnTo>
                    <a:pt x="912464" y="601395"/>
                  </a:lnTo>
                  <a:lnTo>
                    <a:pt x="867947" y="626951"/>
                  </a:lnTo>
                  <a:lnTo>
                    <a:pt x="825027" y="654063"/>
                  </a:lnTo>
                  <a:lnTo>
                    <a:pt x="783737" y="682653"/>
                  </a:lnTo>
                  <a:lnTo>
                    <a:pt x="744110" y="712648"/>
                  </a:lnTo>
                  <a:lnTo>
                    <a:pt x="706181" y="743970"/>
                  </a:lnTo>
                  <a:lnTo>
                    <a:pt x="669982" y="776546"/>
                  </a:lnTo>
                  <a:lnTo>
                    <a:pt x="635548" y="810299"/>
                  </a:lnTo>
                  <a:lnTo>
                    <a:pt x="602911" y="845154"/>
                  </a:lnTo>
                  <a:lnTo>
                    <a:pt x="572105" y="881036"/>
                  </a:lnTo>
                  <a:lnTo>
                    <a:pt x="543163" y="917869"/>
                  </a:lnTo>
                  <a:lnTo>
                    <a:pt x="516119" y="955578"/>
                  </a:lnTo>
                  <a:lnTo>
                    <a:pt x="491006" y="994087"/>
                  </a:lnTo>
                  <a:lnTo>
                    <a:pt x="467858" y="1033321"/>
                  </a:lnTo>
                  <a:lnTo>
                    <a:pt x="446708" y="1073205"/>
                  </a:lnTo>
                  <a:lnTo>
                    <a:pt x="427589" y="1113662"/>
                  </a:lnTo>
                  <a:lnTo>
                    <a:pt x="410536" y="1154619"/>
                  </a:lnTo>
                  <a:lnTo>
                    <a:pt x="395581" y="1195998"/>
                  </a:lnTo>
                  <a:lnTo>
                    <a:pt x="382758" y="1237725"/>
                  </a:lnTo>
                  <a:lnTo>
                    <a:pt x="372100" y="1279724"/>
                  </a:lnTo>
                  <a:lnTo>
                    <a:pt x="363641" y="1321920"/>
                  </a:lnTo>
                  <a:lnTo>
                    <a:pt x="357414" y="1364237"/>
                  </a:lnTo>
                  <a:lnTo>
                    <a:pt x="353452" y="1406601"/>
                  </a:lnTo>
                  <a:lnTo>
                    <a:pt x="351790" y="1448935"/>
                  </a:lnTo>
                  <a:lnTo>
                    <a:pt x="352460" y="1491164"/>
                  </a:lnTo>
                  <a:lnTo>
                    <a:pt x="355497" y="1533212"/>
                  </a:lnTo>
                  <a:lnTo>
                    <a:pt x="360932" y="1575005"/>
                  </a:lnTo>
                  <a:lnTo>
                    <a:pt x="368801" y="1616466"/>
                  </a:lnTo>
                  <a:lnTo>
                    <a:pt x="379135" y="1657521"/>
                  </a:lnTo>
                  <a:lnTo>
                    <a:pt x="391970" y="1698094"/>
                  </a:lnTo>
                  <a:lnTo>
                    <a:pt x="407337" y="1738109"/>
                  </a:lnTo>
                  <a:lnTo>
                    <a:pt x="425272" y="1777491"/>
                  </a:lnTo>
                  <a:lnTo>
                    <a:pt x="448874" y="1821428"/>
                  </a:lnTo>
                  <a:lnTo>
                    <a:pt x="475595" y="1863613"/>
                  </a:lnTo>
                  <a:lnTo>
                    <a:pt x="505317" y="1903918"/>
                  </a:lnTo>
                  <a:lnTo>
                    <a:pt x="537921" y="1942210"/>
                  </a:lnTo>
                  <a:lnTo>
                    <a:pt x="253060" y="2161920"/>
                  </a:lnTo>
                  <a:lnTo>
                    <a:pt x="217258" y="2120480"/>
                  </a:lnTo>
                  <a:lnTo>
                    <a:pt x="183968" y="2077284"/>
                  </a:lnTo>
                  <a:lnTo>
                    <a:pt x="153262" y="2032405"/>
                  </a:lnTo>
                  <a:lnTo>
                    <a:pt x="125214" y="1985917"/>
                  </a:lnTo>
                  <a:lnTo>
                    <a:pt x="99898" y="1937892"/>
                  </a:lnTo>
                  <a:lnTo>
                    <a:pt x="81403" y="1898133"/>
                  </a:lnTo>
                  <a:lnTo>
                    <a:pt x="64848" y="1857882"/>
                  </a:lnTo>
                  <a:lnTo>
                    <a:pt x="50215" y="1817183"/>
                  </a:lnTo>
                  <a:lnTo>
                    <a:pt x="37484" y="1776077"/>
                  </a:lnTo>
                  <a:lnTo>
                    <a:pt x="26637" y="1734607"/>
                  </a:lnTo>
                  <a:lnTo>
                    <a:pt x="17655" y="1692815"/>
                  </a:lnTo>
                  <a:lnTo>
                    <a:pt x="10519" y="1650743"/>
                  </a:lnTo>
                  <a:lnTo>
                    <a:pt x="5210" y="1608433"/>
                  </a:lnTo>
                  <a:lnTo>
                    <a:pt x="1710" y="1565928"/>
                  </a:lnTo>
                  <a:lnTo>
                    <a:pt x="0" y="1523270"/>
                  </a:lnTo>
                  <a:lnTo>
                    <a:pt x="60" y="1480501"/>
                  </a:lnTo>
                  <a:lnTo>
                    <a:pt x="1873" y="1437664"/>
                  </a:lnTo>
                  <a:lnTo>
                    <a:pt x="5420" y="1394801"/>
                  </a:lnTo>
                  <a:lnTo>
                    <a:pt x="10682" y="1351953"/>
                  </a:lnTo>
                  <a:lnTo>
                    <a:pt x="17639" y="1309163"/>
                  </a:lnTo>
                  <a:lnTo>
                    <a:pt x="26274" y="1266474"/>
                  </a:lnTo>
                  <a:lnTo>
                    <a:pt x="36567" y="1223928"/>
                  </a:lnTo>
                  <a:lnTo>
                    <a:pt x="48500" y="1181566"/>
                  </a:lnTo>
                  <a:lnTo>
                    <a:pt x="62053" y="1139432"/>
                  </a:lnTo>
                  <a:lnTo>
                    <a:pt x="77209" y="1097567"/>
                  </a:lnTo>
                  <a:lnTo>
                    <a:pt x="93948" y="1056014"/>
                  </a:lnTo>
                  <a:lnTo>
                    <a:pt x="112252" y="1014814"/>
                  </a:lnTo>
                  <a:lnTo>
                    <a:pt x="132102" y="974011"/>
                  </a:lnTo>
                  <a:lnTo>
                    <a:pt x="153479" y="933646"/>
                  </a:lnTo>
                  <a:lnTo>
                    <a:pt x="176364" y="893762"/>
                  </a:lnTo>
                  <a:lnTo>
                    <a:pt x="200738" y="854401"/>
                  </a:lnTo>
                  <a:lnTo>
                    <a:pt x="226583" y="815604"/>
                  </a:lnTo>
                  <a:lnTo>
                    <a:pt x="253881" y="777415"/>
                  </a:lnTo>
                  <a:lnTo>
                    <a:pt x="282611" y="739876"/>
                  </a:lnTo>
                  <a:lnTo>
                    <a:pt x="312756" y="703029"/>
                  </a:lnTo>
                  <a:lnTo>
                    <a:pt x="344297" y="666916"/>
                  </a:lnTo>
                  <a:lnTo>
                    <a:pt x="377214" y="631579"/>
                  </a:lnTo>
                  <a:lnTo>
                    <a:pt x="411490" y="597061"/>
                  </a:lnTo>
                  <a:lnTo>
                    <a:pt x="447105" y="563403"/>
                  </a:lnTo>
                  <a:lnTo>
                    <a:pt x="484040" y="530649"/>
                  </a:lnTo>
                  <a:lnTo>
                    <a:pt x="522278" y="498840"/>
                  </a:lnTo>
                  <a:lnTo>
                    <a:pt x="561798" y="468019"/>
                  </a:lnTo>
                  <a:lnTo>
                    <a:pt x="602583" y="438227"/>
                  </a:lnTo>
                  <a:lnTo>
                    <a:pt x="644613" y="409508"/>
                  </a:lnTo>
                  <a:lnTo>
                    <a:pt x="687870" y="381903"/>
                  </a:lnTo>
                  <a:lnTo>
                    <a:pt x="732335" y="355455"/>
                  </a:lnTo>
                  <a:lnTo>
                    <a:pt x="777989" y="330205"/>
                  </a:lnTo>
                  <a:lnTo>
                    <a:pt x="824814" y="306196"/>
                  </a:lnTo>
                  <a:lnTo>
                    <a:pt x="868232" y="285638"/>
                  </a:lnTo>
                  <a:lnTo>
                    <a:pt x="912317" y="266318"/>
                  </a:lnTo>
                  <a:lnTo>
                    <a:pt x="807796" y="0"/>
                  </a:lnTo>
                  <a:lnTo>
                    <a:pt x="1450289" y="203453"/>
                  </a:lnTo>
                  <a:lnTo>
                    <a:pt x="1127201" y="814323"/>
                  </a:lnTo>
                  <a:lnTo>
                    <a:pt x="1022807" y="54813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49803eb7b_1_6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Inspiração</a:t>
            </a:r>
            <a:endParaRPr/>
          </a:p>
        </p:txBody>
      </p:sp>
      <p:sp>
        <p:nvSpPr>
          <p:cNvPr id="299" name="Google Shape;299;g3649803eb7b_1_6"/>
          <p:cNvSpPr txBox="1">
            <a:spLocks noGrp="1"/>
          </p:cNvSpPr>
          <p:nvPr>
            <p:ph type="body" idx="4294967295"/>
          </p:nvPr>
        </p:nvSpPr>
        <p:spPr>
          <a:xfrm>
            <a:off x="417235" y="199327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0" b="1"/>
              <a:t>Identificar um problema</a:t>
            </a:r>
            <a:br>
              <a:rPr lang="en-US" sz="3600"/>
            </a:br>
            <a:r>
              <a:rPr lang="en-US" sz="3600"/>
              <a:t>Quando algo não é perfeito, existe uma oportunidade para aplicar o Design Thinking.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1063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649803eb7b_1_11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Ideação</a:t>
            </a:r>
            <a:endParaRPr/>
          </a:p>
        </p:txBody>
      </p:sp>
      <p:sp>
        <p:nvSpPr>
          <p:cNvPr id="305" name="Google Shape;305;g3649803eb7b_1_11"/>
          <p:cNvSpPr txBox="1">
            <a:spLocks noGrp="1"/>
          </p:cNvSpPr>
          <p:nvPr>
            <p:ph type="body" idx="4294967295"/>
          </p:nvPr>
        </p:nvSpPr>
        <p:spPr>
          <a:xfrm>
            <a:off x="316435" y="126482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000" b="1"/>
              <a:t>Prototipagem</a:t>
            </a:r>
            <a:endParaRPr sz="2000"/>
          </a:p>
          <a:p>
            <a:pPr marL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Não precisa ser complexa ou cara</a:t>
            </a:r>
            <a:endParaRPr sz="2000"/>
          </a:p>
          <a:p>
            <a:pPr marL="742950" lvl="1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i="1"/>
              <a:t>Deve ser física</a:t>
            </a:r>
            <a:endParaRPr sz="2000"/>
          </a:p>
          <a:p>
            <a:pPr marL="1143000" lvl="2" indent="-241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Intangíveis podem ser representados visualmente</a:t>
            </a:r>
            <a:endParaRPr sz="2000"/>
          </a:p>
          <a:p>
            <a:pPr marL="1143000" lvl="2" indent="-241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Visualizar ajuda na revisão</a:t>
            </a:r>
            <a:endParaRPr sz="2000"/>
          </a:p>
          <a:p>
            <a:pPr marL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Protótipos verdadeiros pedem melhorias</a:t>
            </a:r>
            <a:endParaRPr sz="2000"/>
          </a:p>
          <a:p>
            <a:pPr marL="742950" lvl="1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Um protótipo “finalizado” não é necessariamente o melhor protótipo</a:t>
            </a:r>
            <a:endParaRPr sz="2000"/>
          </a:p>
          <a:p>
            <a:pPr marL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Usada para identificar pontos fortes e fracos de uma ideia e direcionar o próximo protótipo na melhor direção possível</a:t>
            </a:r>
            <a:endParaRPr sz="2000"/>
          </a:p>
          <a:p>
            <a:pPr marL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Testar, refazer o protótipo, testar, refazer o protótipo, testar, refazer o protótipo...</a:t>
            </a:r>
            <a:endParaRPr sz="2000"/>
          </a:p>
          <a:p>
            <a:pPr marL="457200" lvl="0" indent="0" algn="l" rtl="0">
              <a:lnSpc>
                <a:spcPct val="150000"/>
              </a:lnSpc>
              <a:spcBef>
                <a:spcPts val="1063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649803eb7b_1_16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Implementação</a:t>
            </a:r>
            <a:endParaRPr/>
          </a:p>
        </p:txBody>
      </p:sp>
      <p:sp>
        <p:nvSpPr>
          <p:cNvPr id="311" name="Google Shape;311;g3649803eb7b_1_16"/>
          <p:cNvSpPr txBox="1">
            <a:spLocks noGrp="1"/>
          </p:cNvSpPr>
          <p:nvPr>
            <p:ph type="body" idx="4294967295"/>
          </p:nvPr>
        </p:nvSpPr>
        <p:spPr>
          <a:xfrm>
            <a:off x="417235" y="199327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800" b="1"/>
              <a:t>Colocando seu melhor protótipo em prática</a:t>
            </a:r>
            <a:endParaRPr sz="2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800"/>
              <a:t>Controlar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800"/>
              <a:t>Comparar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800"/>
              <a:t>Avaliar</a:t>
            </a:r>
            <a:endParaRPr sz="1400"/>
          </a:p>
          <a:p>
            <a:pPr marL="457200" lvl="0" indent="0" algn="l" rtl="0">
              <a:spcBef>
                <a:spcPts val="1063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2" name="Google Shape;312;g3649803eb7b_1_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7926" y="2872502"/>
            <a:ext cx="2295700" cy="297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49803eb7b_1_62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3425" rIns="0" bIns="0" anchor="ctr" anchorCtr="0">
            <a:spAutoFit/>
          </a:bodyPr>
          <a:lstStyle/>
          <a:p>
            <a:pPr marL="7366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4800"/>
              <a:buFont typeface="Calibri"/>
              <a:buNone/>
            </a:pPr>
            <a:r>
              <a:rPr lang="en-US">
                <a:solidFill>
                  <a:srgbClr val="404040"/>
                </a:solidFill>
              </a:rPr>
              <a:t>What’s </a:t>
            </a:r>
            <a:r>
              <a:rPr lang="en-US"/>
              <a:t>your</a:t>
            </a:r>
            <a:r>
              <a:rPr lang="en-US">
                <a:solidFill>
                  <a:srgbClr val="404040"/>
                </a:solidFill>
              </a:rPr>
              <a:t> process..?</a:t>
            </a:r>
            <a:endParaRPr/>
          </a:p>
        </p:txBody>
      </p:sp>
      <p:sp>
        <p:nvSpPr>
          <p:cNvPr id="318" name="Google Shape;318;g3649803eb7b_1_62"/>
          <p:cNvSpPr txBox="1"/>
          <p:nvPr/>
        </p:nvSpPr>
        <p:spPr>
          <a:xfrm>
            <a:off x="764540" y="2177923"/>
            <a:ext cx="7698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12700" marR="247650" lvl="0" indent="0" algn="just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649803eb7b_1_62"/>
          <p:cNvSpPr txBox="1"/>
          <p:nvPr/>
        </p:nvSpPr>
        <p:spPr>
          <a:xfrm>
            <a:off x="381000" y="1992525"/>
            <a:ext cx="79986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design é sobre explorar a si mesmo; cada pessoa tem uma metodologia, um ângulo preferido e até seus próprios vieses. Mas, como regra, você segue estas etapas: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rgbClr val="FF000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Definir | Pesquisar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lang="en-US" sz="2400" b="1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Idear | Prototipar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lang="en-US" sz="2400" b="1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Escolher | Implementar | Aprender.</a:t>
            </a:r>
            <a:endParaRPr sz="2400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Talvez seja isso que torne o design um assunto fascinante e em constante evolução.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649803eb7b_1_21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Definir</a:t>
            </a:r>
            <a:endParaRPr/>
          </a:p>
        </p:txBody>
      </p:sp>
      <p:sp>
        <p:nvSpPr>
          <p:cNvPr id="325" name="Google Shape;325;g3649803eb7b_1_21"/>
          <p:cNvSpPr txBox="1">
            <a:spLocks noGrp="1"/>
          </p:cNvSpPr>
          <p:nvPr>
            <p:ph type="body" idx="4294967295"/>
          </p:nvPr>
        </p:nvSpPr>
        <p:spPr>
          <a:xfrm>
            <a:off x="417235" y="199327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457200" marR="5080" lvl="0" indent="-416560" algn="l" rtl="0">
              <a:lnSpc>
                <a:spcPct val="1262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3200"/>
              <a:t>Decida qual problema você está tentando resolver. </a:t>
            </a:r>
            <a:endParaRPr sz="1400"/>
          </a:p>
          <a:p>
            <a:pPr marL="457200" marR="5080" lvl="0" indent="-416560" algn="l" rtl="0">
              <a:lnSpc>
                <a:spcPct val="1262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3200"/>
              <a:t>Concorde sobre quem é o público-alvo.</a:t>
            </a:r>
            <a:endParaRPr sz="3200"/>
          </a:p>
          <a:p>
            <a:pPr marL="457200" marR="5080" lvl="0" indent="-416560" algn="l" rtl="0">
              <a:lnSpc>
                <a:spcPct val="1262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3200"/>
              <a:t>Priorize este projeto em termos de urgência.</a:t>
            </a:r>
            <a:endParaRPr sz="3200"/>
          </a:p>
          <a:p>
            <a:pPr marL="457200" marR="5080" lvl="0" indent="-416560" algn="l" rtl="0">
              <a:lnSpc>
                <a:spcPct val="1262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3200"/>
              <a:t>Determine o que tornará este projeto bem-sucedido.</a:t>
            </a:r>
            <a:endParaRPr sz="3200"/>
          </a:p>
          <a:p>
            <a:pPr marL="457200" marR="5080" lvl="0" indent="-416560" algn="l" rtl="0">
              <a:lnSpc>
                <a:spcPct val="1262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3200"/>
              <a:t>Estabeleça um glossário de termos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1063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49803eb7b_1_26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Pesquisar</a:t>
            </a:r>
            <a:endParaRPr/>
          </a:p>
        </p:txBody>
      </p:sp>
      <p:sp>
        <p:nvSpPr>
          <p:cNvPr id="331" name="Google Shape;331;g3649803eb7b_1_26"/>
          <p:cNvSpPr txBox="1">
            <a:spLocks noGrp="1"/>
          </p:cNvSpPr>
          <p:nvPr>
            <p:ph type="body" idx="4294967295"/>
          </p:nvPr>
        </p:nvSpPr>
        <p:spPr>
          <a:xfrm>
            <a:off x="417235" y="199327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Revise o histórico do problema; lembre-se de quaisquer obstáculos existentes.</a:t>
            </a:r>
            <a:endParaRPr sz="24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Colete exemplos de outras tentativas de resolver o mesmo problema.</a:t>
            </a:r>
            <a:endParaRPr sz="24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Anote os apoiadores, investidores e críticos do projeto.</a:t>
            </a:r>
            <a:endParaRPr sz="24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Converse com seus usuários finais, pois isso traz as ideias mais frutíferas para o design posterior.</a:t>
            </a:r>
            <a:endParaRPr sz="24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Leve em consideração a opinião de líderes de pensamento.</a:t>
            </a:r>
            <a:endParaRPr sz="1400"/>
          </a:p>
          <a:p>
            <a:pPr marL="457200" lvl="0" indent="0" algn="l" rtl="0">
              <a:spcBef>
                <a:spcPts val="1063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649803eb7b_1_31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Idear</a:t>
            </a:r>
            <a:endParaRPr/>
          </a:p>
        </p:txBody>
      </p:sp>
      <p:sp>
        <p:nvSpPr>
          <p:cNvPr id="337" name="Google Shape;337;g3649803eb7b_1_31"/>
          <p:cNvSpPr txBox="1">
            <a:spLocks noGrp="1"/>
          </p:cNvSpPr>
          <p:nvPr>
            <p:ph type="body" idx="4294967295"/>
          </p:nvPr>
        </p:nvSpPr>
        <p:spPr>
          <a:xfrm>
            <a:off x="417235" y="199327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Identifique as necessidades e motivações dos seus usuários finais.</a:t>
            </a:r>
            <a:endParaRPr sz="24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Gere o máximo possível de ideias para atender a essas necessidades identificadas.</a:t>
            </a:r>
            <a:endParaRPr sz="24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Registre sua sessão de brainstorming. Não julgue nem debata ideias.</a:t>
            </a:r>
            <a:endParaRPr sz="24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Durante o brainstorming, tenha apenas uma conversa por vez.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649803eb7b_1_36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Prototipar</a:t>
            </a:r>
            <a:endParaRPr/>
          </a:p>
        </p:txBody>
      </p:sp>
      <p:sp>
        <p:nvSpPr>
          <p:cNvPr id="343" name="Google Shape;343;g3649803eb7b_1_36"/>
          <p:cNvSpPr txBox="1">
            <a:spLocks noGrp="1"/>
          </p:cNvSpPr>
          <p:nvPr>
            <p:ph type="body" idx="4294967295"/>
          </p:nvPr>
        </p:nvSpPr>
        <p:spPr>
          <a:xfrm>
            <a:off x="417235" y="199327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77519" marR="1833245" lvl="0" indent="-243000" algn="l" rtl="0">
              <a:lnSpc>
                <a:spcPct val="1262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●"/>
            </a:pPr>
            <a:r>
              <a:rPr lang="en-US"/>
              <a:t>Combine, expanda e refine ideias. </a:t>
            </a:r>
            <a:endParaRPr/>
          </a:p>
          <a:p>
            <a:pPr marL="477519" marR="1833245" lvl="0" indent="-243000" algn="l" rtl="0">
              <a:lnSpc>
                <a:spcPct val="126299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440"/>
              <a:buChar char="●"/>
            </a:pPr>
            <a:r>
              <a:rPr lang="en-US"/>
              <a:t>Crie múltiplas versões.</a:t>
            </a:r>
            <a:endParaRPr/>
          </a:p>
          <a:p>
            <a:pPr marL="477519" marR="1833245" lvl="0" indent="-243000" algn="l" rtl="0">
              <a:lnSpc>
                <a:spcPct val="126299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440"/>
              <a:buChar char="●"/>
            </a:pPr>
            <a:r>
              <a:rPr lang="en-US"/>
              <a:t>Busque feedback de um grupo diverso de pessoas, incluindo seus usuários finais.</a:t>
            </a:r>
            <a:endParaRPr/>
          </a:p>
          <a:p>
            <a:pPr marL="477519" marR="1833245" lvl="0" indent="-243000" algn="l" rtl="0">
              <a:lnSpc>
                <a:spcPct val="126299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440"/>
              <a:buChar char="●"/>
            </a:pPr>
            <a:r>
              <a:rPr lang="en-US"/>
              <a:t>Apresente uma seleção de ideias ao cliente. </a:t>
            </a:r>
            <a:endParaRPr/>
          </a:p>
          <a:p>
            <a:pPr marL="477519" marR="1833245" lvl="0" indent="-243000" algn="l" rtl="0">
              <a:lnSpc>
                <a:spcPct val="126299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440"/>
              <a:buChar char="●"/>
            </a:pPr>
            <a:r>
              <a:rPr lang="en-US"/>
              <a:t>Mantenha a neutralidade e evite julgamentos</a:t>
            </a:r>
            <a:endParaRPr/>
          </a:p>
          <a:p>
            <a:pPr marL="457200" lvl="0" indent="0" algn="l" rtl="0">
              <a:spcBef>
                <a:spcPts val="1063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649803eb7b_1_41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Escolher</a:t>
            </a:r>
            <a:endParaRPr/>
          </a:p>
        </p:txBody>
      </p:sp>
      <p:sp>
        <p:nvSpPr>
          <p:cNvPr id="349" name="Google Shape;349;g3649803eb7b_1_41"/>
          <p:cNvSpPr txBox="1">
            <a:spLocks noGrp="1"/>
          </p:cNvSpPr>
          <p:nvPr>
            <p:ph type="body" idx="4294967295"/>
          </p:nvPr>
        </p:nvSpPr>
        <p:spPr>
          <a:xfrm>
            <a:off x="417235" y="199327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Reveja o objetivo.</a:t>
            </a:r>
            <a:endParaRPr sz="24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Deixe de lado emoções e o apego às ideias.</a:t>
            </a:r>
            <a:endParaRPr sz="24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Lembre-se: a solução mais prática nem sempre é a melhor.</a:t>
            </a:r>
            <a:endParaRPr sz="24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Selecione as ideias mais impactantes.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1063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649803eb7b_1_46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Implementar</a:t>
            </a:r>
            <a:endParaRPr/>
          </a:p>
        </p:txBody>
      </p:sp>
      <p:sp>
        <p:nvSpPr>
          <p:cNvPr id="355" name="Google Shape;355;g3649803eb7b_1_46"/>
          <p:cNvSpPr txBox="1">
            <a:spLocks noGrp="1"/>
          </p:cNvSpPr>
          <p:nvPr>
            <p:ph type="body" idx="4294967295"/>
          </p:nvPr>
        </p:nvSpPr>
        <p:spPr>
          <a:xfrm>
            <a:off x="417235" y="199327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marR="634365" lvl="0" indent="-381000" algn="l" rtl="0">
              <a:lnSpc>
                <a:spcPct val="1262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Atribua tarefas.</a:t>
            </a:r>
            <a:endParaRPr sz="2400"/>
          </a:p>
          <a:p>
            <a:pPr marL="457200" marR="634365" lvl="0" indent="-381000" algn="l" rtl="0">
              <a:lnSpc>
                <a:spcPct val="1262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Execute.</a:t>
            </a:r>
            <a:endParaRPr sz="2400"/>
          </a:p>
          <a:p>
            <a:pPr marL="457200" marR="634365" lvl="0" indent="-381000" algn="l" rtl="0">
              <a:lnSpc>
                <a:spcPct val="1262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Entregue ao cliente.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1063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49803eb7b_1_51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Aprender</a:t>
            </a:r>
            <a:endParaRPr/>
          </a:p>
        </p:txBody>
      </p:sp>
      <p:sp>
        <p:nvSpPr>
          <p:cNvPr id="361" name="Google Shape;361;g3649803eb7b_1_51"/>
          <p:cNvSpPr txBox="1">
            <a:spLocks noGrp="1"/>
          </p:cNvSpPr>
          <p:nvPr>
            <p:ph type="body" idx="4294967295"/>
          </p:nvPr>
        </p:nvSpPr>
        <p:spPr>
          <a:xfrm>
            <a:off x="417235" y="199327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marR="5080" lvl="0" indent="-381000" algn="l" rtl="0">
              <a:lnSpc>
                <a:spcPct val="126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Obtenha feedback do consumidor.</a:t>
            </a:r>
            <a:endParaRPr sz="2400"/>
          </a:p>
          <a:p>
            <a:pPr marL="457200" marR="5080" lvl="0" indent="-381000" algn="l" rtl="0">
              <a:lnSpc>
                <a:spcPct val="126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Determine se a solução atingiu seus objetivos. </a:t>
            </a:r>
            <a:endParaRPr sz="2400"/>
          </a:p>
          <a:p>
            <a:pPr marL="457200" marR="5080" lvl="0" indent="-381000" algn="l" rtl="0">
              <a:lnSpc>
                <a:spcPct val="126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Discuta o que pode ser melhorado.</a:t>
            </a:r>
            <a:endParaRPr sz="2400"/>
          </a:p>
          <a:p>
            <a:pPr marL="457200" marR="5080" lvl="0" indent="-381000" algn="l" rtl="0">
              <a:lnSpc>
                <a:spcPct val="126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Meça o sucesso; colete dados. Documente.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1063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9800" rIns="0" bIns="0" anchor="ctr" anchorCtr="0">
            <a:spAutoFit/>
          </a:bodyPr>
          <a:lstStyle/>
          <a:p>
            <a:pPr marL="7366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Calibri"/>
              <a:buNone/>
            </a:pPr>
            <a:r>
              <a:rPr lang="en-US"/>
              <a:t>Vamos praticar</a:t>
            </a:r>
            <a:endParaRPr/>
          </a:p>
        </p:txBody>
      </p:sp>
      <p:sp>
        <p:nvSpPr>
          <p:cNvPr id="367" name="Google Shape;367;p29"/>
          <p:cNvSpPr txBox="1"/>
          <p:nvPr/>
        </p:nvSpPr>
        <p:spPr>
          <a:xfrm>
            <a:off x="902004" y="1685417"/>
            <a:ext cx="7432040" cy="274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75" rIns="0" bIns="0" anchor="t" anchorCtr="0">
            <a:spAutoFit/>
          </a:bodyPr>
          <a:lstStyle/>
          <a:p>
            <a:pPr lvl="0"/>
            <a:r>
              <a:rPr lang="pt-BR" sz="2400" dirty="0"/>
              <a:t>Aplicar o Design </a:t>
            </a:r>
            <a:r>
              <a:rPr lang="pt-BR" sz="2400" dirty="0" err="1"/>
              <a:t>Thinking</a:t>
            </a:r>
            <a:r>
              <a:rPr lang="pt-BR" sz="2400" dirty="0"/>
              <a:t> para elaborar um problema enfrentado por alunos que querem pedir lanches da cantina/lanchonete sem enfrentar filas, especialmente quando a lanchonete não tem cardápio online. O objetivo é identificar o problema real que precisa ser resolvido para, depois, pensar em soluções criativas e viáveis.</a:t>
            </a: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9"/>
          <p:cNvSpPr txBox="1"/>
          <p:nvPr/>
        </p:nvSpPr>
        <p:spPr>
          <a:xfrm>
            <a:off x="8159242" y="6549643"/>
            <a:ext cx="172085" cy="18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31</a:t>
            </a:r>
            <a:endParaRPr sz="10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5D549A2-1EE1-4E03-B875-5F5DDDA85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296" y="4113664"/>
            <a:ext cx="4278803" cy="274433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A42BA-B944-468A-8B89-8D9FC8F6F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Empatia – Entendendo o usuário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0815F2-B592-421A-A120-7F4B5CC8F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137160" indent="0">
              <a:buNone/>
            </a:pPr>
            <a:r>
              <a:rPr lang="pt-BR" b="1" dirty="0"/>
              <a:t>Quem são os usuários?</a:t>
            </a:r>
            <a:endParaRPr lang="pt-BR" dirty="0"/>
          </a:p>
          <a:p>
            <a:r>
              <a:rPr lang="pt-BR" dirty="0"/>
              <a:t>Alunos (ensino médio, técnico ou universitários)</a:t>
            </a:r>
          </a:p>
          <a:p>
            <a:r>
              <a:rPr lang="pt-BR" dirty="0"/>
              <a:t>Funcionários da lanchonete</a:t>
            </a:r>
          </a:p>
          <a:p>
            <a:r>
              <a:rPr lang="pt-BR" dirty="0"/>
              <a:t>Professores que veem os atrasos por conta das filas</a:t>
            </a:r>
          </a:p>
          <a:p>
            <a:pPr marL="137160" indent="0">
              <a:buNone/>
            </a:pPr>
            <a:r>
              <a:rPr lang="pt-BR" b="1" dirty="0"/>
              <a:t>Quais são suas dores?</a:t>
            </a:r>
            <a:endParaRPr lang="pt-BR" dirty="0"/>
          </a:p>
          <a:p>
            <a:r>
              <a:rPr lang="pt-BR" dirty="0"/>
              <a:t>Alunos perdem tempo em fila durante o intervalo.</a:t>
            </a:r>
          </a:p>
          <a:p>
            <a:r>
              <a:rPr lang="pt-BR" dirty="0"/>
              <a:t>Lanchonete fica sobrecarregada no horário de pico.</a:t>
            </a:r>
          </a:p>
          <a:p>
            <a:r>
              <a:rPr lang="pt-BR" dirty="0"/>
              <a:t>Não existe um cardápio online, então os alunos não sabem o que pedir até chegar lá.</a:t>
            </a:r>
          </a:p>
          <a:p>
            <a:r>
              <a:rPr lang="pt-BR" dirty="0"/>
              <a:t>Confusão e demora nos pedidos.</a:t>
            </a:r>
          </a:p>
          <a:p>
            <a:r>
              <a:rPr lang="pt-BR" dirty="0"/>
              <a:t>Atraso para voltar às aulas ou comer com calma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82263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63178-914C-4637-8BA1-6AF8CEA1F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64F597-7F80-43CE-A053-8825DD674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Como podemos ajudar os alunos a visualizarem o cardápio da lanchonete e fazerem seus pedidos de forma rápida e organizada, direto da sala de aula, evitando filas e atrasos?</a:t>
            </a:r>
          </a:p>
        </p:txBody>
      </p:sp>
    </p:spTree>
    <p:extLst>
      <p:ext uri="{BB962C8B-B14F-4D97-AF65-F5344CB8AC3E}">
        <p14:creationId xmlns:p14="http://schemas.microsoft.com/office/powerpoint/2010/main" val="31070120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F0BC3-DB6E-400F-BFB5-FE01734F6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Ideação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3C2960-EC69-4BAF-97E1-09453D2E8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Algumas ideias para resolver esse problema:</a:t>
            </a:r>
          </a:p>
          <a:p>
            <a:r>
              <a:rPr lang="pt-BR" dirty="0"/>
              <a:t>Criar um </a:t>
            </a:r>
            <a:r>
              <a:rPr lang="pt-BR" b="1" dirty="0"/>
              <a:t>cardápio digital</a:t>
            </a:r>
            <a:r>
              <a:rPr lang="pt-BR" dirty="0"/>
              <a:t> (site, app ou PDF com QR </a:t>
            </a:r>
            <a:r>
              <a:rPr lang="pt-BR" dirty="0" err="1"/>
              <a:t>code</a:t>
            </a:r>
            <a:r>
              <a:rPr lang="pt-BR" dirty="0"/>
              <a:t>).</a:t>
            </a:r>
          </a:p>
          <a:p>
            <a:r>
              <a:rPr lang="pt-BR" dirty="0"/>
              <a:t>Implementar um sistema de </a:t>
            </a:r>
            <a:r>
              <a:rPr lang="pt-BR" b="1" dirty="0"/>
              <a:t>pedidos online</a:t>
            </a:r>
            <a:r>
              <a:rPr lang="pt-BR" dirty="0"/>
              <a:t> com horário de retirada agendado.</a:t>
            </a:r>
          </a:p>
          <a:p>
            <a:r>
              <a:rPr lang="pt-BR" dirty="0"/>
              <a:t>Usar um </a:t>
            </a:r>
            <a:r>
              <a:rPr lang="pt-BR" b="1" dirty="0"/>
              <a:t>grupo de WhatsApp ou </a:t>
            </a:r>
            <a:r>
              <a:rPr lang="pt-BR" b="1" dirty="0" err="1"/>
              <a:t>chatbot</a:t>
            </a:r>
            <a:r>
              <a:rPr lang="pt-BR" dirty="0"/>
              <a:t> para receber pedidos com base no cardápio.</a:t>
            </a:r>
          </a:p>
          <a:p>
            <a:r>
              <a:rPr lang="pt-BR" dirty="0"/>
              <a:t>Criar um </a:t>
            </a:r>
            <a:r>
              <a:rPr lang="pt-BR" b="1" dirty="0"/>
              <a:t>painel com pedidos prontos</a:t>
            </a:r>
            <a:r>
              <a:rPr lang="pt-BR" dirty="0"/>
              <a:t> (por número ou nome) para evitar filas.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46869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77B207-BFDD-4E1F-9706-16391CDED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Prototipagem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636025-2E47-4C95-8BC3-A0402E17D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Um </a:t>
            </a:r>
            <a:r>
              <a:rPr lang="pt-BR" b="1" dirty="0"/>
              <a:t>QR </a:t>
            </a:r>
            <a:r>
              <a:rPr lang="pt-BR" b="1" dirty="0" err="1"/>
              <a:t>code</a:t>
            </a:r>
            <a:r>
              <a:rPr lang="pt-BR" b="1" dirty="0"/>
              <a:t> na sala de aula</a:t>
            </a:r>
            <a:r>
              <a:rPr lang="pt-BR" dirty="0"/>
              <a:t> leva para um cardápio digital.</a:t>
            </a:r>
          </a:p>
          <a:p>
            <a:r>
              <a:rPr lang="pt-BR" dirty="0"/>
              <a:t>O aluno seleciona o lanche e envia o pedido via formulário ou app simples.</a:t>
            </a:r>
          </a:p>
          <a:p>
            <a:r>
              <a:rPr lang="pt-BR" dirty="0"/>
              <a:t>A lanchonete recebe os pedidos com nome e horário de retirada.</a:t>
            </a:r>
          </a:p>
          <a:p>
            <a:r>
              <a:rPr lang="pt-BR" dirty="0"/>
              <a:t>O aluno vai até lá, busca o lanche pronto e volta sem pegar fila.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7976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A29E2-D511-4D76-B9F8-2B36009B3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72A7AB-C48A-4FC0-ADC5-C91910A82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Testar em uma turma piloto.</a:t>
            </a:r>
          </a:p>
          <a:p>
            <a:r>
              <a:rPr lang="pt-BR" dirty="0"/>
              <a:t>Ver se os pedidos são recebidos corretamente.</a:t>
            </a:r>
          </a:p>
          <a:p>
            <a:r>
              <a:rPr lang="pt-BR" dirty="0"/>
              <a:t>Observar se há menos filas e mais organização.</a:t>
            </a:r>
          </a:p>
          <a:p>
            <a:r>
              <a:rPr lang="pt-BR" dirty="0"/>
              <a:t>Coletar feedback dos alunos e da equipe da lanchonete.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69888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0"/>
          <p:cNvSpPr txBox="1">
            <a:spLocks noGrp="1"/>
          </p:cNvSpPr>
          <p:nvPr>
            <p:ph type="title"/>
          </p:nvPr>
        </p:nvSpPr>
        <p:spPr>
          <a:xfrm>
            <a:off x="316414" y="156300"/>
            <a:ext cx="63246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4300"/>
              <a:buFont typeface="Calibri"/>
              <a:buNone/>
            </a:pPr>
            <a:r>
              <a:rPr lang="en-US" sz="4300">
                <a:solidFill>
                  <a:srgbClr val="404040"/>
                </a:solidFill>
              </a:rPr>
              <a:t>Spaces of design thinking</a:t>
            </a:r>
            <a:endParaRPr sz="4300"/>
          </a:p>
        </p:txBody>
      </p:sp>
      <p:sp>
        <p:nvSpPr>
          <p:cNvPr id="374" name="Google Shape;374;p30"/>
          <p:cNvSpPr txBox="1"/>
          <p:nvPr/>
        </p:nvSpPr>
        <p:spPr>
          <a:xfrm>
            <a:off x="3416934" y="2167254"/>
            <a:ext cx="145669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04040"/>
                </a:solidFill>
                <a:latin typeface="Tahoma"/>
                <a:ea typeface="Tahoma"/>
                <a:cs typeface="Tahoma"/>
                <a:sym typeface="Tahoma"/>
              </a:rPr>
              <a:t>Inspiration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75" name="Google Shape;37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59806" y="4343977"/>
            <a:ext cx="1105866" cy="263692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0"/>
          <p:cNvSpPr txBox="1"/>
          <p:nvPr/>
        </p:nvSpPr>
        <p:spPr>
          <a:xfrm>
            <a:off x="5337428" y="4261180"/>
            <a:ext cx="1134745" cy="39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Ideation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77" name="Google Shape;377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0154" y="4287589"/>
            <a:ext cx="1960754" cy="322796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0"/>
          <p:cNvSpPr txBox="1"/>
          <p:nvPr/>
        </p:nvSpPr>
        <p:spPr>
          <a:xfrm>
            <a:off x="1736217" y="4204461"/>
            <a:ext cx="2302383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70510" marR="5080" lvl="0" indent="-2584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Implementation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79" name="Google Shape;379;p30"/>
          <p:cNvGrpSpPr/>
          <p:nvPr/>
        </p:nvGrpSpPr>
        <p:grpSpPr>
          <a:xfrm>
            <a:off x="5285613" y="2458211"/>
            <a:ext cx="1270635" cy="1483995"/>
            <a:chOff x="5285613" y="2458211"/>
            <a:chExt cx="1270635" cy="1483995"/>
          </a:xfrm>
        </p:grpSpPr>
        <p:sp>
          <p:nvSpPr>
            <p:cNvPr id="380" name="Google Shape;380;p30"/>
            <p:cNvSpPr/>
            <p:nvPr/>
          </p:nvSpPr>
          <p:spPr>
            <a:xfrm>
              <a:off x="5285613" y="2458211"/>
              <a:ext cx="1270635" cy="1483995"/>
            </a:xfrm>
            <a:custGeom>
              <a:avLst/>
              <a:gdLst/>
              <a:ahLst/>
              <a:cxnLst/>
              <a:rect l="l" t="t" r="r" b="b"/>
              <a:pathLst>
                <a:path w="1270634" h="1483995" extrusionOk="0">
                  <a:moveTo>
                    <a:pt x="201549" y="0"/>
                  </a:moveTo>
                  <a:lnTo>
                    <a:pt x="150661" y="1752"/>
                  </a:lnTo>
                  <a:lnTo>
                    <a:pt x="100012" y="7159"/>
                  </a:lnTo>
                  <a:lnTo>
                    <a:pt x="49744" y="16162"/>
                  </a:lnTo>
                  <a:lnTo>
                    <a:pt x="0" y="28701"/>
                  </a:lnTo>
                  <a:lnTo>
                    <a:pt x="53339" y="293242"/>
                  </a:lnTo>
                  <a:lnTo>
                    <a:pt x="89945" y="283983"/>
                  </a:lnTo>
                  <a:lnTo>
                    <a:pt x="126920" y="277368"/>
                  </a:lnTo>
                  <a:lnTo>
                    <a:pt x="164157" y="273419"/>
                  </a:lnTo>
                  <a:lnTo>
                    <a:pt x="201549" y="272161"/>
                  </a:lnTo>
                  <a:lnTo>
                    <a:pt x="244704" y="273906"/>
                  </a:lnTo>
                  <a:lnTo>
                    <a:pt x="287079" y="279067"/>
                  </a:lnTo>
                  <a:lnTo>
                    <a:pt x="328582" y="287530"/>
                  </a:lnTo>
                  <a:lnTo>
                    <a:pt x="369117" y="299184"/>
                  </a:lnTo>
                  <a:lnTo>
                    <a:pt x="408592" y="313916"/>
                  </a:lnTo>
                  <a:lnTo>
                    <a:pt x="446911" y="331612"/>
                  </a:lnTo>
                  <a:lnTo>
                    <a:pt x="483980" y="352161"/>
                  </a:lnTo>
                  <a:lnTo>
                    <a:pt x="519707" y="375449"/>
                  </a:lnTo>
                  <a:lnTo>
                    <a:pt x="553997" y="401364"/>
                  </a:lnTo>
                  <a:lnTo>
                    <a:pt x="586755" y="429793"/>
                  </a:lnTo>
                  <a:lnTo>
                    <a:pt x="617888" y="460624"/>
                  </a:lnTo>
                  <a:lnTo>
                    <a:pt x="647303" y="493744"/>
                  </a:lnTo>
                  <a:lnTo>
                    <a:pt x="674904" y="529040"/>
                  </a:lnTo>
                  <a:lnTo>
                    <a:pt x="700598" y="566399"/>
                  </a:lnTo>
                  <a:lnTo>
                    <a:pt x="724291" y="605709"/>
                  </a:lnTo>
                  <a:lnTo>
                    <a:pt x="745889" y="646858"/>
                  </a:lnTo>
                  <a:lnTo>
                    <a:pt x="765298" y="689731"/>
                  </a:lnTo>
                  <a:lnTo>
                    <a:pt x="782425" y="734218"/>
                  </a:lnTo>
                  <a:lnTo>
                    <a:pt x="797174" y="780205"/>
                  </a:lnTo>
                  <a:lnTo>
                    <a:pt x="809452" y="827580"/>
                  </a:lnTo>
                  <a:lnTo>
                    <a:pt x="819166" y="876229"/>
                  </a:lnTo>
                  <a:lnTo>
                    <a:pt x="826220" y="926041"/>
                  </a:lnTo>
                  <a:lnTo>
                    <a:pt x="830522" y="976902"/>
                  </a:lnTo>
                  <a:lnTo>
                    <a:pt x="831976" y="1028700"/>
                  </a:lnTo>
                  <a:lnTo>
                    <a:pt x="831596" y="1055179"/>
                  </a:lnTo>
                  <a:lnTo>
                    <a:pt x="830452" y="1081659"/>
                  </a:lnTo>
                  <a:lnTo>
                    <a:pt x="616712" y="1063625"/>
                  </a:lnTo>
                  <a:lnTo>
                    <a:pt x="920496" y="1483487"/>
                  </a:lnTo>
                  <a:lnTo>
                    <a:pt x="1270381" y="1118742"/>
                  </a:lnTo>
                  <a:lnTo>
                    <a:pt x="1056639" y="1100836"/>
                  </a:lnTo>
                  <a:lnTo>
                    <a:pt x="1058243" y="1064767"/>
                  </a:lnTo>
                  <a:lnTo>
                    <a:pt x="1058658" y="1046722"/>
                  </a:lnTo>
                  <a:lnTo>
                    <a:pt x="1058799" y="1028700"/>
                  </a:lnTo>
                  <a:lnTo>
                    <a:pt x="1057683" y="975757"/>
                  </a:lnTo>
                  <a:lnTo>
                    <a:pt x="1054371" y="923511"/>
                  </a:lnTo>
                  <a:lnTo>
                    <a:pt x="1048918" y="872024"/>
                  </a:lnTo>
                  <a:lnTo>
                    <a:pt x="1041377" y="821363"/>
                  </a:lnTo>
                  <a:lnTo>
                    <a:pt x="1031803" y="771590"/>
                  </a:lnTo>
                  <a:lnTo>
                    <a:pt x="1020248" y="722772"/>
                  </a:lnTo>
                  <a:lnTo>
                    <a:pt x="1006768" y="674973"/>
                  </a:lnTo>
                  <a:lnTo>
                    <a:pt x="991415" y="628257"/>
                  </a:lnTo>
                  <a:lnTo>
                    <a:pt x="974244" y="582688"/>
                  </a:lnTo>
                  <a:lnTo>
                    <a:pt x="955309" y="538332"/>
                  </a:lnTo>
                  <a:lnTo>
                    <a:pt x="934664" y="495253"/>
                  </a:lnTo>
                  <a:lnTo>
                    <a:pt x="912363" y="453516"/>
                  </a:lnTo>
                  <a:lnTo>
                    <a:pt x="888459" y="413185"/>
                  </a:lnTo>
                  <a:lnTo>
                    <a:pt x="863006" y="374325"/>
                  </a:lnTo>
                  <a:lnTo>
                    <a:pt x="836059" y="337000"/>
                  </a:lnTo>
                  <a:lnTo>
                    <a:pt x="807672" y="301275"/>
                  </a:lnTo>
                  <a:lnTo>
                    <a:pt x="777898" y="267215"/>
                  </a:lnTo>
                  <a:lnTo>
                    <a:pt x="746790" y="234884"/>
                  </a:lnTo>
                  <a:lnTo>
                    <a:pt x="714405" y="204347"/>
                  </a:lnTo>
                  <a:lnTo>
                    <a:pt x="680794" y="175669"/>
                  </a:lnTo>
                  <a:lnTo>
                    <a:pt x="646012" y="148913"/>
                  </a:lnTo>
                  <a:lnTo>
                    <a:pt x="610113" y="124145"/>
                  </a:lnTo>
                  <a:lnTo>
                    <a:pt x="573151" y="101430"/>
                  </a:lnTo>
                  <a:lnTo>
                    <a:pt x="535179" y="80831"/>
                  </a:lnTo>
                  <a:lnTo>
                    <a:pt x="496253" y="62414"/>
                  </a:lnTo>
                  <a:lnTo>
                    <a:pt x="456425" y="46242"/>
                  </a:lnTo>
                  <a:lnTo>
                    <a:pt x="415750" y="32382"/>
                  </a:lnTo>
                  <a:lnTo>
                    <a:pt x="374281" y="20896"/>
                  </a:lnTo>
                  <a:lnTo>
                    <a:pt x="332072" y="11851"/>
                  </a:lnTo>
                  <a:lnTo>
                    <a:pt x="289178" y="5310"/>
                  </a:lnTo>
                  <a:lnTo>
                    <a:pt x="245652" y="1338"/>
                  </a:lnTo>
                  <a:lnTo>
                    <a:pt x="201549" y="0"/>
                  </a:lnTo>
                  <a:close/>
                </a:path>
              </a:pathLst>
            </a:custGeom>
            <a:solidFill>
              <a:srgbClr val="626F5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5285613" y="2458211"/>
              <a:ext cx="1270635" cy="1483995"/>
            </a:xfrm>
            <a:custGeom>
              <a:avLst/>
              <a:gdLst/>
              <a:ahLst/>
              <a:cxnLst/>
              <a:rect l="l" t="t" r="r" b="b"/>
              <a:pathLst>
                <a:path w="1270634" h="1483995" extrusionOk="0">
                  <a:moveTo>
                    <a:pt x="830452" y="1081659"/>
                  </a:moveTo>
                  <a:lnTo>
                    <a:pt x="831119" y="1068419"/>
                  </a:lnTo>
                  <a:lnTo>
                    <a:pt x="831596" y="1055179"/>
                  </a:lnTo>
                  <a:lnTo>
                    <a:pt x="831881" y="1041939"/>
                  </a:lnTo>
                  <a:lnTo>
                    <a:pt x="831976" y="1028700"/>
                  </a:lnTo>
                  <a:lnTo>
                    <a:pt x="830522" y="976902"/>
                  </a:lnTo>
                  <a:lnTo>
                    <a:pt x="826220" y="926041"/>
                  </a:lnTo>
                  <a:lnTo>
                    <a:pt x="819166" y="876229"/>
                  </a:lnTo>
                  <a:lnTo>
                    <a:pt x="809452" y="827580"/>
                  </a:lnTo>
                  <a:lnTo>
                    <a:pt x="797174" y="780205"/>
                  </a:lnTo>
                  <a:lnTo>
                    <a:pt x="782425" y="734218"/>
                  </a:lnTo>
                  <a:lnTo>
                    <a:pt x="765298" y="689731"/>
                  </a:lnTo>
                  <a:lnTo>
                    <a:pt x="745889" y="646858"/>
                  </a:lnTo>
                  <a:lnTo>
                    <a:pt x="724291" y="605709"/>
                  </a:lnTo>
                  <a:lnTo>
                    <a:pt x="700598" y="566399"/>
                  </a:lnTo>
                  <a:lnTo>
                    <a:pt x="674904" y="529040"/>
                  </a:lnTo>
                  <a:lnTo>
                    <a:pt x="647303" y="493744"/>
                  </a:lnTo>
                  <a:lnTo>
                    <a:pt x="617888" y="460624"/>
                  </a:lnTo>
                  <a:lnTo>
                    <a:pt x="586755" y="429793"/>
                  </a:lnTo>
                  <a:lnTo>
                    <a:pt x="553997" y="401364"/>
                  </a:lnTo>
                  <a:lnTo>
                    <a:pt x="519707" y="375449"/>
                  </a:lnTo>
                  <a:lnTo>
                    <a:pt x="483980" y="352161"/>
                  </a:lnTo>
                  <a:lnTo>
                    <a:pt x="446911" y="331612"/>
                  </a:lnTo>
                  <a:lnTo>
                    <a:pt x="408592" y="313916"/>
                  </a:lnTo>
                  <a:lnTo>
                    <a:pt x="369117" y="299184"/>
                  </a:lnTo>
                  <a:lnTo>
                    <a:pt x="328582" y="287530"/>
                  </a:lnTo>
                  <a:lnTo>
                    <a:pt x="287079" y="279067"/>
                  </a:lnTo>
                  <a:lnTo>
                    <a:pt x="244704" y="273906"/>
                  </a:lnTo>
                  <a:lnTo>
                    <a:pt x="201549" y="272161"/>
                  </a:lnTo>
                  <a:lnTo>
                    <a:pt x="164157" y="273419"/>
                  </a:lnTo>
                  <a:lnTo>
                    <a:pt x="126920" y="277368"/>
                  </a:lnTo>
                  <a:lnTo>
                    <a:pt x="89945" y="283983"/>
                  </a:lnTo>
                  <a:lnTo>
                    <a:pt x="53339" y="293242"/>
                  </a:lnTo>
                  <a:lnTo>
                    <a:pt x="0" y="28701"/>
                  </a:lnTo>
                  <a:lnTo>
                    <a:pt x="49744" y="16162"/>
                  </a:lnTo>
                  <a:lnTo>
                    <a:pt x="100012" y="7159"/>
                  </a:lnTo>
                  <a:lnTo>
                    <a:pt x="150661" y="1752"/>
                  </a:lnTo>
                  <a:lnTo>
                    <a:pt x="201549" y="0"/>
                  </a:lnTo>
                  <a:lnTo>
                    <a:pt x="245652" y="1338"/>
                  </a:lnTo>
                  <a:lnTo>
                    <a:pt x="289178" y="5310"/>
                  </a:lnTo>
                  <a:lnTo>
                    <a:pt x="332072" y="11851"/>
                  </a:lnTo>
                  <a:lnTo>
                    <a:pt x="374281" y="20896"/>
                  </a:lnTo>
                  <a:lnTo>
                    <a:pt x="415750" y="32382"/>
                  </a:lnTo>
                  <a:lnTo>
                    <a:pt x="456425" y="46242"/>
                  </a:lnTo>
                  <a:lnTo>
                    <a:pt x="496253" y="62414"/>
                  </a:lnTo>
                  <a:lnTo>
                    <a:pt x="535179" y="80831"/>
                  </a:lnTo>
                  <a:lnTo>
                    <a:pt x="573151" y="101430"/>
                  </a:lnTo>
                  <a:lnTo>
                    <a:pt x="610113" y="124145"/>
                  </a:lnTo>
                  <a:lnTo>
                    <a:pt x="646012" y="148913"/>
                  </a:lnTo>
                  <a:lnTo>
                    <a:pt x="680794" y="175669"/>
                  </a:lnTo>
                  <a:lnTo>
                    <a:pt x="714405" y="204347"/>
                  </a:lnTo>
                  <a:lnTo>
                    <a:pt x="746790" y="234884"/>
                  </a:lnTo>
                  <a:lnTo>
                    <a:pt x="777898" y="267215"/>
                  </a:lnTo>
                  <a:lnTo>
                    <a:pt x="807672" y="301275"/>
                  </a:lnTo>
                  <a:lnTo>
                    <a:pt x="836059" y="337000"/>
                  </a:lnTo>
                  <a:lnTo>
                    <a:pt x="863006" y="374325"/>
                  </a:lnTo>
                  <a:lnTo>
                    <a:pt x="888459" y="413185"/>
                  </a:lnTo>
                  <a:lnTo>
                    <a:pt x="912363" y="453516"/>
                  </a:lnTo>
                  <a:lnTo>
                    <a:pt x="934664" y="495253"/>
                  </a:lnTo>
                  <a:lnTo>
                    <a:pt x="955309" y="538332"/>
                  </a:lnTo>
                  <a:lnTo>
                    <a:pt x="974244" y="582688"/>
                  </a:lnTo>
                  <a:lnTo>
                    <a:pt x="991415" y="628257"/>
                  </a:lnTo>
                  <a:lnTo>
                    <a:pt x="1006768" y="674973"/>
                  </a:lnTo>
                  <a:lnTo>
                    <a:pt x="1020248" y="722772"/>
                  </a:lnTo>
                  <a:lnTo>
                    <a:pt x="1031803" y="771590"/>
                  </a:lnTo>
                  <a:lnTo>
                    <a:pt x="1041377" y="821363"/>
                  </a:lnTo>
                  <a:lnTo>
                    <a:pt x="1048918" y="872024"/>
                  </a:lnTo>
                  <a:lnTo>
                    <a:pt x="1054371" y="923511"/>
                  </a:lnTo>
                  <a:lnTo>
                    <a:pt x="1057683" y="975757"/>
                  </a:lnTo>
                  <a:lnTo>
                    <a:pt x="1058799" y="1028700"/>
                  </a:lnTo>
                  <a:lnTo>
                    <a:pt x="1058658" y="1046722"/>
                  </a:lnTo>
                  <a:lnTo>
                    <a:pt x="1058243" y="1064767"/>
                  </a:lnTo>
                  <a:lnTo>
                    <a:pt x="1057566" y="1082813"/>
                  </a:lnTo>
                  <a:lnTo>
                    <a:pt x="1056639" y="1100836"/>
                  </a:lnTo>
                  <a:lnTo>
                    <a:pt x="1270381" y="1118742"/>
                  </a:lnTo>
                  <a:lnTo>
                    <a:pt x="920496" y="1483487"/>
                  </a:lnTo>
                  <a:lnTo>
                    <a:pt x="616712" y="1063625"/>
                  </a:lnTo>
                  <a:lnTo>
                    <a:pt x="830452" y="108165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2" name="Google Shape;382;p30"/>
          <p:cNvGrpSpPr/>
          <p:nvPr/>
        </p:nvGrpSpPr>
        <p:grpSpPr>
          <a:xfrm>
            <a:off x="2537079" y="4720209"/>
            <a:ext cx="3405504" cy="938530"/>
            <a:chOff x="2537079" y="4720209"/>
            <a:chExt cx="3405504" cy="938530"/>
          </a:xfrm>
        </p:grpSpPr>
        <p:sp>
          <p:nvSpPr>
            <p:cNvPr id="383" name="Google Shape;383;p30"/>
            <p:cNvSpPr/>
            <p:nvPr/>
          </p:nvSpPr>
          <p:spPr>
            <a:xfrm>
              <a:off x="2537079" y="4720209"/>
              <a:ext cx="3405504" cy="938530"/>
            </a:xfrm>
            <a:custGeom>
              <a:avLst/>
              <a:gdLst/>
              <a:ahLst/>
              <a:cxnLst/>
              <a:rect l="l" t="t" r="r" b="b"/>
              <a:pathLst>
                <a:path w="3405504" h="938529" extrusionOk="0">
                  <a:moveTo>
                    <a:pt x="464693" y="0"/>
                  </a:moveTo>
                  <a:lnTo>
                    <a:pt x="0" y="215392"/>
                  </a:lnTo>
                  <a:lnTo>
                    <a:pt x="378459" y="217043"/>
                  </a:lnTo>
                  <a:lnTo>
                    <a:pt x="378332" y="221488"/>
                  </a:lnTo>
                  <a:lnTo>
                    <a:pt x="383611" y="283750"/>
                  </a:lnTo>
                  <a:lnTo>
                    <a:pt x="399166" y="342476"/>
                  </a:lnTo>
                  <a:lnTo>
                    <a:pt x="424577" y="399627"/>
                  </a:lnTo>
                  <a:lnTo>
                    <a:pt x="459423" y="455004"/>
                  </a:lnTo>
                  <a:lnTo>
                    <a:pt x="503285" y="508409"/>
                  </a:lnTo>
                  <a:lnTo>
                    <a:pt x="555741" y="559642"/>
                  </a:lnTo>
                  <a:lnTo>
                    <a:pt x="585060" y="584383"/>
                  </a:lnTo>
                  <a:lnTo>
                    <a:pt x="616371" y="608506"/>
                  </a:lnTo>
                  <a:lnTo>
                    <a:pt x="649619" y="631988"/>
                  </a:lnTo>
                  <a:lnTo>
                    <a:pt x="684754" y="654802"/>
                  </a:lnTo>
                  <a:lnTo>
                    <a:pt x="721722" y="676925"/>
                  </a:lnTo>
                  <a:lnTo>
                    <a:pt x="760470" y="698331"/>
                  </a:lnTo>
                  <a:lnTo>
                    <a:pt x="800947" y="718996"/>
                  </a:lnTo>
                  <a:lnTo>
                    <a:pt x="843099" y="738895"/>
                  </a:lnTo>
                  <a:lnTo>
                    <a:pt x="886874" y="758003"/>
                  </a:lnTo>
                  <a:lnTo>
                    <a:pt x="932219" y="776295"/>
                  </a:lnTo>
                  <a:lnTo>
                    <a:pt x="979082" y="793747"/>
                  </a:lnTo>
                  <a:lnTo>
                    <a:pt x="1027411" y="810333"/>
                  </a:lnTo>
                  <a:lnTo>
                    <a:pt x="1077152" y="826029"/>
                  </a:lnTo>
                  <a:lnTo>
                    <a:pt x="1128253" y="840810"/>
                  </a:lnTo>
                  <a:lnTo>
                    <a:pt x="1180662" y="854651"/>
                  </a:lnTo>
                  <a:lnTo>
                    <a:pt x="1234326" y="867528"/>
                  </a:lnTo>
                  <a:lnTo>
                    <a:pt x="1289193" y="879415"/>
                  </a:lnTo>
                  <a:lnTo>
                    <a:pt x="1345209" y="890287"/>
                  </a:lnTo>
                  <a:lnTo>
                    <a:pt x="1402322" y="900121"/>
                  </a:lnTo>
                  <a:lnTo>
                    <a:pt x="1460481" y="908890"/>
                  </a:lnTo>
                  <a:lnTo>
                    <a:pt x="1519631" y="916571"/>
                  </a:lnTo>
                  <a:lnTo>
                    <a:pt x="1579721" y="923138"/>
                  </a:lnTo>
                  <a:lnTo>
                    <a:pt x="1640699" y="928567"/>
                  </a:lnTo>
                  <a:lnTo>
                    <a:pt x="1702510" y="932833"/>
                  </a:lnTo>
                  <a:lnTo>
                    <a:pt x="1765104" y="935911"/>
                  </a:lnTo>
                  <a:lnTo>
                    <a:pt x="1828427" y="937775"/>
                  </a:lnTo>
                  <a:lnTo>
                    <a:pt x="1892426" y="938403"/>
                  </a:lnTo>
                  <a:lnTo>
                    <a:pt x="1956038" y="937787"/>
                  </a:lnTo>
                  <a:lnTo>
                    <a:pt x="2019000" y="935946"/>
                  </a:lnTo>
                  <a:lnTo>
                    <a:pt x="2081260" y="932905"/>
                  </a:lnTo>
                  <a:lnTo>
                    <a:pt x="2142764" y="928686"/>
                  </a:lnTo>
                  <a:lnTo>
                    <a:pt x="2203461" y="923314"/>
                  </a:lnTo>
                  <a:lnTo>
                    <a:pt x="2263295" y="916812"/>
                  </a:lnTo>
                  <a:lnTo>
                    <a:pt x="2322215" y="909206"/>
                  </a:lnTo>
                  <a:lnTo>
                    <a:pt x="2380168" y="900518"/>
                  </a:lnTo>
                  <a:lnTo>
                    <a:pt x="2437099" y="890773"/>
                  </a:lnTo>
                  <a:lnTo>
                    <a:pt x="2492956" y="879995"/>
                  </a:lnTo>
                  <a:lnTo>
                    <a:pt x="2547685" y="868208"/>
                  </a:lnTo>
                  <a:lnTo>
                    <a:pt x="2601234" y="855435"/>
                  </a:lnTo>
                  <a:lnTo>
                    <a:pt x="2653549" y="841701"/>
                  </a:lnTo>
                  <a:lnTo>
                    <a:pt x="2704578" y="827029"/>
                  </a:lnTo>
                  <a:lnTo>
                    <a:pt x="2754266" y="811444"/>
                  </a:lnTo>
                  <a:lnTo>
                    <a:pt x="2802562" y="794969"/>
                  </a:lnTo>
                  <a:lnTo>
                    <a:pt x="2849411" y="777629"/>
                  </a:lnTo>
                  <a:lnTo>
                    <a:pt x="2894760" y="759448"/>
                  </a:lnTo>
                  <a:lnTo>
                    <a:pt x="2938557" y="740449"/>
                  </a:lnTo>
                  <a:lnTo>
                    <a:pt x="2980748" y="720657"/>
                  </a:lnTo>
                  <a:lnTo>
                    <a:pt x="3021281" y="700095"/>
                  </a:lnTo>
                  <a:lnTo>
                    <a:pt x="3060101" y="678787"/>
                  </a:lnTo>
                  <a:lnTo>
                    <a:pt x="3097155" y="656758"/>
                  </a:lnTo>
                  <a:lnTo>
                    <a:pt x="3132392" y="634031"/>
                  </a:lnTo>
                  <a:lnTo>
                    <a:pt x="3165756" y="610631"/>
                  </a:lnTo>
                  <a:lnTo>
                    <a:pt x="3197196" y="586581"/>
                  </a:lnTo>
                  <a:lnTo>
                    <a:pt x="3226659" y="561905"/>
                  </a:lnTo>
                  <a:lnTo>
                    <a:pt x="3279436" y="510772"/>
                  </a:lnTo>
                  <a:lnTo>
                    <a:pt x="3323665" y="457424"/>
                  </a:lnTo>
                  <a:lnTo>
                    <a:pt x="3358918" y="402053"/>
                  </a:lnTo>
                  <a:lnTo>
                    <a:pt x="3384772" y="344850"/>
                  </a:lnTo>
                  <a:lnTo>
                    <a:pt x="3400800" y="286008"/>
                  </a:lnTo>
                  <a:lnTo>
                    <a:pt x="3404997" y="256032"/>
                  </a:lnTo>
                  <a:lnTo>
                    <a:pt x="3241294" y="252603"/>
                  </a:lnTo>
                  <a:lnTo>
                    <a:pt x="3236946" y="282442"/>
                  </a:lnTo>
                  <a:lnTo>
                    <a:pt x="3229751" y="311876"/>
                  </a:lnTo>
                  <a:lnTo>
                    <a:pt x="3207087" y="369410"/>
                  </a:lnTo>
                  <a:lnTo>
                    <a:pt x="3173830" y="424965"/>
                  </a:lnTo>
                  <a:lnTo>
                    <a:pt x="3130509" y="478302"/>
                  </a:lnTo>
                  <a:lnTo>
                    <a:pt x="3077655" y="529181"/>
                  </a:lnTo>
                  <a:lnTo>
                    <a:pt x="3047818" y="553624"/>
                  </a:lnTo>
                  <a:lnTo>
                    <a:pt x="3015796" y="577363"/>
                  </a:lnTo>
                  <a:lnTo>
                    <a:pt x="2981655" y="600368"/>
                  </a:lnTo>
                  <a:lnTo>
                    <a:pt x="2945461" y="622610"/>
                  </a:lnTo>
                  <a:lnTo>
                    <a:pt x="2907281" y="644057"/>
                  </a:lnTo>
                  <a:lnTo>
                    <a:pt x="2867180" y="664680"/>
                  </a:lnTo>
                  <a:lnTo>
                    <a:pt x="2825226" y="684450"/>
                  </a:lnTo>
                  <a:lnTo>
                    <a:pt x="2781483" y="703336"/>
                  </a:lnTo>
                  <a:lnTo>
                    <a:pt x="2736018" y="721309"/>
                  </a:lnTo>
                  <a:lnTo>
                    <a:pt x="2688898" y="738338"/>
                  </a:lnTo>
                  <a:lnTo>
                    <a:pt x="2640189" y="754394"/>
                  </a:lnTo>
                  <a:lnTo>
                    <a:pt x="2589956" y="769446"/>
                  </a:lnTo>
                  <a:lnTo>
                    <a:pt x="2538266" y="783466"/>
                  </a:lnTo>
                  <a:lnTo>
                    <a:pt x="2485184" y="796422"/>
                  </a:lnTo>
                  <a:lnTo>
                    <a:pt x="2430779" y="808285"/>
                  </a:lnTo>
                  <a:lnTo>
                    <a:pt x="2375114" y="819026"/>
                  </a:lnTo>
                  <a:lnTo>
                    <a:pt x="2318257" y="828613"/>
                  </a:lnTo>
                  <a:lnTo>
                    <a:pt x="2260274" y="837018"/>
                  </a:lnTo>
                  <a:lnTo>
                    <a:pt x="2201230" y="844210"/>
                  </a:lnTo>
                  <a:lnTo>
                    <a:pt x="2141193" y="850159"/>
                  </a:lnTo>
                  <a:lnTo>
                    <a:pt x="2080227" y="854836"/>
                  </a:lnTo>
                  <a:lnTo>
                    <a:pt x="2018400" y="858210"/>
                  </a:lnTo>
                  <a:lnTo>
                    <a:pt x="1955778" y="860253"/>
                  </a:lnTo>
                  <a:lnTo>
                    <a:pt x="1892426" y="860933"/>
                  </a:lnTo>
                  <a:lnTo>
                    <a:pt x="1828883" y="860239"/>
                  </a:lnTo>
                  <a:lnTo>
                    <a:pt x="1766096" y="858179"/>
                  </a:lnTo>
                  <a:lnTo>
                    <a:pt x="1704128" y="854783"/>
                  </a:lnTo>
                  <a:lnTo>
                    <a:pt x="1643046" y="850082"/>
                  </a:lnTo>
                  <a:lnTo>
                    <a:pt x="1582913" y="844106"/>
                  </a:lnTo>
                  <a:lnTo>
                    <a:pt x="1523795" y="836885"/>
                  </a:lnTo>
                  <a:lnTo>
                    <a:pt x="1465757" y="828451"/>
                  </a:lnTo>
                  <a:lnTo>
                    <a:pt x="1408864" y="818834"/>
                  </a:lnTo>
                  <a:lnTo>
                    <a:pt x="1353180" y="808064"/>
                  </a:lnTo>
                  <a:lnTo>
                    <a:pt x="1298770" y="796172"/>
                  </a:lnTo>
                  <a:lnTo>
                    <a:pt x="1245699" y="783189"/>
                  </a:lnTo>
                  <a:lnTo>
                    <a:pt x="1194033" y="769145"/>
                  </a:lnTo>
                  <a:lnTo>
                    <a:pt x="1143835" y="754071"/>
                  </a:lnTo>
                  <a:lnTo>
                    <a:pt x="1095171" y="737996"/>
                  </a:lnTo>
                  <a:lnTo>
                    <a:pt x="1048106" y="720953"/>
                  </a:lnTo>
                  <a:lnTo>
                    <a:pt x="1002704" y="702972"/>
                  </a:lnTo>
                  <a:lnTo>
                    <a:pt x="959031" y="684082"/>
                  </a:lnTo>
                  <a:lnTo>
                    <a:pt x="917151" y="664315"/>
                  </a:lnTo>
                  <a:lnTo>
                    <a:pt x="877129" y="643701"/>
                  </a:lnTo>
                  <a:lnTo>
                    <a:pt x="839030" y="622270"/>
                  </a:lnTo>
                  <a:lnTo>
                    <a:pt x="802919" y="600054"/>
                  </a:lnTo>
                  <a:lnTo>
                    <a:pt x="768861" y="577083"/>
                  </a:lnTo>
                  <a:lnTo>
                    <a:pt x="736920" y="553387"/>
                  </a:lnTo>
                  <a:lnTo>
                    <a:pt x="707161" y="528997"/>
                  </a:lnTo>
                  <a:lnTo>
                    <a:pt x="654452" y="478258"/>
                  </a:lnTo>
                  <a:lnTo>
                    <a:pt x="611250" y="425109"/>
                  </a:lnTo>
                  <a:lnTo>
                    <a:pt x="578076" y="369796"/>
                  </a:lnTo>
                  <a:lnTo>
                    <a:pt x="555449" y="312562"/>
                  </a:lnTo>
                  <a:lnTo>
                    <a:pt x="543886" y="253653"/>
                  </a:lnTo>
                  <a:lnTo>
                    <a:pt x="542416" y="223647"/>
                  </a:lnTo>
                  <a:lnTo>
                    <a:pt x="542544" y="217805"/>
                  </a:lnTo>
                  <a:lnTo>
                    <a:pt x="921004" y="219456"/>
                  </a:lnTo>
                  <a:lnTo>
                    <a:pt x="464693" y="0"/>
                  </a:lnTo>
                  <a:close/>
                </a:path>
              </a:pathLst>
            </a:custGeom>
            <a:solidFill>
              <a:srgbClr val="626F5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30"/>
            <p:cNvSpPr/>
            <p:nvPr/>
          </p:nvSpPr>
          <p:spPr>
            <a:xfrm>
              <a:off x="2537079" y="4720209"/>
              <a:ext cx="3405504" cy="938530"/>
            </a:xfrm>
            <a:custGeom>
              <a:avLst/>
              <a:gdLst/>
              <a:ahLst/>
              <a:cxnLst/>
              <a:rect l="l" t="t" r="r" b="b"/>
              <a:pathLst>
                <a:path w="3405504" h="938529" extrusionOk="0">
                  <a:moveTo>
                    <a:pt x="542544" y="217805"/>
                  </a:moveTo>
                  <a:lnTo>
                    <a:pt x="542544" y="219710"/>
                  </a:lnTo>
                  <a:lnTo>
                    <a:pt x="542416" y="221742"/>
                  </a:lnTo>
                  <a:lnTo>
                    <a:pt x="542416" y="223647"/>
                  </a:lnTo>
                  <a:lnTo>
                    <a:pt x="548252" y="283302"/>
                  </a:lnTo>
                  <a:lnTo>
                    <a:pt x="565412" y="341404"/>
                  </a:lnTo>
                  <a:lnTo>
                    <a:pt x="593378" y="397708"/>
                  </a:lnTo>
                  <a:lnTo>
                    <a:pt x="631630" y="451969"/>
                  </a:lnTo>
                  <a:lnTo>
                    <a:pt x="679651" y="503944"/>
                  </a:lnTo>
                  <a:lnTo>
                    <a:pt x="736920" y="553387"/>
                  </a:lnTo>
                  <a:lnTo>
                    <a:pt x="768861" y="577083"/>
                  </a:lnTo>
                  <a:lnTo>
                    <a:pt x="802919" y="600054"/>
                  </a:lnTo>
                  <a:lnTo>
                    <a:pt x="839030" y="622270"/>
                  </a:lnTo>
                  <a:lnTo>
                    <a:pt x="877129" y="643701"/>
                  </a:lnTo>
                  <a:lnTo>
                    <a:pt x="917151" y="664315"/>
                  </a:lnTo>
                  <a:lnTo>
                    <a:pt x="959031" y="684082"/>
                  </a:lnTo>
                  <a:lnTo>
                    <a:pt x="1002704" y="702972"/>
                  </a:lnTo>
                  <a:lnTo>
                    <a:pt x="1048106" y="720953"/>
                  </a:lnTo>
                  <a:lnTo>
                    <a:pt x="1095171" y="737996"/>
                  </a:lnTo>
                  <a:lnTo>
                    <a:pt x="1143835" y="754071"/>
                  </a:lnTo>
                  <a:lnTo>
                    <a:pt x="1194033" y="769145"/>
                  </a:lnTo>
                  <a:lnTo>
                    <a:pt x="1245699" y="783189"/>
                  </a:lnTo>
                  <a:lnTo>
                    <a:pt x="1298770" y="796172"/>
                  </a:lnTo>
                  <a:lnTo>
                    <a:pt x="1353180" y="808064"/>
                  </a:lnTo>
                  <a:lnTo>
                    <a:pt x="1408864" y="818834"/>
                  </a:lnTo>
                  <a:lnTo>
                    <a:pt x="1465757" y="828451"/>
                  </a:lnTo>
                  <a:lnTo>
                    <a:pt x="1523795" y="836885"/>
                  </a:lnTo>
                  <a:lnTo>
                    <a:pt x="1582913" y="844106"/>
                  </a:lnTo>
                  <a:lnTo>
                    <a:pt x="1643046" y="850082"/>
                  </a:lnTo>
                  <a:lnTo>
                    <a:pt x="1704128" y="854783"/>
                  </a:lnTo>
                  <a:lnTo>
                    <a:pt x="1766096" y="858179"/>
                  </a:lnTo>
                  <a:lnTo>
                    <a:pt x="1828883" y="860239"/>
                  </a:lnTo>
                  <a:lnTo>
                    <a:pt x="1892426" y="860933"/>
                  </a:lnTo>
                  <a:lnTo>
                    <a:pt x="1955778" y="860253"/>
                  </a:lnTo>
                  <a:lnTo>
                    <a:pt x="2018400" y="858210"/>
                  </a:lnTo>
                  <a:lnTo>
                    <a:pt x="2080227" y="854836"/>
                  </a:lnTo>
                  <a:lnTo>
                    <a:pt x="2141193" y="850159"/>
                  </a:lnTo>
                  <a:lnTo>
                    <a:pt x="2201230" y="844210"/>
                  </a:lnTo>
                  <a:lnTo>
                    <a:pt x="2260274" y="837018"/>
                  </a:lnTo>
                  <a:lnTo>
                    <a:pt x="2318257" y="828613"/>
                  </a:lnTo>
                  <a:lnTo>
                    <a:pt x="2375114" y="819026"/>
                  </a:lnTo>
                  <a:lnTo>
                    <a:pt x="2430779" y="808285"/>
                  </a:lnTo>
                  <a:lnTo>
                    <a:pt x="2485184" y="796422"/>
                  </a:lnTo>
                  <a:lnTo>
                    <a:pt x="2538266" y="783466"/>
                  </a:lnTo>
                  <a:lnTo>
                    <a:pt x="2589956" y="769446"/>
                  </a:lnTo>
                  <a:lnTo>
                    <a:pt x="2640189" y="754394"/>
                  </a:lnTo>
                  <a:lnTo>
                    <a:pt x="2688898" y="738338"/>
                  </a:lnTo>
                  <a:lnTo>
                    <a:pt x="2736018" y="721309"/>
                  </a:lnTo>
                  <a:lnTo>
                    <a:pt x="2781483" y="703336"/>
                  </a:lnTo>
                  <a:lnTo>
                    <a:pt x="2825226" y="684450"/>
                  </a:lnTo>
                  <a:lnTo>
                    <a:pt x="2867180" y="664680"/>
                  </a:lnTo>
                  <a:lnTo>
                    <a:pt x="2907281" y="644057"/>
                  </a:lnTo>
                  <a:lnTo>
                    <a:pt x="2945461" y="622610"/>
                  </a:lnTo>
                  <a:lnTo>
                    <a:pt x="2981655" y="600368"/>
                  </a:lnTo>
                  <a:lnTo>
                    <a:pt x="3015796" y="577363"/>
                  </a:lnTo>
                  <a:lnTo>
                    <a:pt x="3047818" y="553624"/>
                  </a:lnTo>
                  <a:lnTo>
                    <a:pt x="3077655" y="529181"/>
                  </a:lnTo>
                  <a:lnTo>
                    <a:pt x="3130509" y="478302"/>
                  </a:lnTo>
                  <a:lnTo>
                    <a:pt x="3173830" y="424965"/>
                  </a:lnTo>
                  <a:lnTo>
                    <a:pt x="3207087" y="369410"/>
                  </a:lnTo>
                  <a:lnTo>
                    <a:pt x="3229751" y="311876"/>
                  </a:lnTo>
                  <a:lnTo>
                    <a:pt x="3241294" y="252603"/>
                  </a:lnTo>
                  <a:lnTo>
                    <a:pt x="3404997" y="256032"/>
                  </a:lnTo>
                  <a:lnTo>
                    <a:pt x="3394041" y="315622"/>
                  </a:lnTo>
                  <a:lnTo>
                    <a:pt x="3373047" y="373668"/>
                  </a:lnTo>
                  <a:lnTo>
                    <a:pt x="3342440" y="429979"/>
                  </a:lnTo>
                  <a:lnTo>
                    <a:pt x="3302646" y="484363"/>
                  </a:lnTo>
                  <a:lnTo>
                    <a:pt x="3254090" y="536627"/>
                  </a:lnTo>
                  <a:lnTo>
                    <a:pt x="3197196" y="586581"/>
                  </a:lnTo>
                  <a:lnTo>
                    <a:pt x="3165756" y="610631"/>
                  </a:lnTo>
                  <a:lnTo>
                    <a:pt x="3132392" y="634031"/>
                  </a:lnTo>
                  <a:lnTo>
                    <a:pt x="3097155" y="656758"/>
                  </a:lnTo>
                  <a:lnTo>
                    <a:pt x="3060101" y="678787"/>
                  </a:lnTo>
                  <a:lnTo>
                    <a:pt x="3021281" y="700095"/>
                  </a:lnTo>
                  <a:lnTo>
                    <a:pt x="2980748" y="720657"/>
                  </a:lnTo>
                  <a:lnTo>
                    <a:pt x="2938557" y="740449"/>
                  </a:lnTo>
                  <a:lnTo>
                    <a:pt x="2894760" y="759448"/>
                  </a:lnTo>
                  <a:lnTo>
                    <a:pt x="2849411" y="777629"/>
                  </a:lnTo>
                  <a:lnTo>
                    <a:pt x="2802562" y="794969"/>
                  </a:lnTo>
                  <a:lnTo>
                    <a:pt x="2754266" y="811444"/>
                  </a:lnTo>
                  <a:lnTo>
                    <a:pt x="2704578" y="827029"/>
                  </a:lnTo>
                  <a:lnTo>
                    <a:pt x="2653549" y="841701"/>
                  </a:lnTo>
                  <a:lnTo>
                    <a:pt x="2601234" y="855435"/>
                  </a:lnTo>
                  <a:lnTo>
                    <a:pt x="2547685" y="868208"/>
                  </a:lnTo>
                  <a:lnTo>
                    <a:pt x="2492956" y="879995"/>
                  </a:lnTo>
                  <a:lnTo>
                    <a:pt x="2437099" y="890773"/>
                  </a:lnTo>
                  <a:lnTo>
                    <a:pt x="2380168" y="900518"/>
                  </a:lnTo>
                  <a:lnTo>
                    <a:pt x="2322215" y="909206"/>
                  </a:lnTo>
                  <a:lnTo>
                    <a:pt x="2263295" y="916812"/>
                  </a:lnTo>
                  <a:lnTo>
                    <a:pt x="2203461" y="923314"/>
                  </a:lnTo>
                  <a:lnTo>
                    <a:pt x="2142764" y="928686"/>
                  </a:lnTo>
                  <a:lnTo>
                    <a:pt x="2081260" y="932905"/>
                  </a:lnTo>
                  <a:lnTo>
                    <a:pt x="2019000" y="935946"/>
                  </a:lnTo>
                  <a:lnTo>
                    <a:pt x="1956038" y="937787"/>
                  </a:lnTo>
                  <a:lnTo>
                    <a:pt x="1892426" y="938403"/>
                  </a:lnTo>
                  <a:lnTo>
                    <a:pt x="1828427" y="937775"/>
                  </a:lnTo>
                  <a:lnTo>
                    <a:pt x="1765104" y="935911"/>
                  </a:lnTo>
                  <a:lnTo>
                    <a:pt x="1702510" y="932833"/>
                  </a:lnTo>
                  <a:lnTo>
                    <a:pt x="1640699" y="928567"/>
                  </a:lnTo>
                  <a:lnTo>
                    <a:pt x="1579721" y="923138"/>
                  </a:lnTo>
                  <a:lnTo>
                    <a:pt x="1519631" y="916571"/>
                  </a:lnTo>
                  <a:lnTo>
                    <a:pt x="1460481" y="908890"/>
                  </a:lnTo>
                  <a:lnTo>
                    <a:pt x="1402322" y="900121"/>
                  </a:lnTo>
                  <a:lnTo>
                    <a:pt x="1345209" y="890287"/>
                  </a:lnTo>
                  <a:lnTo>
                    <a:pt x="1289193" y="879415"/>
                  </a:lnTo>
                  <a:lnTo>
                    <a:pt x="1234326" y="867528"/>
                  </a:lnTo>
                  <a:lnTo>
                    <a:pt x="1180662" y="854651"/>
                  </a:lnTo>
                  <a:lnTo>
                    <a:pt x="1128253" y="840810"/>
                  </a:lnTo>
                  <a:lnTo>
                    <a:pt x="1077152" y="826029"/>
                  </a:lnTo>
                  <a:lnTo>
                    <a:pt x="1027411" y="810333"/>
                  </a:lnTo>
                  <a:lnTo>
                    <a:pt x="979082" y="793747"/>
                  </a:lnTo>
                  <a:lnTo>
                    <a:pt x="932219" y="776295"/>
                  </a:lnTo>
                  <a:lnTo>
                    <a:pt x="886874" y="758003"/>
                  </a:lnTo>
                  <a:lnTo>
                    <a:pt x="843099" y="738895"/>
                  </a:lnTo>
                  <a:lnTo>
                    <a:pt x="800947" y="718996"/>
                  </a:lnTo>
                  <a:lnTo>
                    <a:pt x="760470" y="698331"/>
                  </a:lnTo>
                  <a:lnTo>
                    <a:pt x="721722" y="676925"/>
                  </a:lnTo>
                  <a:lnTo>
                    <a:pt x="684754" y="654802"/>
                  </a:lnTo>
                  <a:lnTo>
                    <a:pt x="649619" y="631988"/>
                  </a:lnTo>
                  <a:lnTo>
                    <a:pt x="616371" y="608506"/>
                  </a:lnTo>
                  <a:lnTo>
                    <a:pt x="585060" y="584383"/>
                  </a:lnTo>
                  <a:lnTo>
                    <a:pt x="555741" y="559642"/>
                  </a:lnTo>
                  <a:lnTo>
                    <a:pt x="503285" y="508409"/>
                  </a:lnTo>
                  <a:lnTo>
                    <a:pt x="459423" y="455004"/>
                  </a:lnTo>
                  <a:lnTo>
                    <a:pt x="424577" y="399627"/>
                  </a:lnTo>
                  <a:lnTo>
                    <a:pt x="399166" y="342476"/>
                  </a:lnTo>
                  <a:lnTo>
                    <a:pt x="383611" y="283750"/>
                  </a:lnTo>
                  <a:lnTo>
                    <a:pt x="378332" y="223647"/>
                  </a:lnTo>
                  <a:lnTo>
                    <a:pt x="378332" y="221488"/>
                  </a:lnTo>
                  <a:lnTo>
                    <a:pt x="378459" y="219329"/>
                  </a:lnTo>
                  <a:lnTo>
                    <a:pt x="378459" y="217043"/>
                  </a:lnTo>
                  <a:lnTo>
                    <a:pt x="0" y="215392"/>
                  </a:lnTo>
                  <a:lnTo>
                    <a:pt x="464693" y="0"/>
                  </a:lnTo>
                  <a:lnTo>
                    <a:pt x="921004" y="219456"/>
                  </a:lnTo>
                  <a:lnTo>
                    <a:pt x="542544" y="217805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5" name="Google Shape;385;p30"/>
          <p:cNvGrpSpPr/>
          <p:nvPr/>
        </p:nvGrpSpPr>
        <p:grpSpPr>
          <a:xfrm>
            <a:off x="2145579" y="2430398"/>
            <a:ext cx="1087755" cy="1621790"/>
            <a:chOff x="2145579" y="2430398"/>
            <a:chExt cx="1087755" cy="1621790"/>
          </a:xfrm>
        </p:grpSpPr>
        <p:sp>
          <p:nvSpPr>
            <p:cNvPr id="386" name="Google Shape;386;p30"/>
            <p:cNvSpPr/>
            <p:nvPr/>
          </p:nvSpPr>
          <p:spPr>
            <a:xfrm>
              <a:off x="2145579" y="2430398"/>
              <a:ext cx="1087755" cy="1621790"/>
            </a:xfrm>
            <a:custGeom>
              <a:avLst/>
              <a:gdLst/>
              <a:ahLst/>
              <a:cxnLst/>
              <a:rect l="l" t="t" r="r" b="b"/>
              <a:pathLst>
                <a:path w="1087755" h="1621789" extrusionOk="0">
                  <a:moveTo>
                    <a:pt x="605875" y="0"/>
                  </a:moveTo>
                  <a:lnTo>
                    <a:pt x="684234" y="199771"/>
                  </a:lnTo>
                  <a:lnTo>
                    <a:pt x="667690" y="206865"/>
                  </a:lnTo>
                  <a:lnTo>
                    <a:pt x="651230" y="214233"/>
                  </a:lnTo>
                  <a:lnTo>
                    <a:pt x="571708" y="254138"/>
                  </a:lnTo>
                  <a:lnTo>
                    <a:pt x="526309" y="280197"/>
                  </a:lnTo>
                  <a:lnTo>
                    <a:pt x="482538" y="307841"/>
                  </a:lnTo>
                  <a:lnTo>
                    <a:pt x="440430" y="336994"/>
                  </a:lnTo>
                  <a:lnTo>
                    <a:pt x="400019" y="367580"/>
                  </a:lnTo>
                  <a:lnTo>
                    <a:pt x="361340" y="399520"/>
                  </a:lnTo>
                  <a:lnTo>
                    <a:pt x="324425" y="432738"/>
                  </a:lnTo>
                  <a:lnTo>
                    <a:pt x="289309" y="467157"/>
                  </a:lnTo>
                  <a:lnTo>
                    <a:pt x="256027" y="502700"/>
                  </a:lnTo>
                  <a:lnTo>
                    <a:pt x="224613" y="539290"/>
                  </a:lnTo>
                  <a:lnTo>
                    <a:pt x="195100" y="576851"/>
                  </a:lnTo>
                  <a:lnTo>
                    <a:pt x="167523" y="615304"/>
                  </a:lnTo>
                  <a:lnTo>
                    <a:pt x="141915" y="654574"/>
                  </a:lnTo>
                  <a:lnTo>
                    <a:pt x="118312" y="694582"/>
                  </a:lnTo>
                  <a:lnTo>
                    <a:pt x="96746" y="735253"/>
                  </a:lnTo>
                  <a:lnTo>
                    <a:pt x="77253" y="776509"/>
                  </a:lnTo>
                  <a:lnTo>
                    <a:pt x="59866" y="818274"/>
                  </a:lnTo>
                  <a:lnTo>
                    <a:pt x="44620" y="860469"/>
                  </a:lnTo>
                  <a:lnTo>
                    <a:pt x="31548" y="903019"/>
                  </a:lnTo>
                  <a:lnTo>
                    <a:pt x="20684" y="945846"/>
                  </a:lnTo>
                  <a:lnTo>
                    <a:pt x="12064" y="988874"/>
                  </a:lnTo>
                  <a:lnTo>
                    <a:pt x="5720" y="1032025"/>
                  </a:lnTo>
                  <a:lnTo>
                    <a:pt x="1687" y="1075222"/>
                  </a:lnTo>
                  <a:lnTo>
                    <a:pt x="0" y="1118389"/>
                  </a:lnTo>
                  <a:lnTo>
                    <a:pt x="691" y="1161449"/>
                  </a:lnTo>
                  <a:lnTo>
                    <a:pt x="3796" y="1204323"/>
                  </a:lnTo>
                  <a:lnTo>
                    <a:pt x="9348" y="1246937"/>
                  </a:lnTo>
                  <a:lnTo>
                    <a:pt x="17382" y="1289212"/>
                  </a:lnTo>
                  <a:lnTo>
                    <a:pt x="27931" y="1331071"/>
                  </a:lnTo>
                  <a:lnTo>
                    <a:pt x="41031" y="1372438"/>
                  </a:lnTo>
                  <a:lnTo>
                    <a:pt x="56714" y="1413236"/>
                  </a:lnTo>
                  <a:lnTo>
                    <a:pt x="75015" y="1453388"/>
                  </a:lnTo>
                  <a:lnTo>
                    <a:pt x="99044" y="1498232"/>
                  </a:lnTo>
                  <a:lnTo>
                    <a:pt x="126275" y="1541256"/>
                  </a:lnTo>
                  <a:lnTo>
                    <a:pt x="156579" y="1582350"/>
                  </a:lnTo>
                  <a:lnTo>
                    <a:pt x="189823" y="1621408"/>
                  </a:lnTo>
                  <a:lnTo>
                    <a:pt x="403564" y="1456689"/>
                  </a:lnTo>
                  <a:lnTo>
                    <a:pt x="379045" y="1427934"/>
                  </a:lnTo>
                  <a:lnTo>
                    <a:pt x="356764" y="1397714"/>
                  </a:lnTo>
                  <a:lnTo>
                    <a:pt x="319109" y="1333119"/>
                  </a:lnTo>
                  <a:lnTo>
                    <a:pt x="301592" y="1293632"/>
                  </a:lnTo>
                  <a:lnTo>
                    <a:pt x="287483" y="1253335"/>
                  </a:lnTo>
                  <a:lnTo>
                    <a:pt x="276723" y="1212361"/>
                  </a:lnTo>
                  <a:lnTo>
                    <a:pt x="269251" y="1170845"/>
                  </a:lnTo>
                  <a:lnTo>
                    <a:pt x="265009" y="1128921"/>
                  </a:lnTo>
                  <a:lnTo>
                    <a:pt x="263937" y="1086723"/>
                  </a:lnTo>
                  <a:lnTo>
                    <a:pt x="265976" y="1044384"/>
                  </a:lnTo>
                  <a:lnTo>
                    <a:pt x="271065" y="1002039"/>
                  </a:lnTo>
                  <a:lnTo>
                    <a:pt x="279146" y="959822"/>
                  </a:lnTo>
                  <a:lnTo>
                    <a:pt x="290159" y="917867"/>
                  </a:lnTo>
                  <a:lnTo>
                    <a:pt x="304045" y="876308"/>
                  </a:lnTo>
                  <a:lnTo>
                    <a:pt x="320744" y="835278"/>
                  </a:lnTo>
                  <a:lnTo>
                    <a:pt x="340196" y="794914"/>
                  </a:lnTo>
                  <a:lnTo>
                    <a:pt x="362343" y="755347"/>
                  </a:lnTo>
                  <a:lnTo>
                    <a:pt x="387125" y="716712"/>
                  </a:lnTo>
                  <a:lnTo>
                    <a:pt x="414481" y="679144"/>
                  </a:lnTo>
                  <a:lnTo>
                    <a:pt x="444353" y="642776"/>
                  </a:lnTo>
                  <a:lnTo>
                    <a:pt x="476682" y="607742"/>
                  </a:lnTo>
                  <a:lnTo>
                    <a:pt x="511408" y="574177"/>
                  </a:lnTo>
                  <a:lnTo>
                    <a:pt x="548470" y="542214"/>
                  </a:lnTo>
                  <a:lnTo>
                    <a:pt x="587811" y="511988"/>
                  </a:lnTo>
                  <a:lnTo>
                    <a:pt x="629370" y="483633"/>
                  </a:lnTo>
                  <a:lnTo>
                    <a:pt x="673088" y="457282"/>
                  </a:lnTo>
                  <a:lnTo>
                    <a:pt x="718905" y="433070"/>
                  </a:lnTo>
                  <a:lnTo>
                    <a:pt x="767165" y="411099"/>
                  </a:lnTo>
                  <a:lnTo>
                    <a:pt x="845524" y="610742"/>
                  </a:lnTo>
                  <a:lnTo>
                    <a:pt x="1087713" y="152653"/>
                  </a:lnTo>
                  <a:lnTo>
                    <a:pt x="605875" y="0"/>
                  </a:lnTo>
                  <a:close/>
                </a:path>
              </a:pathLst>
            </a:custGeom>
            <a:solidFill>
              <a:srgbClr val="626F5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30"/>
            <p:cNvSpPr/>
            <p:nvPr/>
          </p:nvSpPr>
          <p:spPr>
            <a:xfrm>
              <a:off x="2145579" y="2430398"/>
              <a:ext cx="1087755" cy="1621790"/>
            </a:xfrm>
            <a:custGeom>
              <a:avLst/>
              <a:gdLst/>
              <a:ahLst/>
              <a:cxnLst/>
              <a:rect l="l" t="t" r="r" b="b"/>
              <a:pathLst>
                <a:path w="1087755" h="1621789" extrusionOk="0">
                  <a:moveTo>
                    <a:pt x="767165" y="411099"/>
                  </a:moveTo>
                  <a:lnTo>
                    <a:pt x="730857" y="427333"/>
                  </a:lnTo>
                  <a:lnTo>
                    <a:pt x="673088" y="457282"/>
                  </a:lnTo>
                  <a:lnTo>
                    <a:pt x="629370" y="483633"/>
                  </a:lnTo>
                  <a:lnTo>
                    <a:pt x="587811" y="511988"/>
                  </a:lnTo>
                  <a:lnTo>
                    <a:pt x="548470" y="542214"/>
                  </a:lnTo>
                  <a:lnTo>
                    <a:pt x="511408" y="574177"/>
                  </a:lnTo>
                  <a:lnTo>
                    <a:pt x="476682" y="607742"/>
                  </a:lnTo>
                  <a:lnTo>
                    <a:pt x="444353" y="642776"/>
                  </a:lnTo>
                  <a:lnTo>
                    <a:pt x="414481" y="679144"/>
                  </a:lnTo>
                  <a:lnTo>
                    <a:pt x="387125" y="716712"/>
                  </a:lnTo>
                  <a:lnTo>
                    <a:pt x="362343" y="755347"/>
                  </a:lnTo>
                  <a:lnTo>
                    <a:pt x="340196" y="794914"/>
                  </a:lnTo>
                  <a:lnTo>
                    <a:pt x="320744" y="835278"/>
                  </a:lnTo>
                  <a:lnTo>
                    <a:pt x="304045" y="876308"/>
                  </a:lnTo>
                  <a:lnTo>
                    <a:pt x="290159" y="917867"/>
                  </a:lnTo>
                  <a:lnTo>
                    <a:pt x="279146" y="959822"/>
                  </a:lnTo>
                  <a:lnTo>
                    <a:pt x="271065" y="1002039"/>
                  </a:lnTo>
                  <a:lnTo>
                    <a:pt x="265976" y="1044384"/>
                  </a:lnTo>
                  <a:lnTo>
                    <a:pt x="263937" y="1086723"/>
                  </a:lnTo>
                  <a:lnTo>
                    <a:pt x="265009" y="1128921"/>
                  </a:lnTo>
                  <a:lnTo>
                    <a:pt x="269251" y="1170845"/>
                  </a:lnTo>
                  <a:lnTo>
                    <a:pt x="276723" y="1212361"/>
                  </a:lnTo>
                  <a:lnTo>
                    <a:pt x="287483" y="1253335"/>
                  </a:lnTo>
                  <a:lnTo>
                    <a:pt x="301592" y="1293632"/>
                  </a:lnTo>
                  <a:lnTo>
                    <a:pt x="319109" y="1333119"/>
                  </a:lnTo>
                  <a:lnTo>
                    <a:pt x="356764" y="1397714"/>
                  </a:lnTo>
                  <a:lnTo>
                    <a:pt x="403564" y="1456689"/>
                  </a:lnTo>
                  <a:lnTo>
                    <a:pt x="189823" y="1621408"/>
                  </a:lnTo>
                  <a:lnTo>
                    <a:pt x="156579" y="1582350"/>
                  </a:lnTo>
                  <a:lnTo>
                    <a:pt x="126275" y="1541256"/>
                  </a:lnTo>
                  <a:lnTo>
                    <a:pt x="99044" y="1498232"/>
                  </a:lnTo>
                  <a:lnTo>
                    <a:pt x="75015" y="1453388"/>
                  </a:lnTo>
                  <a:lnTo>
                    <a:pt x="56714" y="1413236"/>
                  </a:lnTo>
                  <a:lnTo>
                    <a:pt x="41031" y="1372438"/>
                  </a:lnTo>
                  <a:lnTo>
                    <a:pt x="27931" y="1331071"/>
                  </a:lnTo>
                  <a:lnTo>
                    <a:pt x="17382" y="1289212"/>
                  </a:lnTo>
                  <a:lnTo>
                    <a:pt x="9348" y="1246937"/>
                  </a:lnTo>
                  <a:lnTo>
                    <a:pt x="3796" y="1204323"/>
                  </a:lnTo>
                  <a:lnTo>
                    <a:pt x="691" y="1161449"/>
                  </a:lnTo>
                  <a:lnTo>
                    <a:pt x="0" y="1118389"/>
                  </a:lnTo>
                  <a:lnTo>
                    <a:pt x="1687" y="1075222"/>
                  </a:lnTo>
                  <a:lnTo>
                    <a:pt x="5720" y="1032025"/>
                  </a:lnTo>
                  <a:lnTo>
                    <a:pt x="12064" y="988874"/>
                  </a:lnTo>
                  <a:lnTo>
                    <a:pt x="20684" y="945846"/>
                  </a:lnTo>
                  <a:lnTo>
                    <a:pt x="31548" y="903019"/>
                  </a:lnTo>
                  <a:lnTo>
                    <a:pt x="44620" y="860469"/>
                  </a:lnTo>
                  <a:lnTo>
                    <a:pt x="59866" y="818274"/>
                  </a:lnTo>
                  <a:lnTo>
                    <a:pt x="77253" y="776509"/>
                  </a:lnTo>
                  <a:lnTo>
                    <a:pt x="96746" y="735253"/>
                  </a:lnTo>
                  <a:lnTo>
                    <a:pt x="118312" y="694582"/>
                  </a:lnTo>
                  <a:lnTo>
                    <a:pt x="141915" y="654574"/>
                  </a:lnTo>
                  <a:lnTo>
                    <a:pt x="167523" y="615304"/>
                  </a:lnTo>
                  <a:lnTo>
                    <a:pt x="195100" y="576851"/>
                  </a:lnTo>
                  <a:lnTo>
                    <a:pt x="224613" y="539290"/>
                  </a:lnTo>
                  <a:lnTo>
                    <a:pt x="256027" y="502700"/>
                  </a:lnTo>
                  <a:lnTo>
                    <a:pt x="289309" y="467157"/>
                  </a:lnTo>
                  <a:lnTo>
                    <a:pt x="324425" y="432738"/>
                  </a:lnTo>
                  <a:lnTo>
                    <a:pt x="361340" y="399520"/>
                  </a:lnTo>
                  <a:lnTo>
                    <a:pt x="400019" y="367580"/>
                  </a:lnTo>
                  <a:lnTo>
                    <a:pt x="440430" y="336994"/>
                  </a:lnTo>
                  <a:lnTo>
                    <a:pt x="482538" y="307841"/>
                  </a:lnTo>
                  <a:lnTo>
                    <a:pt x="526309" y="280197"/>
                  </a:lnTo>
                  <a:lnTo>
                    <a:pt x="571708" y="254138"/>
                  </a:lnTo>
                  <a:lnTo>
                    <a:pt x="618702" y="229742"/>
                  </a:lnTo>
                  <a:lnTo>
                    <a:pt x="667690" y="206865"/>
                  </a:lnTo>
                  <a:lnTo>
                    <a:pt x="684234" y="199771"/>
                  </a:lnTo>
                  <a:lnTo>
                    <a:pt x="605875" y="0"/>
                  </a:lnTo>
                  <a:lnTo>
                    <a:pt x="1087713" y="152653"/>
                  </a:lnTo>
                  <a:lnTo>
                    <a:pt x="845524" y="610742"/>
                  </a:lnTo>
                  <a:lnTo>
                    <a:pt x="767165" y="41109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uc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2178</Words>
  <Application>Microsoft Office PowerPoint</Application>
  <PresentationFormat>Apresentação na tela (4:3)</PresentationFormat>
  <Paragraphs>243</Paragraphs>
  <Slides>54</Slides>
  <Notes>41</Notes>
  <HiddenSlides>1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60" baseType="lpstr">
      <vt:lpstr>Tahoma</vt:lpstr>
      <vt:lpstr>Roboto</vt:lpstr>
      <vt:lpstr>Calibri</vt:lpstr>
      <vt:lpstr>Noto Sans Symbols</vt:lpstr>
      <vt:lpstr>Arial</vt:lpstr>
      <vt:lpstr>puc</vt:lpstr>
      <vt:lpstr>Design Thinking</vt:lpstr>
      <vt:lpstr>BRASIL</vt:lpstr>
      <vt:lpstr>Inovação</vt:lpstr>
      <vt:lpstr>Apresentação do PowerPoint</vt:lpstr>
      <vt:lpstr>Design Thinking</vt:lpstr>
      <vt:lpstr>Diferença entre Criatividade, Inovação e Invenção</vt:lpstr>
      <vt:lpstr>Design</vt:lpstr>
      <vt:lpstr>Tipos de Inovação</vt:lpstr>
      <vt:lpstr>SETE CARACTERÍSTICAS PARA A SOBREVIVÊNCIA DE INOVADORES</vt:lpstr>
      <vt:lpstr>CINCO HABILIDADES DOS INOVADORES</vt:lpstr>
      <vt:lpstr>QUALIDADES ESSENCIAIS DE UM INOVADOR</vt:lpstr>
      <vt:lpstr>Por que inovar?</vt:lpstr>
      <vt:lpstr>Apresentação do PowerPoint</vt:lpstr>
      <vt:lpstr>Tradicional vs DT</vt:lpstr>
      <vt:lpstr>Apresentação do PowerPoint</vt:lpstr>
      <vt:lpstr>Design Thinking</vt:lpstr>
      <vt:lpstr>Design Thinking</vt:lpstr>
      <vt:lpstr>Storytelling e boas histórias</vt:lpstr>
      <vt:lpstr>Exemplo</vt:lpstr>
      <vt:lpstr>“Quando padrões são quebrados, novos mundos emergem” Tuli Kupferberg</vt:lpstr>
      <vt:lpstr>O que é Design Thinking? </vt:lpstr>
      <vt:lpstr>Tres garndes fases</vt:lpstr>
      <vt:lpstr>Alguns Modelos</vt:lpstr>
      <vt:lpstr>Processo do Design Thinking</vt:lpstr>
      <vt:lpstr>Empatia</vt:lpstr>
      <vt:lpstr>Empatia</vt:lpstr>
      <vt:lpstr>O que fazer</vt:lpstr>
      <vt:lpstr>Persona</vt:lpstr>
      <vt:lpstr>Definição</vt:lpstr>
      <vt:lpstr>Mapa da empatia</vt:lpstr>
      <vt:lpstr>Idear </vt:lpstr>
      <vt:lpstr>Brainstorming</vt:lpstr>
      <vt:lpstr>Prototipar – começar a criar soluções</vt:lpstr>
      <vt:lpstr>Testar - experimentar suas soluções</vt:lpstr>
      <vt:lpstr>Resumo</vt:lpstr>
      <vt:lpstr>Spaces of design thinking</vt:lpstr>
      <vt:lpstr>Inspiração</vt:lpstr>
      <vt:lpstr>Ideação</vt:lpstr>
      <vt:lpstr>Implementação</vt:lpstr>
      <vt:lpstr>What’s your process..?</vt:lpstr>
      <vt:lpstr>Definir</vt:lpstr>
      <vt:lpstr>Pesquisar</vt:lpstr>
      <vt:lpstr>Idear</vt:lpstr>
      <vt:lpstr>Prototipar</vt:lpstr>
      <vt:lpstr>Escolher</vt:lpstr>
      <vt:lpstr>Implementar</vt:lpstr>
      <vt:lpstr>Aprender</vt:lpstr>
      <vt:lpstr>Vamos praticar</vt:lpstr>
      <vt:lpstr>Empatia – Entendendo o usuário</vt:lpstr>
      <vt:lpstr>Definição</vt:lpstr>
      <vt:lpstr>Ideação</vt:lpstr>
      <vt:lpstr>Prototipagem</vt:lpstr>
      <vt:lpstr>Teste</vt:lpstr>
      <vt:lpstr>Spaces of design thinking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Thinking</dc:title>
  <dc:creator>Dustin</dc:creator>
  <cp:lastModifiedBy>Cecilia Sosa</cp:lastModifiedBy>
  <cp:revision>5</cp:revision>
  <dcterms:created xsi:type="dcterms:W3CDTF">2025-08-11T22:26:40Z</dcterms:created>
  <dcterms:modified xsi:type="dcterms:W3CDTF">2025-08-28T22:55:06Z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2022-04-07T00:00:00Z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2025-08-11T00:00:00Z</vt:filetime>
  </property>
  <property fmtid="{D5CDD505-2E9C-101B-9397-08002B2CF9AE}" pid="5" name="Producer">
    <vt:lpwstr>Microsoft® PowerPoint® para Microsoft 365</vt:lpwstr>
  </property>
</Properties>
</file>