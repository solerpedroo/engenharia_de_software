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307" r:id="rId2"/>
    <p:sldId id="257" r:id="rId3"/>
    <p:sldId id="258" r:id="rId4"/>
    <p:sldId id="259" r:id="rId5"/>
    <p:sldId id="260" r:id="rId6"/>
    <p:sldId id="261" r:id="rId7"/>
    <p:sldId id="262" r:id="rId8"/>
    <p:sldId id="309" r:id="rId9"/>
    <p:sldId id="318" r:id="rId10"/>
    <p:sldId id="303" r:id="rId11"/>
    <p:sldId id="265" r:id="rId12"/>
    <p:sldId id="266" r:id="rId13"/>
    <p:sldId id="304" r:id="rId14"/>
    <p:sldId id="306" r:id="rId15"/>
    <p:sldId id="267" r:id="rId16"/>
    <p:sldId id="268" r:id="rId17"/>
    <p:sldId id="310" r:id="rId18"/>
    <p:sldId id="319" r:id="rId19"/>
    <p:sldId id="269" r:id="rId20"/>
    <p:sldId id="312" r:id="rId21"/>
    <p:sldId id="271" r:id="rId22"/>
    <p:sldId id="272" r:id="rId23"/>
    <p:sldId id="273" r:id="rId24"/>
    <p:sldId id="274" r:id="rId25"/>
    <p:sldId id="275" r:id="rId26"/>
    <p:sldId id="331" r:id="rId27"/>
    <p:sldId id="332" r:id="rId28"/>
    <p:sldId id="334" r:id="rId29"/>
    <p:sldId id="277" r:id="rId30"/>
    <p:sldId id="278" r:id="rId31"/>
    <p:sldId id="279" r:id="rId32"/>
    <p:sldId id="280" r:id="rId33"/>
    <p:sldId id="281" r:id="rId34"/>
    <p:sldId id="335" r:id="rId35"/>
    <p:sldId id="333" r:id="rId36"/>
    <p:sldId id="320" r:id="rId37"/>
    <p:sldId id="327" r:id="rId38"/>
    <p:sldId id="321" r:id="rId39"/>
    <p:sldId id="328" r:id="rId40"/>
    <p:sldId id="322" r:id="rId41"/>
    <p:sldId id="314" r:id="rId42"/>
    <p:sldId id="326" r:id="rId43"/>
    <p:sldId id="325" r:id="rId44"/>
    <p:sldId id="329" r:id="rId45"/>
    <p:sldId id="336" r:id="rId46"/>
    <p:sldId id="337" r:id="rId47"/>
  </p:sldIdLst>
  <p:sldSz cx="10083800" cy="7556500"/>
  <p:notesSz cx="100838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57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4"/>
          <p:cNvSpPr txBox="1">
            <a:spLocks noGrp="1"/>
          </p:cNvSpPr>
          <p:nvPr>
            <p:ph type="title"/>
          </p:nvPr>
        </p:nvSpPr>
        <p:spPr>
          <a:xfrm>
            <a:off x="3441700" y="635569"/>
            <a:ext cx="6096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 dirty="0"/>
              <a:t>Clique para editar o título mestre</a:t>
            </a:r>
            <a:endParaRPr dirty="0"/>
          </a:p>
        </p:txBody>
      </p:sp>
      <p:sp>
        <p:nvSpPr>
          <p:cNvPr id="15" name="Google Shape;15;p44"/>
          <p:cNvSpPr txBox="1">
            <a:spLocks noGrp="1"/>
          </p:cNvSpPr>
          <p:nvPr>
            <p:ph type="body" idx="1"/>
          </p:nvPr>
        </p:nvSpPr>
        <p:spPr>
          <a:xfrm>
            <a:off x="1235325" y="2218434"/>
            <a:ext cx="709279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29" y="207646"/>
            <a:ext cx="2362268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5"/>
          <p:cNvSpPr txBox="1">
            <a:spLocks noGrp="1"/>
          </p:cNvSpPr>
          <p:nvPr>
            <p:ph type="title"/>
          </p:nvPr>
        </p:nvSpPr>
        <p:spPr>
          <a:xfrm>
            <a:off x="1235325" y="1653032"/>
            <a:ext cx="76131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1" name="Google Shape;21;p45"/>
          <p:cNvSpPr txBox="1">
            <a:spLocks noGrp="1"/>
          </p:cNvSpPr>
          <p:nvPr>
            <p:ph type="body" idx="1"/>
          </p:nvPr>
        </p:nvSpPr>
        <p:spPr>
          <a:xfrm>
            <a:off x="504190" y="1737995"/>
            <a:ext cx="438645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2" name="Google Shape;22;p45"/>
          <p:cNvSpPr txBox="1">
            <a:spLocks noGrp="1"/>
          </p:cNvSpPr>
          <p:nvPr>
            <p:ph type="body" idx="2"/>
          </p:nvPr>
        </p:nvSpPr>
        <p:spPr>
          <a:xfrm>
            <a:off x="5193157" y="1737995"/>
            <a:ext cx="438645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5" name="Google Shape;25;p45"/>
          <p:cNvSpPr txBox="1">
            <a:spLocks noGrp="1"/>
          </p:cNvSpPr>
          <p:nvPr>
            <p:ph type="sldNum" idx="12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pt-BR" spc="-25" smtClean="0"/>
              <a:t>‹nº›</a:t>
            </a:fld>
            <a:endParaRPr lang="pt-BR" spc="-25" dirty="0"/>
          </a:p>
        </p:txBody>
      </p:sp>
      <p:pic>
        <p:nvPicPr>
          <p:cNvPr id="2050" name="Picture 2" descr="https://www.puc-campinas.edu.br/wp-content/uploads/2022/06/logo-pu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02" y="241178"/>
            <a:ext cx="2362268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6"/>
          <p:cNvSpPr txBox="1">
            <a:spLocks noGrp="1"/>
          </p:cNvSpPr>
          <p:nvPr>
            <p:ph type="ctrTitle"/>
          </p:nvPr>
        </p:nvSpPr>
        <p:spPr>
          <a:xfrm>
            <a:off x="756285" y="2342516"/>
            <a:ext cx="857123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subTitle" idx="1"/>
          </p:nvPr>
        </p:nvSpPr>
        <p:spPr>
          <a:xfrm>
            <a:off x="1512570" y="4231641"/>
            <a:ext cx="70586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ftr" idx="11"/>
          </p:nvPr>
        </p:nvSpPr>
        <p:spPr>
          <a:xfrm>
            <a:off x="864544" y="6792254"/>
            <a:ext cx="4904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30" name="Google Shape;30;p46"/>
          <p:cNvSpPr txBox="1">
            <a:spLocks noGrp="1"/>
          </p:cNvSpPr>
          <p:nvPr>
            <p:ph type="dt" idx="10"/>
          </p:nvPr>
        </p:nvSpPr>
        <p:spPr>
          <a:xfrm>
            <a:off x="504190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12700">
              <a:lnSpc>
                <a:spcPts val="1630"/>
              </a:lnSpc>
            </a:pPr>
            <a:r>
              <a:rPr lang="pt-BR" spc="-10"/>
              <a:t>06/12/13</a:t>
            </a:r>
            <a:endParaRPr lang="pt-BR" spc="-10" dirty="0"/>
          </a:p>
        </p:txBody>
      </p:sp>
      <p:sp>
        <p:nvSpPr>
          <p:cNvPr id="31" name="Google Shape;31;p46"/>
          <p:cNvSpPr txBox="1">
            <a:spLocks noGrp="1"/>
          </p:cNvSpPr>
          <p:nvPr>
            <p:ph type="sldNum" idx="12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pt-BR" spc="-25" smtClean="0"/>
              <a:t>‹nº›</a:t>
            </a:fld>
            <a:endParaRPr lang="pt-BR"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7"/>
          <p:cNvSpPr txBox="1">
            <a:spLocks noGrp="1"/>
          </p:cNvSpPr>
          <p:nvPr>
            <p:ph type="title"/>
          </p:nvPr>
        </p:nvSpPr>
        <p:spPr>
          <a:xfrm>
            <a:off x="1235325" y="1653032"/>
            <a:ext cx="76131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ftr" idx="11"/>
          </p:nvPr>
        </p:nvSpPr>
        <p:spPr>
          <a:xfrm>
            <a:off x="864544" y="6792254"/>
            <a:ext cx="4904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35" name="Google Shape;35;p47"/>
          <p:cNvSpPr txBox="1">
            <a:spLocks noGrp="1"/>
          </p:cNvSpPr>
          <p:nvPr>
            <p:ph type="dt" idx="10"/>
          </p:nvPr>
        </p:nvSpPr>
        <p:spPr>
          <a:xfrm>
            <a:off x="504190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12700">
              <a:lnSpc>
                <a:spcPts val="1630"/>
              </a:lnSpc>
            </a:pPr>
            <a:r>
              <a:rPr lang="pt-BR" spc="-10"/>
              <a:t>06/12/13</a:t>
            </a:r>
            <a:endParaRPr lang="pt-BR" spc="-10" dirty="0"/>
          </a:p>
        </p:txBody>
      </p:sp>
      <p:sp>
        <p:nvSpPr>
          <p:cNvPr id="36" name="Google Shape;36;p47"/>
          <p:cNvSpPr txBox="1">
            <a:spLocks noGrp="1"/>
          </p:cNvSpPr>
          <p:nvPr>
            <p:ph type="sldNum" idx="12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pt-BR" spc="-25" smtClean="0"/>
              <a:t>‹nº›</a:t>
            </a:fld>
            <a:endParaRPr lang="pt-BR"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 txBox="1">
            <a:spLocks noGrp="1"/>
          </p:cNvSpPr>
          <p:nvPr>
            <p:ph type="ftr" idx="11"/>
          </p:nvPr>
        </p:nvSpPr>
        <p:spPr>
          <a:xfrm>
            <a:off x="864544" y="6792254"/>
            <a:ext cx="4904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39" name="Google Shape;39;p48"/>
          <p:cNvSpPr txBox="1">
            <a:spLocks noGrp="1"/>
          </p:cNvSpPr>
          <p:nvPr>
            <p:ph type="dt" idx="10"/>
          </p:nvPr>
        </p:nvSpPr>
        <p:spPr>
          <a:xfrm>
            <a:off x="504190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12700">
              <a:lnSpc>
                <a:spcPts val="1630"/>
              </a:lnSpc>
            </a:pPr>
            <a:r>
              <a:rPr lang="pt-BR" spc="-10"/>
              <a:t>06/12/13</a:t>
            </a:r>
            <a:endParaRPr lang="pt-BR" spc="-10" dirty="0"/>
          </a:p>
        </p:txBody>
      </p:sp>
      <p:sp>
        <p:nvSpPr>
          <p:cNvPr id="40" name="Google Shape;40;p48"/>
          <p:cNvSpPr txBox="1">
            <a:spLocks noGrp="1"/>
          </p:cNvSpPr>
          <p:nvPr>
            <p:ph type="sldNum" idx="12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pt-BR" spc="-25" smtClean="0"/>
              <a:t>‹nº›</a:t>
            </a:fld>
            <a:endParaRPr lang="pt-BR"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3"/>
          <p:cNvSpPr/>
          <p:nvPr/>
        </p:nvSpPr>
        <p:spPr>
          <a:xfrm>
            <a:off x="729933" y="1402074"/>
            <a:ext cx="8622727" cy="29209"/>
          </a:xfrm>
          <a:custGeom>
            <a:avLst/>
            <a:gdLst/>
            <a:ahLst/>
            <a:cxnLst/>
            <a:rect l="l" t="t" r="r" b="b"/>
            <a:pathLst>
              <a:path w="9144000" h="29209" extrusionOk="0">
                <a:moveTo>
                  <a:pt x="9143999" y="28955"/>
                </a:moveTo>
                <a:lnTo>
                  <a:pt x="9143999" y="0"/>
                </a:lnTo>
                <a:lnTo>
                  <a:pt x="0" y="0"/>
                </a:lnTo>
                <a:lnTo>
                  <a:pt x="0" y="28955"/>
                </a:lnTo>
                <a:lnTo>
                  <a:pt x="9143999" y="289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7;p4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6167" y="445001"/>
            <a:ext cx="491495" cy="88544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43"/>
          <p:cNvSpPr txBox="1">
            <a:spLocks noGrp="1"/>
          </p:cNvSpPr>
          <p:nvPr>
            <p:ph type="title"/>
          </p:nvPr>
        </p:nvSpPr>
        <p:spPr>
          <a:xfrm>
            <a:off x="1235325" y="1653032"/>
            <a:ext cx="76131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43"/>
          <p:cNvSpPr txBox="1">
            <a:spLocks noGrp="1"/>
          </p:cNvSpPr>
          <p:nvPr>
            <p:ph type="body" idx="1"/>
          </p:nvPr>
        </p:nvSpPr>
        <p:spPr>
          <a:xfrm>
            <a:off x="1235325" y="2218434"/>
            <a:ext cx="709279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3"/>
          <p:cNvSpPr txBox="1">
            <a:spLocks noGrp="1"/>
          </p:cNvSpPr>
          <p:nvPr>
            <p:ph type="ftr" idx="11"/>
          </p:nvPr>
        </p:nvSpPr>
        <p:spPr>
          <a:xfrm>
            <a:off x="864544" y="6792254"/>
            <a:ext cx="4904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lang="pt-BR"/>
          </a:p>
        </p:txBody>
      </p:sp>
      <p:sp>
        <p:nvSpPr>
          <p:cNvPr id="11" name="Google Shape;11;p43"/>
          <p:cNvSpPr txBox="1">
            <a:spLocks noGrp="1"/>
          </p:cNvSpPr>
          <p:nvPr>
            <p:ph type="dt" idx="10"/>
          </p:nvPr>
        </p:nvSpPr>
        <p:spPr>
          <a:xfrm>
            <a:off x="504190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marL="12700">
              <a:lnSpc>
                <a:spcPts val="1630"/>
              </a:lnSpc>
            </a:pPr>
            <a:r>
              <a:rPr lang="pt-BR" spc="-10"/>
              <a:t>06/12/13</a:t>
            </a:r>
            <a:endParaRPr lang="pt-BR" spc="-10" dirty="0"/>
          </a:p>
        </p:txBody>
      </p:sp>
      <p:sp>
        <p:nvSpPr>
          <p:cNvPr id="12" name="Google Shape;12;p43"/>
          <p:cNvSpPr txBox="1">
            <a:spLocks noGrp="1"/>
          </p:cNvSpPr>
          <p:nvPr>
            <p:ph type="sldNum" idx="12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pt-BR" spc="-25" smtClean="0"/>
              <a:t>‹nº›</a:t>
            </a:fld>
            <a:endParaRPr lang="pt-BR" spc="-25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jnd.org/about-don-norman/latest-updates/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Bases Teóricas de IHC</a:t>
            </a:r>
          </a:p>
        </p:txBody>
      </p:sp>
      <p:pic>
        <p:nvPicPr>
          <p:cNvPr id="4" name="Imagem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0" y="2330450"/>
            <a:ext cx="8334375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2025650"/>
            <a:ext cx="9325485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2176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4500" y="654050"/>
            <a:ext cx="7613150" cy="4308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84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Introdução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4294967295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469" y="1869439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469" y="2635250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5360" y="3401059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5360" y="3835400"/>
            <a:ext cx="95250" cy="952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1700" y="1732279"/>
            <a:ext cx="8700770" cy="440182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26034">
              <a:lnSpc>
                <a:spcPts val="2340"/>
              </a:lnSpc>
              <a:spcBef>
                <a:spcPts val="315"/>
              </a:spcBef>
            </a:pPr>
            <a:r>
              <a:rPr sz="2100" dirty="0">
                <a:latin typeface="Microsoft Sans Serif"/>
                <a:cs typeface="Microsoft Sans Serif"/>
              </a:rPr>
              <a:t>As</a:t>
            </a:r>
            <a:r>
              <a:rPr sz="2100" spc="-6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abordagem</a:t>
            </a:r>
            <a:r>
              <a:rPr sz="2100" spc="-6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teóricas</a:t>
            </a:r>
            <a:r>
              <a:rPr sz="2100" spc="-6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utilizadas</a:t>
            </a:r>
            <a:r>
              <a:rPr sz="2100" spc="-7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para</a:t>
            </a:r>
            <a:r>
              <a:rPr sz="2100" spc="-6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investigar</a:t>
            </a:r>
            <a:r>
              <a:rPr sz="2100" spc="-6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fenômenos</a:t>
            </a:r>
            <a:r>
              <a:rPr sz="2100" spc="-6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de</a:t>
            </a:r>
            <a:r>
              <a:rPr sz="2100" spc="-5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interação </a:t>
            </a:r>
            <a:r>
              <a:rPr sz="2100" dirty="0">
                <a:latin typeface="Microsoft Sans Serif"/>
                <a:cs typeface="Microsoft Sans Serif"/>
              </a:rPr>
              <a:t>humano</a:t>
            </a:r>
            <a:r>
              <a:rPr sz="2100" spc="-7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computador</a:t>
            </a:r>
            <a:r>
              <a:rPr sz="2100" spc="-8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nasceram</a:t>
            </a:r>
            <a:r>
              <a:rPr sz="2100" spc="-7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na</a:t>
            </a:r>
            <a:r>
              <a:rPr sz="2100" spc="-7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psicologia;</a:t>
            </a:r>
            <a:endParaRPr sz="2100" dirty="0">
              <a:latin typeface="Microsoft Sans Serif"/>
              <a:cs typeface="Microsoft Sans Serif"/>
            </a:endParaRPr>
          </a:p>
          <a:p>
            <a:pPr marL="12700" marR="19050">
              <a:lnSpc>
                <a:spcPts val="2340"/>
              </a:lnSpc>
              <a:spcBef>
                <a:spcPts val="1350"/>
              </a:spcBef>
            </a:pPr>
            <a:r>
              <a:rPr sz="2100" dirty="0">
                <a:latin typeface="Microsoft Sans Serif"/>
                <a:cs typeface="Microsoft Sans Serif"/>
              </a:rPr>
              <a:t>Nos</a:t>
            </a:r>
            <a:r>
              <a:rPr sz="2100" spc="17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anos</a:t>
            </a:r>
            <a:r>
              <a:rPr sz="2100" spc="17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50</a:t>
            </a:r>
            <a:r>
              <a:rPr sz="2100" spc="17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com</a:t>
            </a:r>
            <a:r>
              <a:rPr sz="2100" spc="16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ênfase</a:t>
            </a:r>
            <a:r>
              <a:rPr sz="2100" spc="17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na</a:t>
            </a:r>
            <a:r>
              <a:rPr sz="2100" spc="18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psicologia</a:t>
            </a:r>
            <a:r>
              <a:rPr sz="2100" spc="17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experimental,</a:t>
            </a:r>
            <a:r>
              <a:rPr sz="2100" spc="17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onde</a:t>
            </a:r>
            <a:r>
              <a:rPr sz="2100" spc="17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surgiram</a:t>
            </a:r>
            <a:r>
              <a:rPr sz="2100" spc="165" dirty="0">
                <a:latin typeface="Microsoft Sans Serif"/>
                <a:cs typeface="Microsoft Sans Serif"/>
              </a:rPr>
              <a:t> </a:t>
            </a:r>
            <a:r>
              <a:rPr sz="2100" spc="-25" dirty="0">
                <a:latin typeface="Microsoft Sans Serif"/>
                <a:cs typeface="Microsoft Sans Serif"/>
              </a:rPr>
              <a:t>di- </a:t>
            </a:r>
            <a:r>
              <a:rPr sz="2100" dirty="0">
                <a:latin typeface="Microsoft Sans Serif"/>
                <a:cs typeface="Microsoft Sans Serif"/>
              </a:rPr>
              <a:t>versos</a:t>
            </a:r>
            <a:r>
              <a:rPr sz="2100" spc="-7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modelos:</a:t>
            </a:r>
            <a:endParaRPr sz="2100" dirty="0">
              <a:latin typeface="Microsoft Sans Serif"/>
              <a:cs typeface="Microsoft Sans Serif"/>
            </a:endParaRPr>
          </a:p>
          <a:p>
            <a:pPr marL="422909">
              <a:lnSpc>
                <a:spcPct val="100000"/>
              </a:lnSpc>
              <a:spcBef>
                <a:spcPts val="1115"/>
              </a:spcBef>
            </a:pPr>
            <a:r>
              <a:rPr sz="2100" dirty="0">
                <a:latin typeface="Microsoft Sans Serif"/>
                <a:cs typeface="Microsoft Sans Serif"/>
              </a:rPr>
              <a:t>Lei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de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spc="-20" dirty="0">
                <a:latin typeface="Microsoft Sans Serif"/>
                <a:cs typeface="Microsoft Sans Serif"/>
              </a:rPr>
              <a:t>Hick-</a:t>
            </a:r>
            <a:r>
              <a:rPr sz="2100" dirty="0">
                <a:latin typeface="Microsoft Sans Serif"/>
                <a:cs typeface="Microsoft Sans Serif"/>
              </a:rPr>
              <a:t>Hyman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para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o</a:t>
            </a:r>
            <a:r>
              <a:rPr sz="2100" spc="-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tempo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de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reação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de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escolha;</a:t>
            </a:r>
            <a:endParaRPr sz="2100" dirty="0">
              <a:latin typeface="Microsoft Sans Serif"/>
              <a:cs typeface="Microsoft Sans Serif"/>
            </a:endParaRPr>
          </a:p>
          <a:p>
            <a:pPr marL="422909" marR="25400">
              <a:lnSpc>
                <a:spcPts val="2340"/>
              </a:lnSpc>
              <a:spcBef>
                <a:spcPts val="1125"/>
              </a:spcBef>
            </a:pPr>
            <a:r>
              <a:rPr sz="2100" dirty="0">
                <a:latin typeface="Microsoft Sans Serif"/>
                <a:cs typeface="Microsoft Sans Serif"/>
              </a:rPr>
              <a:t>Lei</a:t>
            </a:r>
            <a:r>
              <a:rPr sz="2100" spc="19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de</a:t>
            </a:r>
            <a:r>
              <a:rPr sz="2100" spc="19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Fitts</a:t>
            </a:r>
            <a:r>
              <a:rPr sz="2100" spc="20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para</a:t>
            </a:r>
            <a:r>
              <a:rPr sz="2100" spc="19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18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capacidade</a:t>
            </a:r>
            <a:r>
              <a:rPr sz="2100" spc="19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de</a:t>
            </a:r>
            <a:r>
              <a:rPr sz="2100" spc="18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processamento</a:t>
            </a:r>
            <a:r>
              <a:rPr sz="2100" spc="20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de</a:t>
            </a:r>
            <a:r>
              <a:rPr sz="2100" spc="19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informação</a:t>
            </a:r>
            <a:r>
              <a:rPr sz="2100" spc="190" dirty="0">
                <a:latin typeface="Microsoft Sans Serif"/>
                <a:cs typeface="Microsoft Sans Serif"/>
              </a:rPr>
              <a:t> </a:t>
            </a:r>
            <a:r>
              <a:rPr sz="2100" spc="-25" dirty="0">
                <a:latin typeface="Microsoft Sans Serif"/>
                <a:cs typeface="Microsoft Sans Serif"/>
              </a:rPr>
              <a:t>do </a:t>
            </a:r>
            <a:r>
              <a:rPr sz="2100" dirty="0">
                <a:latin typeface="Microsoft Sans Serif"/>
                <a:cs typeface="Microsoft Sans Serif"/>
              </a:rPr>
              <a:t>sistema</a:t>
            </a:r>
            <a:r>
              <a:rPr sz="2100" spc="-8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motor</a:t>
            </a:r>
            <a:r>
              <a:rPr sz="2100" spc="-8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humano;</a:t>
            </a:r>
            <a:endParaRPr sz="2100" dirty="0">
              <a:latin typeface="Microsoft Sans Serif"/>
              <a:cs typeface="Microsoft Sans Serif"/>
            </a:endParaRPr>
          </a:p>
          <a:p>
            <a:pPr marL="12700" marR="5080">
              <a:lnSpc>
                <a:spcPts val="2340"/>
              </a:lnSpc>
              <a:spcBef>
                <a:spcPts val="1080"/>
              </a:spcBef>
            </a:pPr>
            <a:r>
              <a:rPr sz="2100" dirty="0">
                <a:latin typeface="Microsoft Sans Serif"/>
                <a:cs typeface="Microsoft Sans Serif"/>
              </a:rPr>
              <a:t>No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início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dos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anos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80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atenção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spc="-20" dirty="0">
                <a:latin typeface="Microsoft Sans Serif"/>
                <a:cs typeface="Microsoft Sans Serif"/>
              </a:rPr>
              <a:t>voltou-</a:t>
            </a:r>
            <a:r>
              <a:rPr sz="2100" dirty="0">
                <a:latin typeface="Microsoft Sans Serif"/>
                <a:cs typeface="Microsoft Sans Serif"/>
              </a:rPr>
              <a:t>se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para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aspectos</a:t>
            </a:r>
            <a:r>
              <a:rPr sz="2100" spc="-4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cognitivos</a:t>
            </a:r>
            <a:r>
              <a:rPr sz="2100" spc="-3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de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spc="-25" dirty="0" err="1">
                <a:latin typeface="Microsoft Sans Serif"/>
                <a:cs typeface="Microsoft Sans Serif"/>
              </a:rPr>
              <a:t>i</a:t>
            </a:r>
            <a:r>
              <a:rPr lang="pt-BR" sz="2100" spc="-25" dirty="0" err="1">
                <a:latin typeface="Microsoft Sans Serif"/>
                <a:cs typeface="Microsoft Sans Serif"/>
              </a:rPr>
              <a:t>nt</a:t>
            </a:r>
            <a:r>
              <a:rPr sz="2100" dirty="0" err="1">
                <a:latin typeface="Microsoft Sans Serif"/>
                <a:cs typeface="Microsoft Sans Serif"/>
              </a:rPr>
              <a:t>eração</a:t>
            </a:r>
            <a:r>
              <a:rPr sz="2100" spc="-40" dirty="0">
                <a:latin typeface="Microsoft Sans Serif"/>
                <a:cs typeface="Microsoft Sans Serif"/>
              </a:rPr>
              <a:t> </a:t>
            </a:r>
            <a:r>
              <a:rPr sz="2100" spc="-20" dirty="0">
                <a:latin typeface="Microsoft Sans Serif"/>
                <a:cs typeface="Microsoft Sans Serif"/>
              </a:rPr>
              <a:t>humano-</a:t>
            </a:r>
            <a:r>
              <a:rPr sz="2100" dirty="0">
                <a:latin typeface="Microsoft Sans Serif"/>
                <a:cs typeface="Microsoft Sans Serif"/>
              </a:rPr>
              <a:t>computador</a:t>
            </a:r>
            <a:r>
              <a:rPr sz="2100" spc="-40" dirty="0">
                <a:latin typeface="Microsoft Sans Serif"/>
                <a:cs typeface="Microsoft Sans Serif"/>
              </a:rPr>
              <a:t> </a:t>
            </a:r>
            <a:r>
              <a:rPr sz="2100" spc="-20" dirty="0">
                <a:latin typeface="Microsoft Sans Serif"/>
                <a:cs typeface="Microsoft Sans Serif"/>
              </a:rPr>
              <a:t>destacando-</a:t>
            </a:r>
            <a:r>
              <a:rPr sz="2100" dirty="0">
                <a:latin typeface="Microsoft Sans Serif"/>
                <a:cs typeface="Microsoft Sans Serif"/>
              </a:rPr>
              <a:t>se</a:t>
            </a:r>
            <a:r>
              <a:rPr sz="2100" spc="-4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-3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engenharia</a:t>
            </a:r>
            <a:r>
              <a:rPr sz="2100" spc="-40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cognitiva;</a:t>
            </a:r>
            <a:endParaRPr sz="2100" dirty="0">
              <a:latin typeface="Microsoft Sans Serif"/>
              <a:cs typeface="Microsoft Sans Serif"/>
            </a:endParaRPr>
          </a:p>
          <a:p>
            <a:pPr marL="12700" marR="19050" algn="just">
              <a:lnSpc>
                <a:spcPct val="93100"/>
              </a:lnSpc>
              <a:spcBef>
                <a:spcPts val="1295"/>
              </a:spcBef>
            </a:pPr>
            <a:r>
              <a:rPr sz="2100" dirty="0">
                <a:latin typeface="Microsoft Sans Serif"/>
                <a:cs typeface="Microsoft Sans Serif"/>
              </a:rPr>
              <a:t>Recentemente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com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base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na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semiótica,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a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engenharia</a:t>
            </a:r>
            <a:r>
              <a:rPr sz="2100" spc="1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semiótica</a:t>
            </a:r>
            <a:r>
              <a:rPr sz="2100" spc="15" dirty="0">
                <a:latin typeface="Microsoft Sans Serif"/>
                <a:cs typeface="Microsoft Sans Serif"/>
              </a:rPr>
              <a:t> </a:t>
            </a:r>
            <a:r>
              <a:rPr sz="2100" spc="-25" dirty="0">
                <a:latin typeface="Microsoft Sans Serif"/>
                <a:cs typeface="Microsoft Sans Serif"/>
              </a:rPr>
              <a:t>firmou-se </a:t>
            </a:r>
            <a:r>
              <a:rPr sz="2100" dirty="0">
                <a:latin typeface="Microsoft Sans Serif"/>
                <a:cs typeface="Microsoft Sans Serif"/>
              </a:rPr>
              <a:t>com</a:t>
            </a:r>
            <a:r>
              <a:rPr sz="2100" spc="7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uma</a:t>
            </a:r>
            <a:r>
              <a:rPr sz="2100" spc="8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teoria</a:t>
            </a:r>
            <a:r>
              <a:rPr sz="2100" spc="8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de</a:t>
            </a:r>
            <a:r>
              <a:rPr sz="2100" spc="8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IHC</a:t>
            </a:r>
            <a:r>
              <a:rPr sz="2100" spc="8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centrada</a:t>
            </a:r>
            <a:r>
              <a:rPr sz="2100" spc="8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nos</a:t>
            </a:r>
            <a:r>
              <a:rPr sz="2100" spc="8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processos</a:t>
            </a:r>
            <a:r>
              <a:rPr sz="2100" spc="8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de</a:t>
            </a:r>
            <a:r>
              <a:rPr sz="2100" spc="8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significação</a:t>
            </a:r>
            <a:r>
              <a:rPr sz="2100" spc="8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e</a:t>
            </a:r>
            <a:r>
              <a:rPr sz="2100" spc="7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comu- </a:t>
            </a:r>
            <a:r>
              <a:rPr sz="2100" dirty="0">
                <a:latin typeface="Microsoft Sans Serif"/>
                <a:cs typeface="Microsoft Sans Serif"/>
              </a:rPr>
              <a:t>nicação</a:t>
            </a:r>
            <a:r>
              <a:rPr sz="2100" spc="-7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que</a:t>
            </a:r>
            <a:r>
              <a:rPr sz="2100" spc="-7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envolvem</a:t>
            </a:r>
            <a:r>
              <a:rPr sz="2100" spc="-7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designers,</a:t>
            </a:r>
            <a:r>
              <a:rPr sz="2100" spc="-7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usuários</a:t>
            </a:r>
            <a:r>
              <a:rPr sz="2100" spc="-7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e</a:t>
            </a:r>
            <a:r>
              <a:rPr sz="2100" spc="-7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sistemas</a:t>
            </a:r>
            <a:r>
              <a:rPr sz="2100" spc="-7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interativos.</a:t>
            </a:r>
            <a:endParaRPr sz="2100" dirty="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469" y="4566920"/>
            <a:ext cx="95250" cy="952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469" y="5332729"/>
            <a:ext cx="95250" cy="9525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3610" y="452428"/>
            <a:ext cx="6096000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>
              <a:spcBef>
                <a:spcPts val="100"/>
              </a:spcBef>
            </a:pPr>
            <a:r>
              <a:rPr lang="pt-BR" dirty="0">
                <a:latin typeface="Microsoft Sans Serif"/>
                <a:cs typeface="Microsoft Sans Serif"/>
              </a:rPr>
              <a:t>Psicologia</a:t>
            </a:r>
            <a:r>
              <a:rPr lang="pt-BR" spc="175" dirty="0">
                <a:latin typeface="Microsoft Sans Serif"/>
                <a:cs typeface="Microsoft Sans Serif"/>
              </a:rPr>
              <a:t> </a:t>
            </a:r>
            <a:r>
              <a:rPr lang="pt-BR" dirty="0">
                <a:latin typeface="Microsoft Sans Serif"/>
                <a:cs typeface="Microsoft Sans Serif"/>
              </a:rPr>
              <a:t>experimental: </a:t>
            </a:r>
            <a:r>
              <a:rPr dirty="0"/>
              <a:t>Lei</a:t>
            </a:r>
            <a:r>
              <a:rPr spc="-3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20" dirty="0"/>
              <a:t>Hick-</a:t>
            </a:r>
            <a:r>
              <a:rPr spc="-10" dirty="0"/>
              <a:t>Hyman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4294967295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1891029"/>
            <a:ext cx="95250" cy="95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3289" y="1727200"/>
            <a:ext cx="8658860" cy="73152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2680"/>
              </a:lnSpc>
              <a:spcBef>
                <a:spcPts val="355"/>
              </a:spcBef>
              <a:tabLst>
                <a:tab pos="1547495" algn="l"/>
                <a:tab pos="1898650" algn="l"/>
                <a:tab pos="2928620" algn="l"/>
                <a:tab pos="3618865" algn="l"/>
                <a:tab pos="4394200" algn="l"/>
                <a:tab pos="5558155" algn="l"/>
                <a:tab pos="6297930" algn="l"/>
                <a:tab pos="7090409" algn="l"/>
                <a:tab pos="8052434" algn="l"/>
              </a:tabLst>
            </a:pPr>
            <a:r>
              <a:rPr sz="2400" spc="-10" dirty="0">
                <a:latin typeface="Microsoft Sans Serif"/>
                <a:cs typeface="Microsoft Sans Serif"/>
              </a:rPr>
              <a:t>Relaciona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50" dirty="0">
                <a:latin typeface="Microsoft Sans Serif"/>
                <a:cs typeface="Microsoft Sans Serif"/>
              </a:rPr>
              <a:t>o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0" dirty="0">
                <a:latin typeface="Microsoft Sans Serif"/>
                <a:cs typeface="Microsoft Sans Serif"/>
              </a:rPr>
              <a:t>tempo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5" dirty="0">
                <a:latin typeface="Microsoft Sans Serif"/>
                <a:cs typeface="Microsoft Sans Serif"/>
              </a:rPr>
              <a:t>que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5" dirty="0">
                <a:latin typeface="Microsoft Sans Serif"/>
                <a:cs typeface="Microsoft Sans Serif"/>
              </a:rPr>
              <a:t>uma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10" dirty="0">
                <a:latin typeface="Microsoft Sans Serif"/>
                <a:cs typeface="Microsoft Sans Serif"/>
              </a:rPr>
              <a:t>pessoa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0" dirty="0">
                <a:latin typeface="Microsoft Sans Serif"/>
                <a:cs typeface="Microsoft Sans Serif"/>
              </a:rPr>
              <a:t>leva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0" dirty="0">
                <a:latin typeface="Microsoft Sans Serif"/>
                <a:cs typeface="Microsoft Sans Serif"/>
              </a:rPr>
              <a:t>para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10" dirty="0">
                <a:latin typeface="Microsoft Sans Serif"/>
                <a:cs typeface="Microsoft Sans Serif"/>
              </a:rPr>
              <a:t>tomar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5" dirty="0">
                <a:latin typeface="Microsoft Sans Serif"/>
                <a:cs typeface="Microsoft Sans Serif"/>
              </a:rPr>
              <a:t>uma </a:t>
            </a:r>
            <a:r>
              <a:rPr sz="2400" dirty="0">
                <a:latin typeface="Microsoft Sans Serif"/>
                <a:cs typeface="Microsoft Sans Serif"/>
              </a:rPr>
              <a:t>decisão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número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possíveis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escolhas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que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ela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possui: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1955" y="2843234"/>
            <a:ext cx="5049554" cy="26932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209" y="6014720"/>
            <a:ext cx="95250" cy="952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54710" y="5895340"/>
            <a:ext cx="8732520" cy="948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800"/>
              </a:lnSpc>
              <a:spcBef>
                <a:spcPts val="100"/>
              </a:spcBef>
            </a:pPr>
            <a:r>
              <a:rPr sz="2000" dirty="0">
                <a:latin typeface="Microsoft Sans Serif"/>
                <a:cs typeface="Microsoft Sans Serif"/>
              </a:rPr>
              <a:t>Pode</a:t>
            </a:r>
            <a:r>
              <a:rPr sz="2000" spc="1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ser</a:t>
            </a:r>
            <a:r>
              <a:rPr sz="2000" spc="1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utilizada</a:t>
            </a:r>
            <a:r>
              <a:rPr sz="2000" spc="1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para</a:t>
            </a:r>
            <a:r>
              <a:rPr sz="2000" spc="1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fazer</a:t>
            </a:r>
            <a:r>
              <a:rPr sz="2000" spc="1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uma</a:t>
            </a:r>
            <a:r>
              <a:rPr sz="2000" spc="1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estimativa</a:t>
            </a:r>
            <a:r>
              <a:rPr sz="2000" spc="1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1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quanto</a:t>
            </a:r>
            <a:r>
              <a:rPr sz="2000" spc="1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tempo</a:t>
            </a:r>
            <a:r>
              <a:rPr sz="2000" spc="1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uma</a:t>
            </a:r>
            <a:r>
              <a:rPr sz="2000" spc="16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pessoa </a:t>
            </a:r>
            <a:r>
              <a:rPr sz="2000" dirty="0">
                <a:latin typeface="Microsoft Sans Serif"/>
                <a:cs typeface="Microsoft Sans Serif"/>
              </a:rPr>
              <a:t>levará</a:t>
            </a:r>
            <a:r>
              <a:rPr sz="2000" spc="114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para</a:t>
            </a:r>
            <a:r>
              <a:rPr sz="2000" spc="120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encontrar</a:t>
            </a:r>
            <a:r>
              <a:rPr sz="2000" spc="125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uma</a:t>
            </a:r>
            <a:r>
              <a:rPr sz="2000" spc="120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dentre</a:t>
            </a:r>
            <a:r>
              <a:rPr sz="2000" spc="114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diversas</a:t>
            </a:r>
            <a:r>
              <a:rPr sz="2000" spc="120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opções</a:t>
            </a:r>
            <a:r>
              <a:rPr sz="2000" spc="114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disponíveis</a:t>
            </a:r>
            <a:r>
              <a:rPr sz="2000" spc="345" dirty="0">
                <a:latin typeface="Microsoft Sans Serif"/>
                <a:cs typeface="Microsoft Sans Serif"/>
              </a:rPr>
              <a:t>   </a:t>
            </a:r>
            <a:r>
              <a:rPr sz="2000" spc="-20" dirty="0">
                <a:latin typeface="Microsoft Sans Serif"/>
                <a:cs typeface="Microsoft Sans Serif"/>
              </a:rPr>
              <a:t>numa </a:t>
            </a:r>
            <a:r>
              <a:rPr sz="2000" spc="-10" dirty="0">
                <a:latin typeface="Microsoft Sans Serif"/>
                <a:cs typeface="Microsoft Sans Serif"/>
              </a:rPr>
              <a:t>interface.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>
              <a:lnSpc>
                <a:spcPct val="100000"/>
              </a:lnSpc>
              <a:spcBef>
                <a:spcPts val="100"/>
              </a:spcBef>
            </a:pPr>
            <a:r>
              <a:rPr dirty="0"/>
              <a:t>Lei</a:t>
            </a:r>
            <a:r>
              <a:rPr spc="-3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20" dirty="0"/>
              <a:t>Hick-</a:t>
            </a:r>
            <a:r>
              <a:rPr spc="-10" dirty="0"/>
              <a:t>Hyman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4294967295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1891029"/>
            <a:ext cx="95250" cy="95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3289" y="1727200"/>
            <a:ext cx="8658860" cy="73152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2680"/>
              </a:lnSpc>
              <a:spcBef>
                <a:spcPts val="355"/>
              </a:spcBef>
              <a:tabLst>
                <a:tab pos="1547495" algn="l"/>
                <a:tab pos="1898650" algn="l"/>
                <a:tab pos="2928620" algn="l"/>
                <a:tab pos="3618865" algn="l"/>
                <a:tab pos="4394200" algn="l"/>
                <a:tab pos="5558155" algn="l"/>
                <a:tab pos="6297930" algn="l"/>
                <a:tab pos="7090409" algn="l"/>
                <a:tab pos="8052434" algn="l"/>
              </a:tabLst>
            </a:pPr>
            <a:r>
              <a:rPr sz="2400" spc="-10" dirty="0">
                <a:latin typeface="Microsoft Sans Serif"/>
                <a:cs typeface="Microsoft Sans Serif"/>
              </a:rPr>
              <a:t>Relaciona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50" dirty="0">
                <a:latin typeface="Microsoft Sans Serif"/>
                <a:cs typeface="Microsoft Sans Serif"/>
              </a:rPr>
              <a:t>o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0" dirty="0">
                <a:latin typeface="Microsoft Sans Serif"/>
                <a:cs typeface="Microsoft Sans Serif"/>
              </a:rPr>
              <a:t>tempo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5" dirty="0">
                <a:latin typeface="Microsoft Sans Serif"/>
                <a:cs typeface="Microsoft Sans Serif"/>
              </a:rPr>
              <a:t>que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5" dirty="0">
                <a:latin typeface="Microsoft Sans Serif"/>
                <a:cs typeface="Microsoft Sans Serif"/>
              </a:rPr>
              <a:t>uma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10" dirty="0">
                <a:latin typeface="Microsoft Sans Serif"/>
                <a:cs typeface="Microsoft Sans Serif"/>
              </a:rPr>
              <a:t>pessoa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0" dirty="0">
                <a:latin typeface="Microsoft Sans Serif"/>
                <a:cs typeface="Microsoft Sans Serif"/>
              </a:rPr>
              <a:t>leva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0" dirty="0">
                <a:latin typeface="Microsoft Sans Serif"/>
                <a:cs typeface="Microsoft Sans Serif"/>
              </a:rPr>
              <a:t>para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10" dirty="0">
                <a:latin typeface="Microsoft Sans Serif"/>
                <a:cs typeface="Microsoft Sans Serif"/>
              </a:rPr>
              <a:t>tomar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25" dirty="0">
                <a:latin typeface="Microsoft Sans Serif"/>
                <a:cs typeface="Microsoft Sans Serif"/>
              </a:rPr>
              <a:t>uma </a:t>
            </a:r>
            <a:r>
              <a:rPr sz="2400" dirty="0">
                <a:latin typeface="Microsoft Sans Serif"/>
                <a:cs typeface="Microsoft Sans Serif"/>
              </a:rPr>
              <a:t>decisão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número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possíveis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escolhas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que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ela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possui: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450" y="2755900"/>
            <a:ext cx="4175760" cy="358012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51230" y="6494779"/>
            <a:ext cx="2209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4" dirty="0">
                <a:solidFill>
                  <a:srgbClr val="16365D"/>
                </a:solidFill>
                <a:latin typeface="Trebuchet MS"/>
                <a:cs typeface="Trebuchet MS"/>
              </a:rPr>
              <a:t>ordem</a:t>
            </a:r>
            <a:r>
              <a:rPr sz="1800" b="1" spc="95" dirty="0">
                <a:solidFill>
                  <a:srgbClr val="16365D"/>
                </a:solidFill>
                <a:latin typeface="Trebuchet MS"/>
                <a:cs typeface="Trebuchet MS"/>
              </a:rPr>
              <a:t> </a:t>
            </a:r>
            <a:r>
              <a:rPr sz="1800" b="1" spc="155" dirty="0">
                <a:solidFill>
                  <a:srgbClr val="16365D"/>
                </a:solidFill>
                <a:latin typeface="Trebuchet MS"/>
                <a:cs typeface="Trebuchet MS"/>
              </a:rPr>
              <a:t>alfabética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0440" y="6501129"/>
            <a:ext cx="2261235" cy="4800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50"/>
              </a:lnSpc>
              <a:spcBef>
                <a:spcPts val="100"/>
              </a:spcBef>
            </a:pPr>
            <a:r>
              <a:rPr sz="1800" b="1" spc="210" dirty="0">
                <a:solidFill>
                  <a:srgbClr val="16365D"/>
                </a:solidFill>
                <a:latin typeface="Trebuchet MS"/>
                <a:cs typeface="Trebuchet MS"/>
              </a:rPr>
              <a:t>ordem</a:t>
            </a:r>
            <a:r>
              <a:rPr sz="1800" b="1" spc="85" dirty="0">
                <a:solidFill>
                  <a:srgbClr val="16365D"/>
                </a:solidFill>
                <a:latin typeface="Trebuchet MS"/>
                <a:cs typeface="Trebuchet MS"/>
              </a:rPr>
              <a:t> </a:t>
            </a:r>
            <a:r>
              <a:rPr sz="1800" b="1" spc="180" dirty="0">
                <a:solidFill>
                  <a:srgbClr val="16365D"/>
                </a:solidFill>
                <a:latin typeface="Trebuchet MS"/>
                <a:cs typeface="Trebuchet MS"/>
              </a:rPr>
              <a:t>por</a:t>
            </a:r>
            <a:r>
              <a:rPr sz="1800" b="1" spc="80" dirty="0">
                <a:solidFill>
                  <a:srgbClr val="16365D"/>
                </a:solidFill>
                <a:latin typeface="Trebuchet MS"/>
                <a:cs typeface="Trebuchet MS"/>
              </a:rPr>
              <a:t> </a:t>
            </a:r>
            <a:r>
              <a:rPr sz="1800" b="1" spc="185" dirty="0">
                <a:solidFill>
                  <a:srgbClr val="16365D"/>
                </a:solidFill>
                <a:latin typeface="Trebuchet MS"/>
                <a:cs typeface="Trebuchet MS"/>
              </a:rPr>
              <a:t>região</a:t>
            </a:r>
            <a:endParaRPr sz="1800" dirty="0">
              <a:latin typeface="Trebuchet MS"/>
              <a:cs typeface="Trebuchet MS"/>
            </a:endParaRPr>
          </a:p>
          <a:p>
            <a:pPr marL="382905">
              <a:lnSpc>
                <a:spcPts val="1430"/>
              </a:lnSpc>
            </a:pPr>
            <a:r>
              <a:rPr sz="1200" dirty="0">
                <a:solidFill>
                  <a:srgbClr val="16365D"/>
                </a:solidFill>
                <a:latin typeface="Trebuchet MS"/>
                <a:cs typeface="Trebuchet MS"/>
              </a:rPr>
              <a:t>(Norte,</a:t>
            </a:r>
            <a:r>
              <a:rPr sz="1200" spc="170" dirty="0">
                <a:solidFill>
                  <a:srgbClr val="16365D"/>
                </a:solidFill>
                <a:latin typeface="Trebuchet MS"/>
                <a:cs typeface="Trebuchet MS"/>
              </a:rPr>
              <a:t> </a:t>
            </a:r>
            <a:r>
              <a:rPr sz="1200" spc="55" dirty="0">
                <a:solidFill>
                  <a:srgbClr val="16365D"/>
                </a:solidFill>
                <a:latin typeface="Trebuchet MS"/>
                <a:cs typeface="Trebuchet MS"/>
              </a:rPr>
              <a:t>Nordeste,</a:t>
            </a:r>
            <a:r>
              <a:rPr sz="1200" spc="185" dirty="0">
                <a:solidFill>
                  <a:srgbClr val="16365D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16365D"/>
                </a:solidFill>
                <a:latin typeface="Trebuchet MS"/>
                <a:cs typeface="Trebuchet MS"/>
              </a:rPr>
              <a:t>...)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27030" y="2759650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0" y="12759"/>
                </a:moveTo>
                <a:lnTo>
                  <a:pt x="3737" y="3737"/>
                </a:lnTo>
                <a:lnTo>
                  <a:pt x="12759" y="0"/>
                </a:lnTo>
                <a:lnTo>
                  <a:pt x="21781" y="3737"/>
                </a:lnTo>
                <a:lnTo>
                  <a:pt x="25518" y="12759"/>
                </a:lnTo>
                <a:lnTo>
                  <a:pt x="21781" y="21781"/>
                </a:lnTo>
                <a:lnTo>
                  <a:pt x="12759" y="25518"/>
                </a:lnTo>
                <a:lnTo>
                  <a:pt x="3737" y="21781"/>
                </a:lnTo>
                <a:lnTo>
                  <a:pt x="0" y="12759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888160" y="4307780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0" y="12759"/>
                </a:moveTo>
                <a:lnTo>
                  <a:pt x="3737" y="3737"/>
                </a:lnTo>
                <a:lnTo>
                  <a:pt x="12759" y="0"/>
                </a:lnTo>
                <a:lnTo>
                  <a:pt x="21781" y="3737"/>
                </a:lnTo>
                <a:lnTo>
                  <a:pt x="25518" y="12759"/>
                </a:lnTo>
                <a:lnTo>
                  <a:pt x="21781" y="21781"/>
                </a:lnTo>
                <a:lnTo>
                  <a:pt x="12759" y="25518"/>
                </a:lnTo>
                <a:lnTo>
                  <a:pt x="3737" y="21781"/>
                </a:lnTo>
                <a:lnTo>
                  <a:pt x="0" y="12759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939790" y="2772410"/>
            <a:ext cx="3961129" cy="1548130"/>
          </a:xfrm>
          <a:prstGeom prst="rect">
            <a:avLst/>
          </a:prstGeom>
          <a:ln w="25518">
            <a:solidFill>
              <a:srgbClr val="4E80BC"/>
            </a:solidFill>
          </a:ln>
        </p:spPr>
        <p:txBody>
          <a:bodyPr vert="horz" wrap="square" lIns="0" tIns="104775" rIns="0" bIns="0" rtlCol="0">
            <a:spAutoFit/>
          </a:bodyPr>
          <a:lstStyle/>
          <a:p>
            <a:pPr marL="90170" marR="84455" algn="just">
              <a:lnSpc>
                <a:spcPct val="99800"/>
              </a:lnSpc>
              <a:spcBef>
                <a:spcPts val="825"/>
              </a:spcBef>
            </a:pPr>
            <a:r>
              <a:rPr sz="2200" dirty="0">
                <a:latin typeface="Microsoft Sans Serif"/>
                <a:cs typeface="Microsoft Sans Serif"/>
              </a:rPr>
              <a:t>Em</a:t>
            </a:r>
            <a:r>
              <a:rPr sz="2200" spc="17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qual</a:t>
            </a:r>
            <a:r>
              <a:rPr sz="2200" spc="17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alternativa</a:t>
            </a:r>
            <a:r>
              <a:rPr sz="2200" spc="17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é</a:t>
            </a:r>
            <a:r>
              <a:rPr sz="2200" spc="175" dirty="0">
                <a:latin typeface="Microsoft Sans Serif"/>
                <a:cs typeface="Microsoft Sans Serif"/>
              </a:rPr>
              <a:t>  </a:t>
            </a:r>
            <a:r>
              <a:rPr sz="2200" spc="-20" dirty="0">
                <a:latin typeface="Microsoft Sans Serif"/>
                <a:cs typeface="Microsoft Sans Serif"/>
              </a:rPr>
              <a:t>mais </a:t>
            </a:r>
            <a:r>
              <a:rPr sz="2200" dirty="0">
                <a:latin typeface="Microsoft Sans Serif"/>
                <a:cs typeface="Microsoft Sans Serif"/>
              </a:rPr>
              <a:t>rápido</a:t>
            </a:r>
            <a:r>
              <a:rPr sz="2200" spc="36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localizar</a:t>
            </a:r>
            <a:r>
              <a:rPr sz="2200" spc="365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um</a:t>
            </a:r>
            <a:r>
              <a:rPr sz="2200" spc="355" dirty="0">
                <a:latin typeface="Microsoft Sans Serif"/>
                <a:cs typeface="Microsoft Sans Serif"/>
              </a:rPr>
              <a:t>  </a:t>
            </a:r>
            <a:r>
              <a:rPr sz="2200" spc="-10" dirty="0">
                <a:latin typeface="Microsoft Sans Serif"/>
                <a:cs typeface="Microsoft Sans Serif"/>
              </a:rPr>
              <a:t>estado </a:t>
            </a:r>
            <a:r>
              <a:rPr sz="2200" dirty="0">
                <a:latin typeface="Microsoft Sans Serif"/>
                <a:cs typeface="Microsoft Sans Serif"/>
              </a:rPr>
              <a:t>que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você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não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conhece?</a:t>
            </a:r>
            <a:endParaRPr sz="2200">
              <a:latin typeface="Microsoft Sans Serif"/>
              <a:cs typeface="Microsoft Sans Serif"/>
            </a:endParaRPr>
          </a:p>
          <a:p>
            <a:pPr marL="90170" algn="just">
              <a:lnSpc>
                <a:spcPct val="100000"/>
              </a:lnSpc>
            </a:pPr>
            <a:r>
              <a:rPr sz="2200" dirty="0">
                <a:latin typeface="Microsoft Sans Serif"/>
                <a:cs typeface="Microsoft Sans Serif"/>
              </a:rPr>
              <a:t>Por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quê?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14330" y="4401760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0" y="12759"/>
                </a:moveTo>
                <a:lnTo>
                  <a:pt x="3737" y="3737"/>
                </a:lnTo>
                <a:lnTo>
                  <a:pt x="12759" y="0"/>
                </a:lnTo>
                <a:lnTo>
                  <a:pt x="21781" y="3737"/>
                </a:lnTo>
                <a:lnTo>
                  <a:pt x="25518" y="12759"/>
                </a:lnTo>
                <a:lnTo>
                  <a:pt x="21781" y="21781"/>
                </a:lnTo>
                <a:lnTo>
                  <a:pt x="12759" y="25518"/>
                </a:lnTo>
                <a:lnTo>
                  <a:pt x="3737" y="21781"/>
                </a:lnTo>
                <a:lnTo>
                  <a:pt x="0" y="12759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874191" y="6287710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0" y="12759"/>
                </a:moveTo>
                <a:lnTo>
                  <a:pt x="3737" y="3737"/>
                </a:lnTo>
                <a:lnTo>
                  <a:pt x="12759" y="0"/>
                </a:lnTo>
                <a:lnTo>
                  <a:pt x="21781" y="3737"/>
                </a:lnTo>
                <a:lnTo>
                  <a:pt x="25518" y="12759"/>
                </a:lnTo>
                <a:lnTo>
                  <a:pt x="21781" y="21781"/>
                </a:lnTo>
                <a:lnTo>
                  <a:pt x="12759" y="25518"/>
                </a:lnTo>
                <a:lnTo>
                  <a:pt x="3737" y="21781"/>
                </a:lnTo>
                <a:lnTo>
                  <a:pt x="0" y="12759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927090" y="4414520"/>
            <a:ext cx="3959860" cy="1885950"/>
          </a:xfrm>
          <a:prstGeom prst="rect">
            <a:avLst/>
          </a:prstGeom>
          <a:ln w="25518">
            <a:solidFill>
              <a:srgbClr val="4E80BC"/>
            </a:solidFill>
          </a:ln>
        </p:spPr>
        <p:txBody>
          <a:bodyPr vert="horz" wrap="square" lIns="0" tIns="120650" rIns="0" bIns="0" rtlCol="0">
            <a:spAutoFit/>
          </a:bodyPr>
          <a:lstStyle/>
          <a:p>
            <a:pPr marL="90170" marR="81280" algn="just">
              <a:lnSpc>
                <a:spcPct val="100000"/>
              </a:lnSpc>
              <a:spcBef>
                <a:spcPts val="950"/>
              </a:spcBef>
            </a:pPr>
            <a:r>
              <a:rPr sz="1800" spc="175" dirty="0">
                <a:latin typeface="Trebuchet MS"/>
                <a:cs typeface="Trebuchet MS"/>
              </a:rPr>
              <a:t>Uma</a:t>
            </a:r>
            <a:r>
              <a:rPr sz="1800" spc="165" dirty="0">
                <a:latin typeface="Trebuchet MS"/>
                <a:cs typeface="Trebuchet MS"/>
              </a:rPr>
              <a:t> </a:t>
            </a:r>
            <a:r>
              <a:rPr sz="1800" spc="155" dirty="0">
                <a:latin typeface="Trebuchet MS"/>
                <a:cs typeface="Trebuchet MS"/>
              </a:rPr>
              <a:t>pessoa</a:t>
            </a:r>
            <a:r>
              <a:rPr sz="1800" spc="180" dirty="0">
                <a:latin typeface="Trebuchet MS"/>
                <a:cs typeface="Trebuchet MS"/>
              </a:rPr>
              <a:t> </a:t>
            </a:r>
            <a:r>
              <a:rPr sz="1800" spc="110" dirty="0">
                <a:latin typeface="Trebuchet MS"/>
                <a:cs typeface="Trebuchet MS"/>
              </a:rPr>
              <a:t>subdivide</a:t>
            </a:r>
            <a:r>
              <a:rPr sz="1800" spc="155" dirty="0">
                <a:latin typeface="Trebuchet MS"/>
                <a:cs typeface="Trebuchet MS"/>
              </a:rPr>
              <a:t> </a:t>
            </a:r>
            <a:r>
              <a:rPr sz="1800" spc="130" dirty="0">
                <a:latin typeface="Trebuchet MS"/>
                <a:cs typeface="Trebuchet MS"/>
              </a:rPr>
              <a:t>o</a:t>
            </a:r>
            <a:r>
              <a:rPr sz="1800" spc="180" dirty="0">
                <a:latin typeface="Trebuchet MS"/>
                <a:cs typeface="Trebuchet MS"/>
              </a:rPr>
              <a:t> </a:t>
            </a:r>
            <a:r>
              <a:rPr sz="1800" spc="60" dirty="0">
                <a:latin typeface="Trebuchet MS"/>
                <a:cs typeface="Trebuchet MS"/>
              </a:rPr>
              <a:t>conjun- to</a:t>
            </a:r>
            <a:r>
              <a:rPr sz="1800" spc="3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total</a:t>
            </a:r>
            <a:r>
              <a:rPr sz="1800" spc="375" dirty="0">
                <a:latin typeface="Trebuchet MS"/>
                <a:cs typeface="Trebuchet MS"/>
              </a:rPr>
              <a:t> </a:t>
            </a:r>
            <a:r>
              <a:rPr sz="1800" spc="125" dirty="0">
                <a:latin typeface="Trebuchet MS"/>
                <a:cs typeface="Trebuchet MS"/>
              </a:rPr>
              <a:t>de</a:t>
            </a:r>
            <a:r>
              <a:rPr sz="1800" spc="370" dirty="0">
                <a:latin typeface="Trebuchet MS"/>
                <a:cs typeface="Trebuchet MS"/>
              </a:rPr>
              <a:t> </a:t>
            </a:r>
            <a:r>
              <a:rPr sz="1800" spc="130" dirty="0">
                <a:latin typeface="Trebuchet MS"/>
                <a:cs typeface="Trebuchet MS"/>
              </a:rPr>
              <a:t>opções</a:t>
            </a:r>
            <a:r>
              <a:rPr sz="1800" spc="360" dirty="0">
                <a:latin typeface="Trebuchet MS"/>
                <a:cs typeface="Trebuchet MS"/>
              </a:rPr>
              <a:t> </a:t>
            </a:r>
            <a:r>
              <a:rPr sz="1800" spc="170" dirty="0">
                <a:latin typeface="Trebuchet MS"/>
                <a:cs typeface="Trebuchet MS"/>
              </a:rPr>
              <a:t>em</a:t>
            </a:r>
            <a:r>
              <a:rPr sz="1800" spc="370" dirty="0">
                <a:latin typeface="Trebuchet MS"/>
                <a:cs typeface="Trebuchet MS"/>
              </a:rPr>
              <a:t> </a:t>
            </a:r>
            <a:r>
              <a:rPr sz="1800" spc="70" dirty="0">
                <a:latin typeface="Trebuchet MS"/>
                <a:cs typeface="Trebuchet MS"/>
              </a:rPr>
              <a:t>categori- </a:t>
            </a:r>
            <a:r>
              <a:rPr sz="1800" spc="85" dirty="0">
                <a:latin typeface="Trebuchet MS"/>
                <a:cs typeface="Trebuchet MS"/>
              </a:rPr>
              <a:t>as,</a:t>
            </a:r>
            <a:r>
              <a:rPr sz="1800" spc="385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eliminando</a:t>
            </a:r>
            <a:r>
              <a:rPr sz="1800" spc="380" dirty="0">
                <a:latin typeface="Trebuchet MS"/>
                <a:cs typeface="Trebuchet MS"/>
              </a:rPr>
              <a:t> </a:t>
            </a:r>
            <a:r>
              <a:rPr sz="1800" spc="110" dirty="0">
                <a:latin typeface="Trebuchet MS"/>
                <a:cs typeface="Trebuchet MS"/>
              </a:rPr>
              <a:t>aproximadamen- </a:t>
            </a:r>
            <a:r>
              <a:rPr sz="1800" spc="55" dirty="0">
                <a:latin typeface="Trebuchet MS"/>
                <a:cs typeface="Trebuchet MS"/>
              </a:rPr>
              <a:t>te</a:t>
            </a:r>
            <a:r>
              <a:rPr sz="1800" spc="455" dirty="0">
                <a:latin typeface="Trebuchet MS"/>
                <a:cs typeface="Trebuchet MS"/>
              </a:rPr>
              <a:t> </a:t>
            </a:r>
            <a:r>
              <a:rPr sz="1800" spc="120" dirty="0">
                <a:latin typeface="Trebuchet MS"/>
                <a:cs typeface="Trebuchet MS"/>
              </a:rPr>
              <a:t>metade</a:t>
            </a:r>
            <a:r>
              <a:rPr sz="1800" spc="459" dirty="0">
                <a:latin typeface="Trebuchet MS"/>
                <a:cs typeface="Trebuchet MS"/>
              </a:rPr>
              <a:t>  </a:t>
            </a:r>
            <a:r>
              <a:rPr sz="1800" spc="165" dirty="0">
                <a:latin typeface="Trebuchet MS"/>
                <a:cs typeface="Trebuchet MS"/>
              </a:rPr>
              <a:t>das</a:t>
            </a:r>
            <a:r>
              <a:rPr sz="1800" spc="459" dirty="0">
                <a:latin typeface="Trebuchet MS"/>
                <a:cs typeface="Trebuchet MS"/>
              </a:rPr>
              <a:t> </a:t>
            </a:r>
            <a:r>
              <a:rPr sz="1800" spc="135" dirty="0">
                <a:latin typeface="Trebuchet MS"/>
                <a:cs typeface="Trebuchet MS"/>
              </a:rPr>
              <a:t>opções</a:t>
            </a:r>
            <a:r>
              <a:rPr sz="1800" spc="455" dirty="0">
                <a:latin typeface="Trebuchet MS"/>
                <a:cs typeface="Trebuchet MS"/>
              </a:rPr>
              <a:t> </a:t>
            </a:r>
            <a:r>
              <a:rPr sz="1800" spc="150" dirty="0">
                <a:latin typeface="Trebuchet MS"/>
                <a:cs typeface="Trebuchet MS"/>
              </a:rPr>
              <a:t>a</a:t>
            </a:r>
            <a:r>
              <a:rPr sz="1800" spc="470" dirty="0">
                <a:latin typeface="Trebuchet MS"/>
                <a:cs typeface="Trebuchet MS"/>
              </a:rPr>
              <a:t> </a:t>
            </a:r>
            <a:r>
              <a:rPr sz="1800" spc="110" dirty="0">
                <a:latin typeface="Trebuchet MS"/>
                <a:cs typeface="Trebuchet MS"/>
              </a:rPr>
              <a:t>cada </a:t>
            </a:r>
            <a:r>
              <a:rPr sz="1800" spc="120" dirty="0">
                <a:latin typeface="Trebuchet MS"/>
                <a:cs typeface="Trebuchet MS"/>
              </a:rPr>
              <a:t>passo,</a:t>
            </a:r>
            <a:r>
              <a:rPr sz="1800" spc="220" dirty="0">
                <a:latin typeface="Trebuchet MS"/>
                <a:cs typeface="Trebuchet MS"/>
              </a:rPr>
              <a:t> </a:t>
            </a:r>
            <a:r>
              <a:rPr sz="1800" spc="170" dirty="0">
                <a:latin typeface="Trebuchet MS"/>
                <a:cs typeface="Trebuchet MS"/>
              </a:rPr>
              <a:t>em</a:t>
            </a:r>
            <a:r>
              <a:rPr sz="1800" spc="235" dirty="0">
                <a:latin typeface="Trebuchet MS"/>
                <a:cs typeface="Trebuchet MS"/>
              </a:rPr>
              <a:t> </a:t>
            </a:r>
            <a:r>
              <a:rPr sz="1800" spc="125" dirty="0">
                <a:latin typeface="Trebuchet MS"/>
                <a:cs typeface="Trebuchet MS"/>
              </a:rPr>
              <a:t>vez</a:t>
            </a:r>
            <a:r>
              <a:rPr sz="1800" spc="225" dirty="0">
                <a:latin typeface="Trebuchet MS"/>
                <a:cs typeface="Trebuchet MS"/>
              </a:rPr>
              <a:t> </a:t>
            </a:r>
            <a:r>
              <a:rPr sz="1800" spc="125" dirty="0">
                <a:latin typeface="Trebuchet MS"/>
                <a:cs typeface="Trebuchet MS"/>
              </a:rPr>
              <a:t>de</a:t>
            </a:r>
            <a:r>
              <a:rPr sz="1800" spc="215" dirty="0">
                <a:latin typeface="Trebuchet MS"/>
                <a:cs typeface="Trebuchet MS"/>
              </a:rPr>
              <a:t> </a:t>
            </a:r>
            <a:r>
              <a:rPr sz="1800" spc="100" dirty="0">
                <a:latin typeface="Trebuchet MS"/>
                <a:cs typeface="Trebuchet MS"/>
              </a:rPr>
              <a:t>considerar</a:t>
            </a:r>
            <a:r>
              <a:rPr sz="1800" spc="229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to- </a:t>
            </a:r>
            <a:r>
              <a:rPr sz="1800" spc="160" dirty="0">
                <a:latin typeface="Trebuchet MS"/>
                <a:cs typeface="Trebuchet MS"/>
              </a:rPr>
              <a:t>das</a:t>
            </a:r>
            <a:r>
              <a:rPr sz="1800" spc="35" dirty="0">
                <a:latin typeface="Trebuchet MS"/>
                <a:cs typeface="Trebuchet MS"/>
              </a:rPr>
              <a:t> </a:t>
            </a:r>
            <a:r>
              <a:rPr sz="1800" spc="180" dirty="0">
                <a:latin typeface="Trebuchet MS"/>
                <a:cs typeface="Trebuchet MS"/>
              </a:rPr>
              <a:t>as</a:t>
            </a:r>
            <a:r>
              <a:rPr sz="1800" spc="35" dirty="0">
                <a:latin typeface="Trebuchet MS"/>
                <a:cs typeface="Trebuchet MS"/>
              </a:rPr>
              <a:t> </a:t>
            </a:r>
            <a:r>
              <a:rPr sz="1800" spc="125" dirty="0">
                <a:latin typeface="Trebuchet MS"/>
                <a:cs typeface="Trebuchet MS"/>
              </a:rPr>
              <a:t>escolhas</a:t>
            </a:r>
            <a:r>
              <a:rPr sz="1800" spc="35" dirty="0">
                <a:latin typeface="Trebuchet MS"/>
                <a:cs typeface="Trebuchet MS"/>
              </a:rPr>
              <a:t> </a:t>
            </a:r>
            <a:r>
              <a:rPr sz="1800" spc="180" dirty="0">
                <a:latin typeface="Trebuchet MS"/>
                <a:cs typeface="Trebuchet MS"/>
              </a:rPr>
              <a:t>uma</a:t>
            </a:r>
            <a:r>
              <a:rPr sz="1800" spc="40" dirty="0">
                <a:latin typeface="Trebuchet MS"/>
                <a:cs typeface="Trebuchet MS"/>
              </a:rPr>
              <a:t> </a:t>
            </a:r>
            <a:r>
              <a:rPr sz="1800" spc="150" dirty="0">
                <a:latin typeface="Trebuchet MS"/>
                <a:cs typeface="Trebuchet MS"/>
              </a:rPr>
              <a:t>a</a:t>
            </a:r>
            <a:r>
              <a:rPr sz="1800" spc="40" dirty="0">
                <a:latin typeface="Trebuchet MS"/>
                <a:cs typeface="Trebuchet MS"/>
              </a:rPr>
              <a:t> </a:t>
            </a:r>
            <a:r>
              <a:rPr sz="1800" spc="90" dirty="0">
                <a:latin typeface="Trebuchet MS"/>
                <a:cs typeface="Trebuchet MS"/>
              </a:rPr>
              <a:t>uma.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5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Exemplo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4294967295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580" y="1936750"/>
            <a:ext cx="95250" cy="95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87730" y="1756409"/>
            <a:ext cx="8428990" cy="5355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Microsoft Sans Serif"/>
                <a:cs typeface="Microsoft Sans Serif"/>
              </a:rPr>
              <a:t>Eu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tenho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sete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nomes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para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escolher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em </a:t>
            </a:r>
            <a:r>
              <a:rPr sz="2600" dirty="0" err="1">
                <a:latin typeface="Microsoft Sans Serif"/>
                <a:cs typeface="Microsoft Sans Serif"/>
              </a:rPr>
              <a:t>ordem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-10" dirty="0" err="1">
                <a:latin typeface="Microsoft Sans Serif"/>
                <a:cs typeface="Microsoft Sans Serif"/>
              </a:rPr>
              <a:t>alfabética</a:t>
            </a:r>
            <a:endParaRPr lang="pt-BR" sz="2600" spc="-1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2600" spc="-1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2600" spc="-1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2600" spc="-1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2600" spc="-1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2600" spc="-1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2600" spc="-1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2600" spc="-1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2600" spc="-1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2600" spc="-1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pt-BR" sz="2600" spc="-1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2600" spc="-10" dirty="0">
                <a:latin typeface="Microsoft Sans Serif"/>
                <a:cs typeface="Microsoft Sans Serif"/>
              </a:rPr>
              <a:t>Permite fazer estimativas de quanto tempo uma pessoa vai demorar para encontrar itens em uma lista de opções. </a:t>
            </a:r>
            <a:endParaRPr sz="2600" dirty="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0815" y="2330450"/>
            <a:ext cx="6455991" cy="3496056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Lei</a:t>
            </a:r>
            <a:r>
              <a:rPr spc="-4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20" dirty="0"/>
              <a:t>Fitts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4294967295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59625"/>
            <a:ext cx="665163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06/12/13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1877060"/>
            <a:ext cx="95250" cy="95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3289" y="1729740"/>
            <a:ext cx="8660765" cy="985519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algn="just">
              <a:lnSpc>
                <a:spcPts val="2460"/>
              </a:lnSpc>
              <a:spcBef>
                <a:spcPts val="330"/>
              </a:spcBef>
            </a:pPr>
            <a:r>
              <a:rPr sz="2200" dirty="0">
                <a:latin typeface="Microsoft Sans Serif"/>
                <a:cs typeface="Microsoft Sans Serif"/>
              </a:rPr>
              <a:t>Relaciona</a:t>
            </a:r>
            <a:r>
              <a:rPr sz="2200" spc="1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</a:t>
            </a:r>
            <a:r>
              <a:rPr sz="2200" spc="1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tempo</a:t>
            </a:r>
            <a:r>
              <a:rPr sz="2200" spc="1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(T)</a:t>
            </a:r>
            <a:r>
              <a:rPr sz="2200" spc="1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que</a:t>
            </a:r>
            <a:r>
              <a:rPr sz="2200" spc="1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uma</a:t>
            </a:r>
            <a:r>
              <a:rPr sz="2200" spc="1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pessoa</a:t>
            </a:r>
            <a:r>
              <a:rPr sz="2200" spc="1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leva</a:t>
            </a:r>
            <a:r>
              <a:rPr sz="2200" spc="1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para</a:t>
            </a:r>
            <a:r>
              <a:rPr sz="2200" spc="1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apontar</a:t>
            </a:r>
            <a:r>
              <a:rPr sz="2200" spc="1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para</a:t>
            </a:r>
            <a:r>
              <a:rPr sz="2200" spc="13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algo </a:t>
            </a:r>
            <a:r>
              <a:rPr sz="2200" dirty="0">
                <a:latin typeface="Microsoft Sans Serif"/>
                <a:cs typeface="Microsoft Sans Serif"/>
              </a:rPr>
              <a:t>com</a:t>
            </a:r>
            <a:r>
              <a:rPr sz="2200" spc="5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</a:t>
            </a:r>
            <a:r>
              <a:rPr sz="2200" spc="7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tamanho</a:t>
            </a:r>
            <a:r>
              <a:rPr sz="2200" spc="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(S)</a:t>
            </a:r>
            <a:r>
              <a:rPr sz="2200" spc="7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do</a:t>
            </a:r>
            <a:r>
              <a:rPr sz="2200" spc="7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objeto-</a:t>
            </a:r>
            <a:r>
              <a:rPr sz="2200" dirty="0">
                <a:latin typeface="Microsoft Sans Serif"/>
                <a:cs typeface="Microsoft Sans Serif"/>
              </a:rPr>
              <a:t>alvo</a:t>
            </a:r>
            <a:r>
              <a:rPr sz="2200" spc="7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</a:t>
            </a:r>
            <a:r>
              <a:rPr sz="2200" spc="8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com</a:t>
            </a:r>
            <a:r>
              <a:rPr sz="2200" spc="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7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distância</a:t>
            </a:r>
            <a:r>
              <a:rPr sz="2200" spc="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(D)</a:t>
            </a:r>
            <a:r>
              <a:rPr sz="2200" spc="7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entre</a:t>
            </a:r>
            <a:r>
              <a:rPr sz="2200" spc="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75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mão </a:t>
            </a:r>
            <a:r>
              <a:rPr sz="2200" dirty="0">
                <a:latin typeface="Microsoft Sans Serif"/>
                <a:cs typeface="Microsoft Sans Serif"/>
              </a:rPr>
              <a:t>da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pessoa e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esse </a:t>
            </a:r>
            <a:r>
              <a:rPr sz="2200" spc="-20" dirty="0">
                <a:latin typeface="Microsoft Sans Serif"/>
                <a:cs typeface="Microsoft Sans Serif"/>
              </a:rPr>
              <a:t>objeto-</a:t>
            </a:r>
            <a:r>
              <a:rPr sz="2200" spc="-10" dirty="0">
                <a:latin typeface="Microsoft Sans Serif"/>
                <a:cs typeface="Microsoft Sans Serif"/>
              </a:rPr>
              <a:t>alvo:</a:t>
            </a:r>
            <a:endParaRPr sz="2200" dirty="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6221" y="3986121"/>
            <a:ext cx="5433158" cy="144831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7020" y="3229594"/>
            <a:ext cx="3968262" cy="224601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600" y="370883"/>
            <a:ext cx="6261675" cy="777136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indent="854710">
              <a:lnSpc>
                <a:spcPts val="4920"/>
              </a:lnSpc>
              <a:spcBef>
                <a:spcPts val="560"/>
              </a:spcBef>
            </a:pPr>
            <a:r>
              <a:rPr dirty="0"/>
              <a:t>Lei</a:t>
            </a:r>
            <a:r>
              <a:rPr spc="-4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Fitts </a:t>
            </a:r>
            <a:r>
              <a:rPr dirty="0"/>
              <a:t>exemplos</a:t>
            </a:r>
            <a:r>
              <a:rPr spc="-135" dirty="0"/>
              <a:t> </a:t>
            </a:r>
            <a:r>
              <a:rPr dirty="0"/>
              <a:t>em</a:t>
            </a:r>
            <a:r>
              <a:rPr spc="-140" dirty="0"/>
              <a:t> </a:t>
            </a:r>
            <a:r>
              <a:rPr spc="-25" dirty="0"/>
              <a:t>IHC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4294967295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4294967295"/>
          </p:nvPr>
        </p:nvSpPr>
        <p:spPr>
          <a:xfrm>
            <a:off x="0" y="7159625"/>
            <a:ext cx="665163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06/12/13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4363" y="1987825"/>
            <a:ext cx="4881880" cy="3051810"/>
            <a:chOff x="734363" y="1987825"/>
            <a:chExt cx="4881880" cy="30518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4363" y="1987825"/>
              <a:ext cx="4881576" cy="26921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9769" y="2951479"/>
              <a:ext cx="1799589" cy="6477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3569" y="4469129"/>
              <a:ext cx="2056130" cy="570230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5891471" y="2659321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0" y="12759"/>
                </a:moveTo>
                <a:lnTo>
                  <a:pt x="3737" y="3737"/>
                </a:lnTo>
                <a:lnTo>
                  <a:pt x="12759" y="0"/>
                </a:lnTo>
                <a:lnTo>
                  <a:pt x="21781" y="3737"/>
                </a:lnTo>
                <a:lnTo>
                  <a:pt x="25518" y="12759"/>
                </a:lnTo>
                <a:lnTo>
                  <a:pt x="21781" y="21781"/>
                </a:lnTo>
                <a:lnTo>
                  <a:pt x="12759" y="25518"/>
                </a:lnTo>
                <a:lnTo>
                  <a:pt x="3737" y="21781"/>
                </a:lnTo>
                <a:lnTo>
                  <a:pt x="0" y="12759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31241" y="3695641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0" y="12759"/>
                </a:moveTo>
                <a:lnTo>
                  <a:pt x="3737" y="3737"/>
                </a:lnTo>
                <a:lnTo>
                  <a:pt x="12759" y="0"/>
                </a:lnTo>
                <a:lnTo>
                  <a:pt x="21781" y="3737"/>
                </a:lnTo>
                <a:lnTo>
                  <a:pt x="25518" y="12759"/>
                </a:lnTo>
                <a:lnTo>
                  <a:pt x="21781" y="21781"/>
                </a:lnTo>
                <a:lnTo>
                  <a:pt x="12759" y="25518"/>
                </a:lnTo>
                <a:lnTo>
                  <a:pt x="3737" y="21781"/>
                </a:lnTo>
                <a:lnTo>
                  <a:pt x="0" y="12759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04229" y="2672079"/>
            <a:ext cx="3239770" cy="1036319"/>
          </a:xfrm>
          <a:prstGeom prst="rect">
            <a:avLst/>
          </a:prstGeom>
          <a:ln w="25518">
            <a:solidFill>
              <a:srgbClr val="4E80BC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marL="90170" marR="81280" algn="just">
              <a:lnSpc>
                <a:spcPct val="100000"/>
              </a:lnSpc>
              <a:spcBef>
                <a:spcPts val="840"/>
              </a:spcBef>
            </a:pPr>
            <a:r>
              <a:rPr sz="1800" dirty="0">
                <a:latin typeface="Microsoft Sans Serif"/>
                <a:cs typeface="Microsoft Sans Serif"/>
              </a:rPr>
              <a:t>Em</a:t>
            </a:r>
            <a:r>
              <a:rPr sz="1800" spc="105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qual</a:t>
            </a:r>
            <a:r>
              <a:rPr sz="1800" spc="114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alternativa</a:t>
            </a:r>
            <a:r>
              <a:rPr sz="1800" spc="110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é</a:t>
            </a:r>
            <a:r>
              <a:rPr sz="1800" spc="110" dirty="0">
                <a:latin typeface="Microsoft Sans Serif"/>
                <a:cs typeface="Microsoft Sans Serif"/>
              </a:rPr>
              <a:t>  </a:t>
            </a:r>
            <a:r>
              <a:rPr sz="1800" spc="-20" dirty="0">
                <a:latin typeface="Microsoft Sans Serif"/>
                <a:cs typeface="Microsoft Sans Serif"/>
              </a:rPr>
              <a:t>mais </a:t>
            </a:r>
            <a:r>
              <a:rPr sz="1800" dirty="0">
                <a:latin typeface="Microsoft Sans Serif"/>
                <a:cs typeface="Microsoft Sans Serif"/>
              </a:rPr>
              <a:t>rápido</a:t>
            </a:r>
            <a:r>
              <a:rPr sz="1800" spc="3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alcançar</a:t>
            </a:r>
            <a:r>
              <a:rPr sz="1800" spc="30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</a:t>
            </a:r>
            <a:r>
              <a:rPr sz="1800" spc="300" dirty="0">
                <a:latin typeface="Microsoft Sans Serif"/>
                <a:cs typeface="Microsoft Sans Serif"/>
              </a:rPr>
              <a:t> </a:t>
            </a:r>
            <a:r>
              <a:rPr sz="1800" b="1" dirty="0">
                <a:latin typeface="Arial"/>
                <a:cs typeface="Arial"/>
              </a:rPr>
              <a:t>botão</a:t>
            </a:r>
            <a:r>
              <a:rPr sz="1800" b="1" spc="29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sal- </a:t>
            </a:r>
            <a:r>
              <a:rPr sz="1800" b="1" dirty="0">
                <a:latin typeface="Arial"/>
                <a:cs typeface="Arial"/>
              </a:rPr>
              <a:t>var</a:t>
            </a:r>
            <a:r>
              <a:rPr sz="1800" dirty="0">
                <a:latin typeface="Microsoft Sans Serif"/>
                <a:cs typeface="Microsoft Sans Serif"/>
              </a:rPr>
              <a:t>?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Por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quê?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07760" y="5206941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0" y="12759"/>
                </a:moveTo>
                <a:lnTo>
                  <a:pt x="3737" y="3737"/>
                </a:lnTo>
                <a:lnTo>
                  <a:pt x="12759" y="0"/>
                </a:lnTo>
                <a:lnTo>
                  <a:pt x="21781" y="3737"/>
                </a:lnTo>
                <a:lnTo>
                  <a:pt x="25518" y="12759"/>
                </a:lnTo>
                <a:lnTo>
                  <a:pt x="21781" y="21781"/>
                </a:lnTo>
                <a:lnTo>
                  <a:pt x="12759" y="25518"/>
                </a:lnTo>
                <a:lnTo>
                  <a:pt x="3737" y="21781"/>
                </a:lnTo>
                <a:lnTo>
                  <a:pt x="0" y="12759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47981" y="6647120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4">
                <a:moveTo>
                  <a:pt x="0" y="12759"/>
                </a:moveTo>
                <a:lnTo>
                  <a:pt x="3737" y="3737"/>
                </a:lnTo>
                <a:lnTo>
                  <a:pt x="12759" y="0"/>
                </a:lnTo>
                <a:lnTo>
                  <a:pt x="21781" y="3737"/>
                </a:lnTo>
                <a:lnTo>
                  <a:pt x="25518" y="12759"/>
                </a:lnTo>
                <a:lnTo>
                  <a:pt x="21781" y="21781"/>
                </a:lnTo>
                <a:lnTo>
                  <a:pt x="12759" y="25518"/>
                </a:lnTo>
                <a:lnTo>
                  <a:pt x="3737" y="21781"/>
                </a:lnTo>
                <a:lnTo>
                  <a:pt x="0" y="12759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20519" y="5219700"/>
            <a:ext cx="6840220" cy="1440180"/>
          </a:xfrm>
          <a:prstGeom prst="rect">
            <a:avLst/>
          </a:prstGeom>
          <a:ln w="25518">
            <a:solidFill>
              <a:srgbClr val="4E80BC"/>
            </a:solidFill>
          </a:ln>
        </p:spPr>
        <p:txBody>
          <a:bodyPr vert="horz" wrap="square" lIns="0" tIns="171450" rIns="0" bIns="0" rtlCol="0">
            <a:spAutoFit/>
          </a:bodyPr>
          <a:lstStyle/>
          <a:p>
            <a:pPr marL="88900" marR="82550" algn="just">
              <a:lnSpc>
                <a:spcPct val="100000"/>
              </a:lnSpc>
              <a:spcBef>
                <a:spcPts val="1350"/>
              </a:spcBef>
            </a:pPr>
            <a:r>
              <a:rPr sz="1800" dirty="0">
                <a:latin typeface="Microsoft Sans Serif"/>
                <a:cs typeface="Microsoft Sans Serif"/>
              </a:rPr>
              <a:t>Um</a:t>
            </a:r>
            <a:r>
              <a:rPr sz="1800" spc="4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botão</a:t>
            </a:r>
            <a:r>
              <a:rPr sz="1800" spc="4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</a:t>
            </a:r>
            <a:r>
              <a:rPr sz="1800" spc="4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acionamento</a:t>
            </a:r>
            <a:r>
              <a:rPr sz="1800" spc="4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</a:t>
            </a:r>
            <a:r>
              <a:rPr sz="1800" spc="43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operação</a:t>
            </a:r>
            <a:r>
              <a:rPr sz="1800" spc="4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pode</a:t>
            </a:r>
            <a:r>
              <a:rPr sz="1800" spc="4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possuir</a:t>
            </a:r>
            <a:r>
              <a:rPr sz="1800" spc="4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ambos, </a:t>
            </a:r>
            <a:r>
              <a:rPr sz="1800" dirty="0">
                <a:latin typeface="Microsoft Sans Serif"/>
                <a:cs typeface="Microsoft Sans Serif"/>
              </a:rPr>
              <a:t>imagem</a:t>
            </a:r>
            <a:r>
              <a:rPr sz="1800" spc="1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</a:t>
            </a:r>
            <a:r>
              <a:rPr sz="1800" spc="1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rótulo.</a:t>
            </a:r>
            <a:r>
              <a:rPr sz="1800" spc="1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Quando</a:t>
            </a:r>
            <a:r>
              <a:rPr sz="1800" spc="1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</a:t>
            </a:r>
            <a:r>
              <a:rPr sz="1800" spc="1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usuário</a:t>
            </a:r>
            <a:r>
              <a:rPr sz="1800" spc="1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já</a:t>
            </a:r>
            <a:r>
              <a:rPr sz="1800" spc="1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conhece</a:t>
            </a:r>
            <a:r>
              <a:rPr sz="1800" spc="1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</a:t>
            </a:r>
            <a:r>
              <a:rPr sz="1800" spc="1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botão,</a:t>
            </a:r>
            <a:r>
              <a:rPr sz="1800" spc="1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</a:t>
            </a:r>
            <a:r>
              <a:rPr sz="1800" spc="1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rótulo </a:t>
            </a:r>
            <a:r>
              <a:rPr sz="1800" dirty="0">
                <a:latin typeface="Microsoft Sans Serif"/>
                <a:cs typeface="Microsoft Sans Serif"/>
              </a:rPr>
              <a:t>poderia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ser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dispensado.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Porém,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sua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presença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torna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botão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mai- </a:t>
            </a:r>
            <a:r>
              <a:rPr sz="1800" dirty="0">
                <a:latin typeface="Microsoft Sans Serif"/>
                <a:cs typeface="Microsoft Sans Serif"/>
              </a:rPr>
              <a:t>or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portanto, seu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acesso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mais </a:t>
            </a:r>
            <a:r>
              <a:rPr sz="1800" spc="-10" dirty="0">
                <a:latin typeface="Microsoft Sans Serif"/>
                <a:cs typeface="Microsoft Sans Serif"/>
              </a:rPr>
              <a:t>rápido.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6D47E69-5F78-47B6-B6F8-EDCE5811F059}"/>
              </a:ext>
            </a:extLst>
          </p:cNvPr>
          <p:cNvSpPr/>
          <p:nvPr/>
        </p:nvSpPr>
        <p:spPr>
          <a:xfrm>
            <a:off x="204705" y="1460833"/>
            <a:ext cx="9144731" cy="704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just">
              <a:lnSpc>
                <a:spcPts val="2460"/>
              </a:lnSpc>
              <a:spcBef>
                <a:spcPts val="330"/>
              </a:spcBef>
            </a:pPr>
            <a:r>
              <a:rPr lang="pt-BR" sz="1800" dirty="0">
                <a:latin typeface="Microsoft Sans Serif"/>
                <a:cs typeface="Microsoft Sans Serif"/>
              </a:rPr>
              <a:t>Relaciona</a:t>
            </a:r>
            <a:r>
              <a:rPr lang="pt-BR" sz="1800" spc="130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o</a:t>
            </a:r>
            <a:r>
              <a:rPr lang="pt-BR" sz="1800" spc="130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tempo</a:t>
            </a:r>
            <a:r>
              <a:rPr lang="pt-BR" sz="1800" spc="130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(T)</a:t>
            </a:r>
            <a:r>
              <a:rPr lang="pt-BR" sz="1800" spc="135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que</a:t>
            </a:r>
            <a:r>
              <a:rPr lang="pt-BR" sz="1800" spc="130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uma</a:t>
            </a:r>
            <a:r>
              <a:rPr lang="pt-BR" sz="1800" spc="135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pessoa</a:t>
            </a:r>
            <a:r>
              <a:rPr lang="pt-BR" sz="1800" spc="130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leva</a:t>
            </a:r>
            <a:r>
              <a:rPr lang="pt-BR" sz="1800" spc="135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para</a:t>
            </a:r>
            <a:r>
              <a:rPr lang="pt-BR" sz="1800" spc="135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apontar</a:t>
            </a:r>
            <a:r>
              <a:rPr lang="pt-BR" sz="1800" spc="135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para</a:t>
            </a:r>
            <a:r>
              <a:rPr lang="pt-BR" sz="1800" spc="135" dirty="0">
                <a:latin typeface="Microsoft Sans Serif"/>
                <a:cs typeface="Microsoft Sans Serif"/>
              </a:rPr>
              <a:t> </a:t>
            </a:r>
            <a:r>
              <a:rPr lang="pt-BR" sz="1800" spc="-20" dirty="0">
                <a:latin typeface="Microsoft Sans Serif"/>
                <a:cs typeface="Microsoft Sans Serif"/>
              </a:rPr>
              <a:t>algo </a:t>
            </a:r>
            <a:r>
              <a:rPr lang="pt-BR" sz="1800" dirty="0">
                <a:latin typeface="Microsoft Sans Serif"/>
                <a:cs typeface="Microsoft Sans Serif"/>
              </a:rPr>
              <a:t>com</a:t>
            </a:r>
            <a:r>
              <a:rPr lang="pt-BR" sz="1800" spc="55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o</a:t>
            </a:r>
            <a:r>
              <a:rPr lang="pt-BR" sz="1800" spc="75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tamanho</a:t>
            </a:r>
            <a:r>
              <a:rPr lang="pt-BR" sz="1800" spc="70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(S)</a:t>
            </a:r>
            <a:r>
              <a:rPr lang="pt-BR" sz="1800" spc="75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do</a:t>
            </a:r>
            <a:r>
              <a:rPr lang="pt-BR" sz="1800" spc="75" dirty="0">
                <a:latin typeface="Microsoft Sans Serif"/>
                <a:cs typeface="Microsoft Sans Serif"/>
              </a:rPr>
              <a:t> </a:t>
            </a:r>
            <a:r>
              <a:rPr lang="pt-BR" sz="1800" spc="-20" dirty="0">
                <a:latin typeface="Microsoft Sans Serif"/>
                <a:cs typeface="Microsoft Sans Serif"/>
              </a:rPr>
              <a:t>objeto-</a:t>
            </a:r>
            <a:r>
              <a:rPr lang="pt-BR" sz="1800" dirty="0">
                <a:latin typeface="Microsoft Sans Serif"/>
                <a:cs typeface="Microsoft Sans Serif"/>
              </a:rPr>
              <a:t>alvo</a:t>
            </a:r>
            <a:r>
              <a:rPr lang="pt-BR" sz="1800" spc="75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e</a:t>
            </a:r>
            <a:r>
              <a:rPr lang="pt-BR" sz="1800" spc="80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com</a:t>
            </a:r>
            <a:r>
              <a:rPr lang="pt-BR" sz="1800" spc="70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a</a:t>
            </a:r>
            <a:r>
              <a:rPr lang="pt-BR" sz="1800" spc="75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distância</a:t>
            </a:r>
            <a:r>
              <a:rPr lang="pt-BR" sz="1800" spc="70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(D)</a:t>
            </a:r>
            <a:r>
              <a:rPr lang="pt-BR" sz="1800" spc="75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entre</a:t>
            </a:r>
            <a:r>
              <a:rPr lang="pt-BR" sz="1800" spc="70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a</a:t>
            </a:r>
            <a:r>
              <a:rPr lang="pt-BR" sz="1800" spc="75" dirty="0">
                <a:latin typeface="Microsoft Sans Serif"/>
                <a:cs typeface="Microsoft Sans Serif"/>
              </a:rPr>
              <a:t> </a:t>
            </a:r>
            <a:r>
              <a:rPr lang="pt-BR" sz="1800" spc="-25" dirty="0">
                <a:latin typeface="Microsoft Sans Serif"/>
                <a:cs typeface="Microsoft Sans Serif"/>
              </a:rPr>
              <a:t>mão </a:t>
            </a:r>
            <a:r>
              <a:rPr lang="pt-BR" sz="1800" dirty="0">
                <a:latin typeface="Microsoft Sans Serif"/>
                <a:cs typeface="Microsoft Sans Serif"/>
              </a:rPr>
              <a:t>da</a:t>
            </a:r>
            <a:r>
              <a:rPr lang="pt-BR" sz="1800" spc="-5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pessoa e</a:t>
            </a:r>
            <a:r>
              <a:rPr lang="pt-BR" sz="1800" spc="-5" dirty="0">
                <a:latin typeface="Microsoft Sans Serif"/>
                <a:cs typeface="Microsoft Sans Serif"/>
              </a:rPr>
              <a:t> </a:t>
            </a:r>
            <a:r>
              <a:rPr lang="pt-BR" sz="1800" dirty="0">
                <a:latin typeface="Microsoft Sans Serif"/>
                <a:cs typeface="Microsoft Sans Serif"/>
              </a:rPr>
              <a:t>esse </a:t>
            </a:r>
            <a:r>
              <a:rPr lang="pt-BR" sz="1800" spc="-20" dirty="0">
                <a:latin typeface="Microsoft Sans Serif"/>
                <a:cs typeface="Microsoft Sans Serif"/>
              </a:rPr>
              <a:t>objeto-</a:t>
            </a:r>
            <a:r>
              <a:rPr lang="pt-BR" sz="1800" spc="-10" dirty="0">
                <a:latin typeface="Microsoft Sans Serif"/>
                <a:cs typeface="Microsoft Sans Serif"/>
              </a:rPr>
              <a:t>alvo:</a:t>
            </a:r>
            <a:endParaRPr lang="pt-BR"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98700" y="3702050"/>
            <a:ext cx="6096000" cy="430887"/>
          </a:xfrm>
        </p:spPr>
        <p:txBody>
          <a:bodyPr/>
          <a:lstStyle/>
          <a:p>
            <a:r>
              <a:rPr lang="pt-BR" dirty="0"/>
              <a:t>Psicologia Cognitiva Aplicada</a:t>
            </a:r>
          </a:p>
        </p:txBody>
      </p:sp>
    </p:spTree>
    <p:extLst>
      <p:ext uri="{BB962C8B-B14F-4D97-AF65-F5344CB8AC3E}">
        <p14:creationId xmlns:p14="http://schemas.microsoft.com/office/powerpoint/2010/main" val="592885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Psicologia Cognitiva Aplicada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936" y="2101850"/>
            <a:ext cx="10017125" cy="393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4771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Psicologia Cognitiva Aplicada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12825" y="2229704"/>
            <a:ext cx="8313304" cy="3077766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dirty="0" err="1"/>
              <a:t>Card</a:t>
            </a:r>
            <a:r>
              <a:rPr lang="pt-BR" dirty="0"/>
              <a:t>, Moran e </a:t>
            </a:r>
            <a:r>
              <a:rPr lang="pt-BR" dirty="0" err="1"/>
              <a:t>Newell</a:t>
            </a:r>
            <a:r>
              <a:rPr lang="pt-BR" dirty="0"/>
              <a:t> 83 propuseram uma psicologia aplicada ao processamento da informação.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dirty="0"/>
              <a:t>Segundo eles, modelos que veem o ser humano como um processador de informações fornece um arcabouço comum nos quais os modelos de memoria, percepção, tomada de decisão e comportamento podem ser integrados.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4311650"/>
            <a:ext cx="7839075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7031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4038" y="196850"/>
            <a:ext cx="5908862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Processador</a:t>
            </a:r>
            <a:r>
              <a:rPr sz="3600" spc="-90" dirty="0"/>
              <a:t> </a:t>
            </a:r>
            <a:r>
              <a:rPr sz="3600" dirty="0"/>
              <a:t>Humano</a:t>
            </a:r>
            <a:r>
              <a:rPr sz="3600" spc="-90" dirty="0"/>
              <a:t> </a:t>
            </a:r>
            <a:r>
              <a:rPr sz="3600" dirty="0"/>
              <a:t>de</a:t>
            </a:r>
            <a:r>
              <a:rPr sz="3600" spc="-90" dirty="0"/>
              <a:t> </a:t>
            </a:r>
            <a:r>
              <a:rPr sz="3600" spc="-10" dirty="0"/>
              <a:t>Informação</a:t>
            </a:r>
            <a:endParaRPr sz="36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idx="4294967295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7490" y="1700529"/>
            <a:ext cx="95250" cy="95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99909" y="1586229"/>
            <a:ext cx="2834005" cy="457454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5080" algn="just">
              <a:lnSpc>
                <a:spcPct val="93300"/>
              </a:lnSpc>
              <a:spcBef>
                <a:spcPts val="244"/>
              </a:spcBef>
            </a:pPr>
            <a:r>
              <a:rPr sz="1800" b="1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Perceptivo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215" dirty="0">
                <a:latin typeface="Arial"/>
                <a:cs typeface="Arial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transmite</a:t>
            </a:r>
            <a:r>
              <a:rPr sz="1800" spc="229" dirty="0">
                <a:latin typeface="Microsoft Sans Serif"/>
                <a:cs typeface="Microsoft Sans Serif"/>
              </a:rPr>
              <a:t>  </a:t>
            </a:r>
            <a:r>
              <a:rPr sz="1800" spc="-25" dirty="0">
                <a:latin typeface="Microsoft Sans Serif"/>
                <a:cs typeface="Microsoft Sans Serif"/>
              </a:rPr>
              <a:t>as </a:t>
            </a:r>
            <a:r>
              <a:rPr sz="1800" dirty="0">
                <a:latin typeface="Microsoft Sans Serif"/>
                <a:cs typeface="Microsoft Sans Serif"/>
              </a:rPr>
              <a:t>sensações</a:t>
            </a:r>
            <a:r>
              <a:rPr sz="1800" spc="1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do</a:t>
            </a:r>
            <a:r>
              <a:rPr sz="1800" spc="9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mundo</a:t>
            </a:r>
            <a:r>
              <a:rPr sz="1800" spc="9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físico </a:t>
            </a:r>
            <a:r>
              <a:rPr sz="1800" dirty="0">
                <a:latin typeface="Microsoft Sans Serif"/>
                <a:cs typeface="Microsoft Sans Serif"/>
              </a:rPr>
              <a:t>detectadas</a:t>
            </a:r>
            <a:r>
              <a:rPr sz="1800" spc="4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pelos</a:t>
            </a:r>
            <a:r>
              <a:rPr sz="1800" spc="4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sistemas </a:t>
            </a:r>
            <a:r>
              <a:rPr sz="1800" dirty="0">
                <a:latin typeface="Microsoft Sans Serif"/>
                <a:cs typeface="Microsoft Sans Serif"/>
              </a:rPr>
              <a:t>sensoriais</a:t>
            </a:r>
            <a:r>
              <a:rPr sz="1800" spc="150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do</a:t>
            </a:r>
            <a:r>
              <a:rPr sz="1800" spc="150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corpo</a:t>
            </a:r>
            <a:r>
              <a:rPr sz="1800" spc="150" dirty="0">
                <a:latin typeface="Microsoft Sans Serif"/>
                <a:cs typeface="Microsoft Sans Serif"/>
              </a:rPr>
              <a:t>  </a:t>
            </a:r>
            <a:r>
              <a:rPr sz="1800" spc="-20" dirty="0">
                <a:latin typeface="Microsoft Sans Serif"/>
                <a:cs typeface="Microsoft Sans Serif"/>
              </a:rPr>
              <a:t>para </a:t>
            </a:r>
            <a:r>
              <a:rPr sz="1800" dirty="0">
                <a:latin typeface="Microsoft Sans Serif"/>
                <a:cs typeface="Microsoft Sans Serif"/>
              </a:rPr>
              <a:t>representação</a:t>
            </a:r>
            <a:r>
              <a:rPr sz="1800" spc="80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mentais</a:t>
            </a:r>
            <a:r>
              <a:rPr sz="1800" spc="80" dirty="0">
                <a:latin typeface="Microsoft Sans Serif"/>
                <a:cs typeface="Microsoft Sans Serif"/>
              </a:rPr>
              <a:t>  </a:t>
            </a:r>
            <a:r>
              <a:rPr sz="1800" spc="-25" dirty="0">
                <a:latin typeface="Microsoft Sans Serif"/>
                <a:cs typeface="Microsoft Sans Serif"/>
              </a:rPr>
              <a:t>in- </a:t>
            </a:r>
            <a:r>
              <a:rPr sz="1800" spc="-10" dirty="0">
                <a:latin typeface="Microsoft Sans Serif"/>
                <a:cs typeface="Microsoft Sans Serif"/>
              </a:rPr>
              <a:t>ternas;</a:t>
            </a:r>
            <a:endParaRPr sz="1800" dirty="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93300"/>
              </a:lnSpc>
              <a:spcBef>
                <a:spcPts val="1415"/>
              </a:spcBef>
            </a:pPr>
            <a:r>
              <a:rPr sz="1800" b="1" dirty="0">
                <a:solidFill>
                  <a:schemeClr val="accent3">
                    <a:lumMod val="50000"/>
                  </a:schemeClr>
                </a:solidFill>
                <a:latin typeface="Arial"/>
                <a:cs typeface="Arial"/>
              </a:rPr>
              <a:t>Sistema</a:t>
            </a:r>
            <a:r>
              <a:rPr sz="1800" b="1" spc="-5" dirty="0">
                <a:solidFill>
                  <a:schemeClr val="accent3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chemeClr val="accent3">
                    <a:lumMod val="50000"/>
                  </a:schemeClr>
                </a:solidFill>
                <a:latin typeface="Arial"/>
                <a:cs typeface="Arial"/>
              </a:rPr>
              <a:t>cognitivo:</a:t>
            </a:r>
            <a:r>
              <a:rPr sz="1800" b="1" spc="5" dirty="0">
                <a:solidFill>
                  <a:schemeClr val="accent3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recebe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informação</a:t>
            </a:r>
            <a:r>
              <a:rPr sz="1800" spc="30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0000"/>
                </a:solidFill>
                <a:latin typeface="Microsoft Sans Serif"/>
                <a:cs typeface="Microsoft Sans Serif"/>
              </a:rPr>
              <a:t>codificada</a:t>
            </a:r>
            <a:r>
              <a:rPr sz="1800" spc="3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sim-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bolicamente</a:t>
            </a:r>
            <a:r>
              <a:rPr sz="1800" spc="225" dirty="0">
                <a:solidFill>
                  <a:schemeClr val="tx1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dos</a:t>
            </a:r>
            <a:r>
              <a:rPr sz="1800" spc="225" dirty="0">
                <a:solidFill>
                  <a:schemeClr val="tx1"/>
                </a:solidFill>
                <a:latin typeface="Microsoft Sans Serif"/>
                <a:cs typeface="Microsoft Sans Serif"/>
              </a:rPr>
              <a:t>  </a:t>
            </a:r>
            <a:r>
              <a:rPr sz="18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armaze-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namentos</a:t>
            </a:r>
            <a:r>
              <a:rPr sz="1800" spc="185" dirty="0">
                <a:solidFill>
                  <a:schemeClr val="tx1"/>
                </a:solidFill>
                <a:latin typeface="Microsoft Sans Serif"/>
                <a:cs typeface="Microsoft Sans Serif"/>
              </a:rPr>
              <a:t>  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sensoriais</a:t>
            </a:r>
            <a:r>
              <a:rPr sz="1800" spc="190" dirty="0">
                <a:solidFill>
                  <a:schemeClr val="tx1"/>
                </a:solidFill>
                <a:latin typeface="Microsoft Sans Serif"/>
                <a:cs typeface="Microsoft Sans Serif"/>
              </a:rPr>
              <a:t>   </a:t>
            </a:r>
            <a:r>
              <a:rPr sz="18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na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sua</a:t>
            </a:r>
            <a:r>
              <a:rPr sz="1800" spc="16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memória</a:t>
            </a:r>
            <a:r>
              <a:rPr sz="1800" spc="16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de</a:t>
            </a:r>
            <a:r>
              <a:rPr sz="1800" spc="155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trabalho</a:t>
            </a:r>
            <a:r>
              <a:rPr sz="1800" spc="16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chemeClr val="tx1"/>
                </a:solidFill>
                <a:latin typeface="Microsoft Sans Serif"/>
                <a:cs typeface="Microsoft Sans Serif"/>
              </a:rPr>
              <a:t>e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utiliza</a:t>
            </a:r>
            <a:r>
              <a:rPr sz="1800" spc="35" dirty="0">
                <a:solidFill>
                  <a:schemeClr val="tx1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informações</a:t>
            </a:r>
            <a:r>
              <a:rPr sz="1800" spc="40" dirty="0">
                <a:solidFill>
                  <a:schemeClr val="tx1"/>
                </a:solidFill>
                <a:latin typeface="Microsoft Sans Serif"/>
                <a:cs typeface="Microsoft Sans Serif"/>
              </a:rPr>
              <a:t>  </a:t>
            </a:r>
            <a:r>
              <a:rPr sz="18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previa-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mente</a:t>
            </a:r>
            <a:r>
              <a:rPr sz="1800" spc="195" dirty="0">
                <a:solidFill>
                  <a:schemeClr val="tx1"/>
                </a:solidFill>
                <a:latin typeface="Microsoft Sans Serif"/>
                <a:cs typeface="Microsoft Sans Serif"/>
              </a:rPr>
              <a:t>  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armazenadas</a:t>
            </a:r>
            <a:r>
              <a:rPr sz="1800" spc="215" dirty="0">
                <a:solidFill>
                  <a:schemeClr val="tx1"/>
                </a:solidFill>
                <a:latin typeface="Microsoft Sans Serif"/>
                <a:cs typeface="Microsoft Sans Serif"/>
              </a:rPr>
              <a:t>   </a:t>
            </a:r>
            <a:r>
              <a:rPr sz="1800" spc="-25" dirty="0">
                <a:solidFill>
                  <a:schemeClr val="tx1"/>
                </a:solidFill>
                <a:latin typeface="Microsoft Sans Serif"/>
                <a:cs typeface="Microsoft Sans Serif"/>
              </a:rPr>
              <a:t>na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memória</a:t>
            </a:r>
            <a:r>
              <a:rPr sz="1800" spc="200" dirty="0">
                <a:solidFill>
                  <a:schemeClr val="tx1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de</a:t>
            </a:r>
            <a:r>
              <a:rPr sz="1800" spc="200" dirty="0">
                <a:solidFill>
                  <a:schemeClr val="tx1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longo</a:t>
            </a:r>
            <a:r>
              <a:rPr sz="1800" spc="200" dirty="0">
                <a:solidFill>
                  <a:schemeClr val="tx1"/>
                </a:solidFill>
                <a:latin typeface="Microsoft Sans Serif"/>
                <a:cs typeface="Microsoft Sans Serif"/>
              </a:rPr>
              <a:t>  </a:t>
            </a:r>
            <a:r>
              <a:rPr sz="1800" spc="-20" dirty="0">
                <a:solidFill>
                  <a:schemeClr val="tx1"/>
                </a:solidFill>
                <a:latin typeface="Microsoft Sans Serif"/>
                <a:cs typeface="Microsoft Sans Serif"/>
              </a:rPr>
              <a:t>prazo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para</a:t>
            </a:r>
            <a:r>
              <a:rPr sz="1800" spc="330" dirty="0">
                <a:solidFill>
                  <a:schemeClr val="tx1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rgbClr val="FF0000"/>
                </a:solidFill>
                <a:latin typeface="Microsoft Sans Serif"/>
                <a:cs typeface="Microsoft Sans Serif"/>
              </a:rPr>
              <a:t>tomar</a:t>
            </a:r>
            <a:r>
              <a:rPr sz="1800" spc="330" dirty="0">
                <a:solidFill>
                  <a:srgbClr val="FF0000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rgbClr val="FF0000"/>
                </a:solidFill>
                <a:latin typeface="Microsoft Sans Serif"/>
                <a:cs typeface="Microsoft Sans Serif"/>
              </a:rPr>
              <a:t>as</a:t>
            </a:r>
            <a:r>
              <a:rPr sz="1800" spc="335" dirty="0">
                <a:solidFill>
                  <a:srgbClr val="FF0000"/>
                </a:solidFill>
                <a:latin typeface="Microsoft Sans Serif"/>
                <a:cs typeface="Microsoft Sans Serif"/>
              </a:rPr>
              <a:t>  </a:t>
            </a:r>
            <a:r>
              <a:rPr sz="1800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decisões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como</a:t>
            </a:r>
            <a:r>
              <a:rPr sz="1800" spc="35" dirty="0">
                <a:solidFill>
                  <a:schemeClr val="tx1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responder</a:t>
            </a:r>
            <a:r>
              <a:rPr sz="1800" spc="45" dirty="0">
                <a:solidFill>
                  <a:schemeClr val="tx1"/>
                </a:solidFill>
                <a:latin typeface="Microsoft Sans Serif"/>
                <a:cs typeface="Microsoft Sans Serif"/>
              </a:rPr>
              <a:t> 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aos</a:t>
            </a:r>
            <a:r>
              <a:rPr sz="1800" spc="45" dirty="0">
                <a:solidFill>
                  <a:schemeClr val="tx1"/>
                </a:solidFill>
                <a:latin typeface="Microsoft Sans Serif"/>
                <a:cs typeface="Microsoft Sans Serif"/>
              </a:rPr>
              <a:t>  </a:t>
            </a:r>
            <a:r>
              <a:rPr sz="18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estí- </a:t>
            </a:r>
            <a:r>
              <a:rPr sz="1800" dirty="0">
                <a:solidFill>
                  <a:schemeClr val="tx1"/>
                </a:solidFill>
                <a:latin typeface="Microsoft Sans Serif"/>
                <a:cs typeface="Microsoft Sans Serif"/>
              </a:rPr>
              <a:t>mulos</a:t>
            </a:r>
            <a:r>
              <a:rPr sz="1800" spc="-5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chemeClr val="tx1"/>
                </a:solidFill>
                <a:latin typeface="Microsoft Sans Serif"/>
                <a:cs typeface="Microsoft Sans Serif"/>
              </a:rPr>
              <a:t>recebidos.</a:t>
            </a:r>
            <a:endParaRPr sz="1800" dirty="0">
              <a:solidFill>
                <a:schemeClr val="tx1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7490" y="3416300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411" y="1472545"/>
            <a:ext cx="6261255" cy="4776201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9101" y="196850"/>
            <a:ext cx="5715000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Processador</a:t>
            </a:r>
            <a:r>
              <a:rPr sz="3600" spc="-90" dirty="0"/>
              <a:t> </a:t>
            </a:r>
            <a:r>
              <a:rPr sz="3600" dirty="0"/>
              <a:t>Humano</a:t>
            </a:r>
            <a:r>
              <a:rPr sz="3600" spc="-90" dirty="0"/>
              <a:t> </a:t>
            </a:r>
            <a:r>
              <a:rPr sz="3600" dirty="0"/>
              <a:t>de</a:t>
            </a:r>
            <a:r>
              <a:rPr sz="3600" spc="-90" dirty="0"/>
              <a:t> </a:t>
            </a:r>
            <a:r>
              <a:rPr sz="3600" spc="-10" dirty="0"/>
              <a:t>Informação</a:t>
            </a:r>
            <a:endParaRPr sz="360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idx="4294967295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7490" y="1700529"/>
            <a:ext cx="95250" cy="95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99909" y="1586229"/>
            <a:ext cx="2833370" cy="132334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5080" algn="just">
              <a:lnSpc>
                <a:spcPct val="93300"/>
              </a:lnSpc>
              <a:spcBef>
                <a:spcPts val="244"/>
              </a:spcBef>
            </a:pP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Sistema</a:t>
            </a:r>
            <a:r>
              <a:rPr sz="1800" b="1" spc="3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motor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34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</a:t>
            </a:r>
            <a:r>
              <a:rPr sz="1800" spc="36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pensa- </a:t>
            </a:r>
            <a:r>
              <a:rPr sz="1800" dirty="0">
                <a:solidFill>
                  <a:srgbClr val="FF0000"/>
                </a:solidFill>
                <a:latin typeface="Microsoft Sans Serif"/>
                <a:cs typeface="Microsoft Sans Serif"/>
              </a:rPr>
              <a:t>mento</a:t>
            </a:r>
            <a:r>
              <a:rPr sz="1800" spc="6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</a:t>
            </a:r>
            <a:r>
              <a:rPr sz="1800" spc="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traduzido</a:t>
            </a:r>
            <a:r>
              <a:rPr sz="1800" spc="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em</a:t>
            </a:r>
            <a:r>
              <a:rPr sz="1800" spc="7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ação </a:t>
            </a:r>
            <a:r>
              <a:rPr sz="1800" dirty="0">
                <a:latin typeface="Microsoft Sans Serif"/>
                <a:cs typeface="Microsoft Sans Serif"/>
              </a:rPr>
              <a:t>através</a:t>
            </a:r>
            <a:r>
              <a:rPr sz="1800" spc="2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da</a:t>
            </a:r>
            <a:r>
              <a:rPr sz="1800" spc="2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ativação</a:t>
            </a:r>
            <a:r>
              <a:rPr sz="1800" spc="2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</a:t>
            </a:r>
            <a:r>
              <a:rPr sz="1800" spc="2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pa- </a:t>
            </a:r>
            <a:r>
              <a:rPr sz="1800" dirty="0">
                <a:latin typeface="Microsoft Sans Serif"/>
                <a:cs typeface="Microsoft Sans Serif"/>
              </a:rPr>
              <a:t>drões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músculos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voluntá- </a:t>
            </a:r>
            <a:r>
              <a:rPr sz="1800" dirty="0">
                <a:latin typeface="Microsoft Sans Serif"/>
                <a:cs typeface="Microsoft Sans Serif"/>
              </a:rPr>
              <a:t>rios,</a:t>
            </a:r>
            <a:r>
              <a:rPr sz="1800" spc="3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em</a:t>
            </a:r>
            <a:r>
              <a:rPr sz="1800" spc="3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uma</a:t>
            </a:r>
            <a:r>
              <a:rPr sz="1800" spc="3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série</a:t>
            </a:r>
            <a:r>
              <a:rPr sz="1800" spc="3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</a:t>
            </a:r>
            <a:r>
              <a:rPr sz="1800" spc="35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mi-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94201" y="2866390"/>
            <a:ext cx="939800" cy="55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85"/>
              </a:lnSpc>
              <a:spcBef>
                <a:spcPts val="100"/>
              </a:spcBef>
            </a:pPr>
            <a:r>
              <a:rPr sz="1800" spc="-10" dirty="0">
                <a:latin typeface="Microsoft Sans Serif"/>
                <a:cs typeface="Microsoft Sans Serif"/>
              </a:rPr>
              <a:t>discretos</a:t>
            </a:r>
            <a:endParaRPr sz="1800">
              <a:latin typeface="Microsoft Sans Serif"/>
              <a:cs typeface="Microsoft Sans Serif"/>
            </a:endParaRPr>
          </a:p>
          <a:p>
            <a:pPr marL="76200">
              <a:lnSpc>
                <a:spcPts val="2085"/>
              </a:lnSpc>
            </a:pPr>
            <a:r>
              <a:rPr sz="1800" b="1" spc="-10" dirty="0">
                <a:latin typeface="Arial"/>
                <a:cs typeface="Arial"/>
              </a:rPr>
              <a:t>sistema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99909" y="2866390"/>
            <a:ext cx="1739264" cy="81153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5080">
              <a:lnSpc>
                <a:spcPct val="93300"/>
              </a:lnSpc>
              <a:spcBef>
                <a:spcPts val="244"/>
              </a:spcBef>
              <a:tabLst>
                <a:tab pos="1296035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cromovimentos realizados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25" dirty="0">
                <a:latin typeface="Microsoft Sans Serif"/>
                <a:cs typeface="Microsoft Sans Serif"/>
              </a:rPr>
              <a:t>pelo </a:t>
            </a:r>
            <a:r>
              <a:rPr sz="1800" b="1" spc="-10" dirty="0">
                <a:latin typeface="Arial"/>
                <a:cs typeface="Arial"/>
              </a:rPr>
              <a:t>motor</a:t>
            </a:r>
            <a:r>
              <a:rPr sz="1800" spc="-10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411" y="1472545"/>
            <a:ext cx="6261255" cy="4776201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38" y="2101850"/>
            <a:ext cx="7934325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3324038" y="196850"/>
            <a:ext cx="5908862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Processador</a:t>
            </a:r>
            <a:r>
              <a:rPr sz="3600" spc="-90" dirty="0"/>
              <a:t> </a:t>
            </a:r>
            <a:r>
              <a:rPr sz="3600" dirty="0"/>
              <a:t>Humano</a:t>
            </a:r>
            <a:r>
              <a:rPr sz="3600" spc="-90" dirty="0"/>
              <a:t> </a:t>
            </a:r>
            <a:r>
              <a:rPr sz="3600" dirty="0"/>
              <a:t>de</a:t>
            </a:r>
            <a:r>
              <a:rPr sz="3600" spc="-90" dirty="0"/>
              <a:t> </a:t>
            </a:r>
            <a:r>
              <a:rPr sz="3600" spc="-10" dirty="0"/>
              <a:t>Informação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3041477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Princípios</a:t>
            </a:r>
            <a:r>
              <a:rPr lang="pt-BR" spc="-105" dirty="0"/>
              <a:t> </a:t>
            </a:r>
            <a:r>
              <a:rPr lang="pt-BR" dirty="0"/>
              <a:t>de</a:t>
            </a:r>
            <a:r>
              <a:rPr lang="pt-BR" spc="-100" dirty="0"/>
              <a:t> </a:t>
            </a:r>
            <a:r>
              <a:rPr lang="pt-BR" spc="-10" dirty="0"/>
              <a:t>Gestalt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06724" y="2270145"/>
            <a:ext cx="8530976" cy="3016210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800" dirty="0"/>
              <a:t>Segundo </a:t>
            </a:r>
            <a:r>
              <a:rPr lang="pt-BR" sz="2800" dirty="0" err="1"/>
              <a:t>Ware</a:t>
            </a:r>
            <a:r>
              <a:rPr lang="pt-BR" sz="2800" dirty="0"/>
              <a:t> (2003), muito da nossa inteligência pode ser caracterizada pela identificação de padrões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800" dirty="0"/>
              <a:t>O sistema visual reconhece padrões.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800" dirty="0"/>
              <a:t>Objetivo do design mapear dados em forma visual compatível com nossas capacidades perceptivas</a:t>
            </a:r>
          </a:p>
        </p:txBody>
      </p:sp>
    </p:spTree>
    <p:extLst>
      <p:ext uri="{BB962C8B-B14F-4D97-AF65-F5344CB8AC3E}">
        <p14:creationId xmlns:p14="http://schemas.microsoft.com/office/powerpoint/2010/main" val="2817060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dirty="0"/>
              <a:t>Princípios</a:t>
            </a:r>
            <a:r>
              <a:rPr spc="-105" dirty="0"/>
              <a:t> </a:t>
            </a:r>
            <a:r>
              <a:rPr dirty="0"/>
              <a:t>de</a:t>
            </a:r>
            <a:r>
              <a:rPr spc="-100" dirty="0"/>
              <a:t> </a:t>
            </a:r>
            <a:r>
              <a:rPr spc="-10" dirty="0"/>
              <a:t>Gestalt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4294967295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1877060"/>
            <a:ext cx="95250" cy="95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3289" y="1729740"/>
            <a:ext cx="7009765" cy="389382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8255" algn="just">
              <a:lnSpc>
                <a:spcPts val="2460"/>
              </a:lnSpc>
              <a:spcBef>
                <a:spcPts val="330"/>
              </a:spcBef>
            </a:pPr>
            <a:r>
              <a:rPr sz="2200" b="1" dirty="0">
                <a:latin typeface="Arial"/>
                <a:cs typeface="Arial"/>
              </a:rPr>
              <a:t>Proximidade</a:t>
            </a:r>
            <a:r>
              <a:rPr sz="2200" dirty="0">
                <a:latin typeface="Microsoft Sans Serif"/>
                <a:cs typeface="Microsoft Sans Serif"/>
              </a:rPr>
              <a:t>:</a:t>
            </a:r>
            <a:r>
              <a:rPr sz="2200" spc="10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as</a:t>
            </a:r>
            <a:r>
              <a:rPr sz="2200" spc="10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entidades</a:t>
            </a:r>
            <a:r>
              <a:rPr sz="2200" spc="10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visuais</a:t>
            </a:r>
            <a:r>
              <a:rPr sz="2200" spc="10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que</a:t>
            </a:r>
            <a:r>
              <a:rPr sz="2200" spc="10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estão</a:t>
            </a:r>
            <a:r>
              <a:rPr sz="2200" spc="10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próximas </a:t>
            </a:r>
            <a:r>
              <a:rPr sz="2200" dirty="0">
                <a:latin typeface="Microsoft Sans Serif"/>
                <a:cs typeface="Microsoft Sans Serif"/>
              </a:rPr>
              <a:t>umas</a:t>
            </a:r>
            <a:r>
              <a:rPr sz="2200" spc="50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das</a:t>
            </a:r>
            <a:r>
              <a:rPr sz="2200" spc="49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outras</a:t>
            </a:r>
            <a:r>
              <a:rPr sz="2200" spc="49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são</a:t>
            </a:r>
            <a:r>
              <a:rPr sz="2200" spc="49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percebidas</a:t>
            </a:r>
            <a:r>
              <a:rPr sz="2200" spc="50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como</a:t>
            </a:r>
            <a:r>
              <a:rPr sz="2200" spc="49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um</a:t>
            </a:r>
            <a:r>
              <a:rPr sz="2200" spc="48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grupo</a:t>
            </a:r>
            <a:r>
              <a:rPr sz="2200" spc="500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ou </a:t>
            </a:r>
            <a:r>
              <a:rPr sz="2200" spc="-10" dirty="0">
                <a:latin typeface="Microsoft Sans Serif"/>
                <a:cs typeface="Microsoft Sans Serif"/>
              </a:rPr>
              <a:t>unidade;</a:t>
            </a:r>
            <a:endParaRPr sz="22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2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2200" dirty="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ts val="2460"/>
              </a:lnSpc>
            </a:pPr>
            <a:r>
              <a:rPr sz="2200" b="1" dirty="0">
                <a:latin typeface="Arial"/>
                <a:cs typeface="Arial"/>
              </a:rPr>
              <a:t>Boa</a:t>
            </a:r>
            <a:r>
              <a:rPr sz="2200" b="1" spc="25" dirty="0">
                <a:latin typeface="Arial"/>
                <a:cs typeface="Arial"/>
              </a:rPr>
              <a:t>  </a:t>
            </a:r>
            <a:r>
              <a:rPr sz="2200" b="1" dirty="0">
                <a:latin typeface="Arial"/>
                <a:cs typeface="Arial"/>
              </a:rPr>
              <a:t>continuidade</a:t>
            </a:r>
            <a:r>
              <a:rPr sz="2200" dirty="0">
                <a:latin typeface="Microsoft Sans Serif"/>
                <a:cs typeface="Microsoft Sans Serif"/>
              </a:rPr>
              <a:t>:</a:t>
            </a:r>
            <a:r>
              <a:rPr sz="2200" spc="5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traços</a:t>
            </a:r>
            <a:r>
              <a:rPr sz="2200" spc="5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contínuos</a:t>
            </a:r>
            <a:r>
              <a:rPr sz="2200" spc="5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são</a:t>
            </a:r>
            <a:r>
              <a:rPr sz="2200" spc="55" dirty="0">
                <a:latin typeface="Microsoft Sans Serif"/>
                <a:cs typeface="Microsoft Sans Serif"/>
              </a:rPr>
              <a:t>  </a:t>
            </a:r>
            <a:r>
              <a:rPr sz="2200" spc="-10" dirty="0">
                <a:latin typeface="Microsoft Sans Serif"/>
                <a:cs typeface="Microsoft Sans Serif"/>
              </a:rPr>
              <a:t>percebidos </a:t>
            </a:r>
            <a:r>
              <a:rPr sz="2200" dirty="0">
                <a:latin typeface="Microsoft Sans Serif"/>
                <a:cs typeface="Microsoft Sans Serif"/>
              </a:rPr>
              <a:t>mais</a:t>
            </a:r>
            <a:r>
              <a:rPr sz="2200" spc="1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prontamente</a:t>
            </a:r>
            <a:r>
              <a:rPr sz="2200" spc="1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do</a:t>
            </a:r>
            <a:r>
              <a:rPr sz="2200" spc="1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que</a:t>
            </a:r>
            <a:r>
              <a:rPr sz="2200" spc="1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contornos</a:t>
            </a:r>
            <a:r>
              <a:rPr sz="2200" spc="1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que</a:t>
            </a:r>
            <a:r>
              <a:rPr sz="2200" spc="1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mudem</a:t>
            </a:r>
            <a:r>
              <a:rPr sz="2200" spc="1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de</a:t>
            </a:r>
            <a:r>
              <a:rPr sz="2200" spc="135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di- </a:t>
            </a:r>
            <a:r>
              <a:rPr sz="2200" dirty="0">
                <a:latin typeface="Microsoft Sans Serif"/>
                <a:cs typeface="Microsoft Sans Serif"/>
              </a:rPr>
              <a:t>reção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rapidamente;</a:t>
            </a:r>
            <a:endParaRPr sz="22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2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2200" dirty="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ts val="2460"/>
              </a:lnSpc>
            </a:pPr>
            <a:r>
              <a:rPr sz="2200" b="1" dirty="0">
                <a:latin typeface="Arial"/>
                <a:cs typeface="Arial"/>
              </a:rPr>
              <a:t>Simetria</a:t>
            </a:r>
            <a:r>
              <a:rPr sz="2200" dirty="0">
                <a:latin typeface="Microsoft Sans Serif"/>
                <a:cs typeface="Microsoft Sans Serif"/>
              </a:rPr>
              <a:t>: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objetos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simétricos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são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mais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prontamente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per- </a:t>
            </a:r>
            <a:r>
              <a:rPr sz="2200" dirty="0">
                <a:latin typeface="Microsoft Sans Serif"/>
                <a:cs typeface="Microsoft Sans Serif"/>
              </a:rPr>
              <a:t>cebidos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do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que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objetos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assimétricos;</a:t>
            </a:r>
            <a:endParaRPr sz="2200" dirty="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3487420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5097779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00059" y="3347720"/>
            <a:ext cx="1554479" cy="11518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40700" y="1619250"/>
            <a:ext cx="1399540" cy="10795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00059" y="5039359"/>
            <a:ext cx="1755140" cy="786933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dirty="0"/>
              <a:t>Princípios</a:t>
            </a:r>
            <a:r>
              <a:rPr spc="-105" dirty="0"/>
              <a:t> </a:t>
            </a:r>
            <a:r>
              <a:rPr dirty="0"/>
              <a:t>de</a:t>
            </a:r>
            <a:r>
              <a:rPr spc="-100" dirty="0"/>
              <a:t> </a:t>
            </a:r>
            <a:r>
              <a:rPr spc="-10" dirty="0"/>
              <a:t>Gestalt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4294967295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2282189"/>
            <a:ext cx="95250" cy="95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3289" y="2118359"/>
            <a:ext cx="6649720" cy="279019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algn="just">
              <a:lnSpc>
                <a:spcPts val="2680"/>
              </a:lnSpc>
              <a:spcBef>
                <a:spcPts val="355"/>
              </a:spcBef>
            </a:pPr>
            <a:r>
              <a:rPr sz="2400" b="1" dirty="0">
                <a:latin typeface="Arial"/>
                <a:cs typeface="Arial"/>
              </a:rPr>
              <a:t>Similaridade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r>
              <a:rPr sz="2400" spc="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objetos</a:t>
            </a:r>
            <a:r>
              <a:rPr sz="2400" spc="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semelhantes</a:t>
            </a:r>
            <a:r>
              <a:rPr sz="2400" spc="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são</a:t>
            </a:r>
            <a:r>
              <a:rPr sz="2400" spc="8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percebi- </a:t>
            </a:r>
            <a:r>
              <a:rPr sz="2400" dirty="0">
                <a:latin typeface="Microsoft Sans Serif"/>
                <a:cs typeface="Microsoft Sans Serif"/>
              </a:rPr>
              <a:t>dos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como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um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grupo;</a:t>
            </a:r>
            <a:endParaRPr sz="2400">
              <a:latin typeface="Microsoft Sans Serif"/>
              <a:cs typeface="Microsoft Sans Serif"/>
            </a:endParaRPr>
          </a:p>
          <a:p>
            <a:pPr marL="12700" marR="8255" algn="just">
              <a:lnSpc>
                <a:spcPts val="2670"/>
              </a:lnSpc>
              <a:spcBef>
                <a:spcPts val="1420"/>
              </a:spcBef>
            </a:pPr>
            <a:r>
              <a:rPr sz="2400" b="1" dirty="0">
                <a:latin typeface="Arial"/>
                <a:cs typeface="Arial"/>
              </a:rPr>
              <a:t>Destino</a:t>
            </a:r>
            <a:r>
              <a:rPr sz="2400" b="1" spc="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comum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r>
              <a:rPr sz="2400" spc="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objetos</a:t>
            </a:r>
            <a:r>
              <a:rPr sz="2400" spc="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</a:t>
            </a:r>
            <a:r>
              <a:rPr sz="2400" spc="1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mesma</a:t>
            </a:r>
            <a:r>
              <a:rPr sz="2400" spc="9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direção </a:t>
            </a:r>
            <a:r>
              <a:rPr sz="2400" dirty="0">
                <a:latin typeface="Microsoft Sans Serif"/>
                <a:cs typeface="Microsoft Sans Serif"/>
              </a:rPr>
              <a:t>de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movimento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são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percebidos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como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um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grupo;</a:t>
            </a:r>
            <a:endParaRPr sz="2400">
              <a:latin typeface="Microsoft Sans Serif"/>
              <a:cs typeface="Microsoft Sans Serif"/>
            </a:endParaRPr>
          </a:p>
          <a:p>
            <a:pPr marL="12700" marR="10795" algn="just">
              <a:lnSpc>
                <a:spcPct val="92900"/>
              </a:lnSpc>
              <a:spcBef>
                <a:spcPts val="1370"/>
              </a:spcBef>
            </a:pPr>
            <a:r>
              <a:rPr sz="2400" b="1" dirty="0">
                <a:latin typeface="Arial"/>
                <a:cs typeface="Arial"/>
              </a:rPr>
              <a:t>Fecho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r>
              <a:rPr sz="2400" spc="3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3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mente</a:t>
            </a:r>
            <a:r>
              <a:rPr sz="2400" spc="3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tende</a:t>
            </a:r>
            <a:r>
              <a:rPr sz="2400" spc="2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3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fechar</a:t>
            </a:r>
            <a:r>
              <a:rPr sz="2400" spc="3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contornos</a:t>
            </a:r>
            <a:r>
              <a:rPr sz="2400" spc="30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para </a:t>
            </a:r>
            <a:r>
              <a:rPr sz="2400" dirty="0">
                <a:latin typeface="Microsoft Sans Serif"/>
                <a:cs typeface="Microsoft Sans Serif"/>
              </a:rPr>
              <a:t>completar</a:t>
            </a:r>
            <a:r>
              <a:rPr sz="2400" spc="120" dirty="0">
                <a:latin typeface="Microsoft Sans Serif"/>
                <a:cs typeface="Microsoft Sans Serif"/>
              </a:rPr>
              <a:t>  </a:t>
            </a:r>
            <a:r>
              <a:rPr sz="2400" dirty="0">
                <a:latin typeface="Microsoft Sans Serif"/>
                <a:cs typeface="Microsoft Sans Serif"/>
              </a:rPr>
              <a:t>figuras</a:t>
            </a:r>
            <a:r>
              <a:rPr sz="2400" spc="114" dirty="0">
                <a:latin typeface="Microsoft Sans Serif"/>
                <a:cs typeface="Microsoft Sans Serif"/>
              </a:rPr>
              <a:t>  </a:t>
            </a:r>
            <a:r>
              <a:rPr sz="2400" dirty="0">
                <a:latin typeface="Microsoft Sans Serif"/>
                <a:cs typeface="Microsoft Sans Serif"/>
              </a:rPr>
              <a:t>regulares,</a:t>
            </a:r>
            <a:r>
              <a:rPr sz="2400" spc="120" dirty="0">
                <a:latin typeface="Microsoft Sans Serif"/>
                <a:cs typeface="Microsoft Sans Serif"/>
              </a:rPr>
              <a:t>  </a:t>
            </a:r>
            <a:r>
              <a:rPr sz="2400" dirty="0">
                <a:latin typeface="Microsoft Sans Serif"/>
                <a:cs typeface="Microsoft Sans Serif"/>
              </a:rPr>
              <a:t>“completando</a:t>
            </a:r>
            <a:r>
              <a:rPr sz="2400" spc="114" dirty="0">
                <a:latin typeface="Microsoft Sans Serif"/>
                <a:cs typeface="Microsoft Sans Serif"/>
              </a:rPr>
              <a:t>  </a:t>
            </a:r>
            <a:r>
              <a:rPr sz="2400" spc="-25" dirty="0">
                <a:latin typeface="Microsoft Sans Serif"/>
                <a:cs typeface="Microsoft Sans Serif"/>
              </a:rPr>
              <a:t>as </a:t>
            </a:r>
            <a:r>
              <a:rPr sz="2400" dirty="0">
                <a:latin typeface="Microsoft Sans Serif"/>
                <a:cs typeface="Microsoft Sans Serif"/>
              </a:rPr>
              <a:t>falhas”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aumentando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regularidade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3141979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4001770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8580" y="3060700"/>
            <a:ext cx="2032000" cy="9347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59090" y="4319270"/>
            <a:ext cx="1220470" cy="8636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00059" y="1761489"/>
            <a:ext cx="1131570" cy="111760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4500" y="577850"/>
            <a:ext cx="5766435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09925" algn="l"/>
              </a:tabLst>
            </a:pPr>
            <a:r>
              <a:rPr spc="-10" dirty="0" err="1"/>
              <a:t>Engenharia</a:t>
            </a:r>
            <a:r>
              <a:rPr lang="pt-BR" dirty="0"/>
              <a:t> </a:t>
            </a:r>
            <a:r>
              <a:rPr spc="-10" dirty="0" err="1"/>
              <a:t>Cognitiva</a:t>
            </a: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idx="4294967295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079500" y="1950891"/>
            <a:ext cx="8500110" cy="402405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89535" marR="91440" indent="3175" algn="ctr">
              <a:lnSpc>
                <a:spcPct val="92900"/>
              </a:lnSpc>
              <a:spcBef>
                <a:spcPts val="305"/>
              </a:spcBef>
            </a:pPr>
            <a:r>
              <a:rPr sz="2400" b="1" dirty="0">
                <a:latin typeface="Microsoft Sans Serif"/>
                <a:cs typeface="Microsoft Sans Serif"/>
              </a:rPr>
              <a:t>“Foi</a:t>
            </a:r>
            <a:r>
              <a:rPr sz="2400" b="1" spc="-50" dirty="0">
                <a:latin typeface="Microsoft Sans Serif"/>
                <a:cs typeface="Microsoft Sans Serif"/>
              </a:rPr>
              <a:t> </a:t>
            </a:r>
            <a:r>
              <a:rPr sz="2400" b="1" spc="-10" dirty="0">
                <a:latin typeface="Microsoft Sans Serif"/>
                <a:cs typeface="Microsoft Sans Serif"/>
              </a:rPr>
              <a:t>concebida</a:t>
            </a:r>
            <a:r>
              <a:rPr sz="2400" b="1" spc="-55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por</a:t>
            </a:r>
            <a:r>
              <a:rPr sz="2400" b="1" spc="-50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Donald</a:t>
            </a:r>
            <a:r>
              <a:rPr sz="2400" b="1" spc="-55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Norman</a:t>
            </a:r>
            <a:r>
              <a:rPr sz="2400" b="1" spc="-55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em</a:t>
            </a:r>
            <a:r>
              <a:rPr sz="2400" b="1" spc="-50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1986</a:t>
            </a:r>
            <a:r>
              <a:rPr sz="2400" b="1" spc="-50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como</a:t>
            </a:r>
            <a:r>
              <a:rPr sz="2400" b="1" spc="-55" dirty="0">
                <a:latin typeface="Microsoft Sans Serif"/>
                <a:cs typeface="Microsoft Sans Serif"/>
              </a:rPr>
              <a:t> </a:t>
            </a:r>
            <a:r>
              <a:rPr sz="2400" b="1" spc="-25" dirty="0">
                <a:latin typeface="Microsoft Sans Serif"/>
                <a:cs typeface="Microsoft Sans Serif"/>
              </a:rPr>
              <a:t>uma </a:t>
            </a:r>
            <a:r>
              <a:rPr sz="2400" b="1" dirty="0">
                <a:latin typeface="Microsoft Sans Serif"/>
                <a:cs typeface="Microsoft Sans Serif"/>
              </a:rPr>
              <a:t>tentativa</a:t>
            </a:r>
            <a:r>
              <a:rPr sz="2400" b="1" spc="-70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de</a:t>
            </a:r>
            <a:r>
              <a:rPr sz="2400" b="1" spc="-55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aplicar</a:t>
            </a:r>
            <a:r>
              <a:rPr sz="2400" b="1" spc="-55" dirty="0">
                <a:latin typeface="Microsoft Sans Serif"/>
                <a:cs typeface="Microsoft Sans Serif"/>
              </a:rPr>
              <a:t> </a:t>
            </a:r>
            <a:r>
              <a:rPr sz="2400" b="1" spc="-10" dirty="0">
                <a:latin typeface="Microsoft Sans Serif"/>
                <a:cs typeface="Microsoft Sans Serif"/>
              </a:rPr>
              <a:t>conhecimentos</a:t>
            </a:r>
            <a:r>
              <a:rPr sz="2400" b="1" spc="-60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de</a:t>
            </a:r>
            <a:r>
              <a:rPr sz="2400" b="1" spc="-70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ciência</a:t>
            </a:r>
            <a:r>
              <a:rPr sz="2400" b="1" spc="-65" dirty="0">
                <a:latin typeface="Microsoft Sans Serif"/>
                <a:cs typeface="Microsoft Sans Serif"/>
              </a:rPr>
              <a:t> </a:t>
            </a:r>
            <a:r>
              <a:rPr sz="2400" b="1" spc="-10" dirty="0">
                <a:latin typeface="Microsoft Sans Serif"/>
                <a:cs typeface="Microsoft Sans Serif"/>
              </a:rPr>
              <a:t>cognitiva, psicologia</a:t>
            </a:r>
            <a:r>
              <a:rPr sz="2400" b="1" spc="-55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cognitiva</a:t>
            </a:r>
            <a:r>
              <a:rPr sz="2400" b="1" spc="-50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e</a:t>
            </a:r>
            <a:r>
              <a:rPr sz="2400" b="1" spc="-60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fatores</a:t>
            </a:r>
            <a:r>
              <a:rPr sz="2400" b="1" spc="-45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humanos</a:t>
            </a:r>
            <a:r>
              <a:rPr sz="2400" b="1" spc="-55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ao</a:t>
            </a:r>
            <a:r>
              <a:rPr sz="2400" b="1" spc="-65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design</a:t>
            </a:r>
            <a:r>
              <a:rPr sz="2400" b="1" spc="-50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e</a:t>
            </a:r>
            <a:r>
              <a:rPr sz="2400" b="1" spc="-60" dirty="0">
                <a:latin typeface="Microsoft Sans Serif"/>
                <a:cs typeface="Microsoft Sans Serif"/>
              </a:rPr>
              <a:t> </a:t>
            </a:r>
            <a:r>
              <a:rPr sz="2400" b="1" spc="-10" dirty="0">
                <a:latin typeface="Microsoft Sans Serif"/>
                <a:cs typeface="Microsoft Sans Serif"/>
              </a:rPr>
              <a:t>construção </a:t>
            </a:r>
            <a:r>
              <a:rPr sz="2400" b="1" dirty="0">
                <a:latin typeface="Microsoft Sans Serif"/>
                <a:cs typeface="Microsoft Sans Serif"/>
              </a:rPr>
              <a:t>de</a:t>
            </a:r>
            <a:r>
              <a:rPr sz="2400" b="1" spc="-45" dirty="0">
                <a:latin typeface="Microsoft Sans Serif"/>
                <a:cs typeface="Microsoft Sans Serif"/>
              </a:rPr>
              <a:t> </a:t>
            </a:r>
            <a:r>
              <a:rPr sz="2400" b="1" dirty="0">
                <a:latin typeface="Microsoft Sans Serif"/>
                <a:cs typeface="Microsoft Sans Serif"/>
              </a:rPr>
              <a:t>sistemas</a:t>
            </a:r>
            <a:r>
              <a:rPr sz="2400" b="1" spc="-35" dirty="0">
                <a:latin typeface="Microsoft Sans Serif"/>
                <a:cs typeface="Microsoft Sans Serif"/>
              </a:rPr>
              <a:t> </a:t>
            </a:r>
            <a:r>
              <a:rPr sz="2400" b="1" spc="-10" dirty="0">
                <a:latin typeface="Microsoft Sans Serif"/>
                <a:cs typeface="Microsoft Sans Serif"/>
              </a:rPr>
              <a:t>computacionais.”</a:t>
            </a:r>
            <a:endParaRPr sz="2400" b="1" dirty="0">
              <a:latin typeface="Microsoft Sans Serif"/>
              <a:cs typeface="Microsoft Sans Serif"/>
            </a:endParaRPr>
          </a:p>
          <a:p>
            <a:pPr marR="5180965" algn="ctr">
              <a:lnSpc>
                <a:spcPct val="100000"/>
              </a:lnSpc>
              <a:spcBef>
                <a:spcPts val="1210"/>
              </a:spcBef>
            </a:pPr>
            <a:r>
              <a:rPr sz="2400" dirty="0">
                <a:latin typeface="Microsoft Sans Serif"/>
                <a:cs typeface="Microsoft Sans Serif"/>
              </a:rPr>
              <a:t>Principais</a:t>
            </a:r>
            <a:r>
              <a:rPr sz="2400" spc="-1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características:</a:t>
            </a:r>
            <a:endParaRPr sz="2400" dirty="0">
              <a:latin typeface="Microsoft Sans Serif"/>
              <a:cs typeface="Microsoft Sans Serif"/>
            </a:endParaRPr>
          </a:p>
          <a:p>
            <a:pPr marL="444500" marR="5080" algn="just">
              <a:lnSpc>
                <a:spcPts val="2680"/>
              </a:lnSpc>
              <a:spcBef>
                <a:spcPts val="1465"/>
              </a:spcBef>
            </a:pPr>
            <a:r>
              <a:rPr sz="2400" dirty="0">
                <a:latin typeface="Microsoft Sans Serif"/>
                <a:cs typeface="Microsoft Sans Serif"/>
              </a:rPr>
              <a:t>Entender</a:t>
            </a:r>
            <a:r>
              <a:rPr sz="2400" spc="4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os</a:t>
            </a:r>
            <a:r>
              <a:rPr sz="2400" spc="4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princípios</a:t>
            </a:r>
            <a:r>
              <a:rPr sz="2400" spc="4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fundamentais</a:t>
            </a:r>
            <a:r>
              <a:rPr sz="2400" spc="4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</a:t>
            </a:r>
            <a:r>
              <a:rPr sz="2400" spc="3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ação</a:t>
            </a:r>
            <a:r>
              <a:rPr sz="2400" spc="3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</a:t>
            </a:r>
            <a:r>
              <a:rPr sz="2400" spc="395" dirty="0">
                <a:latin typeface="Microsoft Sans Serif"/>
                <a:cs typeface="Microsoft Sans Serif"/>
              </a:rPr>
              <a:t> </a:t>
            </a:r>
            <a:r>
              <a:rPr sz="2400" spc="-10" dirty="0" err="1">
                <a:latin typeface="Microsoft Sans Serif"/>
                <a:cs typeface="Microsoft Sans Serif"/>
              </a:rPr>
              <a:t>desempe</a:t>
            </a:r>
            <a:r>
              <a:rPr sz="2400" dirty="0" err="1">
                <a:latin typeface="Microsoft Sans Serif"/>
                <a:cs typeface="Microsoft Sans Serif"/>
              </a:rPr>
              <a:t>nho</a:t>
            </a:r>
            <a:r>
              <a:rPr sz="2400" spc="1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humano</a:t>
            </a:r>
            <a:r>
              <a:rPr sz="2400" spc="1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relevantes</a:t>
            </a:r>
            <a:r>
              <a:rPr sz="2400" spc="1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para</a:t>
            </a:r>
            <a:r>
              <a:rPr sz="2400" spc="1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</a:t>
            </a:r>
            <a:r>
              <a:rPr sz="2400" spc="140" dirty="0">
                <a:latin typeface="Microsoft Sans Serif"/>
                <a:cs typeface="Microsoft Sans Serif"/>
              </a:rPr>
              <a:t> </a:t>
            </a:r>
            <a:r>
              <a:rPr sz="2400" dirty="0" err="1">
                <a:latin typeface="Microsoft Sans Serif"/>
                <a:cs typeface="Microsoft Sans Serif"/>
              </a:rPr>
              <a:t>desenvolvimento</a:t>
            </a:r>
            <a:r>
              <a:rPr lang="pt-BR" sz="2400" dirty="0">
                <a:latin typeface="Microsoft Sans Serif"/>
                <a:cs typeface="Microsoft Sans Serif"/>
              </a:rPr>
              <a:t>.</a:t>
            </a:r>
            <a:endParaRPr sz="2400" dirty="0">
              <a:latin typeface="Microsoft Sans Serif"/>
              <a:cs typeface="Microsoft Sans Serif"/>
            </a:endParaRPr>
          </a:p>
          <a:p>
            <a:pPr marL="444500" marR="5080" algn="just">
              <a:lnSpc>
                <a:spcPts val="2670"/>
              </a:lnSpc>
              <a:spcBef>
                <a:spcPts val="1135"/>
              </a:spcBef>
            </a:pPr>
            <a:r>
              <a:rPr sz="2400" dirty="0">
                <a:latin typeface="Microsoft Sans Serif"/>
                <a:cs typeface="Microsoft Sans Serif"/>
              </a:rPr>
              <a:t>Elaborar</a:t>
            </a:r>
            <a:r>
              <a:rPr sz="2400" spc="1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sistemas</a:t>
            </a:r>
            <a:r>
              <a:rPr sz="2400" spc="1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que</a:t>
            </a:r>
            <a:r>
              <a:rPr sz="2400" spc="1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sejam</a:t>
            </a:r>
            <a:r>
              <a:rPr sz="2400" spc="155" dirty="0"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C00000"/>
                </a:solidFill>
                <a:latin typeface="Microsoft Sans Serif"/>
                <a:cs typeface="Microsoft Sans Serif"/>
              </a:rPr>
              <a:t>agradáveis</a:t>
            </a:r>
            <a:r>
              <a:rPr sz="2400" spc="15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</a:t>
            </a:r>
            <a:r>
              <a:rPr sz="2400" spc="1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usar</a:t>
            </a:r>
            <a:r>
              <a:rPr sz="2400" spc="1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</a:t>
            </a:r>
            <a:r>
              <a:rPr sz="2400" spc="1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que</a:t>
            </a:r>
            <a:r>
              <a:rPr sz="2400" spc="145" dirty="0">
                <a:latin typeface="Microsoft Sans Serif"/>
                <a:cs typeface="Microsoft Sans Serif"/>
              </a:rPr>
              <a:t> </a:t>
            </a:r>
            <a:r>
              <a:rPr sz="2400" spc="-25" dirty="0" err="1">
                <a:latin typeface="Microsoft Sans Serif"/>
                <a:cs typeface="Microsoft Sans Serif"/>
              </a:rPr>
              <a:t>en</a:t>
            </a:r>
            <a:r>
              <a:rPr sz="2400" dirty="0" err="1">
                <a:latin typeface="Microsoft Sans Serif"/>
                <a:cs typeface="Microsoft Sans Serif"/>
              </a:rPr>
              <a:t>gajem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os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usuários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até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forma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prazerosa.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320292443"/>
      </p:ext>
    </p:extLst>
  </p:cSld>
  <p:clrMapOvr>
    <a:masterClrMapping/>
  </p:clrMapOvr>
  <p:transition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41700" y="399090"/>
            <a:ext cx="6246532" cy="832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>
              <a:lnSpc>
                <a:spcPts val="2950"/>
              </a:lnSpc>
              <a:spcBef>
                <a:spcPts val="95"/>
              </a:spcBef>
            </a:pPr>
            <a:r>
              <a:rPr sz="2500" dirty="0"/>
              <a:t>Engenharia</a:t>
            </a:r>
            <a:r>
              <a:rPr sz="2500" spc="-35" dirty="0"/>
              <a:t> </a:t>
            </a:r>
            <a:r>
              <a:rPr sz="2500" spc="-10" dirty="0"/>
              <a:t>Cognitiva</a:t>
            </a:r>
            <a:endParaRPr sz="2500" dirty="0"/>
          </a:p>
          <a:p>
            <a:pPr marL="88900">
              <a:lnSpc>
                <a:spcPts val="3310"/>
              </a:lnSpc>
            </a:pPr>
            <a:r>
              <a:rPr lang="pt-BR" sz="2800" b="0" spc="160" dirty="0">
                <a:latin typeface="Verdana"/>
                <a:cs typeface="Verdana"/>
              </a:rPr>
              <a:t> 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7500" y="2283966"/>
            <a:ext cx="5564157" cy="514692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54965" algn="l"/>
              </a:tabLst>
            </a:pPr>
            <a:r>
              <a:rPr lang="pt-BR" sz="2400" dirty="0">
                <a:solidFill>
                  <a:srgbClr val="C00000"/>
                </a:solidFill>
              </a:rPr>
              <a:t>Construção de </a:t>
            </a:r>
            <a:r>
              <a:rPr lang="pt-BR" sz="2400" spc="-20" dirty="0">
                <a:solidFill>
                  <a:srgbClr val="C00000"/>
                </a:solidFill>
              </a:rPr>
              <a:t> </a:t>
            </a:r>
            <a:r>
              <a:rPr lang="pt-BR" sz="2400" u="sng" dirty="0">
                <a:solidFill>
                  <a:srgbClr val="C00000"/>
                </a:solidFill>
              </a:rPr>
              <a:t>Artefatos</a:t>
            </a:r>
            <a:r>
              <a:rPr lang="pt-BR" sz="2400" spc="5" dirty="0">
                <a:solidFill>
                  <a:srgbClr val="C00000"/>
                </a:solidFill>
              </a:rPr>
              <a:t> </a:t>
            </a:r>
            <a:r>
              <a:rPr lang="pt-BR" sz="2400" dirty="0">
                <a:solidFill>
                  <a:srgbClr val="C00000"/>
                </a:solidFill>
              </a:rPr>
              <a:t>Digitais</a:t>
            </a:r>
            <a:r>
              <a:rPr lang="pt-BR" sz="2400" spc="-10" dirty="0">
                <a:solidFill>
                  <a:srgbClr val="C00000"/>
                </a:solidFill>
              </a:rPr>
              <a:t> Interativos</a:t>
            </a: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400" dirty="0" err="1">
                <a:latin typeface="Arial MT"/>
                <a:cs typeface="Arial MT"/>
              </a:rPr>
              <a:t>Fáceis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Entender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Fáceis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Manejar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Fáceis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Memorizar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Úteis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Produtivos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Usuário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Agradáveis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 err="1">
                <a:latin typeface="Arial MT"/>
                <a:cs typeface="Arial MT"/>
              </a:rPr>
              <a:t>Usuário</a:t>
            </a:r>
            <a:endParaRPr lang="pt-BR" sz="2400" spc="-1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endParaRPr lang="pt-BR" sz="2400" spc="-1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endParaRPr lang="pt-BR" sz="2400" spc="-1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lang="pt-BR" sz="2400" dirty="0">
                <a:latin typeface="Arial MT"/>
                <a:cs typeface="Arial MT"/>
              </a:rPr>
              <a:t>Ter</a:t>
            </a:r>
            <a:r>
              <a:rPr lang="pt-BR" sz="2400" spc="-25" dirty="0">
                <a:latin typeface="Arial MT"/>
                <a:cs typeface="Arial MT"/>
              </a:rPr>
              <a:t> </a:t>
            </a:r>
            <a:r>
              <a:rPr lang="pt-BR" sz="2400" dirty="0">
                <a:latin typeface="Arial MT"/>
                <a:cs typeface="Arial MT"/>
              </a:rPr>
              <a:t>o</a:t>
            </a:r>
            <a:r>
              <a:rPr lang="pt-BR" sz="2400" spc="-25" dirty="0">
                <a:latin typeface="Arial MT"/>
                <a:cs typeface="Arial MT"/>
              </a:rPr>
              <a:t> </a:t>
            </a:r>
            <a:r>
              <a:rPr lang="pt-BR" sz="2400" dirty="0">
                <a:latin typeface="Arial MT"/>
                <a:cs typeface="Arial MT"/>
              </a:rPr>
              <a:t>processo</a:t>
            </a:r>
            <a:r>
              <a:rPr lang="pt-BR" sz="2400" spc="-45" dirty="0">
                <a:latin typeface="Arial MT"/>
                <a:cs typeface="Arial MT"/>
              </a:rPr>
              <a:t> </a:t>
            </a:r>
            <a:r>
              <a:rPr lang="pt-BR" sz="2400" dirty="0">
                <a:latin typeface="Arial MT"/>
                <a:cs typeface="Arial MT"/>
              </a:rPr>
              <a:t>cognitivo</a:t>
            </a:r>
            <a:r>
              <a:rPr lang="pt-BR" sz="2400" spc="-25" dirty="0">
                <a:latin typeface="Arial MT"/>
                <a:cs typeface="Arial MT"/>
              </a:rPr>
              <a:t> </a:t>
            </a:r>
            <a:r>
              <a:rPr lang="pt-BR" sz="2400" dirty="0">
                <a:latin typeface="Arial MT"/>
                <a:cs typeface="Arial MT"/>
              </a:rPr>
              <a:t>humano,</a:t>
            </a:r>
            <a:r>
              <a:rPr lang="pt-BR" sz="2400" spc="-40" dirty="0">
                <a:latin typeface="Arial MT"/>
                <a:cs typeface="Arial MT"/>
              </a:rPr>
              <a:t> </a:t>
            </a:r>
            <a:r>
              <a:rPr lang="pt-BR" sz="2400" dirty="0">
                <a:latin typeface="Arial MT"/>
                <a:cs typeface="Arial MT"/>
              </a:rPr>
              <a:t>e</a:t>
            </a:r>
            <a:r>
              <a:rPr lang="pt-BR" sz="2400" spc="-25" dirty="0">
                <a:latin typeface="Arial MT"/>
                <a:cs typeface="Arial MT"/>
              </a:rPr>
              <a:t> </a:t>
            </a:r>
            <a:r>
              <a:rPr lang="pt-BR" sz="2400" dirty="0">
                <a:latin typeface="Arial MT"/>
                <a:cs typeface="Arial MT"/>
              </a:rPr>
              <a:t>não</a:t>
            </a:r>
            <a:r>
              <a:rPr lang="pt-BR" sz="2400" spc="-20" dirty="0">
                <a:latin typeface="Arial MT"/>
                <a:cs typeface="Arial MT"/>
              </a:rPr>
              <a:t> </a:t>
            </a:r>
            <a:r>
              <a:rPr lang="pt-BR" sz="2400" dirty="0">
                <a:latin typeface="Arial MT"/>
                <a:cs typeface="Arial MT"/>
              </a:rPr>
              <a:t>a</a:t>
            </a:r>
            <a:r>
              <a:rPr lang="pt-BR" sz="2400" spc="-15" dirty="0">
                <a:latin typeface="Arial MT"/>
                <a:cs typeface="Arial MT"/>
              </a:rPr>
              <a:t> </a:t>
            </a:r>
            <a:r>
              <a:rPr lang="pt-BR" sz="2400" dirty="0">
                <a:latin typeface="Arial MT"/>
                <a:cs typeface="Arial MT"/>
              </a:rPr>
              <a:t>tecnologia,</a:t>
            </a:r>
            <a:r>
              <a:rPr lang="pt-BR" sz="2400" spc="-40" dirty="0">
                <a:latin typeface="Arial MT"/>
                <a:cs typeface="Arial MT"/>
              </a:rPr>
              <a:t> </a:t>
            </a:r>
            <a:r>
              <a:rPr lang="pt-BR" sz="2400" dirty="0">
                <a:latin typeface="Arial MT"/>
                <a:cs typeface="Arial MT"/>
              </a:rPr>
              <a:t>guiando</a:t>
            </a:r>
            <a:r>
              <a:rPr lang="pt-BR" sz="2400" spc="-25" dirty="0">
                <a:latin typeface="Arial MT"/>
                <a:cs typeface="Arial MT"/>
              </a:rPr>
              <a:t> </a:t>
            </a:r>
            <a:r>
              <a:rPr lang="pt-BR" sz="2400" spc="-50" dirty="0">
                <a:latin typeface="Arial MT"/>
                <a:cs typeface="Arial MT"/>
              </a:rPr>
              <a:t>o </a:t>
            </a:r>
            <a:r>
              <a:rPr lang="pt-BR" sz="2400" dirty="0">
                <a:latin typeface="Arial MT"/>
                <a:cs typeface="Arial MT"/>
              </a:rPr>
              <a:t>processo</a:t>
            </a:r>
            <a:r>
              <a:rPr lang="pt-BR" sz="2400" spc="-30" dirty="0">
                <a:latin typeface="Arial MT"/>
                <a:cs typeface="Arial MT"/>
              </a:rPr>
              <a:t> </a:t>
            </a:r>
            <a:r>
              <a:rPr lang="pt-BR" sz="2400" dirty="0">
                <a:latin typeface="Arial MT"/>
                <a:cs typeface="Arial MT"/>
              </a:rPr>
              <a:t>de</a:t>
            </a:r>
            <a:r>
              <a:rPr lang="pt-BR" sz="2400" spc="-5" dirty="0">
                <a:latin typeface="Arial MT"/>
                <a:cs typeface="Arial MT"/>
              </a:rPr>
              <a:t> </a:t>
            </a:r>
            <a:r>
              <a:rPr lang="pt-BR" sz="2400" dirty="0">
                <a:latin typeface="Arial MT"/>
                <a:cs typeface="Arial MT"/>
              </a:rPr>
              <a:t>interação</a:t>
            </a:r>
            <a:r>
              <a:rPr lang="pt-BR" sz="2400" spc="-25" dirty="0">
                <a:latin typeface="Arial MT"/>
                <a:cs typeface="Arial MT"/>
              </a:rPr>
              <a:t> </a:t>
            </a:r>
            <a:r>
              <a:rPr lang="pt-BR" sz="2400" spc="-10" dirty="0">
                <a:latin typeface="Arial MT"/>
                <a:cs typeface="Arial MT"/>
              </a:rPr>
              <a:t>homem-computador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2722" y="505454"/>
            <a:ext cx="21137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FF99"/>
                </a:solidFill>
                <a:latin typeface="Arial"/>
                <a:cs typeface="Arial"/>
              </a:rPr>
              <a:t>43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6511" y="2043683"/>
            <a:ext cx="1705863" cy="24170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82620" y="4611114"/>
            <a:ext cx="5245492" cy="14843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8933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F007F"/>
                </a:solidFill>
                <a:latin typeface="Verdana"/>
                <a:cs typeface="Verdana"/>
              </a:rPr>
              <a:t>Don</a:t>
            </a:r>
            <a:r>
              <a:rPr sz="1600" spc="105" dirty="0">
                <a:solidFill>
                  <a:srgbClr val="7F007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7F007F"/>
                </a:solidFill>
                <a:latin typeface="Verdana"/>
                <a:cs typeface="Verdana"/>
              </a:rPr>
              <a:t>Norman:</a:t>
            </a:r>
            <a:endParaRPr sz="1600" dirty="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600" dirty="0">
                <a:solidFill>
                  <a:srgbClr val="7F007F"/>
                </a:solidFill>
                <a:latin typeface="Comic Sans MS"/>
                <a:cs typeface="Comic Sans MS"/>
              </a:rPr>
              <a:t>Criador</a:t>
            </a:r>
            <a:r>
              <a:rPr sz="1600" spc="27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7F007F"/>
                </a:solidFill>
                <a:latin typeface="Comic Sans MS"/>
                <a:cs typeface="Comic Sans MS"/>
              </a:rPr>
              <a:t>da</a:t>
            </a:r>
            <a:r>
              <a:rPr sz="1600" spc="27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7F007F"/>
                </a:solidFill>
                <a:latin typeface="Comic Sans MS"/>
                <a:cs typeface="Comic Sans MS"/>
              </a:rPr>
              <a:t>Engenharia</a:t>
            </a:r>
            <a:r>
              <a:rPr sz="1600" spc="28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7F007F"/>
                </a:solidFill>
                <a:latin typeface="Comic Sans MS"/>
                <a:cs typeface="Comic Sans MS"/>
              </a:rPr>
              <a:t>Cognitiva</a:t>
            </a:r>
            <a:endParaRPr sz="1600" dirty="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1920"/>
              </a:spcBef>
            </a:pPr>
            <a:r>
              <a:rPr lang="pt-BR" sz="1600" spc="-10" dirty="0">
                <a:solidFill>
                  <a:srgbClr val="7F007F"/>
                </a:solidFill>
                <a:latin typeface="Comic Sans MS"/>
                <a:cs typeface="Comic Sans MS"/>
                <a:hlinkClick r:id="rId3"/>
              </a:rPr>
              <a:t>https://jnd.org/about-don-norman/latest-updates/</a:t>
            </a:r>
            <a:endParaRPr lang="pt-BR" sz="1600" spc="-10" dirty="0">
              <a:solidFill>
                <a:srgbClr val="7F007F"/>
              </a:solidFill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1920"/>
              </a:spcBef>
            </a:pPr>
            <a:endParaRPr sz="16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489066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6900" y="501650"/>
            <a:ext cx="5766435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09925" algn="l"/>
              </a:tabLst>
            </a:pPr>
            <a:r>
              <a:rPr spc="-10" dirty="0" err="1"/>
              <a:t>Engenhari</a:t>
            </a:r>
            <a:r>
              <a:rPr lang="pt-BR" spc="-10" dirty="0"/>
              <a:t>a </a:t>
            </a:r>
            <a:r>
              <a:rPr spc="-10" dirty="0" err="1"/>
              <a:t>Cognitiva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idx="4294967295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1877060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2980689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3973829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4968240"/>
            <a:ext cx="95250" cy="952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23289" y="1729740"/>
            <a:ext cx="8665845" cy="471551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algn="just">
              <a:lnSpc>
                <a:spcPts val="2460"/>
              </a:lnSpc>
              <a:spcBef>
                <a:spcPts val="330"/>
              </a:spcBef>
            </a:pPr>
            <a:r>
              <a:rPr sz="2200" dirty="0">
                <a:latin typeface="Microsoft Sans Serif"/>
                <a:cs typeface="Microsoft Sans Serif"/>
              </a:rPr>
              <a:t>Na</a:t>
            </a:r>
            <a:r>
              <a:rPr sz="2200" spc="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base</a:t>
            </a:r>
            <a:r>
              <a:rPr sz="2200" spc="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da</a:t>
            </a:r>
            <a:r>
              <a:rPr sz="2200" spc="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engenharia</a:t>
            </a:r>
            <a:r>
              <a:rPr sz="2200" spc="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cognitiva</a:t>
            </a:r>
            <a:r>
              <a:rPr sz="2200" spc="6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está</a:t>
            </a:r>
            <a:r>
              <a:rPr sz="2200" spc="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65" dirty="0"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0000"/>
                </a:solidFill>
                <a:latin typeface="Microsoft Sans Serif"/>
                <a:cs typeface="Microsoft Sans Serif"/>
              </a:rPr>
              <a:t>discrepância</a:t>
            </a:r>
            <a:r>
              <a:rPr sz="2200" spc="6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entre</a:t>
            </a:r>
            <a:r>
              <a:rPr sz="2200" spc="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os</a:t>
            </a:r>
            <a:r>
              <a:rPr sz="2200" spc="6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objeti-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0000"/>
                </a:solidFill>
                <a:latin typeface="Microsoft Sans Serif"/>
                <a:cs typeface="Microsoft Sans Serif"/>
              </a:rPr>
              <a:t>vos</a:t>
            </a:r>
            <a:r>
              <a:rPr sz="2200" spc="65" dirty="0">
                <a:latin typeface="Microsoft Sans Serif"/>
                <a:cs typeface="Microsoft Sans Serif"/>
              </a:rPr>
              <a:t> </a:t>
            </a:r>
            <a:r>
              <a:rPr sz="2200" i="1" dirty="0">
                <a:latin typeface="Arial"/>
                <a:cs typeface="Arial"/>
              </a:rPr>
              <a:t>expressos</a:t>
            </a:r>
            <a:r>
              <a:rPr sz="2200" i="1" spc="3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psicologicamente</a:t>
            </a:r>
            <a:r>
              <a:rPr sz="2200" i="1" spc="45" dirty="0">
                <a:latin typeface="Arial"/>
                <a:cs typeface="Arial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</a:t>
            </a:r>
            <a:r>
              <a:rPr sz="2200" spc="5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os</a:t>
            </a:r>
            <a:r>
              <a:rPr sz="2200" spc="65" dirty="0"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FF0000"/>
                </a:solidFill>
                <a:latin typeface="Microsoft Sans Serif"/>
                <a:cs typeface="Microsoft Sans Serif"/>
              </a:rPr>
              <a:t>controles</a:t>
            </a:r>
            <a:r>
              <a:rPr sz="2200" spc="6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</a:t>
            </a:r>
            <a:r>
              <a:rPr sz="2200" spc="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variáveis</a:t>
            </a:r>
            <a:r>
              <a:rPr sz="2200" spc="85" dirty="0">
                <a:latin typeface="Microsoft Sans Serif"/>
                <a:cs typeface="Microsoft Sans Serif"/>
              </a:rPr>
              <a:t> </a:t>
            </a:r>
            <a:r>
              <a:rPr sz="2200" i="1" dirty="0">
                <a:latin typeface="Arial"/>
                <a:cs typeface="Arial"/>
              </a:rPr>
              <a:t>físicas</a:t>
            </a:r>
            <a:r>
              <a:rPr sz="2200" i="1" spc="35" dirty="0">
                <a:latin typeface="Arial"/>
                <a:cs typeface="Arial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de </a:t>
            </a:r>
            <a:r>
              <a:rPr sz="2200" dirty="0">
                <a:latin typeface="Microsoft Sans Serif"/>
                <a:cs typeface="Microsoft Sans Serif"/>
              </a:rPr>
              <a:t>uma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tarefa:</a:t>
            </a:r>
            <a:endParaRPr sz="2200" dirty="0">
              <a:latin typeface="Microsoft Sans Serif"/>
              <a:cs typeface="Microsoft Sans Serif"/>
            </a:endParaRPr>
          </a:p>
          <a:p>
            <a:pPr marL="444500" marR="5715" algn="just">
              <a:lnSpc>
                <a:spcPts val="2230"/>
              </a:lnSpc>
              <a:spcBef>
                <a:spcPts val="1425"/>
              </a:spcBef>
            </a:pPr>
            <a:r>
              <a:rPr sz="2000" dirty="0">
                <a:latin typeface="Microsoft Sans Serif"/>
                <a:cs typeface="Microsoft Sans Serif"/>
              </a:rPr>
              <a:t>Uma</a:t>
            </a:r>
            <a:r>
              <a:rPr sz="2000" spc="3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pessoa</a:t>
            </a:r>
            <a:r>
              <a:rPr sz="2000" spc="3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inicia</a:t>
            </a:r>
            <a:r>
              <a:rPr sz="2000" spc="3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uma</a:t>
            </a:r>
            <a:r>
              <a:rPr sz="2000" spc="3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tarefa</a:t>
            </a:r>
            <a:r>
              <a:rPr sz="2000" spc="3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com</a:t>
            </a:r>
            <a:r>
              <a:rPr sz="2000" spc="365" dirty="0">
                <a:latin typeface="Microsoft Sans Serif"/>
                <a:cs typeface="Microsoft Sans Serif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objetivos</a:t>
            </a:r>
            <a:r>
              <a:rPr sz="2000" spc="3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</a:t>
            </a:r>
            <a:r>
              <a:rPr sz="2000" spc="320" dirty="0">
                <a:latin typeface="Microsoft Sans Serif"/>
                <a:cs typeface="Microsoft Sans Serif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intenções</a:t>
            </a:r>
            <a:r>
              <a:rPr sz="2000" dirty="0">
                <a:latin typeface="Microsoft Sans Serif"/>
                <a:cs typeface="Microsoft Sans Serif"/>
              </a:rPr>
              <a:t>,</a:t>
            </a:r>
            <a:r>
              <a:rPr sz="2000" spc="3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que</a:t>
            </a:r>
            <a:r>
              <a:rPr sz="2000" spc="3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são</a:t>
            </a:r>
            <a:r>
              <a:rPr sz="2000" spc="31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as </a:t>
            </a:r>
            <a:r>
              <a:rPr sz="2000" b="1" dirty="0">
                <a:latin typeface="Arial"/>
                <a:cs typeface="Arial"/>
              </a:rPr>
              <a:t>variáveis</a:t>
            </a:r>
            <a:r>
              <a:rPr sz="2000" b="1" spc="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psicológicas</a:t>
            </a:r>
            <a:r>
              <a:rPr sz="2000" dirty="0">
                <a:latin typeface="Microsoft Sans Serif"/>
                <a:cs typeface="Microsoft Sans Serif"/>
              </a:rPr>
              <a:t>,</a:t>
            </a:r>
            <a:r>
              <a:rPr sz="2000" spc="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que</a:t>
            </a:r>
            <a:r>
              <a:rPr sz="2000" spc="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se</a:t>
            </a:r>
            <a:r>
              <a:rPr sz="2000" spc="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relaciona</a:t>
            </a:r>
            <a:r>
              <a:rPr sz="2000" spc="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diretamente</a:t>
            </a:r>
            <a:r>
              <a:rPr sz="2000" spc="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com</a:t>
            </a:r>
            <a:r>
              <a:rPr sz="2000" spc="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suas</a:t>
            </a:r>
            <a:r>
              <a:rPr sz="2000" spc="6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neces- sidades;</a:t>
            </a:r>
            <a:endParaRPr sz="2000" dirty="0">
              <a:latin typeface="Microsoft Sans Serif"/>
              <a:cs typeface="Microsoft Sans Serif"/>
            </a:endParaRPr>
          </a:p>
          <a:p>
            <a:pPr marL="444500" marR="5715" algn="just">
              <a:lnSpc>
                <a:spcPts val="2230"/>
              </a:lnSpc>
              <a:spcBef>
                <a:spcPts val="1140"/>
              </a:spcBef>
            </a:pPr>
            <a:r>
              <a:rPr sz="2000" dirty="0">
                <a:latin typeface="Microsoft Sans Serif"/>
                <a:cs typeface="Microsoft Sans Serif"/>
              </a:rPr>
              <a:t>Mas</a:t>
            </a:r>
            <a:r>
              <a:rPr sz="2000" spc="8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as</a:t>
            </a:r>
            <a:r>
              <a:rPr sz="2000" spc="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tarefas</a:t>
            </a:r>
            <a:r>
              <a:rPr sz="2000" spc="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devem</a:t>
            </a:r>
            <a:r>
              <a:rPr sz="2000" spc="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ser</a:t>
            </a:r>
            <a:r>
              <a:rPr sz="2000" spc="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realizadas</a:t>
            </a:r>
            <a:r>
              <a:rPr sz="2000" spc="6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em</a:t>
            </a:r>
            <a:r>
              <a:rPr sz="2000" spc="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um</a:t>
            </a:r>
            <a:r>
              <a:rPr sz="2000" spc="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sistema</a:t>
            </a:r>
            <a:r>
              <a:rPr sz="2000" spc="8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físico,</a:t>
            </a:r>
            <a:r>
              <a:rPr sz="2000" spc="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com</a:t>
            </a:r>
            <a:r>
              <a:rPr sz="2000" spc="7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contro- </a:t>
            </a:r>
            <a:r>
              <a:rPr sz="2000" dirty="0">
                <a:latin typeface="Microsoft Sans Serif"/>
                <a:cs typeface="Microsoft Sans Serif"/>
              </a:rPr>
              <a:t>les</a:t>
            </a:r>
            <a:r>
              <a:rPr sz="2000" spc="16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1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serem</a:t>
            </a:r>
            <a:r>
              <a:rPr sz="2000" spc="1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manipulados,</a:t>
            </a:r>
            <a:r>
              <a:rPr sz="2000" spc="1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resultando</a:t>
            </a:r>
            <a:r>
              <a:rPr sz="2000" spc="1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em</a:t>
            </a:r>
            <a:r>
              <a:rPr sz="2000" spc="1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mudanças</a:t>
            </a:r>
            <a:r>
              <a:rPr sz="2000" spc="1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nas</a:t>
            </a:r>
            <a:r>
              <a:rPr sz="2000" spc="225" dirty="0">
                <a:latin typeface="Microsoft Sans Serif"/>
                <a:cs typeface="Microsoft Sans Serif"/>
              </a:rPr>
              <a:t> </a:t>
            </a:r>
            <a:r>
              <a:rPr sz="2000" b="1" dirty="0">
                <a:latin typeface="Arial"/>
                <a:cs typeface="Arial"/>
              </a:rPr>
              <a:t>variáveis</a:t>
            </a:r>
            <a:r>
              <a:rPr sz="2000" b="1" spc="1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físi- </a:t>
            </a:r>
            <a:r>
              <a:rPr sz="2000" b="1" dirty="0">
                <a:latin typeface="Arial"/>
                <a:cs typeface="Arial"/>
              </a:rPr>
              <a:t>cas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b="1" dirty="0">
                <a:latin typeface="Arial"/>
                <a:cs typeface="Arial"/>
              </a:rPr>
              <a:t>estado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do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sistema</a:t>
            </a:r>
            <a:r>
              <a:rPr sz="2000" spc="-10" dirty="0">
                <a:latin typeface="Microsoft Sans Serif"/>
                <a:cs typeface="Microsoft Sans Serif"/>
              </a:rPr>
              <a:t>;</a:t>
            </a:r>
            <a:endParaRPr sz="2000" dirty="0">
              <a:latin typeface="Microsoft Sans Serif"/>
              <a:cs typeface="Microsoft Sans Serif"/>
            </a:endParaRPr>
          </a:p>
          <a:p>
            <a:pPr marL="444500" marR="5715" algn="just">
              <a:lnSpc>
                <a:spcPts val="2230"/>
              </a:lnSpc>
              <a:spcBef>
                <a:spcPts val="1130"/>
              </a:spcBef>
            </a:pP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165" dirty="0">
                <a:latin typeface="Microsoft Sans Serif"/>
                <a:cs typeface="Microsoft Sans Serif"/>
              </a:rPr>
              <a:t> </a:t>
            </a:r>
            <a:r>
              <a:rPr sz="2000" u="sng" dirty="0">
                <a:latin typeface="Microsoft Sans Serif"/>
                <a:cs typeface="Microsoft Sans Serif"/>
              </a:rPr>
              <a:t>pessoa</a:t>
            </a:r>
            <a:r>
              <a:rPr sz="2000" u="sng" spc="275" dirty="0">
                <a:latin typeface="Microsoft Sans Serif"/>
                <a:cs typeface="Microsoft Sans Serif"/>
              </a:rPr>
              <a:t> </a:t>
            </a:r>
            <a:r>
              <a:rPr sz="2000" u="sng" dirty="0">
                <a:latin typeface="Microsoft Sans Serif"/>
                <a:cs typeface="Microsoft Sans Serif"/>
              </a:rPr>
              <a:t>precisa</a:t>
            </a:r>
            <a:r>
              <a:rPr sz="2000" u="sng" spc="280" dirty="0">
                <a:latin typeface="Microsoft Sans Serif"/>
                <a:cs typeface="Microsoft Sans Serif"/>
              </a:rPr>
              <a:t> </a:t>
            </a:r>
            <a:r>
              <a:rPr sz="2000" u="sng" dirty="0">
                <a:latin typeface="Microsoft Sans Serif"/>
                <a:cs typeface="Microsoft Sans Serif"/>
              </a:rPr>
              <a:t>interpretar</a:t>
            </a:r>
            <a:r>
              <a:rPr sz="2000" u="sng" spc="280" dirty="0">
                <a:latin typeface="Microsoft Sans Serif"/>
                <a:cs typeface="Microsoft Sans Serif"/>
              </a:rPr>
              <a:t> </a:t>
            </a:r>
            <a:r>
              <a:rPr sz="2000" u="sng" dirty="0">
                <a:latin typeface="Microsoft Sans Serif"/>
                <a:cs typeface="Microsoft Sans Serif"/>
              </a:rPr>
              <a:t>as</a:t>
            </a:r>
            <a:r>
              <a:rPr sz="2000" u="sng" spc="280" dirty="0">
                <a:latin typeface="Microsoft Sans Serif"/>
                <a:cs typeface="Microsoft Sans Serif"/>
              </a:rPr>
              <a:t> </a:t>
            </a:r>
            <a:r>
              <a:rPr sz="2000" u="sng" dirty="0">
                <a:latin typeface="Microsoft Sans Serif"/>
                <a:cs typeface="Microsoft Sans Serif"/>
              </a:rPr>
              <a:t>variáveis</a:t>
            </a:r>
            <a:r>
              <a:rPr sz="2000" u="sng" spc="275" dirty="0">
                <a:latin typeface="Microsoft Sans Serif"/>
                <a:cs typeface="Microsoft Sans Serif"/>
              </a:rPr>
              <a:t> </a:t>
            </a:r>
            <a:r>
              <a:rPr sz="2000" u="sng" dirty="0">
                <a:latin typeface="Microsoft Sans Serif"/>
                <a:cs typeface="Microsoft Sans Serif"/>
              </a:rPr>
              <a:t>físicas</a:t>
            </a:r>
            <a:r>
              <a:rPr sz="2000" u="sng" spc="270" dirty="0">
                <a:latin typeface="Microsoft Sans Serif"/>
                <a:cs typeface="Microsoft Sans Serif"/>
              </a:rPr>
              <a:t> </a:t>
            </a:r>
            <a:r>
              <a:rPr sz="2000" u="sng" dirty="0">
                <a:latin typeface="Microsoft Sans Serif"/>
                <a:cs typeface="Microsoft Sans Serif"/>
              </a:rPr>
              <a:t>em</a:t>
            </a:r>
            <a:r>
              <a:rPr sz="2000" u="sng" spc="270" dirty="0">
                <a:latin typeface="Microsoft Sans Serif"/>
                <a:cs typeface="Microsoft Sans Serif"/>
              </a:rPr>
              <a:t> </a:t>
            </a:r>
            <a:r>
              <a:rPr sz="2000" u="sng" dirty="0">
                <a:latin typeface="Microsoft Sans Serif"/>
                <a:cs typeface="Microsoft Sans Serif"/>
              </a:rPr>
              <a:t>termos</a:t>
            </a:r>
            <a:r>
              <a:rPr sz="2000" u="sng" spc="280" dirty="0">
                <a:latin typeface="Microsoft Sans Serif"/>
                <a:cs typeface="Microsoft Sans Serif"/>
              </a:rPr>
              <a:t> </a:t>
            </a:r>
            <a:r>
              <a:rPr sz="2000" u="sng" spc="-10" dirty="0">
                <a:latin typeface="Microsoft Sans Serif"/>
                <a:cs typeface="Microsoft Sans Serif"/>
              </a:rPr>
              <a:t>relevantes </a:t>
            </a:r>
            <a:r>
              <a:rPr sz="2000" u="sng" dirty="0">
                <a:latin typeface="Microsoft Sans Serif"/>
                <a:cs typeface="Microsoft Sans Serif"/>
              </a:rPr>
              <a:t>aos</a:t>
            </a:r>
            <a:r>
              <a:rPr sz="2000" u="sng" spc="229" dirty="0">
                <a:latin typeface="Microsoft Sans Serif"/>
                <a:cs typeface="Microsoft Sans Serif"/>
              </a:rPr>
              <a:t> </a:t>
            </a:r>
            <a:r>
              <a:rPr sz="2000" u="sng" dirty="0">
                <a:latin typeface="Microsoft Sans Serif"/>
                <a:cs typeface="Microsoft Sans Serif"/>
              </a:rPr>
              <a:t>objetivos</a:t>
            </a:r>
            <a:r>
              <a:rPr sz="2000" spc="204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psicológicos,</a:t>
            </a:r>
            <a:r>
              <a:rPr sz="2000" spc="2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</a:t>
            </a:r>
            <a:r>
              <a:rPr sz="2000" spc="2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precisa</a:t>
            </a:r>
            <a:r>
              <a:rPr sz="2000" spc="2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traduzir</a:t>
            </a:r>
            <a:r>
              <a:rPr sz="2000" spc="2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suas</a:t>
            </a:r>
            <a:r>
              <a:rPr sz="2000" spc="2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intenções</a:t>
            </a:r>
            <a:r>
              <a:rPr sz="2000" spc="2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psicológi- </a:t>
            </a:r>
            <a:r>
              <a:rPr sz="2000" dirty="0">
                <a:latin typeface="Microsoft Sans Serif"/>
                <a:cs typeface="Microsoft Sans Serif"/>
              </a:rPr>
              <a:t>cas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em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ações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físicas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sobre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controles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mecanismos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do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sistema;</a:t>
            </a:r>
            <a:endParaRPr sz="2000" dirty="0">
              <a:latin typeface="Microsoft Sans Serif"/>
              <a:cs typeface="Microsoft Sans Serif"/>
            </a:endParaRPr>
          </a:p>
          <a:p>
            <a:pPr marL="12700" marR="19050" algn="just">
              <a:lnSpc>
                <a:spcPts val="2230"/>
              </a:lnSpc>
              <a:spcBef>
                <a:spcPts val="1140"/>
              </a:spcBef>
            </a:pPr>
            <a:r>
              <a:rPr sz="2000" dirty="0">
                <a:latin typeface="Microsoft Sans Serif"/>
                <a:cs typeface="Microsoft Sans Serif"/>
              </a:rPr>
              <a:t>Isso</a:t>
            </a:r>
            <a:r>
              <a:rPr sz="2000" spc="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significa</a:t>
            </a:r>
            <a:r>
              <a:rPr sz="2000" spc="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que</a:t>
            </a:r>
            <a:r>
              <a:rPr sz="2000" spc="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deve</a:t>
            </a:r>
            <a:r>
              <a:rPr sz="2000" spc="114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haver</a:t>
            </a:r>
            <a:r>
              <a:rPr sz="2000" spc="114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um</a:t>
            </a:r>
            <a:r>
              <a:rPr sz="2000" spc="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estágio</a:t>
            </a:r>
            <a:r>
              <a:rPr sz="2000" spc="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110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0000"/>
                </a:solidFill>
                <a:latin typeface="Microsoft Sans Serif"/>
                <a:cs typeface="Microsoft Sans Serif"/>
              </a:rPr>
              <a:t>interpretação</a:t>
            </a:r>
            <a:r>
              <a:rPr sz="2000" spc="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que</a:t>
            </a:r>
            <a:r>
              <a:rPr sz="2000" spc="1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relaciona</a:t>
            </a:r>
            <a:r>
              <a:rPr sz="2000" spc="1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as </a:t>
            </a:r>
            <a:r>
              <a:rPr sz="2000" dirty="0">
                <a:latin typeface="Microsoft Sans Serif"/>
                <a:cs typeface="Microsoft Sans Serif"/>
              </a:rPr>
              <a:t>variáveis físicas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psicológicas,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mudando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 estado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físico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do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sistema.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5962650"/>
            <a:ext cx="95250" cy="9525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Engenharia Cognitiva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35325" y="2218434"/>
            <a:ext cx="7092792" cy="307777"/>
          </a:xfrm>
        </p:spPr>
        <p:txBody>
          <a:bodyPr/>
          <a:lstStyle/>
          <a:p>
            <a:r>
              <a:rPr lang="pt-BR" dirty="0"/>
              <a:t>mundo psicológico                 x                 mudo físico</a:t>
            </a:r>
            <a:endParaRPr lang="pt-BR" dirty="0">
              <a:latin typeface="Trebuchet MS"/>
              <a:cs typeface="Trebuchet MS"/>
            </a:endParaRPr>
          </a:p>
        </p:txBody>
      </p:sp>
      <p:pic>
        <p:nvPicPr>
          <p:cNvPr id="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8130" y="3060700"/>
            <a:ext cx="7084926" cy="304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0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7398" y="654050"/>
            <a:ext cx="5766435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09925" algn="l"/>
              </a:tabLst>
            </a:pPr>
            <a:r>
              <a:rPr spc="-10" dirty="0" err="1"/>
              <a:t>Engenharia</a:t>
            </a:r>
            <a:r>
              <a:rPr lang="pt-BR" dirty="0"/>
              <a:t> </a:t>
            </a:r>
            <a:r>
              <a:rPr spc="-10" dirty="0" err="1"/>
              <a:t>Cognitiva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1003300" y="1568450"/>
            <a:ext cx="7924800" cy="5014833"/>
          </a:xfrm>
          <a:prstGeom prst="rect">
            <a:avLst/>
          </a:prstGeom>
        </p:spPr>
        <p:txBody>
          <a:bodyPr vert="horz" wrap="square" lIns="0" tIns="343534" rIns="0" bIns="0" rtlCol="0">
            <a:spAutoFit/>
          </a:bodyPr>
          <a:lstStyle/>
          <a:p>
            <a:pPr marL="12700" marR="12065">
              <a:lnSpc>
                <a:spcPts val="2680"/>
              </a:lnSpc>
              <a:spcBef>
                <a:spcPts val="355"/>
              </a:spcBef>
              <a:tabLst>
                <a:tab pos="611505" algn="l"/>
                <a:tab pos="1651000" algn="l"/>
                <a:tab pos="3164205" algn="l"/>
                <a:tab pos="3627754" algn="l"/>
                <a:tab pos="4970145" algn="l"/>
                <a:tab pos="5619750" algn="l"/>
                <a:tab pos="6692265" algn="l"/>
                <a:tab pos="7258050" algn="l"/>
              </a:tabLst>
            </a:pPr>
            <a:r>
              <a:rPr lang="pt-BR" spc="-25" dirty="0"/>
              <a:t>Problemas:</a:t>
            </a:r>
            <a:endParaRPr lang="pt-BR" spc="-10" dirty="0"/>
          </a:p>
          <a:p>
            <a:pPr marL="12700" marR="12065">
              <a:lnSpc>
                <a:spcPts val="2680"/>
              </a:lnSpc>
              <a:spcBef>
                <a:spcPts val="355"/>
              </a:spcBef>
              <a:tabLst>
                <a:tab pos="611505" algn="l"/>
                <a:tab pos="1651000" algn="l"/>
                <a:tab pos="3164205" algn="l"/>
                <a:tab pos="3627754" algn="l"/>
                <a:tab pos="4970145" algn="l"/>
                <a:tab pos="5619750" algn="l"/>
                <a:tab pos="6692265" algn="l"/>
                <a:tab pos="7258050" algn="l"/>
              </a:tabLst>
            </a:pPr>
            <a:endParaRPr lang="pt-BR" sz="2200" spc="-10" dirty="0"/>
          </a:p>
          <a:p>
            <a:pPr marL="12700" marR="12065">
              <a:lnSpc>
                <a:spcPts val="2680"/>
              </a:lnSpc>
              <a:spcBef>
                <a:spcPts val="355"/>
              </a:spcBef>
              <a:tabLst>
                <a:tab pos="611505" algn="l"/>
                <a:tab pos="1651000" algn="l"/>
                <a:tab pos="3164205" algn="l"/>
                <a:tab pos="3627754" algn="l"/>
                <a:tab pos="4970145" algn="l"/>
                <a:tab pos="5619750" algn="l"/>
                <a:tab pos="6692265" algn="l"/>
                <a:tab pos="7258050" algn="l"/>
              </a:tabLst>
            </a:pPr>
            <a:r>
              <a:rPr lang="pt-BR" sz="2200" spc="-10" dirty="0"/>
              <a:t>Exemplo:</a:t>
            </a:r>
            <a:endParaRPr lang="pt-BR" sz="2200" dirty="0"/>
          </a:p>
          <a:p>
            <a:pPr marL="12700" marR="12065">
              <a:lnSpc>
                <a:spcPts val="2680"/>
              </a:lnSpc>
              <a:spcBef>
                <a:spcPts val="355"/>
              </a:spcBef>
              <a:tabLst>
                <a:tab pos="611505" algn="l"/>
                <a:tab pos="1651000" algn="l"/>
                <a:tab pos="3164205" algn="l"/>
                <a:tab pos="3627754" algn="l"/>
                <a:tab pos="4970145" algn="l"/>
                <a:tab pos="5619750" algn="l"/>
                <a:tab pos="6692265" algn="l"/>
                <a:tab pos="7258050" algn="l"/>
              </a:tabLst>
            </a:pPr>
            <a:r>
              <a:rPr lang="pt-BR" sz="2000" dirty="0"/>
              <a:t>Uma</a:t>
            </a:r>
            <a:r>
              <a:rPr lang="pt-BR" sz="2000" spc="254" dirty="0"/>
              <a:t> </a:t>
            </a:r>
            <a:r>
              <a:rPr lang="pt-BR" sz="2000" dirty="0"/>
              <a:t>torneira</a:t>
            </a:r>
            <a:r>
              <a:rPr lang="pt-BR" sz="2000" spc="240" dirty="0"/>
              <a:t> </a:t>
            </a:r>
            <a:r>
              <a:rPr lang="pt-BR" sz="2000" dirty="0"/>
              <a:t>que</a:t>
            </a:r>
            <a:r>
              <a:rPr lang="pt-BR" sz="2000" spc="240" dirty="0"/>
              <a:t> </a:t>
            </a:r>
            <a:r>
              <a:rPr lang="pt-BR" sz="2000" dirty="0"/>
              <a:t>possui</a:t>
            </a:r>
            <a:r>
              <a:rPr lang="pt-BR" sz="2000" spc="250" dirty="0"/>
              <a:t> </a:t>
            </a:r>
            <a:r>
              <a:rPr lang="pt-BR" sz="2000" dirty="0"/>
              <a:t>saída</a:t>
            </a:r>
            <a:r>
              <a:rPr lang="pt-BR" sz="2000" spc="245" dirty="0"/>
              <a:t> </a:t>
            </a:r>
            <a:r>
              <a:rPr lang="pt-BR" sz="2000" dirty="0"/>
              <a:t>de</a:t>
            </a:r>
            <a:r>
              <a:rPr lang="pt-BR" sz="2000" spc="240" dirty="0"/>
              <a:t> </a:t>
            </a:r>
            <a:r>
              <a:rPr lang="pt-BR" sz="2000" dirty="0"/>
              <a:t>água</a:t>
            </a:r>
            <a:r>
              <a:rPr lang="pt-BR" sz="2000" spc="254" dirty="0"/>
              <a:t> </a:t>
            </a:r>
            <a:r>
              <a:rPr lang="pt-BR" sz="2000" dirty="0"/>
              <a:t>quente</a:t>
            </a:r>
            <a:r>
              <a:rPr lang="pt-BR" sz="2000" spc="254" dirty="0"/>
              <a:t> </a:t>
            </a:r>
            <a:r>
              <a:rPr lang="pt-BR" sz="2000" dirty="0"/>
              <a:t>e</a:t>
            </a:r>
            <a:r>
              <a:rPr lang="pt-BR" sz="2000" spc="245" dirty="0"/>
              <a:t> </a:t>
            </a:r>
            <a:r>
              <a:rPr lang="pt-BR" sz="2000" dirty="0"/>
              <a:t>fria,</a:t>
            </a:r>
            <a:r>
              <a:rPr lang="pt-BR" sz="2000" spc="229" dirty="0"/>
              <a:t> </a:t>
            </a:r>
            <a:r>
              <a:rPr lang="pt-BR" sz="2000" dirty="0"/>
              <a:t>as</a:t>
            </a:r>
            <a:r>
              <a:rPr lang="pt-BR" sz="2000" spc="254" dirty="0"/>
              <a:t> </a:t>
            </a:r>
            <a:r>
              <a:rPr lang="pt-BR" sz="2000" spc="-10" dirty="0"/>
              <a:t>variáveis </a:t>
            </a:r>
            <a:r>
              <a:rPr lang="pt-BR" sz="2000" dirty="0"/>
              <a:t>físicas</a:t>
            </a:r>
            <a:r>
              <a:rPr lang="pt-BR" sz="2000" spc="5" dirty="0"/>
              <a:t> </a:t>
            </a:r>
            <a:r>
              <a:rPr lang="pt-BR" sz="2000" dirty="0"/>
              <a:t>que podem ser</a:t>
            </a:r>
            <a:r>
              <a:rPr lang="pt-BR" sz="2000" spc="5" dirty="0"/>
              <a:t> </a:t>
            </a:r>
            <a:r>
              <a:rPr lang="pt-BR" sz="2000" dirty="0"/>
              <a:t>manipuladas</a:t>
            </a:r>
            <a:r>
              <a:rPr lang="pt-BR" sz="2000" spc="5" dirty="0"/>
              <a:t> </a:t>
            </a:r>
            <a:r>
              <a:rPr lang="pt-BR" sz="2000" spc="-20" dirty="0"/>
              <a:t>são:</a:t>
            </a:r>
            <a:r>
              <a:rPr lang="pt-BR" dirty="0"/>
              <a:t> </a:t>
            </a:r>
            <a:r>
              <a:rPr lang="pt-BR" sz="1800" dirty="0"/>
              <a:t>Fluxo</a:t>
            </a:r>
            <a:r>
              <a:rPr lang="pt-BR" sz="1800" spc="-5" dirty="0"/>
              <a:t> </a:t>
            </a:r>
            <a:r>
              <a:rPr lang="pt-BR" sz="1800" dirty="0"/>
              <a:t>de</a:t>
            </a:r>
            <a:r>
              <a:rPr lang="pt-BR" sz="1800" spc="-5" dirty="0"/>
              <a:t> </a:t>
            </a:r>
            <a:r>
              <a:rPr lang="pt-BR" sz="1800" dirty="0"/>
              <a:t>água</a:t>
            </a:r>
            <a:r>
              <a:rPr lang="pt-BR" sz="1800" spc="-15" dirty="0"/>
              <a:t> </a:t>
            </a:r>
            <a:r>
              <a:rPr lang="pt-BR" sz="1800" dirty="0"/>
              <a:t>quente</a:t>
            </a:r>
            <a:r>
              <a:rPr lang="pt-BR" sz="1800" spc="-5" dirty="0"/>
              <a:t> </a:t>
            </a:r>
            <a:r>
              <a:rPr lang="pt-BR" sz="1800" dirty="0"/>
              <a:t>e </a:t>
            </a:r>
            <a:r>
              <a:rPr lang="pt-BR" sz="1800" spc="-20" dirty="0"/>
              <a:t>frio;</a:t>
            </a:r>
            <a:endParaRPr lang="pt-BR" sz="1800" dirty="0"/>
          </a:p>
          <a:p>
            <a:pPr marL="12700" marR="12065">
              <a:lnSpc>
                <a:spcPts val="2680"/>
              </a:lnSpc>
              <a:spcBef>
                <a:spcPts val="355"/>
              </a:spcBef>
              <a:tabLst>
                <a:tab pos="611505" algn="l"/>
                <a:tab pos="1651000" algn="l"/>
                <a:tab pos="3164205" algn="l"/>
                <a:tab pos="3627754" algn="l"/>
                <a:tab pos="4970145" algn="l"/>
                <a:tab pos="5619750" algn="l"/>
                <a:tab pos="6692265" algn="l"/>
                <a:tab pos="7258050" algn="l"/>
              </a:tabLst>
            </a:pPr>
            <a:r>
              <a:rPr lang="pt-BR" sz="2000" dirty="0"/>
              <a:t>Neste</a:t>
            </a:r>
            <a:r>
              <a:rPr lang="pt-BR" sz="2000" spc="-20" dirty="0"/>
              <a:t> </a:t>
            </a:r>
            <a:r>
              <a:rPr lang="pt-BR" sz="2000" dirty="0"/>
              <a:t>caso</a:t>
            </a:r>
            <a:r>
              <a:rPr lang="pt-BR" sz="2000" spc="-15" dirty="0"/>
              <a:t> </a:t>
            </a:r>
            <a:r>
              <a:rPr lang="pt-BR" sz="2000" dirty="0"/>
              <a:t>podemos</a:t>
            </a:r>
            <a:r>
              <a:rPr lang="pt-BR" sz="2000" spc="-10" dirty="0"/>
              <a:t> </a:t>
            </a:r>
            <a:r>
              <a:rPr lang="pt-BR" sz="2000" dirty="0"/>
              <a:t>levantar</a:t>
            </a:r>
            <a:r>
              <a:rPr lang="pt-BR" sz="2000" spc="-15" dirty="0"/>
              <a:t> </a:t>
            </a:r>
            <a:r>
              <a:rPr lang="pt-BR" sz="2000" dirty="0"/>
              <a:t>os</a:t>
            </a:r>
            <a:r>
              <a:rPr lang="pt-BR" sz="2000" spc="-10" dirty="0"/>
              <a:t> </a:t>
            </a:r>
            <a:r>
              <a:rPr lang="pt-BR" sz="2000" dirty="0"/>
              <a:t>seguintes</a:t>
            </a:r>
            <a:r>
              <a:rPr lang="pt-BR" sz="2000" spc="-15" dirty="0"/>
              <a:t> </a:t>
            </a:r>
            <a:r>
              <a:rPr lang="pt-BR" sz="2000" spc="-10" dirty="0"/>
              <a:t>casos:</a:t>
            </a:r>
            <a:endParaRPr lang="pt-BR" dirty="0"/>
          </a:p>
          <a:p>
            <a:pPr marL="12700" marR="12065">
              <a:lnSpc>
                <a:spcPts val="2680"/>
              </a:lnSpc>
              <a:spcBef>
                <a:spcPts val="355"/>
              </a:spcBef>
              <a:tabLst>
                <a:tab pos="611505" algn="l"/>
                <a:tab pos="1651000" algn="l"/>
                <a:tab pos="3164205" algn="l"/>
                <a:tab pos="3627754" algn="l"/>
                <a:tab pos="4970145" algn="l"/>
                <a:tab pos="5619750" algn="l"/>
                <a:tab pos="6692265" algn="l"/>
                <a:tab pos="7258050" algn="l"/>
              </a:tabLst>
            </a:pPr>
            <a:endParaRPr lang="pt-BR" sz="1800" b="1" dirty="0"/>
          </a:p>
          <a:p>
            <a:pPr marL="12700" marR="12065">
              <a:lnSpc>
                <a:spcPts val="2680"/>
              </a:lnSpc>
              <a:spcBef>
                <a:spcPts val="355"/>
              </a:spcBef>
              <a:tabLst>
                <a:tab pos="611505" algn="l"/>
                <a:tab pos="1651000" algn="l"/>
                <a:tab pos="3164205" algn="l"/>
                <a:tab pos="3627754" algn="l"/>
                <a:tab pos="4970145" algn="l"/>
                <a:tab pos="5619750" algn="l"/>
                <a:tab pos="6692265" algn="l"/>
                <a:tab pos="7258050" algn="l"/>
              </a:tabLst>
            </a:pPr>
            <a:endParaRPr lang="pt-BR" sz="1800" b="1" dirty="0">
              <a:latin typeface="Arial"/>
              <a:cs typeface="Arial"/>
            </a:endParaRPr>
          </a:p>
          <a:p>
            <a:pPr marL="12700" marR="12065">
              <a:lnSpc>
                <a:spcPts val="2680"/>
              </a:lnSpc>
              <a:spcBef>
                <a:spcPts val="355"/>
              </a:spcBef>
              <a:tabLst>
                <a:tab pos="611505" algn="l"/>
                <a:tab pos="1651000" algn="l"/>
                <a:tab pos="3164205" algn="l"/>
                <a:tab pos="3627754" algn="l"/>
                <a:tab pos="4970145" algn="l"/>
                <a:tab pos="5619750" algn="l"/>
                <a:tab pos="6692265" algn="l"/>
                <a:tab pos="7258050" algn="l"/>
              </a:tabLst>
            </a:pPr>
            <a:r>
              <a:rPr lang="pt-BR" sz="1800" b="1" dirty="0">
                <a:latin typeface="Arial"/>
                <a:cs typeface="Arial"/>
              </a:rPr>
              <a:t>Problemas</a:t>
            </a:r>
            <a:r>
              <a:rPr lang="pt-BR" sz="1800" b="1" spc="190" dirty="0">
                <a:latin typeface="Arial"/>
                <a:cs typeface="Arial"/>
              </a:rPr>
              <a:t> </a:t>
            </a:r>
            <a:r>
              <a:rPr lang="pt-BR" sz="1800" b="1" dirty="0">
                <a:latin typeface="Arial"/>
                <a:cs typeface="Arial"/>
              </a:rPr>
              <a:t>de</a:t>
            </a:r>
            <a:r>
              <a:rPr lang="pt-BR" sz="1800" b="1" spc="195" dirty="0">
                <a:latin typeface="Arial"/>
                <a:cs typeface="Arial"/>
              </a:rPr>
              <a:t> </a:t>
            </a:r>
            <a:r>
              <a:rPr lang="pt-BR" sz="1800" b="1" dirty="0">
                <a:latin typeface="Arial"/>
                <a:cs typeface="Arial"/>
              </a:rPr>
              <a:t>mapeamento</a:t>
            </a:r>
            <a:r>
              <a:rPr lang="pt-BR" sz="1800" b="1" spc="200" dirty="0">
                <a:latin typeface="Arial"/>
                <a:cs typeface="Arial"/>
              </a:rPr>
              <a:t> </a:t>
            </a:r>
            <a:r>
              <a:rPr lang="pt-BR" sz="1800" b="1" dirty="0">
                <a:latin typeface="Arial"/>
                <a:cs typeface="Arial"/>
              </a:rPr>
              <a:t>(a):</a:t>
            </a:r>
            <a:r>
              <a:rPr lang="pt-BR" sz="1800" b="1" spc="210" dirty="0">
                <a:latin typeface="Arial"/>
                <a:cs typeface="Arial"/>
              </a:rPr>
              <a:t> </a:t>
            </a:r>
          </a:p>
          <a:p>
            <a:pPr marL="12700" marR="12065">
              <a:lnSpc>
                <a:spcPts val="2680"/>
              </a:lnSpc>
              <a:spcBef>
                <a:spcPts val="355"/>
              </a:spcBef>
              <a:tabLst>
                <a:tab pos="611505" algn="l"/>
                <a:tab pos="1651000" algn="l"/>
                <a:tab pos="3164205" algn="l"/>
                <a:tab pos="3627754" algn="l"/>
                <a:tab pos="4970145" algn="l"/>
                <a:tab pos="5619750" algn="l"/>
                <a:tab pos="6692265" algn="l"/>
                <a:tab pos="7258050" algn="l"/>
              </a:tabLst>
            </a:pPr>
            <a:r>
              <a:rPr lang="pt-BR" sz="1800" dirty="0"/>
              <a:t>Qual</a:t>
            </a:r>
            <a:r>
              <a:rPr lang="pt-BR" sz="1800" spc="215" dirty="0"/>
              <a:t> </a:t>
            </a:r>
            <a:r>
              <a:rPr lang="pt-BR" sz="1800" dirty="0"/>
              <a:t>é</a:t>
            </a:r>
            <a:r>
              <a:rPr lang="pt-BR" sz="1800" spc="210" dirty="0"/>
              <a:t> </a:t>
            </a:r>
            <a:r>
              <a:rPr lang="pt-BR" sz="1800" dirty="0"/>
              <a:t>o</a:t>
            </a:r>
            <a:r>
              <a:rPr lang="pt-BR" sz="1800" spc="204" dirty="0"/>
              <a:t> </a:t>
            </a:r>
            <a:r>
              <a:rPr lang="pt-BR" sz="1800" dirty="0"/>
              <a:t>controle</a:t>
            </a:r>
            <a:r>
              <a:rPr lang="pt-BR" sz="1800" spc="204" dirty="0"/>
              <a:t> </a:t>
            </a:r>
            <a:r>
              <a:rPr lang="pt-BR" sz="1800" dirty="0"/>
              <a:t>de</a:t>
            </a:r>
            <a:r>
              <a:rPr lang="pt-BR" sz="1800" spc="204" dirty="0"/>
              <a:t> </a:t>
            </a:r>
            <a:r>
              <a:rPr lang="pt-BR" sz="1800" dirty="0"/>
              <a:t>água</a:t>
            </a:r>
            <a:r>
              <a:rPr lang="pt-BR" sz="1800" spc="215" dirty="0"/>
              <a:t> </a:t>
            </a:r>
            <a:r>
              <a:rPr lang="pt-BR" sz="1800" dirty="0"/>
              <a:t>quente</a:t>
            </a:r>
            <a:r>
              <a:rPr lang="pt-BR" sz="1800" spc="210" dirty="0"/>
              <a:t> </a:t>
            </a:r>
            <a:r>
              <a:rPr lang="pt-BR" sz="1800" spc="-50" dirty="0"/>
              <a:t>e </a:t>
            </a:r>
            <a:r>
              <a:rPr lang="pt-BR" sz="1800" dirty="0"/>
              <a:t>qual</a:t>
            </a:r>
            <a:r>
              <a:rPr lang="pt-BR" sz="1800" spc="225" dirty="0"/>
              <a:t> </a:t>
            </a:r>
            <a:r>
              <a:rPr lang="pt-BR" sz="1800" dirty="0"/>
              <a:t>é</a:t>
            </a:r>
            <a:r>
              <a:rPr lang="pt-BR" sz="1800" spc="215" dirty="0"/>
              <a:t> </a:t>
            </a:r>
            <a:r>
              <a:rPr lang="pt-BR" sz="1800" dirty="0"/>
              <a:t>o</a:t>
            </a:r>
            <a:r>
              <a:rPr lang="pt-BR" sz="1800" spc="229" dirty="0"/>
              <a:t> </a:t>
            </a:r>
            <a:r>
              <a:rPr lang="pt-BR" sz="1800" dirty="0"/>
              <a:t>de</a:t>
            </a:r>
            <a:r>
              <a:rPr lang="pt-BR" sz="1800" spc="225" dirty="0"/>
              <a:t> </a:t>
            </a:r>
            <a:r>
              <a:rPr lang="pt-BR" sz="1800" dirty="0"/>
              <a:t>água</a:t>
            </a:r>
            <a:r>
              <a:rPr lang="pt-BR" sz="1800" spc="215" dirty="0"/>
              <a:t> </a:t>
            </a:r>
            <a:r>
              <a:rPr lang="pt-BR" sz="1800" dirty="0"/>
              <a:t>fria?</a:t>
            </a:r>
            <a:r>
              <a:rPr lang="pt-BR" sz="1800" spc="220" dirty="0"/>
              <a:t> </a:t>
            </a:r>
          </a:p>
          <a:p>
            <a:pPr marL="12700" marR="12065">
              <a:lnSpc>
                <a:spcPts val="2680"/>
              </a:lnSpc>
              <a:spcBef>
                <a:spcPts val="355"/>
              </a:spcBef>
              <a:tabLst>
                <a:tab pos="611505" algn="l"/>
                <a:tab pos="1651000" algn="l"/>
                <a:tab pos="3164205" algn="l"/>
                <a:tab pos="3627754" algn="l"/>
                <a:tab pos="4970145" algn="l"/>
                <a:tab pos="5619750" algn="l"/>
                <a:tab pos="6692265" algn="l"/>
                <a:tab pos="7258050" algn="l"/>
              </a:tabLst>
            </a:pPr>
            <a:r>
              <a:rPr lang="pt-BR" sz="1800" dirty="0"/>
              <a:t>De</a:t>
            </a:r>
            <a:r>
              <a:rPr lang="pt-BR" sz="1800" spc="215" dirty="0"/>
              <a:t> </a:t>
            </a:r>
            <a:r>
              <a:rPr lang="pt-BR" sz="1800" dirty="0"/>
              <a:t>que</a:t>
            </a:r>
            <a:r>
              <a:rPr lang="pt-BR" sz="1800" spc="225" dirty="0"/>
              <a:t> </a:t>
            </a:r>
            <a:r>
              <a:rPr lang="pt-BR" sz="1800" dirty="0"/>
              <a:t>maneira</a:t>
            </a:r>
            <a:r>
              <a:rPr lang="pt-BR" sz="1800" spc="220" dirty="0"/>
              <a:t> </a:t>
            </a:r>
            <a:r>
              <a:rPr lang="pt-BR" sz="1800" dirty="0"/>
              <a:t>cada</a:t>
            </a:r>
            <a:r>
              <a:rPr lang="pt-BR" sz="1800" spc="225" dirty="0"/>
              <a:t> </a:t>
            </a:r>
            <a:r>
              <a:rPr lang="pt-BR" sz="1800" dirty="0"/>
              <a:t>controle</a:t>
            </a:r>
            <a:r>
              <a:rPr lang="pt-BR" sz="1800" spc="225" dirty="0"/>
              <a:t> </a:t>
            </a:r>
            <a:r>
              <a:rPr lang="pt-BR" sz="1800" dirty="0"/>
              <a:t>deve</a:t>
            </a:r>
            <a:r>
              <a:rPr lang="pt-BR" sz="1800" spc="220" dirty="0"/>
              <a:t> </a:t>
            </a:r>
            <a:r>
              <a:rPr lang="pt-BR" sz="1800" dirty="0"/>
              <a:t>ser</a:t>
            </a:r>
            <a:r>
              <a:rPr lang="pt-BR" sz="1800" spc="215" dirty="0"/>
              <a:t> </a:t>
            </a:r>
            <a:r>
              <a:rPr lang="pt-BR" sz="1800" spc="-10" dirty="0"/>
              <a:t>girado </a:t>
            </a:r>
            <a:r>
              <a:rPr lang="pt-BR" sz="1800" dirty="0"/>
              <a:t>para</a:t>
            </a:r>
            <a:r>
              <a:rPr lang="pt-BR" sz="1800" spc="-15" dirty="0"/>
              <a:t> </a:t>
            </a:r>
            <a:r>
              <a:rPr lang="pt-BR" sz="1800" dirty="0"/>
              <a:t>aumentar</a:t>
            </a:r>
            <a:r>
              <a:rPr lang="pt-BR" sz="1800" spc="-5" dirty="0"/>
              <a:t> </a:t>
            </a:r>
            <a:r>
              <a:rPr lang="pt-BR" sz="1800" dirty="0"/>
              <a:t>ou</a:t>
            </a:r>
            <a:r>
              <a:rPr lang="pt-BR" sz="1800" spc="-10" dirty="0"/>
              <a:t> </a:t>
            </a:r>
            <a:r>
              <a:rPr lang="pt-BR" sz="1800" dirty="0"/>
              <a:t>reduzir</a:t>
            </a:r>
            <a:r>
              <a:rPr lang="pt-BR" sz="1800" spc="-5" dirty="0"/>
              <a:t> </a:t>
            </a:r>
            <a:r>
              <a:rPr lang="pt-BR" sz="1800" dirty="0"/>
              <a:t>o</a:t>
            </a:r>
            <a:r>
              <a:rPr lang="pt-BR" sz="1800" spc="-15" dirty="0"/>
              <a:t> </a:t>
            </a:r>
            <a:r>
              <a:rPr lang="pt-BR" sz="1800" dirty="0"/>
              <a:t>fluxo</a:t>
            </a:r>
            <a:r>
              <a:rPr lang="pt-BR" sz="1800" spc="-5" dirty="0"/>
              <a:t> </a:t>
            </a:r>
            <a:r>
              <a:rPr lang="pt-BR" sz="1800" dirty="0"/>
              <a:t>da</a:t>
            </a:r>
            <a:r>
              <a:rPr lang="pt-BR" sz="1800" spc="-10" dirty="0"/>
              <a:t> água?</a:t>
            </a:r>
            <a:endParaRPr lang="pt-BR" sz="1800" dirty="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1895" y="4387850"/>
            <a:ext cx="2233937" cy="211963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786889" y="1551940"/>
            <a:ext cx="7811770" cy="89789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algn="just">
              <a:lnSpc>
                <a:spcPct val="93100"/>
              </a:lnSpc>
              <a:spcBef>
                <a:spcPts val="265"/>
              </a:spcBef>
            </a:pPr>
            <a:r>
              <a:rPr sz="2000" b="1" dirty="0">
                <a:latin typeface="Arial"/>
                <a:cs typeface="Arial"/>
              </a:rPr>
              <a:t>Dificuldade</a:t>
            </a:r>
            <a:r>
              <a:rPr sz="2000" b="1" spc="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</a:t>
            </a:r>
            <a:r>
              <a:rPr sz="2000" b="1" spc="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controle</a:t>
            </a:r>
            <a:r>
              <a:rPr sz="2000" b="1" spc="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(b):</a:t>
            </a:r>
            <a:r>
              <a:rPr sz="2000" b="1" spc="30" dirty="0">
                <a:latin typeface="Arial"/>
                <a:cs typeface="Arial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Para</a:t>
            </a:r>
            <a:r>
              <a:rPr sz="2000" spc="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aumentar</a:t>
            </a:r>
            <a:r>
              <a:rPr sz="2000" spc="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temperatura</a:t>
            </a:r>
            <a:r>
              <a:rPr sz="2000" spc="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</a:t>
            </a:r>
            <a:r>
              <a:rPr sz="2000" spc="4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água </a:t>
            </a:r>
            <a:r>
              <a:rPr sz="2000" dirty="0">
                <a:latin typeface="Microsoft Sans Serif"/>
                <a:cs typeface="Microsoft Sans Serif"/>
              </a:rPr>
              <a:t>mantendo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fluxo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constante,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é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necessário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manipular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simultaneamen- </a:t>
            </a:r>
            <a:r>
              <a:rPr sz="2000" dirty="0">
                <a:latin typeface="Microsoft Sans Serif"/>
                <a:cs typeface="Microsoft Sans Serif"/>
              </a:rPr>
              <a:t>te as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duas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torneiras;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6889" y="4857750"/>
            <a:ext cx="7793990" cy="61341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2230"/>
              </a:lnSpc>
              <a:spcBef>
                <a:spcPts val="315"/>
              </a:spcBef>
            </a:pPr>
            <a:r>
              <a:rPr sz="2000" b="1" dirty="0">
                <a:latin typeface="Arial"/>
                <a:cs typeface="Arial"/>
              </a:rPr>
              <a:t>Dificuldade</a:t>
            </a:r>
            <a:r>
              <a:rPr sz="2000" b="1" spc="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</a:t>
            </a:r>
            <a:r>
              <a:rPr sz="2000" b="1" spc="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avaliação</a:t>
            </a:r>
            <a:r>
              <a:rPr sz="2000" b="1" spc="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(c)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r>
              <a:rPr sz="2000" spc="8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Quando</a:t>
            </a:r>
            <a:r>
              <a:rPr sz="2000" spc="9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há</a:t>
            </a:r>
            <a:r>
              <a:rPr sz="2000" spc="9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dois</a:t>
            </a:r>
            <a:r>
              <a:rPr sz="2000" spc="9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bicos</a:t>
            </a:r>
            <a:r>
              <a:rPr sz="2000" spc="10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8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torneira,</a:t>
            </a:r>
            <a:r>
              <a:rPr sz="2000" spc="8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às </a:t>
            </a:r>
            <a:r>
              <a:rPr sz="2000" dirty="0">
                <a:latin typeface="Microsoft Sans Serif"/>
                <a:cs typeface="Microsoft Sans Serif"/>
              </a:rPr>
              <a:t>vezes se torna difícil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avaliar se o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resultado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desejado foi </a:t>
            </a:r>
            <a:r>
              <a:rPr sz="2000" spc="-10" dirty="0">
                <a:latin typeface="Microsoft Sans Serif"/>
                <a:cs typeface="Microsoft Sans Serif"/>
              </a:rPr>
              <a:t>alcançado.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46740" y="577850"/>
            <a:ext cx="5766435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09925" algn="l"/>
              </a:tabLst>
            </a:pPr>
            <a:r>
              <a:rPr spc="-10" dirty="0" err="1"/>
              <a:t>Engenharia</a:t>
            </a:r>
            <a:r>
              <a:rPr lang="pt-BR" dirty="0"/>
              <a:t> </a:t>
            </a:r>
            <a:r>
              <a:rPr spc="-10" dirty="0" err="1"/>
              <a:t>Cognitiva</a:t>
            </a: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0029" y="2557779"/>
            <a:ext cx="1979929" cy="192913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32579" y="5670550"/>
            <a:ext cx="1816100" cy="1624339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7675" y="654050"/>
            <a:ext cx="5766435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09925" algn="l"/>
              </a:tabLst>
            </a:pPr>
            <a:r>
              <a:rPr spc="-10" dirty="0" err="1"/>
              <a:t>Engenharia</a:t>
            </a:r>
            <a:r>
              <a:rPr lang="pt-BR" dirty="0"/>
              <a:t> </a:t>
            </a:r>
            <a:r>
              <a:rPr spc="-10" dirty="0" err="1"/>
              <a:t>Cognitiva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1883410"/>
            <a:ext cx="95250" cy="95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3289" y="1736090"/>
            <a:ext cx="8665210" cy="6858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ts val="2560"/>
              </a:lnSpc>
              <a:spcBef>
                <a:spcPts val="250"/>
              </a:spcBef>
              <a:tabLst>
                <a:tab pos="1473200" algn="l"/>
                <a:tab pos="1970405" algn="l"/>
                <a:tab pos="2559050" algn="l"/>
                <a:tab pos="3121025" algn="l"/>
                <a:tab pos="5165090" algn="l"/>
                <a:tab pos="6078855" algn="l"/>
                <a:tab pos="7087234" algn="l"/>
                <a:tab pos="7408545" algn="l"/>
                <a:tab pos="8303259" algn="l"/>
              </a:tabLst>
            </a:pPr>
            <a:r>
              <a:rPr sz="2200" spc="105" dirty="0">
                <a:latin typeface="Trebuchet MS"/>
                <a:cs typeface="Trebuchet MS"/>
              </a:rPr>
              <a:t>Definição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120" dirty="0">
                <a:latin typeface="Trebuchet MS"/>
                <a:cs typeface="Trebuchet MS"/>
              </a:rPr>
              <a:t>de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85" dirty="0">
                <a:latin typeface="Trebuchet MS"/>
                <a:cs typeface="Trebuchet MS"/>
              </a:rPr>
              <a:t>cor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105" dirty="0">
                <a:latin typeface="Trebuchet MS"/>
                <a:cs typeface="Trebuchet MS"/>
              </a:rPr>
              <a:t>via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150" dirty="0">
                <a:latin typeface="Trebuchet MS"/>
                <a:cs typeface="Trebuchet MS"/>
              </a:rPr>
              <a:t>componentes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95" dirty="0">
                <a:latin typeface="Trebuchet MS"/>
                <a:cs typeface="Trebuchet MS"/>
              </a:rPr>
              <a:t>[</a:t>
            </a:r>
            <a:r>
              <a:rPr sz="2200" b="1" spc="95" dirty="0">
                <a:latin typeface="Trebuchet MS"/>
                <a:cs typeface="Trebuchet MS"/>
              </a:rPr>
              <a:t>R</a:t>
            </a:r>
            <a:r>
              <a:rPr sz="2200" spc="95" dirty="0">
                <a:latin typeface="Trebuchet MS"/>
                <a:cs typeface="Trebuchet MS"/>
              </a:rPr>
              <a:t>ed,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b="1" spc="135" dirty="0">
                <a:latin typeface="Trebuchet MS"/>
                <a:cs typeface="Trebuchet MS"/>
              </a:rPr>
              <a:t>G</a:t>
            </a:r>
            <a:r>
              <a:rPr sz="2200" spc="135" dirty="0">
                <a:latin typeface="Trebuchet MS"/>
                <a:cs typeface="Trebuchet MS"/>
              </a:rPr>
              <a:t>reen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90" dirty="0">
                <a:latin typeface="Trebuchet MS"/>
                <a:cs typeface="Trebuchet MS"/>
              </a:rPr>
              <a:t>e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b="1" spc="110" dirty="0">
                <a:latin typeface="Trebuchet MS"/>
                <a:cs typeface="Trebuchet MS"/>
              </a:rPr>
              <a:t>B</a:t>
            </a:r>
            <a:r>
              <a:rPr sz="2200" spc="110" dirty="0">
                <a:latin typeface="Trebuchet MS"/>
                <a:cs typeface="Trebuchet MS"/>
              </a:rPr>
              <a:t>lue]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150" dirty="0">
                <a:latin typeface="Trebuchet MS"/>
                <a:cs typeface="Trebuchet MS"/>
              </a:rPr>
              <a:t>ou </a:t>
            </a:r>
            <a:r>
              <a:rPr sz="2200" spc="170" dirty="0">
                <a:latin typeface="Trebuchet MS"/>
                <a:cs typeface="Trebuchet MS"/>
              </a:rPr>
              <a:t>[</a:t>
            </a:r>
            <a:r>
              <a:rPr sz="2200" b="1" spc="170" dirty="0">
                <a:latin typeface="Trebuchet MS"/>
                <a:cs typeface="Trebuchet MS"/>
              </a:rPr>
              <a:t>H</a:t>
            </a:r>
            <a:r>
              <a:rPr sz="2200" spc="170" dirty="0">
                <a:latin typeface="Trebuchet MS"/>
                <a:cs typeface="Trebuchet MS"/>
              </a:rPr>
              <a:t>ue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spc="60" dirty="0">
                <a:latin typeface="Trebuchet MS"/>
                <a:cs typeface="Trebuchet MS"/>
              </a:rPr>
              <a:t>(matiz),</a:t>
            </a:r>
            <a:r>
              <a:rPr sz="2200" spc="10" dirty="0">
                <a:latin typeface="Trebuchet MS"/>
                <a:cs typeface="Trebuchet MS"/>
              </a:rPr>
              <a:t> </a:t>
            </a:r>
            <a:r>
              <a:rPr sz="2200" b="1" spc="135" dirty="0">
                <a:latin typeface="Trebuchet MS"/>
                <a:cs typeface="Trebuchet MS"/>
              </a:rPr>
              <a:t>S</a:t>
            </a:r>
            <a:r>
              <a:rPr sz="2200" spc="135" dirty="0">
                <a:latin typeface="Trebuchet MS"/>
                <a:cs typeface="Trebuchet MS"/>
              </a:rPr>
              <a:t>aturation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,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b="1" spc="140" dirty="0">
                <a:latin typeface="Trebuchet MS"/>
                <a:cs typeface="Trebuchet MS"/>
              </a:rPr>
              <a:t>L</a:t>
            </a:r>
            <a:r>
              <a:rPr sz="2200" spc="140" dirty="0">
                <a:latin typeface="Trebuchet MS"/>
                <a:cs typeface="Trebuchet MS"/>
              </a:rPr>
              <a:t>uminance]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8130" y="2879089"/>
            <a:ext cx="2772410" cy="206121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206941" y="2559050"/>
            <a:ext cx="4166235" cy="1774765"/>
            <a:chOff x="5206941" y="3258760"/>
            <a:chExt cx="4166235" cy="1075055"/>
          </a:xfrm>
        </p:grpSpPr>
        <p:sp>
          <p:nvSpPr>
            <p:cNvPr id="7" name="object 7"/>
            <p:cNvSpPr/>
            <p:nvPr/>
          </p:nvSpPr>
          <p:spPr>
            <a:xfrm>
              <a:off x="5219700" y="3271519"/>
              <a:ext cx="4140200" cy="1049020"/>
            </a:xfrm>
            <a:custGeom>
              <a:avLst/>
              <a:gdLst/>
              <a:ahLst/>
              <a:cxnLst/>
              <a:rect l="l" t="t" r="r" b="b"/>
              <a:pathLst>
                <a:path w="4140200" h="1049020">
                  <a:moveTo>
                    <a:pt x="0" y="0"/>
                  </a:moveTo>
                  <a:lnTo>
                    <a:pt x="4140200" y="0"/>
                  </a:lnTo>
                  <a:lnTo>
                    <a:pt x="4140200" y="1049019"/>
                  </a:lnTo>
                  <a:lnTo>
                    <a:pt x="0" y="1049019"/>
                  </a:lnTo>
                  <a:lnTo>
                    <a:pt x="0" y="0"/>
                  </a:lnTo>
                  <a:close/>
                </a:path>
              </a:pathLst>
            </a:custGeom>
            <a:ln w="25518">
              <a:solidFill>
                <a:srgbClr val="4E80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06936" y="3258768"/>
              <a:ext cx="4166235" cy="1075055"/>
            </a:xfrm>
            <a:custGeom>
              <a:avLst/>
              <a:gdLst/>
              <a:ahLst/>
              <a:cxnLst/>
              <a:rect l="l" t="t" r="r" b="b"/>
              <a:pathLst>
                <a:path w="4166234" h="1075054">
                  <a:moveTo>
                    <a:pt x="25514" y="12750"/>
                  </a:moveTo>
                  <a:lnTo>
                    <a:pt x="21780" y="3733"/>
                  </a:lnTo>
                  <a:lnTo>
                    <a:pt x="12763" y="0"/>
                  </a:lnTo>
                  <a:lnTo>
                    <a:pt x="3733" y="3733"/>
                  </a:lnTo>
                  <a:lnTo>
                    <a:pt x="0" y="12750"/>
                  </a:lnTo>
                  <a:lnTo>
                    <a:pt x="3733" y="21780"/>
                  </a:lnTo>
                  <a:lnTo>
                    <a:pt x="12763" y="25514"/>
                  </a:lnTo>
                  <a:lnTo>
                    <a:pt x="21780" y="21780"/>
                  </a:lnTo>
                  <a:lnTo>
                    <a:pt x="25514" y="12750"/>
                  </a:lnTo>
                  <a:close/>
                </a:path>
                <a:path w="4166234" h="1075054">
                  <a:moveTo>
                    <a:pt x="4165714" y="1061770"/>
                  </a:moveTo>
                  <a:lnTo>
                    <a:pt x="4161980" y="1052753"/>
                  </a:lnTo>
                  <a:lnTo>
                    <a:pt x="4152963" y="1049020"/>
                  </a:lnTo>
                  <a:lnTo>
                    <a:pt x="4143933" y="1052753"/>
                  </a:lnTo>
                  <a:lnTo>
                    <a:pt x="4140200" y="1061770"/>
                  </a:lnTo>
                  <a:lnTo>
                    <a:pt x="4143933" y="1070800"/>
                  </a:lnTo>
                  <a:lnTo>
                    <a:pt x="4152963" y="1074534"/>
                  </a:lnTo>
                  <a:lnTo>
                    <a:pt x="4161980" y="1070800"/>
                  </a:lnTo>
                  <a:lnTo>
                    <a:pt x="4165714" y="1061770"/>
                  </a:lnTo>
                  <a:close/>
                </a:path>
              </a:pathLst>
            </a:custGeom>
            <a:solidFill>
              <a:srgbClr val="4E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02567" y="2589842"/>
            <a:ext cx="3974465" cy="17004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just">
              <a:lnSpc>
                <a:spcPct val="100000"/>
              </a:lnSpc>
              <a:spcBef>
                <a:spcPts val="100"/>
              </a:spcBef>
            </a:pPr>
            <a:r>
              <a:rPr lang="pt-BR" sz="1800" b="1" dirty="0">
                <a:latin typeface="Arial"/>
                <a:cs typeface="Arial"/>
              </a:rPr>
              <a:t>Tela 1: </a:t>
            </a:r>
          </a:p>
          <a:p>
            <a:pPr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 err="1">
                <a:latin typeface="Arial"/>
                <a:cs typeface="Arial"/>
              </a:rPr>
              <a:t>problemas</a:t>
            </a:r>
            <a:r>
              <a:rPr sz="1800" b="1" spc="465" dirty="0">
                <a:latin typeface="Arial"/>
                <a:cs typeface="Arial"/>
              </a:rPr>
              <a:t>  </a:t>
            </a:r>
            <a:r>
              <a:rPr sz="1800" b="1" dirty="0">
                <a:latin typeface="Arial"/>
                <a:cs typeface="Arial"/>
              </a:rPr>
              <a:t>de</a:t>
            </a:r>
            <a:r>
              <a:rPr sz="1800" b="1" spc="470" dirty="0">
                <a:latin typeface="Arial"/>
                <a:cs typeface="Arial"/>
              </a:rPr>
              <a:t>  </a:t>
            </a:r>
            <a:r>
              <a:rPr sz="1800" b="1" dirty="0">
                <a:latin typeface="Arial"/>
                <a:cs typeface="Arial"/>
              </a:rPr>
              <a:t>mapeamento</a:t>
            </a:r>
            <a:r>
              <a:rPr sz="1800" b="1" spc="484" dirty="0">
                <a:latin typeface="Arial"/>
                <a:cs typeface="Arial"/>
              </a:rPr>
              <a:t>  </a:t>
            </a:r>
            <a:r>
              <a:rPr sz="1800" spc="-25" dirty="0">
                <a:latin typeface="Microsoft Sans Serif"/>
                <a:cs typeface="Microsoft Sans Serif"/>
              </a:rPr>
              <a:t>das </a:t>
            </a:r>
            <a:r>
              <a:rPr sz="1800" dirty="0">
                <a:latin typeface="Microsoft Sans Serif"/>
                <a:cs typeface="Microsoft Sans Serif"/>
              </a:rPr>
              <a:t>componentes</a:t>
            </a:r>
            <a:r>
              <a:rPr sz="1800" spc="1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RGB</a:t>
            </a:r>
            <a:r>
              <a:rPr sz="1800" spc="1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</a:t>
            </a:r>
            <a:r>
              <a:rPr sz="1800" spc="1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HSL</a:t>
            </a:r>
            <a:r>
              <a:rPr sz="1800" spc="70" dirty="0">
                <a:latin typeface="Microsoft Sans Serif"/>
                <a:cs typeface="Microsoft Sans Serif"/>
              </a:rPr>
              <a:t> </a:t>
            </a:r>
            <a:endParaRPr lang="pt-BR" sz="1800" spc="70" dirty="0">
              <a:latin typeface="Microsoft Sans Serif"/>
              <a:cs typeface="Microsoft Sans Serif"/>
            </a:endParaRPr>
          </a:p>
          <a:p>
            <a:pPr marR="5080" algn="just">
              <a:lnSpc>
                <a:spcPct val="100000"/>
              </a:lnSpc>
              <a:spcBef>
                <a:spcPts val="100"/>
              </a:spcBef>
            </a:pPr>
            <a:r>
              <a:rPr lang="pt-BR" b="1" spc="70" dirty="0">
                <a:latin typeface="Microsoft Sans Serif"/>
                <a:cs typeface="Microsoft Sans Serif"/>
              </a:rPr>
              <a:t>Tela 2: </a:t>
            </a:r>
            <a:r>
              <a:rPr sz="1800" b="1" spc="-10" dirty="0" err="1">
                <a:latin typeface="Arial"/>
                <a:cs typeface="Arial"/>
              </a:rPr>
              <a:t>dificuldade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controle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da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 err="1">
                <a:latin typeface="Microsoft Sans Serif"/>
                <a:cs typeface="Microsoft Sans Serif"/>
              </a:rPr>
              <a:t>componentes</a:t>
            </a:r>
            <a:r>
              <a:rPr sz="1800" spc="-20" dirty="0">
                <a:latin typeface="Microsoft Sans Serif"/>
                <a:cs typeface="Microsoft Sans Serif"/>
              </a:rPr>
              <a:t> HSL</a:t>
            </a:r>
            <a:r>
              <a:rPr lang="pt-BR" sz="1800" spc="-20" dirty="0">
                <a:latin typeface="Microsoft Sans Serif"/>
                <a:cs typeface="Microsoft Sans Serif"/>
              </a:rPr>
              <a:t> (tom </a:t>
            </a:r>
            <a:r>
              <a:rPr lang="pt-BR" sz="1800" spc="-20" dirty="0" err="1">
                <a:latin typeface="Microsoft Sans Serif"/>
                <a:cs typeface="Microsoft Sans Serif"/>
              </a:rPr>
              <a:t>satuaração</a:t>
            </a:r>
            <a:r>
              <a:rPr lang="pt-BR" sz="1800" spc="-20" dirty="0">
                <a:latin typeface="Microsoft Sans Serif"/>
                <a:cs typeface="Microsoft Sans Serif"/>
              </a:rPr>
              <a:t>, luminosidade)</a:t>
            </a:r>
            <a:endParaRPr sz="1800" dirty="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84570" y="4834890"/>
            <a:ext cx="2735579" cy="200533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2140" y="730250"/>
            <a:ext cx="5766435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09925" algn="l"/>
              </a:tabLst>
            </a:pPr>
            <a:r>
              <a:rPr spc="-10" dirty="0" err="1"/>
              <a:t>Engenharia</a:t>
            </a:r>
            <a:r>
              <a:rPr lang="pt-BR" dirty="0"/>
              <a:t> </a:t>
            </a:r>
            <a:r>
              <a:rPr spc="-10" dirty="0" err="1"/>
              <a:t>Cognitiva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1883410"/>
            <a:ext cx="95250" cy="952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3289" y="1736090"/>
            <a:ext cx="8665210" cy="6858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ts val="2560"/>
              </a:lnSpc>
              <a:spcBef>
                <a:spcPts val="250"/>
              </a:spcBef>
              <a:tabLst>
                <a:tab pos="1473200" algn="l"/>
                <a:tab pos="1970405" algn="l"/>
                <a:tab pos="2559050" algn="l"/>
                <a:tab pos="3121025" algn="l"/>
                <a:tab pos="5165090" algn="l"/>
                <a:tab pos="6078855" algn="l"/>
                <a:tab pos="7087234" algn="l"/>
                <a:tab pos="7408545" algn="l"/>
                <a:tab pos="8303259" algn="l"/>
              </a:tabLst>
            </a:pPr>
            <a:r>
              <a:rPr sz="2200" spc="105" dirty="0">
                <a:latin typeface="Trebuchet MS"/>
                <a:cs typeface="Trebuchet MS"/>
              </a:rPr>
              <a:t>Definição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120" dirty="0">
                <a:latin typeface="Trebuchet MS"/>
                <a:cs typeface="Trebuchet MS"/>
              </a:rPr>
              <a:t>de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85" dirty="0">
                <a:latin typeface="Trebuchet MS"/>
                <a:cs typeface="Trebuchet MS"/>
              </a:rPr>
              <a:t>cor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105" dirty="0">
                <a:latin typeface="Trebuchet MS"/>
                <a:cs typeface="Trebuchet MS"/>
              </a:rPr>
              <a:t>via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150" dirty="0">
                <a:latin typeface="Trebuchet MS"/>
                <a:cs typeface="Trebuchet MS"/>
              </a:rPr>
              <a:t>componentes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95" dirty="0">
                <a:latin typeface="Trebuchet MS"/>
                <a:cs typeface="Trebuchet MS"/>
              </a:rPr>
              <a:t>[</a:t>
            </a:r>
            <a:r>
              <a:rPr sz="2200" b="1" spc="95" dirty="0">
                <a:latin typeface="Trebuchet MS"/>
                <a:cs typeface="Trebuchet MS"/>
              </a:rPr>
              <a:t>R</a:t>
            </a:r>
            <a:r>
              <a:rPr sz="2200" spc="95" dirty="0">
                <a:latin typeface="Trebuchet MS"/>
                <a:cs typeface="Trebuchet MS"/>
              </a:rPr>
              <a:t>ed,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b="1" spc="135" dirty="0">
                <a:latin typeface="Trebuchet MS"/>
                <a:cs typeface="Trebuchet MS"/>
              </a:rPr>
              <a:t>G</a:t>
            </a:r>
            <a:r>
              <a:rPr sz="2200" spc="135" dirty="0">
                <a:latin typeface="Trebuchet MS"/>
                <a:cs typeface="Trebuchet MS"/>
              </a:rPr>
              <a:t>reen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90" dirty="0">
                <a:latin typeface="Trebuchet MS"/>
                <a:cs typeface="Trebuchet MS"/>
              </a:rPr>
              <a:t>e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b="1" spc="110" dirty="0">
                <a:latin typeface="Trebuchet MS"/>
                <a:cs typeface="Trebuchet MS"/>
              </a:rPr>
              <a:t>B</a:t>
            </a:r>
            <a:r>
              <a:rPr sz="2200" spc="110" dirty="0">
                <a:latin typeface="Trebuchet MS"/>
                <a:cs typeface="Trebuchet MS"/>
              </a:rPr>
              <a:t>lue]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150" dirty="0">
                <a:latin typeface="Trebuchet MS"/>
                <a:cs typeface="Trebuchet MS"/>
              </a:rPr>
              <a:t>ou </a:t>
            </a:r>
            <a:r>
              <a:rPr sz="2200" spc="170" dirty="0">
                <a:latin typeface="Trebuchet MS"/>
                <a:cs typeface="Trebuchet MS"/>
              </a:rPr>
              <a:t>[</a:t>
            </a:r>
            <a:r>
              <a:rPr sz="2200" b="1" spc="170" dirty="0">
                <a:latin typeface="Trebuchet MS"/>
                <a:cs typeface="Trebuchet MS"/>
              </a:rPr>
              <a:t>H</a:t>
            </a:r>
            <a:r>
              <a:rPr sz="2200" spc="170" dirty="0">
                <a:latin typeface="Trebuchet MS"/>
                <a:cs typeface="Trebuchet MS"/>
              </a:rPr>
              <a:t>ue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spc="60" dirty="0">
                <a:latin typeface="Trebuchet MS"/>
                <a:cs typeface="Trebuchet MS"/>
              </a:rPr>
              <a:t>(matiz),</a:t>
            </a:r>
            <a:r>
              <a:rPr sz="2200" spc="10" dirty="0">
                <a:latin typeface="Trebuchet MS"/>
                <a:cs typeface="Trebuchet MS"/>
              </a:rPr>
              <a:t> </a:t>
            </a:r>
            <a:r>
              <a:rPr sz="2200" b="1" spc="135" dirty="0">
                <a:latin typeface="Trebuchet MS"/>
                <a:cs typeface="Trebuchet MS"/>
              </a:rPr>
              <a:t>S</a:t>
            </a:r>
            <a:r>
              <a:rPr sz="2200" spc="135" dirty="0">
                <a:latin typeface="Trebuchet MS"/>
                <a:cs typeface="Trebuchet MS"/>
              </a:rPr>
              <a:t>aturation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,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b="1" spc="114" dirty="0">
                <a:latin typeface="Trebuchet MS"/>
                <a:cs typeface="Trebuchet MS"/>
              </a:rPr>
              <a:t>L</a:t>
            </a:r>
            <a:r>
              <a:rPr sz="2200" spc="114" dirty="0">
                <a:latin typeface="Trebuchet MS"/>
                <a:cs typeface="Trebuchet MS"/>
              </a:rPr>
              <a:t>uminance].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5060" y="2983229"/>
            <a:ext cx="4074160" cy="29972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454591" y="3798510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5" h="26035">
                <a:moveTo>
                  <a:pt x="0" y="12759"/>
                </a:moveTo>
                <a:lnTo>
                  <a:pt x="3737" y="3737"/>
                </a:lnTo>
                <a:lnTo>
                  <a:pt x="12759" y="0"/>
                </a:lnTo>
                <a:lnTo>
                  <a:pt x="21781" y="3737"/>
                </a:lnTo>
                <a:lnTo>
                  <a:pt x="25518" y="12759"/>
                </a:lnTo>
                <a:lnTo>
                  <a:pt x="21781" y="21781"/>
                </a:lnTo>
                <a:lnTo>
                  <a:pt x="12759" y="25518"/>
                </a:lnTo>
                <a:lnTo>
                  <a:pt x="3737" y="21781"/>
                </a:lnTo>
                <a:lnTo>
                  <a:pt x="0" y="12759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88160" y="4739580"/>
            <a:ext cx="26034" cy="26034"/>
          </a:xfrm>
          <a:custGeom>
            <a:avLst/>
            <a:gdLst/>
            <a:ahLst/>
            <a:cxnLst/>
            <a:rect l="l" t="t" r="r" b="b"/>
            <a:pathLst>
              <a:path w="26034" h="26035">
                <a:moveTo>
                  <a:pt x="0" y="12759"/>
                </a:moveTo>
                <a:lnTo>
                  <a:pt x="3737" y="3737"/>
                </a:lnTo>
                <a:lnTo>
                  <a:pt x="12759" y="0"/>
                </a:lnTo>
                <a:lnTo>
                  <a:pt x="21781" y="3737"/>
                </a:lnTo>
                <a:lnTo>
                  <a:pt x="25518" y="12759"/>
                </a:lnTo>
                <a:lnTo>
                  <a:pt x="21781" y="21781"/>
                </a:lnTo>
                <a:lnTo>
                  <a:pt x="12759" y="25518"/>
                </a:lnTo>
                <a:lnTo>
                  <a:pt x="3737" y="21781"/>
                </a:lnTo>
                <a:lnTo>
                  <a:pt x="0" y="12759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67350" y="3811270"/>
            <a:ext cx="4433570" cy="941069"/>
          </a:xfrm>
          <a:prstGeom prst="rect">
            <a:avLst/>
          </a:prstGeom>
          <a:ln w="25518">
            <a:solidFill>
              <a:srgbClr val="4E80BC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90170" marR="82550" algn="just">
              <a:lnSpc>
                <a:spcPct val="100000"/>
              </a:lnSpc>
              <a:spcBef>
                <a:spcPts val="470"/>
              </a:spcBef>
            </a:pPr>
            <a:r>
              <a:rPr sz="1800" spc="95" dirty="0">
                <a:latin typeface="Trebuchet MS"/>
                <a:cs typeface="Trebuchet MS"/>
              </a:rPr>
              <a:t>reduz</a:t>
            </a:r>
            <a:r>
              <a:rPr sz="1800" spc="130" dirty="0">
                <a:latin typeface="Trebuchet MS"/>
                <a:cs typeface="Trebuchet MS"/>
              </a:rPr>
              <a:t> </a:t>
            </a:r>
            <a:r>
              <a:rPr sz="1800" b="1" spc="204" dirty="0">
                <a:latin typeface="Trebuchet MS"/>
                <a:cs typeface="Trebuchet MS"/>
              </a:rPr>
              <a:t>problemas</a:t>
            </a:r>
            <a:r>
              <a:rPr sz="1800" b="1" spc="125" dirty="0">
                <a:latin typeface="Trebuchet MS"/>
                <a:cs typeface="Trebuchet MS"/>
              </a:rPr>
              <a:t> </a:t>
            </a:r>
            <a:r>
              <a:rPr sz="1800" b="1" spc="195" dirty="0">
                <a:latin typeface="Trebuchet MS"/>
                <a:cs typeface="Trebuchet MS"/>
              </a:rPr>
              <a:t>de</a:t>
            </a:r>
            <a:r>
              <a:rPr sz="1800" b="1" spc="135" dirty="0">
                <a:latin typeface="Trebuchet MS"/>
                <a:cs typeface="Trebuchet MS"/>
              </a:rPr>
              <a:t> </a:t>
            </a:r>
            <a:r>
              <a:rPr sz="1800" b="1" spc="215" dirty="0">
                <a:latin typeface="Trebuchet MS"/>
                <a:cs typeface="Trebuchet MS"/>
              </a:rPr>
              <a:t>mapeamento </a:t>
            </a:r>
            <a:r>
              <a:rPr sz="1800" b="1" spc="175" dirty="0">
                <a:latin typeface="Trebuchet MS"/>
                <a:cs typeface="Trebuchet MS"/>
              </a:rPr>
              <a:t>e</a:t>
            </a:r>
            <a:r>
              <a:rPr sz="1800" b="1" spc="320" dirty="0">
                <a:latin typeface="Trebuchet MS"/>
                <a:cs typeface="Trebuchet MS"/>
              </a:rPr>
              <a:t>  </a:t>
            </a:r>
            <a:r>
              <a:rPr sz="1800" b="1" spc="160" dirty="0">
                <a:latin typeface="Trebuchet MS"/>
                <a:cs typeface="Trebuchet MS"/>
              </a:rPr>
              <a:t>dificuldade</a:t>
            </a:r>
            <a:r>
              <a:rPr sz="1800" b="1" spc="320" dirty="0">
                <a:latin typeface="Trebuchet MS"/>
                <a:cs typeface="Trebuchet MS"/>
              </a:rPr>
              <a:t>  </a:t>
            </a:r>
            <a:r>
              <a:rPr sz="1800" b="1" spc="200" dirty="0">
                <a:latin typeface="Trebuchet MS"/>
                <a:cs typeface="Trebuchet MS"/>
              </a:rPr>
              <a:t>de</a:t>
            </a:r>
            <a:r>
              <a:rPr sz="1800" b="1" spc="325" dirty="0">
                <a:latin typeface="Trebuchet MS"/>
                <a:cs typeface="Trebuchet MS"/>
              </a:rPr>
              <a:t>  </a:t>
            </a:r>
            <a:r>
              <a:rPr sz="1800" b="1" spc="160" dirty="0">
                <a:latin typeface="Trebuchet MS"/>
                <a:cs typeface="Trebuchet MS"/>
              </a:rPr>
              <a:t>controle</a:t>
            </a:r>
            <a:r>
              <a:rPr sz="1800" b="1" spc="335" dirty="0">
                <a:latin typeface="Trebuchet MS"/>
                <a:cs typeface="Trebuchet MS"/>
              </a:rPr>
              <a:t>  </a:t>
            </a:r>
            <a:r>
              <a:rPr sz="1800" spc="135" dirty="0">
                <a:latin typeface="Trebuchet MS"/>
                <a:cs typeface="Trebuchet MS"/>
              </a:rPr>
              <a:t>das </a:t>
            </a:r>
            <a:r>
              <a:rPr sz="1800" spc="130" dirty="0">
                <a:latin typeface="Trebuchet MS"/>
                <a:cs typeface="Trebuchet MS"/>
              </a:rPr>
              <a:t>componentes</a:t>
            </a:r>
            <a:r>
              <a:rPr sz="1800" spc="30" dirty="0">
                <a:latin typeface="Trebuchet MS"/>
                <a:cs typeface="Trebuchet MS"/>
              </a:rPr>
              <a:t> </a:t>
            </a:r>
            <a:r>
              <a:rPr sz="1800" spc="185" dirty="0">
                <a:latin typeface="Trebuchet MS"/>
                <a:cs typeface="Trebuchet MS"/>
              </a:rPr>
              <a:t>RGB</a:t>
            </a:r>
            <a:r>
              <a:rPr sz="1800" spc="35" dirty="0">
                <a:latin typeface="Trebuchet MS"/>
                <a:cs typeface="Trebuchet MS"/>
              </a:rPr>
              <a:t> </a:t>
            </a:r>
            <a:r>
              <a:rPr sz="1800" spc="114" dirty="0">
                <a:latin typeface="Trebuchet MS"/>
                <a:cs typeface="Trebuchet MS"/>
              </a:rPr>
              <a:t>e</a:t>
            </a:r>
            <a:r>
              <a:rPr sz="1800" spc="45" dirty="0">
                <a:latin typeface="Trebuchet MS"/>
                <a:cs typeface="Trebuchet MS"/>
              </a:rPr>
              <a:t> </a:t>
            </a:r>
            <a:r>
              <a:rPr sz="1800" spc="85" dirty="0">
                <a:latin typeface="Trebuchet MS"/>
                <a:cs typeface="Trebuchet MS"/>
              </a:rPr>
              <a:t>HSL.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dissolv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635569"/>
            <a:ext cx="6096000" cy="45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0119">
              <a:lnSpc>
                <a:spcPct val="100000"/>
              </a:lnSpc>
              <a:spcBef>
                <a:spcPts val="100"/>
              </a:spcBef>
            </a:pPr>
            <a:r>
              <a:rPr lang="pt-BR" spc="-30" dirty="0"/>
              <a:t>Engenharia Cognitiva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1891029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3091179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939" y="3610609"/>
            <a:ext cx="95250" cy="952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23289" y="1727200"/>
            <a:ext cx="8660130" cy="4820743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6985" algn="just">
              <a:lnSpc>
                <a:spcPct val="92900"/>
              </a:lnSpc>
              <a:spcBef>
                <a:spcPts val="305"/>
              </a:spcBef>
            </a:pPr>
            <a:r>
              <a:rPr sz="2400" dirty="0">
                <a:latin typeface="Microsoft Sans Serif"/>
                <a:cs typeface="Microsoft Sans Serif"/>
              </a:rPr>
              <a:t>Abordagem </a:t>
            </a:r>
            <a:r>
              <a:rPr sz="2400" dirty="0">
                <a:solidFill>
                  <a:srgbClr val="FF0000"/>
                </a:solidFill>
                <a:latin typeface="Microsoft Sans Serif"/>
                <a:cs typeface="Microsoft Sans Serif"/>
              </a:rPr>
              <a:t>de</a:t>
            </a:r>
            <a:r>
              <a:rPr sz="2400" spc="-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0000"/>
                </a:solidFill>
                <a:latin typeface="Microsoft Sans Serif"/>
                <a:cs typeface="Microsoft Sans Serif"/>
              </a:rPr>
              <a:t>projeto</a:t>
            </a:r>
            <a:r>
              <a:rPr sz="2400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0000"/>
                </a:solidFill>
                <a:latin typeface="Microsoft Sans Serif"/>
                <a:cs typeface="Microsoft Sans Serif"/>
              </a:rPr>
              <a:t>(design)</a:t>
            </a:r>
            <a:r>
              <a:rPr sz="2400" spc="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centrado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no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usuário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que</a:t>
            </a:r>
            <a:r>
              <a:rPr sz="2400" spc="-10" dirty="0">
                <a:latin typeface="Microsoft Sans Serif"/>
                <a:cs typeface="Microsoft Sans Serif"/>
              </a:rPr>
              <a:t> estuda </a:t>
            </a:r>
            <a:r>
              <a:rPr sz="2400" dirty="0">
                <a:latin typeface="Microsoft Sans Serif"/>
                <a:cs typeface="Microsoft Sans Serif"/>
              </a:rPr>
              <a:t>os</a:t>
            </a:r>
            <a:r>
              <a:rPr sz="2400" spc="95" dirty="0">
                <a:latin typeface="Microsoft Sans Serif"/>
                <a:cs typeface="Microsoft Sans Serif"/>
              </a:rPr>
              <a:t>  </a:t>
            </a:r>
            <a:r>
              <a:rPr sz="2400" dirty="0">
                <a:latin typeface="Microsoft Sans Serif"/>
                <a:cs typeface="Microsoft Sans Serif"/>
              </a:rPr>
              <a:t>fenômenos</a:t>
            </a:r>
            <a:r>
              <a:rPr sz="2400" spc="90" dirty="0">
                <a:latin typeface="Microsoft Sans Serif"/>
                <a:cs typeface="Microsoft Sans Serif"/>
              </a:rPr>
              <a:t>  </a:t>
            </a:r>
            <a:r>
              <a:rPr sz="2400" dirty="0">
                <a:latin typeface="Microsoft Sans Serif"/>
                <a:cs typeface="Microsoft Sans Serif"/>
              </a:rPr>
              <a:t>que</a:t>
            </a:r>
            <a:r>
              <a:rPr sz="2400" spc="90" dirty="0">
                <a:latin typeface="Microsoft Sans Serif"/>
                <a:cs typeface="Microsoft Sans Serif"/>
              </a:rPr>
              <a:t>  </a:t>
            </a:r>
            <a:r>
              <a:rPr sz="2400" dirty="0">
                <a:latin typeface="Microsoft Sans Serif"/>
                <a:cs typeface="Microsoft Sans Serif"/>
              </a:rPr>
              <a:t>ocorrem</a:t>
            </a:r>
            <a:r>
              <a:rPr sz="2400" spc="95" dirty="0">
                <a:latin typeface="Microsoft Sans Serif"/>
                <a:cs typeface="Microsoft Sans Serif"/>
              </a:rPr>
              <a:t>  </a:t>
            </a:r>
            <a:r>
              <a:rPr sz="2400" dirty="0">
                <a:latin typeface="Microsoft Sans Serif"/>
                <a:cs typeface="Microsoft Sans Serif"/>
              </a:rPr>
              <a:t>durante</a:t>
            </a:r>
            <a:r>
              <a:rPr sz="2400" spc="95" dirty="0">
                <a:latin typeface="Microsoft Sans Serif"/>
                <a:cs typeface="Microsoft Sans Serif"/>
              </a:rPr>
              <a:t> 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90" dirty="0">
                <a:latin typeface="Microsoft Sans Serif"/>
                <a:cs typeface="Microsoft Sans Serif"/>
              </a:rPr>
              <a:t>  </a:t>
            </a:r>
            <a:r>
              <a:rPr sz="2400" dirty="0">
                <a:latin typeface="Microsoft Sans Serif"/>
                <a:cs typeface="Microsoft Sans Serif"/>
              </a:rPr>
              <a:t>interação</a:t>
            </a:r>
            <a:r>
              <a:rPr sz="2400" spc="95" dirty="0">
                <a:latin typeface="Microsoft Sans Serif"/>
                <a:cs typeface="Microsoft Sans Serif"/>
              </a:rPr>
              <a:t>  </a:t>
            </a:r>
            <a:r>
              <a:rPr sz="2400" dirty="0">
                <a:latin typeface="Microsoft Sans Serif"/>
                <a:cs typeface="Microsoft Sans Serif"/>
              </a:rPr>
              <a:t>dele</a:t>
            </a:r>
            <a:r>
              <a:rPr sz="2400" spc="90" dirty="0">
                <a:latin typeface="Microsoft Sans Serif"/>
                <a:cs typeface="Microsoft Sans Serif"/>
              </a:rPr>
              <a:t>  </a:t>
            </a:r>
            <a:r>
              <a:rPr sz="2400" spc="-25" dirty="0">
                <a:latin typeface="Microsoft Sans Serif"/>
                <a:cs typeface="Microsoft Sans Serif"/>
              </a:rPr>
              <a:t>com </a:t>
            </a:r>
            <a:r>
              <a:rPr sz="2400" dirty="0">
                <a:latin typeface="Microsoft Sans Serif"/>
                <a:cs typeface="Microsoft Sans Serif"/>
              </a:rPr>
              <a:t>artefato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cognitivo;</a:t>
            </a:r>
            <a:endParaRPr sz="2400" dirty="0">
              <a:latin typeface="Microsoft Sans Serif"/>
              <a:cs typeface="Microsoft Sans Serif"/>
            </a:endParaRPr>
          </a:p>
          <a:p>
            <a:pPr marL="12700" algn="just">
              <a:lnSpc>
                <a:spcPct val="100000"/>
              </a:lnSpc>
              <a:spcBef>
                <a:spcPts val="1220"/>
              </a:spcBef>
            </a:pPr>
            <a:r>
              <a:rPr sz="2400" b="1" dirty="0">
                <a:latin typeface="Arial"/>
                <a:cs typeface="Arial"/>
              </a:rPr>
              <a:t>Artefato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cognitivo:</a:t>
            </a:r>
            <a:endParaRPr sz="2400" dirty="0">
              <a:latin typeface="Arial"/>
              <a:cs typeface="Arial"/>
            </a:endParaRPr>
          </a:p>
          <a:p>
            <a:pPr marL="444500" marR="7620" algn="just">
              <a:lnSpc>
                <a:spcPts val="2670"/>
              </a:lnSpc>
              <a:spcBef>
                <a:spcPts val="1470"/>
              </a:spcBef>
            </a:pPr>
            <a:r>
              <a:rPr sz="2400" dirty="0">
                <a:latin typeface="Microsoft Sans Serif"/>
                <a:cs typeface="Microsoft Sans Serif"/>
              </a:rPr>
              <a:t>É</a:t>
            </a:r>
            <a:r>
              <a:rPr sz="2400" spc="1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um</a:t>
            </a:r>
            <a:r>
              <a:rPr sz="2400" spc="114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dispositivo</a:t>
            </a:r>
            <a:r>
              <a:rPr sz="2400" spc="1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artificial</a:t>
            </a:r>
            <a:r>
              <a:rPr sz="2400" spc="114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projetado</a:t>
            </a:r>
            <a:r>
              <a:rPr sz="2400" spc="1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para</a:t>
            </a:r>
            <a:r>
              <a:rPr sz="2400" spc="1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manter,</a:t>
            </a:r>
            <a:r>
              <a:rPr sz="2400" spc="11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apresentar </a:t>
            </a:r>
            <a:r>
              <a:rPr sz="2400" dirty="0">
                <a:latin typeface="Microsoft Sans Serif"/>
                <a:cs typeface="Microsoft Sans Serif"/>
              </a:rPr>
              <a:t>ou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manipular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informações;</a:t>
            </a:r>
            <a:endParaRPr sz="2400" dirty="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92900"/>
              </a:lnSpc>
              <a:spcBef>
                <a:spcPts val="1080"/>
              </a:spcBef>
            </a:pPr>
            <a:r>
              <a:rPr lang="pt-BR" sz="2400" dirty="0">
                <a:latin typeface="Microsoft Sans Serif"/>
                <a:cs typeface="Microsoft Sans Serif"/>
              </a:rPr>
              <a:t>Norman propus a teoria que distingue </a:t>
            </a:r>
            <a:r>
              <a:rPr lang="pt-BR" sz="2400" dirty="0">
                <a:solidFill>
                  <a:srgbClr val="C00000"/>
                </a:solidFill>
                <a:latin typeface="Microsoft Sans Serif"/>
                <a:cs typeface="Microsoft Sans Serif"/>
              </a:rPr>
              <a:t>vários estágios </a:t>
            </a:r>
            <a:r>
              <a:rPr lang="pt-BR" sz="2400" dirty="0">
                <a:latin typeface="Microsoft Sans Serif"/>
                <a:cs typeface="Microsoft Sans Serif"/>
              </a:rPr>
              <a:t>de atividade durante a interação.</a:t>
            </a:r>
          </a:p>
          <a:p>
            <a:pPr marL="12700" marR="5080" algn="just">
              <a:lnSpc>
                <a:spcPct val="92900"/>
              </a:lnSpc>
              <a:spcBef>
                <a:spcPts val="1080"/>
              </a:spcBef>
            </a:pPr>
            <a:r>
              <a:rPr lang="pt-BR" sz="2400" dirty="0">
                <a:latin typeface="Microsoft Sans Serif"/>
                <a:cs typeface="Microsoft Sans Serif"/>
              </a:rPr>
              <a:t>A</a:t>
            </a:r>
            <a:r>
              <a:rPr lang="pt-BR" sz="2400" spc="-30" dirty="0">
                <a:latin typeface="Microsoft Sans Serif"/>
                <a:cs typeface="Microsoft Sans Serif"/>
              </a:rPr>
              <a:t> </a:t>
            </a:r>
            <a:r>
              <a:rPr lang="pt-BR" sz="2400" dirty="0">
                <a:latin typeface="Microsoft Sans Serif"/>
                <a:cs typeface="Microsoft Sans Serif"/>
              </a:rPr>
              <a:t>principal</a:t>
            </a:r>
            <a:r>
              <a:rPr lang="pt-BR" sz="2400" spc="80" dirty="0">
                <a:latin typeface="Microsoft Sans Serif"/>
                <a:cs typeface="Microsoft Sans Serif"/>
              </a:rPr>
              <a:t> </a:t>
            </a:r>
            <a:r>
              <a:rPr lang="pt-BR" sz="2400" dirty="0">
                <a:latin typeface="Microsoft Sans Serif"/>
                <a:cs typeface="Microsoft Sans Serif"/>
              </a:rPr>
              <a:t>questão</a:t>
            </a:r>
            <a:r>
              <a:rPr lang="pt-BR" sz="2400" spc="90" dirty="0">
                <a:latin typeface="Microsoft Sans Serif"/>
                <a:cs typeface="Microsoft Sans Serif"/>
              </a:rPr>
              <a:t> </a:t>
            </a:r>
            <a:r>
              <a:rPr lang="pt-BR" sz="2400" dirty="0">
                <a:latin typeface="Microsoft Sans Serif"/>
                <a:cs typeface="Microsoft Sans Serif"/>
              </a:rPr>
              <a:t>na</a:t>
            </a:r>
            <a:r>
              <a:rPr lang="pt-BR" sz="2400" spc="95" dirty="0">
                <a:latin typeface="Microsoft Sans Serif"/>
                <a:cs typeface="Microsoft Sans Serif"/>
              </a:rPr>
              <a:t> </a:t>
            </a:r>
            <a:r>
              <a:rPr lang="pt-BR" sz="2400" dirty="0">
                <a:latin typeface="Microsoft Sans Serif"/>
                <a:cs typeface="Microsoft Sans Serif"/>
              </a:rPr>
              <a:t>eng.</a:t>
            </a:r>
            <a:r>
              <a:rPr lang="pt-BR" sz="2400" spc="105" dirty="0">
                <a:latin typeface="Microsoft Sans Serif"/>
                <a:cs typeface="Microsoft Sans Serif"/>
              </a:rPr>
              <a:t> </a:t>
            </a:r>
            <a:r>
              <a:rPr lang="pt-BR" sz="2400" dirty="0">
                <a:latin typeface="Microsoft Sans Serif"/>
                <a:cs typeface="Microsoft Sans Serif"/>
              </a:rPr>
              <a:t>cognitiva</a:t>
            </a:r>
            <a:r>
              <a:rPr lang="pt-BR" sz="2400" spc="85" dirty="0">
                <a:latin typeface="Microsoft Sans Serif"/>
                <a:cs typeface="Microsoft Sans Serif"/>
              </a:rPr>
              <a:t> </a:t>
            </a:r>
            <a:r>
              <a:rPr lang="pt-BR" sz="2400" dirty="0">
                <a:latin typeface="Microsoft Sans Serif"/>
                <a:cs typeface="Microsoft Sans Serif"/>
              </a:rPr>
              <a:t>é</a:t>
            </a:r>
            <a:r>
              <a:rPr lang="pt-BR" sz="2400" spc="95" dirty="0">
                <a:latin typeface="Microsoft Sans Serif"/>
                <a:cs typeface="Microsoft Sans Serif"/>
              </a:rPr>
              <a:t> </a:t>
            </a:r>
            <a:r>
              <a:rPr lang="pt-BR" sz="2400" dirty="0">
                <a:latin typeface="Microsoft Sans Serif"/>
                <a:cs typeface="Microsoft Sans Serif"/>
              </a:rPr>
              <a:t>a</a:t>
            </a:r>
            <a:r>
              <a:rPr lang="pt-BR" sz="2400" spc="90" dirty="0">
                <a:latin typeface="Microsoft Sans Serif"/>
                <a:cs typeface="Microsoft Sans Serif"/>
              </a:rPr>
              <a:t> </a:t>
            </a:r>
            <a:r>
              <a:rPr lang="pt-BR" sz="2400" dirty="0">
                <a:latin typeface="Microsoft Sans Serif"/>
                <a:cs typeface="Microsoft Sans Serif"/>
              </a:rPr>
              <a:t>discrepância</a:t>
            </a:r>
            <a:r>
              <a:rPr lang="pt-BR" sz="2400" spc="90" dirty="0">
                <a:latin typeface="Microsoft Sans Serif"/>
                <a:cs typeface="Microsoft Sans Serif"/>
              </a:rPr>
              <a:t> </a:t>
            </a:r>
            <a:r>
              <a:rPr lang="pt-BR" sz="2400" dirty="0">
                <a:latin typeface="Microsoft Sans Serif"/>
                <a:cs typeface="Microsoft Sans Serif"/>
              </a:rPr>
              <a:t>entre</a:t>
            </a:r>
            <a:r>
              <a:rPr lang="pt-BR" sz="2400" spc="85" dirty="0">
                <a:latin typeface="Microsoft Sans Serif"/>
                <a:cs typeface="Microsoft Sans Serif"/>
              </a:rPr>
              <a:t> </a:t>
            </a:r>
            <a:r>
              <a:rPr lang="pt-BR" sz="2400" spc="-25" dirty="0">
                <a:latin typeface="Microsoft Sans Serif"/>
                <a:cs typeface="Microsoft Sans Serif"/>
              </a:rPr>
              <a:t>as </a:t>
            </a:r>
            <a:r>
              <a:rPr lang="pt-BR" sz="2400" dirty="0">
                <a:latin typeface="Microsoft Sans Serif"/>
                <a:cs typeface="Microsoft Sans Serif"/>
              </a:rPr>
              <a:t>variáveis</a:t>
            </a:r>
            <a:r>
              <a:rPr lang="pt-BR" sz="2400" spc="75" dirty="0">
                <a:latin typeface="Microsoft Sans Serif"/>
                <a:cs typeface="Microsoft Sans Serif"/>
              </a:rPr>
              <a:t>  </a:t>
            </a:r>
            <a:r>
              <a:rPr lang="pt-BR" sz="2400" dirty="0">
                <a:latin typeface="Microsoft Sans Serif"/>
                <a:cs typeface="Microsoft Sans Serif"/>
              </a:rPr>
              <a:t>psicológicas</a:t>
            </a:r>
            <a:r>
              <a:rPr lang="pt-BR" sz="2400" spc="80" dirty="0">
                <a:latin typeface="Microsoft Sans Serif"/>
                <a:cs typeface="Microsoft Sans Serif"/>
              </a:rPr>
              <a:t>  </a:t>
            </a:r>
            <a:r>
              <a:rPr lang="pt-BR" sz="2400" dirty="0">
                <a:latin typeface="Microsoft Sans Serif"/>
                <a:cs typeface="Microsoft Sans Serif"/>
              </a:rPr>
              <a:t>(</a:t>
            </a:r>
            <a:r>
              <a:rPr lang="pt-BR" sz="2400" dirty="0" err="1">
                <a:latin typeface="Microsoft Sans Serif"/>
                <a:cs typeface="Microsoft Sans Serif"/>
              </a:rPr>
              <a:t>obj</a:t>
            </a:r>
            <a:r>
              <a:rPr lang="pt-BR" sz="2400" dirty="0">
                <a:latin typeface="Microsoft Sans Serif"/>
                <a:cs typeface="Microsoft Sans Serif"/>
              </a:rPr>
              <a:t>.</a:t>
            </a:r>
            <a:r>
              <a:rPr lang="pt-BR" sz="2400" spc="80" dirty="0">
                <a:latin typeface="Microsoft Sans Serif"/>
                <a:cs typeface="Microsoft Sans Serif"/>
              </a:rPr>
              <a:t>  </a:t>
            </a:r>
            <a:r>
              <a:rPr lang="pt-BR" sz="2400" dirty="0">
                <a:latin typeface="Microsoft Sans Serif"/>
                <a:cs typeface="Microsoft Sans Serif"/>
              </a:rPr>
              <a:t>das</a:t>
            </a:r>
            <a:r>
              <a:rPr lang="pt-BR" sz="2400" spc="75" dirty="0">
                <a:latin typeface="Microsoft Sans Serif"/>
                <a:cs typeface="Microsoft Sans Serif"/>
              </a:rPr>
              <a:t>  </a:t>
            </a:r>
            <a:r>
              <a:rPr lang="pt-BR" sz="2400" dirty="0">
                <a:latin typeface="Microsoft Sans Serif"/>
                <a:cs typeface="Microsoft Sans Serif"/>
              </a:rPr>
              <a:t>pessoas)</a:t>
            </a:r>
            <a:r>
              <a:rPr lang="pt-BR" sz="2400" spc="85" dirty="0">
                <a:latin typeface="Microsoft Sans Serif"/>
                <a:cs typeface="Microsoft Sans Serif"/>
              </a:rPr>
              <a:t>  </a:t>
            </a:r>
            <a:r>
              <a:rPr lang="pt-BR" sz="2400" dirty="0">
                <a:latin typeface="Microsoft Sans Serif"/>
                <a:cs typeface="Microsoft Sans Serif"/>
              </a:rPr>
              <a:t>e</a:t>
            </a:r>
            <a:r>
              <a:rPr lang="pt-BR" sz="2400" spc="70" dirty="0">
                <a:latin typeface="Microsoft Sans Serif"/>
                <a:cs typeface="Microsoft Sans Serif"/>
              </a:rPr>
              <a:t>  </a:t>
            </a:r>
            <a:r>
              <a:rPr lang="pt-BR" sz="2400" dirty="0">
                <a:latin typeface="Microsoft Sans Serif"/>
                <a:cs typeface="Microsoft Sans Serif"/>
              </a:rPr>
              <a:t>os</a:t>
            </a:r>
            <a:r>
              <a:rPr lang="pt-BR" sz="2400" spc="85" dirty="0">
                <a:latin typeface="Microsoft Sans Serif"/>
                <a:cs typeface="Microsoft Sans Serif"/>
              </a:rPr>
              <a:t>  </a:t>
            </a:r>
            <a:r>
              <a:rPr lang="pt-BR" sz="2400" dirty="0">
                <a:latin typeface="Microsoft Sans Serif"/>
                <a:cs typeface="Microsoft Sans Serif"/>
              </a:rPr>
              <a:t>controles</a:t>
            </a:r>
            <a:r>
              <a:rPr lang="pt-BR" sz="2400" spc="75" dirty="0">
                <a:latin typeface="Microsoft Sans Serif"/>
                <a:cs typeface="Microsoft Sans Serif"/>
              </a:rPr>
              <a:t>  </a:t>
            </a:r>
            <a:r>
              <a:rPr lang="pt-BR" sz="2400" spc="-50" dirty="0">
                <a:latin typeface="Microsoft Sans Serif"/>
                <a:cs typeface="Microsoft Sans Serif"/>
              </a:rPr>
              <a:t>e </a:t>
            </a:r>
            <a:r>
              <a:rPr lang="pt-BR" sz="2400" dirty="0">
                <a:latin typeface="Microsoft Sans Serif"/>
                <a:cs typeface="Microsoft Sans Serif"/>
              </a:rPr>
              <a:t>variáveis</a:t>
            </a:r>
            <a:r>
              <a:rPr lang="pt-BR" sz="2400" spc="300" dirty="0">
                <a:latin typeface="Microsoft Sans Serif"/>
                <a:cs typeface="Microsoft Sans Serif"/>
              </a:rPr>
              <a:t>  </a:t>
            </a:r>
            <a:r>
              <a:rPr lang="pt-BR" sz="2400" dirty="0">
                <a:latin typeface="Microsoft Sans Serif"/>
                <a:cs typeface="Microsoft Sans Serif"/>
              </a:rPr>
              <a:t>físicos</a:t>
            </a:r>
            <a:r>
              <a:rPr lang="pt-BR" sz="2400" spc="305" dirty="0">
                <a:latin typeface="Microsoft Sans Serif"/>
                <a:cs typeface="Microsoft Sans Serif"/>
              </a:rPr>
              <a:t>  </a:t>
            </a:r>
            <a:r>
              <a:rPr lang="pt-BR" sz="2400" dirty="0">
                <a:latin typeface="Microsoft Sans Serif"/>
                <a:cs typeface="Microsoft Sans Serif"/>
              </a:rPr>
              <a:t>(mecanismo</a:t>
            </a:r>
            <a:r>
              <a:rPr lang="pt-BR" sz="2400" spc="305" dirty="0">
                <a:latin typeface="Microsoft Sans Serif"/>
                <a:cs typeface="Microsoft Sans Serif"/>
              </a:rPr>
              <a:t>  </a:t>
            </a:r>
            <a:r>
              <a:rPr lang="pt-BR" sz="2400" dirty="0">
                <a:latin typeface="Microsoft Sans Serif"/>
                <a:cs typeface="Microsoft Sans Serif"/>
              </a:rPr>
              <a:t>de</a:t>
            </a:r>
            <a:r>
              <a:rPr lang="pt-BR" sz="2400" spc="300" dirty="0">
                <a:latin typeface="Microsoft Sans Serif"/>
                <a:cs typeface="Microsoft Sans Serif"/>
              </a:rPr>
              <a:t>  </a:t>
            </a:r>
            <a:r>
              <a:rPr lang="pt-BR" sz="2400" dirty="0">
                <a:latin typeface="Microsoft Sans Serif"/>
                <a:cs typeface="Microsoft Sans Serif"/>
              </a:rPr>
              <a:t>interação</a:t>
            </a:r>
            <a:r>
              <a:rPr lang="pt-BR" sz="2400" spc="305" dirty="0">
                <a:latin typeface="Microsoft Sans Serif"/>
                <a:cs typeface="Microsoft Sans Serif"/>
              </a:rPr>
              <a:t>  </a:t>
            </a:r>
            <a:r>
              <a:rPr lang="pt-BR" sz="2400" dirty="0">
                <a:latin typeface="Microsoft Sans Serif"/>
                <a:cs typeface="Microsoft Sans Serif"/>
              </a:rPr>
              <a:t>e</a:t>
            </a:r>
            <a:r>
              <a:rPr lang="pt-BR" sz="2400" spc="300" dirty="0">
                <a:latin typeface="Microsoft Sans Serif"/>
                <a:cs typeface="Microsoft Sans Serif"/>
              </a:rPr>
              <a:t>  </a:t>
            </a:r>
            <a:r>
              <a:rPr lang="pt-BR" sz="2400" dirty="0">
                <a:latin typeface="Microsoft Sans Serif"/>
                <a:cs typeface="Microsoft Sans Serif"/>
              </a:rPr>
              <a:t>estados</a:t>
            </a:r>
            <a:r>
              <a:rPr lang="pt-BR" sz="2400" spc="305" dirty="0">
                <a:latin typeface="Microsoft Sans Serif"/>
                <a:cs typeface="Microsoft Sans Serif"/>
              </a:rPr>
              <a:t>  </a:t>
            </a:r>
            <a:r>
              <a:rPr lang="pt-BR" sz="2400" spc="-25" dirty="0">
                <a:latin typeface="Microsoft Sans Serif"/>
                <a:cs typeface="Microsoft Sans Serif"/>
              </a:rPr>
              <a:t>do </a:t>
            </a:r>
            <a:r>
              <a:rPr lang="pt-BR" sz="2400" spc="-10" dirty="0">
                <a:latin typeface="Microsoft Sans Serif"/>
                <a:cs typeface="Microsoft Sans Serif"/>
              </a:rPr>
              <a:t>sistema);</a:t>
            </a:r>
            <a:endParaRPr lang="pt-BR" sz="2400" dirty="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40" y="4434840"/>
            <a:ext cx="95250" cy="95250"/>
          </a:xfrm>
          <a:prstGeom prst="rect">
            <a:avLst/>
          </a:prstGeom>
        </p:spPr>
      </p:pic>
      <p:sp>
        <p:nvSpPr>
          <p:cNvPr id="10" name="object 4"/>
          <p:cNvSpPr txBox="1"/>
          <p:nvPr/>
        </p:nvSpPr>
        <p:spPr>
          <a:xfrm>
            <a:off x="1043939" y="6547943"/>
            <a:ext cx="8660130" cy="68352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2460"/>
              </a:lnSpc>
              <a:spcBef>
                <a:spcPts val="330"/>
              </a:spcBef>
              <a:tabLst>
                <a:tab pos="1230630" algn="l"/>
                <a:tab pos="2625090" algn="l"/>
                <a:tab pos="3367404" algn="l"/>
                <a:tab pos="5088255" algn="l"/>
                <a:tab pos="6156960" algn="l"/>
                <a:tab pos="6619240" algn="l"/>
                <a:tab pos="7283450" algn="l"/>
                <a:tab pos="8180705" algn="l"/>
              </a:tabLst>
            </a:pPr>
            <a:r>
              <a:rPr sz="2200" spc="-10" dirty="0">
                <a:latin typeface="Microsoft Sans Serif"/>
                <a:cs typeface="Microsoft Sans Serif"/>
              </a:rPr>
              <a:t>Normam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10" dirty="0">
                <a:latin typeface="Microsoft Sans Serif"/>
                <a:cs typeface="Microsoft Sans Serif"/>
              </a:rPr>
              <a:t>apresenta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0" dirty="0">
                <a:latin typeface="Microsoft Sans Serif"/>
                <a:cs typeface="Microsoft Sans Serif"/>
              </a:rPr>
              <a:t>essa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10" dirty="0">
                <a:latin typeface="Microsoft Sans Serif"/>
                <a:cs typeface="Microsoft Sans Serif"/>
              </a:rPr>
              <a:t>discrepância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10" dirty="0">
                <a:latin typeface="Microsoft Sans Serif"/>
                <a:cs typeface="Microsoft Sans Serif"/>
              </a:rPr>
              <a:t>através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de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0" dirty="0">
                <a:latin typeface="Microsoft Sans Serif"/>
                <a:cs typeface="Microsoft Sans Serif"/>
              </a:rPr>
              <a:t>dois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10" dirty="0">
                <a:latin typeface="Microsoft Sans Serif"/>
                <a:cs typeface="Microsoft Sans Serif"/>
              </a:rPr>
              <a:t>golfos</a:t>
            </a:r>
            <a:r>
              <a:rPr sz="2200" dirty="0">
                <a:latin typeface="Microsoft Sans Serif"/>
                <a:cs typeface="Microsoft Sans Serif"/>
              </a:rPr>
              <a:t>	</a:t>
            </a:r>
            <a:r>
              <a:rPr sz="2200" spc="-25" dirty="0">
                <a:latin typeface="Microsoft Sans Serif"/>
                <a:cs typeface="Microsoft Sans Serif"/>
              </a:rPr>
              <a:t>que </a:t>
            </a:r>
            <a:r>
              <a:rPr sz="2200" dirty="0">
                <a:latin typeface="Microsoft Sans Serif"/>
                <a:cs typeface="Microsoft Sans Serif"/>
              </a:rPr>
              <a:t>precisam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ser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spc="-10" dirty="0" err="1">
                <a:latin typeface="Microsoft Sans Serif"/>
                <a:cs typeface="Microsoft Sans Serif"/>
              </a:rPr>
              <a:t>atravessados</a:t>
            </a:r>
            <a:r>
              <a:rPr sz="2200" spc="-10" dirty="0">
                <a:latin typeface="Microsoft Sans Serif"/>
                <a:cs typeface="Microsoft Sans Serif"/>
              </a:rPr>
              <a:t>:</a:t>
            </a:r>
            <a:endParaRPr sz="22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dissolv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86940" y="365338"/>
            <a:ext cx="4689805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dirty="0">
                <a:latin typeface="Arial MT"/>
                <a:cs typeface="Arial MT"/>
              </a:rPr>
              <a:t>IHC</a:t>
            </a:r>
            <a:r>
              <a:rPr sz="2800" b="0" spc="-4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como</a:t>
            </a:r>
            <a:r>
              <a:rPr sz="2800" b="0" spc="-4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travessia</a:t>
            </a:r>
            <a:r>
              <a:rPr sz="2800" b="0" spc="-5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de</a:t>
            </a:r>
            <a:r>
              <a:rPr sz="2800" b="0" spc="-4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2</a:t>
            </a:r>
            <a:r>
              <a:rPr sz="2800" b="0" spc="-45" dirty="0">
                <a:latin typeface="Arial MT"/>
                <a:cs typeface="Arial MT"/>
              </a:rPr>
              <a:t> </a:t>
            </a:r>
            <a:r>
              <a:rPr sz="2800" b="0" spc="-10" dirty="0">
                <a:latin typeface="Arial MT"/>
                <a:cs typeface="Arial MT"/>
              </a:rPr>
              <a:t>golfos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1911" y="1592071"/>
            <a:ext cx="729339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Para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Engenharia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Cognitiva,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interação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humano- </a:t>
            </a:r>
            <a:r>
              <a:rPr sz="2400" dirty="0">
                <a:latin typeface="Arial MT"/>
                <a:cs typeface="Arial MT"/>
              </a:rPr>
              <a:t>computador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é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uma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travessia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dois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golfos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que </a:t>
            </a:r>
            <a:r>
              <a:rPr sz="2400" dirty="0">
                <a:latin typeface="Arial MT"/>
                <a:cs typeface="Arial MT"/>
              </a:rPr>
              <a:t>separam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usuário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sistema: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o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Golfo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Execução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o </a:t>
            </a:r>
            <a:r>
              <a:rPr sz="2400" b="1" dirty="0">
                <a:latin typeface="Arial"/>
                <a:cs typeface="Arial"/>
              </a:rPr>
              <a:t>Golfo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Avaliação.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11967" y="3941064"/>
            <a:ext cx="1349696" cy="1278890"/>
            <a:chOff x="1391280" y="3941064"/>
            <a:chExt cx="1431290" cy="1278890"/>
          </a:xfrm>
        </p:grpSpPr>
        <p:sp>
          <p:nvSpPr>
            <p:cNvPr id="7" name="object 7"/>
            <p:cNvSpPr/>
            <p:nvPr/>
          </p:nvSpPr>
          <p:spPr>
            <a:xfrm>
              <a:off x="1403472" y="4130039"/>
              <a:ext cx="1405255" cy="1076325"/>
            </a:xfrm>
            <a:custGeom>
              <a:avLst/>
              <a:gdLst/>
              <a:ahLst/>
              <a:cxnLst/>
              <a:rect l="l" t="t" r="r" b="b"/>
              <a:pathLst>
                <a:path w="1405255" h="1076325">
                  <a:moveTo>
                    <a:pt x="1405121" y="1075943"/>
                  </a:moveTo>
                  <a:lnTo>
                    <a:pt x="1045457" y="440435"/>
                  </a:lnTo>
                  <a:lnTo>
                    <a:pt x="1356353" y="0"/>
                  </a:lnTo>
                  <a:lnTo>
                    <a:pt x="899153" y="163067"/>
                  </a:lnTo>
                  <a:lnTo>
                    <a:pt x="685793" y="243839"/>
                  </a:lnTo>
                  <a:lnTo>
                    <a:pt x="0" y="374903"/>
                  </a:lnTo>
                  <a:lnTo>
                    <a:pt x="554729" y="504443"/>
                  </a:lnTo>
                  <a:lnTo>
                    <a:pt x="294125" y="815339"/>
                  </a:lnTo>
                  <a:lnTo>
                    <a:pt x="833621" y="603503"/>
                  </a:lnTo>
                  <a:lnTo>
                    <a:pt x="1405121" y="1075943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91280" y="4116324"/>
              <a:ext cx="1431290" cy="1103630"/>
            </a:xfrm>
            <a:custGeom>
              <a:avLst/>
              <a:gdLst/>
              <a:ahLst/>
              <a:cxnLst/>
              <a:rect l="l" t="t" r="r" b="b"/>
              <a:pathLst>
                <a:path w="1431289" h="1103629">
                  <a:moveTo>
                    <a:pt x="701033" y="269748"/>
                  </a:moveTo>
                  <a:lnTo>
                    <a:pt x="696461" y="245364"/>
                  </a:lnTo>
                  <a:lnTo>
                    <a:pt x="9144" y="376428"/>
                  </a:lnTo>
                  <a:lnTo>
                    <a:pt x="4572" y="376428"/>
                  </a:lnTo>
                  <a:lnTo>
                    <a:pt x="0" y="382524"/>
                  </a:lnTo>
                  <a:lnTo>
                    <a:pt x="0" y="394716"/>
                  </a:lnTo>
                  <a:lnTo>
                    <a:pt x="3048" y="399288"/>
                  </a:lnTo>
                  <a:lnTo>
                    <a:pt x="9144" y="400812"/>
                  </a:lnTo>
                  <a:lnTo>
                    <a:pt x="15240" y="402248"/>
                  </a:lnTo>
                  <a:lnTo>
                    <a:pt x="15240" y="376428"/>
                  </a:lnTo>
                  <a:lnTo>
                    <a:pt x="72663" y="389837"/>
                  </a:lnTo>
                  <a:lnTo>
                    <a:pt x="701033" y="269748"/>
                  </a:lnTo>
                  <a:close/>
                </a:path>
                <a:path w="1431289" h="1103629">
                  <a:moveTo>
                    <a:pt x="72663" y="389837"/>
                  </a:moveTo>
                  <a:lnTo>
                    <a:pt x="15240" y="376428"/>
                  </a:lnTo>
                  <a:lnTo>
                    <a:pt x="15240" y="400812"/>
                  </a:lnTo>
                  <a:lnTo>
                    <a:pt x="72663" y="389837"/>
                  </a:lnTo>
                  <a:close/>
                </a:path>
                <a:path w="1431289" h="1103629">
                  <a:moveTo>
                    <a:pt x="580637" y="524256"/>
                  </a:moveTo>
                  <a:lnTo>
                    <a:pt x="580637" y="519684"/>
                  </a:lnTo>
                  <a:lnTo>
                    <a:pt x="577589" y="510540"/>
                  </a:lnTo>
                  <a:lnTo>
                    <a:pt x="574541" y="507492"/>
                  </a:lnTo>
                  <a:lnTo>
                    <a:pt x="569969" y="505968"/>
                  </a:lnTo>
                  <a:lnTo>
                    <a:pt x="72663" y="389837"/>
                  </a:lnTo>
                  <a:lnTo>
                    <a:pt x="15240" y="400812"/>
                  </a:lnTo>
                  <a:lnTo>
                    <a:pt x="15240" y="402248"/>
                  </a:lnTo>
                  <a:lnTo>
                    <a:pt x="544043" y="526844"/>
                  </a:lnTo>
                  <a:lnTo>
                    <a:pt x="557777" y="510540"/>
                  </a:lnTo>
                  <a:lnTo>
                    <a:pt x="565397" y="531876"/>
                  </a:lnTo>
                  <a:lnTo>
                    <a:pt x="565397" y="541693"/>
                  </a:lnTo>
                  <a:lnTo>
                    <a:pt x="577589" y="527304"/>
                  </a:lnTo>
                  <a:lnTo>
                    <a:pt x="580637" y="524256"/>
                  </a:lnTo>
                  <a:close/>
                </a:path>
                <a:path w="1431289" h="1103629">
                  <a:moveTo>
                    <a:pt x="565397" y="541693"/>
                  </a:moveTo>
                  <a:lnTo>
                    <a:pt x="565397" y="531876"/>
                  </a:lnTo>
                  <a:lnTo>
                    <a:pt x="544043" y="526844"/>
                  </a:lnTo>
                  <a:lnTo>
                    <a:pt x="297173" y="819912"/>
                  </a:lnTo>
                  <a:lnTo>
                    <a:pt x="292601" y="824484"/>
                  </a:lnTo>
                  <a:lnTo>
                    <a:pt x="292601" y="830580"/>
                  </a:lnTo>
                  <a:lnTo>
                    <a:pt x="295649" y="836676"/>
                  </a:lnTo>
                  <a:lnTo>
                    <a:pt x="298697" y="841248"/>
                  </a:lnTo>
                  <a:lnTo>
                    <a:pt x="301745" y="842010"/>
                  </a:lnTo>
                  <a:lnTo>
                    <a:pt x="301745" y="816864"/>
                  </a:lnTo>
                  <a:lnTo>
                    <a:pt x="347455" y="798915"/>
                  </a:lnTo>
                  <a:lnTo>
                    <a:pt x="565397" y="541693"/>
                  </a:lnTo>
                  <a:close/>
                </a:path>
                <a:path w="1431289" h="1103629">
                  <a:moveTo>
                    <a:pt x="347455" y="798915"/>
                  </a:moveTo>
                  <a:lnTo>
                    <a:pt x="301745" y="816864"/>
                  </a:lnTo>
                  <a:lnTo>
                    <a:pt x="315461" y="836676"/>
                  </a:lnTo>
                  <a:lnTo>
                    <a:pt x="347455" y="798915"/>
                  </a:lnTo>
                  <a:close/>
                </a:path>
                <a:path w="1431289" h="1103629">
                  <a:moveTo>
                    <a:pt x="1424933" y="1098804"/>
                  </a:moveTo>
                  <a:lnTo>
                    <a:pt x="1424933" y="1080516"/>
                  </a:lnTo>
                  <a:lnTo>
                    <a:pt x="1406645" y="1095756"/>
                  </a:lnTo>
                  <a:lnTo>
                    <a:pt x="1374215" y="1038453"/>
                  </a:lnTo>
                  <a:lnTo>
                    <a:pt x="853433" y="606552"/>
                  </a:lnTo>
                  <a:lnTo>
                    <a:pt x="850385" y="603504"/>
                  </a:lnTo>
                  <a:lnTo>
                    <a:pt x="844289" y="603504"/>
                  </a:lnTo>
                  <a:lnTo>
                    <a:pt x="841241" y="605028"/>
                  </a:lnTo>
                  <a:lnTo>
                    <a:pt x="347455" y="798915"/>
                  </a:lnTo>
                  <a:lnTo>
                    <a:pt x="315461" y="836676"/>
                  </a:lnTo>
                  <a:lnTo>
                    <a:pt x="301745" y="816864"/>
                  </a:lnTo>
                  <a:lnTo>
                    <a:pt x="301745" y="842010"/>
                  </a:lnTo>
                  <a:lnTo>
                    <a:pt x="304793" y="842772"/>
                  </a:lnTo>
                  <a:lnTo>
                    <a:pt x="310889" y="839724"/>
                  </a:lnTo>
                  <a:lnTo>
                    <a:pt x="836669" y="633273"/>
                  </a:lnTo>
                  <a:lnTo>
                    <a:pt x="836669" y="626364"/>
                  </a:lnTo>
                  <a:lnTo>
                    <a:pt x="850385" y="627888"/>
                  </a:lnTo>
                  <a:lnTo>
                    <a:pt x="850385" y="637672"/>
                  </a:lnTo>
                  <a:lnTo>
                    <a:pt x="1409693" y="1098804"/>
                  </a:lnTo>
                  <a:lnTo>
                    <a:pt x="1414265" y="1103376"/>
                  </a:lnTo>
                  <a:lnTo>
                    <a:pt x="1420361" y="1103376"/>
                  </a:lnTo>
                  <a:lnTo>
                    <a:pt x="1424933" y="1098804"/>
                  </a:lnTo>
                  <a:close/>
                </a:path>
                <a:path w="1431289" h="1103629">
                  <a:moveTo>
                    <a:pt x="565397" y="531876"/>
                  </a:moveTo>
                  <a:lnTo>
                    <a:pt x="557777" y="510540"/>
                  </a:lnTo>
                  <a:lnTo>
                    <a:pt x="544043" y="526844"/>
                  </a:lnTo>
                  <a:lnTo>
                    <a:pt x="565397" y="531876"/>
                  </a:lnTo>
                  <a:close/>
                </a:path>
                <a:path w="1431289" h="1103629">
                  <a:moveTo>
                    <a:pt x="850385" y="627888"/>
                  </a:moveTo>
                  <a:lnTo>
                    <a:pt x="836669" y="626364"/>
                  </a:lnTo>
                  <a:lnTo>
                    <a:pt x="842346" y="631044"/>
                  </a:lnTo>
                  <a:lnTo>
                    <a:pt x="850385" y="627888"/>
                  </a:lnTo>
                  <a:close/>
                </a:path>
                <a:path w="1431289" h="1103629">
                  <a:moveTo>
                    <a:pt x="842346" y="631044"/>
                  </a:moveTo>
                  <a:lnTo>
                    <a:pt x="836669" y="626364"/>
                  </a:lnTo>
                  <a:lnTo>
                    <a:pt x="836669" y="633273"/>
                  </a:lnTo>
                  <a:lnTo>
                    <a:pt x="842346" y="631044"/>
                  </a:lnTo>
                  <a:close/>
                </a:path>
                <a:path w="1431289" h="1103629">
                  <a:moveTo>
                    <a:pt x="850385" y="637672"/>
                  </a:moveTo>
                  <a:lnTo>
                    <a:pt x="850385" y="627888"/>
                  </a:lnTo>
                  <a:lnTo>
                    <a:pt x="842346" y="631044"/>
                  </a:lnTo>
                  <a:lnTo>
                    <a:pt x="850385" y="637672"/>
                  </a:lnTo>
                  <a:close/>
                </a:path>
                <a:path w="1431289" h="1103629">
                  <a:moveTo>
                    <a:pt x="1382261" y="16764"/>
                  </a:moveTo>
                  <a:lnTo>
                    <a:pt x="1382261" y="10668"/>
                  </a:lnTo>
                  <a:lnTo>
                    <a:pt x="1377689" y="6096"/>
                  </a:lnTo>
                  <a:lnTo>
                    <a:pt x="1374641" y="1524"/>
                  </a:lnTo>
                  <a:lnTo>
                    <a:pt x="1368545" y="0"/>
                  </a:lnTo>
                  <a:lnTo>
                    <a:pt x="1363973" y="1524"/>
                  </a:lnTo>
                  <a:lnTo>
                    <a:pt x="906773" y="164592"/>
                  </a:lnTo>
                  <a:lnTo>
                    <a:pt x="914393" y="188976"/>
                  </a:lnTo>
                  <a:lnTo>
                    <a:pt x="1334572" y="39112"/>
                  </a:lnTo>
                  <a:lnTo>
                    <a:pt x="1357877" y="6096"/>
                  </a:lnTo>
                  <a:lnTo>
                    <a:pt x="1371593" y="25908"/>
                  </a:lnTo>
                  <a:lnTo>
                    <a:pt x="1371593" y="28490"/>
                  </a:lnTo>
                  <a:lnTo>
                    <a:pt x="1377689" y="19812"/>
                  </a:lnTo>
                  <a:lnTo>
                    <a:pt x="1382261" y="16764"/>
                  </a:lnTo>
                  <a:close/>
                </a:path>
                <a:path w="1431289" h="1103629">
                  <a:moveTo>
                    <a:pt x="1371593" y="28490"/>
                  </a:moveTo>
                  <a:lnTo>
                    <a:pt x="1371593" y="25908"/>
                  </a:lnTo>
                  <a:lnTo>
                    <a:pt x="1334572" y="39112"/>
                  </a:lnTo>
                  <a:lnTo>
                    <a:pt x="1046981" y="446532"/>
                  </a:lnTo>
                  <a:lnTo>
                    <a:pt x="1043933" y="449580"/>
                  </a:lnTo>
                  <a:lnTo>
                    <a:pt x="1043933" y="455676"/>
                  </a:lnTo>
                  <a:lnTo>
                    <a:pt x="1046981" y="460248"/>
                  </a:lnTo>
                  <a:lnTo>
                    <a:pt x="1068317" y="497947"/>
                  </a:lnTo>
                  <a:lnTo>
                    <a:pt x="1068317" y="446532"/>
                  </a:lnTo>
                  <a:lnTo>
                    <a:pt x="1072611" y="454136"/>
                  </a:lnTo>
                  <a:lnTo>
                    <a:pt x="1371593" y="28490"/>
                  </a:lnTo>
                  <a:close/>
                </a:path>
                <a:path w="1431289" h="1103629">
                  <a:moveTo>
                    <a:pt x="1072611" y="454136"/>
                  </a:moveTo>
                  <a:lnTo>
                    <a:pt x="1068317" y="446532"/>
                  </a:lnTo>
                  <a:lnTo>
                    <a:pt x="1068317" y="460248"/>
                  </a:lnTo>
                  <a:lnTo>
                    <a:pt x="1072611" y="454136"/>
                  </a:lnTo>
                  <a:close/>
                </a:path>
                <a:path w="1431289" h="1103629">
                  <a:moveTo>
                    <a:pt x="1431029" y="1088136"/>
                  </a:moveTo>
                  <a:lnTo>
                    <a:pt x="1427981" y="1083564"/>
                  </a:lnTo>
                  <a:lnTo>
                    <a:pt x="1072611" y="454136"/>
                  </a:lnTo>
                  <a:lnTo>
                    <a:pt x="1068317" y="460248"/>
                  </a:lnTo>
                  <a:lnTo>
                    <a:pt x="1068317" y="497947"/>
                  </a:lnTo>
                  <a:lnTo>
                    <a:pt x="1374215" y="1038453"/>
                  </a:lnTo>
                  <a:lnTo>
                    <a:pt x="1424933" y="1080516"/>
                  </a:lnTo>
                  <a:lnTo>
                    <a:pt x="1424933" y="1098804"/>
                  </a:lnTo>
                  <a:lnTo>
                    <a:pt x="1429505" y="1095756"/>
                  </a:lnTo>
                  <a:lnTo>
                    <a:pt x="1431029" y="1088136"/>
                  </a:lnTo>
                  <a:close/>
                </a:path>
                <a:path w="1431289" h="1103629">
                  <a:moveTo>
                    <a:pt x="1371593" y="25908"/>
                  </a:moveTo>
                  <a:lnTo>
                    <a:pt x="1357877" y="6096"/>
                  </a:lnTo>
                  <a:lnTo>
                    <a:pt x="1334572" y="39112"/>
                  </a:lnTo>
                  <a:lnTo>
                    <a:pt x="1371593" y="25908"/>
                  </a:lnTo>
                  <a:close/>
                </a:path>
                <a:path w="1431289" h="1103629">
                  <a:moveTo>
                    <a:pt x="1424933" y="1080516"/>
                  </a:moveTo>
                  <a:lnTo>
                    <a:pt x="1374215" y="1038453"/>
                  </a:lnTo>
                  <a:lnTo>
                    <a:pt x="1406645" y="1095756"/>
                  </a:lnTo>
                  <a:lnTo>
                    <a:pt x="1424933" y="1080516"/>
                  </a:lnTo>
                  <a:close/>
                </a:path>
              </a:pathLst>
            </a:custGeom>
            <a:solidFill>
              <a:srgbClr val="BBBB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68286" y="3953255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69" h="431800">
                  <a:moveTo>
                    <a:pt x="432815" y="216407"/>
                  </a:moveTo>
                  <a:lnTo>
                    <a:pt x="427066" y="166511"/>
                  </a:lnTo>
                  <a:lnTo>
                    <a:pt x="410706" y="120853"/>
                  </a:lnTo>
                  <a:lnTo>
                    <a:pt x="385069" y="80687"/>
                  </a:lnTo>
                  <a:lnTo>
                    <a:pt x="351488" y="47266"/>
                  </a:lnTo>
                  <a:lnTo>
                    <a:pt x="311295" y="21842"/>
                  </a:lnTo>
                  <a:lnTo>
                    <a:pt x="265824" y="5669"/>
                  </a:lnTo>
                  <a:lnTo>
                    <a:pt x="216407" y="0"/>
                  </a:lnTo>
                  <a:lnTo>
                    <a:pt x="166991" y="5669"/>
                  </a:lnTo>
                  <a:lnTo>
                    <a:pt x="121520" y="21842"/>
                  </a:lnTo>
                  <a:lnTo>
                    <a:pt x="81327" y="47266"/>
                  </a:lnTo>
                  <a:lnTo>
                    <a:pt x="47746" y="80687"/>
                  </a:lnTo>
                  <a:lnTo>
                    <a:pt x="22109" y="120853"/>
                  </a:lnTo>
                  <a:lnTo>
                    <a:pt x="5749" y="166511"/>
                  </a:lnTo>
                  <a:lnTo>
                    <a:pt x="0" y="216407"/>
                  </a:lnTo>
                  <a:lnTo>
                    <a:pt x="5749" y="265740"/>
                  </a:lnTo>
                  <a:lnTo>
                    <a:pt x="22109" y="310993"/>
                  </a:lnTo>
                  <a:lnTo>
                    <a:pt x="47746" y="350888"/>
                  </a:lnTo>
                  <a:lnTo>
                    <a:pt x="81327" y="384145"/>
                  </a:lnTo>
                  <a:lnTo>
                    <a:pt x="121520" y="409485"/>
                  </a:lnTo>
                  <a:lnTo>
                    <a:pt x="166991" y="425626"/>
                  </a:lnTo>
                  <a:lnTo>
                    <a:pt x="216407" y="431291"/>
                  </a:lnTo>
                  <a:lnTo>
                    <a:pt x="265824" y="425626"/>
                  </a:lnTo>
                  <a:lnTo>
                    <a:pt x="311295" y="409485"/>
                  </a:lnTo>
                  <a:lnTo>
                    <a:pt x="351488" y="384145"/>
                  </a:lnTo>
                  <a:lnTo>
                    <a:pt x="385069" y="350888"/>
                  </a:lnTo>
                  <a:lnTo>
                    <a:pt x="410706" y="310993"/>
                  </a:lnTo>
                  <a:lnTo>
                    <a:pt x="427066" y="265740"/>
                  </a:lnTo>
                  <a:lnTo>
                    <a:pt x="432815" y="216407"/>
                  </a:lnTo>
                  <a:close/>
                </a:path>
              </a:pathLst>
            </a:custGeom>
            <a:solidFill>
              <a:srgbClr val="FFFF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56094" y="394106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227076"/>
                  </a:moveTo>
                  <a:lnTo>
                    <a:pt x="452628" y="181356"/>
                  </a:lnTo>
                  <a:lnTo>
                    <a:pt x="438912" y="138684"/>
                  </a:lnTo>
                  <a:lnTo>
                    <a:pt x="417576" y="100584"/>
                  </a:lnTo>
                  <a:lnTo>
                    <a:pt x="390144" y="65532"/>
                  </a:lnTo>
                  <a:lnTo>
                    <a:pt x="355092" y="38100"/>
                  </a:lnTo>
                  <a:lnTo>
                    <a:pt x="316992" y="16764"/>
                  </a:lnTo>
                  <a:lnTo>
                    <a:pt x="274320" y="4572"/>
                  </a:lnTo>
                  <a:lnTo>
                    <a:pt x="228600" y="95"/>
                  </a:lnTo>
                  <a:lnTo>
                    <a:pt x="227076" y="0"/>
                  </a:lnTo>
                  <a:lnTo>
                    <a:pt x="208788" y="1219"/>
                  </a:lnTo>
                  <a:lnTo>
                    <a:pt x="207264" y="1320"/>
                  </a:lnTo>
                  <a:lnTo>
                    <a:pt x="205740" y="1422"/>
                  </a:lnTo>
                  <a:lnTo>
                    <a:pt x="160020" y="10668"/>
                  </a:lnTo>
                  <a:lnTo>
                    <a:pt x="118872" y="27432"/>
                  </a:lnTo>
                  <a:lnTo>
                    <a:pt x="82296" y="51816"/>
                  </a:lnTo>
                  <a:lnTo>
                    <a:pt x="51816" y="83820"/>
                  </a:lnTo>
                  <a:lnTo>
                    <a:pt x="27432" y="120396"/>
                  </a:lnTo>
                  <a:lnTo>
                    <a:pt x="10668" y="161544"/>
                  </a:lnTo>
                  <a:lnTo>
                    <a:pt x="1524" y="205740"/>
                  </a:lnTo>
                  <a:lnTo>
                    <a:pt x="0" y="228600"/>
                  </a:lnTo>
                  <a:lnTo>
                    <a:pt x="1524" y="251460"/>
                  </a:lnTo>
                  <a:lnTo>
                    <a:pt x="4572" y="274320"/>
                  </a:lnTo>
                  <a:lnTo>
                    <a:pt x="10668" y="297180"/>
                  </a:lnTo>
                  <a:lnTo>
                    <a:pt x="18288" y="316992"/>
                  </a:lnTo>
                  <a:lnTo>
                    <a:pt x="25908" y="334772"/>
                  </a:lnTo>
                  <a:lnTo>
                    <a:pt x="25908" y="207264"/>
                  </a:lnTo>
                  <a:lnTo>
                    <a:pt x="28956" y="185928"/>
                  </a:lnTo>
                  <a:lnTo>
                    <a:pt x="35052" y="167640"/>
                  </a:lnTo>
                  <a:lnTo>
                    <a:pt x="41148" y="147828"/>
                  </a:lnTo>
                  <a:lnTo>
                    <a:pt x="50292" y="131064"/>
                  </a:lnTo>
                  <a:lnTo>
                    <a:pt x="71628" y="99060"/>
                  </a:lnTo>
                  <a:lnTo>
                    <a:pt x="99060" y="71628"/>
                  </a:lnTo>
                  <a:lnTo>
                    <a:pt x="132588" y="48768"/>
                  </a:lnTo>
                  <a:lnTo>
                    <a:pt x="169164" y="33528"/>
                  </a:lnTo>
                  <a:lnTo>
                    <a:pt x="208788" y="25908"/>
                  </a:lnTo>
                  <a:lnTo>
                    <a:pt x="227076" y="24501"/>
                  </a:lnTo>
                  <a:lnTo>
                    <a:pt x="228600" y="24384"/>
                  </a:lnTo>
                  <a:lnTo>
                    <a:pt x="269748" y="28956"/>
                  </a:lnTo>
                  <a:lnTo>
                    <a:pt x="307848" y="41148"/>
                  </a:lnTo>
                  <a:lnTo>
                    <a:pt x="342900" y="59436"/>
                  </a:lnTo>
                  <a:lnTo>
                    <a:pt x="385572" y="99060"/>
                  </a:lnTo>
                  <a:lnTo>
                    <a:pt x="416052" y="149352"/>
                  </a:lnTo>
                  <a:lnTo>
                    <a:pt x="428244" y="187452"/>
                  </a:lnTo>
                  <a:lnTo>
                    <a:pt x="431292" y="207264"/>
                  </a:lnTo>
                  <a:lnTo>
                    <a:pt x="431292" y="333502"/>
                  </a:lnTo>
                  <a:lnTo>
                    <a:pt x="438912" y="316992"/>
                  </a:lnTo>
                  <a:lnTo>
                    <a:pt x="446532" y="295656"/>
                  </a:lnTo>
                  <a:lnTo>
                    <a:pt x="452628" y="274320"/>
                  </a:lnTo>
                  <a:lnTo>
                    <a:pt x="455676" y="251460"/>
                  </a:lnTo>
                  <a:lnTo>
                    <a:pt x="457200" y="227076"/>
                  </a:lnTo>
                  <a:close/>
                </a:path>
                <a:path w="457200" h="457200">
                  <a:moveTo>
                    <a:pt x="431292" y="333502"/>
                  </a:moveTo>
                  <a:lnTo>
                    <a:pt x="431292" y="228600"/>
                  </a:lnTo>
                  <a:lnTo>
                    <a:pt x="429768" y="249936"/>
                  </a:lnTo>
                  <a:lnTo>
                    <a:pt x="426720" y="269748"/>
                  </a:lnTo>
                  <a:lnTo>
                    <a:pt x="416052" y="307848"/>
                  </a:lnTo>
                  <a:lnTo>
                    <a:pt x="396240" y="342900"/>
                  </a:lnTo>
                  <a:lnTo>
                    <a:pt x="356616" y="385572"/>
                  </a:lnTo>
                  <a:lnTo>
                    <a:pt x="324612" y="406908"/>
                  </a:lnTo>
                  <a:lnTo>
                    <a:pt x="288036" y="422148"/>
                  </a:lnTo>
                  <a:lnTo>
                    <a:pt x="248412" y="429768"/>
                  </a:lnTo>
                  <a:lnTo>
                    <a:pt x="228600" y="431183"/>
                  </a:lnTo>
                  <a:lnTo>
                    <a:pt x="227076" y="431292"/>
                  </a:lnTo>
                  <a:lnTo>
                    <a:pt x="187452" y="426720"/>
                  </a:lnTo>
                  <a:lnTo>
                    <a:pt x="131064" y="406908"/>
                  </a:lnTo>
                  <a:lnTo>
                    <a:pt x="83820" y="371856"/>
                  </a:lnTo>
                  <a:lnTo>
                    <a:pt x="59436" y="341376"/>
                  </a:lnTo>
                  <a:lnTo>
                    <a:pt x="33528" y="288036"/>
                  </a:lnTo>
                  <a:lnTo>
                    <a:pt x="25908" y="248412"/>
                  </a:lnTo>
                  <a:lnTo>
                    <a:pt x="25908" y="334772"/>
                  </a:lnTo>
                  <a:lnTo>
                    <a:pt x="51816" y="373380"/>
                  </a:lnTo>
                  <a:lnTo>
                    <a:pt x="83820" y="405384"/>
                  </a:lnTo>
                  <a:lnTo>
                    <a:pt x="120396" y="429768"/>
                  </a:lnTo>
                  <a:lnTo>
                    <a:pt x="161544" y="446532"/>
                  </a:lnTo>
                  <a:lnTo>
                    <a:pt x="205740" y="455676"/>
                  </a:lnTo>
                  <a:lnTo>
                    <a:pt x="227076" y="457098"/>
                  </a:lnTo>
                  <a:lnTo>
                    <a:pt x="228600" y="457200"/>
                  </a:lnTo>
                  <a:lnTo>
                    <a:pt x="248412" y="455961"/>
                  </a:lnTo>
                  <a:lnTo>
                    <a:pt x="249936" y="455866"/>
                  </a:lnTo>
                  <a:lnTo>
                    <a:pt x="251460" y="455771"/>
                  </a:lnTo>
                  <a:lnTo>
                    <a:pt x="297180" y="446532"/>
                  </a:lnTo>
                  <a:lnTo>
                    <a:pt x="338328" y="428244"/>
                  </a:lnTo>
                  <a:lnTo>
                    <a:pt x="374904" y="403860"/>
                  </a:lnTo>
                  <a:lnTo>
                    <a:pt x="405384" y="373380"/>
                  </a:lnTo>
                  <a:lnTo>
                    <a:pt x="429768" y="336804"/>
                  </a:lnTo>
                  <a:lnTo>
                    <a:pt x="431292" y="333502"/>
                  </a:lnTo>
                  <a:close/>
                </a:path>
              </a:pathLst>
            </a:custGeom>
            <a:solidFill>
              <a:srgbClr val="BBBB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767766" y="3293364"/>
            <a:ext cx="2961068" cy="1852930"/>
            <a:chOff x="2935086" y="3293364"/>
            <a:chExt cx="3140075" cy="18529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08820" y="4147816"/>
              <a:ext cx="1065759" cy="99816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5086" y="3293364"/>
              <a:ext cx="1892300" cy="7802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0822" y="3973068"/>
              <a:ext cx="2107692" cy="68275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98078" y="5222237"/>
            <a:ext cx="892937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F007F"/>
                </a:solidFill>
                <a:latin typeface="Comic Sans MS"/>
                <a:cs typeface="Comic Sans MS"/>
              </a:rPr>
              <a:t>Usuário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46808" y="5202425"/>
            <a:ext cx="103329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F007F"/>
                </a:solidFill>
                <a:latin typeface="Comic Sans MS"/>
                <a:cs typeface="Comic Sans MS"/>
              </a:rPr>
              <a:t>Sistema</a:t>
            </a:r>
            <a:endParaRPr sz="1600" dirty="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53042" y="3896358"/>
            <a:ext cx="1179258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F007F"/>
                </a:solidFill>
                <a:latin typeface="Comic Sans MS"/>
                <a:cs typeface="Comic Sans MS"/>
              </a:rPr>
              <a:t>Execução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91015" y="4732020"/>
            <a:ext cx="1992209" cy="1362710"/>
            <a:chOff x="2747650" y="4732020"/>
            <a:chExt cx="2112645" cy="136271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35086" y="4732020"/>
              <a:ext cx="1892300" cy="78181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7650" y="5410199"/>
              <a:ext cx="2112264" cy="68427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237233" y="5336537"/>
            <a:ext cx="1118867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F007F"/>
                </a:solidFill>
                <a:latin typeface="Comic Sans MS"/>
                <a:cs typeface="Comic Sans MS"/>
              </a:rPr>
              <a:t>Avaliação</a:t>
            </a:r>
            <a:endParaRPr sz="1600" dirty="0">
              <a:latin typeface="Comic Sans MS"/>
              <a:cs typeface="Comic Sans MS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49" y="268979"/>
            <a:ext cx="1546403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Retângulo 25"/>
          <p:cNvSpPr/>
          <p:nvPr/>
        </p:nvSpPr>
        <p:spPr>
          <a:xfrm>
            <a:off x="1155803" y="6094476"/>
            <a:ext cx="50419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dirty="0"/>
              <a:t>Como projetar interfaces de modo a permitir que o usuário saiba lidar com esses abismos</a:t>
            </a:r>
            <a:endParaRPr lang="pt-BR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0" y="3494370"/>
            <a:ext cx="2362200" cy="3106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7715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Golfos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155700" y="1730507"/>
            <a:ext cx="8534400" cy="4001095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/>
              <a:t>Norman e seus colegas sugerem que o objetivo é projetar para diminuir o </a:t>
            </a:r>
            <a:r>
              <a:rPr lang="pt-BR" sz="2400" dirty="0">
                <a:solidFill>
                  <a:srgbClr val="FF0000"/>
                </a:solidFill>
              </a:rPr>
              <a:t>esforço cognitivo </a:t>
            </a:r>
            <a:r>
              <a:rPr lang="pt-BR" sz="2400" dirty="0"/>
              <a:t>para realizar uma tarefa.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/>
              <a:t>Concepção de interfaces com </a:t>
            </a:r>
            <a:r>
              <a:rPr lang="pt-BR" sz="2400" dirty="0">
                <a:solidFill>
                  <a:srgbClr val="FF0000"/>
                </a:solidFill>
              </a:rPr>
              <a:t>usabilidade</a:t>
            </a:r>
            <a:r>
              <a:rPr lang="pt-BR" sz="2400" dirty="0"/>
              <a:t> que correspondam as características psicológicas dos usuários (levando em conta limitações de memoria).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400" dirty="0"/>
              <a:t>E por outro lado o usuário aprendendo a criar metas, planos e sequências de ação que se encaixem na forma como a interface funciona.</a:t>
            </a:r>
          </a:p>
          <a:p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772" y="4692651"/>
            <a:ext cx="3707200" cy="209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54879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262" y="1454148"/>
            <a:ext cx="5339725" cy="4702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o explicativo retangular 2"/>
          <p:cNvSpPr/>
          <p:nvPr/>
        </p:nvSpPr>
        <p:spPr>
          <a:xfrm>
            <a:off x="192569" y="196850"/>
            <a:ext cx="1736521" cy="2982933"/>
          </a:xfrm>
          <a:prstGeom prst="wedgeRectCallout">
            <a:avLst>
              <a:gd name="adj1" fmla="val 105056"/>
              <a:gd name="adj2" fmla="val 452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415" marR="10795" indent="635" algn="ctr">
              <a:lnSpc>
                <a:spcPct val="100000"/>
              </a:lnSpc>
              <a:spcBef>
                <a:spcPts val="95"/>
              </a:spcBef>
            </a:pPr>
            <a:r>
              <a:rPr lang="pt-BR" b="1" dirty="0">
                <a:solidFill>
                  <a:schemeClr val="bg1"/>
                </a:solidFill>
                <a:latin typeface="Comic Sans MS"/>
                <a:cs typeface="Comic Sans MS"/>
              </a:rPr>
              <a:t>Distância</a:t>
            </a:r>
            <a:r>
              <a:rPr lang="pt-BR" b="1" spc="300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b="1" spc="-10" dirty="0">
                <a:solidFill>
                  <a:schemeClr val="bg1"/>
                </a:solidFill>
                <a:latin typeface="Comic Sans MS"/>
                <a:cs typeface="Comic Sans MS"/>
              </a:rPr>
              <a:t>semântica: </a:t>
            </a:r>
            <a:r>
              <a:rPr lang="pt-BR" b="1" dirty="0">
                <a:solidFill>
                  <a:schemeClr val="bg1"/>
                </a:solidFill>
                <a:latin typeface="Comic Sans MS"/>
                <a:cs typeface="Comic Sans MS"/>
              </a:rPr>
              <a:t>entre</a:t>
            </a:r>
            <a:r>
              <a:rPr lang="pt-BR" b="1" spc="245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b="1" dirty="0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r>
              <a:rPr lang="pt-BR" b="1" spc="235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b="1" dirty="0">
                <a:solidFill>
                  <a:schemeClr val="bg1"/>
                </a:solidFill>
                <a:latin typeface="Comic Sans MS"/>
                <a:cs typeface="Comic Sans MS"/>
              </a:rPr>
              <a:t>fases</a:t>
            </a:r>
            <a:r>
              <a:rPr lang="pt-BR" b="1" spc="229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b="1" spc="-10" dirty="0">
                <a:solidFill>
                  <a:schemeClr val="bg1"/>
                </a:solidFill>
                <a:latin typeface="Comic Sans MS"/>
                <a:cs typeface="Comic Sans MS"/>
              </a:rPr>
              <a:t>MENTAIS</a:t>
            </a:r>
            <a:endParaRPr lang="pt-BR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12700" marR="5080" algn="ctr">
              <a:lnSpc>
                <a:spcPct val="100000"/>
              </a:lnSpc>
            </a:pPr>
            <a:r>
              <a:rPr lang="pt-BR" b="1" dirty="0">
                <a:solidFill>
                  <a:schemeClr val="bg1"/>
                </a:solidFill>
                <a:latin typeface="Comic Sans MS"/>
                <a:cs typeface="Comic Sans MS"/>
              </a:rPr>
              <a:t>Qual</a:t>
            </a:r>
            <a:r>
              <a:rPr lang="pt-BR" b="1" spc="225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b="1" spc="55" dirty="0">
                <a:solidFill>
                  <a:schemeClr val="bg1"/>
                </a:solidFill>
                <a:latin typeface="Comic Sans MS"/>
                <a:cs typeface="Comic Sans MS"/>
              </a:rPr>
              <a:t>a</a:t>
            </a:r>
            <a:r>
              <a:rPr lang="pt-BR" b="1" spc="220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b="1" dirty="0">
                <a:solidFill>
                  <a:schemeClr val="bg1"/>
                </a:solidFill>
                <a:latin typeface="Comic Sans MS"/>
                <a:cs typeface="Comic Sans MS"/>
              </a:rPr>
              <a:t>dificuldade</a:t>
            </a:r>
            <a:r>
              <a:rPr lang="pt-BR" b="1" spc="270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b="1" spc="-25" dirty="0">
                <a:solidFill>
                  <a:schemeClr val="bg1"/>
                </a:solidFill>
                <a:latin typeface="Comic Sans MS"/>
                <a:cs typeface="Comic Sans MS"/>
              </a:rPr>
              <a:t>de </a:t>
            </a:r>
            <a:r>
              <a:rPr lang="pt-BR" b="1" dirty="0">
                <a:solidFill>
                  <a:schemeClr val="bg1"/>
                </a:solidFill>
                <a:latin typeface="Comic Sans MS"/>
                <a:cs typeface="Comic Sans MS"/>
              </a:rPr>
              <a:t>passar</a:t>
            </a:r>
            <a:r>
              <a:rPr lang="pt-BR" b="1" spc="285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b="1" dirty="0">
                <a:solidFill>
                  <a:schemeClr val="bg1"/>
                </a:solidFill>
                <a:latin typeface="Comic Sans MS"/>
                <a:cs typeface="Comic Sans MS"/>
              </a:rPr>
              <a:t>da</a:t>
            </a:r>
            <a:r>
              <a:rPr lang="pt-BR" b="1" spc="295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b="1" spc="-10" dirty="0">
                <a:solidFill>
                  <a:schemeClr val="bg1"/>
                </a:solidFill>
                <a:latin typeface="Comic Sans MS"/>
                <a:cs typeface="Comic Sans MS"/>
              </a:rPr>
              <a:t>Intenção</a:t>
            </a:r>
            <a:endParaRPr lang="pt-BR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</a:pPr>
            <a:r>
              <a:rPr lang="pt-BR" b="1" dirty="0">
                <a:solidFill>
                  <a:schemeClr val="bg1"/>
                </a:solidFill>
                <a:latin typeface="Comic Sans MS"/>
                <a:cs typeface="Comic Sans MS"/>
              </a:rPr>
              <a:t>ao</a:t>
            </a:r>
            <a:r>
              <a:rPr lang="pt-BR" b="1" spc="270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b="1" spc="-10" dirty="0">
                <a:solidFill>
                  <a:schemeClr val="bg1"/>
                </a:solidFill>
                <a:latin typeface="Comic Sans MS"/>
                <a:cs typeface="Comic Sans MS"/>
              </a:rPr>
              <a:t>Plano ação?</a:t>
            </a:r>
            <a:endParaRPr lang="pt-BR" b="1" dirty="0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7801" y="6157090"/>
            <a:ext cx="8158656" cy="148951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2230"/>
              </a:lnSpc>
              <a:spcBef>
                <a:spcPts val="315"/>
              </a:spcBef>
            </a:pPr>
            <a:r>
              <a:rPr lang="pt-BR" sz="2000" dirty="0">
                <a:latin typeface="Microsoft Sans Serif"/>
                <a:cs typeface="Microsoft Sans Serif"/>
              </a:rPr>
              <a:t>O </a:t>
            </a:r>
            <a:r>
              <a:rPr sz="2000" dirty="0" err="1">
                <a:latin typeface="Microsoft Sans Serif"/>
                <a:cs typeface="Microsoft Sans Serif"/>
              </a:rPr>
              <a:t>processo</a:t>
            </a:r>
            <a:r>
              <a:rPr sz="2000" spc="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interação</a:t>
            </a:r>
            <a:r>
              <a:rPr sz="2000" spc="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com</a:t>
            </a:r>
            <a:r>
              <a:rPr sz="2000" spc="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um</a:t>
            </a:r>
            <a:r>
              <a:rPr sz="2000" spc="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artefato</a:t>
            </a:r>
            <a:r>
              <a:rPr sz="2000" spc="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pode</a:t>
            </a:r>
            <a:r>
              <a:rPr sz="2000" spc="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ser</a:t>
            </a:r>
            <a:r>
              <a:rPr sz="2000" spc="4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visto </a:t>
            </a:r>
            <a:r>
              <a:rPr sz="2000" dirty="0">
                <a:latin typeface="Microsoft Sans Serif"/>
                <a:cs typeface="Microsoft Sans Serif"/>
              </a:rPr>
              <a:t>como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0000"/>
                </a:solidFill>
                <a:latin typeface="Microsoft Sans Serif"/>
                <a:cs typeface="Microsoft Sans Serif"/>
              </a:rPr>
              <a:t>ciclos</a:t>
            </a:r>
            <a:r>
              <a:rPr sz="2000" spc="-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0000"/>
                </a:solidFill>
                <a:latin typeface="Microsoft Sans Serif"/>
                <a:cs typeface="Microsoft Sans Serif"/>
              </a:rPr>
              <a:t>de</a:t>
            </a:r>
            <a:r>
              <a:rPr sz="2000" spc="-1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0000"/>
                </a:solidFill>
                <a:latin typeface="Microsoft Sans Serif"/>
                <a:cs typeface="Microsoft Sans Serif"/>
              </a:rPr>
              <a:t>ação</a:t>
            </a:r>
            <a:r>
              <a:rPr sz="2000" spc="-1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envolvendo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fases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0000"/>
                </a:solidFill>
                <a:latin typeface="Microsoft Sans Serif"/>
                <a:cs typeface="Microsoft Sans Serif"/>
              </a:rPr>
              <a:t>execução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10" dirty="0" err="1">
                <a:solidFill>
                  <a:srgbClr val="FF0000"/>
                </a:solidFill>
                <a:latin typeface="Microsoft Sans Serif"/>
                <a:cs typeface="Microsoft Sans Serif"/>
              </a:rPr>
              <a:t>avaliação</a:t>
            </a:r>
            <a:r>
              <a:rPr lang="pt-BR" sz="2000" spc="-10" dirty="0">
                <a:solidFill>
                  <a:srgbClr val="FF0000"/>
                </a:solidFill>
                <a:latin typeface="Microsoft Sans Serif"/>
                <a:cs typeface="Microsoft Sans Serif"/>
              </a:rPr>
              <a:t>. </a:t>
            </a:r>
            <a:r>
              <a:rPr lang="pt-BR" sz="2000" spc="-10" dirty="0">
                <a:latin typeface="Microsoft Sans Serif"/>
                <a:cs typeface="Microsoft Sans Serif"/>
              </a:rPr>
              <a:t>Inicia com o objetivo e temos diversos estágios de atividade do usuário. Nem sempre é iniciado no golfo de execução.</a:t>
            </a:r>
            <a:endParaRPr lang="pt-BR"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ts val="2230"/>
              </a:lnSpc>
              <a:spcBef>
                <a:spcPts val="315"/>
              </a:spcBef>
            </a:pPr>
            <a:endParaRPr sz="2000" dirty="0">
              <a:solidFill>
                <a:srgbClr val="FF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389212" y="555052"/>
            <a:ext cx="6467045" cy="456535"/>
          </a:xfrm>
          <a:prstGeom prst="rect">
            <a:avLst/>
          </a:prstGeom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960119">
              <a:spcBef>
                <a:spcPts val="100"/>
              </a:spcBef>
            </a:pPr>
            <a:r>
              <a:rPr spc="-30" dirty="0"/>
              <a:t>Teoria</a:t>
            </a:r>
            <a:r>
              <a:rPr spc="-155" dirty="0"/>
              <a:t> </a:t>
            </a:r>
            <a:r>
              <a:rPr dirty="0"/>
              <a:t>da</a:t>
            </a:r>
            <a:r>
              <a:rPr spc="-300" dirty="0"/>
              <a:t> </a:t>
            </a:r>
            <a:r>
              <a:rPr spc="-20" dirty="0" err="1"/>
              <a:t>Ação</a:t>
            </a:r>
            <a:r>
              <a:rPr lang="pt-BR" spc="-20" dirty="0"/>
              <a:t>: sete passos</a:t>
            </a:r>
            <a:endParaRPr spc="-20" dirty="0"/>
          </a:p>
        </p:txBody>
      </p:sp>
      <p:sp>
        <p:nvSpPr>
          <p:cNvPr id="32" name="object 32"/>
          <p:cNvSpPr txBox="1">
            <a:spLocks noGrp="1"/>
          </p:cNvSpPr>
          <p:nvPr>
            <p:ph type="sldNum" idx="4294967295"/>
          </p:nvPr>
        </p:nvSpPr>
        <p:spPr>
          <a:xfrm>
            <a:off x="7133869" y="7027546"/>
            <a:ext cx="2187059" cy="20518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28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7485006" y="2673349"/>
            <a:ext cx="1834126" cy="92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1500" b="1" spc="140" dirty="0">
                <a:solidFill>
                  <a:srgbClr val="3F3F3F"/>
                </a:solidFill>
                <a:latin typeface="Trebuchet MS"/>
                <a:cs typeface="Trebuchet MS"/>
              </a:rPr>
              <a:t>variáveis</a:t>
            </a:r>
            <a:endParaRPr sz="15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2200" b="1" spc="225" dirty="0">
                <a:solidFill>
                  <a:srgbClr val="3F3F3F"/>
                </a:solidFill>
                <a:latin typeface="Trebuchet MS"/>
                <a:cs typeface="Trebuchet MS"/>
              </a:rPr>
              <a:t>psicológicas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80959" y="4311650"/>
            <a:ext cx="2253286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spcBef>
                <a:spcPts val="100"/>
              </a:spcBef>
            </a:pPr>
            <a:r>
              <a:rPr sz="1500" b="1" spc="140" dirty="0">
                <a:solidFill>
                  <a:srgbClr val="3F3F3F"/>
                </a:solidFill>
                <a:latin typeface="Trebuchet MS"/>
                <a:cs typeface="Trebuchet MS"/>
              </a:rPr>
              <a:t>variáveis</a:t>
            </a:r>
            <a:endParaRPr sz="15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500" b="1" spc="14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1500" b="1" spc="9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1500" b="1" spc="140" dirty="0">
                <a:solidFill>
                  <a:srgbClr val="3F3F3F"/>
                </a:solidFill>
                <a:latin typeface="Trebuchet MS"/>
                <a:cs typeface="Trebuchet MS"/>
              </a:rPr>
              <a:t>controles</a:t>
            </a:r>
            <a:r>
              <a:rPr sz="1500" b="1" spc="10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b="1" spc="215" dirty="0">
                <a:solidFill>
                  <a:srgbClr val="3F3F3F"/>
                </a:solidFill>
                <a:latin typeface="Trebuchet MS"/>
                <a:cs typeface="Trebuchet MS"/>
              </a:rPr>
              <a:t>físicos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34" name="object 4"/>
          <p:cNvSpPr txBox="1"/>
          <p:nvPr/>
        </p:nvSpPr>
        <p:spPr>
          <a:xfrm>
            <a:off x="1031134" y="6445250"/>
            <a:ext cx="8166441" cy="36292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2460"/>
              </a:lnSpc>
              <a:spcBef>
                <a:spcPts val="330"/>
              </a:spcBef>
              <a:tabLst>
                <a:tab pos="1230630" algn="l"/>
                <a:tab pos="2625090" algn="l"/>
                <a:tab pos="3367404" algn="l"/>
                <a:tab pos="5088255" algn="l"/>
                <a:tab pos="6156960" algn="l"/>
                <a:tab pos="6619240" algn="l"/>
                <a:tab pos="7283450" algn="l"/>
                <a:tab pos="8180705" algn="l"/>
              </a:tabLst>
            </a:pPr>
            <a:r>
              <a:rPr lang="pt-BR" sz="2200" spc="-10" dirty="0">
                <a:latin typeface="Microsoft Sans Serif"/>
                <a:cs typeface="Microsoft Sans Serif"/>
              </a:rPr>
              <a:t> </a:t>
            </a:r>
            <a:endParaRPr sz="2200" dirty="0">
              <a:latin typeface="Microsoft Sans Serif"/>
              <a:cs typeface="Microsoft Sans Serif"/>
            </a:endParaRPr>
          </a:p>
        </p:txBody>
      </p:sp>
      <p:sp>
        <p:nvSpPr>
          <p:cNvPr id="5" name="Texto explicativo retangular 4"/>
          <p:cNvSpPr/>
          <p:nvPr/>
        </p:nvSpPr>
        <p:spPr>
          <a:xfrm>
            <a:off x="149555" y="3323863"/>
            <a:ext cx="1959736" cy="2476498"/>
          </a:xfrm>
          <a:prstGeom prst="wedgeRectCallout">
            <a:avLst>
              <a:gd name="adj1" fmla="val 109320"/>
              <a:gd name="adj2" fmla="val 187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585" marR="101600" algn="ctr">
              <a:lnSpc>
                <a:spcPct val="100000"/>
              </a:lnSpc>
              <a:spcBef>
                <a:spcPts val="95"/>
              </a:spcBef>
            </a:pPr>
            <a:r>
              <a:rPr lang="pt-BR" dirty="0">
                <a:solidFill>
                  <a:schemeClr val="bg1"/>
                </a:solidFill>
                <a:latin typeface="Comic Sans MS"/>
                <a:cs typeface="Comic Sans MS"/>
              </a:rPr>
              <a:t>Distância</a:t>
            </a:r>
            <a:r>
              <a:rPr lang="pt-BR" spc="300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spc="-10" dirty="0">
                <a:solidFill>
                  <a:schemeClr val="bg1"/>
                </a:solidFill>
                <a:latin typeface="Comic Sans MS"/>
                <a:cs typeface="Comic Sans MS"/>
              </a:rPr>
              <a:t>articulatória: </a:t>
            </a:r>
            <a:r>
              <a:rPr lang="pt-BR" dirty="0">
                <a:solidFill>
                  <a:schemeClr val="bg1"/>
                </a:solidFill>
                <a:latin typeface="Comic Sans MS"/>
                <a:cs typeface="Comic Sans MS"/>
              </a:rPr>
              <a:t>entre</a:t>
            </a:r>
            <a:r>
              <a:rPr lang="pt-BR" spc="250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spc="245" dirty="0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r>
              <a:rPr lang="pt-BR" spc="240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dirty="0">
                <a:solidFill>
                  <a:schemeClr val="bg1"/>
                </a:solidFill>
                <a:latin typeface="Comic Sans MS"/>
                <a:cs typeface="Comic Sans MS"/>
              </a:rPr>
              <a:t>fase</a:t>
            </a:r>
            <a:r>
              <a:rPr lang="pt-BR" spc="225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spc="-10" dirty="0">
                <a:solidFill>
                  <a:schemeClr val="bg1"/>
                </a:solidFill>
                <a:latin typeface="Comic Sans MS"/>
                <a:cs typeface="Comic Sans MS"/>
              </a:rPr>
              <a:t>MENTAL </a:t>
            </a:r>
            <a:r>
              <a:rPr lang="pt-BR" dirty="0">
                <a:solidFill>
                  <a:schemeClr val="bg1"/>
                </a:solidFill>
                <a:latin typeface="Comic Sans MS"/>
                <a:cs typeface="Comic Sans MS"/>
              </a:rPr>
              <a:t>e</a:t>
            </a:r>
            <a:r>
              <a:rPr lang="pt-BR" spc="245" dirty="0">
                <a:solidFill>
                  <a:schemeClr val="bg1"/>
                </a:solidFill>
                <a:latin typeface="Comic Sans MS"/>
                <a:cs typeface="Comic Sans MS"/>
              </a:rPr>
              <a:t> 1</a:t>
            </a:r>
            <a:r>
              <a:rPr lang="pt-BR" spc="250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dirty="0">
                <a:solidFill>
                  <a:schemeClr val="bg1"/>
                </a:solidFill>
                <a:latin typeface="Comic Sans MS"/>
                <a:cs typeface="Comic Sans MS"/>
              </a:rPr>
              <a:t>fase</a:t>
            </a:r>
            <a:r>
              <a:rPr lang="pt-BR" spc="229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spc="-10" dirty="0">
                <a:solidFill>
                  <a:schemeClr val="bg1"/>
                </a:solidFill>
                <a:latin typeface="Comic Sans MS"/>
                <a:cs typeface="Comic Sans MS"/>
              </a:rPr>
              <a:t>FISICA</a:t>
            </a:r>
            <a:endParaRPr lang="pt-BR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12700" marR="5080" algn="ctr">
              <a:lnSpc>
                <a:spcPct val="100000"/>
              </a:lnSpc>
            </a:pPr>
            <a:r>
              <a:rPr lang="pt-BR" dirty="0">
                <a:solidFill>
                  <a:schemeClr val="bg1"/>
                </a:solidFill>
                <a:latin typeface="Comic Sans MS"/>
                <a:cs typeface="Comic Sans MS"/>
              </a:rPr>
              <a:t>Qual</a:t>
            </a:r>
            <a:r>
              <a:rPr lang="pt-BR" spc="225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spc="55" dirty="0">
                <a:solidFill>
                  <a:schemeClr val="bg1"/>
                </a:solidFill>
                <a:latin typeface="Comic Sans MS"/>
                <a:cs typeface="Comic Sans MS"/>
              </a:rPr>
              <a:t>a</a:t>
            </a:r>
            <a:r>
              <a:rPr lang="pt-BR" spc="220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dirty="0">
                <a:solidFill>
                  <a:schemeClr val="bg1"/>
                </a:solidFill>
                <a:latin typeface="Comic Sans MS"/>
                <a:cs typeface="Comic Sans MS"/>
              </a:rPr>
              <a:t>dificuldade</a:t>
            </a:r>
            <a:r>
              <a:rPr lang="pt-BR" spc="270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spc="-25" dirty="0">
                <a:solidFill>
                  <a:schemeClr val="bg1"/>
                </a:solidFill>
                <a:latin typeface="Comic Sans MS"/>
                <a:cs typeface="Comic Sans MS"/>
              </a:rPr>
              <a:t>de </a:t>
            </a:r>
            <a:r>
              <a:rPr lang="pt-BR" dirty="0">
                <a:solidFill>
                  <a:schemeClr val="bg1"/>
                </a:solidFill>
                <a:latin typeface="Comic Sans MS"/>
                <a:cs typeface="Comic Sans MS"/>
              </a:rPr>
              <a:t>passar</a:t>
            </a:r>
            <a:r>
              <a:rPr lang="pt-BR" spc="260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dirty="0">
                <a:solidFill>
                  <a:schemeClr val="bg1"/>
                </a:solidFill>
                <a:latin typeface="Comic Sans MS"/>
                <a:cs typeface="Comic Sans MS"/>
              </a:rPr>
              <a:t>do</a:t>
            </a:r>
            <a:r>
              <a:rPr lang="pt-BR" spc="260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spc="-20" dirty="0">
                <a:solidFill>
                  <a:schemeClr val="bg1"/>
                </a:solidFill>
                <a:latin typeface="Comic Sans MS"/>
                <a:cs typeface="Comic Sans MS"/>
              </a:rPr>
              <a:t>Plano</a:t>
            </a:r>
            <a:endParaRPr lang="pt-BR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</a:pPr>
            <a:r>
              <a:rPr lang="pt-BR" spc="55" dirty="0">
                <a:solidFill>
                  <a:schemeClr val="bg1"/>
                </a:solidFill>
                <a:latin typeface="Comic Sans MS"/>
                <a:cs typeface="Comic Sans MS"/>
              </a:rPr>
              <a:t>à</a:t>
            </a:r>
            <a:r>
              <a:rPr lang="pt-BR" spc="220" dirty="0">
                <a:solidFill>
                  <a:schemeClr val="bg1"/>
                </a:solidFill>
                <a:latin typeface="Comic Sans MS"/>
                <a:cs typeface="Comic Sans MS"/>
              </a:rPr>
              <a:t> </a:t>
            </a:r>
            <a:r>
              <a:rPr lang="pt-BR" spc="-10" dirty="0">
                <a:solidFill>
                  <a:schemeClr val="bg1"/>
                </a:solidFill>
                <a:latin typeface="Comic Sans MS"/>
                <a:cs typeface="Comic Sans MS"/>
              </a:rPr>
              <a:t>Ação?</a:t>
            </a:r>
            <a:endParaRPr lang="pt-BR" dirty="0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521439863"/>
      </p:ext>
    </p:extLst>
  </p:cSld>
  <p:clrMapOvr>
    <a:masterClrMapping/>
  </p:clrMapOvr>
  <p:transition>
    <p:dissolv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0119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Teoria</a:t>
            </a:r>
            <a:r>
              <a:rPr spc="-155" dirty="0"/>
              <a:t> </a:t>
            </a:r>
            <a:r>
              <a:rPr dirty="0"/>
              <a:t>da</a:t>
            </a:r>
            <a:r>
              <a:rPr spc="-300" dirty="0"/>
              <a:t> </a:t>
            </a:r>
            <a:r>
              <a:rPr spc="-20" dirty="0"/>
              <a:t>Ação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308100" y="1600835"/>
            <a:ext cx="7092792" cy="5363007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200" dirty="0"/>
              <a:t>Golfo</a:t>
            </a:r>
            <a:r>
              <a:rPr sz="2200" spc="-30" dirty="0"/>
              <a:t> </a:t>
            </a:r>
            <a:r>
              <a:rPr sz="2200" dirty="0"/>
              <a:t>de</a:t>
            </a:r>
            <a:r>
              <a:rPr sz="2200" spc="-30" dirty="0"/>
              <a:t> </a:t>
            </a:r>
            <a:r>
              <a:rPr sz="2200" spc="-10" dirty="0"/>
              <a:t>execução:</a:t>
            </a:r>
            <a:endParaRPr sz="2200" dirty="0"/>
          </a:p>
          <a:p>
            <a:pPr marL="444500" marR="12065" algn="just">
              <a:lnSpc>
                <a:spcPts val="2460"/>
              </a:lnSpc>
              <a:spcBef>
                <a:spcPts val="1470"/>
              </a:spcBef>
            </a:pPr>
            <a:r>
              <a:rPr sz="2200" spc="-20" dirty="0"/>
              <a:t>Refere-</a:t>
            </a:r>
            <a:r>
              <a:rPr sz="2200" dirty="0"/>
              <a:t>se</a:t>
            </a:r>
            <a:r>
              <a:rPr sz="2200" spc="225" dirty="0"/>
              <a:t> </a:t>
            </a:r>
            <a:r>
              <a:rPr sz="2200" dirty="0"/>
              <a:t>a</a:t>
            </a:r>
            <a:r>
              <a:rPr sz="2200" spc="220" dirty="0"/>
              <a:t> </a:t>
            </a:r>
            <a:r>
              <a:rPr sz="2200" dirty="0"/>
              <a:t>dificuldade</a:t>
            </a:r>
            <a:r>
              <a:rPr sz="2200" spc="225" dirty="0"/>
              <a:t> </a:t>
            </a:r>
            <a:r>
              <a:rPr sz="2200" dirty="0"/>
              <a:t>de</a:t>
            </a:r>
            <a:r>
              <a:rPr sz="2200" spc="220" dirty="0"/>
              <a:t> </a:t>
            </a:r>
            <a:r>
              <a:rPr sz="2200" dirty="0"/>
              <a:t>atuar</a:t>
            </a:r>
            <a:r>
              <a:rPr sz="2200" spc="225" dirty="0"/>
              <a:t> </a:t>
            </a:r>
            <a:r>
              <a:rPr sz="2200" dirty="0"/>
              <a:t>sobre</a:t>
            </a:r>
            <a:r>
              <a:rPr sz="2200" spc="220" dirty="0"/>
              <a:t> </a:t>
            </a:r>
            <a:r>
              <a:rPr sz="2200" dirty="0"/>
              <a:t>o</a:t>
            </a:r>
            <a:r>
              <a:rPr sz="2200" spc="229" dirty="0"/>
              <a:t> </a:t>
            </a:r>
            <a:r>
              <a:rPr sz="2200" dirty="0"/>
              <a:t>ambiente</a:t>
            </a:r>
            <a:r>
              <a:rPr sz="2200" spc="235" dirty="0"/>
              <a:t> </a:t>
            </a:r>
            <a:r>
              <a:rPr sz="2200" dirty="0"/>
              <a:t>e</a:t>
            </a:r>
            <a:r>
              <a:rPr sz="2200" spc="225" dirty="0"/>
              <a:t> </a:t>
            </a:r>
            <a:r>
              <a:rPr sz="2200" dirty="0"/>
              <a:t>ao</a:t>
            </a:r>
            <a:r>
              <a:rPr sz="2200" spc="220" dirty="0"/>
              <a:t> </a:t>
            </a:r>
            <a:r>
              <a:rPr sz="2200" dirty="0"/>
              <a:t>grau</a:t>
            </a:r>
            <a:r>
              <a:rPr sz="2200" spc="220" dirty="0"/>
              <a:t> </a:t>
            </a:r>
            <a:r>
              <a:rPr sz="2200" spc="-25" dirty="0"/>
              <a:t>de </a:t>
            </a:r>
            <a:r>
              <a:rPr sz="2200" dirty="0"/>
              <a:t>sucesso</a:t>
            </a:r>
            <a:r>
              <a:rPr sz="2200" spc="-35" dirty="0"/>
              <a:t> </a:t>
            </a:r>
            <a:r>
              <a:rPr sz="2200" dirty="0"/>
              <a:t>com</a:t>
            </a:r>
            <a:r>
              <a:rPr sz="2200" spc="-35" dirty="0"/>
              <a:t> </a:t>
            </a:r>
            <a:r>
              <a:rPr sz="2200" dirty="0"/>
              <a:t>que</a:t>
            </a:r>
            <a:r>
              <a:rPr sz="2200" spc="-30" dirty="0"/>
              <a:t> </a:t>
            </a:r>
            <a:r>
              <a:rPr sz="2200" dirty="0"/>
              <a:t>o</a:t>
            </a:r>
            <a:r>
              <a:rPr sz="2200" spc="-30" dirty="0"/>
              <a:t> </a:t>
            </a:r>
            <a:r>
              <a:rPr sz="2200" dirty="0"/>
              <a:t>artefato</a:t>
            </a:r>
            <a:r>
              <a:rPr sz="2200" spc="-35" dirty="0"/>
              <a:t> </a:t>
            </a:r>
            <a:r>
              <a:rPr sz="2200" dirty="0"/>
              <a:t>apoia</a:t>
            </a:r>
            <a:r>
              <a:rPr sz="2200" spc="-35" dirty="0"/>
              <a:t> </a:t>
            </a:r>
            <a:r>
              <a:rPr sz="2200" dirty="0"/>
              <a:t>assas</a:t>
            </a:r>
            <a:r>
              <a:rPr sz="2200" spc="-30" dirty="0"/>
              <a:t> </a:t>
            </a:r>
            <a:r>
              <a:rPr sz="2200" spc="-10" dirty="0"/>
              <a:t>ações;</a:t>
            </a:r>
            <a:endParaRPr sz="2200" dirty="0"/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200" dirty="0"/>
              <a:t>Golfo</a:t>
            </a:r>
            <a:r>
              <a:rPr sz="2200" spc="-30" dirty="0"/>
              <a:t> </a:t>
            </a:r>
            <a:r>
              <a:rPr sz="2200" dirty="0"/>
              <a:t>de</a:t>
            </a:r>
            <a:r>
              <a:rPr sz="2200" spc="-30" dirty="0"/>
              <a:t> </a:t>
            </a:r>
            <a:r>
              <a:rPr sz="2200" spc="-10" dirty="0"/>
              <a:t>avaliação:</a:t>
            </a:r>
            <a:endParaRPr sz="2200" dirty="0"/>
          </a:p>
          <a:p>
            <a:pPr marL="444500" marR="8890" algn="just">
              <a:lnSpc>
                <a:spcPts val="2460"/>
              </a:lnSpc>
              <a:spcBef>
                <a:spcPts val="1470"/>
              </a:spcBef>
            </a:pPr>
            <a:r>
              <a:rPr sz="2200" spc="-20" dirty="0"/>
              <a:t>Refere-</a:t>
            </a:r>
            <a:r>
              <a:rPr sz="2200" dirty="0"/>
              <a:t>se</a:t>
            </a:r>
            <a:r>
              <a:rPr sz="2200" spc="-20" dirty="0"/>
              <a:t> </a:t>
            </a:r>
            <a:r>
              <a:rPr sz="2200" dirty="0"/>
              <a:t>a</a:t>
            </a:r>
            <a:r>
              <a:rPr sz="2200" spc="-5" dirty="0"/>
              <a:t> </a:t>
            </a:r>
            <a:r>
              <a:rPr sz="2200" dirty="0"/>
              <a:t>dificuldade</a:t>
            </a:r>
            <a:r>
              <a:rPr sz="2200" spc="-10" dirty="0"/>
              <a:t> </a:t>
            </a:r>
            <a:r>
              <a:rPr sz="2200" dirty="0"/>
              <a:t>de</a:t>
            </a:r>
            <a:r>
              <a:rPr sz="2200" spc="-10" dirty="0"/>
              <a:t> </a:t>
            </a:r>
            <a:r>
              <a:rPr sz="2200" dirty="0"/>
              <a:t>avaliar</a:t>
            </a:r>
            <a:r>
              <a:rPr sz="2200" spc="-20" dirty="0"/>
              <a:t> </a:t>
            </a:r>
            <a:r>
              <a:rPr sz="2200" dirty="0"/>
              <a:t>o</a:t>
            </a:r>
            <a:r>
              <a:rPr sz="2200" spc="-10" dirty="0"/>
              <a:t> </a:t>
            </a:r>
            <a:r>
              <a:rPr sz="2200" dirty="0"/>
              <a:t>estado</a:t>
            </a:r>
            <a:r>
              <a:rPr sz="2200" spc="-10" dirty="0"/>
              <a:t> </a:t>
            </a:r>
            <a:r>
              <a:rPr sz="2200" dirty="0"/>
              <a:t>do</a:t>
            </a:r>
            <a:r>
              <a:rPr sz="2200" spc="-10" dirty="0"/>
              <a:t> </a:t>
            </a:r>
            <a:r>
              <a:rPr sz="2200" dirty="0"/>
              <a:t>ambiente</a:t>
            </a:r>
            <a:r>
              <a:rPr sz="2200" spc="-10" dirty="0"/>
              <a:t> </a:t>
            </a:r>
            <a:r>
              <a:rPr sz="2200" dirty="0"/>
              <a:t>e</a:t>
            </a:r>
            <a:r>
              <a:rPr sz="2200" spc="-5" dirty="0"/>
              <a:t> </a:t>
            </a:r>
            <a:r>
              <a:rPr sz="2200" dirty="0"/>
              <a:t>ao</a:t>
            </a:r>
            <a:r>
              <a:rPr sz="2200" spc="-10" dirty="0"/>
              <a:t> </a:t>
            </a:r>
            <a:r>
              <a:rPr sz="2200" spc="-20" dirty="0"/>
              <a:t>grau </a:t>
            </a:r>
            <a:r>
              <a:rPr sz="2200" dirty="0"/>
              <a:t>de</a:t>
            </a:r>
            <a:r>
              <a:rPr sz="2200" spc="160" dirty="0"/>
              <a:t> </a:t>
            </a:r>
            <a:r>
              <a:rPr sz="2200" dirty="0"/>
              <a:t>sucesso</a:t>
            </a:r>
            <a:r>
              <a:rPr sz="2200" spc="160" dirty="0"/>
              <a:t> </a:t>
            </a:r>
            <a:r>
              <a:rPr sz="2200" dirty="0"/>
              <a:t>com</a:t>
            </a:r>
            <a:r>
              <a:rPr sz="2200" spc="155" dirty="0"/>
              <a:t> </a:t>
            </a:r>
            <a:r>
              <a:rPr sz="2200" dirty="0"/>
              <a:t>que</a:t>
            </a:r>
            <a:r>
              <a:rPr sz="2200" spc="160" dirty="0"/>
              <a:t> </a:t>
            </a:r>
            <a:r>
              <a:rPr sz="2200" dirty="0"/>
              <a:t>o</a:t>
            </a:r>
            <a:r>
              <a:rPr sz="2200" spc="160" dirty="0"/>
              <a:t> </a:t>
            </a:r>
            <a:r>
              <a:rPr sz="2200" dirty="0"/>
              <a:t>artefato</a:t>
            </a:r>
            <a:r>
              <a:rPr sz="2200" spc="165" dirty="0"/>
              <a:t> </a:t>
            </a:r>
            <a:r>
              <a:rPr sz="2200" dirty="0"/>
              <a:t>apoia</a:t>
            </a:r>
            <a:r>
              <a:rPr sz="2200" spc="160" dirty="0"/>
              <a:t> </a:t>
            </a:r>
            <a:r>
              <a:rPr sz="2200" dirty="0"/>
              <a:t>a</a:t>
            </a:r>
            <a:r>
              <a:rPr sz="2200" spc="160" dirty="0"/>
              <a:t> </a:t>
            </a:r>
            <a:r>
              <a:rPr sz="2200" dirty="0"/>
              <a:t>detecção</a:t>
            </a:r>
            <a:r>
              <a:rPr sz="2200" spc="150" dirty="0"/>
              <a:t> </a:t>
            </a:r>
            <a:r>
              <a:rPr sz="2200" dirty="0"/>
              <a:t>e</a:t>
            </a:r>
            <a:r>
              <a:rPr sz="2200" spc="155" dirty="0"/>
              <a:t> </a:t>
            </a:r>
            <a:r>
              <a:rPr sz="2200" spc="-10" dirty="0"/>
              <a:t>interpretação </a:t>
            </a:r>
            <a:r>
              <a:rPr sz="2200" dirty="0"/>
              <a:t>desse</a:t>
            </a:r>
            <a:r>
              <a:rPr sz="2200" spc="-20" dirty="0"/>
              <a:t> </a:t>
            </a:r>
            <a:r>
              <a:rPr sz="2200" spc="-10" dirty="0"/>
              <a:t>estado;</a:t>
            </a:r>
            <a:endParaRPr sz="2200" dirty="0"/>
          </a:p>
          <a:p>
            <a:pPr marL="12700" marR="5080" algn="just">
              <a:lnSpc>
                <a:spcPts val="2460"/>
              </a:lnSpc>
              <a:spcBef>
                <a:spcPts val="1140"/>
              </a:spcBef>
            </a:pPr>
            <a:r>
              <a:rPr sz="2200" dirty="0"/>
              <a:t>O</a:t>
            </a:r>
            <a:r>
              <a:rPr sz="2200" spc="105" dirty="0"/>
              <a:t> </a:t>
            </a:r>
            <a:r>
              <a:rPr sz="2200" dirty="0"/>
              <a:t>ciclo</a:t>
            </a:r>
            <a:r>
              <a:rPr sz="2200" spc="114" dirty="0"/>
              <a:t> </a:t>
            </a:r>
            <a:r>
              <a:rPr sz="2200" spc="-20" dirty="0"/>
              <a:t>inicia-</a:t>
            </a:r>
            <a:r>
              <a:rPr sz="2200" dirty="0"/>
              <a:t>se,</a:t>
            </a:r>
            <a:r>
              <a:rPr sz="2200" spc="120" dirty="0"/>
              <a:t> </a:t>
            </a:r>
            <a:r>
              <a:rPr sz="2200" dirty="0"/>
              <a:t>quando</a:t>
            </a:r>
            <a:r>
              <a:rPr sz="2200" spc="114" dirty="0"/>
              <a:t> </a:t>
            </a:r>
            <a:r>
              <a:rPr sz="2200" dirty="0"/>
              <a:t>o</a:t>
            </a:r>
            <a:r>
              <a:rPr sz="2200" spc="114" dirty="0"/>
              <a:t> </a:t>
            </a:r>
            <a:r>
              <a:rPr sz="2200" dirty="0"/>
              <a:t>usuário</a:t>
            </a:r>
            <a:r>
              <a:rPr sz="2200" spc="110" dirty="0"/>
              <a:t> </a:t>
            </a:r>
            <a:r>
              <a:rPr sz="2200" dirty="0"/>
              <a:t>estabelece</a:t>
            </a:r>
            <a:r>
              <a:rPr sz="2200" spc="114" dirty="0"/>
              <a:t> </a:t>
            </a:r>
            <a:r>
              <a:rPr sz="2200" dirty="0"/>
              <a:t>um</a:t>
            </a:r>
            <a:r>
              <a:rPr sz="2200" spc="155" dirty="0"/>
              <a:t> </a:t>
            </a:r>
            <a:r>
              <a:rPr sz="2200" b="1" dirty="0">
                <a:latin typeface="Arial"/>
                <a:cs typeface="Arial"/>
              </a:rPr>
              <a:t>objetivo</a:t>
            </a:r>
            <a:r>
              <a:rPr sz="2200" dirty="0"/>
              <a:t>,</a:t>
            </a:r>
            <a:r>
              <a:rPr sz="2200" spc="114" dirty="0"/>
              <a:t> </a:t>
            </a:r>
            <a:r>
              <a:rPr sz="2200" dirty="0"/>
              <a:t>ou</a:t>
            </a:r>
            <a:r>
              <a:rPr sz="2200" spc="110" dirty="0"/>
              <a:t> </a:t>
            </a:r>
            <a:r>
              <a:rPr sz="2200" spc="-10" dirty="0"/>
              <a:t>seja, </a:t>
            </a:r>
            <a:r>
              <a:rPr sz="2200" dirty="0"/>
              <a:t>um</a:t>
            </a:r>
            <a:r>
              <a:rPr sz="2200" spc="200" dirty="0"/>
              <a:t> </a:t>
            </a:r>
            <a:r>
              <a:rPr sz="2200" dirty="0"/>
              <a:t>estado</a:t>
            </a:r>
            <a:r>
              <a:rPr sz="2200" spc="204" dirty="0"/>
              <a:t> </a:t>
            </a:r>
            <a:r>
              <a:rPr sz="2200" dirty="0"/>
              <a:t>que</a:t>
            </a:r>
            <a:r>
              <a:rPr sz="2200" spc="215" dirty="0"/>
              <a:t> </a:t>
            </a:r>
            <a:r>
              <a:rPr sz="2200" dirty="0"/>
              <a:t>ele</a:t>
            </a:r>
            <a:r>
              <a:rPr sz="2200" spc="215" dirty="0"/>
              <a:t> </a:t>
            </a:r>
            <a:r>
              <a:rPr sz="2200" dirty="0"/>
              <a:t>deseja</a:t>
            </a:r>
            <a:r>
              <a:rPr sz="2200" spc="210" dirty="0"/>
              <a:t> </a:t>
            </a:r>
            <a:r>
              <a:rPr sz="2200" dirty="0"/>
              <a:t>alcançar</a:t>
            </a:r>
            <a:r>
              <a:rPr sz="2200" spc="210" dirty="0"/>
              <a:t> </a:t>
            </a:r>
            <a:r>
              <a:rPr sz="2200" dirty="0"/>
              <a:t>através</a:t>
            </a:r>
            <a:r>
              <a:rPr sz="2200" spc="204" dirty="0"/>
              <a:t> </a:t>
            </a:r>
            <a:r>
              <a:rPr sz="2200" dirty="0"/>
              <a:t>da</a:t>
            </a:r>
            <a:r>
              <a:rPr sz="2200" spc="210" dirty="0"/>
              <a:t> </a:t>
            </a:r>
            <a:r>
              <a:rPr sz="2200" dirty="0"/>
              <a:t>interação</a:t>
            </a:r>
            <a:r>
              <a:rPr sz="2200" spc="210" dirty="0"/>
              <a:t> </a:t>
            </a:r>
            <a:r>
              <a:rPr sz="2200" dirty="0"/>
              <a:t>com</a:t>
            </a:r>
            <a:r>
              <a:rPr sz="2200" spc="190" dirty="0"/>
              <a:t> </a:t>
            </a:r>
            <a:r>
              <a:rPr sz="2200" dirty="0"/>
              <a:t>o</a:t>
            </a:r>
            <a:r>
              <a:rPr sz="2200" spc="210" dirty="0"/>
              <a:t> </a:t>
            </a:r>
            <a:r>
              <a:rPr sz="2200" spc="-20" dirty="0"/>
              <a:t>sis- </a:t>
            </a:r>
            <a:r>
              <a:rPr sz="2200" spc="-10" dirty="0"/>
              <a:t>tema;</a:t>
            </a:r>
            <a:endParaRPr sz="2200" dirty="0">
              <a:latin typeface="Arial"/>
              <a:cs typeface="Arial"/>
            </a:endParaRPr>
          </a:p>
          <a:p>
            <a:pPr marL="444500" marR="5080" algn="just">
              <a:lnSpc>
                <a:spcPts val="2460"/>
              </a:lnSpc>
              <a:spcBef>
                <a:spcPts val="1420"/>
              </a:spcBef>
            </a:pPr>
            <a:r>
              <a:rPr sz="2200" dirty="0"/>
              <a:t>Exemplo:</a:t>
            </a:r>
            <a:r>
              <a:rPr sz="2200" spc="-20" dirty="0"/>
              <a:t> </a:t>
            </a:r>
            <a:r>
              <a:rPr sz="2200" dirty="0"/>
              <a:t>Quero</a:t>
            </a:r>
            <a:r>
              <a:rPr sz="2200" spc="-10" dirty="0"/>
              <a:t> </a:t>
            </a:r>
            <a:r>
              <a:rPr sz="2200" dirty="0"/>
              <a:t>procurar</a:t>
            </a:r>
            <a:r>
              <a:rPr sz="2200" spc="-15" dirty="0"/>
              <a:t> </a:t>
            </a:r>
            <a:r>
              <a:rPr sz="2200" dirty="0"/>
              <a:t>pelo</a:t>
            </a:r>
            <a:r>
              <a:rPr sz="2200" spc="-10" dirty="0"/>
              <a:t> </a:t>
            </a:r>
            <a:r>
              <a:rPr sz="2200" dirty="0"/>
              <a:t>livro</a:t>
            </a:r>
            <a:r>
              <a:rPr sz="2200" spc="-15" dirty="0"/>
              <a:t> </a:t>
            </a:r>
            <a:r>
              <a:rPr sz="2200" dirty="0"/>
              <a:t>de</a:t>
            </a:r>
            <a:r>
              <a:rPr sz="2200" spc="-15" dirty="0"/>
              <a:t> </a:t>
            </a:r>
            <a:r>
              <a:rPr sz="2200" dirty="0" err="1"/>
              <a:t>Interação</a:t>
            </a:r>
            <a:r>
              <a:rPr sz="2200" spc="-20" dirty="0"/>
              <a:t> </a:t>
            </a:r>
            <a:r>
              <a:rPr sz="2200" spc="-25" dirty="0" err="1"/>
              <a:t>Humano-</a:t>
            </a:r>
            <a:r>
              <a:rPr sz="2200" spc="-10" dirty="0" err="1"/>
              <a:t>Compu</a:t>
            </a:r>
            <a:r>
              <a:rPr sz="2200" dirty="0" err="1"/>
              <a:t>tador</a:t>
            </a:r>
            <a:r>
              <a:rPr sz="2200" spc="-30" dirty="0"/>
              <a:t> </a:t>
            </a:r>
            <a:r>
              <a:rPr sz="2200" dirty="0"/>
              <a:t>de</a:t>
            </a:r>
            <a:r>
              <a:rPr sz="2200" spc="-25" dirty="0"/>
              <a:t> </a:t>
            </a:r>
            <a:r>
              <a:rPr sz="2200" dirty="0"/>
              <a:t>Simone</a:t>
            </a:r>
            <a:r>
              <a:rPr sz="2200" spc="-30" dirty="0"/>
              <a:t> </a:t>
            </a:r>
            <a:r>
              <a:rPr sz="2200" dirty="0"/>
              <a:t>e</a:t>
            </a:r>
            <a:r>
              <a:rPr sz="2200" spc="-25" dirty="0"/>
              <a:t> </a:t>
            </a:r>
            <a:r>
              <a:rPr sz="2200" spc="-10" dirty="0"/>
              <a:t>Bruno;</a:t>
            </a:r>
            <a:endParaRPr sz="2200" dirty="0"/>
          </a:p>
        </p:txBody>
      </p:sp>
    </p:spTree>
  </p:cSld>
  <p:clrMapOvr>
    <a:masterClrMapping/>
  </p:clrMapOvr>
  <p:transition>
    <p:dissolv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622300" y="1644650"/>
            <a:ext cx="8669020" cy="548640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 algn="just">
              <a:lnSpc>
                <a:spcPct val="93900"/>
              </a:lnSpc>
              <a:spcBef>
                <a:spcPts val="285"/>
              </a:spcBef>
            </a:pPr>
            <a:r>
              <a:rPr sz="2150" dirty="0">
                <a:latin typeface="Microsoft Sans Serif"/>
                <a:cs typeface="Microsoft Sans Serif"/>
              </a:rPr>
              <a:t>Após</a:t>
            </a:r>
            <a:r>
              <a:rPr sz="2150" spc="15" dirty="0">
                <a:latin typeface="Microsoft Sans Serif"/>
                <a:cs typeface="Microsoft Sans Serif"/>
              </a:rPr>
              <a:t>  </a:t>
            </a:r>
            <a:r>
              <a:rPr sz="2150" dirty="0">
                <a:latin typeface="Microsoft Sans Serif"/>
                <a:cs typeface="Microsoft Sans Serif"/>
              </a:rPr>
              <a:t>a</a:t>
            </a:r>
            <a:r>
              <a:rPr sz="2150" spc="10" dirty="0">
                <a:latin typeface="Microsoft Sans Serif"/>
                <a:cs typeface="Microsoft Sans Serif"/>
              </a:rPr>
              <a:t>  </a:t>
            </a:r>
            <a:r>
              <a:rPr sz="2150" dirty="0">
                <a:latin typeface="Microsoft Sans Serif"/>
                <a:cs typeface="Microsoft Sans Serif"/>
              </a:rPr>
              <a:t>intenção</a:t>
            </a:r>
            <a:r>
              <a:rPr sz="2150" spc="15" dirty="0">
                <a:latin typeface="Microsoft Sans Serif"/>
                <a:cs typeface="Microsoft Sans Serif"/>
              </a:rPr>
              <a:t>  </a:t>
            </a:r>
            <a:r>
              <a:rPr sz="2150" dirty="0">
                <a:latin typeface="Microsoft Sans Serif"/>
                <a:cs typeface="Microsoft Sans Serif"/>
              </a:rPr>
              <a:t>formulada,</a:t>
            </a:r>
            <a:r>
              <a:rPr sz="2150" spc="10" dirty="0">
                <a:latin typeface="Microsoft Sans Serif"/>
                <a:cs typeface="Microsoft Sans Serif"/>
              </a:rPr>
              <a:t>  </a:t>
            </a:r>
            <a:r>
              <a:rPr sz="2150" dirty="0">
                <a:latin typeface="Microsoft Sans Serif"/>
                <a:cs typeface="Microsoft Sans Serif"/>
              </a:rPr>
              <a:t>deve</a:t>
            </a:r>
            <a:r>
              <a:rPr sz="2150" spc="25" dirty="0">
                <a:latin typeface="Microsoft Sans Serif"/>
                <a:cs typeface="Microsoft Sans Serif"/>
              </a:rPr>
              <a:t>  </a:t>
            </a:r>
            <a:r>
              <a:rPr sz="2150" b="1" dirty="0">
                <a:latin typeface="Arial"/>
                <a:cs typeface="Arial"/>
              </a:rPr>
              <a:t>especificar</a:t>
            </a:r>
            <a:r>
              <a:rPr sz="2150" b="1" spc="-25" dirty="0">
                <a:latin typeface="Arial"/>
                <a:cs typeface="Arial"/>
              </a:rPr>
              <a:t>  </a:t>
            </a:r>
            <a:r>
              <a:rPr sz="2150" b="1" dirty="0">
                <a:latin typeface="Arial"/>
                <a:cs typeface="Arial"/>
              </a:rPr>
              <a:t>as</a:t>
            </a:r>
            <a:r>
              <a:rPr sz="2150" b="1" spc="-15" dirty="0">
                <a:latin typeface="Arial"/>
                <a:cs typeface="Arial"/>
              </a:rPr>
              <a:t>  </a:t>
            </a:r>
            <a:r>
              <a:rPr sz="2150" b="1" dirty="0">
                <a:latin typeface="Arial"/>
                <a:cs typeface="Arial"/>
              </a:rPr>
              <a:t>ações</a:t>
            </a:r>
            <a:r>
              <a:rPr sz="2150" b="1" spc="185" dirty="0">
                <a:latin typeface="Arial"/>
                <a:cs typeface="Arial"/>
              </a:rPr>
              <a:t>   </a:t>
            </a:r>
            <a:r>
              <a:rPr sz="2150" dirty="0">
                <a:latin typeface="Microsoft Sans Serif"/>
                <a:cs typeface="Microsoft Sans Serif"/>
              </a:rPr>
              <a:t>a</a:t>
            </a:r>
            <a:r>
              <a:rPr sz="2150" spc="5" dirty="0">
                <a:latin typeface="Microsoft Sans Serif"/>
                <a:cs typeface="Microsoft Sans Serif"/>
              </a:rPr>
              <a:t>  </a:t>
            </a:r>
            <a:r>
              <a:rPr sz="2150" spc="-10" dirty="0">
                <a:latin typeface="Microsoft Sans Serif"/>
                <a:cs typeface="Microsoft Sans Serif"/>
              </a:rPr>
              <a:t>serem </a:t>
            </a:r>
            <a:r>
              <a:rPr sz="2150" dirty="0">
                <a:latin typeface="Microsoft Sans Serif"/>
                <a:cs typeface="Microsoft Sans Serif"/>
              </a:rPr>
              <a:t>realizadas,</a:t>
            </a:r>
            <a:r>
              <a:rPr sz="2150" spc="30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ou</a:t>
            </a:r>
            <a:r>
              <a:rPr sz="2150" spc="3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seja,</a:t>
            </a:r>
            <a:r>
              <a:rPr sz="2150" spc="3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determinar</a:t>
            </a:r>
            <a:r>
              <a:rPr sz="2150" spc="30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quais</a:t>
            </a:r>
            <a:r>
              <a:rPr sz="2150" spc="3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configurações</a:t>
            </a:r>
            <a:r>
              <a:rPr sz="2150" spc="31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das</a:t>
            </a:r>
            <a:r>
              <a:rPr sz="2150" spc="3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variáveis</a:t>
            </a:r>
            <a:r>
              <a:rPr sz="2150" spc="320" dirty="0">
                <a:latin typeface="Microsoft Sans Serif"/>
                <a:cs typeface="Microsoft Sans Serif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do </a:t>
            </a:r>
            <a:r>
              <a:rPr sz="2150" dirty="0">
                <a:latin typeface="Microsoft Sans Serif"/>
                <a:cs typeface="Microsoft Sans Serif"/>
              </a:rPr>
              <a:t>sistema</a:t>
            </a:r>
            <a:r>
              <a:rPr sz="2150" spc="4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correspondem</a:t>
            </a:r>
            <a:r>
              <a:rPr sz="2150" spc="434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ao</a:t>
            </a:r>
            <a:r>
              <a:rPr sz="2150" spc="4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estado</a:t>
            </a:r>
            <a:r>
              <a:rPr sz="2150" spc="434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desejado</a:t>
            </a:r>
            <a:r>
              <a:rPr sz="2150" spc="4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e</a:t>
            </a:r>
            <a:r>
              <a:rPr sz="2150" spc="4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quais</a:t>
            </a:r>
            <a:r>
              <a:rPr sz="2150" spc="4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mecanismos</a:t>
            </a:r>
            <a:r>
              <a:rPr sz="2150" spc="445" dirty="0">
                <a:latin typeface="Microsoft Sans Serif"/>
                <a:cs typeface="Microsoft Sans Serif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de </a:t>
            </a:r>
            <a:r>
              <a:rPr sz="2150" dirty="0">
                <a:latin typeface="Microsoft Sans Serif"/>
                <a:cs typeface="Microsoft Sans Serif"/>
              </a:rPr>
              <a:t>controle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levam</a:t>
            </a:r>
            <a:r>
              <a:rPr sz="2150" spc="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dirty="0" err="1">
                <a:latin typeface="Microsoft Sans Serif"/>
                <a:cs typeface="Microsoft Sans Serif"/>
              </a:rPr>
              <a:t>este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spc="-10" dirty="0" err="1">
                <a:latin typeface="Microsoft Sans Serif"/>
                <a:cs typeface="Microsoft Sans Serif"/>
              </a:rPr>
              <a:t>estado</a:t>
            </a:r>
            <a:r>
              <a:rPr sz="2150" spc="-10" dirty="0">
                <a:latin typeface="Microsoft Sans Serif"/>
                <a:cs typeface="Microsoft Sans Serif"/>
              </a:rPr>
              <a:t>:</a:t>
            </a:r>
            <a:endParaRPr sz="2150" dirty="0">
              <a:latin typeface="Microsoft Sans Serif"/>
              <a:cs typeface="Microsoft Sans Serif"/>
            </a:endParaRPr>
          </a:p>
          <a:p>
            <a:pPr marL="438784" marR="8890" algn="just">
              <a:lnSpc>
                <a:spcPts val="2430"/>
              </a:lnSpc>
              <a:spcBef>
                <a:spcPts val="1445"/>
              </a:spcBef>
            </a:pPr>
            <a:r>
              <a:rPr sz="2150" dirty="0" err="1">
                <a:latin typeface="Microsoft Sans Serif"/>
                <a:cs typeface="Microsoft Sans Serif"/>
              </a:rPr>
              <a:t>Exemplo</a:t>
            </a:r>
            <a:r>
              <a:rPr sz="2150" dirty="0">
                <a:latin typeface="Microsoft Sans Serif"/>
                <a:cs typeface="Microsoft Sans Serif"/>
              </a:rPr>
              <a:t>:</a:t>
            </a:r>
            <a:r>
              <a:rPr sz="2150" spc="25" dirty="0">
                <a:latin typeface="Microsoft Sans Serif"/>
                <a:cs typeface="Microsoft Sans Serif"/>
              </a:rPr>
              <a:t>  </a:t>
            </a:r>
            <a:r>
              <a:rPr sz="2150" dirty="0" err="1">
                <a:latin typeface="Microsoft Sans Serif"/>
                <a:cs typeface="Microsoft Sans Serif"/>
              </a:rPr>
              <a:t>qual</a:t>
            </a:r>
            <a:r>
              <a:rPr sz="2150" spc="35" dirty="0">
                <a:latin typeface="Microsoft Sans Serif"/>
                <a:cs typeface="Microsoft Sans Serif"/>
              </a:rPr>
              <a:t>  </a:t>
            </a:r>
            <a:r>
              <a:rPr sz="2150" dirty="0" err="1">
                <a:latin typeface="Microsoft Sans Serif"/>
                <a:cs typeface="Microsoft Sans Serif"/>
              </a:rPr>
              <a:t>dialogo</a:t>
            </a:r>
            <a:r>
              <a:rPr sz="2150" spc="35" dirty="0">
                <a:latin typeface="Microsoft Sans Serif"/>
                <a:cs typeface="Microsoft Sans Serif"/>
              </a:rPr>
              <a:t>  </a:t>
            </a:r>
            <a:r>
              <a:rPr sz="2150" dirty="0" err="1">
                <a:latin typeface="Microsoft Sans Serif"/>
                <a:cs typeface="Microsoft Sans Serif"/>
              </a:rPr>
              <a:t>acionar</a:t>
            </a:r>
            <a:r>
              <a:rPr sz="2150" dirty="0">
                <a:latin typeface="Microsoft Sans Serif"/>
                <a:cs typeface="Microsoft Sans Serif"/>
              </a:rPr>
              <a:t>,</a:t>
            </a:r>
            <a:r>
              <a:rPr sz="2150" spc="40" dirty="0">
                <a:latin typeface="Microsoft Sans Serif"/>
                <a:cs typeface="Microsoft Sans Serif"/>
              </a:rPr>
              <a:t>  </a:t>
            </a:r>
            <a:r>
              <a:rPr sz="2150" dirty="0" err="1">
                <a:latin typeface="Microsoft Sans Serif"/>
                <a:cs typeface="Microsoft Sans Serif"/>
              </a:rPr>
              <a:t>quais</a:t>
            </a:r>
            <a:r>
              <a:rPr sz="2150" spc="40" dirty="0">
                <a:latin typeface="Microsoft Sans Serif"/>
                <a:cs typeface="Microsoft Sans Serif"/>
              </a:rPr>
              <a:t>  </a:t>
            </a:r>
            <a:r>
              <a:rPr sz="2150" dirty="0" err="1">
                <a:latin typeface="Microsoft Sans Serif"/>
                <a:cs typeface="Microsoft Sans Serif"/>
              </a:rPr>
              <a:t>campos</a:t>
            </a:r>
            <a:r>
              <a:rPr sz="2150" spc="35" dirty="0">
                <a:latin typeface="Microsoft Sans Serif"/>
                <a:cs typeface="Microsoft Sans Serif"/>
              </a:rPr>
              <a:t>  </a:t>
            </a:r>
            <a:r>
              <a:rPr sz="2150" dirty="0" err="1">
                <a:latin typeface="Microsoft Sans Serif"/>
                <a:cs typeface="Microsoft Sans Serif"/>
              </a:rPr>
              <a:t>preencher</a:t>
            </a:r>
            <a:r>
              <a:rPr sz="2150" dirty="0">
                <a:latin typeface="Microsoft Sans Serif"/>
                <a:cs typeface="Microsoft Sans Serif"/>
              </a:rPr>
              <a:t>,</a:t>
            </a:r>
            <a:r>
              <a:rPr sz="2150" spc="35" dirty="0">
                <a:latin typeface="Microsoft Sans Serif"/>
                <a:cs typeface="Microsoft Sans Serif"/>
              </a:rPr>
              <a:t>  </a:t>
            </a:r>
            <a:r>
              <a:rPr sz="2150" spc="-10" dirty="0" err="1">
                <a:latin typeface="Microsoft Sans Serif"/>
                <a:cs typeface="Microsoft Sans Serif"/>
              </a:rPr>
              <a:t>quais</a:t>
            </a:r>
            <a:r>
              <a:rPr sz="2150" spc="-10" dirty="0">
                <a:latin typeface="Microsoft Sans Serif"/>
                <a:cs typeface="Microsoft Sans Serif"/>
              </a:rPr>
              <a:t> </a:t>
            </a:r>
            <a:r>
              <a:rPr sz="2150" dirty="0" err="1">
                <a:latin typeface="Microsoft Sans Serif"/>
                <a:cs typeface="Microsoft Sans Serif"/>
              </a:rPr>
              <a:t>controles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dirty="0" err="1">
                <a:latin typeface="Microsoft Sans Serif"/>
                <a:cs typeface="Microsoft Sans Serif"/>
              </a:rPr>
              <a:t>manipular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[e</a:t>
            </a:r>
            <a:r>
              <a:rPr sz="2150" spc="55" dirty="0">
                <a:latin typeface="Microsoft Sans Serif"/>
                <a:cs typeface="Microsoft Sans Serif"/>
              </a:rPr>
              <a:t> </a:t>
            </a:r>
            <a:r>
              <a:rPr sz="2150" dirty="0" err="1">
                <a:latin typeface="Microsoft Sans Serif"/>
                <a:cs typeface="Microsoft Sans Serif"/>
              </a:rPr>
              <a:t>como</a:t>
            </a:r>
            <a:r>
              <a:rPr sz="2150" dirty="0">
                <a:latin typeface="Microsoft Sans Serif"/>
                <a:cs typeface="Microsoft Sans Serif"/>
              </a:rPr>
              <a:t>],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dirty="0" err="1">
                <a:latin typeface="Microsoft Sans Serif"/>
                <a:cs typeface="Microsoft Sans Serif"/>
              </a:rPr>
              <a:t>quais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dirty="0" err="1">
                <a:latin typeface="Microsoft Sans Serif"/>
                <a:cs typeface="Microsoft Sans Serif"/>
              </a:rPr>
              <a:t>botões</a:t>
            </a:r>
            <a:r>
              <a:rPr sz="2150" spc="65" dirty="0">
                <a:latin typeface="Microsoft Sans Serif"/>
                <a:cs typeface="Microsoft Sans Serif"/>
              </a:rPr>
              <a:t> </a:t>
            </a:r>
            <a:r>
              <a:rPr sz="2150" spc="-10" dirty="0" err="1">
                <a:latin typeface="Microsoft Sans Serif"/>
                <a:cs typeface="Microsoft Sans Serif"/>
              </a:rPr>
              <a:t>clicar</a:t>
            </a:r>
            <a:r>
              <a:rPr sz="2150" spc="-10" dirty="0">
                <a:latin typeface="Microsoft Sans Serif"/>
                <a:cs typeface="Microsoft Sans Serif"/>
              </a:rPr>
              <a:t>.</a:t>
            </a:r>
            <a:endParaRPr sz="2150" dirty="0">
              <a:latin typeface="Microsoft Sans Serif"/>
              <a:cs typeface="Microsoft Sans Serif"/>
            </a:endParaRPr>
          </a:p>
          <a:p>
            <a:pPr marL="12700" marR="7620" algn="just">
              <a:lnSpc>
                <a:spcPts val="2430"/>
              </a:lnSpc>
              <a:spcBef>
                <a:spcPts val="1110"/>
              </a:spcBef>
            </a:pPr>
            <a:r>
              <a:rPr sz="2150" dirty="0">
                <a:latin typeface="Microsoft Sans Serif"/>
                <a:cs typeface="Microsoft Sans Serif"/>
              </a:rPr>
              <a:t>O</a:t>
            </a:r>
            <a:r>
              <a:rPr sz="2150" spc="1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usuário</a:t>
            </a:r>
            <a:r>
              <a:rPr sz="2150" spc="1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deve</a:t>
            </a:r>
            <a:r>
              <a:rPr sz="2150" spc="165" dirty="0">
                <a:latin typeface="Microsoft Sans Serif"/>
                <a:cs typeface="Microsoft Sans Serif"/>
              </a:rPr>
              <a:t> </a:t>
            </a:r>
            <a:r>
              <a:rPr sz="2150" b="1" dirty="0">
                <a:latin typeface="Arial"/>
                <a:cs typeface="Arial"/>
              </a:rPr>
              <a:t>executar</a:t>
            </a:r>
            <a:r>
              <a:rPr sz="2150" b="1" spc="114" dirty="0">
                <a:latin typeface="Arial"/>
                <a:cs typeface="Arial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as</a:t>
            </a:r>
            <a:r>
              <a:rPr sz="2150" spc="16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ações</a:t>
            </a:r>
            <a:r>
              <a:rPr sz="2150" spc="1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planejadas,</a:t>
            </a:r>
            <a:r>
              <a:rPr sz="2150" spc="1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</a:t>
            </a:r>
            <a:r>
              <a:rPr sz="2150" spc="1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ordem</a:t>
            </a:r>
            <a:r>
              <a:rPr sz="2150" spc="13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especificada, </a:t>
            </a:r>
            <a:r>
              <a:rPr sz="2150" dirty="0">
                <a:latin typeface="Microsoft Sans Serif"/>
                <a:cs typeface="Microsoft Sans Serif"/>
              </a:rPr>
              <a:t>isto</a:t>
            </a:r>
            <a:r>
              <a:rPr sz="2150" spc="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é,</a:t>
            </a:r>
            <a:r>
              <a:rPr sz="2150" spc="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manipular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os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dispositivos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de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entrada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da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interface:</a:t>
            </a:r>
            <a:endParaRPr sz="2150" dirty="0">
              <a:latin typeface="Microsoft Sans Serif"/>
              <a:cs typeface="Microsoft Sans Serif"/>
            </a:endParaRPr>
          </a:p>
          <a:p>
            <a:pPr marL="438784" algn="just">
              <a:lnSpc>
                <a:spcPct val="100000"/>
              </a:lnSpc>
              <a:spcBef>
                <a:spcPts val="1185"/>
              </a:spcBef>
            </a:pPr>
            <a:r>
              <a:rPr sz="2150" dirty="0">
                <a:latin typeface="Microsoft Sans Serif"/>
                <a:cs typeface="Microsoft Sans Serif"/>
              </a:rPr>
              <a:t>Exemplo: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Digito</a:t>
            </a:r>
            <a:r>
              <a:rPr sz="2150" spc="5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o</a:t>
            </a:r>
            <a:r>
              <a:rPr sz="2150" spc="5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autor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e</a:t>
            </a:r>
            <a:r>
              <a:rPr sz="2150" spc="5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título</a:t>
            </a:r>
            <a:r>
              <a:rPr sz="2150" spc="5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do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livro</a:t>
            </a:r>
            <a:r>
              <a:rPr sz="2150" spc="5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e</a:t>
            </a:r>
            <a:r>
              <a:rPr sz="2150" spc="6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pressiono</a:t>
            </a:r>
            <a:r>
              <a:rPr sz="2150" spc="5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Buscar;</a:t>
            </a:r>
            <a:endParaRPr sz="2150" dirty="0">
              <a:latin typeface="Microsoft Sans Serif"/>
              <a:cs typeface="Microsoft Sans Serif"/>
            </a:endParaRPr>
          </a:p>
          <a:p>
            <a:pPr marL="12700" marR="10160" algn="just">
              <a:lnSpc>
                <a:spcPct val="94000"/>
              </a:lnSpc>
              <a:spcBef>
                <a:spcPts val="1125"/>
              </a:spcBef>
            </a:pPr>
            <a:r>
              <a:rPr sz="2150" dirty="0">
                <a:latin typeface="Microsoft Sans Serif"/>
                <a:cs typeface="Microsoft Sans Serif"/>
              </a:rPr>
              <a:t>A</a:t>
            </a:r>
            <a:r>
              <a:rPr sz="2150" spc="19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cada</a:t>
            </a:r>
            <a:r>
              <a:rPr sz="2150" spc="3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ação</a:t>
            </a:r>
            <a:r>
              <a:rPr sz="2150" spc="3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executada,</a:t>
            </a:r>
            <a:r>
              <a:rPr sz="2150" spc="33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sistema</a:t>
            </a:r>
            <a:r>
              <a:rPr sz="2150" spc="3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modifica</a:t>
            </a:r>
            <a:r>
              <a:rPr sz="2150" spc="3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seu</a:t>
            </a:r>
            <a:r>
              <a:rPr sz="2150" spc="33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estado</a:t>
            </a:r>
            <a:r>
              <a:rPr sz="2150" spc="3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e</a:t>
            </a:r>
            <a:r>
              <a:rPr sz="2150" spc="3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atualiza</a:t>
            </a:r>
            <a:r>
              <a:rPr sz="2150" spc="335" dirty="0">
                <a:latin typeface="Microsoft Sans Serif"/>
                <a:cs typeface="Microsoft Sans Serif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sua </a:t>
            </a:r>
            <a:r>
              <a:rPr sz="2150" dirty="0">
                <a:latin typeface="Microsoft Sans Serif"/>
                <a:cs typeface="Microsoft Sans Serif"/>
              </a:rPr>
              <a:t>interface,</a:t>
            </a:r>
            <a:r>
              <a:rPr sz="2150" spc="3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através</a:t>
            </a:r>
            <a:r>
              <a:rPr sz="2150" spc="36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de</a:t>
            </a:r>
            <a:r>
              <a:rPr sz="2150" spc="35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seus</a:t>
            </a:r>
            <a:r>
              <a:rPr sz="2150" spc="36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dispositivos</a:t>
            </a:r>
            <a:r>
              <a:rPr sz="2150" spc="36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de</a:t>
            </a:r>
            <a:r>
              <a:rPr sz="2150" spc="37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saída,</a:t>
            </a:r>
            <a:r>
              <a:rPr sz="2150" spc="3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para</a:t>
            </a:r>
            <a:r>
              <a:rPr sz="2150" spc="37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refletir</a:t>
            </a:r>
            <a:r>
              <a:rPr sz="2150" spc="3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o</a:t>
            </a:r>
            <a:r>
              <a:rPr sz="2150" spc="355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novo </a:t>
            </a:r>
            <a:r>
              <a:rPr sz="2150" spc="-10" dirty="0">
                <a:latin typeface="Microsoft Sans Serif"/>
                <a:cs typeface="Microsoft Sans Serif"/>
              </a:rPr>
              <a:t>estado;</a:t>
            </a:r>
            <a:endParaRPr sz="2150" dirty="0">
              <a:latin typeface="Microsoft Sans Serif"/>
              <a:cs typeface="Microsoft Sans Serif"/>
            </a:endParaRPr>
          </a:p>
          <a:p>
            <a:pPr marL="12700" marR="6985" algn="just">
              <a:lnSpc>
                <a:spcPct val="94000"/>
              </a:lnSpc>
              <a:spcBef>
                <a:spcPts val="1395"/>
              </a:spcBef>
            </a:pPr>
            <a:r>
              <a:rPr sz="2150" dirty="0">
                <a:latin typeface="Microsoft Sans Serif"/>
                <a:cs typeface="Microsoft Sans Serif"/>
              </a:rPr>
              <a:t>Isso</a:t>
            </a:r>
            <a:r>
              <a:rPr sz="2150" spc="5" dirty="0">
                <a:latin typeface="Microsoft Sans Serif"/>
                <a:cs typeface="Microsoft Sans Serif"/>
              </a:rPr>
              <a:t>  </a:t>
            </a:r>
            <a:r>
              <a:rPr sz="2150" dirty="0">
                <a:latin typeface="Microsoft Sans Serif"/>
                <a:cs typeface="Microsoft Sans Serif"/>
              </a:rPr>
              <a:t>faz  com  que</a:t>
            </a:r>
            <a:r>
              <a:rPr sz="2150" spc="5" dirty="0">
                <a:latin typeface="Microsoft Sans Serif"/>
                <a:cs typeface="Microsoft Sans Serif"/>
              </a:rPr>
              <a:t>  </a:t>
            </a:r>
            <a:r>
              <a:rPr sz="2150" dirty="0">
                <a:latin typeface="Microsoft Sans Serif"/>
                <a:cs typeface="Microsoft Sans Serif"/>
              </a:rPr>
              <a:t>inicie  a</a:t>
            </a:r>
            <a:r>
              <a:rPr sz="2150" spc="20" dirty="0">
                <a:latin typeface="Microsoft Sans Serif"/>
                <a:cs typeface="Microsoft Sans Serif"/>
              </a:rPr>
              <a:t>  </a:t>
            </a:r>
            <a:r>
              <a:rPr sz="2150" b="1" dirty="0">
                <a:latin typeface="Arial"/>
                <a:cs typeface="Arial"/>
              </a:rPr>
              <a:t>percepção</a:t>
            </a:r>
            <a:r>
              <a:rPr sz="2150" dirty="0">
                <a:latin typeface="Microsoft Sans Serif"/>
                <a:cs typeface="Microsoft Sans Serif"/>
              </a:rPr>
              <a:t>,</a:t>
            </a:r>
            <a:r>
              <a:rPr sz="2150" spc="-5" dirty="0">
                <a:latin typeface="Microsoft Sans Serif"/>
                <a:cs typeface="Microsoft Sans Serif"/>
              </a:rPr>
              <a:t>  </a:t>
            </a:r>
            <a:r>
              <a:rPr sz="2150" dirty="0">
                <a:latin typeface="Microsoft Sans Serif"/>
                <a:cs typeface="Microsoft Sans Serif"/>
              </a:rPr>
              <a:t>caso</a:t>
            </a:r>
            <a:r>
              <a:rPr sz="2150" spc="-5" dirty="0">
                <a:latin typeface="Microsoft Sans Serif"/>
                <a:cs typeface="Microsoft Sans Serif"/>
              </a:rPr>
              <a:t>  </a:t>
            </a:r>
            <a:r>
              <a:rPr sz="2150" dirty="0">
                <a:latin typeface="Microsoft Sans Serif"/>
                <a:cs typeface="Microsoft Sans Serif"/>
              </a:rPr>
              <a:t>o</a:t>
            </a:r>
            <a:r>
              <a:rPr sz="2150" spc="5" dirty="0">
                <a:latin typeface="Microsoft Sans Serif"/>
                <a:cs typeface="Microsoft Sans Serif"/>
              </a:rPr>
              <a:t>  </a:t>
            </a:r>
            <a:r>
              <a:rPr sz="2150" dirty="0">
                <a:latin typeface="Microsoft Sans Serif"/>
                <a:cs typeface="Microsoft Sans Serif"/>
              </a:rPr>
              <a:t>sistema</a:t>
            </a:r>
            <a:r>
              <a:rPr sz="2150" spc="-5" dirty="0">
                <a:latin typeface="Microsoft Sans Serif"/>
                <a:cs typeface="Microsoft Sans Serif"/>
              </a:rPr>
              <a:t>  </a:t>
            </a:r>
            <a:r>
              <a:rPr sz="2150" dirty="0">
                <a:latin typeface="Microsoft Sans Serif"/>
                <a:cs typeface="Microsoft Sans Serif"/>
              </a:rPr>
              <a:t>não</a:t>
            </a:r>
            <a:r>
              <a:rPr sz="2150" spc="5" dirty="0">
                <a:latin typeface="Microsoft Sans Serif"/>
                <a:cs typeface="Microsoft Sans Serif"/>
              </a:rPr>
              <a:t>  </a:t>
            </a:r>
            <a:r>
              <a:rPr sz="2150" spc="-10" dirty="0">
                <a:latin typeface="Microsoft Sans Serif"/>
                <a:cs typeface="Microsoft Sans Serif"/>
              </a:rPr>
              <a:t>realize </a:t>
            </a:r>
            <a:r>
              <a:rPr sz="2150" dirty="0">
                <a:latin typeface="Microsoft Sans Serif"/>
                <a:cs typeface="Microsoft Sans Serif"/>
              </a:rPr>
              <a:t>nenhuma</a:t>
            </a:r>
            <a:r>
              <a:rPr sz="2150" spc="509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alteração</a:t>
            </a:r>
            <a:r>
              <a:rPr sz="2150" spc="509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ou</a:t>
            </a:r>
            <a:r>
              <a:rPr sz="2150" spc="51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demore</a:t>
            </a:r>
            <a:r>
              <a:rPr sz="2150" spc="50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muito,</a:t>
            </a:r>
            <a:r>
              <a:rPr sz="2150" spc="49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influencia</a:t>
            </a:r>
            <a:r>
              <a:rPr sz="2150" spc="509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negativamente</a:t>
            </a:r>
            <a:r>
              <a:rPr sz="2150" spc="500" dirty="0">
                <a:latin typeface="Microsoft Sans Serif"/>
                <a:cs typeface="Microsoft Sans Serif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sua </a:t>
            </a:r>
            <a:r>
              <a:rPr sz="2150" spc="-10" dirty="0">
                <a:latin typeface="Microsoft Sans Serif"/>
                <a:cs typeface="Microsoft Sans Serif"/>
              </a:rPr>
              <a:t>interpretação;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0119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Teoria</a:t>
            </a:r>
            <a:r>
              <a:rPr spc="-155" dirty="0"/>
              <a:t> </a:t>
            </a:r>
            <a:r>
              <a:rPr dirty="0"/>
              <a:t>da</a:t>
            </a:r>
            <a:r>
              <a:rPr spc="-300" dirty="0"/>
              <a:t> </a:t>
            </a:r>
            <a:r>
              <a:rPr spc="-20" dirty="0"/>
              <a:t>Ação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4294967295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50900" y="1658620"/>
            <a:ext cx="8736964" cy="438517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algn="just">
              <a:lnSpc>
                <a:spcPts val="2460"/>
              </a:lnSpc>
              <a:spcBef>
                <a:spcPts val="330"/>
              </a:spcBef>
            </a:pPr>
            <a:r>
              <a:rPr sz="2200" dirty="0">
                <a:latin typeface="Microsoft Sans Serif"/>
                <a:cs typeface="Microsoft Sans Serif"/>
              </a:rPr>
              <a:t>Percebendo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novo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estado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incia-</a:t>
            </a:r>
            <a:r>
              <a:rPr sz="2200" dirty="0">
                <a:latin typeface="Microsoft Sans Serif"/>
                <a:cs typeface="Microsoft Sans Serif"/>
              </a:rPr>
              <a:t>se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atividade</a:t>
            </a:r>
            <a:r>
              <a:rPr sz="2200" spc="45" dirty="0">
                <a:latin typeface="Microsoft Sans Serif"/>
                <a:cs typeface="Microsoft Sans Serif"/>
              </a:rPr>
              <a:t> </a:t>
            </a:r>
            <a:r>
              <a:rPr sz="2200" b="1" dirty="0">
                <a:latin typeface="Arial"/>
                <a:cs typeface="Arial"/>
              </a:rPr>
              <a:t>interpretação</a:t>
            </a:r>
            <a:r>
              <a:rPr sz="2200" dirty="0">
                <a:latin typeface="Microsoft Sans Serif"/>
                <a:cs typeface="Microsoft Sans Serif"/>
              </a:rPr>
              <a:t>,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qual </a:t>
            </a:r>
            <a:r>
              <a:rPr sz="2200" dirty="0">
                <a:latin typeface="Microsoft Sans Serif"/>
                <a:cs typeface="Microsoft Sans Serif"/>
              </a:rPr>
              <a:t>atribui</a:t>
            </a:r>
            <a:r>
              <a:rPr sz="2200" spc="1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um</a:t>
            </a:r>
            <a:r>
              <a:rPr sz="2200" spc="16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significado</a:t>
            </a:r>
            <a:r>
              <a:rPr sz="2200" spc="1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ao</a:t>
            </a:r>
            <a:r>
              <a:rPr sz="2200" spc="1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novo</a:t>
            </a:r>
            <a:r>
              <a:rPr sz="2200" spc="1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estado</a:t>
            </a:r>
            <a:r>
              <a:rPr sz="2200" spc="1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</a:t>
            </a:r>
            <a:r>
              <a:rPr sz="2200" spc="1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essa</a:t>
            </a:r>
            <a:r>
              <a:rPr sz="2200" spc="1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interpretação</a:t>
            </a:r>
            <a:r>
              <a:rPr sz="2200" spc="1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é</a:t>
            </a:r>
            <a:r>
              <a:rPr sz="2200" spc="16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guiada </a:t>
            </a:r>
            <a:r>
              <a:rPr sz="2200" dirty="0">
                <a:latin typeface="Microsoft Sans Serif"/>
                <a:cs typeface="Microsoft Sans Serif"/>
              </a:rPr>
              <a:t>pelos</a:t>
            </a:r>
            <a:r>
              <a:rPr sz="2200" spc="-1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mapeamentos</a:t>
            </a:r>
            <a:r>
              <a:rPr sz="2200" spc="-5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que</a:t>
            </a:r>
            <a:r>
              <a:rPr sz="2200" spc="-5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o</a:t>
            </a:r>
            <a:r>
              <a:rPr sz="2200" spc="-1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usuário</a:t>
            </a:r>
            <a:r>
              <a:rPr sz="2200" spc="-1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tenha</a:t>
            </a:r>
            <a:r>
              <a:rPr sz="2200" spc="-1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feito</a:t>
            </a:r>
            <a:r>
              <a:rPr sz="2200" spc="-1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entre</a:t>
            </a:r>
            <a:r>
              <a:rPr sz="2200" spc="-1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as</a:t>
            </a:r>
            <a:r>
              <a:rPr sz="2200" spc="-5" dirty="0">
                <a:latin typeface="Microsoft Sans Serif"/>
                <a:cs typeface="Microsoft Sans Serif"/>
              </a:rPr>
              <a:t>  </a:t>
            </a:r>
            <a:r>
              <a:rPr sz="2200" spc="-10" dirty="0">
                <a:latin typeface="Microsoft Sans Serif"/>
                <a:cs typeface="Microsoft Sans Serif"/>
              </a:rPr>
              <a:t>variáveis </a:t>
            </a:r>
            <a:r>
              <a:rPr sz="2200" dirty="0">
                <a:latin typeface="Microsoft Sans Serif"/>
                <a:cs typeface="Microsoft Sans Serif"/>
              </a:rPr>
              <a:t>(mentais)</a:t>
            </a:r>
            <a:r>
              <a:rPr sz="2200" spc="-15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de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interesse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as variáveis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(físicas)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do</a:t>
            </a:r>
            <a:r>
              <a:rPr sz="2200" spc="-10" dirty="0">
                <a:latin typeface="Microsoft Sans Serif"/>
                <a:cs typeface="Microsoft Sans Serif"/>
              </a:rPr>
              <a:t> sistema;</a:t>
            </a:r>
            <a:endParaRPr sz="2200" dirty="0">
              <a:latin typeface="Microsoft Sans Serif"/>
              <a:cs typeface="Microsoft Sans Serif"/>
            </a:endParaRPr>
          </a:p>
          <a:p>
            <a:pPr marL="12700" marR="6985" algn="just">
              <a:lnSpc>
                <a:spcPct val="93400"/>
              </a:lnSpc>
              <a:spcBef>
                <a:spcPts val="1355"/>
              </a:spcBef>
            </a:pPr>
            <a:r>
              <a:rPr sz="2200" dirty="0">
                <a:latin typeface="Microsoft Sans Serif"/>
                <a:cs typeface="Microsoft Sans Serif"/>
              </a:rPr>
              <a:t>O</a:t>
            </a:r>
            <a:r>
              <a:rPr sz="2200" spc="45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ciclo</a:t>
            </a:r>
            <a:r>
              <a:rPr sz="2200" spc="4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se</a:t>
            </a:r>
            <a:r>
              <a:rPr sz="2200" spc="4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fecha</a:t>
            </a:r>
            <a:r>
              <a:rPr sz="2200" spc="459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com</a:t>
            </a:r>
            <a:r>
              <a:rPr sz="2200" spc="4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475" dirty="0">
                <a:latin typeface="Microsoft Sans Serif"/>
                <a:cs typeface="Microsoft Sans Serif"/>
              </a:rPr>
              <a:t> </a:t>
            </a:r>
            <a:r>
              <a:rPr sz="2200" b="1" dirty="0">
                <a:latin typeface="Arial"/>
                <a:cs typeface="Arial"/>
              </a:rPr>
              <a:t>avaliação</a:t>
            </a:r>
            <a:r>
              <a:rPr sz="2200" b="1" spc="430" dirty="0">
                <a:latin typeface="Arial"/>
                <a:cs typeface="Arial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do</a:t>
            </a:r>
            <a:r>
              <a:rPr sz="2200" spc="459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novo</a:t>
            </a:r>
            <a:r>
              <a:rPr sz="2200" spc="459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estado</a:t>
            </a:r>
            <a:r>
              <a:rPr sz="2200" spc="4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do</a:t>
            </a:r>
            <a:r>
              <a:rPr sz="2200" spc="459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sistema,</a:t>
            </a:r>
            <a:r>
              <a:rPr sz="2200" spc="459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o </a:t>
            </a:r>
            <a:r>
              <a:rPr sz="2200" dirty="0">
                <a:latin typeface="Microsoft Sans Serif"/>
                <a:cs typeface="Microsoft Sans Serif"/>
              </a:rPr>
              <a:t>resultado</a:t>
            </a:r>
            <a:r>
              <a:rPr sz="2200" spc="190" dirty="0">
                <a:latin typeface="Microsoft Sans Serif"/>
                <a:cs typeface="Microsoft Sans Serif"/>
              </a:rPr>
              <a:t>   </a:t>
            </a:r>
            <a:r>
              <a:rPr sz="2200" dirty="0">
                <a:latin typeface="Microsoft Sans Serif"/>
                <a:cs typeface="Microsoft Sans Serif"/>
              </a:rPr>
              <a:t>da</a:t>
            </a:r>
            <a:r>
              <a:rPr sz="2200" spc="190" dirty="0">
                <a:latin typeface="Microsoft Sans Serif"/>
                <a:cs typeface="Microsoft Sans Serif"/>
              </a:rPr>
              <a:t>   </a:t>
            </a:r>
            <a:r>
              <a:rPr sz="2200" dirty="0">
                <a:latin typeface="Microsoft Sans Serif"/>
                <a:cs typeface="Microsoft Sans Serif"/>
              </a:rPr>
              <a:t>avaliação</a:t>
            </a:r>
            <a:r>
              <a:rPr sz="2200" spc="195" dirty="0">
                <a:latin typeface="Microsoft Sans Serif"/>
                <a:cs typeface="Microsoft Sans Serif"/>
              </a:rPr>
              <a:t>   </a:t>
            </a:r>
            <a:r>
              <a:rPr sz="2200" dirty="0">
                <a:latin typeface="Microsoft Sans Serif"/>
                <a:cs typeface="Microsoft Sans Serif"/>
              </a:rPr>
              <a:t>determina</a:t>
            </a:r>
            <a:r>
              <a:rPr sz="2200" spc="195" dirty="0">
                <a:latin typeface="Microsoft Sans Serif"/>
                <a:cs typeface="Microsoft Sans Serif"/>
              </a:rPr>
              <a:t>   </a:t>
            </a:r>
            <a:r>
              <a:rPr sz="2200" dirty="0">
                <a:latin typeface="Microsoft Sans Serif"/>
                <a:cs typeface="Microsoft Sans Serif"/>
              </a:rPr>
              <a:t>se</a:t>
            </a:r>
            <a:r>
              <a:rPr sz="2200" spc="190" dirty="0">
                <a:latin typeface="Microsoft Sans Serif"/>
                <a:cs typeface="Microsoft Sans Serif"/>
              </a:rPr>
              <a:t>   </a:t>
            </a:r>
            <a:r>
              <a:rPr sz="2200" dirty="0">
                <a:latin typeface="Microsoft Sans Serif"/>
                <a:cs typeface="Microsoft Sans Serif"/>
              </a:rPr>
              <a:t>as</a:t>
            </a:r>
            <a:r>
              <a:rPr sz="2200" spc="190" dirty="0">
                <a:latin typeface="Microsoft Sans Serif"/>
                <a:cs typeface="Microsoft Sans Serif"/>
              </a:rPr>
              <a:t>   </a:t>
            </a:r>
            <a:r>
              <a:rPr sz="2200" dirty="0">
                <a:latin typeface="Microsoft Sans Serif"/>
                <a:cs typeface="Microsoft Sans Serif"/>
              </a:rPr>
              <a:t>ações</a:t>
            </a:r>
            <a:r>
              <a:rPr sz="2200" spc="190" dirty="0">
                <a:latin typeface="Microsoft Sans Serif"/>
                <a:cs typeface="Microsoft Sans Serif"/>
              </a:rPr>
              <a:t>   </a:t>
            </a:r>
            <a:r>
              <a:rPr sz="2200" spc="-10" dirty="0">
                <a:latin typeface="Microsoft Sans Serif"/>
                <a:cs typeface="Microsoft Sans Serif"/>
              </a:rPr>
              <a:t>realizadas </a:t>
            </a:r>
            <a:r>
              <a:rPr sz="2200" dirty="0">
                <a:latin typeface="Microsoft Sans Serif"/>
                <a:cs typeface="Microsoft Sans Serif"/>
              </a:rPr>
              <a:t>contribuíram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para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usuário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se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aproximar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só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seu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objetivo:</a:t>
            </a:r>
            <a:endParaRPr sz="2200" dirty="0">
              <a:latin typeface="Microsoft Sans Serif"/>
              <a:cs typeface="Microsoft Sans Serif"/>
            </a:endParaRPr>
          </a:p>
          <a:p>
            <a:pPr marL="444500" marR="7620" algn="just">
              <a:lnSpc>
                <a:spcPts val="2460"/>
              </a:lnSpc>
              <a:spcBef>
                <a:spcPts val="1460"/>
              </a:spcBef>
            </a:pPr>
            <a:r>
              <a:rPr sz="2200" dirty="0">
                <a:latin typeface="Microsoft Sans Serif"/>
                <a:cs typeface="Microsoft Sans Serif"/>
              </a:rPr>
              <a:t>Exemplo:</a:t>
            </a:r>
            <a:r>
              <a:rPr sz="2200" spc="10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Encontrei</a:t>
            </a:r>
            <a:r>
              <a:rPr sz="2200" spc="11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as</a:t>
            </a:r>
            <a:r>
              <a:rPr sz="2200" spc="11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informações</a:t>
            </a:r>
            <a:r>
              <a:rPr sz="2200" spc="114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que</a:t>
            </a:r>
            <a:r>
              <a:rPr sz="2200" spc="110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queria.</a:t>
            </a:r>
            <a:r>
              <a:rPr sz="2200" spc="105" dirty="0">
                <a:latin typeface="Microsoft Sans Serif"/>
                <a:cs typeface="Microsoft Sans Serif"/>
              </a:rPr>
              <a:t>  </a:t>
            </a:r>
            <a:r>
              <a:rPr sz="2200" dirty="0">
                <a:latin typeface="Microsoft Sans Serif"/>
                <a:cs typeface="Microsoft Sans Serif"/>
              </a:rPr>
              <a:t>Completei</a:t>
            </a:r>
            <a:r>
              <a:rPr sz="2200" spc="110" dirty="0">
                <a:latin typeface="Microsoft Sans Serif"/>
                <a:cs typeface="Microsoft Sans Serif"/>
              </a:rPr>
              <a:t>  </a:t>
            </a:r>
            <a:r>
              <a:rPr sz="2200" spc="-50" dirty="0">
                <a:latin typeface="Microsoft Sans Serif"/>
                <a:cs typeface="Microsoft Sans Serif"/>
              </a:rPr>
              <a:t>a </a:t>
            </a:r>
            <a:r>
              <a:rPr sz="2200" dirty="0">
                <a:latin typeface="Microsoft Sans Serif"/>
                <a:cs typeface="Microsoft Sans Serif"/>
              </a:rPr>
              <a:t>tarefa</a:t>
            </a:r>
            <a:r>
              <a:rPr sz="2200" spc="-20" dirty="0">
                <a:latin typeface="Microsoft Sans Serif"/>
                <a:cs typeface="Microsoft Sans Serif"/>
              </a:rPr>
              <a:t> com</a:t>
            </a:r>
            <a:r>
              <a:rPr sz="2200" spc="-36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sucesso;</a:t>
            </a:r>
            <a:endParaRPr sz="2200" dirty="0">
              <a:latin typeface="Microsoft Sans Serif"/>
              <a:cs typeface="Microsoft Sans Serif"/>
            </a:endParaRPr>
          </a:p>
          <a:p>
            <a:pPr marL="12700" marR="9525" algn="just">
              <a:lnSpc>
                <a:spcPts val="2460"/>
              </a:lnSpc>
              <a:spcBef>
                <a:spcPts val="1140"/>
              </a:spcBef>
            </a:pPr>
            <a:r>
              <a:rPr sz="2200" dirty="0">
                <a:latin typeface="Microsoft Sans Serif"/>
                <a:cs typeface="Microsoft Sans Serif"/>
              </a:rPr>
              <a:t>Caso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não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atinja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seu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objetivo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usuário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precisa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refazer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ciclo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uma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ou </a:t>
            </a:r>
            <a:r>
              <a:rPr sz="2200" dirty="0">
                <a:latin typeface="Microsoft Sans Serif"/>
                <a:cs typeface="Microsoft Sans Serif"/>
              </a:rPr>
              <a:t>mais</a:t>
            </a:r>
            <a:r>
              <a:rPr sz="2200" spc="44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vezes</a:t>
            </a:r>
            <a:r>
              <a:rPr sz="2200" spc="44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para</a:t>
            </a:r>
            <a:r>
              <a:rPr sz="2200" spc="44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retificar</a:t>
            </a:r>
            <a:r>
              <a:rPr sz="2200" spc="44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suas</a:t>
            </a:r>
            <a:r>
              <a:rPr sz="2200" spc="4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atividades</a:t>
            </a:r>
            <a:r>
              <a:rPr sz="2200" spc="44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para</a:t>
            </a:r>
            <a:r>
              <a:rPr sz="2200" spc="4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atingir</a:t>
            </a:r>
            <a:r>
              <a:rPr sz="2200" spc="44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seu</a:t>
            </a:r>
            <a:r>
              <a:rPr sz="2200" spc="44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objetivo original.</a:t>
            </a:r>
            <a:endParaRPr sz="2200" dirty="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0119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Teoria</a:t>
            </a:r>
            <a:r>
              <a:rPr spc="-155" dirty="0"/>
              <a:t> </a:t>
            </a:r>
            <a:r>
              <a:rPr dirty="0"/>
              <a:t>da</a:t>
            </a:r>
            <a:r>
              <a:rPr spc="-300" dirty="0"/>
              <a:t> </a:t>
            </a:r>
            <a:r>
              <a:rPr spc="-20" dirty="0"/>
              <a:t>Ação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4294967295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  <p:transition>
    <p:dissolv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0119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Teoria</a:t>
            </a:r>
            <a:r>
              <a:rPr spc="-155" dirty="0"/>
              <a:t> </a:t>
            </a:r>
            <a:r>
              <a:rPr dirty="0"/>
              <a:t>da</a:t>
            </a:r>
            <a:r>
              <a:rPr spc="-300" dirty="0"/>
              <a:t> </a:t>
            </a:r>
            <a:r>
              <a:rPr spc="-20" dirty="0"/>
              <a:t>Ação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0219" y="1531619"/>
            <a:ext cx="2871658" cy="277090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16090" y="4356100"/>
            <a:ext cx="2904490" cy="258430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66422" y="2208530"/>
            <a:ext cx="5354320" cy="429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05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Travessia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golfos:</a:t>
            </a:r>
            <a:endParaRPr sz="1800" dirty="0">
              <a:latin typeface="Arial"/>
              <a:cs typeface="Arial"/>
            </a:endParaRPr>
          </a:p>
          <a:p>
            <a:pPr marL="444500" marR="5080" algn="just">
              <a:lnSpc>
                <a:spcPct val="93700"/>
              </a:lnSpc>
              <a:spcBef>
                <a:spcPts val="50"/>
              </a:spcBef>
            </a:pPr>
            <a:r>
              <a:rPr sz="1400" b="1" dirty="0">
                <a:latin typeface="Arial"/>
                <a:cs typeface="Arial"/>
              </a:rPr>
              <a:t>Execução</a:t>
            </a:r>
            <a:r>
              <a:rPr sz="1400" dirty="0">
                <a:latin typeface="Microsoft Sans Serif"/>
                <a:cs typeface="Microsoft Sans Serif"/>
              </a:rPr>
              <a:t>:</a:t>
            </a:r>
            <a:r>
              <a:rPr sz="1400" spc="9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ação</a:t>
            </a:r>
            <a:r>
              <a:rPr sz="1400" spc="8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#2</a:t>
            </a:r>
            <a:r>
              <a:rPr sz="1400" spc="8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-</a:t>
            </a:r>
            <a:r>
              <a:rPr sz="1400" spc="8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informar</a:t>
            </a:r>
            <a:r>
              <a:rPr sz="1400" spc="8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o</a:t>
            </a:r>
            <a:r>
              <a:rPr sz="1400" spc="8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valor</a:t>
            </a:r>
            <a:r>
              <a:rPr sz="1400" spc="8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85</a:t>
            </a:r>
            <a:r>
              <a:rPr sz="1400" spc="9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para</a:t>
            </a:r>
            <a:r>
              <a:rPr sz="1400" spc="7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</a:t>
            </a:r>
            <a:r>
              <a:rPr sz="1400" spc="8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componente </a:t>
            </a:r>
            <a:r>
              <a:rPr sz="1400" dirty="0">
                <a:latin typeface="Microsoft Sans Serif"/>
                <a:cs typeface="Microsoft Sans Serif"/>
              </a:rPr>
              <a:t>vermelho</a:t>
            </a:r>
            <a:r>
              <a:rPr sz="1400" spc="1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(RGB)</a:t>
            </a:r>
            <a:r>
              <a:rPr sz="1400" b="1" dirty="0">
                <a:latin typeface="Arial"/>
                <a:cs typeface="Arial"/>
              </a:rPr>
              <a:t>,</a:t>
            </a:r>
            <a:r>
              <a:rPr sz="1400" b="1" spc="140" dirty="0">
                <a:latin typeface="Arial"/>
                <a:cs typeface="Arial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digitando</a:t>
            </a:r>
            <a:r>
              <a:rPr sz="1400" spc="1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esse</a:t>
            </a:r>
            <a:r>
              <a:rPr sz="1400" spc="1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valor</a:t>
            </a:r>
            <a:r>
              <a:rPr sz="1400" spc="15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na</a:t>
            </a:r>
            <a:r>
              <a:rPr sz="1400" spc="1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caixa</a:t>
            </a:r>
            <a:r>
              <a:rPr sz="1400" spc="1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de</a:t>
            </a:r>
            <a:r>
              <a:rPr sz="1400" spc="1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texto</a:t>
            </a:r>
            <a:r>
              <a:rPr sz="1400" spc="15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cor- </a:t>
            </a:r>
            <a:r>
              <a:rPr sz="1400" spc="-10" dirty="0">
                <a:latin typeface="Microsoft Sans Serif"/>
                <a:cs typeface="Microsoft Sans Serif"/>
              </a:rPr>
              <a:t>respondente;</a:t>
            </a:r>
            <a:endParaRPr sz="1400" dirty="0">
              <a:latin typeface="Microsoft Sans Serif"/>
              <a:cs typeface="Microsoft Sans Serif"/>
            </a:endParaRPr>
          </a:p>
          <a:p>
            <a:pPr marL="444500" marR="5080">
              <a:lnSpc>
                <a:spcPts val="1570"/>
              </a:lnSpc>
              <a:spcBef>
                <a:spcPts val="35"/>
              </a:spcBef>
            </a:pPr>
            <a:r>
              <a:rPr sz="1400" b="1" dirty="0">
                <a:latin typeface="Arial"/>
                <a:cs typeface="Arial"/>
              </a:rPr>
              <a:t>Percepção</a:t>
            </a:r>
            <a:r>
              <a:rPr sz="1400" dirty="0">
                <a:latin typeface="Microsoft Sans Serif"/>
                <a:cs typeface="Microsoft Sans Serif"/>
              </a:rPr>
              <a:t>:</a:t>
            </a:r>
            <a:r>
              <a:rPr sz="1400" spc="7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o</a:t>
            </a:r>
            <a:r>
              <a:rPr sz="1400" spc="7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valor</a:t>
            </a:r>
            <a:r>
              <a:rPr sz="1400" spc="7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na</a:t>
            </a:r>
            <a:r>
              <a:rPr sz="1400" spc="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caixa</a:t>
            </a:r>
            <a:r>
              <a:rPr sz="1400" spc="7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de</a:t>
            </a:r>
            <a:r>
              <a:rPr sz="1400" spc="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texto</a:t>
            </a:r>
            <a:r>
              <a:rPr sz="1400" spc="7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correspondente</a:t>
            </a:r>
            <a:r>
              <a:rPr sz="1400" spc="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à</a:t>
            </a:r>
            <a:r>
              <a:rPr sz="1400" spc="7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com- </a:t>
            </a:r>
            <a:r>
              <a:rPr sz="1400" dirty="0">
                <a:latin typeface="Microsoft Sans Serif"/>
                <a:cs typeface="Microsoft Sans Serif"/>
              </a:rPr>
              <a:t>ponente</a:t>
            </a:r>
            <a:r>
              <a:rPr sz="1400" spc="17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vermelho</a:t>
            </a:r>
            <a:r>
              <a:rPr sz="1400" spc="17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mudou,</a:t>
            </a:r>
            <a:r>
              <a:rPr sz="1400" spc="18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assim</a:t>
            </a:r>
            <a:r>
              <a:rPr sz="1400" spc="18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como</a:t>
            </a:r>
            <a:r>
              <a:rPr sz="1400" spc="18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</a:t>
            </a:r>
            <a:r>
              <a:rPr sz="1400" spc="17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cor</a:t>
            </a:r>
            <a:r>
              <a:rPr sz="1400" spc="18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da</a:t>
            </a:r>
            <a:r>
              <a:rPr sz="1400" spc="17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imagem</a:t>
            </a:r>
            <a:r>
              <a:rPr sz="1400" spc="18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de</a:t>
            </a:r>
            <a:endParaRPr sz="1400" dirty="0">
              <a:latin typeface="Microsoft Sans Serif"/>
              <a:cs typeface="Microsoft Sans Serif"/>
            </a:endParaRPr>
          </a:p>
          <a:p>
            <a:pPr marL="444500">
              <a:lnSpc>
                <a:spcPts val="1490"/>
              </a:lnSpc>
            </a:pPr>
            <a:r>
              <a:rPr sz="1400" dirty="0">
                <a:latin typeface="Microsoft Sans Serif"/>
                <a:cs typeface="Microsoft Sans Serif"/>
              </a:rPr>
              <a:t>pré-</a:t>
            </a:r>
            <a:r>
              <a:rPr sz="1400" spc="-10" dirty="0">
                <a:latin typeface="Microsoft Sans Serif"/>
                <a:cs typeface="Microsoft Sans Serif"/>
              </a:rPr>
              <a:t>visualização;</a:t>
            </a:r>
            <a:endParaRPr sz="1400" dirty="0">
              <a:latin typeface="Microsoft Sans Serif"/>
              <a:cs typeface="Microsoft Sans Serif"/>
            </a:endParaRPr>
          </a:p>
          <a:p>
            <a:pPr marL="444500" marR="11430">
              <a:lnSpc>
                <a:spcPct val="93700"/>
              </a:lnSpc>
              <a:spcBef>
                <a:spcPts val="50"/>
              </a:spcBef>
            </a:pPr>
            <a:r>
              <a:rPr sz="1400" b="1" dirty="0">
                <a:latin typeface="Arial"/>
                <a:cs typeface="Arial"/>
              </a:rPr>
              <a:t>Interpretação</a:t>
            </a:r>
            <a:r>
              <a:rPr sz="1400" dirty="0">
                <a:latin typeface="Microsoft Sans Serif"/>
                <a:cs typeface="Microsoft Sans Serif"/>
              </a:rPr>
              <a:t>: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o novo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valor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corresponde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ao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valor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digitado; </a:t>
            </a:r>
            <a:r>
              <a:rPr sz="1400" b="1" dirty="0">
                <a:latin typeface="Arial"/>
                <a:cs typeface="Arial"/>
              </a:rPr>
              <a:t>Avaliação</a:t>
            </a:r>
            <a:r>
              <a:rPr sz="1400" dirty="0">
                <a:latin typeface="Microsoft Sans Serif"/>
                <a:cs typeface="Microsoft Sans Serif"/>
              </a:rPr>
              <a:t>: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me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aproximei do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meu objetivo.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</a:t>
            </a:r>
            <a:r>
              <a:rPr sz="1400" spc="-7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especificação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de </a:t>
            </a:r>
            <a:r>
              <a:rPr sz="1400" dirty="0">
                <a:latin typeface="Microsoft Sans Serif"/>
                <a:cs typeface="Microsoft Sans Serif"/>
              </a:rPr>
              <a:t>ações</a:t>
            </a:r>
            <a:r>
              <a:rPr sz="1400" spc="40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parece</a:t>
            </a:r>
            <a:r>
              <a:rPr sz="1400" spc="40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correta</a:t>
            </a:r>
            <a:r>
              <a:rPr sz="1400" spc="409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e</a:t>
            </a:r>
            <a:r>
              <a:rPr sz="1400" spc="40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portanto</a:t>
            </a:r>
            <a:r>
              <a:rPr sz="1400" spc="409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posso</a:t>
            </a:r>
            <a:r>
              <a:rPr sz="1400" spc="409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prosseguir</a:t>
            </a:r>
            <a:r>
              <a:rPr sz="1400" spc="4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para</a:t>
            </a:r>
            <a:r>
              <a:rPr sz="1400" spc="409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o </a:t>
            </a:r>
            <a:r>
              <a:rPr sz="1400" dirty="0">
                <a:latin typeface="Microsoft Sans Serif"/>
                <a:cs typeface="Microsoft Sans Serif"/>
              </a:rPr>
              <a:t>próximo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passo;</a:t>
            </a:r>
            <a:endParaRPr sz="1400" dirty="0">
              <a:latin typeface="Microsoft Sans Serif"/>
              <a:cs typeface="Microsoft Sans Serif"/>
            </a:endParaRPr>
          </a:p>
          <a:p>
            <a:pPr marL="444500">
              <a:lnSpc>
                <a:spcPts val="1520"/>
              </a:lnSpc>
            </a:pPr>
            <a:r>
              <a:rPr sz="1400" b="1" dirty="0">
                <a:latin typeface="Arial"/>
                <a:cs typeface="Arial"/>
              </a:rPr>
              <a:t>Execução</a:t>
            </a:r>
            <a:r>
              <a:rPr sz="1400" dirty="0">
                <a:latin typeface="Microsoft Sans Serif"/>
                <a:cs typeface="Microsoft Sans Serif"/>
              </a:rPr>
              <a:t>:</a:t>
            </a:r>
            <a:r>
              <a:rPr sz="1400" spc="8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ação</a:t>
            </a:r>
            <a:r>
              <a:rPr sz="1400" spc="7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#3</a:t>
            </a:r>
            <a:r>
              <a:rPr sz="1400" spc="7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-</a:t>
            </a:r>
            <a:r>
              <a:rPr sz="1400" spc="8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informar</a:t>
            </a:r>
            <a:r>
              <a:rPr sz="1400" spc="7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o</a:t>
            </a:r>
            <a:r>
              <a:rPr sz="1400" spc="8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valor</a:t>
            </a:r>
            <a:r>
              <a:rPr sz="1400" spc="8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107</a:t>
            </a:r>
            <a:r>
              <a:rPr sz="1400" spc="8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para</a:t>
            </a:r>
            <a:r>
              <a:rPr sz="1400" spc="7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</a:t>
            </a:r>
            <a:r>
              <a:rPr sz="1400" spc="8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componen-</a:t>
            </a:r>
            <a:endParaRPr sz="1400" dirty="0">
              <a:latin typeface="Microsoft Sans Serif"/>
              <a:cs typeface="Microsoft Sans Serif"/>
            </a:endParaRPr>
          </a:p>
          <a:p>
            <a:pPr marL="444500" marR="5080">
              <a:lnSpc>
                <a:spcPts val="1570"/>
              </a:lnSpc>
              <a:spcBef>
                <a:spcPts val="95"/>
              </a:spcBef>
            </a:pPr>
            <a:r>
              <a:rPr sz="1400" dirty="0">
                <a:latin typeface="Microsoft Sans Serif"/>
                <a:cs typeface="Microsoft Sans Serif"/>
              </a:rPr>
              <a:t>te</a:t>
            </a:r>
            <a:r>
              <a:rPr sz="1400" spc="204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verde</a:t>
            </a:r>
            <a:r>
              <a:rPr sz="1400" spc="20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(RGB),</a:t>
            </a:r>
            <a:r>
              <a:rPr sz="1400" spc="204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digitando</a:t>
            </a:r>
            <a:r>
              <a:rPr sz="1400" spc="204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esse</a:t>
            </a:r>
            <a:r>
              <a:rPr sz="1400" spc="204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valor</a:t>
            </a:r>
            <a:r>
              <a:rPr sz="1400" spc="20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na</a:t>
            </a:r>
            <a:r>
              <a:rPr sz="1400" spc="204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caixa</a:t>
            </a:r>
            <a:r>
              <a:rPr sz="1400" spc="204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de</a:t>
            </a:r>
            <a:r>
              <a:rPr sz="1400" spc="2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texto</a:t>
            </a:r>
            <a:r>
              <a:rPr sz="1400" spc="19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cor- </a:t>
            </a:r>
            <a:r>
              <a:rPr sz="1400" spc="-10" dirty="0">
                <a:latin typeface="Microsoft Sans Serif"/>
                <a:cs typeface="Microsoft Sans Serif"/>
              </a:rPr>
              <a:t>respondente;</a:t>
            </a:r>
            <a:endParaRPr sz="1400" dirty="0">
              <a:latin typeface="Microsoft Sans Serif"/>
              <a:cs typeface="Microsoft Sans Serif"/>
            </a:endParaRPr>
          </a:p>
          <a:p>
            <a:pPr marL="444500">
              <a:lnSpc>
                <a:spcPts val="1485"/>
              </a:lnSpc>
            </a:pPr>
            <a:r>
              <a:rPr sz="1400" b="1" dirty="0">
                <a:latin typeface="Arial"/>
                <a:cs typeface="Arial"/>
              </a:rPr>
              <a:t>Percepção</a:t>
            </a:r>
            <a:r>
              <a:rPr sz="1400" dirty="0">
                <a:latin typeface="Microsoft Sans Serif"/>
                <a:cs typeface="Microsoft Sans Serif"/>
              </a:rPr>
              <a:t>:</a:t>
            </a:r>
            <a:r>
              <a:rPr sz="1400" spc="7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o</a:t>
            </a:r>
            <a:r>
              <a:rPr sz="1400" spc="7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valor</a:t>
            </a:r>
            <a:r>
              <a:rPr sz="1400" spc="7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na</a:t>
            </a:r>
            <a:r>
              <a:rPr sz="1400" spc="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caixa</a:t>
            </a:r>
            <a:r>
              <a:rPr sz="1400" spc="7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de</a:t>
            </a:r>
            <a:r>
              <a:rPr sz="1400" spc="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texto</a:t>
            </a:r>
            <a:r>
              <a:rPr sz="1400" spc="7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correspondente</a:t>
            </a:r>
            <a:r>
              <a:rPr sz="1400" spc="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à</a:t>
            </a:r>
            <a:r>
              <a:rPr sz="1400" spc="7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com-</a:t>
            </a:r>
            <a:endParaRPr sz="1400" dirty="0">
              <a:latin typeface="Microsoft Sans Serif"/>
              <a:cs typeface="Microsoft Sans Serif"/>
            </a:endParaRPr>
          </a:p>
          <a:p>
            <a:pPr marL="444500" marR="13335">
              <a:lnSpc>
                <a:spcPts val="1570"/>
              </a:lnSpc>
              <a:spcBef>
                <a:spcPts val="90"/>
              </a:spcBef>
            </a:pPr>
            <a:r>
              <a:rPr sz="1400" dirty="0">
                <a:latin typeface="Microsoft Sans Serif"/>
                <a:cs typeface="Microsoft Sans Serif"/>
              </a:rPr>
              <a:t>ponente</a:t>
            </a:r>
            <a:r>
              <a:rPr sz="1400" spc="10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verde</a:t>
            </a:r>
            <a:r>
              <a:rPr sz="1400" spc="10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mudou,</a:t>
            </a:r>
            <a:r>
              <a:rPr sz="1400" spc="114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assim</a:t>
            </a:r>
            <a:r>
              <a:rPr sz="1400" spc="9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como</a:t>
            </a:r>
            <a:r>
              <a:rPr sz="1400" spc="10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</a:t>
            </a:r>
            <a:r>
              <a:rPr sz="1400" spc="9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cor</a:t>
            </a:r>
            <a:r>
              <a:rPr sz="1400" spc="9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da</a:t>
            </a:r>
            <a:r>
              <a:rPr sz="1400" spc="9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imagem</a:t>
            </a:r>
            <a:r>
              <a:rPr sz="1400" spc="10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de</a:t>
            </a:r>
            <a:r>
              <a:rPr sz="1400" spc="9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pré- </a:t>
            </a:r>
            <a:r>
              <a:rPr sz="1400" spc="-10" dirty="0">
                <a:latin typeface="Microsoft Sans Serif"/>
                <a:cs typeface="Microsoft Sans Serif"/>
              </a:rPr>
              <a:t>visualização;</a:t>
            </a:r>
            <a:endParaRPr sz="1400" dirty="0">
              <a:latin typeface="Microsoft Sans Serif"/>
              <a:cs typeface="Microsoft Sans Serif"/>
            </a:endParaRPr>
          </a:p>
          <a:p>
            <a:pPr marL="444500">
              <a:lnSpc>
                <a:spcPts val="1485"/>
              </a:lnSpc>
            </a:pPr>
            <a:r>
              <a:rPr sz="1400" b="1" dirty="0">
                <a:latin typeface="Arial"/>
                <a:cs typeface="Arial"/>
              </a:rPr>
              <a:t>Interpretação</a:t>
            </a:r>
            <a:r>
              <a:rPr sz="1400" dirty="0">
                <a:latin typeface="Microsoft Sans Serif"/>
                <a:cs typeface="Microsoft Sans Serif"/>
              </a:rPr>
              <a:t>: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o novo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valor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corresponde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ao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valor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digitado;</a:t>
            </a:r>
            <a:endParaRPr sz="1400" dirty="0">
              <a:latin typeface="Microsoft Sans Serif"/>
              <a:cs typeface="Microsoft Sans Serif"/>
            </a:endParaRPr>
          </a:p>
          <a:p>
            <a:pPr marL="444500">
              <a:lnSpc>
                <a:spcPts val="1575"/>
              </a:lnSpc>
            </a:pPr>
            <a:r>
              <a:rPr sz="1400" b="1" dirty="0">
                <a:latin typeface="Arial"/>
                <a:cs typeface="Arial"/>
              </a:rPr>
              <a:t>Avaliação</a:t>
            </a:r>
            <a:r>
              <a:rPr sz="1400" dirty="0">
                <a:latin typeface="Microsoft Sans Serif"/>
                <a:cs typeface="Microsoft Sans Serif"/>
              </a:rPr>
              <a:t>: me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aproximei do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meu </a:t>
            </a:r>
            <a:r>
              <a:rPr sz="1400" spc="-10" dirty="0">
                <a:latin typeface="Microsoft Sans Serif"/>
                <a:cs typeface="Microsoft Sans Serif"/>
              </a:rPr>
              <a:t>objetivo;</a:t>
            </a:r>
            <a:endParaRPr sz="1400" dirty="0">
              <a:latin typeface="Microsoft Sans Serif"/>
              <a:cs typeface="Microsoft Sans Serif"/>
            </a:endParaRPr>
          </a:p>
          <a:p>
            <a:pPr marL="444500" marR="13970">
              <a:lnSpc>
                <a:spcPts val="1570"/>
              </a:lnSpc>
              <a:spcBef>
                <a:spcPts val="90"/>
              </a:spcBef>
            </a:pPr>
            <a:r>
              <a:rPr sz="1400" dirty="0">
                <a:latin typeface="Microsoft Sans Serif"/>
                <a:cs typeface="Microsoft Sans Serif"/>
              </a:rPr>
              <a:t>A</a:t>
            </a:r>
            <a:r>
              <a:rPr sz="1400" spc="2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especificação</a:t>
            </a:r>
            <a:r>
              <a:rPr sz="1400" spc="3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de</a:t>
            </a:r>
            <a:r>
              <a:rPr sz="1400" spc="30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ações</a:t>
            </a:r>
            <a:r>
              <a:rPr sz="1400" spc="3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parece</a:t>
            </a:r>
            <a:r>
              <a:rPr sz="1400" spc="30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correta</a:t>
            </a:r>
            <a:r>
              <a:rPr sz="1400" spc="30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e</a:t>
            </a:r>
            <a:r>
              <a:rPr sz="1400" spc="30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portanto</a:t>
            </a:r>
            <a:r>
              <a:rPr sz="1400" spc="30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posso </a:t>
            </a:r>
            <a:r>
              <a:rPr sz="1400" dirty="0">
                <a:latin typeface="Microsoft Sans Serif"/>
                <a:cs typeface="Microsoft Sans Serif"/>
              </a:rPr>
              <a:t>prosseguir para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o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próximo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passo;</a:t>
            </a:r>
            <a:endParaRPr sz="1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dissolv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0119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Teoria</a:t>
            </a:r>
            <a:r>
              <a:rPr spc="-155" dirty="0"/>
              <a:t> </a:t>
            </a:r>
            <a:r>
              <a:rPr dirty="0"/>
              <a:t>da</a:t>
            </a:r>
            <a:r>
              <a:rPr spc="-300" dirty="0"/>
              <a:t> </a:t>
            </a:r>
            <a:r>
              <a:rPr spc="-20" dirty="0"/>
              <a:t>Ação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4294967295"/>
          </p:nvPr>
        </p:nvSpPr>
        <p:spPr>
          <a:xfrm>
            <a:off x="7260336" y="7027546"/>
            <a:ext cx="231927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581150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489" y="2021839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489" y="2832100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489" y="3641090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489" y="4451350"/>
            <a:ext cx="95250" cy="95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489" y="5260340"/>
            <a:ext cx="95250" cy="952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489" y="5847079"/>
            <a:ext cx="95250" cy="952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489" y="6433820"/>
            <a:ext cx="95250" cy="952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489" y="6798309"/>
            <a:ext cx="95250" cy="952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70890" y="1438909"/>
            <a:ext cx="5756275" cy="5528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b="1" spc="-10" dirty="0">
                <a:latin typeface="Arial"/>
                <a:cs typeface="Arial"/>
              </a:rPr>
              <a:t>Travessia</a:t>
            </a:r>
            <a:r>
              <a:rPr sz="2150" b="1" spc="-65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dos</a:t>
            </a:r>
            <a:r>
              <a:rPr sz="2150" b="1" spc="-60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golfos:</a:t>
            </a:r>
            <a:endParaRPr sz="2150">
              <a:latin typeface="Arial"/>
              <a:cs typeface="Arial"/>
            </a:endParaRPr>
          </a:p>
          <a:p>
            <a:pPr marL="435609" marR="5715" algn="just">
              <a:lnSpc>
                <a:spcPct val="94400"/>
              </a:lnSpc>
              <a:spcBef>
                <a:spcPts val="1385"/>
              </a:spcBef>
            </a:pPr>
            <a:r>
              <a:rPr sz="1550" b="1" dirty="0">
                <a:latin typeface="Arial"/>
                <a:cs typeface="Arial"/>
              </a:rPr>
              <a:t>Execução:</a:t>
            </a:r>
            <a:r>
              <a:rPr sz="1550" b="1" spc="265" dirty="0">
                <a:latin typeface="Arial"/>
                <a:cs typeface="Arial"/>
              </a:rPr>
              <a:t>  </a:t>
            </a:r>
            <a:r>
              <a:rPr sz="1550" dirty="0">
                <a:latin typeface="Microsoft Sans Serif"/>
                <a:cs typeface="Microsoft Sans Serif"/>
              </a:rPr>
              <a:t>ação</a:t>
            </a:r>
            <a:r>
              <a:rPr sz="1550" spc="285" dirty="0">
                <a:latin typeface="Microsoft Sans Serif"/>
                <a:cs typeface="Microsoft Sans Serif"/>
              </a:rPr>
              <a:t>  </a:t>
            </a:r>
            <a:r>
              <a:rPr sz="1550" dirty="0">
                <a:latin typeface="Microsoft Sans Serif"/>
                <a:cs typeface="Microsoft Sans Serif"/>
              </a:rPr>
              <a:t>#4</a:t>
            </a:r>
            <a:r>
              <a:rPr sz="1550" spc="285" dirty="0">
                <a:latin typeface="Microsoft Sans Serif"/>
                <a:cs typeface="Microsoft Sans Serif"/>
              </a:rPr>
              <a:t>  </a:t>
            </a:r>
            <a:r>
              <a:rPr sz="1550" dirty="0">
                <a:latin typeface="Microsoft Sans Serif"/>
                <a:cs typeface="Microsoft Sans Serif"/>
              </a:rPr>
              <a:t>-</a:t>
            </a:r>
            <a:r>
              <a:rPr sz="1550" spc="295" dirty="0">
                <a:latin typeface="Microsoft Sans Serif"/>
                <a:cs typeface="Microsoft Sans Serif"/>
              </a:rPr>
              <a:t>  </a:t>
            </a:r>
            <a:r>
              <a:rPr sz="1550" dirty="0">
                <a:latin typeface="Microsoft Sans Serif"/>
                <a:cs typeface="Microsoft Sans Serif"/>
              </a:rPr>
              <a:t>informar</a:t>
            </a:r>
            <a:r>
              <a:rPr sz="1550" spc="290" dirty="0">
                <a:latin typeface="Microsoft Sans Serif"/>
                <a:cs typeface="Microsoft Sans Serif"/>
              </a:rPr>
              <a:t>  </a:t>
            </a:r>
            <a:r>
              <a:rPr sz="1550" dirty="0">
                <a:latin typeface="Microsoft Sans Serif"/>
                <a:cs typeface="Microsoft Sans Serif"/>
              </a:rPr>
              <a:t>o</a:t>
            </a:r>
            <a:r>
              <a:rPr sz="1550" spc="285" dirty="0">
                <a:latin typeface="Microsoft Sans Serif"/>
                <a:cs typeface="Microsoft Sans Serif"/>
              </a:rPr>
              <a:t>  </a:t>
            </a:r>
            <a:r>
              <a:rPr sz="1550" dirty="0">
                <a:latin typeface="Microsoft Sans Serif"/>
                <a:cs typeface="Microsoft Sans Serif"/>
              </a:rPr>
              <a:t>valor</a:t>
            </a:r>
            <a:r>
              <a:rPr sz="1550" spc="285" dirty="0">
                <a:latin typeface="Microsoft Sans Serif"/>
                <a:cs typeface="Microsoft Sans Serif"/>
              </a:rPr>
              <a:t>  </a:t>
            </a:r>
            <a:r>
              <a:rPr sz="1550" dirty="0">
                <a:latin typeface="Microsoft Sans Serif"/>
                <a:cs typeface="Microsoft Sans Serif"/>
              </a:rPr>
              <a:t>47</a:t>
            </a:r>
            <a:r>
              <a:rPr sz="1550" spc="285" dirty="0">
                <a:latin typeface="Microsoft Sans Serif"/>
                <a:cs typeface="Microsoft Sans Serif"/>
              </a:rPr>
              <a:t>  </a:t>
            </a:r>
            <a:r>
              <a:rPr sz="1550" dirty="0">
                <a:latin typeface="Microsoft Sans Serif"/>
                <a:cs typeface="Microsoft Sans Serif"/>
              </a:rPr>
              <a:t>para</a:t>
            </a:r>
            <a:r>
              <a:rPr sz="1550" spc="290" dirty="0">
                <a:latin typeface="Microsoft Sans Serif"/>
                <a:cs typeface="Microsoft Sans Serif"/>
              </a:rPr>
              <a:t>  </a:t>
            </a:r>
            <a:r>
              <a:rPr sz="1550" spc="-50" dirty="0">
                <a:latin typeface="Microsoft Sans Serif"/>
                <a:cs typeface="Microsoft Sans Serif"/>
              </a:rPr>
              <a:t>a </a:t>
            </a:r>
            <a:r>
              <a:rPr sz="1550" dirty="0">
                <a:latin typeface="Microsoft Sans Serif"/>
                <a:cs typeface="Microsoft Sans Serif"/>
              </a:rPr>
              <a:t>componente</a:t>
            </a:r>
            <a:r>
              <a:rPr sz="1550" spc="25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azul</a:t>
            </a:r>
            <a:r>
              <a:rPr sz="1550" spc="254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(RGB),</a:t>
            </a:r>
            <a:r>
              <a:rPr sz="1550" spc="24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digitando</a:t>
            </a:r>
            <a:r>
              <a:rPr sz="1550" spc="24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esse</a:t>
            </a:r>
            <a:r>
              <a:rPr sz="1550" spc="24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valor</a:t>
            </a:r>
            <a:r>
              <a:rPr sz="1550" spc="24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na</a:t>
            </a:r>
            <a:r>
              <a:rPr sz="1550" spc="24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caixa</a:t>
            </a:r>
            <a:r>
              <a:rPr sz="1550" spc="245" dirty="0">
                <a:latin typeface="Microsoft Sans Serif"/>
                <a:cs typeface="Microsoft Sans Serif"/>
              </a:rPr>
              <a:t> </a:t>
            </a:r>
            <a:r>
              <a:rPr sz="1550" spc="-25" dirty="0">
                <a:latin typeface="Microsoft Sans Serif"/>
                <a:cs typeface="Microsoft Sans Serif"/>
              </a:rPr>
              <a:t>de </a:t>
            </a:r>
            <a:r>
              <a:rPr sz="1550" dirty="0">
                <a:latin typeface="Microsoft Sans Serif"/>
                <a:cs typeface="Microsoft Sans Serif"/>
              </a:rPr>
              <a:t>texto</a:t>
            </a:r>
            <a:r>
              <a:rPr sz="1550" spc="15" dirty="0">
                <a:latin typeface="Microsoft Sans Serif"/>
                <a:cs typeface="Microsoft Sans Serif"/>
              </a:rPr>
              <a:t> </a:t>
            </a:r>
            <a:r>
              <a:rPr sz="1550" spc="-10" dirty="0">
                <a:latin typeface="Microsoft Sans Serif"/>
                <a:cs typeface="Microsoft Sans Serif"/>
              </a:rPr>
              <a:t>correspondente;</a:t>
            </a:r>
            <a:endParaRPr sz="1550">
              <a:latin typeface="Microsoft Sans Serif"/>
              <a:cs typeface="Microsoft Sans Serif"/>
            </a:endParaRPr>
          </a:p>
          <a:p>
            <a:pPr marL="435609" marR="5080" algn="just">
              <a:lnSpc>
                <a:spcPct val="94400"/>
              </a:lnSpc>
              <a:spcBef>
                <a:spcPts val="1110"/>
              </a:spcBef>
            </a:pPr>
            <a:r>
              <a:rPr sz="1550" b="1" dirty="0">
                <a:latin typeface="Arial"/>
                <a:cs typeface="Arial"/>
              </a:rPr>
              <a:t>Percepção</a:t>
            </a:r>
            <a:r>
              <a:rPr sz="1550" dirty="0">
                <a:latin typeface="Microsoft Sans Serif"/>
                <a:cs typeface="Microsoft Sans Serif"/>
              </a:rPr>
              <a:t>:</a:t>
            </a:r>
            <a:r>
              <a:rPr sz="1550" spc="459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o</a:t>
            </a:r>
            <a:r>
              <a:rPr sz="1550" spc="459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valor</a:t>
            </a:r>
            <a:r>
              <a:rPr sz="1550" spc="459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na</a:t>
            </a:r>
            <a:r>
              <a:rPr sz="1550" spc="45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caixa</a:t>
            </a:r>
            <a:r>
              <a:rPr sz="1550" spc="45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de</a:t>
            </a:r>
            <a:r>
              <a:rPr sz="1550" spc="45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texto</a:t>
            </a:r>
            <a:r>
              <a:rPr sz="1550" spc="459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correspondente</a:t>
            </a:r>
            <a:r>
              <a:rPr sz="1550" spc="455" dirty="0">
                <a:latin typeface="Microsoft Sans Serif"/>
                <a:cs typeface="Microsoft Sans Serif"/>
              </a:rPr>
              <a:t> </a:t>
            </a:r>
            <a:r>
              <a:rPr sz="1550" spc="-50" dirty="0">
                <a:latin typeface="Microsoft Sans Serif"/>
                <a:cs typeface="Microsoft Sans Serif"/>
              </a:rPr>
              <a:t>à </a:t>
            </a:r>
            <a:r>
              <a:rPr sz="1550" dirty="0">
                <a:latin typeface="Microsoft Sans Serif"/>
                <a:cs typeface="Microsoft Sans Serif"/>
              </a:rPr>
              <a:t>componente</a:t>
            </a:r>
            <a:r>
              <a:rPr sz="1550" spc="15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azul</a:t>
            </a:r>
            <a:r>
              <a:rPr sz="1550" spc="15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mudou,</a:t>
            </a:r>
            <a:r>
              <a:rPr sz="1550" spc="16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assim</a:t>
            </a:r>
            <a:r>
              <a:rPr sz="1550" spc="15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como</a:t>
            </a:r>
            <a:r>
              <a:rPr sz="1550" spc="15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a</a:t>
            </a:r>
            <a:r>
              <a:rPr sz="1550" spc="14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cor</a:t>
            </a:r>
            <a:r>
              <a:rPr sz="1550" spc="15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da</a:t>
            </a:r>
            <a:r>
              <a:rPr sz="1550" spc="15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imagem</a:t>
            </a:r>
            <a:r>
              <a:rPr sz="1550" spc="145" dirty="0">
                <a:latin typeface="Microsoft Sans Serif"/>
                <a:cs typeface="Microsoft Sans Serif"/>
              </a:rPr>
              <a:t> </a:t>
            </a:r>
            <a:r>
              <a:rPr sz="1550" spc="-25" dirty="0">
                <a:latin typeface="Microsoft Sans Serif"/>
                <a:cs typeface="Microsoft Sans Serif"/>
              </a:rPr>
              <a:t>de </a:t>
            </a:r>
            <a:r>
              <a:rPr sz="1550" spc="-10" dirty="0">
                <a:latin typeface="Microsoft Sans Serif"/>
                <a:cs typeface="Microsoft Sans Serif"/>
              </a:rPr>
              <a:t>pré-visualização;</a:t>
            </a:r>
            <a:endParaRPr sz="1550">
              <a:latin typeface="Microsoft Sans Serif"/>
              <a:cs typeface="Microsoft Sans Serif"/>
            </a:endParaRPr>
          </a:p>
          <a:p>
            <a:pPr marL="435609" marR="5715" algn="just">
              <a:lnSpc>
                <a:spcPct val="94400"/>
              </a:lnSpc>
              <a:spcBef>
                <a:spcPts val="1105"/>
              </a:spcBef>
            </a:pPr>
            <a:r>
              <a:rPr sz="1550" b="1" dirty="0">
                <a:latin typeface="Arial"/>
                <a:cs typeface="Arial"/>
              </a:rPr>
              <a:t>Interpretação</a:t>
            </a:r>
            <a:r>
              <a:rPr sz="1550" dirty="0">
                <a:latin typeface="Microsoft Sans Serif"/>
                <a:cs typeface="Microsoft Sans Serif"/>
              </a:rPr>
              <a:t>:</a:t>
            </a:r>
            <a:r>
              <a:rPr sz="1550" spc="4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o</a:t>
            </a:r>
            <a:r>
              <a:rPr sz="1550" spc="4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novo</a:t>
            </a:r>
            <a:r>
              <a:rPr sz="1550" spc="3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valor</a:t>
            </a:r>
            <a:r>
              <a:rPr sz="1550" spc="4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corresponde</a:t>
            </a:r>
            <a:r>
              <a:rPr sz="1550" spc="4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ao</a:t>
            </a:r>
            <a:r>
              <a:rPr sz="1550" spc="4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valor</a:t>
            </a:r>
            <a:r>
              <a:rPr sz="1550" spc="4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digitado</a:t>
            </a:r>
            <a:r>
              <a:rPr sz="1550" spc="45" dirty="0">
                <a:latin typeface="Microsoft Sans Serif"/>
                <a:cs typeface="Microsoft Sans Serif"/>
              </a:rPr>
              <a:t> </a:t>
            </a:r>
            <a:r>
              <a:rPr sz="1550" spc="-50" dirty="0">
                <a:latin typeface="Microsoft Sans Serif"/>
                <a:cs typeface="Microsoft Sans Serif"/>
              </a:rPr>
              <a:t>e </a:t>
            </a:r>
            <a:r>
              <a:rPr sz="1550" dirty="0">
                <a:latin typeface="Microsoft Sans Serif"/>
                <a:cs typeface="Microsoft Sans Serif"/>
              </a:rPr>
              <a:t>a</a:t>
            </a:r>
            <a:r>
              <a:rPr sz="1550" spc="42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cor</a:t>
            </a:r>
            <a:r>
              <a:rPr sz="1550" spc="42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da</a:t>
            </a:r>
            <a:r>
              <a:rPr sz="1550" spc="42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imagem</a:t>
            </a:r>
            <a:r>
              <a:rPr sz="1550" spc="43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de</a:t>
            </a:r>
            <a:r>
              <a:rPr sz="1550" spc="420" dirty="0">
                <a:latin typeface="Microsoft Sans Serif"/>
                <a:cs typeface="Microsoft Sans Serif"/>
              </a:rPr>
              <a:t> </a:t>
            </a:r>
            <a:r>
              <a:rPr sz="1550" spc="-10" dirty="0">
                <a:latin typeface="Microsoft Sans Serif"/>
                <a:cs typeface="Microsoft Sans Serif"/>
              </a:rPr>
              <a:t>pré-</a:t>
            </a:r>
            <a:r>
              <a:rPr sz="1550" dirty="0">
                <a:latin typeface="Microsoft Sans Serif"/>
                <a:cs typeface="Microsoft Sans Serif"/>
              </a:rPr>
              <a:t>visualização</a:t>
            </a:r>
            <a:r>
              <a:rPr sz="1550" spc="42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corresponde</a:t>
            </a:r>
            <a:r>
              <a:rPr sz="1550" spc="43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à</a:t>
            </a:r>
            <a:r>
              <a:rPr sz="1550" spc="420" dirty="0">
                <a:latin typeface="Microsoft Sans Serif"/>
                <a:cs typeface="Microsoft Sans Serif"/>
              </a:rPr>
              <a:t> </a:t>
            </a:r>
            <a:r>
              <a:rPr sz="1550" spc="-25" dirty="0">
                <a:latin typeface="Microsoft Sans Serif"/>
                <a:cs typeface="Microsoft Sans Serif"/>
              </a:rPr>
              <a:t>cor </a:t>
            </a:r>
            <a:r>
              <a:rPr sz="1550" spc="-10" dirty="0">
                <a:latin typeface="Microsoft Sans Serif"/>
                <a:cs typeface="Microsoft Sans Serif"/>
              </a:rPr>
              <a:t>desejada;</a:t>
            </a:r>
            <a:endParaRPr sz="1550">
              <a:latin typeface="Microsoft Sans Serif"/>
              <a:cs typeface="Microsoft Sans Serif"/>
            </a:endParaRPr>
          </a:p>
          <a:p>
            <a:pPr marL="435609" marR="5715" algn="just">
              <a:lnSpc>
                <a:spcPct val="94400"/>
              </a:lnSpc>
              <a:spcBef>
                <a:spcPts val="1115"/>
              </a:spcBef>
            </a:pPr>
            <a:r>
              <a:rPr sz="1550" b="1" dirty="0">
                <a:latin typeface="Arial"/>
                <a:cs typeface="Arial"/>
              </a:rPr>
              <a:t>Avaliação</a:t>
            </a:r>
            <a:r>
              <a:rPr sz="1550" dirty="0">
                <a:latin typeface="Microsoft Sans Serif"/>
                <a:cs typeface="Microsoft Sans Serif"/>
              </a:rPr>
              <a:t>:</a:t>
            </a:r>
            <a:r>
              <a:rPr sz="1550" spc="19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me</a:t>
            </a:r>
            <a:r>
              <a:rPr sz="1550" spc="18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aproximei</a:t>
            </a:r>
            <a:r>
              <a:rPr sz="1550" spc="18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do</a:t>
            </a:r>
            <a:r>
              <a:rPr sz="1550" spc="17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meu</a:t>
            </a:r>
            <a:r>
              <a:rPr sz="1550" spc="17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objetivo.</a:t>
            </a:r>
            <a:r>
              <a:rPr sz="1550" spc="10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A</a:t>
            </a:r>
            <a:r>
              <a:rPr sz="1550" spc="110" dirty="0">
                <a:latin typeface="Microsoft Sans Serif"/>
                <a:cs typeface="Microsoft Sans Serif"/>
              </a:rPr>
              <a:t> </a:t>
            </a:r>
            <a:r>
              <a:rPr sz="1550" spc="-10" dirty="0">
                <a:latin typeface="Microsoft Sans Serif"/>
                <a:cs typeface="Microsoft Sans Serif"/>
              </a:rPr>
              <a:t>especificação </a:t>
            </a:r>
            <a:r>
              <a:rPr sz="1550" dirty="0">
                <a:latin typeface="Microsoft Sans Serif"/>
                <a:cs typeface="Microsoft Sans Serif"/>
              </a:rPr>
              <a:t>de</a:t>
            </a:r>
            <a:r>
              <a:rPr sz="1550" spc="4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ações</a:t>
            </a:r>
            <a:r>
              <a:rPr sz="1550" spc="5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parece</a:t>
            </a:r>
            <a:r>
              <a:rPr sz="1550" spc="4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correta</a:t>
            </a:r>
            <a:r>
              <a:rPr sz="1550" spc="4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e</a:t>
            </a:r>
            <a:r>
              <a:rPr sz="1550" spc="5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portanto</a:t>
            </a:r>
            <a:r>
              <a:rPr sz="1550" spc="5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posso</a:t>
            </a:r>
            <a:r>
              <a:rPr sz="1550" spc="5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prosseguir</a:t>
            </a:r>
            <a:r>
              <a:rPr sz="1550" spc="4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para</a:t>
            </a:r>
            <a:r>
              <a:rPr sz="1550" spc="45" dirty="0">
                <a:latin typeface="Microsoft Sans Serif"/>
                <a:cs typeface="Microsoft Sans Serif"/>
              </a:rPr>
              <a:t> </a:t>
            </a:r>
            <a:r>
              <a:rPr sz="1550" spc="-50" dirty="0">
                <a:latin typeface="Microsoft Sans Serif"/>
                <a:cs typeface="Microsoft Sans Serif"/>
              </a:rPr>
              <a:t>o </a:t>
            </a:r>
            <a:r>
              <a:rPr sz="1550" dirty="0">
                <a:latin typeface="Microsoft Sans Serif"/>
                <a:cs typeface="Microsoft Sans Serif"/>
              </a:rPr>
              <a:t>próximo</a:t>
            </a:r>
            <a:r>
              <a:rPr sz="1550" spc="-10" dirty="0">
                <a:latin typeface="Microsoft Sans Serif"/>
                <a:cs typeface="Microsoft Sans Serif"/>
              </a:rPr>
              <a:t> passo;</a:t>
            </a:r>
            <a:endParaRPr sz="1550">
              <a:latin typeface="Microsoft Sans Serif"/>
              <a:cs typeface="Microsoft Sans Serif"/>
            </a:endParaRPr>
          </a:p>
          <a:p>
            <a:pPr marL="435609" marR="6985" algn="just">
              <a:lnSpc>
                <a:spcPts val="1760"/>
              </a:lnSpc>
              <a:spcBef>
                <a:spcPts val="1140"/>
              </a:spcBef>
            </a:pPr>
            <a:r>
              <a:rPr sz="1550" b="1" dirty="0">
                <a:latin typeface="Arial"/>
                <a:cs typeface="Arial"/>
              </a:rPr>
              <a:t>Execução</a:t>
            </a:r>
            <a:r>
              <a:rPr sz="1550" dirty="0">
                <a:latin typeface="Microsoft Sans Serif"/>
                <a:cs typeface="Microsoft Sans Serif"/>
              </a:rPr>
              <a:t>:</a:t>
            </a:r>
            <a:r>
              <a:rPr sz="1550" spc="105" dirty="0">
                <a:latin typeface="Microsoft Sans Serif"/>
                <a:cs typeface="Microsoft Sans Serif"/>
              </a:rPr>
              <a:t>  </a:t>
            </a:r>
            <a:r>
              <a:rPr sz="1550" dirty="0">
                <a:latin typeface="Microsoft Sans Serif"/>
                <a:cs typeface="Microsoft Sans Serif"/>
              </a:rPr>
              <a:t>ação</a:t>
            </a:r>
            <a:r>
              <a:rPr sz="1550" spc="9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#5</a:t>
            </a:r>
            <a:r>
              <a:rPr sz="1550" spc="9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(confirmar</a:t>
            </a:r>
            <a:r>
              <a:rPr sz="1550" spc="10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a</a:t>
            </a:r>
            <a:r>
              <a:rPr sz="1550" spc="9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cor</a:t>
            </a:r>
            <a:r>
              <a:rPr sz="1550" spc="10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definida</a:t>
            </a:r>
            <a:r>
              <a:rPr sz="1550" spc="9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pelos</a:t>
            </a:r>
            <a:r>
              <a:rPr sz="1550" spc="100" dirty="0">
                <a:latin typeface="Microsoft Sans Serif"/>
                <a:cs typeface="Microsoft Sans Serif"/>
              </a:rPr>
              <a:t> </a:t>
            </a:r>
            <a:r>
              <a:rPr sz="1550" spc="-10" dirty="0">
                <a:latin typeface="Microsoft Sans Serif"/>
                <a:cs typeface="Microsoft Sans Serif"/>
              </a:rPr>
              <a:t>valores </a:t>
            </a:r>
            <a:r>
              <a:rPr sz="1550" dirty="0">
                <a:latin typeface="Microsoft Sans Serif"/>
                <a:cs typeface="Microsoft Sans Serif"/>
              </a:rPr>
              <a:t>informados, clicando</a:t>
            </a:r>
            <a:r>
              <a:rPr sz="1550" spc="-1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em</a:t>
            </a:r>
            <a:r>
              <a:rPr sz="1550" spc="-15" dirty="0">
                <a:latin typeface="Microsoft Sans Serif"/>
                <a:cs typeface="Microsoft Sans Serif"/>
              </a:rPr>
              <a:t> </a:t>
            </a:r>
            <a:r>
              <a:rPr sz="1550" spc="-20" dirty="0">
                <a:latin typeface="Microsoft Sans Serif"/>
                <a:cs typeface="Microsoft Sans Serif"/>
              </a:rPr>
              <a:t>OK);</a:t>
            </a:r>
            <a:endParaRPr sz="1550">
              <a:latin typeface="Microsoft Sans Serif"/>
              <a:cs typeface="Microsoft Sans Serif"/>
            </a:endParaRPr>
          </a:p>
          <a:p>
            <a:pPr marL="435609" marR="6985" algn="just">
              <a:lnSpc>
                <a:spcPts val="1760"/>
              </a:lnSpc>
              <a:spcBef>
                <a:spcPts val="1100"/>
              </a:spcBef>
            </a:pPr>
            <a:r>
              <a:rPr sz="1550" b="1" dirty="0">
                <a:latin typeface="Arial"/>
                <a:cs typeface="Arial"/>
              </a:rPr>
              <a:t>Percepção</a:t>
            </a:r>
            <a:r>
              <a:rPr sz="1550" dirty="0">
                <a:latin typeface="Microsoft Sans Serif"/>
                <a:cs typeface="Microsoft Sans Serif"/>
              </a:rPr>
              <a:t>:</a:t>
            </a:r>
            <a:r>
              <a:rPr sz="1550" spc="30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a</a:t>
            </a:r>
            <a:r>
              <a:rPr sz="1550" spc="29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janela</a:t>
            </a:r>
            <a:r>
              <a:rPr sz="1550" spc="30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de</a:t>
            </a:r>
            <a:r>
              <a:rPr sz="1550" spc="30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diálogo</a:t>
            </a:r>
            <a:r>
              <a:rPr sz="1550" spc="29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foi</a:t>
            </a:r>
            <a:r>
              <a:rPr sz="1550" spc="30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ocultada;</a:t>
            </a:r>
            <a:r>
              <a:rPr sz="1550" spc="29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a</a:t>
            </a:r>
            <a:r>
              <a:rPr sz="1550" spc="29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cor</a:t>
            </a:r>
            <a:r>
              <a:rPr sz="1550" spc="29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do</a:t>
            </a:r>
            <a:r>
              <a:rPr sz="1550" spc="290" dirty="0">
                <a:latin typeface="Microsoft Sans Serif"/>
                <a:cs typeface="Microsoft Sans Serif"/>
              </a:rPr>
              <a:t> </a:t>
            </a:r>
            <a:r>
              <a:rPr sz="1550" spc="-25" dirty="0">
                <a:latin typeface="Microsoft Sans Serif"/>
                <a:cs typeface="Microsoft Sans Serif"/>
              </a:rPr>
              <a:t>da </a:t>
            </a:r>
            <a:r>
              <a:rPr sz="1550" dirty="0">
                <a:latin typeface="Microsoft Sans Serif"/>
                <a:cs typeface="Microsoft Sans Serif"/>
              </a:rPr>
              <a:t>página</a:t>
            </a:r>
            <a:r>
              <a:rPr sz="1550" spc="-15" dirty="0">
                <a:latin typeface="Microsoft Sans Serif"/>
                <a:cs typeface="Microsoft Sans Serif"/>
              </a:rPr>
              <a:t> </a:t>
            </a:r>
            <a:r>
              <a:rPr sz="1550" spc="-10" dirty="0">
                <a:latin typeface="Microsoft Sans Serif"/>
                <a:cs typeface="Microsoft Sans Serif"/>
              </a:rPr>
              <a:t>mudou;</a:t>
            </a:r>
            <a:endParaRPr sz="1550">
              <a:latin typeface="Microsoft Sans Serif"/>
              <a:cs typeface="Microsoft Sans Serif"/>
            </a:endParaRPr>
          </a:p>
          <a:p>
            <a:pPr marL="435609" algn="just">
              <a:lnSpc>
                <a:spcPct val="100000"/>
              </a:lnSpc>
              <a:spcBef>
                <a:spcPts val="960"/>
              </a:spcBef>
            </a:pPr>
            <a:r>
              <a:rPr sz="1550" b="1" dirty="0">
                <a:latin typeface="Arial"/>
                <a:cs typeface="Arial"/>
              </a:rPr>
              <a:t>Interpretação</a:t>
            </a:r>
            <a:r>
              <a:rPr sz="1550" dirty="0">
                <a:latin typeface="Microsoft Sans Serif"/>
                <a:cs typeface="Microsoft Sans Serif"/>
              </a:rPr>
              <a:t>:</a:t>
            </a:r>
            <a:r>
              <a:rPr sz="1550" spc="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há</a:t>
            </a:r>
            <a:r>
              <a:rPr sz="1550" spc="1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nova</a:t>
            </a:r>
            <a:r>
              <a:rPr sz="1550" spc="-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cor</a:t>
            </a:r>
            <a:r>
              <a:rPr sz="1550" spc="-5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na </a:t>
            </a:r>
            <a:r>
              <a:rPr sz="1550" spc="-10" dirty="0">
                <a:latin typeface="Microsoft Sans Serif"/>
                <a:cs typeface="Microsoft Sans Serif"/>
              </a:rPr>
              <a:t>página;</a:t>
            </a:r>
            <a:endParaRPr sz="1550">
              <a:latin typeface="Microsoft Sans Serif"/>
              <a:cs typeface="Microsoft Sans Serif"/>
            </a:endParaRPr>
          </a:p>
          <a:p>
            <a:pPr marL="435609" algn="just">
              <a:lnSpc>
                <a:spcPct val="100000"/>
              </a:lnSpc>
              <a:spcBef>
                <a:spcPts val="1010"/>
              </a:spcBef>
            </a:pPr>
            <a:r>
              <a:rPr sz="1550" b="1" dirty="0">
                <a:latin typeface="Arial"/>
                <a:cs typeface="Arial"/>
              </a:rPr>
              <a:t>Avaliação</a:t>
            </a:r>
            <a:r>
              <a:rPr sz="1550" dirty="0">
                <a:latin typeface="Microsoft Sans Serif"/>
                <a:cs typeface="Microsoft Sans Serif"/>
              </a:rPr>
              <a:t>:</a:t>
            </a:r>
            <a:r>
              <a:rPr sz="1550" spc="-3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alcancei</a:t>
            </a:r>
            <a:r>
              <a:rPr sz="1550" spc="-30" dirty="0">
                <a:latin typeface="Microsoft Sans Serif"/>
                <a:cs typeface="Microsoft Sans Serif"/>
              </a:rPr>
              <a:t> </a:t>
            </a:r>
            <a:r>
              <a:rPr sz="1550" dirty="0">
                <a:latin typeface="Microsoft Sans Serif"/>
                <a:cs typeface="Microsoft Sans Serif"/>
              </a:rPr>
              <a:t>meu</a:t>
            </a:r>
            <a:r>
              <a:rPr sz="1550" spc="-35" dirty="0">
                <a:latin typeface="Microsoft Sans Serif"/>
                <a:cs typeface="Microsoft Sans Serif"/>
              </a:rPr>
              <a:t> </a:t>
            </a:r>
            <a:r>
              <a:rPr sz="1550" spc="-10" dirty="0">
                <a:latin typeface="Microsoft Sans Serif"/>
                <a:cs typeface="Microsoft Sans Serif"/>
              </a:rPr>
              <a:t>objetivo.</a:t>
            </a:r>
            <a:endParaRPr sz="1550">
              <a:latin typeface="Microsoft Sans Serif"/>
              <a:cs typeface="Microsoft Sans Serif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40219" y="1532889"/>
            <a:ext cx="2871658" cy="277090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16090" y="4356100"/>
            <a:ext cx="2904490" cy="2584309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Resumindo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35325" y="2218434"/>
            <a:ext cx="7092792" cy="4308872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800" dirty="0"/>
              <a:t>A Engenharia Cognitiva conceitua interface pelos seus “dois lados”: o do sistema e o do ser humano.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800" dirty="0"/>
              <a:t>Mudamos a interface, pelo lado do sistema, através de design apropriado.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800" dirty="0"/>
              <a:t>Muda-se a interface pelo lado humano, através de aprendizado e experiência.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sz="2800" dirty="0"/>
              <a:t>Na situação ideal, nenhum esforço psicológico deveria ser requerido para se atravessar os golfos. </a:t>
            </a:r>
          </a:p>
        </p:txBody>
      </p:sp>
    </p:spTree>
    <p:extLst>
      <p:ext uri="{BB962C8B-B14F-4D97-AF65-F5344CB8AC3E}">
        <p14:creationId xmlns:p14="http://schemas.microsoft.com/office/powerpoint/2010/main" val="36879366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98700" y="3702050"/>
            <a:ext cx="6096000" cy="861774"/>
          </a:xfrm>
        </p:spPr>
        <p:txBody>
          <a:bodyPr/>
          <a:lstStyle/>
          <a:p>
            <a:pPr algn="ctr"/>
            <a:r>
              <a:rPr lang="pt-BR" dirty="0"/>
              <a:t>Engenharia Cognitiva e os Modelos Mentais</a:t>
            </a:r>
          </a:p>
        </p:txBody>
      </p:sp>
    </p:spTree>
    <p:extLst>
      <p:ext uri="{BB962C8B-B14F-4D97-AF65-F5344CB8AC3E}">
        <p14:creationId xmlns:p14="http://schemas.microsoft.com/office/powerpoint/2010/main" val="631199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Mentais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55" y="1797050"/>
            <a:ext cx="838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ângulo 3"/>
          <p:cNvSpPr/>
          <p:nvPr/>
        </p:nvSpPr>
        <p:spPr>
          <a:xfrm>
            <a:off x="2222500" y="5226050"/>
            <a:ext cx="5562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Como usar o sistema (o que fazer em seguida)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O que fazer com sistemas desconhecidos ou em situações inesperadas (como o sistema funciona)</a:t>
            </a:r>
            <a:br>
              <a:rPr lang="pt-BR" dirty="0"/>
            </a:br>
            <a:r>
              <a:rPr lang="pt-BR" b="1" dirty="0"/>
              <a:t>As pessoas fazem inferências usando modelos mentais de como realizar tarefas.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09788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Mentais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1949450"/>
            <a:ext cx="840105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9969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Mental MM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35324" y="2218434"/>
            <a:ext cx="7768975" cy="6155531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dirty="0"/>
              <a:t>Norman (1983) considera o MM como uma representação </a:t>
            </a:r>
            <a:r>
              <a:rPr lang="pt-BR" dirty="0">
                <a:solidFill>
                  <a:srgbClr val="C00000"/>
                </a:solidFill>
              </a:rPr>
              <a:t>dinâmica</a:t>
            </a:r>
            <a:r>
              <a:rPr lang="pt-BR" dirty="0"/>
              <a:t> sobre qualquer sistema ou objeto, que evolui naturalmente na mente de um sujeito. O que normalmente fazemos é uma “execução” de um modelo mental, imaginando-nos em cada cômodo da casa, ou percorrendo a casa pelo lado de fora, contando as janelas...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dirty="0"/>
              <a:t>Tipos: Estrutural e/ou funcional.</a:t>
            </a:r>
          </a:p>
          <a:p>
            <a:endParaRPr lang="pt-BR" b="1" dirty="0"/>
          </a:p>
          <a:p>
            <a:r>
              <a:rPr lang="pt-BR" b="1" dirty="0"/>
              <a:t>Modelos Estruturais:</a:t>
            </a:r>
            <a:r>
              <a:rPr lang="pt-BR" dirty="0"/>
              <a:t> Descrevem a mecânica interna de um sistema. </a:t>
            </a:r>
            <a:r>
              <a:rPr lang="pt-BR" dirty="0" err="1"/>
              <a:t>Ex</a:t>
            </a:r>
            <a:r>
              <a:rPr lang="pt-BR" dirty="0"/>
              <a:t>: “como ir de A para B”. </a:t>
            </a:r>
          </a:p>
          <a:p>
            <a:r>
              <a:rPr lang="pt-BR" b="1" dirty="0"/>
              <a:t>Modelos Funcionais:</a:t>
            </a:r>
            <a:r>
              <a:rPr lang="pt-BR" dirty="0"/>
              <a:t> Usam o conhecimento para criar um modelo de como interagir com o sistema. Apoiado pelo raciocínio e entendimento da linguagem. </a:t>
            </a:r>
            <a:r>
              <a:rPr lang="pt-BR" dirty="0" err="1"/>
              <a:t>Ex</a:t>
            </a:r>
            <a:r>
              <a:rPr lang="pt-BR" dirty="0"/>
              <a:t>: primeiro comprar o bilhete, depois....</a:t>
            </a:r>
          </a:p>
          <a:p>
            <a:endParaRPr lang="pt-BR" dirty="0"/>
          </a:p>
          <a:p>
            <a:pPr algn="ctr"/>
            <a:r>
              <a:rPr lang="pt-BR" dirty="0"/>
              <a:t>Quando os usuários interagem eles executam os modelos mentais, estruturais e funcionais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5715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35773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Importância para o design da UX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88" y="2178050"/>
            <a:ext cx="8405812" cy="3902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85346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02277" y="425450"/>
            <a:ext cx="5548441" cy="4558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dirty="0">
                <a:latin typeface="Arial MT"/>
                <a:cs typeface="Arial MT"/>
              </a:rPr>
              <a:t>Engenharia</a:t>
            </a:r>
            <a:r>
              <a:rPr sz="2800" b="0" spc="-55" dirty="0">
                <a:latin typeface="Arial MT"/>
                <a:cs typeface="Arial MT"/>
              </a:rPr>
              <a:t> </a:t>
            </a:r>
            <a:r>
              <a:rPr sz="2800" b="0" dirty="0" err="1">
                <a:latin typeface="Arial MT"/>
                <a:cs typeface="Arial MT"/>
              </a:rPr>
              <a:t>Cognitiva</a:t>
            </a:r>
            <a:r>
              <a:rPr sz="2800" b="0" spc="-50" dirty="0">
                <a:latin typeface="Arial MT"/>
                <a:cs typeface="Arial MT"/>
              </a:rPr>
              <a:t> </a:t>
            </a:r>
            <a:r>
              <a:rPr lang="pt-BR" sz="2800" b="0" dirty="0">
                <a:latin typeface="Arial MT"/>
                <a:cs typeface="Arial MT"/>
              </a:rPr>
              <a:t>e os MM</a:t>
            </a:r>
            <a:endParaRPr sz="2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45835" y="2154936"/>
            <a:ext cx="1289098" cy="15971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567278" y="3783582"/>
            <a:ext cx="96765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F007F"/>
                </a:solidFill>
                <a:latin typeface="Comic Sans MS"/>
                <a:cs typeface="Comic Sans MS"/>
              </a:rPr>
              <a:t>Usuários</a:t>
            </a:r>
            <a:endParaRPr sz="1600">
              <a:latin typeface="Comic Sans MS"/>
              <a:cs typeface="Comic Sans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4594" y="2132076"/>
            <a:ext cx="1287661" cy="159867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79754" y="3821682"/>
            <a:ext cx="1709575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286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F007F"/>
                </a:solidFill>
                <a:latin typeface="Comic Sans MS"/>
                <a:cs typeface="Comic Sans MS"/>
              </a:rPr>
              <a:t>Designers</a:t>
            </a:r>
            <a:r>
              <a:rPr sz="1600" spc="22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7F007F"/>
                </a:solidFill>
                <a:latin typeface="Comic Sans MS"/>
                <a:cs typeface="Comic Sans MS"/>
              </a:rPr>
              <a:t>de</a:t>
            </a:r>
            <a:r>
              <a:rPr sz="1600" spc="21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600" spc="-25" dirty="0">
                <a:solidFill>
                  <a:srgbClr val="7F007F"/>
                </a:solidFill>
                <a:latin typeface="Comic Sans MS"/>
                <a:cs typeface="Comic Sans MS"/>
              </a:rPr>
              <a:t>IHC </a:t>
            </a:r>
            <a:r>
              <a:rPr sz="1600" dirty="0">
                <a:solidFill>
                  <a:srgbClr val="7F007F"/>
                </a:solidFill>
                <a:latin typeface="Comic Sans MS"/>
                <a:cs typeface="Comic Sans MS"/>
              </a:rPr>
              <a:t>e</a:t>
            </a:r>
            <a:r>
              <a:rPr sz="1600" spc="229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7F007F"/>
                </a:solidFill>
                <a:latin typeface="Comic Sans MS"/>
                <a:cs typeface="Comic Sans MS"/>
              </a:rPr>
              <a:t>Desenvolvedores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334464" y="5195317"/>
            <a:ext cx="1072452" cy="1190625"/>
            <a:chOff x="5656950" y="5195316"/>
            <a:chExt cx="1137285" cy="1190625"/>
          </a:xfrm>
        </p:grpSpPr>
        <p:sp>
          <p:nvSpPr>
            <p:cNvPr id="10" name="object 10"/>
            <p:cNvSpPr/>
            <p:nvPr/>
          </p:nvSpPr>
          <p:spPr>
            <a:xfrm>
              <a:off x="5670666" y="5209031"/>
              <a:ext cx="1097280" cy="931544"/>
            </a:xfrm>
            <a:custGeom>
              <a:avLst/>
              <a:gdLst/>
              <a:ahLst/>
              <a:cxnLst/>
              <a:rect l="l" t="t" r="r" b="b"/>
              <a:pathLst>
                <a:path w="1097279" h="931545">
                  <a:moveTo>
                    <a:pt x="1097279" y="777239"/>
                  </a:moveTo>
                  <a:lnTo>
                    <a:pt x="1097279" y="155447"/>
                  </a:lnTo>
                  <a:lnTo>
                    <a:pt x="1089306" y="106509"/>
                  </a:lnTo>
                  <a:lnTo>
                    <a:pt x="1067141" y="63861"/>
                  </a:lnTo>
                  <a:lnTo>
                    <a:pt x="1033418" y="30138"/>
                  </a:lnTo>
                  <a:lnTo>
                    <a:pt x="990770" y="7973"/>
                  </a:lnTo>
                  <a:lnTo>
                    <a:pt x="941831" y="0"/>
                  </a:lnTo>
                  <a:lnTo>
                    <a:pt x="155447" y="0"/>
                  </a:lnTo>
                  <a:lnTo>
                    <a:pt x="106509" y="7973"/>
                  </a:lnTo>
                  <a:lnTo>
                    <a:pt x="63861" y="30138"/>
                  </a:lnTo>
                  <a:lnTo>
                    <a:pt x="30138" y="63861"/>
                  </a:lnTo>
                  <a:lnTo>
                    <a:pt x="7973" y="106509"/>
                  </a:lnTo>
                  <a:lnTo>
                    <a:pt x="0" y="155447"/>
                  </a:lnTo>
                  <a:lnTo>
                    <a:pt x="0" y="777239"/>
                  </a:lnTo>
                  <a:lnTo>
                    <a:pt x="7973" y="826020"/>
                  </a:lnTo>
                  <a:lnTo>
                    <a:pt x="30138" y="868289"/>
                  </a:lnTo>
                  <a:lnTo>
                    <a:pt x="63861" y="901561"/>
                  </a:lnTo>
                  <a:lnTo>
                    <a:pt x="106509" y="923348"/>
                  </a:lnTo>
                  <a:lnTo>
                    <a:pt x="155447" y="931163"/>
                  </a:lnTo>
                  <a:lnTo>
                    <a:pt x="941831" y="931163"/>
                  </a:lnTo>
                  <a:lnTo>
                    <a:pt x="990770" y="923348"/>
                  </a:lnTo>
                  <a:lnTo>
                    <a:pt x="1033418" y="901561"/>
                  </a:lnTo>
                  <a:lnTo>
                    <a:pt x="1067141" y="868289"/>
                  </a:lnTo>
                  <a:lnTo>
                    <a:pt x="1089306" y="826020"/>
                  </a:lnTo>
                  <a:lnTo>
                    <a:pt x="1097279" y="777239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56950" y="5195316"/>
              <a:ext cx="1125220" cy="960119"/>
            </a:xfrm>
            <a:custGeom>
              <a:avLst/>
              <a:gdLst/>
              <a:ahLst/>
              <a:cxnLst/>
              <a:rect l="l" t="t" r="r" b="b"/>
              <a:pathLst>
                <a:path w="1125220" h="960120">
                  <a:moveTo>
                    <a:pt x="1124712" y="806196"/>
                  </a:moveTo>
                  <a:lnTo>
                    <a:pt x="1124712" y="150876"/>
                  </a:lnTo>
                  <a:lnTo>
                    <a:pt x="1121664" y="134112"/>
                  </a:lnTo>
                  <a:lnTo>
                    <a:pt x="1103376" y="86868"/>
                  </a:lnTo>
                  <a:lnTo>
                    <a:pt x="1074420" y="48768"/>
                  </a:lnTo>
                  <a:lnTo>
                    <a:pt x="1036320" y="19812"/>
                  </a:lnTo>
                  <a:lnTo>
                    <a:pt x="989076" y="3048"/>
                  </a:lnTo>
                  <a:lnTo>
                    <a:pt x="972312" y="0"/>
                  </a:lnTo>
                  <a:lnTo>
                    <a:pt x="150876" y="0"/>
                  </a:lnTo>
                  <a:lnTo>
                    <a:pt x="102108" y="13716"/>
                  </a:lnTo>
                  <a:lnTo>
                    <a:pt x="60960" y="38100"/>
                  </a:lnTo>
                  <a:lnTo>
                    <a:pt x="27432" y="74676"/>
                  </a:lnTo>
                  <a:lnTo>
                    <a:pt x="6096" y="118872"/>
                  </a:lnTo>
                  <a:lnTo>
                    <a:pt x="0" y="152400"/>
                  </a:lnTo>
                  <a:lnTo>
                    <a:pt x="0" y="807720"/>
                  </a:lnTo>
                  <a:lnTo>
                    <a:pt x="3048" y="824484"/>
                  </a:lnTo>
                  <a:lnTo>
                    <a:pt x="7620" y="841248"/>
                  </a:lnTo>
                  <a:lnTo>
                    <a:pt x="19812" y="871728"/>
                  </a:lnTo>
                  <a:lnTo>
                    <a:pt x="27432" y="883158"/>
                  </a:lnTo>
                  <a:lnTo>
                    <a:pt x="27432" y="169164"/>
                  </a:lnTo>
                  <a:lnTo>
                    <a:pt x="28956" y="153924"/>
                  </a:lnTo>
                  <a:lnTo>
                    <a:pt x="39624" y="114300"/>
                  </a:lnTo>
                  <a:lnTo>
                    <a:pt x="70104" y="68580"/>
                  </a:lnTo>
                  <a:lnTo>
                    <a:pt x="91440" y="51816"/>
                  </a:lnTo>
                  <a:lnTo>
                    <a:pt x="102108" y="44196"/>
                  </a:lnTo>
                  <a:lnTo>
                    <a:pt x="141732" y="30480"/>
                  </a:lnTo>
                  <a:lnTo>
                    <a:pt x="955548" y="27432"/>
                  </a:lnTo>
                  <a:lnTo>
                    <a:pt x="970788" y="28956"/>
                  </a:lnTo>
                  <a:lnTo>
                    <a:pt x="1010412" y="39624"/>
                  </a:lnTo>
                  <a:lnTo>
                    <a:pt x="1056132" y="70104"/>
                  </a:lnTo>
                  <a:lnTo>
                    <a:pt x="1078992" y="102108"/>
                  </a:lnTo>
                  <a:lnTo>
                    <a:pt x="1094232" y="141732"/>
                  </a:lnTo>
                  <a:lnTo>
                    <a:pt x="1095756" y="155448"/>
                  </a:lnTo>
                  <a:lnTo>
                    <a:pt x="1095756" y="883920"/>
                  </a:lnTo>
                  <a:lnTo>
                    <a:pt x="1104900" y="870204"/>
                  </a:lnTo>
                  <a:lnTo>
                    <a:pt x="1112520" y="854964"/>
                  </a:lnTo>
                  <a:lnTo>
                    <a:pt x="1121664" y="824484"/>
                  </a:lnTo>
                  <a:lnTo>
                    <a:pt x="1124712" y="806196"/>
                  </a:lnTo>
                  <a:close/>
                </a:path>
                <a:path w="1125220" h="960120">
                  <a:moveTo>
                    <a:pt x="1095756" y="883920"/>
                  </a:moveTo>
                  <a:lnTo>
                    <a:pt x="1095756" y="806196"/>
                  </a:lnTo>
                  <a:lnTo>
                    <a:pt x="1089660" y="833628"/>
                  </a:lnTo>
                  <a:lnTo>
                    <a:pt x="1085088" y="845820"/>
                  </a:lnTo>
                  <a:lnTo>
                    <a:pt x="1063752" y="880872"/>
                  </a:lnTo>
                  <a:lnTo>
                    <a:pt x="1033272" y="908304"/>
                  </a:lnTo>
                  <a:lnTo>
                    <a:pt x="996696" y="925068"/>
                  </a:lnTo>
                  <a:lnTo>
                    <a:pt x="153924" y="931164"/>
                  </a:lnTo>
                  <a:lnTo>
                    <a:pt x="126492" y="925068"/>
                  </a:lnTo>
                  <a:lnTo>
                    <a:pt x="79248" y="899160"/>
                  </a:lnTo>
                  <a:lnTo>
                    <a:pt x="51816" y="868680"/>
                  </a:lnTo>
                  <a:lnTo>
                    <a:pt x="33528" y="832104"/>
                  </a:lnTo>
                  <a:lnTo>
                    <a:pt x="27432" y="789432"/>
                  </a:lnTo>
                  <a:lnTo>
                    <a:pt x="27432" y="883158"/>
                  </a:lnTo>
                  <a:lnTo>
                    <a:pt x="60960" y="922020"/>
                  </a:lnTo>
                  <a:lnTo>
                    <a:pt x="118872" y="952500"/>
                  </a:lnTo>
                  <a:lnTo>
                    <a:pt x="169164" y="960120"/>
                  </a:lnTo>
                  <a:lnTo>
                    <a:pt x="955548" y="960120"/>
                  </a:lnTo>
                  <a:lnTo>
                    <a:pt x="969264" y="958977"/>
                  </a:lnTo>
                  <a:lnTo>
                    <a:pt x="970788" y="958850"/>
                  </a:lnTo>
                  <a:lnTo>
                    <a:pt x="972312" y="958723"/>
                  </a:lnTo>
                  <a:lnTo>
                    <a:pt x="1022604" y="946404"/>
                  </a:lnTo>
                  <a:lnTo>
                    <a:pt x="1063752" y="920496"/>
                  </a:lnTo>
                  <a:lnTo>
                    <a:pt x="1086612" y="897636"/>
                  </a:lnTo>
                  <a:lnTo>
                    <a:pt x="1095756" y="883920"/>
                  </a:lnTo>
                  <a:close/>
                </a:path>
              </a:pathLst>
            </a:custGeom>
            <a:solidFill>
              <a:srgbClr val="BBBB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82858" y="6158483"/>
              <a:ext cx="1097280" cy="213360"/>
            </a:xfrm>
            <a:custGeom>
              <a:avLst/>
              <a:gdLst/>
              <a:ahLst/>
              <a:cxnLst/>
              <a:rect l="l" t="t" r="r" b="b"/>
              <a:pathLst>
                <a:path w="1097279" h="213360">
                  <a:moveTo>
                    <a:pt x="1097279" y="176783"/>
                  </a:moveTo>
                  <a:lnTo>
                    <a:pt x="1097279" y="35051"/>
                  </a:lnTo>
                  <a:lnTo>
                    <a:pt x="1094589" y="21216"/>
                  </a:lnTo>
                  <a:lnTo>
                    <a:pt x="1087183" y="10096"/>
                  </a:lnTo>
                  <a:lnTo>
                    <a:pt x="1076063" y="2690"/>
                  </a:lnTo>
                  <a:lnTo>
                    <a:pt x="1062227" y="0"/>
                  </a:lnTo>
                  <a:lnTo>
                    <a:pt x="36575" y="0"/>
                  </a:lnTo>
                  <a:lnTo>
                    <a:pt x="22502" y="2690"/>
                  </a:lnTo>
                  <a:lnTo>
                    <a:pt x="10858" y="10096"/>
                  </a:lnTo>
                  <a:lnTo>
                    <a:pt x="2928" y="21216"/>
                  </a:lnTo>
                  <a:lnTo>
                    <a:pt x="0" y="35051"/>
                  </a:lnTo>
                  <a:lnTo>
                    <a:pt x="0" y="176783"/>
                  </a:lnTo>
                  <a:lnTo>
                    <a:pt x="2928" y="190857"/>
                  </a:lnTo>
                  <a:lnTo>
                    <a:pt x="10858" y="202501"/>
                  </a:lnTo>
                  <a:lnTo>
                    <a:pt x="22502" y="210431"/>
                  </a:lnTo>
                  <a:lnTo>
                    <a:pt x="36575" y="213359"/>
                  </a:lnTo>
                  <a:lnTo>
                    <a:pt x="1062227" y="213359"/>
                  </a:lnTo>
                  <a:lnTo>
                    <a:pt x="1076063" y="210431"/>
                  </a:lnTo>
                  <a:lnTo>
                    <a:pt x="1087183" y="202501"/>
                  </a:lnTo>
                  <a:lnTo>
                    <a:pt x="1094589" y="190857"/>
                  </a:lnTo>
                  <a:lnTo>
                    <a:pt x="1097279" y="176783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69142" y="6144768"/>
              <a:ext cx="1125220" cy="241300"/>
            </a:xfrm>
            <a:custGeom>
              <a:avLst/>
              <a:gdLst/>
              <a:ahLst/>
              <a:cxnLst/>
              <a:rect l="l" t="t" r="r" b="b"/>
              <a:pathLst>
                <a:path w="1125220" h="241300">
                  <a:moveTo>
                    <a:pt x="1524" y="199644"/>
                  </a:moveTo>
                  <a:lnTo>
                    <a:pt x="1524" y="41148"/>
                  </a:lnTo>
                  <a:lnTo>
                    <a:pt x="0" y="48768"/>
                  </a:lnTo>
                  <a:lnTo>
                    <a:pt x="0" y="192024"/>
                  </a:lnTo>
                  <a:lnTo>
                    <a:pt x="1524" y="199644"/>
                  </a:lnTo>
                  <a:close/>
                </a:path>
                <a:path w="1125220" h="241300">
                  <a:moveTo>
                    <a:pt x="1110996" y="227076"/>
                  </a:moveTo>
                  <a:lnTo>
                    <a:pt x="1110996" y="13716"/>
                  </a:lnTo>
                  <a:lnTo>
                    <a:pt x="1109472" y="13716"/>
                  </a:lnTo>
                  <a:lnTo>
                    <a:pt x="1103376" y="7620"/>
                  </a:lnTo>
                  <a:lnTo>
                    <a:pt x="1101852" y="7620"/>
                  </a:lnTo>
                  <a:lnTo>
                    <a:pt x="1095756" y="4572"/>
                  </a:lnTo>
                  <a:lnTo>
                    <a:pt x="1095756" y="3048"/>
                  </a:lnTo>
                  <a:lnTo>
                    <a:pt x="1094232" y="3048"/>
                  </a:lnTo>
                  <a:lnTo>
                    <a:pt x="1086612" y="0"/>
                  </a:lnTo>
                  <a:lnTo>
                    <a:pt x="38100" y="0"/>
                  </a:lnTo>
                  <a:lnTo>
                    <a:pt x="32004" y="3048"/>
                  </a:lnTo>
                  <a:lnTo>
                    <a:pt x="30480" y="3048"/>
                  </a:lnTo>
                  <a:lnTo>
                    <a:pt x="28956" y="4572"/>
                  </a:lnTo>
                  <a:lnTo>
                    <a:pt x="22860" y="7620"/>
                  </a:lnTo>
                  <a:lnTo>
                    <a:pt x="21336" y="7620"/>
                  </a:lnTo>
                  <a:lnTo>
                    <a:pt x="21336" y="9144"/>
                  </a:lnTo>
                  <a:lnTo>
                    <a:pt x="15240" y="13716"/>
                  </a:lnTo>
                  <a:lnTo>
                    <a:pt x="13716" y="13716"/>
                  </a:lnTo>
                  <a:lnTo>
                    <a:pt x="13716" y="15240"/>
                  </a:lnTo>
                  <a:lnTo>
                    <a:pt x="9144" y="19812"/>
                  </a:lnTo>
                  <a:lnTo>
                    <a:pt x="9144" y="21336"/>
                  </a:lnTo>
                  <a:lnTo>
                    <a:pt x="7620" y="21336"/>
                  </a:lnTo>
                  <a:lnTo>
                    <a:pt x="7620" y="22860"/>
                  </a:lnTo>
                  <a:lnTo>
                    <a:pt x="4572" y="28956"/>
                  </a:lnTo>
                  <a:lnTo>
                    <a:pt x="3048" y="30480"/>
                  </a:lnTo>
                  <a:lnTo>
                    <a:pt x="1524" y="38100"/>
                  </a:lnTo>
                  <a:lnTo>
                    <a:pt x="1524" y="202692"/>
                  </a:lnTo>
                  <a:lnTo>
                    <a:pt x="3048" y="208788"/>
                  </a:lnTo>
                  <a:lnTo>
                    <a:pt x="3048" y="210312"/>
                  </a:lnTo>
                  <a:lnTo>
                    <a:pt x="4572" y="210312"/>
                  </a:lnTo>
                  <a:lnTo>
                    <a:pt x="4572" y="211836"/>
                  </a:lnTo>
                  <a:lnTo>
                    <a:pt x="7620" y="217932"/>
                  </a:lnTo>
                  <a:lnTo>
                    <a:pt x="9144" y="219456"/>
                  </a:lnTo>
                  <a:lnTo>
                    <a:pt x="13716" y="225552"/>
                  </a:lnTo>
                  <a:lnTo>
                    <a:pt x="15240" y="227076"/>
                  </a:lnTo>
                  <a:lnTo>
                    <a:pt x="21336" y="231648"/>
                  </a:lnTo>
                  <a:lnTo>
                    <a:pt x="22860" y="231648"/>
                  </a:lnTo>
                  <a:lnTo>
                    <a:pt x="22860" y="233172"/>
                  </a:lnTo>
                  <a:lnTo>
                    <a:pt x="28956" y="236220"/>
                  </a:lnTo>
                  <a:lnTo>
                    <a:pt x="28956" y="42672"/>
                  </a:lnTo>
                  <a:lnTo>
                    <a:pt x="30480" y="39624"/>
                  </a:lnTo>
                  <a:lnTo>
                    <a:pt x="30480" y="38100"/>
                  </a:lnTo>
                  <a:lnTo>
                    <a:pt x="35052" y="33528"/>
                  </a:lnTo>
                  <a:lnTo>
                    <a:pt x="35052" y="33909"/>
                  </a:lnTo>
                  <a:lnTo>
                    <a:pt x="36576" y="32766"/>
                  </a:lnTo>
                  <a:lnTo>
                    <a:pt x="36576" y="32004"/>
                  </a:lnTo>
                  <a:lnTo>
                    <a:pt x="42672" y="28956"/>
                  </a:lnTo>
                  <a:lnTo>
                    <a:pt x="42672" y="29260"/>
                  </a:lnTo>
                  <a:lnTo>
                    <a:pt x="47244" y="27432"/>
                  </a:lnTo>
                  <a:lnTo>
                    <a:pt x="47244" y="28346"/>
                  </a:lnTo>
                  <a:lnTo>
                    <a:pt x="51816" y="27432"/>
                  </a:lnTo>
                  <a:lnTo>
                    <a:pt x="1075944" y="27432"/>
                  </a:lnTo>
                  <a:lnTo>
                    <a:pt x="1078992" y="28194"/>
                  </a:lnTo>
                  <a:lnTo>
                    <a:pt x="1078992" y="27432"/>
                  </a:lnTo>
                  <a:lnTo>
                    <a:pt x="1086612" y="31242"/>
                  </a:lnTo>
                  <a:lnTo>
                    <a:pt x="1086612" y="30480"/>
                  </a:lnTo>
                  <a:lnTo>
                    <a:pt x="1094232" y="38100"/>
                  </a:lnTo>
                  <a:lnTo>
                    <a:pt x="1094232" y="39624"/>
                  </a:lnTo>
                  <a:lnTo>
                    <a:pt x="1097280" y="45720"/>
                  </a:lnTo>
                  <a:lnTo>
                    <a:pt x="1097280" y="235458"/>
                  </a:lnTo>
                  <a:lnTo>
                    <a:pt x="1101852" y="233172"/>
                  </a:lnTo>
                  <a:lnTo>
                    <a:pt x="1103376" y="231648"/>
                  </a:lnTo>
                  <a:lnTo>
                    <a:pt x="1104900" y="231648"/>
                  </a:lnTo>
                  <a:lnTo>
                    <a:pt x="1109472" y="227076"/>
                  </a:lnTo>
                  <a:lnTo>
                    <a:pt x="1110996" y="227076"/>
                  </a:lnTo>
                  <a:close/>
                </a:path>
                <a:path w="1125220" h="241300">
                  <a:moveTo>
                    <a:pt x="30480" y="39624"/>
                  </a:moveTo>
                  <a:lnTo>
                    <a:pt x="28956" y="42672"/>
                  </a:lnTo>
                  <a:lnTo>
                    <a:pt x="30099" y="41148"/>
                  </a:lnTo>
                  <a:lnTo>
                    <a:pt x="30480" y="39624"/>
                  </a:lnTo>
                  <a:close/>
                </a:path>
                <a:path w="1125220" h="241300">
                  <a:moveTo>
                    <a:pt x="30099" y="41148"/>
                  </a:moveTo>
                  <a:lnTo>
                    <a:pt x="28956" y="42672"/>
                  </a:lnTo>
                  <a:lnTo>
                    <a:pt x="28956" y="45720"/>
                  </a:lnTo>
                  <a:lnTo>
                    <a:pt x="30099" y="41148"/>
                  </a:lnTo>
                  <a:close/>
                </a:path>
                <a:path w="1125220" h="241300">
                  <a:moveTo>
                    <a:pt x="30480" y="201168"/>
                  </a:moveTo>
                  <a:lnTo>
                    <a:pt x="28956" y="193548"/>
                  </a:lnTo>
                  <a:lnTo>
                    <a:pt x="28956" y="198120"/>
                  </a:lnTo>
                  <a:lnTo>
                    <a:pt x="30099" y="199644"/>
                  </a:lnTo>
                  <a:lnTo>
                    <a:pt x="30099" y="200406"/>
                  </a:lnTo>
                  <a:lnTo>
                    <a:pt x="30480" y="201168"/>
                  </a:lnTo>
                  <a:close/>
                </a:path>
                <a:path w="1125220" h="241300">
                  <a:moveTo>
                    <a:pt x="33528" y="204216"/>
                  </a:moveTo>
                  <a:lnTo>
                    <a:pt x="28956" y="198120"/>
                  </a:lnTo>
                  <a:lnTo>
                    <a:pt x="30099" y="200406"/>
                  </a:lnTo>
                  <a:lnTo>
                    <a:pt x="30099" y="199263"/>
                  </a:lnTo>
                  <a:lnTo>
                    <a:pt x="30480" y="201168"/>
                  </a:lnTo>
                  <a:lnTo>
                    <a:pt x="33528" y="204216"/>
                  </a:lnTo>
                  <a:close/>
                </a:path>
                <a:path w="1125220" h="241300">
                  <a:moveTo>
                    <a:pt x="35052" y="238506"/>
                  </a:moveTo>
                  <a:lnTo>
                    <a:pt x="35052" y="207264"/>
                  </a:lnTo>
                  <a:lnTo>
                    <a:pt x="30480" y="201168"/>
                  </a:lnTo>
                  <a:lnTo>
                    <a:pt x="28956" y="198120"/>
                  </a:lnTo>
                  <a:lnTo>
                    <a:pt x="28956" y="236220"/>
                  </a:lnTo>
                  <a:lnTo>
                    <a:pt x="30480" y="236220"/>
                  </a:lnTo>
                  <a:lnTo>
                    <a:pt x="30480" y="237744"/>
                  </a:lnTo>
                  <a:lnTo>
                    <a:pt x="32004" y="237744"/>
                  </a:lnTo>
                  <a:lnTo>
                    <a:pt x="35052" y="238506"/>
                  </a:lnTo>
                  <a:close/>
                </a:path>
                <a:path w="1125220" h="241300">
                  <a:moveTo>
                    <a:pt x="33528" y="36576"/>
                  </a:moveTo>
                  <a:lnTo>
                    <a:pt x="30480" y="38100"/>
                  </a:lnTo>
                  <a:lnTo>
                    <a:pt x="30480" y="39624"/>
                  </a:lnTo>
                  <a:lnTo>
                    <a:pt x="30099" y="41148"/>
                  </a:lnTo>
                  <a:lnTo>
                    <a:pt x="33528" y="36576"/>
                  </a:lnTo>
                  <a:close/>
                </a:path>
                <a:path w="1125220" h="241300">
                  <a:moveTo>
                    <a:pt x="35052" y="33909"/>
                  </a:moveTo>
                  <a:lnTo>
                    <a:pt x="35052" y="33528"/>
                  </a:lnTo>
                  <a:lnTo>
                    <a:pt x="33528" y="35052"/>
                  </a:lnTo>
                  <a:lnTo>
                    <a:pt x="35052" y="33909"/>
                  </a:lnTo>
                  <a:close/>
                </a:path>
                <a:path w="1125220" h="241300">
                  <a:moveTo>
                    <a:pt x="39624" y="208788"/>
                  </a:moveTo>
                  <a:lnTo>
                    <a:pt x="33528" y="204216"/>
                  </a:lnTo>
                  <a:lnTo>
                    <a:pt x="35052" y="207264"/>
                  </a:lnTo>
                  <a:lnTo>
                    <a:pt x="35052" y="238506"/>
                  </a:lnTo>
                  <a:lnTo>
                    <a:pt x="36576" y="238887"/>
                  </a:lnTo>
                  <a:lnTo>
                    <a:pt x="36576" y="207264"/>
                  </a:lnTo>
                  <a:lnTo>
                    <a:pt x="39624" y="208788"/>
                  </a:lnTo>
                  <a:close/>
                </a:path>
                <a:path w="1125220" h="241300">
                  <a:moveTo>
                    <a:pt x="39624" y="30480"/>
                  </a:moveTo>
                  <a:lnTo>
                    <a:pt x="36576" y="32004"/>
                  </a:lnTo>
                  <a:lnTo>
                    <a:pt x="36576" y="32766"/>
                  </a:lnTo>
                  <a:lnTo>
                    <a:pt x="39624" y="30480"/>
                  </a:lnTo>
                  <a:close/>
                </a:path>
                <a:path w="1125220" h="241300">
                  <a:moveTo>
                    <a:pt x="41009" y="210589"/>
                  </a:moveTo>
                  <a:lnTo>
                    <a:pt x="36576" y="207264"/>
                  </a:lnTo>
                  <a:lnTo>
                    <a:pt x="36576" y="238887"/>
                  </a:lnTo>
                  <a:lnTo>
                    <a:pt x="38100" y="239268"/>
                  </a:lnTo>
                  <a:lnTo>
                    <a:pt x="39624" y="239268"/>
                  </a:lnTo>
                  <a:lnTo>
                    <a:pt x="39624" y="210312"/>
                  </a:lnTo>
                  <a:lnTo>
                    <a:pt x="41009" y="210589"/>
                  </a:lnTo>
                  <a:close/>
                </a:path>
                <a:path w="1125220" h="241300">
                  <a:moveTo>
                    <a:pt x="42672" y="29260"/>
                  </a:moveTo>
                  <a:lnTo>
                    <a:pt x="42672" y="28956"/>
                  </a:lnTo>
                  <a:lnTo>
                    <a:pt x="39624" y="30480"/>
                  </a:lnTo>
                  <a:lnTo>
                    <a:pt x="42672" y="29260"/>
                  </a:lnTo>
                  <a:close/>
                </a:path>
                <a:path w="1125220" h="241300">
                  <a:moveTo>
                    <a:pt x="42672" y="211836"/>
                  </a:moveTo>
                  <a:lnTo>
                    <a:pt x="41148" y="210616"/>
                  </a:lnTo>
                  <a:lnTo>
                    <a:pt x="39624" y="210312"/>
                  </a:lnTo>
                  <a:lnTo>
                    <a:pt x="42672" y="211836"/>
                  </a:lnTo>
                  <a:close/>
                </a:path>
                <a:path w="1125220" h="241300">
                  <a:moveTo>
                    <a:pt x="42672" y="239522"/>
                  </a:moveTo>
                  <a:lnTo>
                    <a:pt x="42672" y="211836"/>
                  </a:lnTo>
                  <a:lnTo>
                    <a:pt x="39624" y="210312"/>
                  </a:lnTo>
                  <a:lnTo>
                    <a:pt x="39624" y="239268"/>
                  </a:lnTo>
                  <a:lnTo>
                    <a:pt x="41148" y="239268"/>
                  </a:lnTo>
                  <a:lnTo>
                    <a:pt x="42672" y="239522"/>
                  </a:lnTo>
                  <a:close/>
                </a:path>
                <a:path w="1125220" h="241300">
                  <a:moveTo>
                    <a:pt x="47244" y="211836"/>
                  </a:moveTo>
                  <a:lnTo>
                    <a:pt x="41148" y="210616"/>
                  </a:lnTo>
                  <a:lnTo>
                    <a:pt x="42672" y="211836"/>
                  </a:lnTo>
                  <a:lnTo>
                    <a:pt x="42672" y="239522"/>
                  </a:lnTo>
                  <a:lnTo>
                    <a:pt x="44196" y="239776"/>
                  </a:lnTo>
                  <a:lnTo>
                    <a:pt x="44196" y="211836"/>
                  </a:lnTo>
                  <a:lnTo>
                    <a:pt x="47244" y="211836"/>
                  </a:lnTo>
                  <a:close/>
                </a:path>
                <a:path w="1125220" h="241300">
                  <a:moveTo>
                    <a:pt x="47244" y="28346"/>
                  </a:moveTo>
                  <a:lnTo>
                    <a:pt x="47244" y="27432"/>
                  </a:lnTo>
                  <a:lnTo>
                    <a:pt x="44196" y="28956"/>
                  </a:lnTo>
                  <a:lnTo>
                    <a:pt x="47244" y="28346"/>
                  </a:lnTo>
                  <a:close/>
                </a:path>
                <a:path w="1125220" h="241300">
                  <a:moveTo>
                    <a:pt x="1085088" y="239268"/>
                  </a:moveTo>
                  <a:lnTo>
                    <a:pt x="1085088" y="210312"/>
                  </a:lnTo>
                  <a:lnTo>
                    <a:pt x="1082040" y="211836"/>
                  </a:lnTo>
                  <a:lnTo>
                    <a:pt x="44196" y="211836"/>
                  </a:lnTo>
                  <a:lnTo>
                    <a:pt x="44196" y="239776"/>
                  </a:lnTo>
                  <a:lnTo>
                    <a:pt x="50292" y="240792"/>
                  </a:lnTo>
                  <a:lnTo>
                    <a:pt x="1077468" y="240792"/>
                  </a:lnTo>
                  <a:lnTo>
                    <a:pt x="1085088" y="239268"/>
                  </a:lnTo>
                  <a:close/>
                </a:path>
                <a:path w="1125220" h="241300">
                  <a:moveTo>
                    <a:pt x="1082040" y="28956"/>
                  </a:moveTo>
                  <a:lnTo>
                    <a:pt x="1078992" y="27432"/>
                  </a:lnTo>
                  <a:lnTo>
                    <a:pt x="1078992" y="28194"/>
                  </a:lnTo>
                  <a:lnTo>
                    <a:pt x="1082040" y="28956"/>
                  </a:lnTo>
                  <a:close/>
                </a:path>
                <a:path w="1125220" h="241300">
                  <a:moveTo>
                    <a:pt x="1083564" y="210693"/>
                  </a:moveTo>
                  <a:lnTo>
                    <a:pt x="1078992" y="211836"/>
                  </a:lnTo>
                  <a:lnTo>
                    <a:pt x="1082040" y="211836"/>
                  </a:lnTo>
                  <a:lnTo>
                    <a:pt x="1083564" y="210693"/>
                  </a:lnTo>
                  <a:close/>
                </a:path>
                <a:path w="1125220" h="241300">
                  <a:moveTo>
                    <a:pt x="1085088" y="210312"/>
                  </a:moveTo>
                  <a:lnTo>
                    <a:pt x="1083564" y="210693"/>
                  </a:lnTo>
                  <a:lnTo>
                    <a:pt x="1082040" y="211836"/>
                  </a:lnTo>
                  <a:lnTo>
                    <a:pt x="1085088" y="210312"/>
                  </a:lnTo>
                  <a:close/>
                </a:path>
                <a:path w="1125220" h="241300">
                  <a:moveTo>
                    <a:pt x="1088136" y="207264"/>
                  </a:moveTo>
                  <a:lnTo>
                    <a:pt x="1083564" y="210693"/>
                  </a:lnTo>
                  <a:lnTo>
                    <a:pt x="1085088" y="210312"/>
                  </a:lnTo>
                  <a:lnTo>
                    <a:pt x="1085088" y="239268"/>
                  </a:lnTo>
                  <a:lnTo>
                    <a:pt x="1086612" y="239268"/>
                  </a:lnTo>
                  <a:lnTo>
                    <a:pt x="1086612" y="208788"/>
                  </a:lnTo>
                  <a:lnTo>
                    <a:pt x="1088136" y="207264"/>
                  </a:lnTo>
                  <a:close/>
                </a:path>
                <a:path w="1125220" h="241300">
                  <a:moveTo>
                    <a:pt x="1088136" y="32004"/>
                  </a:moveTo>
                  <a:lnTo>
                    <a:pt x="1086612" y="30480"/>
                  </a:lnTo>
                  <a:lnTo>
                    <a:pt x="1086612" y="31242"/>
                  </a:lnTo>
                  <a:lnTo>
                    <a:pt x="1088136" y="32004"/>
                  </a:lnTo>
                  <a:close/>
                </a:path>
                <a:path w="1125220" h="241300">
                  <a:moveTo>
                    <a:pt x="1091184" y="204216"/>
                  </a:moveTo>
                  <a:lnTo>
                    <a:pt x="1086612" y="208788"/>
                  </a:lnTo>
                  <a:lnTo>
                    <a:pt x="1086612" y="239268"/>
                  </a:lnTo>
                  <a:lnTo>
                    <a:pt x="1089660" y="238658"/>
                  </a:lnTo>
                  <a:lnTo>
                    <a:pt x="1089660" y="207264"/>
                  </a:lnTo>
                  <a:lnTo>
                    <a:pt x="1091184" y="204216"/>
                  </a:lnTo>
                  <a:close/>
                </a:path>
                <a:path w="1125220" h="241300">
                  <a:moveTo>
                    <a:pt x="1094232" y="201168"/>
                  </a:moveTo>
                  <a:lnTo>
                    <a:pt x="1089660" y="207264"/>
                  </a:lnTo>
                  <a:lnTo>
                    <a:pt x="1089660" y="238658"/>
                  </a:lnTo>
                  <a:lnTo>
                    <a:pt x="1092708" y="238048"/>
                  </a:lnTo>
                  <a:lnTo>
                    <a:pt x="1092708" y="204216"/>
                  </a:lnTo>
                  <a:lnTo>
                    <a:pt x="1094232" y="201168"/>
                  </a:lnTo>
                  <a:close/>
                </a:path>
                <a:path w="1125220" h="241300">
                  <a:moveTo>
                    <a:pt x="1094232" y="39624"/>
                  </a:moveTo>
                  <a:lnTo>
                    <a:pt x="1094232" y="38100"/>
                  </a:lnTo>
                  <a:lnTo>
                    <a:pt x="1092708" y="36576"/>
                  </a:lnTo>
                  <a:lnTo>
                    <a:pt x="1094232" y="39624"/>
                  </a:lnTo>
                  <a:close/>
                </a:path>
                <a:path w="1125220" h="241300">
                  <a:moveTo>
                    <a:pt x="1095756" y="236220"/>
                  </a:moveTo>
                  <a:lnTo>
                    <a:pt x="1095756" y="198120"/>
                  </a:lnTo>
                  <a:lnTo>
                    <a:pt x="1092708" y="204216"/>
                  </a:lnTo>
                  <a:lnTo>
                    <a:pt x="1092708" y="238048"/>
                  </a:lnTo>
                  <a:lnTo>
                    <a:pt x="1094232" y="237744"/>
                  </a:lnTo>
                  <a:lnTo>
                    <a:pt x="1095756" y="236220"/>
                  </a:lnTo>
                  <a:close/>
                </a:path>
                <a:path w="1125220" h="241300">
                  <a:moveTo>
                    <a:pt x="1097280" y="235458"/>
                  </a:moveTo>
                  <a:lnTo>
                    <a:pt x="1097280" y="193548"/>
                  </a:lnTo>
                  <a:lnTo>
                    <a:pt x="1094232" y="201168"/>
                  </a:lnTo>
                  <a:lnTo>
                    <a:pt x="1095756" y="198120"/>
                  </a:lnTo>
                  <a:lnTo>
                    <a:pt x="1095756" y="236220"/>
                  </a:lnTo>
                  <a:lnTo>
                    <a:pt x="1097280" y="235458"/>
                  </a:lnTo>
                  <a:close/>
                </a:path>
                <a:path w="1125220" h="241300">
                  <a:moveTo>
                    <a:pt x="1097280" y="50292"/>
                  </a:moveTo>
                  <a:lnTo>
                    <a:pt x="1097280" y="45720"/>
                  </a:lnTo>
                  <a:lnTo>
                    <a:pt x="1095756" y="44196"/>
                  </a:lnTo>
                  <a:lnTo>
                    <a:pt x="1097280" y="50292"/>
                  </a:lnTo>
                  <a:close/>
                </a:path>
                <a:path w="1125220" h="241300">
                  <a:moveTo>
                    <a:pt x="1097280" y="193548"/>
                  </a:moveTo>
                  <a:lnTo>
                    <a:pt x="1097280" y="190500"/>
                  </a:lnTo>
                  <a:lnTo>
                    <a:pt x="1095756" y="196596"/>
                  </a:lnTo>
                  <a:lnTo>
                    <a:pt x="1097280" y="193548"/>
                  </a:lnTo>
                  <a:close/>
                </a:path>
                <a:path w="1125220" h="241300">
                  <a:moveTo>
                    <a:pt x="1117092" y="219456"/>
                  </a:moveTo>
                  <a:lnTo>
                    <a:pt x="1117092" y="21336"/>
                  </a:lnTo>
                  <a:lnTo>
                    <a:pt x="1110996" y="15240"/>
                  </a:lnTo>
                  <a:lnTo>
                    <a:pt x="1110996" y="225552"/>
                  </a:lnTo>
                  <a:lnTo>
                    <a:pt x="1115568" y="219456"/>
                  </a:lnTo>
                  <a:lnTo>
                    <a:pt x="1117092" y="219456"/>
                  </a:lnTo>
                  <a:close/>
                </a:path>
                <a:path w="1125220" h="241300">
                  <a:moveTo>
                    <a:pt x="1121664" y="211836"/>
                  </a:moveTo>
                  <a:lnTo>
                    <a:pt x="1121664" y="28956"/>
                  </a:lnTo>
                  <a:lnTo>
                    <a:pt x="1117092" y="22860"/>
                  </a:lnTo>
                  <a:lnTo>
                    <a:pt x="1117092" y="217932"/>
                  </a:lnTo>
                  <a:lnTo>
                    <a:pt x="1121664" y="211836"/>
                  </a:lnTo>
                  <a:close/>
                </a:path>
                <a:path w="1125220" h="241300">
                  <a:moveTo>
                    <a:pt x="1124712" y="202692"/>
                  </a:moveTo>
                  <a:lnTo>
                    <a:pt x="1124712" y="38100"/>
                  </a:lnTo>
                  <a:lnTo>
                    <a:pt x="1121664" y="30480"/>
                  </a:lnTo>
                  <a:lnTo>
                    <a:pt x="1121664" y="208788"/>
                  </a:lnTo>
                  <a:lnTo>
                    <a:pt x="1124712" y="202692"/>
                  </a:lnTo>
                  <a:close/>
                </a:path>
              </a:pathLst>
            </a:custGeom>
            <a:solidFill>
              <a:srgbClr val="BBBB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902856" y="4743701"/>
            <a:ext cx="185209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F007F"/>
                </a:solidFill>
                <a:latin typeface="Comic Sans MS"/>
                <a:cs typeface="Comic Sans MS"/>
              </a:rPr>
              <a:t>Imagem</a:t>
            </a:r>
            <a:r>
              <a:rPr sz="1600" spc="24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7F007F"/>
                </a:solidFill>
                <a:latin typeface="Comic Sans MS"/>
                <a:cs typeface="Comic Sans MS"/>
              </a:rPr>
              <a:t>do</a:t>
            </a:r>
            <a:r>
              <a:rPr sz="1600" spc="25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7F007F"/>
                </a:solidFill>
                <a:latin typeface="Comic Sans MS"/>
                <a:cs typeface="Comic Sans MS"/>
              </a:rPr>
              <a:t>Sistema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962014" y="2241804"/>
            <a:ext cx="2628734" cy="172720"/>
          </a:xfrm>
          <a:custGeom>
            <a:avLst/>
            <a:gdLst/>
            <a:ahLst/>
            <a:cxnLst/>
            <a:rect l="l" t="t" r="r" b="b"/>
            <a:pathLst>
              <a:path w="2787650" h="172719">
                <a:moveTo>
                  <a:pt x="172212" y="57912"/>
                </a:moveTo>
                <a:lnTo>
                  <a:pt x="172212" y="0"/>
                </a:lnTo>
                <a:lnTo>
                  <a:pt x="0" y="85344"/>
                </a:lnTo>
                <a:lnTo>
                  <a:pt x="143256" y="157605"/>
                </a:lnTo>
                <a:lnTo>
                  <a:pt x="143256" y="57912"/>
                </a:lnTo>
                <a:lnTo>
                  <a:pt x="172212" y="57912"/>
                </a:lnTo>
                <a:close/>
              </a:path>
              <a:path w="2787650" h="172719">
                <a:moveTo>
                  <a:pt x="2787396" y="114300"/>
                </a:moveTo>
                <a:lnTo>
                  <a:pt x="2787396" y="57912"/>
                </a:lnTo>
                <a:lnTo>
                  <a:pt x="143256" y="57912"/>
                </a:lnTo>
                <a:lnTo>
                  <a:pt x="143256" y="114300"/>
                </a:lnTo>
                <a:lnTo>
                  <a:pt x="2787396" y="114300"/>
                </a:lnTo>
                <a:close/>
              </a:path>
              <a:path w="2787650" h="172719">
                <a:moveTo>
                  <a:pt x="172212" y="172212"/>
                </a:moveTo>
                <a:lnTo>
                  <a:pt x="172212" y="114300"/>
                </a:lnTo>
                <a:lnTo>
                  <a:pt x="143256" y="114300"/>
                </a:lnTo>
                <a:lnTo>
                  <a:pt x="143256" y="157605"/>
                </a:lnTo>
                <a:lnTo>
                  <a:pt x="172212" y="1722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307889" y="2463798"/>
            <a:ext cx="2077239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Estudos</a:t>
            </a:r>
            <a:r>
              <a:rPr sz="1200" spc="14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com</a:t>
            </a:r>
            <a:r>
              <a:rPr sz="1200" spc="14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7F007F"/>
                </a:solidFill>
                <a:latin typeface="Comic Sans MS"/>
                <a:cs typeface="Comic Sans MS"/>
              </a:rPr>
              <a:t>usuários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informam</a:t>
            </a:r>
            <a:r>
              <a:rPr sz="1200" spc="14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o</a:t>
            </a:r>
            <a:r>
              <a:rPr sz="1200" spc="16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design</a:t>
            </a:r>
            <a:r>
              <a:rPr sz="1200" spc="16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e</a:t>
            </a:r>
            <a:r>
              <a:rPr sz="1200" spc="17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spc="-60" dirty="0">
                <a:solidFill>
                  <a:srgbClr val="7F007F"/>
                </a:solidFill>
                <a:latin typeface="Comic Sans MS"/>
                <a:cs typeface="Comic Sans MS"/>
              </a:rPr>
              <a:t>a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construção</a:t>
            </a:r>
            <a:r>
              <a:rPr sz="1200" spc="15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de</a:t>
            </a:r>
            <a:r>
              <a:rPr sz="1200" spc="17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7F007F"/>
                </a:solidFill>
                <a:latin typeface="Comic Sans MS"/>
                <a:cs typeface="Comic Sans MS"/>
              </a:rPr>
              <a:t>modelos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(modelos</a:t>
            </a:r>
            <a:r>
              <a:rPr sz="1200" spc="204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de</a:t>
            </a:r>
            <a:r>
              <a:rPr sz="1200" spc="229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usuário,</a:t>
            </a:r>
            <a:r>
              <a:rPr sz="1200" spc="22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spc="-25" dirty="0">
                <a:solidFill>
                  <a:srgbClr val="7F007F"/>
                </a:solidFill>
                <a:latin typeface="Comic Sans MS"/>
                <a:cs typeface="Comic Sans MS"/>
              </a:rPr>
              <a:t>de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tarefas,</a:t>
            </a:r>
            <a:r>
              <a:rPr sz="1200" spc="33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de</a:t>
            </a:r>
            <a:r>
              <a:rPr sz="1200" spc="34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interação,</a:t>
            </a:r>
            <a:r>
              <a:rPr sz="1200" spc="33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spc="-25" dirty="0">
                <a:solidFill>
                  <a:srgbClr val="7F007F"/>
                </a:solidFill>
                <a:latin typeface="Comic Sans MS"/>
                <a:cs typeface="Comic Sans MS"/>
              </a:rPr>
              <a:t>de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interface,</a:t>
            </a:r>
            <a:r>
              <a:rPr sz="1200" spc="29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de</a:t>
            </a:r>
            <a:r>
              <a:rPr sz="1200" spc="30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contexto,</a:t>
            </a:r>
            <a:r>
              <a:rPr sz="1200" spc="27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spc="-20" dirty="0">
                <a:solidFill>
                  <a:srgbClr val="7F007F"/>
                </a:solidFill>
                <a:latin typeface="Comic Sans MS"/>
                <a:cs typeface="Comic Sans MS"/>
              </a:rPr>
              <a:t>etc.)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92314" y="4535425"/>
            <a:ext cx="1938916" cy="1266825"/>
          </a:xfrm>
          <a:custGeom>
            <a:avLst/>
            <a:gdLst/>
            <a:ahLst/>
            <a:cxnLst/>
            <a:rect l="l" t="t" r="r" b="b"/>
            <a:pathLst>
              <a:path w="2056129" h="1266825">
                <a:moveTo>
                  <a:pt x="56388" y="1152144"/>
                </a:moveTo>
                <a:lnTo>
                  <a:pt x="56388" y="0"/>
                </a:lnTo>
                <a:lnTo>
                  <a:pt x="0" y="0"/>
                </a:lnTo>
                <a:lnTo>
                  <a:pt x="0" y="1179576"/>
                </a:lnTo>
                <a:lnTo>
                  <a:pt x="2166" y="1191172"/>
                </a:lnTo>
                <a:lnTo>
                  <a:pt x="8191" y="1200340"/>
                </a:lnTo>
                <a:lnTo>
                  <a:pt x="17359" y="1206365"/>
                </a:lnTo>
                <a:lnTo>
                  <a:pt x="28956" y="1208532"/>
                </a:lnTo>
                <a:lnTo>
                  <a:pt x="28956" y="1152144"/>
                </a:lnTo>
                <a:lnTo>
                  <a:pt x="56388" y="1152144"/>
                </a:lnTo>
                <a:close/>
              </a:path>
              <a:path w="2056129" h="1266825">
                <a:moveTo>
                  <a:pt x="1912620" y="1208532"/>
                </a:moveTo>
                <a:lnTo>
                  <a:pt x="1912620" y="1152144"/>
                </a:lnTo>
                <a:lnTo>
                  <a:pt x="28956" y="1152144"/>
                </a:lnTo>
                <a:lnTo>
                  <a:pt x="56388" y="1179576"/>
                </a:lnTo>
                <a:lnTo>
                  <a:pt x="56388" y="1208532"/>
                </a:lnTo>
                <a:lnTo>
                  <a:pt x="1912620" y="1208532"/>
                </a:lnTo>
                <a:close/>
              </a:path>
              <a:path w="2056129" h="1266825">
                <a:moveTo>
                  <a:pt x="56388" y="1208532"/>
                </a:moveTo>
                <a:lnTo>
                  <a:pt x="56388" y="1179576"/>
                </a:lnTo>
                <a:lnTo>
                  <a:pt x="28956" y="1152144"/>
                </a:lnTo>
                <a:lnTo>
                  <a:pt x="28956" y="1208532"/>
                </a:lnTo>
                <a:lnTo>
                  <a:pt x="56388" y="1208532"/>
                </a:lnTo>
                <a:close/>
              </a:path>
              <a:path w="2056129" h="1266825">
                <a:moveTo>
                  <a:pt x="2055876" y="1179576"/>
                </a:moveTo>
                <a:lnTo>
                  <a:pt x="1883664" y="1094232"/>
                </a:lnTo>
                <a:lnTo>
                  <a:pt x="1883664" y="1152144"/>
                </a:lnTo>
                <a:lnTo>
                  <a:pt x="1912620" y="1152144"/>
                </a:lnTo>
                <a:lnTo>
                  <a:pt x="1912620" y="1251837"/>
                </a:lnTo>
                <a:lnTo>
                  <a:pt x="2055876" y="1179576"/>
                </a:lnTo>
                <a:close/>
              </a:path>
              <a:path w="2056129" h="1266825">
                <a:moveTo>
                  <a:pt x="1912620" y="1251837"/>
                </a:moveTo>
                <a:lnTo>
                  <a:pt x="1912620" y="1208532"/>
                </a:lnTo>
                <a:lnTo>
                  <a:pt x="1883664" y="1208532"/>
                </a:lnTo>
                <a:lnTo>
                  <a:pt x="1883664" y="1266444"/>
                </a:lnTo>
                <a:lnTo>
                  <a:pt x="1912620" y="12518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30057" y="4781802"/>
            <a:ext cx="237843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3545" marR="418465" indent="635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Os</a:t>
            </a:r>
            <a:r>
              <a:rPr sz="1200" spc="17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vários</a:t>
            </a:r>
            <a:r>
              <a:rPr sz="1200" spc="15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7F007F"/>
                </a:solidFill>
                <a:latin typeface="Comic Sans MS"/>
                <a:cs typeface="Comic Sans MS"/>
              </a:rPr>
              <a:t>“modelos”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informam</a:t>
            </a:r>
            <a:r>
              <a:rPr sz="1200" spc="17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a</a:t>
            </a:r>
            <a:r>
              <a:rPr sz="1200" spc="19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7F007F"/>
                </a:solidFill>
                <a:latin typeface="Comic Sans MS"/>
                <a:cs typeface="Comic Sans MS"/>
              </a:rPr>
              <a:t>construção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efetiva</a:t>
            </a:r>
            <a:r>
              <a:rPr sz="1200" spc="17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do</a:t>
            </a:r>
            <a:r>
              <a:rPr sz="1200" spc="18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sistema</a:t>
            </a:r>
            <a:r>
              <a:rPr sz="1200" spc="18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spc="-50" dirty="0">
                <a:solidFill>
                  <a:srgbClr val="7F007F"/>
                </a:solidFill>
                <a:latin typeface="Comic Sans MS"/>
                <a:cs typeface="Comic Sans MS"/>
              </a:rPr>
              <a:t>e</a:t>
            </a:r>
            <a:r>
              <a:rPr sz="1200" spc="500" dirty="0">
                <a:solidFill>
                  <a:srgbClr val="7F007F"/>
                </a:solidFill>
                <a:latin typeface="Comic Sans MS"/>
                <a:cs typeface="Comic Sans MS"/>
              </a:rPr>
              <a:t> 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a</a:t>
            </a:r>
            <a:r>
              <a:rPr sz="1200" spc="229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“imagem”</a:t>
            </a:r>
            <a:r>
              <a:rPr sz="1200" spc="254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7F007F"/>
                </a:solidFill>
                <a:latin typeface="Comic Sans MS"/>
                <a:cs typeface="Comic Sans MS"/>
              </a:rPr>
              <a:t>externa</a:t>
            </a:r>
            <a:endParaRPr sz="1200">
              <a:latin typeface="Comic Sans MS"/>
              <a:cs typeface="Comic Sans MS"/>
            </a:endParaRPr>
          </a:p>
          <a:p>
            <a:pPr marL="12065" marR="5080" indent="-2540" algn="ctr">
              <a:lnSpc>
                <a:spcPct val="100000"/>
              </a:lnSpc>
            </a:pP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(interface</a:t>
            </a:r>
            <a:r>
              <a:rPr sz="1200" spc="16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e</a:t>
            </a:r>
            <a:r>
              <a:rPr sz="1200" spc="18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seu</a:t>
            </a:r>
            <a:r>
              <a:rPr sz="1200" spc="17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7F007F"/>
                </a:solidFill>
                <a:latin typeface="Comic Sans MS"/>
                <a:cs typeface="Comic Sans MS"/>
              </a:rPr>
              <a:t>comportamento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interativo)</a:t>
            </a:r>
            <a:r>
              <a:rPr sz="1200" spc="15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que</a:t>
            </a:r>
            <a:r>
              <a:rPr sz="1200" spc="18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ele</a:t>
            </a:r>
            <a:r>
              <a:rPr sz="1200" spc="17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dirty="0">
                <a:solidFill>
                  <a:srgbClr val="7F007F"/>
                </a:solidFill>
                <a:latin typeface="Comic Sans MS"/>
                <a:cs typeface="Comic Sans MS"/>
              </a:rPr>
              <a:t>deve</a:t>
            </a:r>
            <a:r>
              <a:rPr sz="1200" spc="18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200" spc="-10" dirty="0">
                <a:solidFill>
                  <a:srgbClr val="7F007F"/>
                </a:solidFill>
                <a:latin typeface="Comic Sans MS"/>
                <a:cs typeface="Comic Sans MS"/>
              </a:rPr>
              <a:t>projetar.</a:t>
            </a:r>
            <a:endParaRPr sz="120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8586998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da Interação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52425" y="1949450"/>
            <a:ext cx="7092792" cy="1538883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dirty="0"/>
              <a:t>A Engenharia Cognitiva de Norman considera três modelos: dois mentais e um físico.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C00000"/>
                </a:solidFill>
              </a:rPr>
              <a:t>Modelo do Designer </a:t>
            </a:r>
            <a:r>
              <a:rPr lang="pt-BR" dirty="0"/>
              <a:t>é a conceituação que o designer tem em mente sobre o sistema. </a:t>
            </a:r>
          </a:p>
          <a:p>
            <a:endParaRPr lang="pt-BR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3397250"/>
            <a:ext cx="5889625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37360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41700" y="635569"/>
            <a:ext cx="6096000" cy="861774"/>
          </a:xfrm>
        </p:spPr>
        <p:txBody>
          <a:bodyPr/>
          <a:lstStyle/>
          <a:p>
            <a:r>
              <a:rPr lang="pt-BR" dirty="0"/>
              <a:t>Modelo do Usuário e Imagem do Sistema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35325" y="2218434"/>
            <a:ext cx="7092792" cy="3200876"/>
          </a:xfrm>
        </p:spPr>
        <p:txBody>
          <a:bodyPr/>
          <a:lstStyle/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b="1" dirty="0"/>
              <a:t>Modelo do Usuário </a:t>
            </a:r>
            <a:r>
              <a:rPr lang="pt-BR" dirty="0"/>
              <a:t>é o que o usuário desenvolve para entender e explicar a operação do sistema.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pt-BR" b="1" dirty="0"/>
              <a:t>Imagem do sistema</a:t>
            </a:r>
            <a:r>
              <a:rPr lang="pt-BR" dirty="0"/>
              <a:t>: a aparência física, sua operação e a forma como responde, etc. 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pt-BR" dirty="0"/>
              <a:t>O usuário constrói o seu modelo através da interface, o comportamento dela, e documentação. Esse conjunto é denominado a imagem do sistema. 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pt-BR" dirty="0"/>
              <a:t>Se a imagem do sistema não for capaz de gerar o modelo apropriado no usuário, esses vão passar por dificuldades com o seu entendimento e utilização.</a:t>
            </a:r>
          </a:p>
          <a:p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2" y="5607050"/>
            <a:ext cx="8448675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99768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84500" y="349250"/>
            <a:ext cx="6564051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0" dirty="0">
                <a:latin typeface="Arial MT"/>
                <a:cs typeface="Arial MT"/>
              </a:rPr>
              <a:t>Medida</a:t>
            </a:r>
            <a:r>
              <a:rPr sz="2800" b="0" spc="-85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de</a:t>
            </a:r>
            <a:r>
              <a:rPr sz="2800" b="0" spc="-85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“Usabilidade”:</a:t>
            </a:r>
            <a:r>
              <a:rPr sz="2800" b="0" spc="-75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Convergência</a:t>
            </a:r>
            <a:r>
              <a:rPr sz="2800" b="0" spc="-80" dirty="0">
                <a:latin typeface="Arial MT"/>
                <a:cs typeface="Arial MT"/>
              </a:rPr>
              <a:t> </a:t>
            </a:r>
            <a:r>
              <a:rPr sz="2800" b="0" spc="-25" dirty="0">
                <a:latin typeface="Arial MT"/>
                <a:cs typeface="Arial MT"/>
              </a:rPr>
              <a:t>dos </a:t>
            </a:r>
            <a:r>
              <a:rPr sz="2800" b="0" dirty="0">
                <a:latin typeface="Arial MT"/>
                <a:cs typeface="Arial MT"/>
              </a:rPr>
              <a:t>Modelos</a:t>
            </a:r>
            <a:r>
              <a:rPr sz="2800" b="0" spc="-3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de</a:t>
            </a:r>
            <a:r>
              <a:rPr sz="2800" b="0" spc="-45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Design</a:t>
            </a:r>
            <a:r>
              <a:rPr sz="2800" b="0" spc="-3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e</a:t>
            </a:r>
            <a:r>
              <a:rPr sz="2800" b="0" spc="-5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de</a:t>
            </a:r>
            <a:r>
              <a:rPr sz="2800" b="0" spc="-45" dirty="0">
                <a:latin typeface="Arial MT"/>
                <a:cs typeface="Arial MT"/>
              </a:rPr>
              <a:t> </a:t>
            </a:r>
            <a:r>
              <a:rPr sz="2800" b="0" spc="-25" dirty="0">
                <a:latin typeface="Arial MT"/>
                <a:cs typeface="Arial MT"/>
              </a:rPr>
              <a:t>Uso</a:t>
            </a:r>
            <a:endParaRPr sz="280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34464" y="5195317"/>
            <a:ext cx="1072452" cy="1190625"/>
            <a:chOff x="5656950" y="5195316"/>
            <a:chExt cx="1137285" cy="1190625"/>
          </a:xfrm>
        </p:grpSpPr>
        <p:sp>
          <p:nvSpPr>
            <p:cNvPr id="6" name="object 6"/>
            <p:cNvSpPr/>
            <p:nvPr/>
          </p:nvSpPr>
          <p:spPr>
            <a:xfrm>
              <a:off x="5670666" y="5209031"/>
              <a:ext cx="1097280" cy="931544"/>
            </a:xfrm>
            <a:custGeom>
              <a:avLst/>
              <a:gdLst/>
              <a:ahLst/>
              <a:cxnLst/>
              <a:rect l="l" t="t" r="r" b="b"/>
              <a:pathLst>
                <a:path w="1097279" h="931545">
                  <a:moveTo>
                    <a:pt x="1097279" y="777239"/>
                  </a:moveTo>
                  <a:lnTo>
                    <a:pt x="1097279" y="155447"/>
                  </a:lnTo>
                  <a:lnTo>
                    <a:pt x="1089306" y="106509"/>
                  </a:lnTo>
                  <a:lnTo>
                    <a:pt x="1067141" y="63861"/>
                  </a:lnTo>
                  <a:lnTo>
                    <a:pt x="1033418" y="30138"/>
                  </a:lnTo>
                  <a:lnTo>
                    <a:pt x="990770" y="7973"/>
                  </a:lnTo>
                  <a:lnTo>
                    <a:pt x="941831" y="0"/>
                  </a:lnTo>
                  <a:lnTo>
                    <a:pt x="155447" y="0"/>
                  </a:lnTo>
                  <a:lnTo>
                    <a:pt x="106509" y="7973"/>
                  </a:lnTo>
                  <a:lnTo>
                    <a:pt x="63861" y="30138"/>
                  </a:lnTo>
                  <a:lnTo>
                    <a:pt x="30138" y="63861"/>
                  </a:lnTo>
                  <a:lnTo>
                    <a:pt x="7973" y="106509"/>
                  </a:lnTo>
                  <a:lnTo>
                    <a:pt x="0" y="155447"/>
                  </a:lnTo>
                  <a:lnTo>
                    <a:pt x="0" y="777239"/>
                  </a:lnTo>
                  <a:lnTo>
                    <a:pt x="7973" y="826020"/>
                  </a:lnTo>
                  <a:lnTo>
                    <a:pt x="30138" y="868289"/>
                  </a:lnTo>
                  <a:lnTo>
                    <a:pt x="63861" y="901561"/>
                  </a:lnTo>
                  <a:lnTo>
                    <a:pt x="106509" y="923348"/>
                  </a:lnTo>
                  <a:lnTo>
                    <a:pt x="155447" y="931163"/>
                  </a:lnTo>
                  <a:lnTo>
                    <a:pt x="941831" y="931163"/>
                  </a:lnTo>
                  <a:lnTo>
                    <a:pt x="990770" y="923348"/>
                  </a:lnTo>
                  <a:lnTo>
                    <a:pt x="1033418" y="901561"/>
                  </a:lnTo>
                  <a:lnTo>
                    <a:pt x="1067141" y="868289"/>
                  </a:lnTo>
                  <a:lnTo>
                    <a:pt x="1089306" y="826020"/>
                  </a:lnTo>
                  <a:lnTo>
                    <a:pt x="1097279" y="777239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56950" y="5195316"/>
              <a:ext cx="1125220" cy="960119"/>
            </a:xfrm>
            <a:custGeom>
              <a:avLst/>
              <a:gdLst/>
              <a:ahLst/>
              <a:cxnLst/>
              <a:rect l="l" t="t" r="r" b="b"/>
              <a:pathLst>
                <a:path w="1125220" h="960120">
                  <a:moveTo>
                    <a:pt x="1124712" y="806196"/>
                  </a:moveTo>
                  <a:lnTo>
                    <a:pt x="1124712" y="150876"/>
                  </a:lnTo>
                  <a:lnTo>
                    <a:pt x="1121664" y="134112"/>
                  </a:lnTo>
                  <a:lnTo>
                    <a:pt x="1103376" y="86868"/>
                  </a:lnTo>
                  <a:lnTo>
                    <a:pt x="1074420" y="48768"/>
                  </a:lnTo>
                  <a:lnTo>
                    <a:pt x="1036320" y="19812"/>
                  </a:lnTo>
                  <a:lnTo>
                    <a:pt x="989076" y="3048"/>
                  </a:lnTo>
                  <a:lnTo>
                    <a:pt x="972312" y="0"/>
                  </a:lnTo>
                  <a:lnTo>
                    <a:pt x="150876" y="0"/>
                  </a:lnTo>
                  <a:lnTo>
                    <a:pt x="102108" y="13716"/>
                  </a:lnTo>
                  <a:lnTo>
                    <a:pt x="60960" y="38100"/>
                  </a:lnTo>
                  <a:lnTo>
                    <a:pt x="27432" y="74676"/>
                  </a:lnTo>
                  <a:lnTo>
                    <a:pt x="6096" y="118872"/>
                  </a:lnTo>
                  <a:lnTo>
                    <a:pt x="0" y="152400"/>
                  </a:lnTo>
                  <a:lnTo>
                    <a:pt x="0" y="807720"/>
                  </a:lnTo>
                  <a:lnTo>
                    <a:pt x="3048" y="824484"/>
                  </a:lnTo>
                  <a:lnTo>
                    <a:pt x="7620" y="841248"/>
                  </a:lnTo>
                  <a:lnTo>
                    <a:pt x="19812" y="871728"/>
                  </a:lnTo>
                  <a:lnTo>
                    <a:pt x="27432" y="883158"/>
                  </a:lnTo>
                  <a:lnTo>
                    <a:pt x="27432" y="169164"/>
                  </a:lnTo>
                  <a:lnTo>
                    <a:pt x="28956" y="153924"/>
                  </a:lnTo>
                  <a:lnTo>
                    <a:pt x="39624" y="114300"/>
                  </a:lnTo>
                  <a:lnTo>
                    <a:pt x="70104" y="68580"/>
                  </a:lnTo>
                  <a:lnTo>
                    <a:pt x="91440" y="51816"/>
                  </a:lnTo>
                  <a:lnTo>
                    <a:pt x="102108" y="44196"/>
                  </a:lnTo>
                  <a:lnTo>
                    <a:pt x="141732" y="30480"/>
                  </a:lnTo>
                  <a:lnTo>
                    <a:pt x="955548" y="27432"/>
                  </a:lnTo>
                  <a:lnTo>
                    <a:pt x="970788" y="28956"/>
                  </a:lnTo>
                  <a:lnTo>
                    <a:pt x="1010412" y="39624"/>
                  </a:lnTo>
                  <a:lnTo>
                    <a:pt x="1056132" y="70104"/>
                  </a:lnTo>
                  <a:lnTo>
                    <a:pt x="1078992" y="102108"/>
                  </a:lnTo>
                  <a:lnTo>
                    <a:pt x="1094232" y="141732"/>
                  </a:lnTo>
                  <a:lnTo>
                    <a:pt x="1095756" y="155448"/>
                  </a:lnTo>
                  <a:lnTo>
                    <a:pt x="1095756" y="883920"/>
                  </a:lnTo>
                  <a:lnTo>
                    <a:pt x="1104900" y="870204"/>
                  </a:lnTo>
                  <a:lnTo>
                    <a:pt x="1112520" y="854964"/>
                  </a:lnTo>
                  <a:lnTo>
                    <a:pt x="1121664" y="824484"/>
                  </a:lnTo>
                  <a:lnTo>
                    <a:pt x="1124712" y="806196"/>
                  </a:lnTo>
                  <a:close/>
                </a:path>
                <a:path w="1125220" h="960120">
                  <a:moveTo>
                    <a:pt x="1095756" y="883920"/>
                  </a:moveTo>
                  <a:lnTo>
                    <a:pt x="1095756" y="806196"/>
                  </a:lnTo>
                  <a:lnTo>
                    <a:pt x="1089660" y="833628"/>
                  </a:lnTo>
                  <a:lnTo>
                    <a:pt x="1085088" y="845820"/>
                  </a:lnTo>
                  <a:lnTo>
                    <a:pt x="1063752" y="880872"/>
                  </a:lnTo>
                  <a:lnTo>
                    <a:pt x="1033272" y="908304"/>
                  </a:lnTo>
                  <a:lnTo>
                    <a:pt x="996696" y="925068"/>
                  </a:lnTo>
                  <a:lnTo>
                    <a:pt x="153924" y="931164"/>
                  </a:lnTo>
                  <a:lnTo>
                    <a:pt x="126492" y="925068"/>
                  </a:lnTo>
                  <a:lnTo>
                    <a:pt x="79248" y="899160"/>
                  </a:lnTo>
                  <a:lnTo>
                    <a:pt x="51816" y="868680"/>
                  </a:lnTo>
                  <a:lnTo>
                    <a:pt x="33528" y="832104"/>
                  </a:lnTo>
                  <a:lnTo>
                    <a:pt x="27432" y="789432"/>
                  </a:lnTo>
                  <a:lnTo>
                    <a:pt x="27432" y="883158"/>
                  </a:lnTo>
                  <a:lnTo>
                    <a:pt x="60960" y="922020"/>
                  </a:lnTo>
                  <a:lnTo>
                    <a:pt x="118872" y="952500"/>
                  </a:lnTo>
                  <a:lnTo>
                    <a:pt x="169164" y="960120"/>
                  </a:lnTo>
                  <a:lnTo>
                    <a:pt x="955548" y="960120"/>
                  </a:lnTo>
                  <a:lnTo>
                    <a:pt x="969264" y="958977"/>
                  </a:lnTo>
                  <a:lnTo>
                    <a:pt x="970788" y="958850"/>
                  </a:lnTo>
                  <a:lnTo>
                    <a:pt x="972312" y="958723"/>
                  </a:lnTo>
                  <a:lnTo>
                    <a:pt x="1022604" y="946404"/>
                  </a:lnTo>
                  <a:lnTo>
                    <a:pt x="1063752" y="920496"/>
                  </a:lnTo>
                  <a:lnTo>
                    <a:pt x="1086612" y="897636"/>
                  </a:lnTo>
                  <a:lnTo>
                    <a:pt x="1095756" y="883920"/>
                  </a:lnTo>
                  <a:close/>
                </a:path>
              </a:pathLst>
            </a:custGeom>
            <a:solidFill>
              <a:srgbClr val="BBBB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82858" y="6158483"/>
              <a:ext cx="1097280" cy="213360"/>
            </a:xfrm>
            <a:custGeom>
              <a:avLst/>
              <a:gdLst/>
              <a:ahLst/>
              <a:cxnLst/>
              <a:rect l="l" t="t" r="r" b="b"/>
              <a:pathLst>
                <a:path w="1097279" h="213360">
                  <a:moveTo>
                    <a:pt x="1097279" y="176783"/>
                  </a:moveTo>
                  <a:lnTo>
                    <a:pt x="1097279" y="35051"/>
                  </a:lnTo>
                  <a:lnTo>
                    <a:pt x="1094589" y="21216"/>
                  </a:lnTo>
                  <a:lnTo>
                    <a:pt x="1087183" y="10096"/>
                  </a:lnTo>
                  <a:lnTo>
                    <a:pt x="1076063" y="2690"/>
                  </a:lnTo>
                  <a:lnTo>
                    <a:pt x="1062227" y="0"/>
                  </a:lnTo>
                  <a:lnTo>
                    <a:pt x="36575" y="0"/>
                  </a:lnTo>
                  <a:lnTo>
                    <a:pt x="22502" y="2690"/>
                  </a:lnTo>
                  <a:lnTo>
                    <a:pt x="10858" y="10096"/>
                  </a:lnTo>
                  <a:lnTo>
                    <a:pt x="2928" y="21216"/>
                  </a:lnTo>
                  <a:lnTo>
                    <a:pt x="0" y="35051"/>
                  </a:lnTo>
                  <a:lnTo>
                    <a:pt x="0" y="176783"/>
                  </a:lnTo>
                  <a:lnTo>
                    <a:pt x="2928" y="190857"/>
                  </a:lnTo>
                  <a:lnTo>
                    <a:pt x="10858" y="202501"/>
                  </a:lnTo>
                  <a:lnTo>
                    <a:pt x="22502" y="210431"/>
                  </a:lnTo>
                  <a:lnTo>
                    <a:pt x="36575" y="213359"/>
                  </a:lnTo>
                  <a:lnTo>
                    <a:pt x="1062227" y="213359"/>
                  </a:lnTo>
                  <a:lnTo>
                    <a:pt x="1076063" y="210431"/>
                  </a:lnTo>
                  <a:lnTo>
                    <a:pt x="1087183" y="202501"/>
                  </a:lnTo>
                  <a:lnTo>
                    <a:pt x="1094589" y="190857"/>
                  </a:lnTo>
                  <a:lnTo>
                    <a:pt x="1097279" y="176783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69142" y="6144768"/>
              <a:ext cx="1125220" cy="241300"/>
            </a:xfrm>
            <a:custGeom>
              <a:avLst/>
              <a:gdLst/>
              <a:ahLst/>
              <a:cxnLst/>
              <a:rect l="l" t="t" r="r" b="b"/>
              <a:pathLst>
                <a:path w="1125220" h="241300">
                  <a:moveTo>
                    <a:pt x="1524" y="199644"/>
                  </a:moveTo>
                  <a:lnTo>
                    <a:pt x="1524" y="41148"/>
                  </a:lnTo>
                  <a:lnTo>
                    <a:pt x="0" y="48768"/>
                  </a:lnTo>
                  <a:lnTo>
                    <a:pt x="0" y="192024"/>
                  </a:lnTo>
                  <a:lnTo>
                    <a:pt x="1524" y="199644"/>
                  </a:lnTo>
                  <a:close/>
                </a:path>
                <a:path w="1125220" h="241300">
                  <a:moveTo>
                    <a:pt x="1110996" y="227076"/>
                  </a:moveTo>
                  <a:lnTo>
                    <a:pt x="1110996" y="13716"/>
                  </a:lnTo>
                  <a:lnTo>
                    <a:pt x="1109472" y="13716"/>
                  </a:lnTo>
                  <a:lnTo>
                    <a:pt x="1103376" y="7620"/>
                  </a:lnTo>
                  <a:lnTo>
                    <a:pt x="1101852" y="7620"/>
                  </a:lnTo>
                  <a:lnTo>
                    <a:pt x="1095756" y="4572"/>
                  </a:lnTo>
                  <a:lnTo>
                    <a:pt x="1095756" y="3048"/>
                  </a:lnTo>
                  <a:lnTo>
                    <a:pt x="1094232" y="3048"/>
                  </a:lnTo>
                  <a:lnTo>
                    <a:pt x="1086612" y="0"/>
                  </a:lnTo>
                  <a:lnTo>
                    <a:pt x="38100" y="0"/>
                  </a:lnTo>
                  <a:lnTo>
                    <a:pt x="32004" y="3048"/>
                  </a:lnTo>
                  <a:lnTo>
                    <a:pt x="30480" y="3048"/>
                  </a:lnTo>
                  <a:lnTo>
                    <a:pt x="28956" y="4572"/>
                  </a:lnTo>
                  <a:lnTo>
                    <a:pt x="22860" y="7620"/>
                  </a:lnTo>
                  <a:lnTo>
                    <a:pt x="21336" y="7620"/>
                  </a:lnTo>
                  <a:lnTo>
                    <a:pt x="21336" y="9144"/>
                  </a:lnTo>
                  <a:lnTo>
                    <a:pt x="15240" y="13716"/>
                  </a:lnTo>
                  <a:lnTo>
                    <a:pt x="13716" y="13716"/>
                  </a:lnTo>
                  <a:lnTo>
                    <a:pt x="13716" y="15240"/>
                  </a:lnTo>
                  <a:lnTo>
                    <a:pt x="9144" y="19812"/>
                  </a:lnTo>
                  <a:lnTo>
                    <a:pt x="9144" y="21336"/>
                  </a:lnTo>
                  <a:lnTo>
                    <a:pt x="7620" y="21336"/>
                  </a:lnTo>
                  <a:lnTo>
                    <a:pt x="7620" y="22860"/>
                  </a:lnTo>
                  <a:lnTo>
                    <a:pt x="4572" y="28956"/>
                  </a:lnTo>
                  <a:lnTo>
                    <a:pt x="3048" y="30480"/>
                  </a:lnTo>
                  <a:lnTo>
                    <a:pt x="1524" y="38100"/>
                  </a:lnTo>
                  <a:lnTo>
                    <a:pt x="1524" y="202692"/>
                  </a:lnTo>
                  <a:lnTo>
                    <a:pt x="3048" y="208788"/>
                  </a:lnTo>
                  <a:lnTo>
                    <a:pt x="3048" y="210312"/>
                  </a:lnTo>
                  <a:lnTo>
                    <a:pt x="4572" y="210312"/>
                  </a:lnTo>
                  <a:lnTo>
                    <a:pt x="4572" y="211836"/>
                  </a:lnTo>
                  <a:lnTo>
                    <a:pt x="7620" y="217932"/>
                  </a:lnTo>
                  <a:lnTo>
                    <a:pt x="9144" y="219456"/>
                  </a:lnTo>
                  <a:lnTo>
                    <a:pt x="13716" y="225552"/>
                  </a:lnTo>
                  <a:lnTo>
                    <a:pt x="15240" y="227076"/>
                  </a:lnTo>
                  <a:lnTo>
                    <a:pt x="21336" y="231648"/>
                  </a:lnTo>
                  <a:lnTo>
                    <a:pt x="22860" y="231648"/>
                  </a:lnTo>
                  <a:lnTo>
                    <a:pt x="22860" y="233172"/>
                  </a:lnTo>
                  <a:lnTo>
                    <a:pt x="28956" y="236220"/>
                  </a:lnTo>
                  <a:lnTo>
                    <a:pt x="28956" y="42672"/>
                  </a:lnTo>
                  <a:lnTo>
                    <a:pt x="30480" y="39624"/>
                  </a:lnTo>
                  <a:lnTo>
                    <a:pt x="30480" y="38100"/>
                  </a:lnTo>
                  <a:lnTo>
                    <a:pt x="35052" y="33528"/>
                  </a:lnTo>
                  <a:lnTo>
                    <a:pt x="35052" y="33909"/>
                  </a:lnTo>
                  <a:lnTo>
                    <a:pt x="36576" y="32766"/>
                  </a:lnTo>
                  <a:lnTo>
                    <a:pt x="36576" y="32004"/>
                  </a:lnTo>
                  <a:lnTo>
                    <a:pt x="42672" y="28956"/>
                  </a:lnTo>
                  <a:lnTo>
                    <a:pt x="42672" y="29260"/>
                  </a:lnTo>
                  <a:lnTo>
                    <a:pt x="47244" y="27432"/>
                  </a:lnTo>
                  <a:lnTo>
                    <a:pt x="47244" y="28346"/>
                  </a:lnTo>
                  <a:lnTo>
                    <a:pt x="51816" y="27432"/>
                  </a:lnTo>
                  <a:lnTo>
                    <a:pt x="1075944" y="27432"/>
                  </a:lnTo>
                  <a:lnTo>
                    <a:pt x="1078992" y="28194"/>
                  </a:lnTo>
                  <a:lnTo>
                    <a:pt x="1078992" y="27432"/>
                  </a:lnTo>
                  <a:lnTo>
                    <a:pt x="1086612" y="31242"/>
                  </a:lnTo>
                  <a:lnTo>
                    <a:pt x="1086612" y="30480"/>
                  </a:lnTo>
                  <a:lnTo>
                    <a:pt x="1094232" y="38100"/>
                  </a:lnTo>
                  <a:lnTo>
                    <a:pt x="1094232" y="39624"/>
                  </a:lnTo>
                  <a:lnTo>
                    <a:pt x="1097280" y="45720"/>
                  </a:lnTo>
                  <a:lnTo>
                    <a:pt x="1097280" y="235458"/>
                  </a:lnTo>
                  <a:lnTo>
                    <a:pt x="1101852" y="233172"/>
                  </a:lnTo>
                  <a:lnTo>
                    <a:pt x="1103376" y="231648"/>
                  </a:lnTo>
                  <a:lnTo>
                    <a:pt x="1104900" y="231648"/>
                  </a:lnTo>
                  <a:lnTo>
                    <a:pt x="1109472" y="227076"/>
                  </a:lnTo>
                  <a:lnTo>
                    <a:pt x="1110996" y="227076"/>
                  </a:lnTo>
                  <a:close/>
                </a:path>
                <a:path w="1125220" h="241300">
                  <a:moveTo>
                    <a:pt x="30480" y="39624"/>
                  </a:moveTo>
                  <a:lnTo>
                    <a:pt x="28956" y="42672"/>
                  </a:lnTo>
                  <a:lnTo>
                    <a:pt x="30099" y="41148"/>
                  </a:lnTo>
                  <a:lnTo>
                    <a:pt x="30480" y="39624"/>
                  </a:lnTo>
                  <a:close/>
                </a:path>
                <a:path w="1125220" h="241300">
                  <a:moveTo>
                    <a:pt x="30099" y="41148"/>
                  </a:moveTo>
                  <a:lnTo>
                    <a:pt x="28956" y="42672"/>
                  </a:lnTo>
                  <a:lnTo>
                    <a:pt x="28956" y="45720"/>
                  </a:lnTo>
                  <a:lnTo>
                    <a:pt x="30099" y="41148"/>
                  </a:lnTo>
                  <a:close/>
                </a:path>
                <a:path w="1125220" h="241300">
                  <a:moveTo>
                    <a:pt x="30480" y="201168"/>
                  </a:moveTo>
                  <a:lnTo>
                    <a:pt x="28956" y="193548"/>
                  </a:lnTo>
                  <a:lnTo>
                    <a:pt x="28956" y="198120"/>
                  </a:lnTo>
                  <a:lnTo>
                    <a:pt x="30099" y="199644"/>
                  </a:lnTo>
                  <a:lnTo>
                    <a:pt x="30099" y="200406"/>
                  </a:lnTo>
                  <a:lnTo>
                    <a:pt x="30480" y="201168"/>
                  </a:lnTo>
                  <a:close/>
                </a:path>
                <a:path w="1125220" h="241300">
                  <a:moveTo>
                    <a:pt x="33528" y="204216"/>
                  </a:moveTo>
                  <a:lnTo>
                    <a:pt x="28956" y="198120"/>
                  </a:lnTo>
                  <a:lnTo>
                    <a:pt x="30099" y="200406"/>
                  </a:lnTo>
                  <a:lnTo>
                    <a:pt x="30099" y="199263"/>
                  </a:lnTo>
                  <a:lnTo>
                    <a:pt x="30480" y="201168"/>
                  </a:lnTo>
                  <a:lnTo>
                    <a:pt x="33528" y="204216"/>
                  </a:lnTo>
                  <a:close/>
                </a:path>
                <a:path w="1125220" h="241300">
                  <a:moveTo>
                    <a:pt x="35052" y="238506"/>
                  </a:moveTo>
                  <a:lnTo>
                    <a:pt x="35052" y="207264"/>
                  </a:lnTo>
                  <a:lnTo>
                    <a:pt x="30480" y="201168"/>
                  </a:lnTo>
                  <a:lnTo>
                    <a:pt x="28956" y="198120"/>
                  </a:lnTo>
                  <a:lnTo>
                    <a:pt x="28956" y="236220"/>
                  </a:lnTo>
                  <a:lnTo>
                    <a:pt x="30480" y="236220"/>
                  </a:lnTo>
                  <a:lnTo>
                    <a:pt x="30480" y="237744"/>
                  </a:lnTo>
                  <a:lnTo>
                    <a:pt x="32004" y="237744"/>
                  </a:lnTo>
                  <a:lnTo>
                    <a:pt x="35052" y="238506"/>
                  </a:lnTo>
                  <a:close/>
                </a:path>
                <a:path w="1125220" h="241300">
                  <a:moveTo>
                    <a:pt x="33528" y="36576"/>
                  </a:moveTo>
                  <a:lnTo>
                    <a:pt x="30480" y="38100"/>
                  </a:lnTo>
                  <a:lnTo>
                    <a:pt x="30480" y="39624"/>
                  </a:lnTo>
                  <a:lnTo>
                    <a:pt x="30099" y="41148"/>
                  </a:lnTo>
                  <a:lnTo>
                    <a:pt x="33528" y="36576"/>
                  </a:lnTo>
                  <a:close/>
                </a:path>
                <a:path w="1125220" h="241300">
                  <a:moveTo>
                    <a:pt x="35052" y="33909"/>
                  </a:moveTo>
                  <a:lnTo>
                    <a:pt x="35052" y="33528"/>
                  </a:lnTo>
                  <a:lnTo>
                    <a:pt x="33528" y="35052"/>
                  </a:lnTo>
                  <a:lnTo>
                    <a:pt x="35052" y="33909"/>
                  </a:lnTo>
                  <a:close/>
                </a:path>
                <a:path w="1125220" h="241300">
                  <a:moveTo>
                    <a:pt x="39624" y="208788"/>
                  </a:moveTo>
                  <a:lnTo>
                    <a:pt x="33528" y="204216"/>
                  </a:lnTo>
                  <a:lnTo>
                    <a:pt x="35052" y="207264"/>
                  </a:lnTo>
                  <a:lnTo>
                    <a:pt x="35052" y="238506"/>
                  </a:lnTo>
                  <a:lnTo>
                    <a:pt x="36576" y="238887"/>
                  </a:lnTo>
                  <a:lnTo>
                    <a:pt x="36576" y="207264"/>
                  </a:lnTo>
                  <a:lnTo>
                    <a:pt x="39624" y="208788"/>
                  </a:lnTo>
                  <a:close/>
                </a:path>
                <a:path w="1125220" h="241300">
                  <a:moveTo>
                    <a:pt x="39624" y="30480"/>
                  </a:moveTo>
                  <a:lnTo>
                    <a:pt x="36576" y="32004"/>
                  </a:lnTo>
                  <a:lnTo>
                    <a:pt x="36576" y="32766"/>
                  </a:lnTo>
                  <a:lnTo>
                    <a:pt x="39624" y="30480"/>
                  </a:lnTo>
                  <a:close/>
                </a:path>
                <a:path w="1125220" h="241300">
                  <a:moveTo>
                    <a:pt x="41009" y="210589"/>
                  </a:moveTo>
                  <a:lnTo>
                    <a:pt x="36576" y="207264"/>
                  </a:lnTo>
                  <a:lnTo>
                    <a:pt x="36576" y="238887"/>
                  </a:lnTo>
                  <a:lnTo>
                    <a:pt x="38100" y="239268"/>
                  </a:lnTo>
                  <a:lnTo>
                    <a:pt x="39624" y="239268"/>
                  </a:lnTo>
                  <a:lnTo>
                    <a:pt x="39624" y="210312"/>
                  </a:lnTo>
                  <a:lnTo>
                    <a:pt x="41009" y="210589"/>
                  </a:lnTo>
                  <a:close/>
                </a:path>
                <a:path w="1125220" h="241300">
                  <a:moveTo>
                    <a:pt x="42672" y="29260"/>
                  </a:moveTo>
                  <a:lnTo>
                    <a:pt x="42672" y="28956"/>
                  </a:lnTo>
                  <a:lnTo>
                    <a:pt x="39624" y="30480"/>
                  </a:lnTo>
                  <a:lnTo>
                    <a:pt x="42672" y="29260"/>
                  </a:lnTo>
                  <a:close/>
                </a:path>
                <a:path w="1125220" h="241300">
                  <a:moveTo>
                    <a:pt x="42672" y="211836"/>
                  </a:moveTo>
                  <a:lnTo>
                    <a:pt x="41148" y="210616"/>
                  </a:lnTo>
                  <a:lnTo>
                    <a:pt x="39624" y="210312"/>
                  </a:lnTo>
                  <a:lnTo>
                    <a:pt x="42672" y="211836"/>
                  </a:lnTo>
                  <a:close/>
                </a:path>
                <a:path w="1125220" h="241300">
                  <a:moveTo>
                    <a:pt x="42672" y="239522"/>
                  </a:moveTo>
                  <a:lnTo>
                    <a:pt x="42672" y="211836"/>
                  </a:lnTo>
                  <a:lnTo>
                    <a:pt x="39624" y="210312"/>
                  </a:lnTo>
                  <a:lnTo>
                    <a:pt x="39624" y="239268"/>
                  </a:lnTo>
                  <a:lnTo>
                    <a:pt x="41148" y="239268"/>
                  </a:lnTo>
                  <a:lnTo>
                    <a:pt x="42672" y="239522"/>
                  </a:lnTo>
                  <a:close/>
                </a:path>
                <a:path w="1125220" h="241300">
                  <a:moveTo>
                    <a:pt x="47244" y="211836"/>
                  </a:moveTo>
                  <a:lnTo>
                    <a:pt x="41148" y="210616"/>
                  </a:lnTo>
                  <a:lnTo>
                    <a:pt x="42672" y="211836"/>
                  </a:lnTo>
                  <a:lnTo>
                    <a:pt x="42672" y="239522"/>
                  </a:lnTo>
                  <a:lnTo>
                    <a:pt x="44196" y="239776"/>
                  </a:lnTo>
                  <a:lnTo>
                    <a:pt x="44196" y="211836"/>
                  </a:lnTo>
                  <a:lnTo>
                    <a:pt x="47244" y="211836"/>
                  </a:lnTo>
                  <a:close/>
                </a:path>
                <a:path w="1125220" h="241300">
                  <a:moveTo>
                    <a:pt x="47244" y="28346"/>
                  </a:moveTo>
                  <a:lnTo>
                    <a:pt x="47244" y="27432"/>
                  </a:lnTo>
                  <a:lnTo>
                    <a:pt x="44196" y="28956"/>
                  </a:lnTo>
                  <a:lnTo>
                    <a:pt x="47244" y="28346"/>
                  </a:lnTo>
                  <a:close/>
                </a:path>
                <a:path w="1125220" h="241300">
                  <a:moveTo>
                    <a:pt x="1085088" y="239268"/>
                  </a:moveTo>
                  <a:lnTo>
                    <a:pt x="1085088" y="210312"/>
                  </a:lnTo>
                  <a:lnTo>
                    <a:pt x="1082040" y="211836"/>
                  </a:lnTo>
                  <a:lnTo>
                    <a:pt x="44196" y="211836"/>
                  </a:lnTo>
                  <a:lnTo>
                    <a:pt x="44196" y="239776"/>
                  </a:lnTo>
                  <a:lnTo>
                    <a:pt x="50292" y="240792"/>
                  </a:lnTo>
                  <a:lnTo>
                    <a:pt x="1077468" y="240792"/>
                  </a:lnTo>
                  <a:lnTo>
                    <a:pt x="1085088" y="239268"/>
                  </a:lnTo>
                  <a:close/>
                </a:path>
                <a:path w="1125220" h="241300">
                  <a:moveTo>
                    <a:pt x="1082040" y="28956"/>
                  </a:moveTo>
                  <a:lnTo>
                    <a:pt x="1078992" y="27432"/>
                  </a:lnTo>
                  <a:lnTo>
                    <a:pt x="1078992" y="28194"/>
                  </a:lnTo>
                  <a:lnTo>
                    <a:pt x="1082040" y="28956"/>
                  </a:lnTo>
                  <a:close/>
                </a:path>
                <a:path w="1125220" h="241300">
                  <a:moveTo>
                    <a:pt x="1083564" y="210693"/>
                  </a:moveTo>
                  <a:lnTo>
                    <a:pt x="1078992" y="211836"/>
                  </a:lnTo>
                  <a:lnTo>
                    <a:pt x="1082040" y="211836"/>
                  </a:lnTo>
                  <a:lnTo>
                    <a:pt x="1083564" y="210693"/>
                  </a:lnTo>
                  <a:close/>
                </a:path>
                <a:path w="1125220" h="241300">
                  <a:moveTo>
                    <a:pt x="1085088" y="210312"/>
                  </a:moveTo>
                  <a:lnTo>
                    <a:pt x="1083564" y="210693"/>
                  </a:lnTo>
                  <a:lnTo>
                    <a:pt x="1082040" y="211836"/>
                  </a:lnTo>
                  <a:lnTo>
                    <a:pt x="1085088" y="210312"/>
                  </a:lnTo>
                  <a:close/>
                </a:path>
                <a:path w="1125220" h="241300">
                  <a:moveTo>
                    <a:pt x="1088136" y="207264"/>
                  </a:moveTo>
                  <a:lnTo>
                    <a:pt x="1083564" y="210693"/>
                  </a:lnTo>
                  <a:lnTo>
                    <a:pt x="1085088" y="210312"/>
                  </a:lnTo>
                  <a:lnTo>
                    <a:pt x="1085088" y="239268"/>
                  </a:lnTo>
                  <a:lnTo>
                    <a:pt x="1086612" y="239268"/>
                  </a:lnTo>
                  <a:lnTo>
                    <a:pt x="1086612" y="208788"/>
                  </a:lnTo>
                  <a:lnTo>
                    <a:pt x="1088136" y="207264"/>
                  </a:lnTo>
                  <a:close/>
                </a:path>
                <a:path w="1125220" h="241300">
                  <a:moveTo>
                    <a:pt x="1088136" y="32004"/>
                  </a:moveTo>
                  <a:lnTo>
                    <a:pt x="1086612" y="30480"/>
                  </a:lnTo>
                  <a:lnTo>
                    <a:pt x="1086612" y="31242"/>
                  </a:lnTo>
                  <a:lnTo>
                    <a:pt x="1088136" y="32004"/>
                  </a:lnTo>
                  <a:close/>
                </a:path>
                <a:path w="1125220" h="241300">
                  <a:moveTo>
                    <a:pt x="1091184" y="204216"/>
                  </a:moveTo>
                  <a:lnTo>
                    <a:pt x="1086612" y="208788"/>
                  </a:lnTo>
                  <a:lnTo>
                    <a:pt x="1086612" y="239268"/>
                  </a:lnTo>
                  <a:lnTo>
                    <a:pt x="1089660" y="238658"/>
                  </a:lnTo>
                  <a:lnTo>
                    <a:pt x="1089660" y="207264"/>
                  </a:lnTo>
                  <a:lnTo>
                    <a:pt x="1091184" y="204216"/>
                  </a:lnTo>
                  <a:close/>
                </a:path>
                <a:path w="1125220" h="241300">
                  <a:moveTo>
                    <a:pt x="1094232" y="201168"/>
                  </a:moveTo>
                  <a:lnTo>
                    <a:pt x="1089660" y="207264"/>
                  </a:lnTo>
                  <a:lnTo>
                    <a:pt x="1089660" y="238658"/>
                  </a:lnTo>
                  <a:lnTo>
                    <a:pt x="1092708" y="238048"/>
                  </a:lnTo>
                  <a:lnTo>
                    <a:pt x="1092708" y="204216"/>
                  </a:lnTo>
                  <a:lnTo>
                    <a:pt x="1094232" y="201168"/>
                  </a:lnTo>
                  <a:close/>
                </a:path>
                <a:path w="1125220" h="241300">
                  <a:moveTo>
                    <a:pt x="1094232" y="39624"/>
                  </a:moveTo>
                  <a:lnTo>
                    <a:pt x="1094232" y="38100"/>
                  </a:lnTo>
                  <a:lnTo>
                    <a:pt x="1092708" y="36576"/>
                  </a:lnTo>
                  <a:lnTo>
                    <a:pt x="1094232" y="39624"/>
                  </a:lnTo>
                  <a:close/>
                </a:path>
                <a:path w="1125220" h="241300">
                  <a:moveTo>
                    <a:pt x="1095756" y="236220"/>
                  </a:moveTo>
                  <a:lnTo>
                    <a:pt x="1095756" y="198120"/>
                  </a:lnTo>
                  <a:lnTo>
                    <a:pt x="1092708" y="204216"/>
                  </a:lnTo>
                  <a:lnTo>
                    <a:pt x="1092708" y="238048"/>
                  </a:lnTo>
                  <a:lnTo>
                    <a:pt x="1094232" y="237744"/>
                  </a:lnTo>
                  <a:lnTo>
                    <a:pt x="1095756" y="236220"/>
                  </a:lnTo>
                  <a:close/>
                </a:path>
                <a:path w="1125220" h="241300">
                  <a:moveTo>
                    <a:pt x="1097280" y="235458"/>
                  </a:moveTo>
                  <a:lnTo>
                    <a:pt x="1097280" y="193548"/>
                  </a:lnTo>
                  <a:lnTo>
                    <a:pt x="1094232" y="201168"/>
                  </a:lnTo>
                  <a:lnTo>
                    <a:pt x="1095756" y="198120"/>
                  </a:lnTo>
                  <a:lnTo>
                    <a:pt x="1095756" y="236220"/>
                  </a:lnTo>
                  <a:lnTo>
                    <a:pt x="1097280" y="235458"/>
                  </a:lnTo>
                  <a:close/>
                </a:path>
                <a:path w="1125220" h="241300">
                  <a:moveTo>
                    <a:pt x="1097280" y="50292"/>
                  </a:moveTo>
                  <a:lnTo>
                    <a:pt x="1097280" y="45720"/>
                  </a:lnTo>
                  <a:lnTo>
                    <a:pt x="1095756" y="44196"/>
                  </a:lnTo>
                  <a:lnTo>
                    <a:pt x="1097280" y="50292"/>
                  </a:lnTo>
                  <a:close/>
                </a:path>
                <a:path w="1125220" h="241300">
                  <a:moveTo>
                    <a:pt x="1097280" y="193548"/>
                  </a:moveTo>
                  <a:lnTo>
                    <a:pt x="1097280" y="190500"/>
                  </a:lnTo>
                  <a:lnTo>
                    <a:pt x="1095756" y="196596"/>
                  </a:lnTo>
                  <a:lnTo>
                    <a:pt x="1097280" y="193548"/>
                  </a:lnTo>
                  <a:close/>
                </a:path>
                <a:path w="1125220" h="241300">
                  <a:moveTo>
                    <a:pt x="1117092" y="219456"/>
                  </a:moveTo>
                  <a:lnTo>
                    <a:pt x="1117092" y="21336"/>
                  </a:lnTo>
                  <a:lnTo>
                    <a:pt x="1110996" y="15240"/>
                  </a:lnTo>
                  <a:lnTo>
                    <a:pt x="1110996" y="225552"/>
                  </a:lnTo>
                  <a:lnTo>
                    <a:pt x="1115568" y="219456"/>
                  </a:lnTo>
                  <a:lnTo>
                    <a:pt x="1117092" y="219456"/>
                  </a:lnTo>
                  <a:close/>
                </a:path>
                <a:path w="1125220" h="241300">
                  <a:moveTo>
                    <a:pt x="1121664" y="211836"/>
                  </a:moveTo>
                  <a:lnTo>
                    <a:pt x="1121664" y="28956"/>
                  </a:lnTo>
                  <a:lnTo>
                    <a:pt x="1117092" y="22860"/>
                  </a:lnTo>
                  <a:lnTo>
                    <a:pt x="1117092" y="217932"/>
                  </a:lnTo>
                  <a:lnTo>
                    <a:pt x="1121664" y="211836"/>
                  </a:lnTo>
                  <a:close/>
                </a:path>
                <a:path w="1125220" h="241300">
                  <a:moveTo>
                    <a:pt x="1124712" y="202692"/>
                  </a:moveTo>
                  <a:lnTo>
                    <a:pt x="1124712" y="38100"/>
                  </a:lnTo>
                  <a:lnTo>
                    <a:pt x="1121664" y="30480"/>
                  </a:lnTo>
                  <a:lnTo>
                    <a:pt x="1121664" y="208788"/>
                  </a:lnTo>
                  <a:lnTo>
                    <a:pt x="1124712" y="202692"/>
                  </a:lnTo>
                  <a:close/>
                </a:path>
              </a:pathLst>
            </a:custGeom>
            <a:solidFill>
              <a:srgbClr val="BBBB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04293" y="4745225"/>
            <a:ext cx="185209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F007F"/>
                </a:solidFill>
                <a:latin typeface="Comic Sans MS"/>
                <a:cs typeface="Comic Sans MS"/>
              </a:rPr>
              <a:t>Imagem</a:t>
            </a:r>
            <a:r>
              <a:rPr sz="1600" spc="24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7F007F"/>
                </a:solidFill>
                <a:latin typeface="Comic Sans MS"/>
                <a:cs typeface="Comic Sans MS"/>
              </a:rPr>
              <a:t>do</a:t>
            </a:r>
            <a:r>
              <a:rPr sz="1600" spc="25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7F007F"/>
                </a:solidFill>
                <a:latin typeface="Comic Sans MS"/>
                <a:cs typeface="Comic Sans MS"/>
              </a:rPr>
              <a:t>Sistema</a:t>
            </a:r>
            <a:endParaRPr sz="1600">
              <a:latin typeface="Comic Sans MS"/>
              <a:cs typeface="Comic Sans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0398" y="1802892"/>
            <a:ext cx="5084535" cy="426110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078421" y="1838960"/>
            <a:ext cx="70598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“modelo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03092" y="2052320"/>
            <a:ext cx="1055086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conceitual” </a:t>
            </a:r>
            <a:r>
              <a:rPr sz="1400" b="1" dirty="0">
                <a:latin typeface="Arial"/>
                <a:cs typeface="Arial"/>
              </a:rPr>
              <a:t>do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que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estão </a:t>
            </a:r>
            <a:r>
              <a:rPr sz="1400" b="1" dirty="0">
                <a:latin typeface="Arial"/>
                <a:cs typeface="Arial"/>
              </a:rPr>
              <a:t>vendo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e </a:t>
            </a:r>
            <a:r>
              <a:rPr sz="1400" b="1" spc="-10" dirty="0">
                <a:latin typeface="Arial"/>
                <a:cs typeface="Arial"/>
              </a:rPr>
              <a:t>usando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67278" y="3783582"/>
            <a:ext cx="120842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F007F"/>
                </a:solidFill>
                <a:latin typeface="Comic Sans MS"/>
                <a:cs typeface="Comic Sans MS"/>
              </a:rPr>
              <a:t>Usuários</a:t>
            </a:r>
            <a:endParaRPr sz="1600" dirty="0">
              <a:latin typeface="Comic Sans MS"/>
              <a:cs typeface="Comic Sans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4594" y="2132076"/>
            <a:ext cx="1287661" cy="159867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981191" y="3821682"/>
            <a:ext cx="1709575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286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F007F"/>
                </a:solidFill>
                <a:latin typeface="Comic Sans MS"/>
                <a:cs typeface="Comic Sans MS"/>
              </a:rPr>
              <a:t>Designers</a:t>
            </a:r>
            <a:r>
              <a:rPr sz="1600" spc="225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7F007F"/>
                </a:solidFill>
                <a:latin typeface="Comic Sans MS"/>
                <a:cs typeface="Comic Sans MS"/>
              </a:rPr>
              <a:t>de</a:t>
            </a:r>
            <a:r>
              <a:rPr sz="1600" spc="210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600" spc="-25" dirty="0">
                <a:solidFill>
                  <a:srgbClr val="7F007F"/>
                </a:solidFill>
                <a:latin typeface="Comic Sans MS"/>
                <a:cs typeface="Comic Sans MS"/>
              </a:rPr>
              <a:t>IHC </a:t>
            </a:r>
            <a:r>
              <a:rPr sz="1600" dirty="0">
                <a:solidFill>
                  <a:srgbClr val="7F007F"/>
                </a:solidFill>
                <a:latin typeface="Comic Sans MS"/>
                <a:cs typeface="Comic Sans MS"/>
              </a:rPr>
              <a:t>e</a:t>
            </a:r>
            <a:r>
              <a:rPr sz="1600" spc="229" dirty="0">
                <a:solidFill>
                  <a:srgbClr val="7F007F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7F007F"/>
                </a:solidFill>
                <a:latin typeface="Comic Sans MS"/>
                <a:cs typeface="Comic Sans MS"/>
              </a:rPr>
              <a:t>Desenvolvedores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92561" y="2029460"/>
            <a:ext cx="939518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“</a:t>
            </a:r>
            <a:r>
              <a:rPr sz="1400" b="1" spc="-10" dirty="0" err="1">
                <a:latin typeface="Arial"/>
                <a:cs typeface="Arial"/>
              </a:rPr>
              <a:t>modelo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spc="-10" dirty="0" err="1">
                <a:latin typeface="Arial"/>
                <a:cs typeface="Arial"/>
              </a:rPr>
              <a:t>conceitual</a:t>
            </a:r>
            <a:r>
              <a:rPr lang="pt-BR" sz="1400" b="1" spc="-10" dirty="0">
                <a:latin typeface="Arial"/>
                <a:cs typeface="Arial"/>
              </a:rPr>
              <a:t> do Designer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28612" y="2522221"/>
            <a:ext cx="1131014" cy="119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626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Mentais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25" y="2073275"/>
            <a:ext cx="8439150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3405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1089F-6AAF-4FA6-865A-BA1642E20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700" y="635569"/>
            <a:ext cx="6096000" cy="861774"/>
          </a:xfrm>
        </p:spPr>
        <p:txBody>
          <a:bodyPr/>
          <a:lstStyle/>
          <a:p>
            <a:r>
              <a:rPr lang="pt-BR" dirty="0"/>
              <a:t>Exercício: </a:t>
            </a:r>
            <a:r>
              <a:rPr lang="pt-BR" b="1" dirty="0"/>
              <a:t>Projeto – </a:t>
            </a:r>
            <a:r>
              <a:rPr lang="pt-BR" b="1" dirty="0" err="1"/>
              <a:t>ContentNow</a:t>
            </a:r>
            <a:br>
              <a:rPr lang="pt-BR" b="1" dirty="0"/>
            </a:br>
            <a:r>
              <a:rPr lang="pt-BR" dirty="0"/>
              <a:t>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DE86D5-0815-4260-8558-EE5207A5C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700" y="1492250"/>
            <a:ext cx="8988175" cy="5478423"/>
          </a:xfrm>
        </p:spPr>
        <p:txBody>
          <a:bodyPr/>
          <a:lstStyle/>
          <a:p>
            <a:r>
              <a:rPr lang="pt-BR" sz="1200" dirty="0"/>
              <a:t>A empresa </a:t>
            </a:r>
            <a:r>
              <a:rPr lang="pt-BR" sz="1200" dirty="0" err="1"/>
              <a:t>ContentNow</a:t>
            </a:r>
            <a:r>
              <a:rPr lang="pt-BR" sz="1200" dirty="0"/>
              <a:t> – CN está no mercado de geração de conteúdos digitais e quer expandir seus negócios para oferecer soluções educacionais baseadas em treinamentos remotos. No primeiro ano, a CN espera ofertar capacitação profissional – técnica e comportamental - para aproximadamente 5.000 alunos, com a previsão de expansão de 40% ao ano. De início, a CN divulgará seus serviços em instituições de ensino ou empresas por intermédio de contatos por telefone, WhatsApp, </a:t>
            </a:r>
            <a:r>
              <a:rPr lang="pt-BR" sz="1200" dirty="0" err="1"/>
              <a:t>Linkedin</a:t>
            </a:r>
            <a:r>
              <a:rPr lang="pt-BR" sz="1200" dirty="0"/>
              <a:t>, e-mail e palestras.</a:t>
            </a:r>
          </a:p>
          <a:p>
            <a:r>
              <a:rPr lang="pt-BR" sz="1200" dirty="0"/>
              <a:t>Após o fechamento de contratos com as empresas/instituições, os treinandos devem acessar o site da CN, se inscrever e preencher um formulário. Esse formulário é iniciado pelo aceite de um termo de ciência baseado na LGPD, informando que os dados passarão a fazer parte da base de dados da CN. O andamento dos treinamentos, que, em alguns casos, possuem pré-requisitos para serem cursados, será gerenciado por intermédio de uma plataforma, a ser adquirida pela CN com a emissão de certificado e “</a:t>
            </a:r>
            <a:r>
              <a:rPr lang="pt-BR" sz="1200" dirty="0" err="1"/>
              <a:t>badges</a:t>
            </a:r>
            <a:r>
              <a:rPr lang="pt-BR" sz="1200" dirty="0"/>
              <a:t>” para que o aluno possa inserir em ferramentas como o </a:t>
            </a:r>
            <a:r>
              <a:rPr lang="pt-BR" sz="1200" dirty="0" err="1"/>
              <a:t>Linkedin</a:t>
            </a:r>
            <a:r>
              <a:rPr lang="pt-BR" sz="1200" dirty="0"/>
              <a:t>, por exemplo.</a:t>
            </a:r>
          </a:p>
          <a:p>
            <a:r>
              <a:rPr lang="pt-BR" sz="1200" dirty="0"/>
              <a:t>Além de novas empresas captadas, pessoas físicas poderão acessar a plataforma, mediante o pagamento de licença. A geração de conteúdo e </a:t>
            </a:r>
            <a:r>
              <a:rPr lang="pt-BR" sz="1200" dirty="0" err="1"/>
              <a:t>mentorização</a:t>
            </a:r>
            <a:r>
              <a:rPr lang="pt-BR" sz="1200" dirty="0"/>
              <a:t> de treinamentos específicos será realizada por profissionais terceirizados.</a:t>
            </a:r>
          </a:p>
          <a:p>
            <a:r>
              <a:rPr lang="pt-BR" sz="1200" dirty="0"/>
              <a:t>Você é o responsável pela administração dessa nova área da CN que integra o negócio atual e o futuro e foi encarregado de conduzir o projeto da expansão.</a:t>
            </a:r>
          </a:p>
          <a:p>
            <a:r>
              <a:rPr lang="pt-BR" sz="1200" dirty="0"/>
              <a:t>A empresa </a:t>
            </a:r>
            <a:r>
              <a:rPr lang="pt-BR" sz="1200" dirty="0" err="1"/>
              <a:t>ContentNow</a:t>
            </a:r>
            <a:r>
              <a:rPr lang="pt-BR" sz="1200" dirty="0"/>
              <a:t> – CN está no mercado de geração de conteúdos digitais e quer expandir seus negócios para oferecer soluções educacionais baseadas em treinamentos remotos. No primeiro ano, a CN espera ofertar capacitação profissional – técnica e comportamental - para aproximadamente 5.000 alunos, com a previsão de expansão de 40% ao ano. De início, a CN divulgará seus serviços em instituições de ensino ou empresas por intermédio de contatos por telefone, WhatsApp, </a:t>
            </a:r>
            <a:r>
              <a:rPr lang="pt-BR" sz="1200" dirty="0" err="1"/>
              <a:t>Linkedin</a:t>
            </a:r>
            <a:r>
              <a:rPr lang="pt-BR" sz="1200" dirty="0"/>
              <a:t>, e-mail e palestras.</a:t>
            </a:r>
          </a:p>
          <a:p>
            <a:r>
              <a:rPr lang="pt-BR" sz="1200" dirty="0"/>
              <a:t>Após o fechamento de contratos com as empresas/instituições, os treinandos devem acessar o site da CN, se inscrever e preencher um formulário. Esse formulário é iniciado pelo aceite de um termo de ciência baseado na LGPD, informando que os dados passarão a fazer parte da base de dados da CN. O andamento dos treinamentos, que, em alguns casos, possuem pré-requisitos para serem cursados, será gerenciado por intermédio de uma plataforma, a ser adquirida pela CN com a emissão de certificado e “</a:t>
            </a:r>
            <a:r>
              <a:rPr lang="pt-BR" sz="1200" dirty="0" err="1"/>
              <a:t>badges</a:t>
            </a:r>
            <a:r>
              <a:rPr lang="pt-BR" sz="1200" dirty="0"/>
              <a:t>” para que o aluno possa inserir em ferramentas como o </a:t>
            </a:r>
            <a:r>
              <a:rPr lang="pt-BR" sz="1200" dirty="0" err="1"/>
              <a:t>Linkedin</a:t>
            </a:r>
            <a:r>
              <a:rPr lang="pt-BR" sz="1200" dirty="0"/>
              <a:t>, por exemplo.</a:t>
            </a:r>
          </a:p>
          <a:p>
            <a:r>
              <a:rPr lang="pt-BR" sz="1200" dirty="0"/>
              <a:t>Além de novas empresas captadas, pessoas físicas poderão acessar a plataforma, mediante o pagamento de licença. A geração de conteúdo e </a:t>
            </a:r>
            <a:r>
              <a:rPr lang="pt-BR" sz="1200" dirty="0" err="1"/>
              <a:t>mentorização</a:t>
            </a:r>
            <a:r>
              <a:rPr lang="pt-BR" sz="1200" dirty="0"/>
              <a:t> de treinamentos específicos será realizada por profissionais terceirizados.</a:t>
            </a:r>
          </a:p>
          <a:p>
            <a:r>
              <a:rPr lang="pt-BR" sz="1200" dirty="0"/>
              <a:t>Você é o responsável pela administração dessa nova área da CN que integra o negócio atual e o futuro e foi encarregado de conduzir o projeto da expansão.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56504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1F4B4-F978-4C5F-BFBA-2D0C896E8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0" y="789402"/>
            <a:ext cx="6096000" cy="430887"/>
          </a:xfrm>
        </p:spPr>
        <p:txBody>
          <a:bodyPr/>
          <a:lstStyle/>
          <a:p>
            <a:r>
              <a:rPr lang="pt-BR"/>
              <a:t>Exercício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2491EB-B3B3-42B4-88D9-B5A8ACFA6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2729" y="1573760"/>
            <a:ext cx="7092792" cy="615553"/>
          </a:xfrm>
        </p:spPr>
        <p:txBody>
          <a:bodyPr/>
          <a:lstStyle/>
          <a:p>
            <a:r>
              <a:rPr lang="pt-BR" dirty="0"/>
              <a:t>1.Pedir para IA gerar a EAP.</a:t>
            </a:r>
          </a:p>
          <a:p>
            <a:r>
              <a:rPr lang="pt-BR" dirty="0"/>
              <a:t>2. Gerar um </a:t>
            </a:r>
            <a:r>
              <a:rPr lang="pt-BR" dirty="0" err="1"/>
              <a:t>Tempete</a:t>
            </a:r>
            <a:r>
              <a:rPr lang="pt-BR" dirty="0"/>
              <a:t> de Gerenciamento de Projetos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528DE7A-479C-4B0A-AED1-C4BF796CD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325" y="2526211"/>
            <a:ext cx="74676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556589"/>
      </p:ext>
    </p:extLst>
  </p:cSld>
  <p:clrMapOvr>
    <a:masterClrMapping/>
  </p:clrMapOvr>
</p:sld>
</file>

<file path=ppt/theme/theme1.xml><?xml version="1.0" encoding="utf-8"?>
<a:theme xmlns:a="http://schemas.openxmlformats.org/drawingml/2006/main" name="puc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puc</Template>
  <TotalTime>445</TotalTime>
  <Words>3359</Words>
  <Application>Microsoft Office PowerPoint</Application>
  <PresentationFormat>Personalizar</PresentationFormat>
  <Paragraphs>265</Paragraphs>
  <Slides>46</Slides>
  <Notes>0</Notes>
  <HiddenSlides>12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4" baseType="lpstr">
      <vt:lpstr>Arial</vt:lpstr>
      <vt:lpstr>Arial MT</vt:lpstr>
      <vt:lpstr>Calibri</vt:lpstr>
      <vt:lpstr>Comic Sans MS</vt:lpstr>
      <vt:lpstr>Microsoft Sans Serif</vt:lpstr>
      <vt:lpstr>Trebuchet MS</vt:lpstr>
      <vt:lpstr>Verdana</vt:lpstr>
      <vt:lpstr>puc</vt:lpstr>
      <vt:lpstr>Bases Teóricas de IHC</vt:lpstr>
      <vt:lpstr>Introdução</vt:lpstr>
      <vt:lpstr>Psicologia experimental: Lei de Hick-Hyman</vt:lpstr>
      <vt:lpstr>Lei de Hick-Hyman</vt:lpstr>
      <vt:lpstr>Exemplo</vt:lpstr>
      <vt:lpstr>Lei de Fitts</vt:lpstr>
      <vt:lpstr>Lei de Fitts exemplos em IHC</vt:lpstr>
      <vt:lpstr>Psicologia Cognitiva Aplicada</vt:lpstr>
      <vt:lpstr>Psicologia Cognitiva Aplicada</vt:lpstr>
      <vt:lpstr>Psicologia Cognitiva Aplicada</vt:lpstr>
      <vt:lpstr>Processador Humano de Informação</vt:lpstr>
      <vt:lpstr>Processador Humano de Informação</vt:lpstr>
      <vt:lpstr>Processador Humano de Informação</vt:lpstr>
      <vt:lpstr>Princípios de Gestalt</vt:lpstr>
      <vt:lpstr>Princípios de Gestalt</vt:lpstr>
      <vt:lpstr>Princípios de Gestalt</vt:lpstr>
      <vt:lpstr>Engenharia Cognitiva</vt:lpstr>
      <vt:lpstr>Engenharia Cognitiva  </vt:lpstr>
      <vt:lpstr>Engenharia Cognitiva</vt:lpstr>
      <vt:lpstr>Engenharia Cognitiva</vt:lpstr>
      <vt:lpstr>Engenharia Cognitiva</vt:lpstr>
      <vt:lpstr>Engenharia Cognitiva</vt:lpstr>
      <vt:lpstr>Engenharia Cognitiva</vt:lpstr>
      <vt:lpstr>Engenharia Cognitiva</vt:lpstr>
      <vt:lpstr>Engenharia Cognitiva</vt:lpstr>
      <vt:lpstr>IHC como travessia de 2 golfos</vt:lpstr>
      <vt:lpstr>Golfos</vt:lpstr>
      <vt:lpstr>Teoria da Ação: sete passos</vt:lpstr>
      <vt:lpstr>Teoria da Ação</vt:lpstr>
      <vt:lpstr>Teoria da Ação</vt:lpstr>
      <vt:lpstr>Teoria da Ação</vt:lpstr>
      <vt:lpstr>Teoria da Ação</vt:lpstr>
      <vt:lpstr>Teoria da Ação</vt:lpstr>
      <vt:lpstr>Resumindo</vt:lpstr>
      <vt:lpstr>Engenharia Cognitiva e os Modelos Mentais</vt:lpstr>
      <vt:lpstr>Modelos Mentais</vt:lpstr>
      <vt:lpstr>Modelo Mentais</vt:lpstr>
      <vt:lpstr>Modelo Mental MM</vt:lpstr>
      <vt:lpstr>Importância para o design da UX</vt:lpstr>
      <vt:lpstr>Engenharia Cognitiva e os MM</vt:lpstr>
      <vt:lpstr>Modelo da Interação</vt:lpstr>
      <vt:lpstr>Modelo do Usuário e Imagem do Sistema</vt:lpstr>
      <vt:lpstr>Medida de “Usabilidade”: Convergência dos Modelos de Design e de Uso</vt:lpstr>
      <vt:lpstr>Modelos Mentais</vt:lpstr>
      <vt:lpstr>Exercício: Projeto – ContentNow  </vt:lpstr>
      <vt:lpstr>Exercício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IHC</dc:title>
  <dc:creator>Joao Paulo</dc:creator>
  <cp:lastModifiedBy>CECILIA SOSA ARIAS PEIXOTO</cp:lastModifiedBy>
  <cp:revision>49</cp:revision>
  <dcterms:created xsi:type="dcterms:W3CDTF">2025-09-16T15:09:37Z</dcterms:created>
  <dcterms:modified xsi:type="dcterms:W3CDTF">2025-09-19T11:40:47Z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2013-12-06T00:00:00Z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3.5</vt:lpwstr>
  </property>
  <property fmtid="{D5CDD505-2E9C-101B-9397-08002B2CF9AE}" pid="5" name="LastSaved">
    <vt:filetime>2013-12-06T00:00:00Z</vt:filetime>
  </property>
</Properties>
</file>