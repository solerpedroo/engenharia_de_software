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73" r:id="rId2"/>
  </p:sldMasterIdLst>
  <p:notesMasterIdLst>
    <p:notesMasterId r:id="rId31"/>
  </p:notesMasterIdLst>
  <p:sldIdLst>
    <p:sldId id="256" r:id="rId3"/>
    <p:sldId id="341" r:id="rId4"/>
    <p:sldId id="312" r:id="rId5"/>
    <p:sldId id="313" r:id="rId6"/>
    <p:sldId id="314" r:id="rId7"/>
    <p:sldId id="349" r:id="rId8"/>
    <p:sldId id="350" r:id="rId9"/>
    <p:sldId id="351" r:id="rId10"/>
    <p:sldId id="352" r:id="rId11"/>
    <p:sldId id="355" r:id="rId12"/>
    <p:sldId id="356" r:id="rId13"/>
    <p:sldId id="357" r:id="rId14"/>
    <p:sldId id="358" r:id="rId15"/>
    <p:sldId id="266" r:id="rId16"/>
    <p:sldId id="270" r:id="rId17"/>
    <p:sldId id="315" r:id="rId18"/>
    <p:sldId id="316" r:id="rId19"/>
    <p:sldId id="331" r:id="rId20"/>
    <p:sldId id="332" r:id="rId21"/>
    <p:sldId id="333" r:id="rId22"/>
    <p:sldId id="359" r:id="rId23"/>
    <p:sldId id="360" r:id="rId24"/>
    <p:sldId id="361" r:id="rId25"/>
    <p:sldId id="362" r:id="rId26"/>
    <p:sldId id="363" r:id="rId27"/>
    <p:sldId id="364" r:id="rId28"/>
    <p:sldId id="334" r:id="rId29"/>
    <p:sldId id="354" r:id="rId30"/>
  </p:sldIdLst>
  <p:sldSz cx="9144000" cy="6858000" type="screen4x3"/>
  <p:notesSz cx="6858000" cy="9144000"/>
  <p:embeddedFontLst>
    <p:embeddedFont>
      <p:font typeface="Tahoma" panose="020B0604030504040204" pitchFamily="3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8" roundtripDataSignature="AMtx7mhHNwP3urIr9gzmm5qxfTKLQpDy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B36B58-D790-4100-9D16-017C47366C89}">
  <a:tblStyle styleId="{5AB36B58-D790-4100-9D16-017C47366C8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TxStyle/>
      <a:tcStyle>
        <a:tcBdr/>
        <a:fill>
          <a:solidFill>
            <a:srgbClr val="CAECD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ECD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8085FEB-06EA-4B87-B1C0-2A6BB46CB8D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12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1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12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118" Type="http://customschemas.google.com/relationships/presentationmetadata" Target="metadata"/><Relationship Id="rId8" Type="http://schemas.openxmlformats.org/officeDocument/2006/relationships/slide" Target="slides/slide6.xml"/><Relationship Id="rId121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409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35AE452-8459-48B2-A2A8-C0F717E78607}" type="slidenum">
              <a:rPr lang="pt-BR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14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216000" indent="0">
              <a:buNone/>
            </a:pPr>
            <a:endParaRPr lang="pt-BR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pt-B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4DA267-733F-46B6-A949-938AB92760F0}" type="slidenum">
              <a:rPr lang="pt-BR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pt-BR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7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7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FONTE: https://www.devmedia.com.br/ciclos-de-vida-do-software/21099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28</a:t>
            </a:fld>
            <a:endParaRPr lang="pt-BR"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476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0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0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0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7" name="Google Shape;77;p10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78" name="Google Shape;78;p1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0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5" name="Google Shape;85;p10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6" name="Google Shape;86;p10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87" name="Google Shape;87;p10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0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0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0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0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0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0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0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10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3" name="Google Shape;103;p1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0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0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10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0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0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0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0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0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0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1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0EF6B-3390-4804-A962-5FF362DACB7D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B05A4-6756-41C3-8612-B06641989E69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F386F43-D2F0-40AB-B053-22AF654D74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420" y="197949"/>
            <a:ext cx="221297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71950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314220" cy="1095375"/>
          </a:xfrm>
        </p:spPr>
        <p:txBody>
          <a:bodyPr/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DC1B2-A2DD-4F16-8B5E-F039C7AA7F16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C92AB-3152-4B82-942B-9E4A1BB3EF87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7E9F219-4ED5-4E33-BFE4-5052AAC87F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420" y="197949"/>
            <a:ext cx="221297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49160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FE2768-6FA1-4D10-A253-5729E03C9AD8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3E84F-4C6C-4AFF-9537-F4AACDB17ACF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018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05EA6-85DC-45F8-83D7-D1E505E9E31E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D4DC73-1CBB-4D41-B3AF-49E408A0958C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768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A9050F-3495-4DF0-9219-486690FF0FA2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B0CF7-969C-4516-88C3-17598C15EE15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0394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9D01F-FF1C-46BF-B18C-C94BE3381AF6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4AD50-2CC9-4DAB-86BD-BCC4C1F1FA56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715823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894D4-58F9-4C21-B169-9664D3A010EE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83793F-7911-4742-B168-1B2C7BD1E057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3983787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D7F82-CAA4-4A01-AC9D-D77982175787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73186-5A95-48BC-8E77-5CD59DE03A29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17616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B83D2-7380-41EC-A5A5-5DA487D8180F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EF799-FFA2-4593-94FF-9EBC6CD42228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8835866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4D663-F850-40C3-BA17-07E878618CF0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BC67D4-7F8D-47B4-98AF-945381D9FBD7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05389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58BD9-6991-4751-BC95-02412D02A87A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60233-C039-485C-BAF1-3E5EEE12B2A2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009668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9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9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 título Mestre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en-US"/>
              <a:t>Clique para editar os estilos de texto Mestres</a:t>
            </a:r>
          </a:p>
          <a:p>
            <a:pPr lvl="1"/>
            <a:r>
              <a:rPr lang="pt-BR" altLang="en-US"/>
              <a:t>Segundo nível</a:t>
            </a:r>
          </a:p>
          <a:p>
            <a:pPr lvl="2"/>
            <a:r>
              <a:rPr lang="pt-BR" altLang="en-US"/>
              <a:t>Terceiro nível</a:t>
            </a:r>
          </a:p>
          <a:p>
            <a:pPr lvl="3"/>
            <a:r>
              <a:rPr lang="pt-BR" altLang="en-US"/>
              <a:t>Quarto nível</a:t>
            </a:r>
          </a:p>
          <a:p>
            <a:pPr lvl="4"/>
            <a:r>
              <a:rPr lang="pt-BR" altLang="en-US"/>
              <a:t>Quinto nível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8ECFCA8-F711-4755-BC64-26EC2929BBA3}" type="datetime1">
              <a:rPr lang="en-US"/>
              <a:pPr>
                <a:defRPr/>
              </a:pPr>
              <a:t>8/11/2025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6B19500-AB0F-4E5D-9D98-247C7D240DDD}" type="slidenum">
              <a:rPr lang="en-US" altLang="en-US"/>
              <a:pPr>
                <a:defRPr/>
              </a:pPr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4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aI2xtwMqcM" TargetMode="External"/><Relationship Id="rId2" Type="http://schemas.openxmlformats.org/officeDocument/2006/relationships/hyperlink" Target="https://www.youtube.com/watch?v=xSZUUIe5NpI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recantodasletras.com.br/resenhasdefilmes/14330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"/>
          <p:cNvSpPr txBox="1">
            <a:spLocks noGrp="1"/>
          </p:cNvSpPr>
          <p:nvPr>
            <p:ph type="ctrTitle"/>
          </p:nvPr>
        </p:nvSpPr>
        <p:spPr>
          <a:xfrm>
            <a:off x="304800" y="1066800"/>
            <a:ext cx="8534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 b="1" dirty="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pt-BR" sz="4500" b="1" dirty="0">
                <a:latin typeface="Arial"/>
                <a:ea typeface="Arial"/>
                <a:cs typeface="Arial"/>
                <a:sym typeface="Arial"/>
              </a:rPr>
            </a:br>
            <a:r>
              <a:rPr lang="pt-BR" sz="4500" b="1" dirty="0">
                <a:latin typeface="Arial"/>
                <a:ea typeface="Arial"/>
                <a:cs typeface="Arial"/>
                <a:sym typeface="Arial"/>
              </a:rPr>
              <a:t>Métodos de Engenharia de Software</a:t>
            </a:r>
            <a:br>
              <a:rPr lang="pt-BR" sz="4000" b="1" dirty="0">
                <a:latin typeface="Arial"/>
                <a:ea typeface="Arial"/>
                <a:cs typeface="Arial"/>
                <a:sym typeface="Arial"/>
              </a:rPr>
            </a:br>
            <a:endParaRPr dirty="0"/>
          </a:p>
        </p:txBody>
      </p:sp>
      <p:sp>
        <p:nvSpPr>
          <p:cNvPr id="131" name="Google Shape;131;p1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pt-BR" dirty="0"/>
              <a:t>Aula 2</a:t>
            </a:r>
            <a:endParaRPr dirty="0"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pt-BR" dirty="0"/>
              <a:t>Fundamentos Básicos da Engenharia de Software</a:t>
            </a: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pt-BR" dirty="0"/>
              <a:t>Prof. Cecilia </a:t>
            </a:r>
            <a:r>
              <a:rPr lang="pt-BR" dirty="0" err="1"/>
              <a:t>Sosa</a:t>
            </a:r>
            <a:r>
              <a:rPr lang="pt-BR" dirty="0"/>
              <a:t> Arias Peixoto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420" y="197949"/>
            <a:ext cx="221297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 deu errado neste sistema?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 o vídeo: </a:t>
            </a:r>
            <a:r>
              <a:rPr lang="pt-BR" dirty="0">
                <a:hlinkClick r:id="rId2"/>
              </a:rPr>
              <a:t>https://www.youtube.com/watch?v=xSZUUIe5NpI</a:t>
            </a:r>
            <a:endParaRPr lang="pt-BR" dirty="0"/>
          </a:p>
          <a:p>
            <a:r>
              <a:rPr lang="en-US" dirty="0">
                <a:hlinkClick r:id="rId3"/>
              </a:rPr>
              <a:t>Minority Report (2002) - Official Trailer (youtube.com)</a:t>
            </a:r>
            <a:endParaRPr lang="pt-BR" dirty="0"/>
          </a:p>
          <a:p>
            <a:r>
              <a:rPr lang="pt-BR" dirty="0" err="1">
                <a:hlinkClick r:id="rId4"/>
              </a:rPr>
              <a:t>Minority</a:t>
            </a:r>
            <a:r>
              <a:rPr lang="pt-BR" dirty="0">
                <a:hlinkClick r:id="rId4"/>
              </a:rPr>
              <a:t> </a:t>
            </a:r>
            <a:r>
              <a:rPr lang="pt-BR" dirty="0" err="1">
                <a:hlinkClick r:id="rId4"/>
              </a:rPr>
              <a:t>Report</a:t>
            </a:r>
            <a:r>
              <a:rPr lang="pt-BR" dirty="0">
                <a:hlinkClick r:id="rId4"/>
              </a:rPr>
              <a:t> - Resenha sobre características da Modernidade (recantodasletras.com.br)</a:t>
            </a:r>
            <a:endParaRPr lang="pt-BR" dirty="0"/>
          </a:p>
          <a:p>
            <a:r>
              <a:rPr lang="pt-BR" dirty="0"/>
              <a:t>Análise? </a:t>
            </a:r>
            <a:r>
              <a:rPr lang="pt-BR"/>
              <a:t>Projeto? Codificação</a:t>
            </a:r>
            <a:r>
              <a:rPr lang="pt-BR" dirty="0"/>
              <a:t>?</a:t>
            </a:r>
          </a:p>
          <a:p>
            <a:r>
              <a:rPr lang="pt-BR" dirty="0"/>
              <a:t>Teste?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37396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Ciclo de Vida em Espiral</a:t>
            </a:r>
            <a:endParaRPr/>
          </a:p>
        </p:txBody>
      </p:sp>
      <p:sp>
        <p:nvSpPr>
          <p:cNvPr id="890" name="Google Shape;890;p5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/>
              <a:t>Engloba as melhores características do ciclo de vida Clássico e da Prototipação, adicionando um novo elemento: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Char char="–"/>
            </a:pPr>
            <a:r>
              <a:rPr lang="pt-BR">
                <a:solidFill>
                  <a:srgbClr val="FF0000"/>
                </a:solidFill>
              </a:rPr>
              <a:t>Análise de Riscos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/>
              <a:t>Segue a abordagem de passos sistemáticos do Ciclo de Vida Clássico incorporando-os numa estrutura </a:t>
            </a:r>
            <a:r>
              <a:rPr lang="pt-BR">
                <a:solidFill>
                  <a:srgbClr val="FF0000"/>
                </a:solidFill>
              </a:rPr>
              <a:t>iterativa</a:t>
            </a:r>
            <a:r>
              <a:rPr lang="pt-BR"/>
              <a:t> que reflete mais realisticamente o mundo real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pt-BR"/>
              <a:t>Usa a </a:t>
            </a:r>
            <a:r>
              <a:rPr lang="pt-BR">
                <a:solidFill>
                  <a:srgbClr val="FF0000"/>
                </a:solidFill>
              </a:rPr>
              <a:t>Prototipação</a:t>
            </a:r>
            <a:r>
              <a:rPr lang="pt-BR"/>
              <a:t>, em qualquer etapa da evolução do produto, como mecanismo de redução de riscos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Ciclo de Vida em Espiral</a:t>
            </a:r>
            <a:endParaRPr/>
          </a:p>
        </p:txBody>
      </p:sp>
      <p:grpSp>
        <p:nvGrpSpPr>
          <p:cNvPr id="896" name="Google Shape;896;p58"/>
          <p:cNvGrpSpPr/>
          <p:nvPr/>
        </p:nvGrpSpPr>
        <p:grpSpPr>
          <a:xfrm>
            <a:off x="838200" y="1411288"/>
            <a:ext cx="8302625" cy="4972050"/>
            <a:chOff x="76200" y="838200"/>
            <a:chExt cx="9798004" cy="5867400"/>
          </a:xfrm>
        </p:grpSpPr>
        <p:grpSp>
          <p:nvGrpSpPr>
            <p:cNvPr id="897" name="Google Shape;897;p58"/>
            <p:cNvGrpSpPr/>
            <p:nvPr/>
          </p:nvGrpSpPr>
          <p:grpSpPr>
            <a:xfrm>
              <a:off x="1141413" y="838200"/>
              <a:ext cx="6858000" cy="5867400"/>
              <a:chOff x="719" y="624"/>
              <a:chExt cx="4320" cy="3696"/>
            </a:xfrm>
          </p:grpSpPr>
          <p:sp>
            <p:nvSpPr>
              <p:cNvPr id="898" name="Google Shape;898;p58"/>
              <p:cNvSpPr/>
              <p:nvPr/>
            </p:nvSpPr>
            <p:spPr>
              <a:xfrm>
                <a:off x="719" y="624"/>
                <a:ext cx="4320" cy="3696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99" name="Google Shape;899;p58"/>
              <p:cNvSpPr/>
              <p:nvPr/>
            </p:nvSpPr>
            <p:spPr>
              <a:xfrm rot="895740">
                <a:off x="1439" y="1104"/>
                <a:ext cx="2705" cy="2712"/>
              </a:xfrm>
              <a:custGeom>
                <a:avLst/>
                <a:gdLst/>
                <a:ahLst/>
                <a:cxnLst/>
                <a:rect l="l" t="t" r="r" b="b"/>
                <a:pathLst>
                  <a:path w="2704" h="2712" extrusionOk="0">
                    <a:moveTo>
                      <a:pt x="1160" y="1296"/>
                    </a:moveTo>
                    <a:cubicBezTo>
                      <a:pt x="1180" y="1100"/>
                      <a:pt x="1200" y="904"/>
                      <a:pt x="1304" y="864"/>
                    </a:cubicBezTo>
                    <a:cubicBezTo>
                      <a:pt x="1408" y="824"/>
                      <a:pt x="1736" y="952"/>
                      <a:pt x="1784" y="1056"/>
                    </a:cubicBezTo>
                    <a:cubicBezTo>
                      <a:pt x="1832" y="1160"/>
                      <a:pt x="1712" y="1384"/>
                      <a:pt x="1592" y="1488"/>
                    </a:cubicBezTo>
                    <a:cubicBezTo>
                      <a:pt x="1472" y="1592"/>
                      <a:pt x="1184" y="1712"/>
                      <a:pt x="1064" y="1680"/>
                    </a:cubicBezTo>
                    <a:cubicBezTo>
                      <a:pt x="944" y="1648"/>
                      <a:pt x="896" y="1416"/>
                      <a:pt x="872" y="1296"/>
                    </a:cubicBezTo>
                    <a:cubicBezTo>
                      <a:pt x="848" y="1176"/>
                      <a:pt x="880" y="1064"/>
                      <a:pt x="920" y="960"/>
                    </a:cubicBezTo>
                    <a:cubicBezTo>
                      <a:pt x="960" y="856"/>
                      <a:pt x="1016" y="736"/>
                      <a:pt x="1112" y="672"/>
                    </a:cubicBezTo>
                    <a:cubicBezTo>
                      <a:pt x="1208" y="608"/>
                      <a:pt x="1368" y="576"/>
                      <a:pt x="1496" y="576"/>
                    </a:cubicBezTo>
                    <a:cubicBezTo>
                      <a:pt x="1624" y="576"/>
                      <a:pt x="1784" y="608"/>
                      <a:pt x="1880" y="672"/>
                    </a:cubicBezTo>
                    <a:cubicBezTo>
                      <a:pt x="1976" y="736"/>
                      <a:pt x="2040" y="856"/>
                      <a:pt x="2072" y="960"/>
                    </a:cubicBezTo>
                    <a:cubicBezTo>
                      <a:pt x="2104" y="1064"/>
                      <a:pt x="2096" y="1200"/>
                      <a:pt x="2072" y="1296"/>
                    </a:cubicBezTo>
                    <a:cubicBezTo>
                      <a:pt x="2048" y="1392"/>
                      <a:pt x="2016" y="1440"/>
                      <a:pt x="1928" y="1536"/>
                    </a:cubicBezTo>
                    <a:cubicBezTo>
                      <a:pt x="1840" y="1632"/>
                      <a:pt x="1704" y="1800"/>
                      <a:pt x="1544" y="1872"/>
                    </a:cubicBezTo>
                    <a:cubicBezTo>
                      <a:pt x="1384" y="1944"/>
                      <a:pt x="1120" y="2048"/>
                      <a:pt x="968" y="1968"/>
                    </a:cubicBezTo>
                    <a:cubicBezTo>
                      <a:pt x="816" y="1888"/>
                      <a:pt x="688" y="1568"/>
                      <a:pt x="632" y="1392"/>
                    </a:cubicBezTo>
                    <a:cubicBezTo>
                      <a:pt x="576" y="1216"/>
                      <a:pt x="600" y="1032"/>
                      <a:pt x="632" y="912"/>
                    </a:cubicBezTo>
                    <a:cubicBezTo>
                      <a:pt x="664" y="792"/>
                      <a:pt x="712" y="768"/>
                      <a:pt x="824" y="672"/>
                    </a:cubicBezTo>
                    <a:cubicBezTo>
                      <a:pt x="936" y="576"/>
                      <a:pt x="1120" y="376"/>
                      <a:pt x="1304" y="336"/>
                    </a:cubicBezTo>
                    <a:cubicBezTo>
                      <a:pt x="1488" y="296"/>
                      <a:pt x="1776" y="368"/>
                      <a:pt x="1928" y="432"/>
                    </a:cubicBezTo>
                    <a:cubicBezTo>
                      <a:pt x="2080" y="496"/>
                      <a:pt x="2144" y="560"/>
                      <a:pt x="2216" y="720"/>
                    </a:cubicBezTo>
                    <a:cubicBezTo>
                      <a:pt x="2288" y="880"/>
                      <a:pt x="2384" y="1200"/>
                      <a:pt x="2360" y="1392"/>
                    </a:cubicBezTo>
                    <a:cubicBezTo>
                      <a:pt x="2336" y="1584"/>
                      <a:pt x="2224" y="1720"/>
                      <a:pt x="2072" y="1872"/>
                    </a:cubicBezTo>
                    <a:cubicBezTo>
                      <a:pt x="1920" y="2024"/>
                      <a:pt x="1688" y="2272"/>
                      <a:pt x="1448" y="2304"/>
                    </a:cubicBezTo>
                    <a:cubicBezTo>
                      <a:pt x="1208" y="2336"/>
                      <a:pt x="816" y="2160"/>
                      <a:pt x="632" y="2064"/>
                    </a:cubicBezTo>
                    <a:cubicBezTo>
                      <a:pt x="448" y="1968"/>
                      <a:pt x="392" y="1928"/>
                      <a:pt x="344" y="1728"/>
                    </a:cubicBezTo>
                    <a:cubicBezTo>
                      <a:pt x="296" y="1528"/>
                      <a:pt x="280" y="1088"/>
                      <a:pt x="344" y="864"/>
                    </a:cubicBezTo>
                    <a:cubicBezTo>
                      <a:pt x="408" y="640"/>
                      <a:pt x="576" y="520"/>
                      <a:pt x="728" y="384"/>
                    </a:cubicBezTo>
                    <a:cubicBezTo>
                      <a:pt x="880" y="248"/>
                      <a:pt x="1040" y="88"/>
                      <a:pt x="1256" y="48"/>
                    </a:cubicBezTo>
                    <a:cubicBezTo>
                      <a:pt x="1472" y="8"/>
                      <a:pt x="1800" y="24"/>
                      <a:pt x="2024" y="144"/>
                    </a:cubicBezTo>
                    <a:cubicBezTo>
                      <a:pt x="2248" y="264"/>
                      <a:pt x="2496" y="576"/>
                      <a:pt x="2600" y="768"/>
                    </a:cubicBezTo>
                    <a:cubicBezTo>
                      <a:pt x="2704" y="960"/>
                      <a:pt x="2688" y="1072"/>
                      <a:pt x="2648" y="1296"/>
                    </a:cubicBezTo>
                    <a:cubicBezTo>
                      <a:pt x="2608" y="1520"/>
                      <a:pt x="2528" y="1888"/>
                      <a:pt x="2360" y="2112"/>
                    </a:cubicBezTo>
                    <a:cubicBezTo>
                      <a:pt x="2192" y="2336"/>
                      <a:pt x="1888" y="2568"/>
                      <a:pt x="1640" y="2640"/>
                    </a:cubicBezTo>
                    <a:cubicBezTo>
                      <a:pt x="1392" y="2712"/>
                      <a:pt x="1080" y="2600"/>
                      <a:pt x="872" y="2544"/>
                    </a:cubicBezTo>
                    <a:cubicBezTo>
                      <a:pt x="664" y="2488"/>
                      <a:pt x="520" y="2400"/>
                      <a:pt x="392" y="2304"/>
                    </a:cubicBezTo>
                    <a:cubicBezTo>
                      <a:pt x="264" y="2208"/>
                      <a:pt x="168" y="2128"/>
                      <a:pt x="104" y="1968"/>
                    </a:cubicBezTo>
                    <a:cubicBezTo>
                      <a:pt x="40" y="1808"/>
                      <a:pt x="0" y="1568"/>
                      <a:pt x="8" y="1344"/>
                    </a:cubicBezTo>
                    <a:cubicBezTo>
                      <a:pt x="16" y="1120"/>
                      <a:pt x="48" y="848"/>
                      <a:pt x="152" y="624"/>
                    </a:cubicBezTo>
                    <a:cubicBezTo>
                      <a:pt x="256" y="400"/>
                      <a:pt x="552" y="104"/>
                      <a:pt x="632" y="0"/>
                    </a:cubicBezTo>
                  </a:path>
                </a:pathLst>
              </a:custGeom>
              <a:noFill/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900" name="Google Shape;900;p58"/>
              <p:cNvCxnSpPr/>
              <p:nvPr/>
            </p:nvCxnSpPr>
            <p:spPr>
              <a:xfrm>
                <a:off x="719" y="2352"/>
                <a:ext cx="432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1" name="Google Shape;901;p58"/>
              <p:cNvCxnSpPr/>
              <p:nvPr/>
            </p:nvCxnSpPr>
            <p:spPr>
              <a:xfrm>
                <a:off x="2880" y="624"/>
                <a:ext cx="0" cy="36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02" name="Google Shape;902;p58"/>
              <p:cNvSpPr/>
              <p:nvPr/>
            </p:nvSpPr>
            <p:spPr>
              <a:xfrm>
                <a:off x="719" y="624"/>
                <a:ext cx="1466" cy="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2000" b="0" i="0" u="none" strike="noStrike" cap="none">
                    <a:solidFill>
                      <a:schemeClr val="dk1"/>
                    </a:solidFill>
                    <a:latin typeface="Tahoma"/>
                    <a:ea typeface="Tahoma"/>
                    <a:cs typeface="Tahoma"/>
                    <a:sym typeface="Tahoma"/>
                  </a:rPr>
                  <a:t>Planejamento</a:t>
                </a:r>
                <a:endParaRPr/>
              </a:p>
            </p:txBody>
          </p:sp>
        </p:grpSp>
        <p:sp>
          <p:nvSpPr>
            <p:cNvPr id="903" name="Google Shape;903;p58"/>
            <p:cNvSpPr txBox="1"/>
            <p:nvPr/>
          </p:nvSpPr>
          <p:spPr>
            <a:xfrm>
              <a:off x="4737277" y="838200"/>
              <a:ext cx="2744566" cy="4720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Análise de riscos</a:t>
              </a:r>
              <a:endParaRPr/>
            </a:p>
          </p:txBody>
        </p:sp>
        <p:sp>
          <p:nvSpPr>
            <p:cNvPr id="904" name="Google Shape;904;p58"/>
            <p:cNvSpPr txBox="1"/>
            <p:nvPr/>
          </p:nvSpPr>
          <p:spPr>
            <a:xfrm>
              <a:off x="5758294" y="6192296"/>
              <a:ext cx="1931499" cy="473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Construção</a:t>
              </a:r>
              <a:endParaRPr/>
            </a:p>
          </p:txBody>
        </p:sp>
        <p:sp>
          <p:nvSpPr>
            <p:cNvPr id="905" name="Google Shape;905;p58"/>
            <p:cNvSpPr txBox="1"/>
            <p:nvPr/>
          </p:nvSpPr>
          <p:spPr>
            <a:xfrm>
              <a:off x="1142178" y="6192296"/>
              <a:ext cx="3248516" cy="4739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000" b="0" i="0" u="none" strike="noStrike" cap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Avaliação do cliente</a:t>
              </a:r>
              <a:endParaRPr/>
            </a:p>
          </p:txBody>
        </p:sp>
        <p:sp>
          <p:nvSpPr>
            <p:cNvPr id="906" name="Google Shape;906;p58"/>
            <p:cNvSpPr txBox="1"/>
            <p:nvPr/>
          </p:nvSpPr>
          <p:spPr>
            <a:xfrm>
              <a:off x="76200" y="1447045"/>
              <a:ext cx="2027044" cy="11258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Coleta inicial dos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requisitos 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planejamento do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projeto</a:t>
              </a:r>
              <a:endParaRPr/>
            </a:p>
          </p:txBody>
        </p:sp>
        <p:cxnSp>
          <p:nvCxnSpPr>
            <p:cNvPr id="907" name="Google Shape;907;p58"/>
            <p:cNvCxnSpPr/>
            <p:nvPr/>
          </p:nvCxnSpPr>
          <p:spPr>
            <a:xfrm>
              <a:off x="1599294" y="1980957"/>
              <a:ext cx="2667755" cy="1296373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08" name="Google Shape;908;p58"/>
            <p:cNvSpPr txBox="1"/>
            <p:nvPr/>
          </p:nvSpPr>
          <p:spPr>
            <a:xfrm>
              <a:off x="6934803" y="1829213"/>
              <a:ext cx="2939401" cy="616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Análise de riscos baseada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nos requisitos iniciais</a:t>
              </a:r>
              <a:endParaRPr/>
            </a:p>
          </p:txBody>
        </p:sp>
        <p:cxnSp>
          <p:nvCxnSpPr>
            <p:cNvPr id="909" name="Google Shape;909;p58"/>
            <p:cNvCxnSpPr/>
            <p:nvPr/>
          </p:nvCxnSpPr>
          <p:spPr>
            <a:xfrm rot="-165299" flipH="1">
              <a:off x="5029531" y="2132699"/>
              <a:ext cx="1751651" cy="106782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0" name="Google Shape;910;p58"/>
            <p:cNvSpPr txBox="1"/>
            <p:nvPr/>
          </p:nvSpPr>
          <p:spPr>
            <a:xfrm>
              <a:off x="6934803" y="2514867"/>
              <a:ext cx="2939401" cy="6163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Análise de riscos baseada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na reação do cliente</a:t>
              </a:r>
              <a:endParaRPr/>
            </a:p>
          </p:txBody>
        </p:sp>
        <p:cxnSp>
          <p:nvCxnSpPr>
            <p:cNvPr id="911" name="Google Shape;911;p58"/>
            <p:cNvCxnSpPr/>
            <p:nvPr/>
          </p:nvCxnSpPr>
          <p:spPr>
            <a:xfrm rot="-439219" flipH="1">
              <a:off x="5638394" y="2820227"/>
              <a:ext cx="1142788" cy="38029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2" name="Google Shape;912;p58"/>
            <p:cNvSpPr txBox="1"/>
            <p:nvPr/>
          </p:nvSpPr>
          <p:spPr>
            <a:xfrm>
              <a:off x="6934803" y="3901162"/>
              <a:ext cx="1856562" cy="8729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Protótipo de 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software inicial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913" name="Google Shape;913;p58"/>
            <p:cNvCxnSpPr/>
            <p:nvPr/>
          </p:nvCxnSpPr>
          <p:spPr>
            <a:xfrm rot="10800000">
              <a:off x="5104468" y="3734433"/>
              <a:ext cx="1753524" cy="38029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4" name="Google Shape;914;p58"/>
            <p:cNvSpPr txBox="1"/>
            <p:nvPr/>
          </p:nvSpPr>
          <p:spPr>
            <a:xfrm>
              <a:off x="6934803" y="4603677"/>
              <a:ext cx="1716056" cy="8711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Protótipo no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nível seguinte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C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915" name="Google Shape;915;p58"/>
            <p:cNvCxnSpPr/>
            <p:nvPr/>
          </p:nvCxnSpPr>
          <p:spPr>
            <a:xfrm rot="10800000">
              <a:off x="5334900" y="4191535"/>
              <a:ext cx="1523093" cy="60884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6" name="Google Shape;916;p58"/>
            <p:cNvSpPr txBox="1"/>
            <p:nvPr/>
          </p:nvSpPr>
          <p:spPr>
            <a:xfrm>
              <a:off x="6934803" y="5289331"/>
              <a:ext cx="2266842" cy="6182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Sistema construído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pela engenharia</a:t>
              </a:r>
              <a:endParaRPr/>
            </a:p>
          </p:txBody>
        </p:sp>
        <p:cxnSp>
          <p:nvCxnSpPr>
            <p:cNvPr id="917" name="Google Shape;917;p58"/>
            <p:cNvCxnSpPr/>
            <p:nvPr/>
          </p:nvCxnSpPr>
          <p:spPr>
            <a:xfrm rot="10800000">
              <a:off x="5486647" y="4723573"/>
              <a:ext cx="1448157" cy="7624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18" name="Google Shape;918;p58"/>
            <p:cNvSpPr txBox="1"/>
            <p:nvPr/>
          </p:nvSpPr>
          <p:spPr>
            <a:xfrm>
              <a:off x="6857992" y="3309177"/>
              <a:ext cx="2682835" cy="61744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rgbClr val="002060"/>
                  </a:solidFill>
                  <a:latin typeface="Tahoma"/>
                  <a:ea typeface="Tahoma"/>
                  <a:cs typeface="Tahoma"/>
                  <a:sym typeface="Tahoma"/>
                </a:rPr>
                <a:t>Decisão de prosseguir/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1" i="0" u="none" strike="noStrike" cap="none">
                  <a:solidFill>
                    <a:srgbClr val="002060"/>
                  </a:solidFill>
                  <a:latin typeface="Tahoma"/>
                  <a:ea typeface="Tahoma"/>
                  <a:cs typeface="Tahoma"/>
                  <a:sym typeface="Tahoma"/>
                </a:rPr>
                <a:t>não prosseguir</a:t>
              </a:r>
              <a:endParaRPr/>
            </a:p>
          </p:txBody>
        </p:sp>
        <p:sp>
          <p:nvSpPr>
            <p:cNvPr id="919" name="Google Shape;919;p58"/>
            <p:cNvSpPr txBox="1"/>
            <p:nvPr/>
          </p:nvSpPr>
          <p:spPr>
            <a:xfrm>
              <a:off x="169871" y="4375126"/>
              <a:ext cx="2343653" cy="363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Avaliação do cliente</a:t>
              </a:r>
              <a:endParaRPr/>
            </a:p>
          </p:txBody>
        </p:sp>
        <p:cxnSp>
          <p:nvCxnSpPr>
            <p:cNvPr id="920" name="Google Shape;920;p58"/>
            <p:cNvCxnSpPr/>
            <p:nvPr/>
          </p:nvCxnSpPr>
          <p:spPr>
            <a:xfrm rot="10800000" flipH="1">
              <a:off x="1981472" y="3886175"/>
              <a:ext cx="1751650" cy="60884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1" name="Google Shape;921;p58"/>
            <p:cNvCxnSpPr/>
            <p:nvPr/>
          </p:nvCxnSpPr>
          <p:spPr>
            <a:xfrm rot="10800000" flipH="1">
              <a:off x="1981472" y="4266470"/>
              <a:ext cx="1448156" cy="22855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2" name="Google Shape;922;p58"/>
            <p:cNvCxnSpPr/>
            <p:nvPr/>
          </p:nvCxnSpPr>
          <p:spPr>
            <a:xfrm>
              <a:off x="1981472" y="4495021"/>
              <a:ext cx="1065977" cy="768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23" name="Google Shape;923;p58"/>
            <p:cNvSpPr txBox="1"/>
            <p:nvPr/>
          </p:nvSpPr>
          <p:spPr>
            <a:xfrm>
              <a:off x="76200" y="2743418"/>
              <a:ext cx="2650895" cy="8711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Planejamento baseado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nos comentários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400" b="0" i="0" u="none" strike="noStrike" cap="none">
                  <a:solidFill>
                    <a:srgbClr val="C00000"/>
                  </a:solidFill>
                  <a:latin typeface="Tahoma"/>
                  <a:ea typeface="Tahoma"/>
                  <a:cs typeface="Tahoma"/>
                  <a:sym typeface="Tahoma"/>
                </a:rPr>
                <a:t>do cliente</a:t>
              </a:r>
              <a:endParaRPr/>
            </a:p>
          </p:txBody>
        </p:sp>
        <p:cxnSp>
          <p:nvCxnSpPr>
            <p:cNvPr id="924" name="Google Shape;924;p58"/>
            <p:cNvCxnSpPr/>
            <p:nvPr/>
          </p:nvCxnSpPr>
          <p:spPr>
            <a:xfrm>
              <a:off x="2058282" y="2971970"/>
              <a:ext cx="1674840" cy="30536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5" name="Google Shape;925;p58"/>
            <p:cNvCxnSpPr/>
            <p:nvPr/>
          </p:nvCxnSpPr>
          <p:spPr>
            <a:xfrm>
              <a:off x="2058282" y="2971970"/>
              <a:ext cx="1217725" cy="38029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6" name="Google Shape;926;p58"/>
            <p:cNvCxnSpPr/>
            <p:nvPr/>
          </p:nvCxnSpPr>
          <p:spPr>
            <a:xfrm>
              <a:off x="2058282" y="2971970"/>
              <a:ext cx="760610" cy="38029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Atividades </a:t>
            </a:r>
            <a:endParaRPr/>
          </a:p>
        </p:txBody>
      </p:sp>
      <p:sp>
        <p:nvSpPr>
          <p:cNvPr id="932" name="Google Shape;932;p59"/>
          <p:cNvSpPr txBox="1"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Planejamento: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Determinação dos objetivos, alternativas e restrições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Análise de Risco: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Análise de alternativas e identificação / resolução de riscos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Construção: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Desenvolvimento do produto no nível seguinte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Avaliação do Cliente: 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Avaliação do produto e planejamento das novas fases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9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9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9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9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9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AFCF9-691A-4BFA-8A9E-D15ABEFE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29DE26-02F4-4D16-BF73-9F5A78039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Cada iteração ou volta é dedicada a uma fase do processo de vida de um software (viabilidade do projeto, definição de requisitos, desenvolvimento e teste,...). Ao mesmo tempo, cada volta é seccionada em 4 setores, da seguinte forma:</a:t>
            </a:r>
          </a:p>
        </p:txBody>
      </p:sp>
    </p:spTree>
    <p:extLst>
      <p:ext uri="{BB962C8B-B14F-4D97-AF65-F5344CB8AC3E}">
        <p14:creationId xmlns:p14="http://schemas.microsoft.com/office/powerpoint/2010/main" val="233030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A8629-C3FB-45B1-B284-8FA69E34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PRIMEIRA ITERAÇÃO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A7AB9-BBB8-46E1-B2B2-EBECF9EB1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Iteração #1: Viabilidade do projeto:</a:t>
            </a:r>
          </a:p>
          <a:p>
            <a:pPr lvl="1"/>
            <a:r>
              <a:rPr lang="pt-BR" dirty="0"/>
              <a:t>1.1. Definição de objetivos;</a:t>
            </a:r>
          </a:p>
          <a:p>
            <a:pPr lvl="1"/>
            <a:r>
              <a:rPr lang="pt-BR" dirty="0"/>
              <a:t>1.2. Avaliação e redução de riscos;</a:t>
            </a:r>
          </a:p>
          <a:p>
            <a:pPr lvl="1"/>
            <a:r>
              <a:rPr lang="pt-BR" dirty="0"/>
              <a:t>1.3. Desenvolvimento e validação;</a:t>
            </a:r>
          </a:p>
          <a:p>
            <a:pPr lvl="1"/>
            <a:r>
              <a:rPr lang="pt-BR" dirty="0"/>
              <a:t>1.4. Planejamento da próxima fase;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4792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A8629-C3FB-45B1-B284-8FA69E34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SEGUNDA ITERAÇÃO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9A7AB9-BBB8-46E1-B2B2-EBECF9EB1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Iteração #2: Definição de requisitos do sistema:</a:t>
            </a:r>
          </a:p>
          <a:p>
            <a:pPr lvl="1"/>
            <a:r>
              <a:rPr lang="pt-BR" dirty="0"/>
              <a:t>2.1. Definição dos objetivos;</a:t>
            </a:r>
          </a:p>
          <a:p>
            <a:pPr lvl="1"/>
            <a:r>
              <a:rPr lang="pt-BR" dirty="0"/>
              <a:t>2.2. Avaliação e redução de riscos;</a:t>
            </a:r>
          </a:p>
          <a:p>
            <a:pPr lvl="1"/>
            <a:r>
              <a:rPr lang="pt-BR" dirty="0"/>
              <a:t>2.3. Desenvolvimento e validação;</a:t>
            </a:r>
          </a:p>
          <a:p>
            <a:pPr lvl="1"/>
            <a:r>
              <a:rPr lang="pt-BR" dirty="0"/>
              <a:t>2.4. Planejamento da próxima fase;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4861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A8629-C3FB-45B1-B284-8FA69E34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OUTRAS ITERAÇÕES</a:t>
            </a:r>
          </a:p>
        </p:txBody>
      </p:sp>
      <p:pic>
        <p:nvPicPr>
          <p:cNvPr id="3074" name="Picture 2" descr="Modelo Espiral">
            <a:extLst>
              <a:ext uri="{FF2B5EF4-FFF2-40B4-BE49-F238E27FC236}">
                <a16:creationId xmlns:a16="http://schemas.microsoft.com/office/drawing/2014/main" id="{F7174F99-5300-423A-9A6D-4BFE372A8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683" y="1417638"/>
            <a:ext cx="6191693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961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2821B-2EE8-6EDA-3AC4-8CB61745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Alguns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9D6B62-9669-08CD-0483-A3BD3BD8C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Kendall et al., 2007 </a:t>
            </a:r>
          </a:p>
          <a:p>
            <a:r>
              <a:rPr lang="pt-BR" sz="2400" dirty="0"/>
              <a:t>A.  Riscos do Ciclo de Desenvolvimento  - Riscos de Requisitos - Riscos de Projeto (Design) - Riscos de Implementação - Riscos de Teste e Avaliação  </a:t>
            </a:r>
          </a:p>
          <a:p>
            <a:r>
              <a:rPr lang="pt-BR" sz="2400" dirty="0"/>
              <a:t>B.  Riscos do Ambiente de Desenvolvimento - Riscos do Processo de Desenvolvimento - Riscos do Desenvolvimento do sistema - Riscos de Gestão do Processo - Riscos de Métodos de Gestão - Riscos do Ambiente de Trabalho </a:t>
            </a:r>
          </a:p>
          <a:p>
            <a:r>
              <a:rPr lang="pt-BR" sz="2400" dirty="0"/>
              <a:t>C. Riscos Programáticos - Riscos Relacionados a Recursos  - Riscos Relacionados a Contratos - Riscos de Interface (Comunicação).</a:t>
            </a:r>
          </a:p>
        </p:txBody>
      </p:sp>
    </p:spTree>
    <p:extLst>
      <p:ext uri="{BB962C8B-B14F-4D97-AF65-F5344CB8AC3E}">
        <p14:creationId xmlns:p14="http://schemas.microsoft.com/office/powerpoint/2010/main" val="2202468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2DAF2-4379-2AB1-CC87-D2F120DF0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8ACFB-ADA0-8A14-62AD-2482A47CF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Barki et al. (2001)  </a:t>
            </a:r>
          </a:p>
          <a:p>
            <a:r>
              <a:rPr lang="pt-BR" dirty="0"/>
              <a:t>Novidade Tecnológica, </a:t>
            </a:r>
          </a:p>
          <a:p>
            <a:r>
              <a:rPr lang="pt-BR" dirty="0"/>
              <a:t>Tamanho da Aplicação, </a:t>
            </a:r>
          </a:p>
          <a:p>
            <a:r>
              <a:rPr lang="pt-BR" dirty="0"/>
              <a:t>Falta de Expertise, </a:t>
            </a:r>
          </a:p>
          <a:p>
            <a:r>
              <a:rPr lang="pt-BR" dirty="0"/>
              <a:t>Complexidade da Aplicação, </a:t>
            </a:r>
          </a:p>
          <a:p>
            <a:r>
              <a:rPr lang="pt-BR" dirty="0"/>
              <a:t>Ambiente Organizacional </a:t>
            </a:r>
          </a:p>
        </p:txBody>
      </p:sp>
    </p:spTree>
    <p:extLst>
      <p:ext uri="{BB962C8B-B14F-4D97-AF65-F5344CB8AC3E}">
        <p14:creationId xmlns:p14="http://schemas.microsoft.com/office/powerpoint/2010/main" val="4228239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4B304-2EE5-944C-7CE6-7D65CB484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Outros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23F4C1-13E1-C1C4-5228-49C19ED6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Schmidt et al.(2001)  Ambiente, Relação com o patrocinador/ proprietário do sistema, Relacionamento com o Usuário, Gerenciamento, Escopo do Sistema, Requerimentos, Gerenciamento de Recursos, Controle de Recursos, Processo, Habilidades, Pessoal, Tecnologia, Ambiente de Desenvolvimento e Planejamento (Classificação em 14 tipos, de acordo com a fonte ou natureza do risco) </a:t>
            </a:r>
          </a:p>
        </p:txBody>
      </p:sp>
    </p:spTree>
    <p:extLst>
      <p:ext uri="{BB962C8B-B14F-4D97-AF65-F5344CB8AC3E}">
        <p14:creationId xmlns:p14="http://schemas.microsoft.com/office/powerpoint/2010/main" val="4180563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 green and black text on a green background&#10;&#10;Description automatically generated">
            <a:extLst>
              <a:ext uri="{FF2B5EF4-FFF2-40B4-BE49-F238E27FC236}">
                <a16:creationId xmlns:a16="http://schemas.microsoft.com/office/drawing/2014/main" id="{CDAA12B6-FC9F-CD67-7D1F-249D687A51E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/>
        </p:blipFill>
        <p:spPr>
          <a:xfrm>
            <a:off x="90488" y="1199448"/>
            <a:ext cx="8963025" cy="4459105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921246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1102708" y="868860"/>
            <a:ext cx="7201710" cy="78624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pt-BR" dirty="0"/>
              <a:t>Análise do Risco</a:t>
            </a:r>
          </a:p>
        </p:txBody>
      </p:sp>
      <p:pic>
        <p:nvPicPr>
          <p:cNvPr id="299" name="Picture 3"/>
          <p:cNvPicPr/>
          <p:nvPr/>
        </p:nvPicPr>
        <p:blipFill>
          <a:blip r:embed="rId3"/>
          <a:stretch/>
        </p:blipFill>
        <p:spPr>
          <a:xfrm>
            <a:off x="1814130" y="2452410"/>
            <a:ext cx="5205600" cy="2859570"/>
          </a:xfrm>
          <a:prstGeom prst="rect">
            <a:avLst/>
          </a:prstGeom>
          <a:ln w="9525">
            <a:noFill/>
          </a:ln>
        </p:spPr>
      </p:pic>
      <p:sp>
        <p:nvSpPr>
          <p:cNvPr id="300" name="Speech Bubble: Rectangle with Corners Rounded 299"/>
          <p:cNvSpPr/>
          <p:nvPr/>
        </p:nvSpPr>
        <p:spPr>
          <a:xfrm>
            <a:off x="270000" y="2747250"/>
            <a:ext cx="1214730" cy="674730"/>
          </a:xfrm>
          <a:prstGeom prst="wedgeRoundRectCallout">
            <a:avLst>
              <a:gd name="adj1" fmla="val 73925"/>
              <a:gd name="adj2" fmla="val 104893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350" spc="-1">
                <a:latin typeface="Arial"/>
                <a:ea typeface="DejaVu Sans"/>
              </a:rPr>
              <a:t>Estar preparado</a:t>
            </a:r>
            <a:endParaRPr lang="pt-BR" sz="1350" spc="-1">
              <a:latin typeface="Arial"/>
            </a:endParaRPr>
          </a:p>
        </p:txBody>
      </p:sp>
      <p:sp>
        <p:nvSpPr>
          <p:cNvPr id="301" name="Speech Bubble: Rectangle with Corners Rounded 300"/>
          <p:cNvSpPr/>
          <p:nvPr/>
        </p:nvSpPr>
        <p:spPr>
          <a:xfrm>
            <a:off x="7020000" y="2612250"/>
            <a:ext cx="1484730" cy="674730"/>
          </a:xfrm>
          <a:prstGeom prst="wedgeRoundRectCallout">
            <a:avLst>
              <a:gd name="adj1" fmla="val -84462"/>
              <a:gd name="adj2" fmla="val 54037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350" spc="-1">
                <a:latin typeface="Arial"/>
                <a:ea typeface="DejaVu Sans"/>
              </a:rPr>
              <a:t>Plano de contingência</a:t>
            </a:r>
            <a:endParaRPr lang="pt-BR" sz="1350" spc="-1">
              <a:latin typeface="Arial"/>
            </a:endParaRPr>
          </a:p>
        </p:txBody>
      </p:sp>
      <p:sp>
        <p:nvSpPr>
          <p:cNvPr id="302" name="Speech Bubble: Rectangle with Corners Rounded 301"/>
          <p:cNvSpPr/>
          <p:nvPr/>
        </p:nvSpPr>
        <p:spPr>
          <a:xfrm>
            <a:off x="6885000" y="3827250"/>
            <a:ext cx="2159730" cy="674730"/>
          </a:xfrm>
          <a:prstGeom prst="wedgeRoundRectCallout">
            <a:avLst>
              <a:gd name="adj1" fmla="val -61083"/>
              <a:gd name="adj2" fmla="val 12930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350" spc="-1">
                <a:latin typeface="Arial"/>
                <a:ea typeface="DejaVu Sans"/>
              </a:rPr>
              <a:t>Depende da política da empresa (adversa ou não aos riscos)</a:t>
            </a:r>
            <a:endParaRPr lang="pt-BR" sz="1350" spc="-1">
              <a:latin typeface="Arial"/>
            </a:endParaRPr>
          </a:p>
        </p:txBody>
      </p:sp>
      <p:sp>
        <p:nvSpPr>
          <p:cNvPr id="303" name="Speech Bubble: Rectangle with Corners Rounded 302"/>
          <p:cNvSpPr/>
          <p:nvPr/>
        </p:nvSpPr>
        <p:spPr>
          <a:xfrm>
            <a:off x="2295000" y="1802250"/>
            <a:ext cx="2159730" cy="674730"/>
          </a:xfrm>
          <a:prstGeom prst="wedgeRoundRectCallout">
            <a:avLst>
              <a:gd name="adj1" fmla="val -1208"/>
              <a:gd name="adj2" fmla="val 77907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7500" tIns="33750" rIns="67500" bIns="3375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350" spc="-1">
                <a:latin typeface="Arial"/>
                <a:ea typeface="DejaVu Sans"/>
              </a:rPr>
              <a:t>Depende da política da empresa (adversa ou não aos riscos)</a:t>
            </a:r>
            <a:endParaRPr lang="pt-BR" sz="1350" spc="-1">
              <a:latin typeface="Arial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2F9DDB1-C0F9-417A-AAA5-4E26CE8F6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420" y="197949"/>
            <a:ext cx="221297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862380" y="944370"/>
            <a:ext cx="7201710" cy="786240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pt-BR" dirty="0"/>
              <a:t>Tabela de Riscos</a:t>
            </a:r>
          </a:p>
        </p:txBody>
      </p:sp>
      <p:graphicFrame>
        <p:nvGraphicFramePr>
          <p:cNvPr id="313" name="Group 3"/>
          <p:cNvGraphicFramePr/>
          <p:nvPr>
            <p:extLst>
              <p:ext uri="{D42A27DB-BD31-4B8C-83A1-F6EECF244321}">
                <p14:modId xmlns:p14="http://schemas.microsoft.com/office/powerpoint/2010/main" val="2314749834"/>
              </p:ext>
            </p:extLst>
          </p:nvPr>
        </p:nvGraphicFramePr>
        <p:xfrm>
          <a:off x="664200" y="2520450"/>
          <a:ext cx="7598070" cy="3000060"/>
        </p:xfrm>
        <a:graphic>
          <a:graphicData uri="http://schemas.openxmlformats.org/drawingml/2006/table">
            <a:tbl>
              <a:tblPr/>
              <a:tblGrid>
                <a:gridCol w="3042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Risco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1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Probabilidade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Efeitos</a:t>
                      </a:r>
                      <a:r>
                        <a:rPr lang="en-US" sz="21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21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ou</a:t>
                      </a:r>
                      <a:r>
                        <a:rPr lang="en-US" sz="2100" b="1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</a:t>
                      </a:r>
                      <a:r>
                        <a:rPr lang="en-US" sz="2100" b="1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Impacto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280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Pessoal doente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Moderada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Sério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Tamanho</a:t>
                      </a:r>
                      <a:r>
                        <a:rPr lang="en-US" sz="21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 do software </a:t>
                      </a: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desconhecido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Alta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Tolerável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...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…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>
                          <a:solidFill>
                            <a:srgbClr val="000000"/>
                          </a:solidFill>
                          <a:latin typeface="+mj-lt"/>
                        </a:rPr>
                        <a:t>…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Pessoal qualificado não disponível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280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>
                          <a:solidFill>
                            <a:srgbClr val="000000"/>
                          </a:solidFill>
                          <a:latin typeface="+mj-lt"/>
                        </a:rPr>
                        <a:t>Alta</a:t>
                      </a:r>
                      <a:endParaRPr lang="pt-BR" sz="2100" b="0" strike="noStrike" spc="-1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61"/>
                        </a:spcBef>
                        <a:tabLst>
                          <a:tab pos="0" algn="l"/>
                        </a:tabLst>
                      </a:pPr>
                      <a:r>
                        <a:rPr lang="en-US" sz="2100" b="0" strike="noStrike" spc="-1" dirty="0" err="1">
                          <a:solidFill>
                            <a:srgbClr val="000000"/>
                          </a:solidFill>
                          <a:latin typeface="+mj-lt"/>
                        </a:rPr>
                        <a:t>Catastrófico</a:t>
                      </a:r>
                      <a:endParaRPr lang="pt-BR" sz="2100" b="0" strike="noStrike" spc="-1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1260" marR="91260" marT="34290" marB="34290">
                    <a:lnL w="12240">
                      <a:solidFill>
                        <a:srgbClr val="000000"/>
                      </a:solidFill>
                    </a:lnL>
                    <a:lnR w="280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2808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0D3F12C6-7DBC-4924-BCBB-0439A7DED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420" y="197949"/>
            <a:ext cx="2212975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6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Ciclo de Vida em Espiral</a:t>
            </a:r>
            <a:br>
              <a:rPr lang="pt-BR" dirty="0"/>
            </a:br>
            <a:endParaRPr dirty="0"/>
          </a:p>
        </p:txBody>
      </p:sp>
      <p:sp>
        <p:nvSpPr>
          <p:cNvPr id="938" name="Google Shape;938;p6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Usa uma abordagem que capacita o desenvolvedor e o cliente a entender e reagir aos </a:t>
            </a:r>
            <a:r>
              <a:rPr lang="pt-BR" dirty="0">
                <a:solidFill>
                  <a:srgbClr val="FF0000"/>
                </a:solidFill>
              </a:rPr>
              <a:t>riscos</a:t>
            </a:r>
            <a:r>
              <a:rPr lang="pt-BR" dirty="0"/>
              <a:t> em cada etapa evolutiva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Pode ser difícil convencer os clientes que uma abordagem "evolutiva" é controlável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 dirty="0"/>
              <a:t>Exige considerável experiência na determinação de riscos e depende dessa experiência para ter sucesso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Ciclo de Vida em Espiral</a:t>
            </a:r>
            <a:br>
              <a:rPr lang="pt-BR"/>
            </a:br>
            <a:endParaRPr/>
          </a:p>
        </p:txBody>
      </p:sp>
      <p:sp>
        <p:nvSpPr>
          <p:cNvPr id="944" name="Google Shape;944;p6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4295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Não tem sido amplamente usado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Demorará muitos anos até que a eficácia desse modelo possa ser determinada com certeza absoluta.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6"/>
          <p:cNvSpPr txBox="1">
            <a:spLocks noGrp="1"/>
          </p:cNvSpPr>
          <p:nvPr>
            <p:ph type="title"/>
          </p:nvPr>
        </p:nvSpPr>
        <p:spPr>
          <a:xfrm>
            <a:off x="0" y="0"/>
            <a:ext cx="6752492" cy="1195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 Processo Unificado </a:t>
            </a:r>
            <a:br>
              <a:rPr lang="pt-BR" dirty="0"/>
            </a:br>
            <a:r>
              <a:rPr lang="pt-BR" dirty="0"/>
              <a:t>(RUP –</a:t>
            </a:r>
            <a:r>
              <a:rPr lang="pt-BR" i="1" dirty="0" err="1"/>
              <a:t>Rational</a:t>
            </a:r>
            <a:r>
              <a:rPr lang="pt-BR" i="1" dirty="0"/>
              <a:t> </a:t>
            </a:r>
            <a:r>
              <a:rPr lang="pt-BR" i="1" dirty="0" err="1"/>
              <a:t>UnifiedProcess</a:t>
            </a:r>
            <a:r>
              <a:rPr lang="pt-BR" dirty="0"/>
              <a:t>)</a:t>
            </a:r>
            <a:endParaRPr dirty="0"/>
          </a:p>
        </p:txBody>
      </p:sp>
      <p:sp>
        <p:nvSpPr>
          <p:cNvPr id="1069" name="Google Shape;1069;p7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É um processo baseado na UML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Tenta cobrir todos os aspectos do desenvolvimento de software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Fortemente focado na documentação do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Normalmente descrito a partir de três perspectivas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Dinâmica: mostra as fases ao longo do tempo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Estática: mostra atividades de processo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Prática: sugere bons princípios e práticas de desenvolvimento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 de fases do RUP</a:t>
            </a:r>
            <a:endParaRPr/>
          </a:p>
        </p:txBody>
      </p:sp>
      <p:pic>
        <p:nvPicPr>
          <p:cNvPr id="1075" name="Google Shape;1075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6013" y="1268413"/>
            <a:ext cx="7019925" cy="526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Fases do RUP ou PU</a:t>
            </a:r>
            <a:endParaRPr dirty="0"/>
          </a:p>
        </p:txBody>
      </p:sp>
      <p:sp>
        <p:nvSpPr>
          <p:cNvPr id="1081" name="Google Shape;1081;p7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Concepção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Estabelecer o domínio de negócio para o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Elaboração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Desenvolver um entendimento do domínio do problema e a arquitetura do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Construção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Projeto, programação e teste de sistema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Transição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</a:pPr>
            <a:r>
              <a:rPr lang="pt-BR"/>
              <a:t>Implantar o sistema no seu ambiente operacional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white document with black text&#10;&#10;Description automatically generated">
            <a:extLst>
              <a:ext uri="{FF2B5EF4-FFF2-40B4-BE49-F238E27FC236}">
                <a16:creationId xmlns:a16="http://schemas.microsoft.com/office/drawing/2014/main" id="{251F982F-BD5E-41A3-3D2B-731F524F4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504814"/>
            <a:ext cx="8963025" cy="5848373"/>
          </a:xfrm>
          <a:noFill/>
        </p:spPr>
      </p:pic>
    </p:spTree>
    <p:extLst>
      <p:ext uri="{BB962C8B-B14F-4D97-AF65-F5344CB8AC3E}">
        <p14:creationId xmlns:p14="http://schemas.microsoft.com/office/powerpoint/2010/main" val="9332805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E0F153-31E9-5B90-494D-C89F79856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900"/>
            <a:ext cx="12974945" cy="66720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5280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white document with black text&#10;&#10;Description automatically generated">
            <a:extLst>
              <a:ext uri="{FF2B5EF4-FFF2-40B4-BE49-F238E27FC236}">
                <a16:creationId xmlns:a16="http://schemas.microsoft.com/office/drawing/2014/main" id="{91C5C295-ADB0-28C2-34E4-3BF8D3C9AA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157497"/>
            <a:ext cx="8963025" cy="6543007"/>
          </a:xfrm>
          <a:noFill/>
        </p:spPr>
      </p:pic>
    </p:spTree>
    <p:extLst>
      <p:ext uri="{BB962C8B-B14F-4D97-AF65-F5344CB8AC3E}">
        <p14:creationId xmlns:p14="http://schemas.microsoft.com/office/powerpoint/2010/main" val="3169079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and white list with black text&#10;&#10;Description automatically generated">
            <a:extLst>
              <a:ext uri="{FF2B5EF4-FFF2-40B4-BE49-F238E27FC236}">
                <a16:creationId xmlns:a16="http://schemas.microsoft.com/office/drawing/2014/main" id="{0E3377AE-FFCE-806D-2027-2D480315E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8" y="471202"/>
            <a:ext cx="8963025" cy="5915596"/>
          </a:xfrm>
          <a:noFill/>
        </p:spPr>
      </p:pic>
    </p:spTree>
    <p:extLst>
      <p:ext uri="{BB962C8B-B14F-4D97-AF65-F5344CB8AC3E}">
        <p14:creationId xmlns:p14="http://schemas.microsoft.com/office/powerpoint/2010/main" val="1557164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D3EED-CACE-8EEA-7A75-FDB2ECD8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wrap="square" anchor="ctr">
            <a:normAutofit/>
          </a:bodyPr>
          <a:lstStyle/>
          <a:p>
            <a:r>
              <a:rPr lang="en-GB" dirty="0"/>
              <a:t>FLUXO FASE TRANSIÇÃO</a:t>
            </a:r>
            <a:endParaRPr lang="pt-BR" dirty="0"/>
          </a:p>
        </p:txBody>
      </p:sp>
      <p:pic>
        <p:nvPicPr>
          <p:cNvPr id="5" name="Content Placeholder 4" descr="A diagram of a process&#10;&#10;Description automatically generated">
            <a:extLst>
              <a:ext uri="{FF2B5EF4-FFF2-40B4-BE49-F238E27FC236}">
                <a16:creationId xmlns:a16="http://schemas.microsoft.com/office/drawing/2014/main" id="{C13787F4-D3BE-DEAE-9A72-8CFA555D72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5123" y="1039761"/>
            <a:ext cx="6522227" cy="6130894"/>
          </a:xfrm>
          <a:noFill/>
        </p:spPr>
      </p:pic>
    </p:spTree>
    <p:extLst>
      <p:ext uri="{BB962C8B-B14F-4D97-AF65-F5344CB8AC3E}">
        <p14:creationId xmlns:p14="http://schemas.microsoft.com/office/powerpoint/2010/main" val="31046992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2F86B5FD-695A-836A-4F91-3BE4085DE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ARTEFATOS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12BA90-18E8-B5DA-43FC-0580EFA8E0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08168"/>
            <a:ext cx="8229600" cy="2510027"/>
          </a:xfrm>
          <a:noFill/>
        </p:spPr>
      </p:pic>
    </p:spTree>
    <p:extLst>
      <p:ext uri="{BB962C8B-B14F-4D97-AF65-F5344CB8AC3E}">
        <p14:creationId xmlns:p14="http://schemas.microsoft.com/office/powerpoint/2010/main" val="3446275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Boas práticas do RUP</a:t>
            </a:r>
            <a:endParaRPr/>
          </a:p>
        </p:txBody>
      </p:sp>
      <p:sp>
        <p:nvSpPr>
          <p:cNvPr id="1087" name="Google Shape;1087;p79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Desenvolver o software iterativamente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Gerenciar requisitos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Usar arquiteturas baseadas em componentes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Modelar o software visualmente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Verificar a qualidade de software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pt-BR"/>
              <a:t>Controlar as mudanças do software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9A1F8AD9-28F1-4320-91D0-D9F573E6A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8117769"/>
              </p:ext>
            </p:extLst>
          </p:nvPr>
        </p:nvGraphicFramePr>
        <p:xfrm>
          <a:off x="148856" y="122569"/>
          <a:ext cx="8812264" cy="6820572"/>
        </p:xfrm>
        <a:graphic>
          <a:graphicData uri="http://schemas.openxmlformats.org/drawingml/2006/table">
            <a:tbl>
              <a:tblPr/>
              <a:tblGrid>
                <a:gridCol w="1116418">
                  <a:extLst>
                    <a:ext uri="{9D8B030D-6E8A-4147-A177-3AD203B41FA5}">
                      <a16:colId xmlns:a16="http://schemas.microsoft.com/office/drawing/2014/main" val="3061181383"/>
                    </a:ext>
                  </a:extLst>
                </a:gridCol>
                <a:gridCol w="1843686">
                  <a:extLst>
                    <a:ext uri="{9D8B030D-6E8A-4147-A177-3AD203B41FA5}">
                      <a16:colId xmlns:a16="http://schemas.microsoft.com/office/drawing/2014/main" val="131460005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169911518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426964803"/>
                    </a:ext>
                  </a:extLst>
                </a:gridCol>
                <a:gridCol w="833593">
                  <a:extLst>
                    <a:ext uri="{9D8B030D-6E8A-4147-A177-3AD203B41FA5}">
                      <a16:colId xmlns:a16="http://schemas.microsoft.com/office/drawing/2014/main" val="1155020773"/>
                    </a:ext>
                  </a:extLst>
                </a:gridCol>
                <a:gridCol w="2092487">
                  <a:extLst>
                    <a:ext uri="{9D8B030D-6E8A-4147-A177-3AD203B41FA5}">
                      <a16:colId xmlns:a16="http://schemas.microsoft.com/office/drawing/2014/main" val="204768530"/>
                    </a:ext>
                  </a:extLst>
                </a:gridCol>
              </a:tblGrid>
              <a:tr h="683445"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</a:rPr>
                        <a:t>Modelo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</a:rPr>
                        <a:t>Foco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</a:rPr>
                        <a:t>Requisitos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</a:rPr>
                        <a:t>1ª versão p/ cliente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</a:rPr>
                        <a:t>Gerenciamento (1=mais simples)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effectLst/>
                        </a:rPr>
                        <a:t>Sistemas (</a:t>
                      </a:r>
                      <a:r>
                        <a:rPr lang="pt-BR" sz="1400" b="1" dirty="0" err="1">
                          <a:effectLst/>
                        </a:rPr>
                        <a:t>tamanhocomplexidademáximos</a:t>
                      </a:r>
                      <a:r>
                        <a:rPr lang="pt-BR" sz="1400" b="1" dirty="0">
                          <a:effectLst/>
                        </a:rPr>
                        <a:t>)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5003182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Cascata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Documento e artefato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Bem conhecido/congelado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Fim do ciclo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1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Simples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597691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V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Planejamento de testes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Bem conhecido/congelado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Fim do ciclo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2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Simples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018227"/>
                  </a:ext>
                </a:extLst>
              </a:tr>
              <a:tr h="683445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Incremental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Incrementos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Maior abstração / Tratado em módulos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Protótipos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3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Médio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177800"/>
                  </a:ext>
                </a:extLst>
              </a:tr>
              <a:tr h="525727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Evolutivo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Evolução dos requisitos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Pouco conhecidos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4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Médio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6966250"/>
                  </a:ext>
                </a:extLst>
              </a:tr>
              <a:tr h="998881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RAD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Rapidez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Escopo restrito / Maior abstração / Tratado em módulos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4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Médio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38450"/>
                  </a:ext>
                </a:extLst>
              </a:tr>
              <a:tr h="683445"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Prototipagem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Dúvidas nos Requisitos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Abstratos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não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5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Médio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325223"/>
                  </a:ext>
                </a:extLst>
              </a:tr>
              <a:tr h="841163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Espiral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Análise de risco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Maior abstração / evoluídos com o tempo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operacionais ou não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5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Complexos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273648"/>
                  </a:ext>
                </a:extLst>
              </a:tr>
              <a:tr h="841163"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RUP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Frameworks e boas práticas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Maior abstração / evoluídos com o tempo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Protótipos operacionais ou não operacionais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effectLst/>
                        </a:rPr>
                        <a:t>5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effectLst/>
                        </a:rPr>
                        <a:t>Complexos</a:t>
                      </a:r>
                    </a:p>
                  </a:txBody>
                  <a:tcPr marL="39288" marR="39288" marT="18858" marB="18858" anchor="ctr">
                    <a:lnL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CA6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914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92349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cteh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ctehma" id="{8ED94DAC-17E3-4555-9F77-7B44656B8459}" vid="{328B2D33-3A7D-43D5-BC19-FC301EBEF4CC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997</Words>
  <Application>Microsoft Office PowerPoint</Application>
  <PresentationFormat>Apresentação na tela (4:3)</PresentationFormat>
  <Paragraphs>192</Paragraphs>
  <Slides>28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Calibri</vt:lpstr>
      <vt:lpstr>Arial</vt:lpstr>
      <vt:lpstr>Times New Roman</vt:lpstr>
      <vt:lpstr>Tahoma</vt:lpstr>
      <vt:lpstr>Personalizar design</vt:lpstr>
      <vt:lpstr>puctehma</vt:lpstr>
      <vt:lpstr>  Métodos de Engenharia de Software </vt:lpstr>
      <vt:lpstr>Que deu errado neste sistema?</vt:lpstr>
      <vt:lpstr>Ciclo de Vida em Espiral</vt:lpstr>
      <vt:lpstr>Ciclo de Vida em Espiral</vt:lpstr>
      <vt:lpstr>Atividades </vt:lpstr>
      <vt:lpstr>CARACTERÍSTICAS</vt:lpstr>
      <vt:lpstr>PRIMEIRA ITERAÇÃO</vt:lpstr>
      <vt:lpstr>SEGUNDA ITERAÇÃO</vt:lpstr>
      <vt:lpstr>OUTRAS ITERAÇÕES</vt:lpstr>
      <vt:lpstr>Alguns Riscos</vt:lpstr>
      <vt:lpstr>Outros Riscos</vt:lpstr>
      <vt:lpstr>Outros Riscos</vt:lpstr>
      <vt:lpstr>Apresentação do PowerPoint</vt:lpstr>
      <vt:lpstr>Análise do Risco</vt:lpstr>
      <vt:lpstr>Tabela de Riscos</vt:lpstr>
      <vt:lpstr>Ciclo de Vida em Espiral </vt:lpstr>
      <vt:lpstr>Ciclo de Vida em Espiral </vt:lpstr>
      <vt:lpstr>O Processo Unificado  (RUP –Rational UnifiedProcess)</vt:lpstr>
      <vt:lpstr>Modelo de fases do RUP</vt:lpstr>
      <vt:lpstr>Fases do RUP ou PU</vt:lpstr>
      <vt:lpstr>Apresentação do PowerPoint</vt:lpstr>
      <vt:lpstr>Apresentação do PowerPoint</vt:lpstr>
      <vt:lpstr>Apresentação do PowerPoint</vt:lpstr>
      <vt:lpstr>Apresentação do PowerPoint</vt:lpstr>
      <vt:lpstr>FLUXO FASE TRANSIÇÃO</vt:lpstr>
      <vt:lpstr>ARTEFATOS</vt:lpstr>
      <vt:lpstr>Boas práticas do RUP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Métodos de Engenharia de Software</dc:title>
  <dc:creator>Osvaldo Takai</dc:creator>
  <cp:lastModifiedBy>Cecilia Sosa</cp:lastModifiedBy>
  <cp:revision>49</cp:revision>
  <dcterms:created xsi:type="dcterms:W3CDTF">1998-01-26T12:56:26Z</dcterms:created>
  <dcterms:modified xsi:type="dcterms:W3CDTF">2025-08-11T22:24:57Z</dcterms:modified>
</cp:coreProperties>
</file>