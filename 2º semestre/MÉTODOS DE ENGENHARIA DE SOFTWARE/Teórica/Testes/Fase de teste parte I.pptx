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5"/>
  </p:notesMasterIdLst>
  <p:sldIdLst>
    <p:sldId id="256" r:id="rId3"/>
    <p:sldId id="282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3" r:id="rId20"/>
    <p:sldId id="275" r:id="rId21"/>
    <p:sldId id="276" r:id="rId22"/>
    <p:sldId id="281" r:id="rId23"/>
    <p:sldId id="279" r:id="rId24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9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2CD83-FDA2-4186-A41E-5DCF5E3F254D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E30B4-4A64-4F5E-ABD3-4570B7B46E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52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3E30B4-4A64-4F5E-ABD3-4570B7B46E3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116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A3BDC74-9654-46DC-B2DD-88D237666171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6C43C3D-06B5-498A-AE3F-189DF372969D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F3C8755-BF0A-42B0-9E3D-30E415DD9EE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95EA8B-4E68-43D6-81FF-30D48AA2835E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1B79DBD-6AAC-4FED-9B47-D9750C98F077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7036298-E7D0-4846-9F0A-D0CCA14D62D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78B8921-5D85-4A57-80B1-655F291CA2C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A698427-4C5A-4A15-B324-82C099DBA42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6481CBA-555C-4480-B14E-89C85B3B7179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3162243-66DA-4766-B9AA-CDBD2B948ED6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C067D51-05A7-4546-B65A-A1FC4488CEAC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DCB7A-E904-4179-8094-0A908BBBA693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37EFED1-DB38-46EF-B123-C28AF4B1A01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4572DD9-872D-4318-802A-3AC9A3C600A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07BAF0-9E8C-4972-963B-6DBB9403D1FD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D02B685-446D-42A4-8532-C692AA65B68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B0A3B55-5352-4219-807E-5A0A3930B900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B3490A6-CEA4-4297-AE31-10E984209C56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A4F3D64-DAA7-4E68-8943-2E1DC6EEDADF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5E8EB67-DA2C-4B0B-8635-D01CB2DAFD0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F735DBE-0B34-4A50-9D48-73BA1CFAA84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920249F-AEAA-4874-A877-0818688001FD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A35E27E-A7AE-4E93-9FD5-A1C1B6255528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05402B-81E4-4035-ACEE-D05608EE2E31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10000">
              <a:srgbClr val="6BD1EC"/>
            </a:gs>
            <a:gs pos="100000">
              <a:srgbClr val="06588E"/>
            </a:gs>
          </a:gsLst>
          <a:lin ang="61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6"/>
          <p:cNvGrpSpPr/>
          <p:nvPr/>
        </p:nvGrpSpPr>
        <p:grpSpPr>
          <a:xfrm>
            <a:off x="9206640" y="2963160"/>
            <a:ext cx="2982600" cy="3209760"/>
            <a:chOff x="9206640" y="2963160"/>
            <a:chExt cx="2982600" cy="3209760"/>
          </a:xfrm>
        </p:grpSpPr>
        <p:cxnSp>
          <p:nvCxnSpPr>
            <p:cNvPr id="12" name="Straight Connector 7"/>
            <p:cNvCxnSpPr/>
            <p:nvPr/>
          </p:nvCxnSpPr>
          <p:spPr>
            <a:xfrm flipH="1">
              <a:off x="11275920" y="2963160"/>
              <a:ext cx="913680" cy="91404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2" name="Straight Connector 8"/>
            <p:cNvCxnSpPr/>
            <p:nvPr/>
          </p:nvCxnSpPr>
          <p:spPr>
            <a:xfrm flipH="1">
              <a:off x="9206640" y="3190320"/>
              <a:ext cx="2982960" cy="298296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3" name="Straight Connector 9"/>
            <p:cNvCxnSpPr/>
            <p:nvPr/>
          </p:nvCxnSpPr>
          <p:spPr>
            <a:xfrm flipH="1">
              <a:off x="10292040" y="3285000"/>
              <a:ext cx="1897560" cy="189756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4" name="Straight Connector 10"/>
            <p:cNvCxnSpPr/>
            <p:nvPr/>
          </p:nvCxnSpPr>
          <p:spPr>
            <a:xfrm flipH="1">
              <a:off x="10442880" y="3130920"/>
              <a:ext cx="1746720" cy="1746720"/>
            </a:xfrm>
            <a:prstGeom prst="straightConnector1">
              <a:avLst/>
            </a:prstGeom>
            <a:ln w="28575" cap="rnd">
              <a:solidFill>
                <a:srgbClr val="FFFFFF"/>
              </a:solidFill>
              <a:round/>
            </a:ln>
          </p:spPr>
        </p:cxnSp>
        <p:cxnSp>
          <p:nvCxnSpPr>
            <p:cNvPr id="5" name="Straight Connector 11"/>
            <p:cNvCxnSpPr/>
            <p:nvPr/>
          </p:nvCxnSpPr>
          <p:spPr>
            <a:xfrm flipH="1">
              <a:off x="10918800" y="3682800"/>
              <a:ext cx="1270800" cy="1271160"/>
            </a:xfrm>
            <a:prstGeom prst="straightConnector1">
              <a:avLst/>
            </a:prstGeom>
            <a:ln w="28575" cap="rnd">
              <a:solidFill>
                <a:srgbClr val="FFFFFF"/>
              </a:solidFill>
              <a:round/>
            </a:ln>
          </p:spPr>
        </p:cxnSp>
      </p:grpSp>
      <p:sp>
        <p:nvSpPr>
          <p:cNvPr id="6" name="PlaceHolder 1"/>
          <p:cNvSpPr>
            <a:spLocks noGrp="1"/>
          </p:cNvSpPr>
          <p:nvPr>
            <p:ph type="ftr" idx="1"/>
          </p:nvPr>
        </p:nvSpPr>
        <p:spPr>
          <a:xfrm>
            <a:off x="684360" y="6172200"/>
            <a:ext cx="7542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2"/>
          </p:nvPr>
        </p:nvSpPr>
        <p:spPr>
          <a:xfrm>
            <a:off x="10363320" y="5578560"/>
            <a:ext cx="1141200" cy="66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3200" b="0" strike="noStrike" spc="-1">
                <a:solidFill>
                  <a:srgbClr val="0A304A"/>
                </a:solidFill>
                <a:latin typeface="Century Gothic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A67B04-DD47-42E0-80BA-6317D2C70CB1}" type="slidenum">
              <a:rPr lang="en-US" sz="3200" b="0" strike="noStrike" spc="-1">
                <a:solidFill>
                  <a:srgbClr val="0A304A"/>
                </a:solidFill>
                <a:latin typeface="Century Gothic"/>
                <a:ea typeface="DejaVu Sans"/>
              </a:rPr>
              <a:t>‹nº›</a:t>
            </a:fld>
            <a:endParaRPr lang="pt-BR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3"/>
          </p:nvPr>
        </p:nvSpPr>
        <p:spPr>
          <a:xfrm>
            <a:off x="9904320" y="6172200"/>
            <a:ext cx="1599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10000">
              <a:srgbClr val="6BD1EC"/>
            </a:gs>
            <a:gs pos="100000">
              <a:srgbClr val="06588E"/>
            </a:gs>
          </a:gsLst>
          <a:lin ang="61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9206640" y="2963160"/>
            <a:ext cx="2982600" cy="3209760"/>
            <a:chOff x="9206640" y="2963160"/>
            <a:chExt cx="2982600" cy="3209760"/>
          </a:xfrm>
        </p:grpSpPr>
        <p:cxnSp>
          <p:nvCxnSpPr>
            <p:cNvPr id="48" name="Straight Connector 7"/>
            <p:cNvCxnSpPr/>
            <p:nvPr/>
          </p:nvCxnSpPr>
          <p:spPr>
            <a:xfrm flipH="1">
              <a:off x="11275920" y="2963160"/>
              <a:ext cx="913680" cy="91404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49" name="Straight Connector 8"/>
            <p:cNvCxnSpPr/>
            <p:nvPr/>
          </p:nvCxnSpPr>
          <p:spPr>
            <a:xfrm flipH="1">
              <a:off x="9206640" y="3190320"/>
              <a:ext cx="2982960" cy="298296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50" name="Straight Connector 9"/>
            <p:cNvCxnSpPr/>
            <p:nvPr/>
          </p:nvCxnSpPr>
          <p:spPr>
            <a:xfrm flipH="1">
              <a:off x="10292040" y="3285000"/>
              <a:ext cx="1897560" cy="1897560"/>
            </a:xfrm>
            <a:prstGeom prst="straightConnector1">
              <a:avLst/>
            </a:prstGeom>
            <a:ln w="9525" cap="rnd">
              <a:solidFill>
                <a:srgbClr val="FFFFFF"/>
              </a:solidFill>
              <a:round/>
            </a:ln>
          </p:spPr>
        </p:cxnSp>
        <p:cxnSp>
          <p:nvCxnSpPr>
            <p:cNvPr id="51" name="Straight Connector 10"/>
            <p:cNvCxnSpPr/>
            <p:nvPr/>
          </p:nvCxnSpPr>
          <p:spPr>
            <a:xfrm flipH="1">
              <a:off x="10442880" y="3130920"/>
              <a:ext cx="1746720" cy="1746720"/>
            </a:xfrm>
            <a:prstGeom prst="straightConnector1">
              <a:avLst/>
            </a:prstGeom>
            <a:ln w="28575" cap="rnd">
              <a:solidFill>
                <a:srgbClr val="FFFFFF"/>
              </a:solidFill>
              <a:round/>
            </a:ln>
          </p:spPr>
        </p:cxnSp>
        <p:cxnSp>
          <p:nvCxnSpPr>
            <p:cNvPr id="52" name="Straight Connector 11"/>
            <p:cNvCxnSpPr/>
            <p:nvPr/>
          </p:nvCxnSpPr>
          <p:spPr>
            <a:xfrm flipH="1">
              <a:off x="10918800" y="3682800"/>
              <a:ext cx="1270800" cy="1271160"/>
            </a:xfrm>
            <a:prstGeom prst="straightConnector1">
              <a:avLst/>
            </a:prstGeom>
            <a:ln w="28575" cap="rnd">
              <a:solidFill>
                <a:srgbClr val="FFFFFF"/>
              </a:solidFill>
              <a:round/>
            </a:ln>
          </p:spPr>
        </p:cxn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ftr" idx="4"/>
          </p:nvPr>
        </p:nvSpPr>
        <p:spPr>
          <a:xfrm>
            <a:off x="684360" y="6172200"/>
            <a:ext cx="7542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5"/>
          </p:nvPr>
        </p:nvSpPr>
        <p:spPr>
          <a:xfrm>
            <a:off x="10363320" y="5578560"/>
            <a:ext cx="1141200" cy="66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3200" b="0" strike="noStrike" spc="-1">
                <a:solidFill>
                  <a:srgbClr val="0A304A"/>
                </a:solidFill>
                <a:latin typeface="Century Gothic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B2F56E-4C02-479C-90E5-594679F11358}" type="slidenum">
              <a:rPr lang="en-US" sz="3200" b="0" strike="noStrike" spc="-1">
                <a:solidFill>
                  <a:srgbClr val="0A304A"/>
                </a:solidFill>
                <a:latin typeface="Century Gothic"/>
                <a:ea typeface="DejaVu Sans"/>
              </a:rPr>
              <a:t>‹nº›</a:t>
            </a:fld>
            <a:endParaRPr lang="pt-BR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6"/>
          </p:nvPr>
        </p:nvSpPr>
        <p:spPr>
          <a:xfrm>
            <a:off x="9904320" y="6172200"/>
            <a:ext cx="1599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 dirty="0">
                <a:solidFill>
                  <a:srgbClr val="000000"/>
                </a:solidFill>
                <a:latin typeface="Arial"/>
                <a:ea typeface="DejaVu Sans"/>
              </a:rPr>
              <a:t>Objetivos do teste?</a:t>
            </a:r>
            <a:endParaRPr lang="pt-BR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 fontScale="93000"/>
          </a:bodyPr>
          <a:lstStyle/>
          <a:p>
            <a:pPr marL="212040" indent="-21204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Demonstrar que o teste está livre de defeitos? NÃO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12040" indent="-21204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Encontrar a existência de falhas!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12040" indent="-21204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Garantir conformidade com os requisitos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1204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Os testes podem mostrar apenas a presença de defeitos, mas não a sua ausência.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1204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600" b="0" strike="noStrike" spc="-1">
                <a:solidFill>
                  <a:srgbClr val="000000"/>
                </a:solidFill>
                <a:latin typeface="Arial"/>
                <a:ea typeface="DejaVu Sans"/>
              </a:rPr>
              <a:t>Avaliar atributos como desempenho, usabilidade e segurança.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92757" y="1440360"/>
            <a:ext cx="10972440" cy="3977280"/>
          </a:xfrm>
        </p:spPr>
        <p:txBody>
          <a:bodyPr/>
          <a:lstStyle/>
          <a:p>
            <a:r>
              <a:rPr lang="pt-BR" sz="3600" b="1" dirty="0" err="1"/>
              <a:t>Sommerville</a:t>
            </a:r>
            <a:r>
              <a:rPr lang="pt-BR" sz="3600" b="1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Demonstrar que o software atende aos requisitos.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Descobrir situações em que o software falha ou se comporta incorretamente.</a:t>
            </a:r>
          </a:p>
          <a:p>
            <a:r>
              <a:rPr lang="pt-BR" sz="3600" b="1" dirty="0"/>
              <a:t>Pressman: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Revelar erros lógicos e funcionais.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Garantir a qualidade, confiabilidade e desempenho do software.</a:t>
            </a:r>
          </a:p>
          <a:p>
            <a:r>
              <a:rPr lang="pt-BR" sz="3600" b="1" dirty="0" err="1"/>
              <a:t>Boehm</a:t>
            </a:r>
            <a:r>
              <a:rPr lang="pt-BR" sz="3600" b="1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Verificação: conformidade com especificações.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Validação: atendimento às necessidades do usuário.</a:t>
            </a:r>
          </a:p>
        </p:txBody>
      </p:sp>
    </p:spTree>
    <p:extLst>
      <p:ext uri="{BB962C8B-B14F-4D97-AF65-F5344CB8AC3E}">
        <p14:creationId xmlns:p14="http://schemas.microsoft.com/office/powerpoint/2010/main" val="56055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aixaDeTexto 8"/>
          <p:cNvSpPr/>
          <p:nvPr/>
        </p:nvSpPr>
        <p:spPr>
          <a:xfrm>
            <a:off x="9759240" y="6488640"/>
            <a:ext cx="1993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Sommerville (2011)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95320" y="9684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Objetivos do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m 1"/>
          <p:cNvPicPr/>
          <p:nvPr/>
        </p:nvPicPr>
        <p:blipFill>
          <a:blip r:embed="rId2"/>
          <a:stretch/>
        </p:blipFill>
        <p:spPr>
          <a:xfrm>
            <a:off x="946440" y="1351440"/>
            <a:ext cx="9808200" cy="487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FASES E Estágios dos testes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40000" y="166788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Fase: relacionada ao momento do ciclo de vida do software em que o teste ocorre.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Enfoque:  nível de decomposição ou integração dos componentes no momento do teste.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Estágios dos testes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60000" y="144000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1. Testes de desenvolvimento (unidade e componente) 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2. Testes de sistema. 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3. Teste de aceitação.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Imagem 2"/>
          <p:cNvPicPr/>
          <p:nvPr/>
        </p:nvPicPr>
        <p:blipFill>
          <a:blip r:embed="rId2"/>
          <a:stretch/>
        </p:blipFill>
        <p:spPr>
          <a:xfrm>
            <a:off x="180000" y="4680000"/>
            <a:ext cx="9424800" cy="1956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Estágios dos testes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1. Testes de desenvolvimento.  Ferramentas de automação de teste, como Junit.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2. Testes de sistema.  Também visa mostrar que o sistema satisfaz seus requisitos funcionais e não funcionais.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38268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Estágios dos testes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01800" y="1668600"/>
            <a:ext cx="11289240" cy="486612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3. Testes de aceitação: validação final segundo os critérios do cliente.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20720" y="344520"/>
            <a:ext cx="114703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Fases de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30400" indent="-32400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000000"/>
              </a:buClr>
              <a:buFont typeface="StarSymbo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Desenvolvimento: durante a construção do software.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-32400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000000"/>
              </a:buClr>
              <a:buFont typeface="StarSymbo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Release (ou Aceitação): antes da entrega para o cliente.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230400" indent="-32400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000000"/>
              </a:buClr>
              <a:buFont typeface="StarSymbo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Usuário: após a entrega, no ambiente do cliente.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NÍVEIS DE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tângulo 3"/>
          <p:cNvSpPr/>
          <p:nvPr/>
        </p:nvSpPr>
        <p:spPr>
          <a:xfrm>
            <a:off x="853560" y="1418040"/>
            <a:ext cx="1067292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Durante o desenvolvimento, o teste pode ocorrer em três níveis: 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Teste de Unidade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Teste dos menores blocos de código (funções, métodos, classes).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Teste de Integração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Verifica a interação entre unidades de software.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Identifica falhas na comunicação entre módulos.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Pode ser: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Incremental (top-</a:t>
            </a:r>
            <a:r>
              <a:rPr lang="pt-BR" sz="24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down</a:t>
            </a: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pt-BR" sz="24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bottom-up</a:t>
            </a: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sanduíche)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Não incremental (big </a:t>
            </a:r>
            <a:r>
              <a:rPr lang="pt-BR" sz="24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bang</a:t>
            </a: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Teste de Sistema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Avaliação do sistema como um todo.</a:t>
            </a:r>
            <a:endParaRPr lang="pt-BR" sz="2400" b="1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Inclui testes de desempenho, carga, estresse, segurança e usabilidade.</a:t>
            </a:r>
            <a:endParaRPr lang="pt-B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m 126"/>
          <p:cNvPicPr/>
          <p:nvPr/>
        </p:nvPicPr>
        <p:blipFill>
          <a:blip r:embed="rId2"/>
          <a:stretch/>
        </p:blipFill>
        <p:spPr>
          <a:xfrm>
            <a:off x="2607840" y="719280"/>
            <a:ext cx="7105320" cy="5505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0" y="344520"/>
            <a:ext cx="105955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Níveis de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aixaDeTexto 215"/>
          <p:cNvSpPr/>
          <p:nvPr/>
        </p:nvSpPr>
        <p:spPr>
          <a:xfrm>
            <a:off x="2146680" y="1834200"/>
            <a:ext cx="6660360" cy="41904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0" name="CaixaDeTexto 216"/>
          <p:cNvSpPr/>
          <p:nvPr/>
        </p:nvSpPr>
        <p:spPr>
          <a:xfrm>
            <a:off x="2438280" y="2098440"/>
            <a:ext cx="2833560" cy="170748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1" name="CaixaDeTexto 217"/>
          <p:cNvSpPr/>
          <p:nvPr/>
        </p:nvSpPr>
        <p:spPr>
          <a:xfrm>
            <a:off x="2590920" y="2655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2" name="CaixaDeTexto 218"/>
          <p:cNvSpPr/>
          <p:nvPr/>
        </p:nvSpPr>
        <p:spPr>
          <a:xfrm>
            <a:off x="2590920" y="30463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3" name="CaixaDeTexto 219"/>
          <p:cNvSpPr/>
          <p:nvPr/>
        </p:nvSpPr>
        <p:spPr>
          <a:xfrm>
            <a:off x="2590920" y="34236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4" name="CaixaDeTexto 220"/>
          <p:cNvSpPr/>
          <p:nvPr/>
        </p:nvSpPr>
        <p:spPr>
          <a:xfrm>
            <a:off x="3112920" y="225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5" name="CaixaDeTexto 337"/>
          <p:cNvSpPr/>
          <p:nvPr/>
        </p:nvSpPr>
        <p:spPr>
          <a:xfrm>
            <a:off x="3112920" y="30463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6" name="CaixaDeTexto 338"/>
          <p:cNvSpPr/>
          <p:nvPr/>
        </p:nvSpPr>
        <p:spPr>
          <a:xfrm>
            <a:off x="3635280" y="225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7" name="CaixaDeTexto 339"/>
          <p:cNvSpPr/>
          <p:nvPr/>
        </p:nvSpPr>
        <p:spPr>
          <a:xfrm>
            <a:off x="3635280" y="2655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8" name="CaixaDeTexto 340"/>
          <p:cNvSpPr/>
          <p:nvPr/>
        </p:nvSpPr>
        <p:spPr>
          <a:xfrm>
            <a:off x="3635280" y="30463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39" name="CaixaDeTexto 341"/>
          <p:cNvSpPr/>
          <p:nvPr/>
        </p:nvSpPr>
        <p:spPr>
          <a:xfrm>
            <a:off x="3635280" y="34236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0" name="CaixaDeTexto 342"/>
          <p:cNvSpPr/>
          <p:nvPr/>
        </p:nvSpPr>
        <p:spPr>
          <a:xfrm>
            <a:off x="4157640" y="2655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1" name="CaixaDeTexto 343"/>
          <p:cNvSpPr/>
          <p:nvPr/>
        </p:nvSpPr>
        <p:spPr>
          <a:xfrm>
            <a:off x="4157640" y="30463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2" name="CaixaDeTexto 344"/>
          <p:cNvSpPr/>
          <p:nvPr/>
        </p:nvSpPr>
        <p:spPr>
          <a:xfrm>
            <a:off x="4157640" y="34236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3" name="CaixaDeTexto 345"/>
          <p:cNvSpPr/>
          <p:nvPr/>
        </p:nvSpPr>
        <p:spPr>
          <a:xfrm>
            <a:off x="4713120" y="225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4" name="CaixaDeTexto 346"/>
          <p:cNvSpPr/>
          <p:nvPr/>
        </p:nvSpPr>
        <p:spPr>
          <a:xfrm>
            <a:off x="4713120" y="2655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5" name="CaixaDeTexto 347"/>
          <p:cNvSpPr/>
          <p:nvPr/>
        </p:nvSpPr>
        <p:spPr>
          <a:xfrm>
            <a:off x="4713120" y="30463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6" name="CaixaDeTexto 348"/>
          <p:cNvSpPr/>
          <p:nvPr/>
        </p:nvSpPr>
        <p:spPr>
          <a:xfrm>
            <a:off x="4713120" y="34236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7" name="CaixaDeTexto 349"/>
          <p:cNvSpPr/>
          <p:nvPr/>
        </p:nvSpPr>
        <p:spPr>
          <a:xfrm>
            <a:off x="5671440" y="2103840"/>
            <a:ext cx="2833560" cy="36558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aixaDeTexto 350"/>
          <p:cNvSpPr/>
          <p:nvPr/>
        </p:nvSpPr>
        <p:spPr>
          <a:xfrm>
            <a:off x="5823720" y="2256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49" name="CaixaDeTexto 351"/>
          <p:cNvSpPr/>
          <p:nvPr/>
        </p:nvSpPr>
        <p:spPr>
          <a:xfrm>
            <a:off x="5823720" y="26614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0" name="CaixaDeTexto 352"/>
          <p:cNvSpPr/>
          <p:nvPr/>
        </p:nvSpPr>
        <p:spPr>
          <a:xfrm>
            <a:off x="5823720" y="3051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1" name="CaixaDeTexto 353"/>
          <p:cNvSpPr/>
          <p:nvPr/>
        </p:nvSpPr>
        <p:spPr>
          <a:xfrm>
            <a:off x="5823720" y="3429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2" name="CaixaDeTexto 354"/>
          <p:cNvSpPr/>
          <p:nvPr/>
        </p:nvSpPr>
        <p:spPr>
          <a:xfrm>
            <a:off x="6346080" y="2256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3" name="CaixaDeTexto 355"/>
          <p:cNvSpPr/>
          <p:nvPr/>
        </p:nvSpPr>
        <p:spPr>
          <a:xfrm>
            <a:off x="6346080" y="26614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4" name="CaixaDeTexto 356"/>
          <p:cNvSpPr/>
          <p:nvPr/>
        </p:nvSpPr>
        <p:spPr>
          <a:xfrm>
            <a:off x="6346080" y="3051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5" name="CaixaDeTexto 357"/>
          <p:cNvSpPr/>
          <p:nvPr/>
        </p:nvSpPr>
        <p:spPr>
          <a:xfrm>
            <a:off x="6346080" y="3429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6" name="CaixaDeTexto 358"/>
          <p:cNvSpPr/>
          <p:nvPr/>
        </p:nvSpPr>
        <p:spPr>
          <a:xfrm>
            <a:off x="6868080" y="2256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7" name="CaixaDeTexto 359"/>
          <p:cNvSpPr/>
          <p:nvPr/>
        </p:nvSpPr>
        <p:spPr>
          <a:xfrm>
            <a:off x="6868080" y="26614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8" name="CaixaDeTexto 360"/>
          <p:cNvSpPr/>
          <p:nvPr/>
        </p:nvSpPr>
        <p:spPr>
          <a:xfrm>
            <a:off x="6868080" y="3051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59" name="CaixaDeTexto 361"/>
          <p:cNvSpPr/>
          <p:nvPr/>
        </p:nvSpPr>
        <p:spPr>
          <a:xfrm>
            <a:off x="6868080" y="3429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0" name="CaixaDeTexto 362"/>
          <p:cNvSpPr/>
          <p:nvPr/>
        </p:nvSpPr>
        <p:spPr>
          <a:xfrm>
            <a:off x="7390440" y="2256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1" name="CaixaDeTexto 363"/>
          <p:cNvSpPr/>
          <p:nvPr/>
        </p:nvSpPr>
        <p:spPr>
          <a:xfrm>
            <a:off x="7390440" y="26614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2" name="CaixaDeTexto 364"/>
          <p:cNvSpPr/>
          <p:nvPr/>
        </p:nvSpPr>
        <p:spPr>
          <a:xfrm>
            <a:off x="7390440" y="3051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3" name="CaixaDeTexto 365"/>
          <p:cNvSpPr/>
          <p:nvPr/>
        </p:nvSpPr>
        <p:spPr>
          <a:xfrm>
            <a:off x="7390440" y="3429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4" name="CaixaDeTexto 366"/>
          <p:cNvSpPr/>
          <p:nvPr/>
        </p:nvSpPr>
        <p:spPr>
          <a:xfrm>
            <a:off x="7946280" y="2256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5" name="CaixaDeTexto 367"/>
          <p:cNvSpPr/>
          <p:nvPr/>
        </p:nvSpPr>
        <p:spPr>
          <a:xfrm>
            <a:off x="7946280" y="26614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6" name="CaixaDeTexto 368"/>
          <p:cNvSpPr/>
          <p:nvPr/>
        </p:nvSpPr>
        <p:spPr>
          <a:xfrm>
            <a:off x="7946280" y="3051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7" name="CaixaDeTexto 369"/>
          <p:cNvSpPr/>
          <p:nvPr/>
        </p:nvSpPr>
        <p:spPr>
          <a:xfrm>
            <a:off x="7946280" y="3429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8" name="CaixaDeTexto 370"/>
          <p:cNvSpPr/>
          <p:nvPr/>
        </p:nvSpPr>
        <p:spPr>
          <a:xfrm>
            <a:off x="5826600" y="3795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69" name="CaixaDeTexto 371"/>
          <p:cNvSpPr/>
          <p:nvPr/>
        </p:nvSpPr>
        <p:spPr>
          <a:xfrm>
            <a:off x="5826600" y="4200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0" name="CaixaDeTexto 372"/>
          <p:cNvSpPr/>
          <p:nvPr/>
        </p:nvSpPr>
        <p:spPr>
          <a:xfrm>
            <a:off x="5826600" y="459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1" name="CaixaDeTexto 373"/>
          <p:cNvSpPr/>
          <p:nvPr/>
        </p:nvSpPr>
        <p:spPr>
          <a:xfrm>
            <a:off x="5823720" y="4968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2" name="CaixaDeTexto 374"/>
          <p:cNvSpPr/>
          <p:nvPr/>
        </p:nvSpPr>
        <p:spPr>
          <a:xfrm>
            <a:off x="6348600" y="3795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3" name="CaixaDeTexto 375"/>
          <p:cNvSpPr/>
          <p:nvPr/>
        </p:nvSpPr>
        <p:spPr>
          <a:xfrm>
            <a:off x="6348600" y="4200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4" name="CaixaDeTexto 376"/>
          <p:cNvSpPr/>
          <p:nvPr/>
        </p:nvSpPr>
        <p:spPr>
          <a:xfrm>
            <a:off x="6348600" y="459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5" name="CaixaDeTexto 377"/>
          <p:cNvSpPr/>
          <p:nvPr/>
        </p:nvSpPr>
        <p:spPr>
          <a:xfrm>
            <a:off x="6346080" y="4968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6" name="CaixaDeTexto 378"/>
          <p:cNvSpPr/>
          <p:nvPr/>
        </p:nvSpPr>
        <p:spPr>
          <a:xfrm>
            <a:off x="6870960" y="3795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7" name="CaixaDeTexto 379"/>
          <p:cNvSpPr/>
          <p:nvPr/>
        </p:nvSpPr>
        <p:spPr>
          <a:xfrm>
            <a:off x="6870960" y="4200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8" name="CaixaDeTexto 380"/>
          <p:cNvSpPr/>
          <p:nvPr/>
        </p:nvSpPr>
        <p:spPr>
          <a:xfrm>
            <a:off x="6870960" y="459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79" name="CaixaDeTexto 381"/>
          <p:cNvSpPr/>
          <p:nvPr/>
        </p:nvSpPr>
        <p:spPr>
          <a:xfrm>
            <a:off x="6868080" y="4968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0" name="CaixaDeTexto 382"/>
          <p:cNvSpPr/>
          <p:nvPr/>
        </p:nvSpPr>
        <p:spPr>
          <a:xfrm>
            <a:off x="7393320" y="3795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1" name="CaixaDeTexto 383"/>
          <p:cNvSpPr/>
          <p:nvPr/>
        </p:nvSpPr>
        <p:spPr>
          <a:xfrm>
            <a:off x="7393320" y="4200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2" name="CaixaDeTexto 384"/>
          <p:cNvSpPr/>
          <p:nvPr/>
        </p:nvSpPr>
        <p:spPr>
          <a:xfrm>
            <a:off x="7393320" y="459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3" name="CaixaDeTexto 385"/>
          <p:cNvSpPr/>
          <p:nvPr/>
        </p:nvSpPr>
        <p:spPr>
          <a:xfrm>
            <a:off x="7390440" y="4968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4" name="CaixaDeTexto 386"/>
          <p:cNvSpPr/>
          <p:nvPr/>
        </p:nvSpPr>
        <p:spPr>
          <a:xfrm>
            <a:off x="7948800" y="3795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5" name="CaixaDeTexto 387"/>
          <p:cNvSpPr/>
          <p:nvPr/>
        </p:nvSpPr>
        <p:spPr>
          <a:xfrm>
            <a:off x="7948800" y="42001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6" name="CaixaDeTexto 388"/>
          <p:cNvSpPr/>
          <p:nvPr/>
        </p:nvSpPr>
        <p:spPr>
          <a:xfrm>
            <a:off x="7948800" y="4590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7" name="CaixaDeTexto 389"/>
          <p:cNvSpPr/>
          <p:nvPr/>
        </p:nvSpPr>
        <p:spPr>
          <a:xfrm>
            <a:off x="7948800" y="496800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8" name="CaixaDeTexto 390"/>
          <p:cNvSpPr/>
          <p:nvPr/>
        </p:nvSpPr>
        <p:spPr>
          <a:xfrm>
            <a:off x="5823720" y="53823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89" name="CaixaDeTexto 391"/>
          <p:cNvSpPr/>
          <p:nvPr/>
        </p:nvSpPr>
        <p:spPr>
          <a:xfrm>
            <a:off x="6346080" y="53823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0" name="CaixaDeTexto 392"/>
          <p:cNvSpPr/>
          <p:nvPr/>
        </p:nvSpPr>
        <p:spPr>
          <a:xfrm>
            <a:off x="6868080" y="53823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1" name="CaixaDeTexto 393"/>
          <p:cNvSpPr/>
          <p:nvPr/>
        </p:nvSpPr>
        <p:spPr>
          <a:xfrm>
            <a:off x="7390440" y="53823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2" name="CaixaDeTexto 394"/>
          <p:cNvSpPr/>
          <p:nvPr/>
        </p:nvSpPr>
        <p:spPr>
          <a:xfrm>
            <a:off x="7948800" y="53823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3" name="CaixaDeTexto 395"/>
          <p:cNvSpPr/>
          <p:nvPr/>
        </p:nvSpPr>
        <p:spPr>
          <a:xfrm>
            <a:off x="9101160" y="3553920"/>
            <a:ext cx="14684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FFFF"/>
                </a:solidFill>
                <a:latin typeface="Arial"/>
                <a:ea typeface="DejaVu Sans"/>
              </a:rPr>
              <a:t>Teste de sistema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4" name="Conector de Seta Reta 19"/>
          <p:cNvCxnSpPr/>
          <p:nvPr/>
        </p:nvCxnSpPr>
        <p:spPr>
          <a:xfrm flipV="1">
            <a:off x="1746720" y="2383560"/>
            <a:ext cx="838800" cy="513720"/>
          </a:xfrm>
          <a:prstGeom prst="straightConnector1">
            <a:avLst/>
          </a:prstGeom>
          <a:ln w="38160">
            <a:solidFill>
              <a:srgbClr val="FFFFFF"/>
            </a:solidFill>
            <a:miter/>
            <a:tailEnd type="triangle" w="med" len="med"/>
          </a:ln>
        </p:spPr>
      </p:cxnSp>
      <p:sp>
        <p:nvSpPr>
          <p:cNvPr id="195" name="Chave Direita 4"/>
          <p:cNvSpPr/>
          <p:nvPr/>
        </p:nvSpPr>
        <p:spPr>
          <a:xfrm>
            <a:off x="8937720" y="1555560"/>
            <a:ext cx="298440" cy="4658760"/>
          </a:xfrm>
          <a:prstGeom prst="rightBrace">
            <a:avLst>
              <a:gd name="adj1" fmla="val 8333"/>
              <a:gd name="adj2" fmla="val 50000"/>
            </a:avLst>
          </a:prstGeom>
          <a:noFill/>
          <a:ln w="2844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6" name="CaixaDeTexto 396"/>
          <p:cNvSpPr/>
          <p:nvPr/>
        </p:nvSpPr>
        <p:spPr>
          <a:xfrm>
            <a:off x="3112560" y="26467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7" name="CaixaDeTexto 397"/>
          <p:cNvSpPr/>
          <p:nvPr/>
        </p:nvSpPr>
        <p:spPr>
          <a:xfrm>
            <a:off x="3110760" y="34178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8" name="CaixaDeTexto 398"/>
          <p:cNvSpPr/>
          <p:nvPr/>
        </p:nvSpPr>
        <p:spPr>
          <a:xfrm>
            <a:off x="2586600" y="22611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199" name="CaixaDeTexto 399"/>
          <p:cNvSpPr/>
          <p:nvPr/>
        </p:nvSpPr>
        <p:spPr>
          <a:xfrm>
            <a:off x="4174200" y="22460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0" name="CaixaDeTexto 400"/>
          <p:cNvSpPr/>
          <p:nvPr/>
        </p:nvSpPr>
        <p:spPr>
          <a:xfrm>
            <a:off x="2421720" y="4097880"/>
            <a:ext cx="2833560" cy="170748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1" name="CaixaDeTexto 401"/>
          <p:cNvSpPr/>
          <p:nvPr/>
        </p:nvSpPr>
        <p:spPr>
          <a:xfrm>
            <a:off x="2574000" y="46555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2" name="CaixaDeTexto 402"/>
          <p:cNvSpPr/>
          <p:nvPr/>
        </p:nvSpPr>
        <p:spPr>
          <a:xfrm>
            <a:off x="2574000" y="50457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3" name="CaixaDeTexto 403"/>
          <p:cNvSpPr/>
          <p:nvPr/>
        </p:nvSpPr>
        <p:spPr>
          <a:xfrm>
            <a:off x="2574000" y="54230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4" name="CaixaDeTexto 404"/>
          <p:cNvSpPr/>
          <p:nvPr/>
        </p:nvSpPr>
        <p:spPr>
          <a:xfrm>
            <a:off x="3096360" y="42501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5" name="CaixaDeTexto 405"/>
          <p:cNvSpPr/>
          <p:nvPr/>
        </p:nvSpPr>
        <p:spPr>
          <a:xfrm>
            <a:off x="3096360" y="50457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6" name="CaixaDeTexto 406"/>
          <p:cNvSpPr/>
          <p:nvPr/>
        </p:nvSpPr>
        <p:spPr>
          <a:xfrm>
            <a:off x="3618720" y="42501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7" name="CaixaDeTexto 407"/>
          <p:cNvSpPr/>
          <p:nvPr/>
        </p:nvSpPr>
        <p:spPr>
          <a:xfrm>
            <a:off x="3618720" y="46555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8" name="CaixaDeTexto 408"/>
          <p:cNvSpPr/>
          <p:nvPr/>
        </p:nvSpPr>
        <p:spPr>
          <a:xfrm>
            <a:off x="3618720" y="50457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09" name="CaixaDeTexto 409"/>
          <p:cNvSpPr/>
          <p:nvPr/>
        </p:nvSpPr>
        <p:spPr>
          <a:xfrm>
            <a:off x="3618720" y="54230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0" name="CaixaDeTexto 410"/>
          <p:cNvSpPr/>
          <p:nvPr/>
        </p:nvSpPr>
        <p:spPr>
          <a:xfrm>
            <a:off x="4140720" y="46555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1" name="CaixaDeTexto 411"/>
          <p:cNvSpPr/>
          <p:nvPr/>
        </p:nvSpPr>
        <p:spPr>
          <a:xfrm>
            <a:off x="4140720" y="50457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2" name="CaixaDeTexto 412"/>
          <p:cNvSpPr/>
          <p:nvPr/>
        </p:nvSpPr>
        <p:spPr>
          <a:xfrm>
            <a:off x="4140720" y="54230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3" name="CaixaDeTexto 413"/>
          <p:cNvSpPr/>
          <p:nvPr/>
        </p:nvSpPr>
        <p:spPr>
          <a:xfrm>
            <a:off x="4696560" y="42501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4" name="CaixaDeTexto 414"/>
          <p:cNvSpPr/>
          <p:nvPr/>
        </p:nvSpPr>
        <p:spPr>
          <a:xfrm>
            <a:off x="4696560" y="46555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5" name="CaixaDeTexto 415"/>
          <p:cNvSpPr/>
          <p:nvPr/>
        </p:nvSpPr>
        <p:spPr>
          <a:xfrm>
            <a:off x="4696560" y="50457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6" name="CaixaDeTexto 416"/>
          <p:cNvSpPr/>
          <p:nvPr/>
        </p:nvSpPr>
        <p:spPr>
          <a:xfrm>
            <a:off x="4696560" y="54230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7" name="CaixaDeTexto 417"/>
          <p:cNvSpPr/>
          <p:nvPr/>
        </p:nvSpPr>
        <p:spPr>
          <a:xfrm>
            <a:off x="3096000" y="464652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8" name="CaixaDeTexto 418"/>
          <p:cNvSpPr/>
          <p:nvPr/>
        </p:nvSpPr>
        <p:spPr>
          <a:xfrm>
            <a:off x="3094200" y="541728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19" name="CaixaDeTexto 419"/>
          <p:cNvSpPr/>
          <p:nvPr/>
        </p:nvSpPr>
        <p:spPr>
          <a:xfrm>
            <a:off x="2570040" y="426096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sp>
        <p:nvSpPr>
          <p:cNvPr id="220" name="CaixaDeTexto 420"/>
          <p:cNvSpPr/>
          <p:nvPr/>
        </p:nvSpPr>
        <p:spPr>
          <a:xfrm>
            <a:off x="4157640" y="4245840"/>
            <a:ext cx="400680" cy="250200"/>
          </a:xfrm>
          <a:prstGeom prst="rect">
            <a:avLst/>
          </a:prstGeom>
          <a:noFill/>
          <a:ln w="38160">
            <a:solidFill>
              <a:srgbClr val="FFF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Calibri"/>
              <a:ea typeface="DejaVu Sans"/>
            </a:endParaRPr>
          </a:p>
        </p:txBody>
      </p:sp>
      <p:grpSp>
        <p:nvGrpSpPr>
          <p:cNvPr id="221" name="Agrupar 7"/>
          <p:cNvGrpSpPr/>
          <p:nvPr/>
        </p:nvGrpSpPr>
        <p:grpSpPr>
          <a:xfrm>
            <a:off x="518400" y="2241000"/>
            <a:ext cx="4040640" cy="1422720"/>
            <a:chOff x="518400" y="2241000"/>
            <a:chExt cx="4040640" cy="1422720"/>
          </a:xfrm>
        </p:grpSpPr>
        <p:sp>
          <p:nvSpPr>
            <p:cNvPr id="222" name="CaixaDeTexto 421"/>
            <p:cNvSpPr/>
            <p:nvPr/>
          </p:nvSpPr>
          <p:spPr>
            <a:xfrm>
              <a:off x="2583000" y="225756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23" name="CaixaDeTexto 422"/>
            <p:cNvSpPr/>
            <p:nvPr/>
          </p:nvSpPr>
          <p:spPr>
            <a:xfrm>
              <a:off x="3113640" y="26460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24" name="CaixaDeTexto 423"/>
            <p:cNvSpPr/>
            <p:nvPr/>
          </p:nvSpPr>
          <p:spPr>
            <a:xfrm>
              <a:off x="3113640" y="341352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25" name="CaixaDeTexto 424"/>
            <p:cNvSpPr/>
            <p:nvPr/>
          </p:nvSpPr>
          <p:spPr>
            <a:xfrm>
              <a:off x="4158360" y="22410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26" name="CaixaDeTexto 425"/>
            <p:cNvSpPr/>
            <p:nvPr/>
          </p:nvSpPr>
          <p:spPr>
            <a:xfrm>
              <a:off x="518400" y="2575800"/>
              <a:ext cx="12261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FFFFFF"/>
                  </a:solidFill>
                  <a:latin typeface="Arial"/>
                  <a:ea typeface="DejaVu Sans"/>
                </a:rPr>
                <a:t>Teste de unidade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7" name="Conector de Seta Reta 20"/>
            <p:cNvCxnSpPr>
              <a:stCxn id="226" idx="3"/>
              <a:endCxn id="223" idx="1"/>
            </p:cNvCxnSpPr>
            <p:nvPr/>
          </p:nvCxnSpPr>
          <p:spPr>
            <a:xfrm flipV="1">
              <a:off x="1744560" y="2770920"/>
              <a:ext cx="1369440" cy="124200"/>
            </a:xfrm>
            <a:prstGeom prst="straightConnector1">
              <a:avLst/>
            </a:prstGeom>
            <a:ln w="38160">
              <a:solidFill>
                <a:srgbClr val="FFFFFF"/>
              </a:solidFill>
              <a:miter/>
              <a:tailEnd type="triangle" w="med" len="med"/>
            </a:ln>
          </p:spPr>
        </p:cxnSp>
        <p:cxnSp>
          <p:nvCxnSpPr>
            <p:cNvPr id="228" name="Conector de Seta Reta 21"/>
            <p:cNvCxnSpPr>
              <a:stCxn id="226" idx="3"/>
              <a:endCxn id="225" idx="1"/>
            </p:cNvCxnSpPr>
            <p:nvPr/>
          </p:nvCxnSpPr>
          <p:spPr>
            <a:xfrm flipV="1">
              <a:off x="1744560" y="2365920"/>
              <a:ext cx="2414160" cy="529200"/>
            </a:xfrm>
            <a:prstGeom prst="straightConnector1">
              <a:avLst/>
            </a:prstGeom>
            <a:ln w="38160">
              <a:solidFill>
                <a:srgbClr val="FFFFFF"/>
              </a:solidFill>
              <a:miter/>
              <a:tailEnd type="triangle" w="med" len="med"/>
            </a:ln>
          </p:spPr>
        </p:cxnSp>
        <p:cxnSp>
          <p:nvCxnSpPr>
            <p:cNvPr id="229" name="Conector de Seta Reta 22"/>
            <p:cNvCxnSpPr>
              <a:stCxn id="226" idx="3"/>
              <a:endCxn id="224" idx="1"/>
            </p:cNvCxnSpPr>
            <p:nvPr/>
          </p:nvCxnSpPr>
          <p:spPr>
            <a:xfrm>
              <a:off x="1744560" y="2894760"/>
              <a:ext cx="1369440" cy="644040"/>
            </a:xfrm>
            <a:prstGeom prst="straightConnector1">
              <a:avLst/>
            </a:prstGeom>
            <a:ln w="38160">
              <a:solidFill>
                <a:srgbClr val="FFFFFF"/>
              </a:solidFill>
              <a:miter/>
              <a:tailEnd type="triangle" w="med" len="med"/>
            </a:ln>
          </p:spPr>
        </p:cxnSp>
      </p:grpSp>
      <p:grpSp>
        <p:nvGrpSpPr>
          <p:cNvPr id="230" name="Agrupar 8"/>
          <p:cNvGrpSpPr/>
          <p:nvPr/>
        </p:nvGrpSpPr>
        <p:grpSpPr>
          <a:xfrm>
            <a:off x="211680" y="4217040"/>
            <a:ext cx="4363200" cy="1608840"/>
            <a:chOff x="211680" y="4217040"/>
            <a:chExt cx="4363200" cy="1608840"/>
          </a:xfrm>
        </p:grpSpPr>
        <p:cxnSp>
          <p:nvCxnSpPr>
            <p:cNvPr id="231" name="Conector de Seta Reta 23"/>
            <p:cNvCxnSpPr>
              <a:stCxn id="232" idx="3"/>
              <a:endCxn id="233" idx="1"/>
            </p:cNvCxnSpPr>
            <p:nvPr/>
          </p:nvCxnSpPr>
          <p:spPr>
            <a:xfrm flipV="1">
              <a:off x="1969560" y="4793400"/>
              <a:ext cx="1059120" cy="576360"/>
            </a:xfrm>
            <a:prstGeom prst="straightConnector1">
              <a:avLst/>
            </a:prstGeom>
            <a:ln w="38160">
              <a:solidFill>
                <a:srgbClr val="FFFFFF"/>
              </a:solidFill>
              <a:miter/>
              <a:tailEnd type="triangle" w="med" len="med"/>
            </a:ln>
          </p:spPr>
        </p:cxnSp>
        <p:sp>
          <p:nvSpPr>
            <p:cNvPr id="234" name="CaixaDeTexto 426"/>
            <p:cNvSpPr/>
            <p:nvPr/>
          </p:nvSpPr>
          <p:spPr>
            <a:xfrm>
              <a:off x="2574000" y="50562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5" name="CaixaDeTexto 427"/>
            <p:cNvSpPr/>
            <p:nvPr/>
          </p:nvSpPr>
          <p:spPr>
            <a:xfrm>
              <a:off x="2574000" y="543348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6" name="CaixaDeTexto 428"/>
            <p:cNvSpPr/>
            <p:nvPr/>
          </p:nvSpPr>
          <p:spPr>
            <a:xfrm>
              <a:off x="3096360" y="4260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7" name="CaixaDeTexto 429"/>
            <p:cNvSpPr/>
            <p:nvPr/>
          </p:nvSpPr>
          <p:spPr>
            <a:xfrm>
              <a:off x="3096360" y="4665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8" name="CaixaDeTexto 430"/>
            <p:cNvSpPr/>
            <p:nvPr/>
          </p:nvSpPr>
          <p:spPr>
            <a:xfrm>
              <a:off x="3096360" y="50562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9" name="CaixaDeTexto 431"/>
            <p:cNvSpPr/>
            <p:nvPr/>
          </p:nvSpPr>
          <p:spPr>
            <a:xfrm>
              <a:off x="3096360" y="543348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0" name="CaixaDeTexto 432"/>
            <p:cNvSpPr/>
            <p:nvPr/>
          </p:nvSpPr>
          <p:spPr>
            <a:xfrm>
              <a:off x="3618720" y="4260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1" name="CaixaDeTexto 433"/>
            <p:cNvSpPr/>
            <p:nvPr/>
          </p:nvSpPr>
          <p:spPr>
            <a:xfrm>
              <a:off x="3618720" y="4665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2" name="CaixaDeTexto 434"/>
            <p:cNvSpPr/>
            <p:nvPr/>
          </p:nvSpPr>
          <p:spPr>
            <a:xfrm>
              <a:off x="3618720" y="50562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3" name="CaixaDeTexto 435"/>
            <p:cNvSpPr/>
            <p:nvPr/>
          </p:nvSpPr>
          <p:spPr>
            <a:xfrm>
              <a:off x="4140720" y="4260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4" name="CaixaDeTexto 436"/>
            <p:cNvSpPr/>
            <p:nvPr/>
          </p:nvSpPr>
          <p:spPr>
            <a:xfrm>
              <a:off x="4140720" y="46656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45" name="CaixaDeTexto 437"/>
            <p:cNvSpPr/>
            <p:nvPr/>
          </p:nvSpPr>
          <p:spPr>
            <a:xfrm>
              <a:off x="4140720" y="5056200"/>
              <a:ext cx="400680" cy="250200"/>
            </a:xfrm>
            <a:prstGeom prst="rect">
              <a:avLst/>
            </a:prstGeom>
            <a:noFill/>
            <a:ln w="381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sp>
          <p:nvSpPr>
            <p:cNvPr id="232" name="CaixaDeTexto 438"/>
            <p:cNvSpPr/>
            <p:nvPr/>
          </p:nvSpPr>
          <p:spPr>
            <a:xfrm>
              <a:off x="211680" y="4913280"/>
              <a:ext cx="175788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FFFFFF"/>
                  </a:solidFill>
                  <a:latin typeface="Arial"/>
                  <a:ea typeface="DejaVu Sans"/>
                </a:rPr>
                <a:t>Teste de componentes (integração)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CaixaDeTexto 439"/>
            <p:cNvSpPr/>
            <p:nvPr/>
          </p:nvSpPr>
          <p:spPr>
            <a:xfrm>
              <a:off x="2527560" y="4952880"/>
              <a:ext cx="1064160" cy="797400"/>
            </a:xfrm>
            <a:prstGeom prst="rect">
              <a:avLst/>
            </a:prstGeom>
            <a:noFill/>
            <a:ln w="28440">
              <a:solidFill>
                <a:srgbClr val="FFFFFF"/>
              </a:solidFill>
              <a:prstDash val="sys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  <p:cxnSp>
          <p:nvCxnSpPr>
            <p:cNvPr id="247" name="Conector de Seta Reta 24"/>
            <p:cNvCxnSpPr>
              <a:stCxn id="232" idx="3"/>
              <a:endCxn id="246" idx="1"/>
            </p:cNvCxnSpPr>
            <p:nvPr/>
          </p:nvCxnSpPr>
          <p:spPr>
            <a:xfrm flipV="1">
              <a:off x="1969560" y="5351400"/>
              <a:ext cx="558360" cy="18360"/>
            </a:xfrm>
            <a:prstGeom prst="straightConnector1">
              <a:avLst/>
            </a:prstGeom>
            <a:ln w="38160">
              <a:solidFill>
                <a:srgbClr val="FFFFFF"/>
              </a:solidFill>
              <a:miter/>
              <a:tailEnd type="triangle" w="med" len="med"/>
            </a:ln>
          </p:spPr>
        </p:cxnSp>
        <p:sp>
          <p:nvSpPr>
            <p:cNvPr id="233" name="CaixaDeTexto 440"/>
            <p:cNvSpPr/>
            <p:nvPr/>
          </p:nvSpPr>
          <p:spPr>
            <a:xfrm>
              <a:off x="3028320" y="4217040"/>
              <a:ext cx="1546560" cy="1152720"/>
            </a:xfrm>
            <a:prstGeom prst="rect">
              <a:avLst/>
            </a:prstGeom>
            <a:noFill/>
            <a:ln w="28440">
              <a:solidFill>
                <a:srgbClr val="FFFFFF"/>
              </a:solidFill>
              <a:prstDash val="sys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Calibri"/>
                <a:ea typeface="DejaVu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Imagem 9"/>
          <p:cNvPicPr/>
          <p:nvPr/>
        </p:nvPicPr>
        <p:blipFill>
          <a:blip r:embed="rId2"/>
          <a:stretch/>
        </p:blipFill>
        <p:spPr>
          <a:xfrm>
            <a:off x="1450080" y="2520000"/>
            <a:ext cx="7189920" cy="413964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3"/>
          <p:cNvSpPr/>
          <p:nvPr/>
        </p:nvSpPr>
        <p:spPr>
          <a:xfrm>
            <a:off x="895320" y="300240"/>
            <a:ext cx="11295720" cy="125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Teste de componentes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Imagem 249"/>
          <p:cNvPicPr/>
          <p:nvPr/>
        </p:nvPicPr>
        <p:blipFill>
          <a:blip r:embed="rId3"/>
          <a:stretch/>
        </p:blipFill>
        <p:spPr>
          <a:xfrm>
            <a:off x="360000" y="3060000"/>
            <a:ext cx="4817160" cy="2786760"/>
          </a:xfrm>
          <a:prstGeom prst="rect">
            <a:avLst/>
          </a:prstGeom>
          <a:ln w="0">
            <a:noFill/>
          </a:ln>
        </p:spPr>
      </p:pic>
      <p:pic>
        <p:nvPicPr>
          <p:cNvPr id="251" name="Imagem 250"/>
          <p:cNvPicPr/>
          <p:nvPr/>
        </p:nvPicPr>
        <p:blipFill>
          <a:blip r:embed="rId4"/>
          <a:stretch/>
        </p:blipFill>
        <p:spPr>
          <a:xfrm>
            <a:off x="7658640" y="1620000"/>
            <a:ext cx="4380480" cy="19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Técnicas de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31716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caixa-preta (ou funcional):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Avaliam a funcionalidade sem conhecer o código interno.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Focam nas entradas e saídas.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Técnicas: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Particionamento de equivalência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Análise de valor limite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Tabela de decisão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Teste de transição de estados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Teste baseado em casos de uso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31716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caixa-branca: (ou teste estrutural) 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47448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3157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Técnicas de teste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31716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6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caixa-branca: (ou teste estrutural) 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Avaliam o funcionamento interno do software.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Focam no fluxo de controle, estruturas de decisão e condições.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Técnicas: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Cobertura de comandos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Cobertura de decisões/condições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699480" lvl="1" indent="-232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1" strike="noStrike" spc="-1">
                <a:solidFill>
                  <a:srgbClr val="000000"/>
                </a:solidFill>
                <a:latin typeface="Arial"/>
                <a:ea typeface="DejaVu Sans"/>
              </a:rPr>
              <a:t>Teste de caminhos independentes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  <a:p>
            <a:pPr marL="31716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47448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3157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Escolha de casos de teste unitário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Os casos de teste devem mostrar que, quando usado como esperado, o componente que você está testando faz o que ele é proposto a fazer.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200" b="1" strike="noStrike" spc="-1">
                <a:solidFill>
                  <a:srgbClr val="000000"/>
                </a:solidFill>
                <a:latin typeface="Arial"/>
                <a:ea typeface="DejaVu Sans"/>
              </a:rPr>
              <a:t>Se houver defeitos nos componentes, estes devem ser revelados por casos de teste.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Escolha de casos de teste unitário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55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1. Usar </a:t>
            </a:r>
            <a:r>
              <a:rPr lang="pt-BR" sz="32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Particionamento</a:t>
            </a:r>
            <a:r>
              <a:rPr lang="pt-BR" sz="3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de Equivalência</a:t>
            </a: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255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7AE60C5-BC95-4342-BA25-974C44E45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25" y="2834171"/>
            <a:ext cx="4762500" cy="31369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728ADAF-6861-48C4-B423-29934F3FC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72225"/>
            <a:ext cx="476250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aixaDeTexto 39"/>
          <p:cNvSpPr/>
          <p:nvPr/>
        </p:nvSpPr>
        <p:spPr>
          <a:xfrm>
            <a:off x="9759240" y="6488640"/>
            <a:ext cx="1993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Sommerville (2011)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 dirty="0" err="1">
                <a:solidFill>
                  <a:srgbClr val="000000"/>
                </a:solidFill>
                <a:latin typeface="Arial"/>
                <a:ea typeface="DejaVu Sans"/>
              </a:rPr>
              <a:t>Particionamento</a:t>
            </a:r>
            <a:r>
              <a:rPr lang="pt-BR" sz="5400" b="1" strike="noStrike" cap="all" spc="-1" dirty="0">
                <a:solidFill>
                  <a:srgbClr val="000000"/>
                </a:solidFill>
                <a:latin typeface="Arial"/>
                <a:ea typeface="DejaVu Sans"/>
              </a:rPr>
              <a:t> de equivalência</a:t>
            </a:r>
            <a:endParaRPr lang="pt-BR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m 5"/>
          <p:cNvPicPr/>
          <p:nvPr/>
        </p:nvPicPr>
        <p:blipFill>
          <a:blip r:embed="rId2"/>
          <a:stretch/>
        </p:blipFill>
        <p:spPr>
          <a:xfrm>
            <a:off x="1046160" y="1580760"/>
            <a:ext cx="9709200" cy="508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324800" y="828000"/>
            <a:ext cx="9670320" cy="115668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pt-BR" sz="40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Diretrizes do Teste de Partições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object 3"/>
          <p:cNvSpPr/>
          <p:nvPr/>
        </p:nvSpPr>
        <p:spPr>
          <a:xfrm>
            <a:off x="1120680" y="1850400"/>
            <a:ext cx="9981720" cy="482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461160" indent="-448200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pos="461160" algn="l"/>
              </a:tabLst>
            </a:pP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Testar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o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software</a:t>
            </a:r>
            <a:r>
              <a:rPr lang="pt-BR" sz="3200" b="0" strike="noStrike" spc="-41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com</a:t>
            </a:r>
            <a:r>
              <a:rPr lang="pt-BR" sz="3200" b="0" strike="noStrike" spc="-2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sequências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de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tamanhos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extremos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  <a:p>
            <a:pPr marL="901080" lvl="1" indent="-439560">
              <a:lnSpc>
                <a:spcPct val="100000"/>
              </a:lnSpc>
              <a:spcBef>
                <a:spcPts val="686"/>
              </a:spcBef>
              <a:buClr>
                <a:srgbClr val="999933"/>
              </a:buClr>
              <a:buSzPct val="64000"/>
              <a:buFont typeface="Wingdings" charset="2"/>
              <a:buChar char=""/>
              <a:tabLst>
                <a:tab pos="901080" algn="l"/>
              </a:tabLst>
            </a:pP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Sequência</a:t>
            </a:r>
            <a:r>
              <a:rPr lang="pt-BR" sz="2800" b="0" strike="noStrike" spc="-9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de</a:t>
            </a:r>
            <a:r>
              <a:rPr lang="pt-BR" sz="2800" b="0" strike="noStrike" spc="-100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comprimento</a:t>
            </a:r>
            <a:r>
              <a:rPr lang="pt-BR" sz="2800" b="0" strike="noStrike" spc="-8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zero,</a:t>
            </a:r>
            <a:r>
              <a:rPr lang="pt-BR" sz="2800" b="0" strike="noStrike" spc="-111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único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valor</a:t>
            </a:r>
            <a:r>
              <a:rPr lang="pt-BR" sz="2800" b="0" strike="noStrike" spc="-7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e</a:t>
            </a:r>
            <a:r>
              <a:rPr lang="pt-BR" sz="2800" b="0" strike="noStrike" spc="-5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">
                <a:solidFill>
                  <a:srgbClr val="000000"/>
                </a:solidFill>
                <a:latin typeface="Arial MT"/>
                <a:ea typeface="DejaVu Sans"/>
              </a:rPr>
              <a:t>tamanho</a:t>
            </a:r>
            <a:r>
              <a:rPr lang="pt-BR" sz="2800" b="0" strike="noStrike" spc="-5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28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máximo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14"/>
              </a:spcBef>
              <a:tabLst>
                <a:tab pos="901080" algn="l"/>
              </a:tabLst>
            </a:pP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  <a:p>
            <a:pPr marL="461160" indent="-448200">
              <a:lnSpc>
                <a:spcPct val="100000"/>
              </a:lnSpc>
              <a:spcBef>
                <a:spcPts val="6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pos="461160" algn="l"/>
              </a:tabLst>
            </a:pP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Usar</a:t>
            </a:r>
            <a:r>
              <a:rPr lang="pt-BR" sz="3200" b="0" strike="noStrike" spc="-5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sequências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de</a:t>
            </a:r>
            <a:r>
              <a:rPr lang="pt-BR" sz="3200" b="0" strike="noStrike" spc="-2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tamanhos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diferentes</a:t>
            </a:r>
            <a:r>
              <a:rPr lang="pt-BR" sz="3200" b="0" strike="noStrike" spc="-41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em</a:t>
            </a:r>
            <a:r>
              <a:rPr lang="pt-BR" sz="3200" b="0" strike="noStrike" spc="-60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testes</a:t>
            </a:r>
            <a:r>
              <a:rPr lang="pt-BR" sz="3200" b="0" strike="noStrike" spc="-3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diferentes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  <a:p>
            <a:pPr marL="461160" indent="-448200">
              <a:lnSpc>
                <a:spcPct val="100000"/>
              </a:lnSpc>
              <a:spcBef>
                <a:spcPts val="3651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pos="461160" algn="l"/>
              </a:tabLst>
            </a:pP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Derivar</a:t>
            </a:r>
            <a:r>
              <a:rPr lang="pt-BR" sz="3200" b="0" strike="noStrike" spc="-60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testes</a:t>
            </a:r>
            <a:r>
              <a:rPr lang="pt-BR" sz="3200" b="0" strike="noStrike" spc="-1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para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o</a:t>
            </a:r>
            <a:r>
              <a:rPr lang="pt-BR" sz="3200" b="0" strike="noStrike" spc="-1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primeiro,</a:t>
            </a:r>
            <a:r>
              <a:rPr lang="pt-BR" sz="3200" b="0" strike="noStrike" spc="-4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o</a:t>
            </a:r>
            <a:r>
              <a:rPr lang="pt-BR" sz="3200" b="0" strike="noStrike" spc="-15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médio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e</a:t>
            </a:r>
            <a:r>
              <a:rPr lang="pt-BR" sz="3200" b="0" strike="noStrike" spc="-3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o</a:t>
            </a:r>
            <a:r>
              <a:rPr lang="pt-BR" sz="3200" b="0" strike="noStrike" spc="-3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último</a:t>
            </a:r>
            <a:r>
              <a:rPr lang="pt-BR" sz="3200" b="0" strike="noStrike" spc="-21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elementos</a:t>
            </a:r>
            <a:r>
              <a:rPr lang="pt-BR" sz="3200" b="0" strike="noStrike" spc="-32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">
                <a:solidFill>
                  <a:srgbClr val="000000"/>
                </a:solidFill>
                <a:latin typeface="Arial MT"/>
                <a:ea typeface="DejaVu Sans"/>
              </a:rPr>
              <a:t>da</a:t>
            </a:r>
            <a:r>
              <a:rPr lang="pt-BR" sz="3200" b="0" strike="noStrike" spc="-26">
                <a:solidFill>
                  <a:srgbClr val="000000"/>
                </a:solidFill>
                <a:latin typeface="Arial MT"/>
                <a:ea typeface="DejaVu Sans"/>
              </a:rPr>
              <a:t> </a:t>
            </a:r>
            <a:r>
              <a:rPr lang="pt-BR" sz="3200" b="0" strike="noStrike" spc="-12">
                <a:solidFill>
                  <a:srgbClr val="000000"/>
                </a:solidFill>
                <a:latin typeface="Arial MT"/>
                <a:ea typeface="DejaVu Sans"/>
              </a:rPr>
              <a:t>sequência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DACED8-52C5-EEAA-ECD3-4048552C7E83}"/>
              </a:ext>
            </a:extLst>
          </p:cNvPr>
          <p:cNvSpPr/>
          <p:nvPr/>
        </p:nvSpPr>
        <p:spPr>
          <a:xfrm>
            <a:off x="5943600" y="1150374"/>
            <a:ext cx="5756040" cy="4940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8" name="Retângulo 267"/>
          <p:cNvSpPr/>
          <p:nvPr/>
        </p:nvSpPr>
        <p:spPr>
          <a:xfrm>
            <a:off x="180360" y="374220"/>
            <a:ext cx="5939640" cy="610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(numero):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return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numero % 2 == 0</a:t>
            </a:r>
          </a:p>
          <a:p>
            <a:pPr>
              <a:lnSpc>
                <a:spcPct val="100000"/>
              </a:lnSpc>
            </a:pP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import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unittest</a:t>
            </a: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class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TestVerificarPar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unittest.TestCase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test_numero_par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(self):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self.assertTrue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(2))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self.assertTrue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(4))</a:t>
            </a:r>
          </a:p>
          <a:p>
            <a:pPr>
              <a:lnSpc>
                <a:spcPct val="100000"/>
              </a:lnSpc>
            </a:pP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test_numero_impar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(self):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self.assertFalse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(5))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self.assertFalse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(7))</a:t>
            </a:r>
          </a:p>
          <a:p>
            <a:pPr>
              <a:lnSpc>
                <a:spcPct val="100000"/>
              </a:lnSpc>
            </a:pP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test_numero_zero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(self):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self.assertTrue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(0))</a:t>
            </a:r>
          </a:p>
          <a:p>
            <a:pPr>
              <a:lnSpc>
                <a:spcPct val="100000"/>
              </a:lnSpc>
            </a:pPr>
            <a:endParaRPr lang="pt-BR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def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test_numero_negativo_par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(self):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self.assertTrue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(-2))</a:t>
            </a:r>
          </a:p>
          <a:p>
            <a:pPr>
              <a:lnSpc>
                <a:spcPct val="100000"/>
              </a:lnSpc>
            </a:pP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        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self.assertTrue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pt-BR" sz="2000" b="1" strike="noStrike" spc="-1" dirty="0" err="1">
                <a:solidFill>
                  <a:srgbClr val="000000"/>
                </a:solidFill>
                <a:latin typeface="Arial"/>
              </a:rPr>
              <a:t>verificar_par</a:t>
            </a:r>
            <a:r>
              <a:rPr lang="pt-BR" sz="2000" b="1" strike="noStrike" spc="-1" dirty="0">
                <a:solidFill>
                  <a:srgbClr val="000000"/>
                </a:solidFill>
                <a:latin typeface="Arial"/>
              </a:rPr>
              <a:t>(-6))</a:t>
            </a:r>
          </a:p>
        </p:txBody>
      </p:sp>
      <p:sp>
        <p:nvSpPr>
          <p:cNvPr id="269" name="Retângulo 268"/>
          <p:cNvSpPr/>
          <p:nvPr/>
        </p:nvSpPr>
        <p:spPr>
          <a:xfrm>
            <a:off x="6120000" y="1509480"/>
            <a:ext cx="5579640" cy="162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</a:rPr>
              <a:t>Classe de Equivalência	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</a:rPr>
              <a:t>Números pares positivos	2, 4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</a:rPr>
              <a:t>Números ímpares positivos: 5, 7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</a:rPr>
              <a:t>Zero (caso especial, mas considerado par): 0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pt-BR" sz="3200" b="1" strike="noStrike" spc="-1" dirty="0">
                <a:solidFill>
                  <a:srgbClr val="000000"/>
                </a:solidFill>
                <a:latin typeface="Arial"/>
              </a:rPr>
              <a:t>Números pares negativos: 	-2, -6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895320" y="299880"/>
            <a:ext cx="11295720" cy="125136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000000"/>
                </a:solidFill>
                <a:latin typeface="Arial"/>
                <a:ea typeface="DejaVu Sans"/>
              </a:rPr>
              <a:t>Testes baseados em diretrizes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 fontScale="68000" lnSpcReduction="20000"/>
          </a:bodyPr>
          <a:lstStyle/>
          <a:p>
            <a:pPr marL="21708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Algumas das diretrizes mais gerais que ele sugere são: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153360" indent="-15336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Font typeface="Aria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Escolha entradas que forcem o sistema a gerar todas as mensagens de erro;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153360" indent="-15336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Font typeface="Aria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Projete entradas que causem overflow de buffers de entrada;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153360" indent="-15336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Font typeface="Aria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Repita a mesma entrada ou uma série de entradas inúmeras vezes;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153360" indent="-15336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Font typeface="Aria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Obrigue a geração de saídas inválidas;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153360" indent="-15336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Clr>
                <a:srgbClr val="FFFFFF"/>
              </a:buClr>
              <a:buFont typeface="Arial"/>
              <a:buAutoNum type="arabicParenR"/>
              <a:tabLst>
                <a:tab pos="0" algn="l"/>
              </a:tabLst>
            </a:pPr>
            <a:r>
              <a:rPr lang="pt-BR" sz="4000" b="1" strike="noStrike" spc="-1">
                <a:solidFill>
                  <a:srgbClr val="000000"/>
                </a:solidFill>
                <a:latin typeface="Arial"/>
                <a:ea typeface="DejaVu Sans"/>
              </a:rPr>
              <a:t>Obrigue os resultados de cálculos a serem muito grandes ou muito pequenos.</a:t>
            </a:r>
            <a:endParaRPr lang="pt-BR" sz="4000" b="0" strike="noStrike" spc="-1">
              <a:solidFill>
                <a:srgbClr val="000000"/>
              </a:solidFill>
              <a:latin typeface="Arial"/>
            </a:endParaRPr>
          </a:p>
          <a:p>
            <a:pPr marL="30888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900" b="1" cap="all" spc="-1" dirty="0">
                <a:solidFill>
                  <a:srgbClr val="000000"/>
                </a:solidFill>
                <a:latin typeface="Arial"/>
                <a:ea typeface="DejaVu Sans"/>
              </a:rPr>
              <a:t>TESTE DE USUÁRIOS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388255" y="1418400"/>
            <a:ext cx="10972440" cy="5930819"/>
          </a:xfrm>
        </p:spPr>
        <p:txBody>
          <a:bodyPr/>
          <a:lstStyle/>
          <a:p>
            <a:r>
              <a:rPr lang="pt-BR" sz="3600" b="1" dirty="0"/>
              <a:t>1.Teste alfa, </a:t>
            </a:r>
            <a:r>
              <a:rPr lang="pt-BR" sz="3600" dirty="0"/>
              <a:t>em que os usuários trabalham com a equipe de desenvolvimento para testar o software no local do desenvolvedor.</a:t>
            </a:r>
          </a:p>
          <a:p>
            <a:r>
              <a:rPr lang="pt-BR" sz="3600" b="1" dirty="0"/>
              <a:t>2. Teste beta, </a:t>
            </a:r>
            <a:r>
              <a:rPr lang="pt-BR" sz="3600" dirty="0"/>
              <a:t>em que um release do software é disponibilizado aos usuários para que possam experimentar e levantar os problemas que eles descobriram com os desenvolvedores do sistema.</a:t>
            </a:r>
          </a:p>
          <a:p>
            <a:r>
              <a:rPr lang="pt-BR" sz="3600" b="1" dirty="0"/>
              <a:t>3. Teste de aceitação, </a:t>
            </a:r>
            <a:r>
              <a:rPr lang="pt-BR" sz="3600" dirty="0"/>
              <a:t>em que os clientes testam um sistema para decidir se está ou não pronto para ser aceito e implantado no ambiente do cliente.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37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0" y="344520"/>
            <a:ext cx="10595520" cy="132300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ctr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strike="noStrike" cap="all" spc="-1">
                <a:solidFill>
                  <a:srgbClr val="FFFFFF"/>
                </a:solidFill>
                <a:latin typeface="Arial"/>
                <a:ea typeface="DejaVu Sans"/>
              </a:rPr>
              <a:t>Bibliografia base</a:t>
            </a:r>
            <a:endParaRPr lang="pt-BR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901800" y="1773360"/>
            <a:ext cx="11289240" cy="4864680"/>
          </a:xfrm>
          <a:prstGeom prst="rect">
            <a:avLst/>
          </a:prstGeom>
          <a:noFill/>
          <a:ln w="0">
            <a:noFill/>
          </a:ln>
        </p:spPr>
        <p:txBody>
          <a:bodyPr lIns="68760" tIns="34200" rIns="68760" bIns="34200" anchor="t">
            <a:normAutofit/>
          </a:bodyPr>
          <a:lstStyle/>
          <a:p>
            <a:pPr marL="228600" indent="-228600">
              <a:lnSpc>
                <a:spcPct val="120000"/>
              </a:lnSpc>
              <a:spcBef>
                <a:spcPts val="1199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FFFFFF"/>
                </a:solidFill>
                <a:latin typeface="Arial"/>
                <a:ea typeface="DejaVu Sans"/>
              </a:rPr>
              <a:t>I. Sommerville, Engenharia de software, 9a ed., Pearson, 2011.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199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FFFFFF"/>
                </a:solidFill>
                <a:latin typeface="Arial"/>
                <a:ea typeface="DejaVu Sans"/>
              </a:rPr>
              <a:t>S. L. Pfleeger, Engenharia de software: teoria e prática, 2a ed., Pearson, 2004.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199"/>
              </a:spcBef>
              <a:spcAft>
                <a:spcPts val="601"/>
              </a:spcAft>
              <a:buClr>
                <a:srgbClr val="FFFFFF"/>
              </a:buClr>
              <a:buSzPct val="80000"/>
              <a:buFont typeface="Arial"/>
              <a:buChar char="•"/>
            </a:pPr>
            <a:r>
              <a:rPr lang="pt-BR" sz="3600" b="1" strike="noStrike" spc="-1">
                <a:solidFill>
                  <a:srgbClr val="FFFFFF"/>
                </a:solidFill>
                <a:latin typeface="Arial"/>
                <a:ea typeface="DejaVu Sans"/>
              </a:rPr>
              <a:t>E. Medeiros, Desenvolvendo software com UML 2.0: definitivo, Pearson, 2004.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8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Fatia">
  <a:themeElements>
    <a:clrScheme name="Fatia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atia">
  <a:themeElements>
    <a:clrScheme name="Fatia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2561</TotalTime>
  <Words>985</Words>
  <Application>Microsoft Office PowerPoint</Application>
  <PresentationFormat>Widescreen</PresentationFormat>
  <Paragraphs>136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Aptos</vt:lpstr>
      <vt:lpstr>Arial</vt:lpstr>
      <vt:lpstr>Arial MT</vt:lpstr>
      <vt:lpstr>Calibri</vt:lpstr>
      <vt:lpstr>Century Gothic</vt:lpstr>
      <vt:lpstr>StarSymbol</vt:lpstr>
      <vt:lpstr>Symbol</vt:lpstr>
      <vt:lpstr>Times New Roman</vt:lpstr>
      <vt:lpstr>Wingdings</vt:lpstr>
      <vt:lpstr>1_Fatia</vt:lpstr>
      <vt:lpstr>1_Fatia</vt:lpstr>
      <vt:lpstr>Objetivos do teste?</vt:lpstr>
      <vt:lpstr>Apresentação do PowerPoint</vt:lpstr>
      <vt:lpstr>Objetivos do teste</vt:lpstr>
      <vt:lpstr>FASES E Estágios dos testes</vt:lpstr>
      <vt:lpstr>Estágios dos testes</vt:lpstr>
      <vt:lpstr>Estágios dos testes</vt:lpstr>
      <vt:lpstr>Estágios dos testes</vt:lpstr>
      <vt:lpstr>Fases de teste</vt:lpstr>
      <vt:lpstr>NÍVEIS DE TESTE</vt:lpstr>
      <vt:lpstr>Apresentação do PowerPoint</vt:lpstr>
      <vt:lpstr>Níveis de teste</vt:lpstr>
      <vt:lpstr>Apresentação do PowerPoint</vt:lpstr>
      <vt:lpstr>Técnicas de teste</vt:lpstr>
      <vt:lpstr>Técnicas de teste</vt:lpstr>
      <vt:lpstr>Escolha de casos de teste unitário</vt:lpstr>
      <vt:lpstr>Escolha de casos de teste unitário</vt:lpstr>
      <vt:lpstr>Particionamento de equivalência</vt:lpstr>
      <vt:lpstr>Diretrizes do Teste de Partições</vt:lpstr>
      <vt:lpstr>Apresentação do PowerPoint</vt:lpstr>
      <vt:lpstr>Testes baseados em diretrizes</vt:lpstr>
      <vt:lpstr>TESTE DE USUÁRIOS</vt:lpstr>
      <vt:lpstr>Bibliografia base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Luiz Henrique Proença Soares</dc:creator>
  <dc:description/>
  <cp:lastModifiedBy>CECILIA SOSA ARIAS PEIXOTO</cp:lastModifiedBy>
  <cp:revision>312</cp:revision>
  <dcterms:created xsi:type="dcterms:W3CDTF">2015-02-10T17:45:35Z</dcterms:created>
  <dcterms:modified xsi:type="dcterms:W3CDTF">2025-10-29T10:41:12Z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0x0101006CFD0211DE75424E90D6B9FC9752CE9C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28</vt:i4>
  </property>
  <property fmtid="{D5CDD505-2E9C-101B-9397-08002B2CF9AE}" pid="7" name="_dlc_DocIdItemGuid">
    <vt:lpwstr>d5c3ba40-5a81-4991-88e8-2395e7ca9845</vt:lpwstr>
  </property>
</Properties>
</file>