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4" r:id="rId2"/>
  </p:sldMasterIdLst>
  <p:notesMasterIdLst>
    <p:notesMasterId r:id="rId38"/>
  </p:notesMasterIdLst>
  <p:sldIdLst>
    <p:sldId id="256" r:id="rId3"/>
    <p:sldId id="257" r:id="rId4"/>
    <p:sldId id="259" r:id="rId5"/>
    <p:sldId id="260" r:id="rId6"/>
    <p:sldId id="261" r:id="rId7"/>
    <p:sldId id="262" r:id="rId8"/>
    <p:sldId id="263" r:id="rId9"/>
    <p:sldId id="264" r:id="rId10"/>
    <p:sldId id="265" r:id="rId11"/>
    <p:sldId id="266" r:id="rId12"/>
    <p:sldId id="267" r:id="rId13"/>
    <p:sldId id="288" r:id="rId14"/>
    <p:sldId id="268" r:id="rId15"/>
    <p:sldId id="270" r:id="rId16"/>
    <p:sldId id="289"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90" r:id="rId35"/>
    <p:sldId id="291" r:id="rId36"/>
    <p:sldId id="292" r:id="rId37"/>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7687" autoAdjust="0"/>
  </p:normalViewPr>
  <p:slideViewPr>
    <p:cSldViewPr snapToGrid="0">
      <p:cViewPr varScale="1">
        <p:scale>
          <a:sx n="64" d="100"/>
          <a:sy n="64" d="100"/>
        </p:scale>
        <p:origin x="90" y="1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7"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pt-BR" sz="1800" b="0" strike="noStrike" spc="-1">
                <a:solidFill>
                  <a:srgbClr val="000000"/>
                </a:solidFill>
                <a:latin typeface="Calibri"/>
              </a:rPr>
              <a:t>Clique para mover o slide</a:t>
            </a:r>
          </a:p>
        </p:txBody>
      </p:sp>
      <p:sp>
        <p:nvSpPr>
          <p:cNvPr id="168"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pt-BR" sz="2000" b="0" strike="noStrike" spc="-1">
                <a:solidFill>
                  <a:srgbClr val="000000"/>
                </a:solidFill>
                <a:latin typeface="Arial"/>
              </a:rPr>
              <a:t>Clique para editar o formato de notas</a:t>
            </a:r>
          </a:p>
        </p:txBody>
      </p:sp>
      <p:sp>
        <p:nvSpPr>
          <p:cNvPr id="169"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pt-BR" sz="1400" b="0" strike="noStrike" spc="-1">
                <a:solidFill>
                  <a:srgbClr val="000000"/>
                </a:solidFill>
                <a:latin typeface="Times New Roman"/>
              </a:rPr>
              <a:t>&lt;cabeçalho&gt;</a:t>
            </a:r>
          </a:p>
        </p:txBody>
      </p:sp>
      <p:sp>
        <p:nvSpPr>
          <p:cNvPr id="170" name="PlaceHolder 4"/>
          <p:cNvSpPr>
            <a:spLocks noGrp="1"/>
          </p:cNvSpPr>
          <p:nvPr>
            <p:ph type="dt" idx="13"/>
          </p:nvPr>
        </p:nvSpPr>
        <p:spPr>
          <a:xfrm>
            <a:off x="4278960" y="0"/>
            <a:ext cx="3280680" cy="534240"/>
          </a:xfrm>
          <a:prstGeom prst="rect">
            <a:avLst/>
          </a:prstGeom>
          <a:noFill/>
          <a:ln w="0">
            <a:noFill/>
          </a:ln>
        </p:spPr>
        <p:txBody>
          <a:bodyPr lIns="0" tIns="0" rIns="0" bIns="0" anchor="t">
            <a:noAutofit/>
          </a:bodyPr>
          <a:lstStyle>
            <a:lvl1pPr indent="0" algn="r">
              <a:buNone/>
              <a:defRPr lang="pt-BR" sz="1400" b="0" strike="noStrike" spc="-1">
                <a:solidFill>
                  <a:srgbClr val="000000"/>
                </a:solidFill>
                <a:latin typeface="Times New Roman"/>
              </a:defRPr>
            </a:lvl1pPr>
          </a:lstStyle>
          <a:p>
            <a:pPr indent="0" algn="r">
              <a:buNone/>
            </a:pPr>
            <a:r>
              <a:rPr lang="pt-BR" sz="1400" b="0" strike="noStrike" spc="-1">
                <a:solidFill>
                  <a:srgbClr val="000000"/>
                </a:solidFill>
                <a:latin typeface="Times New Roman"/>
              </a:rPr>
              <a:t>&lt;data/hora&gt;</a:t>
            </a:r>
          </a:p>
        </p:txBody>
      </p:sp>
      <p:sp>
        <p:nvSpPr>
          <p:cNvPr id="171" name="PlaceHolder 5"/>
          <p:cNvSpPr>
            <a:spLocks noGrp="1"/>
          </p:cNvSpPr>
          <p:nvPr>
            <p:ph type="ftr" idx="14"/>
          </p:nvPr>
        </p:nvSpPr>
        <p:spPr>
          <a:xfrm>
            <a:off x="0" y="10157400"/>
            <a:ext cx="3280680" cy="534240"/>
          </a:xfrm>
          <a:prstGeom prst="rect">
            <a:avLst/>
          </a:prstGeom>
          <a:noFill/>
          <a:ln w="0">
            <a:noFill/>
          </a:ln>
        </p:spPr>
        <p:txBody>
          <a:bodyPr lIns="0" tIns="0" rIns="0" bIns="0" anchor="b">
            <a:noAutofit/>
          </a:bodyPr>
          <a:lstStyle>
            <a:lvl1pPr indent="0">
              <a:buNone/>
              <a:defRPr lang="pt-BR" sz="1400" b="0" strike="noStrike" spc="-1">
                <a:solidFill>
                  <a:srgbClr val="000000"/>
                </a:solidFill>
                <a:latin typeface="Times New Roman"/>
              </a:defRPr>
            </a:lvl1pPr>
          </a:lstStyle>
          <a:p>
            <a:pPr indent="0">
              <a:buNone/>
            </a:pPr>
            <a:r>
              <a:rPr lang="pt-BR" sz="1400" b="0" strike="noStrike" spc="-1">
                <a:solidFill>
                  <a:srgbClr val="000000"/>
                </a:solidFill>
                <a:latin typeface="Times New Roman"/>
              </a:rPr>
              <a:t>&lt;rodapé&gt;</a:t>
            </a:r>
          </a:p>
        </p:txBody>
      </p:sp>
      <p:sp>
        <p:nvSpPr>
          <p:cNvPr id="172" name="PlaceHolder 6"/>
          <p:cNvSpPr>
            <a:spLocks noGrp="1"/>
          </p:cNvSpPr>
          <p:nvPr>
            <p:ph type="sldNum" idx="15"/>
          </p:nvPr>
        </p:nvSpPr>
        <p:spPr>
          <a:xfrm>
            <a:off x="4278960" y="10157400"/>
            <a:ext cx="3280680" cy="534240"/>
          </a:xfrm>
          <a:prstGeom prst="rect">
            <a:avLst/>
          </a:prstGeom>
          <a:noFill/>
          <a:ln w="0">
            <a:noFill/>
          </a:ln>
        </p:spPr>
        <p:txBody>
          <a:bodyPr lIns="0" tIns="0" rIns="0" bIns="0" anchor="b">
            <a:noAutofit/>
          </a:bodyPr>
          <a:lstStyle>
            <a:lvl1pPr indent="0" algn="r">
              <a:buNone/>
              <a:defRPr lang="pt-BR" sz="1400" b="0" strike="noStrike" spc="-1">
                <a:solidFill>
                  <a:srgbClr val="000000"/>
                </a:solidFill>
                <a:latin typeface="Times New Roman"/>
              </a:defRPr>
            </a:lvl1pPr>
          </a:lstStyle>
          <a:p>
            <a:pPr indent="0" algn="r">
              <a:buNone/>
            </a:pPr>
            <a:fld id="{E0C39DBF-72D3-4BCB-81A8-61A523755738}" type="slidenum">
              <a:rPr lang="pt-BR" sz="1400" b="0" strike="noStrike" spc="-1">
                <a:solidFill>
                  <a:srgbClr val="000000"/>
                </a:solidFill>
                <a:latin typeface="Times New Roman"/>
              </a:rPr>
              <a:t>‹nº›</a:t>
            </a:fld>
            <a:endParaRPr lang="pt-BR" sz="1400" b="0" strike="noStrike" spc="-1">
              <a:solidFill>
                <a:srgbClr val="000000"/>
              </a:solidFill>
              <a:latin typeface="Times New Roman"/>
            </a:endParaRPr>
          </a:p>
        </p:txBody>
      </p:sp>
    </p:spTree>
    <p:extLst>
      <p:ext uri="{BB962C8B-B14F-4D97-AF65-F5344CB8AC3E}">
        <p14:creationId xmlns:p14="http://schemas.microsoft.com/office/powerpoint/2010/main" val="4221602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PlaceHolder 1"/>
          <p:cNvSpPr>
            <a:spLocks noGrp="1" noRot="1" noChangeAspect="1"/>
          </p:cNvSpPr>
          <p:nvPr>
            <p:ph type="sldImg"/>
          </p:nvPr>
        </p:nvSpPr>
        <p:spPr>
          <a:xfrm>
            <a:off x="217440" y="812880"/>
            <a:ext cx="7124400" cy="4008240"/>
          </a:xfrm>
          <a:prstGeom prst="rect">
            <a:avLst/>
          </a:prstGeom>
          <a:ln w="0">
            <a:noFill/>
          </a:ln>
        </p:spPr>
      </p:sp>
      <p:sp>
        <p:nvSpPr>
          <p:cNvPr id="253" name="PlaceHolder 2"/>
          <p:cNvSpPr>
            <a:spLocks noGrp="1"/>
          </p:cNvSpPr>
          <p:nvPr>
            <p:ph type="body"/>
          </p:nvPr>
        </p:nvSpPr>
        <p:spPr>
          <a:xfrm>
            <a:off x="756000" y="5078520"/>
            <a:ext cx="6047280" cy="4810680"/>
          </a:xfrm>
          <a:prstGeom prst="rect">
            <a:avLst/>
          </a:prstGeom>
          <a:noFill/>
          <a:ln w="0">
            <a:noFill/>
          </a:ln>
        </p:spPr>
        <p:txBody>
          <a:bodyPr lIns="0" tIns="0" rIns="0" bIns="0" anchor="t">
            <a:noAutofit/>
          </a:bodyPr>
          <a:lstStyle/>
          <a:p>
            <a:pPr marL="216000" indent="0">
              <a:lnSpc>
                <a:spcPct val="100000"/>
              </a:lnSpc>
              <a:buNone/>
            </a:pPr>
            <a:r>
              <a:rPr lang="pt-BR" sz="2000" b="0" strike="noStrike" spc="-1">
                <a:solidFill>
                  <a:srgbClr val="000000"/>
                </a:solidFill>
                <a:latin typeface="Arial"/>
              </a:rPr>
              <a:t>Tem autores que discordam: Projeto de casos de testes pode começar desde cedo E continua ao longo do desenvolvimento Aplicáveis em todas as fases de testes: unidades sistemas</a:t>
            </a:r>
          </a:p>
        </p:txBody>
      </p:sp>
      <p:sp>
        <p:nvSpPr>
          <p:cNvPr id="254" name="PlaceHolder 3"/>
          <p:cNvSpPr>
            <a:spLocks noGrp="1"/>
          </p:cNvSpPr>
          <p:nvPr>
            <p:ph type="sldNum" idx="16"/>
          </p:nvPr>
        </p:nvSpPr>
        <p:spPr>
          <a:xfrm>
            <a:off x="4278960" y="10157400"/>
            <a:ext cx="3280320" cy="533880"/>
          </a:xfrm>
          <a:prstGeom prst="rect">
            <a:avLst/>
          </a:prstGeom>
          <a:noFill/>
          <a:ln w="0">
            <a:noFill/>
          </a:ln>
        </p:spPr>
        <p:txBody>
          <a:bodyPr lIns="0" tIns="0" rIns="0" bIns="0" anchor="b">
            <a:noAutofit/>
          </a:bodyPr>
          <a:lstStyle>
            <a:lvl1pPr indent="0" algn="r">
              <a:lnSpc>
                <a:spcPct val="100000"/>
              </a:lnSpc>
              <a:buNone/>
              <a:tabLst>
                <a:tab pos="0" algn="l"/>
              </a:tabLst>
              <a:defRPr lang="pt-BR" sz="1400" b="0" strike="noStrike" spc="-1">
                <a:solidFill>
                  <a:srgbClr val="000000"/>
                </a:solidFill>
                <a:latin typeface="Times New Roman"/>
              </a:defRPr>
            </a:lvl1pPr>
          </a:lstStyle>
          <a:p>
            <a:pPr indent="0" algn="r">
              <a:lnSpc>
                <a:spcPct val="100000"/>
              </a:lnSpc>
              <a:buNone/>
              <a:tabLst>
                <a:tab pos="0" algn="l"/>
              </a:tabLst>
            </a:pPr>
            <a:fld id="{4240D9B2-1E49-4F87-A1D1-096F0A81DA1E}" type="slidenum">
              <a:rPr lang="pt-BR" sz="1400" b="0" strike="noStrike" spc="-1">
                <a:solidFill>
                  <a:srgbClr val="000000"/>
                </a:solidFill>
                <a:latin typeface="Times New Roman"/>
              </a:rPr>
              <a:t>13</a:t>
            </a:fld>
            <a:endParaRPr lang="pt-BR" sz="14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E5D9973D-BA28-4D8D-B7EF-85FD29AB53CB}" type="slidenum">
              <a:t>‹nº›</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4680"/>
            <a:ext cx="9550080" cy="114264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Calibri"/>
            </a:endParaRPr>
          </a:p>
        </p:txBody>
      </p:sp>
      <p:sp>
        <p:nvSpPr>
          <p:cNvPr id="6" name="PlaceHolder 2"/>
          <p:cNvSpPr>
            <a:spLocks noGrp="1"/>
          </p:cNvSpPr>
          <p:nvPr>
            <p:ph type="subTitle"/>
          </p:nvPr>
        </p:nvSpPr>
        <p:spPr>
          <a:xfrm>
            <a:off x="609480" y="1600200"/>
            <a:ext cx="10972440" cy="4525560"/>
          </a:xfrm>
          <a:prstGeom prst="rect">
            <a:avLst/>
          </a:prstGeom>
          <a:noFill/>
          <a:ln w="0">
            <a:noFill/>
          </a:ln>
        </p:spPr>
        <p:txBody>
          <a:bodyPr lIns="0" tIns="0" rIns="0" bIns="0" anchor="ctr">
            <a:noAutofit/>
          </a:bodyPr>
          <a:lstStyle/>
          <a:p>
            <a:pPr indent="0" algn="ctr">
              <a:buNone/>
            </a:pPr>
            <a:endParaRPr lang="pt-BR" sz="3200" b="0" strike="noStrike" spc="-1">
              <a:solidFill>
                <a:srgbClr val="000000"/>
              </a:solidFill>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E7DA2DAE-87C1-4616-AE02-F2110DC5A42E}" type="slidenum">
              <a:t>‹nº›</a:t>
            </a:fld>
            <a:endParaRPr/>
          </a:p>
        </p:txBody>
      </p:sp>
      <p:sp>
        <p:nvSpPr>
          <p:cNvPr id="3" name="PlaceHolder 5"/>
          <p:cNvSpPr>
            <a:spLocks noGrp="1"/>
          </p:cNvSpPr>
          <p:nvPr>
            <p:ph type="dt" idx="1"/>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4680"/>
            <a:ext cx="9550080" cy="114264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Calibri"/>
            </a:endParaRPr>
          </a:p>
        </p:txBody>
      </p:sp>
      <p:sp>
        <p:nvSpPr>
          <p:cNvPr id="8" name="PlaceHolder 2"/>
          <p:cNvSpPr>
            <a:spLocks noGrp="1"/>
          </p:cNvSpPr>
          <p:nvPr>
            <p:ph/>
          </p:nvPr>
        </p:nvSpPr>
        <p:spPr>
          <a:xfrm>
            <a:off x="609480" y="1600200"/>
            <a:ext cx="10972440" cy="4525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98CEAF86-8656-46FF-9666-9B67A4C65051}" type="slidenum">
              <a:t>‹nº›</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4680"/>
            <a:ext cx="9550080" cy="114264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Calibri"/>
            </a:endParaRPr>
          </a:p>
        </p:txBody>
      </p:sp>
      <p:sp>
        <p:nvSpPr>
          <p:cNvPr id="10" name="PlaceHolder 2"/>
          <p:cNvSpPr>
            <a:spLocks noGrp="1"/>
          </p:cNvSpPr>
          <p:nvPr>
            <p:ph/>
          </p:nvPr>
        </p:nvSpPr>
        <p:spPr>
          <a:xfrm>
            <a:off x="609480" y="1600200"/>
            <a:ext cx="5354280" cy="4525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11" name="PlaceHolder 3"/>
          <p:cNvSpPr>
            <a:spLocks noGrp="1"/>
          </p:cNvSpPr>
          <p:nvPr>
            <p:ph/>
          </p:nvPr>
        </p:nvSpPr>
        <p:spPr>
          <a:xfrm>
            <a:off x="6231960" y="1600200"/>
            <a:ext cx="5354280" cy="4525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FBB9B92B-3421-4C60-85FC-363F55F9BEEB}" type="slidenum">
              <a:t>‹nº›</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4680"/>
            <a:ext cx="9550080" cy="114264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Calibri"/>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B16CF9B2-1CFA-4677-A66C-68DA0CEB8362}" type="slidenum">
              <a:t>‹nº›</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09480" y="274680"/>
            <a:ext cx="9550080" cy="5297760"/>
          </a:xfrm>
          <a:prstGeom prst="rect">
            <a:avLst/>
          </a:prstGeom>
          <a:noFill/>
          <a:ln w="0">
            <a:noFill/>
          </a:ln>
        </p:spPr>
        <p:txBody>
          <a:bodyPr lIns="0" tIns="0" rIns="0" bIns="0" anchor="ctr">
            <a:noAutofit/>
          </a:bodyPr>
          <a:lstStyle/>
          <a:p>
            <a:pPr algn="ctr"/>
            <a:endParaRPr lang="pt-BR" sz="3200" b="0" strike="noStrike" spc="-1">
              <a:solidFill>
                <a:srgbClr val="000000"/>
              </a:solidFill>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8C92242D-B887-4FD6-803E-B2C5DA61032C}" type="slidenum">
              <a:t>‹nº›</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4680"/>
            <a:ext cx="9550080" cy="114264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Calibri"/>
            </a:endParaRPr>
          </a:p>
        </p:txBody>
      </p:sp>
      <p:sp>
        <p:nvSpPr>
          <p:cNvPr id="15" name="PlaceHolder 2"/>
          <p:cNvSpPr>
            <a:spLocks noGrp="1"/>
          </p:cNvSpPr>
          <p:nvPr>
            <p:ph/>
          </p:nvPr>
        </p:nvSpPr>
        <p:spPr>
          <a:xfrm>
            <a:off x="609480" y="1600200"/>
            <a:ext cx="535428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16" name="PlaceHolder 3"/>
          <p:cNvSpPr>
            <a:spLocks noGrp="1"/>
          </p:cNvSpPr>
          <p:nvPr>
            <p:ph/>
          </p:nvPr>
        </p:nvSpPr>
        <p:spPr>
          <a:xfrm>
            <a:off x="6231960" y="1600200"/>
            <a:ext cx="5354280" cy="4525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17" name="PlaceHolder 4"/>
          <p:cNvSpPr>
            <a:spLocks noGrp="1"/>
          </p:cNvSpPr>
          <p:nvPr>
            <p:ph/>
          </p:nvPr>
        </p:nvSpPr>
        <p:spPr>
          <a:xfrm>
            <a:off x="609480" y="3964320"/>
            <a:ext cx="535428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46E0D4F8-6411-4540-B56D-9511B444CC8F}" type="slidenum">
              <a:t>‹nº›</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4680"/>
            <a:ext cx="9550080" cy="114264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Calibri"/>
            </a:endParaRPr>
          </a:p>
        </p:txBody>
      </p:sp>
      <p:sp>
        <p:nvSpPr>
          <p:cNvPr id="19" name="PlaceHolder 2"/>
          <p:cNvSpPr>
            <a:spLocks noGrp="1"/>
          </p:cNvSpPr>
          <p:nvPr>
            <p:ph/>
          </p:nvPr>
        </p:nvSpPr>
        <p:spPr>
          <a:xfrm>
            <a:off x="609480" y="1600200"/>
            <a:ext cx="5354280" cy="4525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20" name="PlaceHolder 3"/>
          <p:cNvSpPr>
            <a:spLocks noGrp="1"/>
          </p:cNvSpPr>
          <p:nvPr>
            <p:ph/>
          </p:nvPr>
        </p:nvSpPr>
        <p:spPr>
          <a:xfrm>
            <a:off x="6231960" y="1600200"/>
            <a:ext cx="535428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21" name="PlaceHolder 4"/>
          <p:cNvSpPr>
            <a:spLocks noGrp="1"/>
          </p:cNvSpPr>
          <p:nvPr>
            <p:ph/>
          </p:nvPr>
        </p:nvSpPr>
        <p:spPr>
          <a:xfrm>
            <a:off x="6231960" y="3964320"/>
            <a:ext cx="535428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25E20FDA-4EBD-4AE7-938E-DAA601AD9932}" type="slidenum">
              <a:t>‹nº›</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4680"/>
            <a:ext cx="9550080" cy="114264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Calibri"/>
            </a:endParaRPr>
          </a:p>
        </p:txBody>
      </p:sp>
      <p:sp>
        <p:nvSpPr>
          <p:cNvPr id="23" name="PlaceHolder 2"/>
          <p:cNvSpPr>
            <a:spLocks noGrp="1"/>
          </p:cNvSpPr>
          <p:nvPr>
            <p:ph/>
          </p:nvPr>
        </p:nvSpPr>
        <p:spPr>
          <a:xfrm>
            <a:off x="609480" y="1600200"/>
            <a:ext cx="535428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24" name="PlaceHolder 3"/>
          <p:cNvSpPr>
            <a:spLocks noGrp="1"/>
          </p:cNvSpPr>
          <p:nvPr>
            <p:ph/>
          </p:nvPr>
        </p:nvSpPr>
        <p:spPr>
          <a:xfrm>
            <a:off x="6231960" y="1600200"/>
            <a:ext cx="535428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25" name="PlaceHolder 4"/>
          <p:cNvSpPr>
            <a:spLocks noGrp="1"/>
          </p:cNvSpPr>
          <p:nvPr>
            <p:ph/>
          </p:nvPr>
        </p:nvSpPr>
        <p:spPr>
          <a:xfrm>
            <a:off x="609480" y="3964320"/>
            <a:ext cx="1097244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5ADEE786-812B-4293-A403-9DA8DF0101BC}" type="slidenum">
              <a:t>‹nº›</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4680"/>
            <a:ext cx="9550080" cy="114264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Calibri"/>
            </a:endParaRPr>
          </a:p>
        </p:txBody>
      </p:sp>
      <p:sp>
        <p:nvSpPr>
          <p:cNvPr id="27" name="PlaceHolder 2"/>
          <p:cNvSpPr>
            <a:spLocks noGrp="1"/>
          </p:cNvSpPr>
          <p:nvPr>
            <p:ph/>
          </p:nvPr>
        </p:nvSpPr>
        <p:spPr>
          <a:xfrm>
            <a:off x="609480" y="1600200"/>
            <a:ext cx="1097244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28" name="PlaceHolder 3"/>
          <p:cNvSpPr>
            <a:spLocks noGrp="1"/>
          </p:cNvSpPr>
          <p:nvPr>
            <p:ph/>
          </p:nvPr>
        </p:nvSpPr>
        <p:spPr>
          <a:xfrm>
            <a:off x="609480" y="3964320"/>
            <a:ext cx="1097244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7CF564F4-2BA6-4AB5-BEE4-3FB4ADD30DF2}" type="slidenum">
              <a:t>‹nº›</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09480" y="274680"/>
            <a:ext cx="9550080" cy="114264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Calibri"/>
            </a:endParaRPr>
          </a:p>
        </p:txBody>
      </p:sp>
      <p:sp>
        <p:nvSpPr>
          <p:cNvPr id="30" name="PlaceHolder 2"/>
          <p:cNvSpPr>
            <a:spLocks noGrp="1"/>
          </p:cNvSpPr>
          <p:nvPr>
            <p:ph/>
          </p:nvPr>
        </p:nvSpPr>
        <p:spPr>
          <a:xfrm>
            <a:off x="609480" y="1600200"/>
            <a:ext cx="535428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31" name="PlaceHolder 3"/>
          <p:cNvSpPr>
            <a:spLocks noGrp="1"/>
          </p:cNvSpPr>
          <p:nvPr>
            <p:ph/>
          </p:nvPr>
        </p:nvSpPr>
        <p:spPr>
          <a:xfrm>
            <a:off x="6231960" y="1600200"/>
            <a:ext cx="535428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32" name="PlaceHolder 4"/>
          <p:cNvSpPr>
            <a:spLocks noGrp="1"/>
          </p:cNvSpPr>
          <p:nvPr>
            <p:ph/>
          </p:nvPr>
        </p:nvSpPr>
        <p:spPr>
          <a:xfrm>
            <a:off x="609480" y="3964320"/>
            <a:ext cx="535428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33" name="PlaceHolder 5"/>
          <p:cNvSpPr>
            <a:spLocks noGrp="1"/>
          </p:cNvSpPr>
          <p:nvPr>
            <p:ph/>
          </p:nvPr>
        </p:nvSpPr>
        <p:spPr>
          <a:xfrm>
            <a:off x="6231960" y="3964320"/>
            <a:ext cx="535428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3"/>
          </p:nvPr>
        </p:nvSpPr>
        <p:spPr/>
        <p:txBody>
          <a:bodyPr/>
          <a:lstStyle/>
          <a:p>
            <a:fld id="{E239ED85-8D52-418B-8E5E-AF30A519E4FC}" type="slidenum">
              <a:t>‹nº›</a:t>
            </a:fld>
            <a:endParaRPr/>
          </a:p>
        </p:txBody>
      </p:sp>
      <p:sp>
        <p:nvSpPr>
          <p:cNvPr id="9" name="PlaceHolder 8"/>
          <p:cNvSpPr>
            <a:spLocks noGrp="1"/>
          </p:cNvSpPr>
          <p:nvPr>
            <p:ph type="dt" idx="1"/>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4680"/>
            <a:ext cx="9550080" cy="114264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Calibri"/>
            </a:endParaRPr>
          </a:p>
        </p:txBody>
      </p:sp>
      <p:sp>
        <p:nvSpPr>
          <p:cNvPr id="35" name="PlaceHolder 2"/>
          <p:cNvSpPr>
            <a:spLocks noGrp="1"/>
          </p:cNvSpPr>
          <p:nvPr>
            <p:ph/>
          </p:nvPr>
        </p:nvSpPr>
        <p:spPr>
          <a:xfrm>
            <a:off x="609480" y="1600200"/>
            <a:ext cx="353304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36" name="PlaceHolder 3"/>
          <p:cNvSpPr>
            <a:spLocks noGrp="1"/>
          </p:cNvSpPr>
          <p:nvPr>
            <p:ph/>
          </p:nvPr>
        </p:nvSpPr>
        <p:spPr>
          <a:xfrm>
            <a:off x="4319640" y="1600200"/>
            <a:ext cx="353304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37" name="PlaceHolder 4"/>
          <p:cNvSpPr>
            <a:spLocks noGrp="1"/>
          </p:cNvSpPr>
          <p:nvPr>
            <p:ph/>
          </p:nvPr>
        </p:nvSpPr>
        <p:spPr>
          <a:xfrm>
            <a:off x="8029800" y="1600200"/>
            <a:ext cx="353304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38" name="PlaceHolder 5"/>
          <p:cNvSpPr>
            <a:spLocks noGrp="1"/>
          </p:cNvSpPr>
          <p:nvPr>
            <p:ph/>
          </p:nvPr>
        </p:nvSpPr>
        <p:spPr>
          <a:xfrm>
            <a:off x="609480" y="3964320"/>
            <a:ext cx="353304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39" name="PlaceHolder 6"/>
          <p:cNvSpPr>
            <a:spLocks noGrp="1"/>
          </p:cNvSpPr>
          <p:nvPr>
            <p:ph/>
          </p:nvPr>
        </p:nvSpPr>
        <p:spPr>
          <a:xfrm>
            <a:off x="4319640" y="3964320"/>
            <a:ext cx="353304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40" name="PlaceHolder 7"/>
          <p:cNvSpPr>
            <a:spLocks noGrp="1"/>
          </p:cNvSpPr>
          <p:nvPr>
            <p:ph/>
          </p:nvPr>
        </p:nvSpPr>
        <p:spPr>
          <a:xfrm>
            <a:off x="8029800" y="3964320"/>
            <a:ext cx="353304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3"/>
          </p:nvPr>
        </p:nvSpPr>
        <p:spPr/>
        <p:txBody>
          <a:bodyPr/>
          <a:lstStyle/>
          <a:p>
            <a:fld id="{34EB5999-2A6A-40D2-8259-C4DE4BD6ACDD}" type="slidenum">
              <a:t>‹nº›</a:t>
            </a:fld>
            <a:endParaRPr/>
          </a:p>
        </p:txBody>
      </p:sp>
      <p:sp>
        <p:nvSpPr>
          <p:cNvPr id="11" name="PlaceHolder 10"/>
          <p:cNvSpPr>
            <a:spLocks noGrp="1"/>
          </p:cNvSpPr>
          <p:nvPr>
            <p:ph type="dt" idx="1"/>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lstStyle/>
          <a:p>
            <a:r>
              <a:t>Footer</a:t>
            </a:r>
          </a:p>
        </p:txBody>
      </p:sp>
      <p:sp>
        <p:nvSpPr>
          <p:cNvPr id="3" name="PlaceHolder 2"/>
          <p:cNvSpPr>
            <a:spLocks noGrp="1"/>
          </p:cNvSpPr>
          <p:nvPr>
            <p:ph type="sldNum" idx="9"/>
          </p:nvPr>
        </p:nvSpPr>
        <p:spPr/>
        <p:txBody>
          <a:bodyPr/>
          <a:lstStyle/>
          <a:p>
            <a:fld id="{9FE31CC0-C903-45D3-A2D4-E0E28CE69F92}" type="slidenum">
              <a:t>‹nº›</a:t>
            </a:fld>
            <a:endParaRPr/>
          </a:p>
        </p:txBody>
      </p:sp>
      <p:sp>
        <p:nvSpPr>
          <p:cNvPr id="4" name="PlaceHolder 3"/>
          <p:cNvSpPr>
            <a:spLocks noGrp="1"/>
          </p:cNvSpPr>
          <p:nvPr>
            <p:ph type="dt" idx="7"/>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9" name="PlaceHolder 1"/>
          <p:cNvSpPr>
            <a:spLocks noGrp="1"/>
          </p:cNvSpPr>
          <p:nvPr>
            <p:ph type="title"/>
          </p:nvPr>
        </p:nvSpPr>
        <p:spPr>
          <a:xfrm>
            <a:off x="609480" y="274680"/>
            <a:ext cx="9550080" cy="114264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Calibri"/>
            </a:endParaRPr>
          </a:p>
        </p:txBody>
      </p:sp>
      <p:sp>
        <p:nvSpPr>
          <p:cNvPr id="90" name="PlaceHolder 2"/>
          <p:cNvSpPr>
            <a:spLocks noGrp="1"/>
          </p:cNvSpPr>
          <p:nvPr>
            <p:ph type="subTitle"/>
          </p:nvPr>
        </p:nvSpPr>
        <p:spPr>
          <a:xfrm>
            <a:off x="609480" y="1600200"/>
            <a:ext cx="10972440" cy="4525560"/>
          </a:xfrm>
          <a:prstGeom prst="rect">
            <a:avLst/>
          </a:prstGeom>
          <a:noFill/>
          <a:ln w="0">
            <a:noFill/>
          </a:ln>
        </p:spPr>
        <p:txBody>
          <a:bodyPr lIns="0" tIns="0" rIns="0" bIns="0" anchor="ctr">
            <a:noAutofit/>
          </a:bodyPr>
          <a:lstStyle/>
          <a:p>
            <a:pPr indent="0" algn="ctr">
              <a:buNone/>
            </a:pPr>
            <a:endParaRPr lang="pt-BR" sz="3200" b="0" strike="noStrike" spc="-1">
              <a:solidFill>
                <a:srgbClr val="000000"/>
              </a:solidFill>
              <a:latin typeface="Arial"/>
            </a:endParaRPr>
          </a:p>
        </p:txBody>
      </p:sp>
      <p:sp>
        <p:nvSpPr>
          <p:cNvPr id="4" name="PlaceHolder 3"/>
          <p:cNvSpPr>
            <a:spLocks noGrp="1"/>
          </p:cNvSpPr>
          <p:nvPr>
            <p:ph type="ftr" idx="8"/>
          </p:nvPr>
        </p:nvSpPr>
        <p:spPr/>
        <p:txBody>
          <a:bodyPr/>
          <a:lstStyle/>
          <a:p>
            <a:r>
              <a:t>Footer</a:t>
            </a:r>
          </a:p>
        </p:txBody>
      </p:sp>
      <p:sp>
        <p:nvSpPr>
          <p:cNvPr id="5" name="PlaceHolder 4"/>
          <p:cNvSpPr>
            <a:spLocks noGrp="1"/>
          </p:cNvSpPr>
          <p:nvPr>
            <p:ph type="sldNum" idx="9"/>
          </p:nvPr>
        </p:nvSpPr>
        <p:spPr/>
        <p:txBody>
          <a:bodyPr/>
          <a:lstStyle/>
          <a:p>
            <a:fld id="{3A8B0A63-8D97-439A-9DF5-C218631CCA63}" type="slidenum">
              <a:t>‹nº›</a:t>
            </a:fld>
            <a:endParaRPr/>
          </a:p>
        </p:txBody>
      </p:sp>
      <p:sp>
        <p:nvSpPr>
          <p:cNvPr id="6" name="PlaceHolder 5"/>
          <p:cNvSpPr>
            <a:spLocks noGrp="1"/>
          </p:cNvSpPr>
          <p:nvPr>
            <p:ph type="dt" idx="7"/>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4680"/>
            <a:ext cx="9550080" cy="114264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Calibri"/>
            </a:endParaRPr>
          </a:p>
        </p:txBody>
      </p:sp>
      <p:sp>
        <p:nvSpPr>
          <p:cNvPr id="92" name="PlaceHolder 2"/>
          <p:cNvSpPr>
            <a:spLocks noGrp="1"/>
          </p:cNvSpPr>
          <p:nvPr>
            <p:ph/>
          </p:nvPr>
        </p:nvSpPr>
        <p:spPr>
          <a:xfrm>
            <a:off x="609480" y="1600200"/>
            <a:ext cx="10972440" cy="4525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4" name="PlaceHolder 3"/>
          <p:cNvSpPr>
            <a:spLocks noGrp="1"/>
          </p:cNvSpPr>
          <p:nvPr>
            <p:ph type="ftr" idx="8"/>
          </p:nvPr>
        </p:nvSpPr>
        <p:spPr/>
        <p:txBody>
          <a:bodyPr/>
          <a:lstStyle/>
          <a:p>
            <a:r>
              <a:t>Footer</a:t>
            </a:r>
          </a:p>
        </p:txBody>
      </p:sp>
      <p:sp>
        <p:nvSpPr>
          <p:cNvPr id="5" name="PlaceHolder 4"/>
          <p:cNvSpPr>
            <a:spLocks noGrp="1"/>
          </p:cNvSpPr>
          <p:nvPr>
            <p:ph type="sldNum" idx="9"/>
          </p:nvPr>
        </p:nvSpPr>
        <p:spPr/>
        <p:txBody>
          <a:bodyPr/>
          <a:lstStyle/>
          <a:p>
            <a:fld id="{BB9AC1B1-029E-4597-B9EE-01D6E3159DC1}" type="slidenum">
              <a:t>‹nº›</a:t>
            </a:fld>
            <a:endParaRPr/>
          </a:p>
        </p:txBody>
      </p:sp>
      <p:sp>
        <p:nvSpPr>
          <p:cNvPr id="6" name="PlaceHolder 5"/>
          <p:cNvSpPr>
            <a:spLocks noGrp="1"/>
          </p:cNvSpPr>
          <p:nvPr>
            <p:ph type="dt" idx="7"/>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3" name="PlaceHolder 1"/>
          <p:cNvSpPr>
            <a:spLocks noGrp="1"/>
          </p:cNvSpPr>
          <p:nvPr>
            <p:ph type="title"/>
          </p:nvPr>
        </p:nvSpPr>
        <p:spPr>
          <a:xfrm>
            <a:off x="609480" y="274680"/>
            <a:ext cx="9550080" cy="114264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Calibri"/>
            </a:endParaRPr>
          </a:p>
        </p:txBody>
      </p:sp>
      <p:sp>
        <p:nvSpPr>
          <p:cNvPr id="94" name="PlaceHolder 2"/>
          <p:cNvSpPr>
            <a:spLocks noGrp="1"/>
          </p:cNvSpPr>
          <p:nvPr>
            <p:ph/>
          </p:nvPr>
        </p:nvSpPr>
        <p:spPr>
          <a:xfrm>
            <a:off x="609480" y="1600200"/>
            <a:ext cx="5354280" cy="4525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95" name="PlaceHolder 3"/>
          <p:cNvSpPr>
            <a:spLocks noGrp="1"/>
          </p:cNvSpPr>
          <p:nvPr>
            <p:ph/>
          </p:nvPr>
        </p:nvSpPr>
        <p:spPr>
          <a:xfrm>
            <a:off x="6231960" y="1600200"/>
            <a:ext cx="5354280" cy="4525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5" name="PlaceHolder 4"/>
          <p:cNvSpPr>
            <a:spLocks noGrp="1"/>
          </p:cNvSpPr>
          <p:nvPr>
            <p:ph type="ftr" idx="8"/>
          </p:nvPr>
        </p:nvSpPr>
        <p:spPr/>
        <p:txBody>
          <a:bodyPr/>
          <a:lstStyle/>
          <a:p>
            <a:r>
              <a:t>Footer</a:t>
            </a:r>
          </a:p>
        </p:txBody>
      </p:sp>
      <p:sp>
        <p:nvSpPr>
          <p:cNvPr id="6" name="PlaceHolder 5"/>
          <p:cNvSpPr>
            <a:spLocks noGrp="1"/>
          </p:cNvSpPr>
          <p:nvPr>
            <p:ph type="sldNum" idx="9"/>
          </p:nvPr>
        </p:nvSpPr>
        <p:spPr/>
        <p:txBody>
          <a:bodyPr/>
          <a:lstStyle/>
          <a:p>
            <a:fld id="{15BCB2DF-C8CC-487F-9B7C-4CA27ED22C4E}" type="slidenum">
              <a:t>‹nº›</a:t>
            </a:fld>
            <a:endParaRPr/>
          </a:p>
        </p:txBody>
      </p:sp>
      <p:sp>
        <p:nvSpPr>
          <p:cNvPr id="7" name="PlaceHolder 6"/>
          <p:cNvSpPr>
            <a:spLocks noGrp="1"/>
          </p:cNvSpPr>
          <p:nvPr>
            <p:ph type="dt" idx="7"/>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6" name="PlaceHolder 1"/>
          <p:cNvSpPr>
            <a:spLocks noGrp="1"/>
          </p:cNvSpPr>
          <p:nvPr>
            <p:ph type="title"/>
          </p:nvPr>
        </p:nvSpPr>
        <p:spPr>
          <a:xfrm>
            <a:off x="609480" y="274680"/>
            <a:ext cx="9550080" cy="114264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Calibri"/>
            </a:endParaRPr>
          </a:p>
        </p:txBody>
      </p:sp>
      <p:sp>
        <p:nvSpPr>
          <p:cNvPr id="3" name="PlaceHolder 2"/>
          <p:cNvSpPr>
            <a:spLocks noGrp="1"/>
          </p:cNvSpPr>
          <p:nvPr>
            <p:ph type="ftr" idx="8"/>
          </p:nvPr>
        </p:nvSpPr>
        <p:spPr/>
        <p:txBody>
          <a:bodyPr/>
          <a:lstStyle/>
          <a:p>
            <a:r>
              <a:t>Footer</a:t>
            </a:r>
          </a:p>
        </p:txBody>
      </p:sp>
      <p:sp>
        <p:nvSpPr>
          <p:cNvPr id="4" name="PlaceHolder 3"/>
          <p:cNvSpPr>
            <a:spLocks noGrp="1"/>
          </p:cNvSpPr>
          <p:nvPr>
            <p:ph type="sldNum" idx="9"/>
          </p:nvPr>
        </p:nvSpPr>
        <p:spPr/>
        <p:txBody>
          <a:bodyPr/>
          <a:lstStyle/>
          <a:p>
            <a:fld id="{24A41345-F47A-4BD0-98D3-C9862D589108}" type="slidenum">
              <a:t>‹nº›</a:t>
            </a:fld>
            <a:endParaRPr/>
          </a:p>
        </p:txBody>
      </p:sp>
      <p:sp>
        <p:nvSpPr>
          <p:cNvPr id="5" name="PlaceHolder 4"/>
          <p:cNvSpPr>
            <a:spLocks noGrp="1"/>
          </p:cNvSpPr>
          <p:nvPr>
            <p:ph type="dt" idx="7"/>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7" name="PlaceHolder 1"/>
          <p:cNvSpPr>
            <a:spLocks noGrp="1"/>
          </p:cNvSpPr>
          <p:nvPr>
            <p:ph type="subTitle"/>
          </p:nvPr>
        </p:nvSpPr>
        <p:spPr>
          <a:xfrm>
            <a:off x="609480" y="274680"/>
            <a:ext cx="9550080" cy="5297760"/>
          </a:xfrm>
          <a:prstGeom prst="rect">
            <a:avLst/>
          </a:prstGeom>
          <a:noFill/>
          <a:ln w="0">
            <a:noFill/>
          </a:ln>
        </p:spPr>
        <p:txBody>
          <a:bodyPr lIns="0" tIns="0" rIns="0" bIns="0" anchor="ctr">
            <a:noAutofit/>
          </a:bodyPr>
          <a:lstStyle/>
          <a:p>
            <a:pPr algn="ctr"/>
            <a:endParaRPr lang="pt-BR" sz="3200" b="0" strike="noStrike" spc="-1">
              <a:solidFill>
                <a:srgbClr val="000000"/>
              </a:solidFill>
              <a:latin typeface="Arial"/>
            </a:endParaRPr>
          </a:p>
        </p:txBody>
      </p:sp>
      <p:sp>
        <p:nvSpPr>
          <p:cNvPr id="3" name="PlaceHolder 2"/>
          <p:cNvSpPr>
            <a:spLocks noGrp="1"/>
          </p:cNvSpPr>
          <p:nvPr>
            <p:ph type="ftr" idx="8"/>
          </p:nvPr>
        </p:nvSpPr>
        <p:spPr/>
        <p:txBody>
          <a:bodyPr/>
          <a:lstStyle/>
          <a:p>
            <a:r>
              <a:t>Footer</a:t>
            </a:r>
          </a:p>
        </p:txBody>
      </p:sp>
      <p:sp>
        <p:nvSpPr>
          <p:cNvPr id="4" name="PlaceHolder 3"/>
          <p:cNvSpPr>
            <a:spLocks noGrp="1"/>
          </p:cNvSpPr>
          <p:nvPr>
            <p:ph type="sldNum" idx="9"/>
          </p:nvPr>
        </p:nvSpPr>
        <p:spPr/>
        <p:txBody>
          <a:bodyPr/>
          <a:lstStyle/>
          <a:p>
            <a:fld id="{BFBC240E-9F3A-4D33-924C-128D5E5DA439}" type="slidenum">
              <a:t>‹nº›</a:t>
            </a:fld>
            <a:endParaRPr/>
          </a:p>
        </p:txBody>
      </p:sp>
      <p:sp>
        <p:nvSpPr>
          <p:cNvPr id="5" name="PlaceHolder 4"/>
          <p:cNvSpPr>
            <a:spLocks noGrp="1"/>
          </p:cNvSpPr>
          <p:nvPr>
            <p:ph type="dt" idx="7"/>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609480" y="274680"/>
            <a:ext cx="9550080" cy="114264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Calibri"/>
            </a:endParaRPr>
          </a:p>
        </p:txBody>
      </p:sp>
      <p:sp>
        <p:nvSpPr>
          <p:cNvPr id="99" name="PlaceHolder 2"/>
          <p:cNvSpPr>
            <a:spLocks noGrp="1"/>
          </p:cNvSpPr>
          <p:nvPr>
            <p:ph/>
          </p:nvPr>
        </p:nvSpPr>
        <p:spPr>
          <a:xfrm>
            <a:off x="609480" y="1600200"/>
            <a:ext cx="535428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100" name="PlaceHolder 3"/>
          <p:cNvSpPr>
            <a:spLocks noGrp="1"/>
          </p:cNvSpPr>
          <p:nvPr>
            <p:ph/>
          </p:nvPr>
        </p:nvSpPr>
        <p:spPr>
          <a:xfrm>
            <a:off x="6231960" y="1600200"/>
            <a:ext cx="5354280" cy="4525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101" name="PlaceHolder 4"/>
          <p:cNvSpPr>
            <a:spLocks noGrp="1"/>
          </p:cNvSpPr>
          <p:nvPr>
            <p:ph/>
          </p:nvPr>
        </p:nvSpPr>
        <p:spPr>
          <a:xfrm>
            <a:off x="609480" y="3964320"/>
            <a:ext cx="535428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6" name="PlaceHolder 5"/>
          <p:cNvSpPr>
            <a:spLocks noGrp="1"/>
          </p:cNvSpPr>
          <p:nvPr>
            <p:ph type="ftr" idx="8"/>
          </p:nvPr>
        </p:nvSpPr>
        <p:spPr/>
        <p:txBody>
          <a:bodyPr/>
          <a:lstStyle/>
          <a:p>
            <a:r>
              <a:t>Footer</a:t>
            </a:r>
          </a:p>
        </p:txBody>
      </p:sp>
      <p:sp>
        <p:nvSpPr>
          <p:cNvPr id="7" name="PlaceHolder 6"/>
          <p:cNvSpPr>
            <a:spLocks noGrp="1"/>
          </p:cNvSpPr>
          <p:nvPr>
            <p:ph type="sldNum" idx="9"/>
          </p:nvPr>
        </p:nvSpPr>
        <p:spPr/>
        <p:txBody>
          <a:bodyPr/>
          <a:lstStyle/>
          <a:p>
            <a:fld id="{91B4BC68-73EB-413D-A6C2-8DDCF20F2066}" type="slidenum">
              <a:t>‹nº›</a:t>
            </a:fld>
            <a:endParaRPr/>
          </a:p>
        </p:txBody>
      </p:sp>
      <p:sp>
        <p:nvSpPr>
          <p:cNvPr id="8" name="PlaceHolder 7"/>
          <p:cNvSpPr>
            <a:spLocks noGrp="1"/>
          </p:cNvSpPr>
          <p:nvPr>
            <p:ph type="dt" idx="7"/>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274680"/>
            <a:ext cx="9550080" cy="114264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Calibri"/>
            </a:endParaRPr>
          </a:p>
        </p:txBody>
      </p:sp>
      <p:sp>
        <p:nvSpPr>
          <p:cNvPr id="103" name="PlaceHolder 2"/>
          <p:cNvSpPr>
            <a:spLocks noGrp="1"/>
          </p:cNvSpPr>
          <p:nvPr>
            <p:ph/>
          </p:nvPr>
        </p:nvSpPr>
        <p:spPr>
          <a:xfrm>
            <a:off x="609480" y="1600200"/>
            <a:ext cx="5354280" cy="4525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104" name="PlaceHolder 3"/>
          <p:cNvSpPr>
            <a:spLocks noGrp="1"/>
          </p:cNvSpPr>
          <p:nvPr>
            <p:ph/>
          </p:nvPr>
        </p:nvSpPr>
        <p:spPr>
          <a:xfrm>
            <a:off x="6231960" y="1600200"/>
            <a:ext cx="535428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105" name="PlaceHolder 4"/>
          <p:cNvSpPr>
            <a:spLocks noGrp="1"/>
          </p:cNvSpPr>
          <p:nvPr>
            <p:ph/>
          </p:nvPr>
        </p:nvSpPr>
        <p:spPr>
          <a:xfrm>
            <a:off x="6231960" y="3964320"/>
            <a:ext cx="535428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6" name="PlaceHolder 5"/>
          <p:cNvSpPr>
            <a:spLocks noGrp="1"/>
          </p:cNvSpPr>
          <p:nvPr>
            <p:ph type="ftr" idx="8"/>
          </p:nvPr>
        </p:nvSpPr>
        <p:spPr/>
        <p:txBody>
          <a:bodyPr/>
          <a:lstStyle/>
          <a:p>
            <a:r>
              <a:t>Footer</a:t>
            </a:r>
          </a:p>
        </p:txBody>
      </p:sp>
      <p:sp>
        <p:nvSpPr>
          <p:cNvPr id="7" name="PlaceHolder 6"/>
          <p:cNvSpPr>
            <a:spLocks noGrp="1"/>
          </p:cNvSpPr>
          <p:nvPr>
            <p:ph type="sldNum" idx="9"/>
          </p:nvPr>
        </p:nvSpPr>
        <p:spPr/>
        <p:txBody>
          <a:bodyPr/>
          <a:lstStyle/>
          <a:p>
            <a:fld id="{9E1D1FB1-C627-450A-9D14-D6E0DD15DECD}" type="slidenum">
              <a:t>‹nº›</a:t>
            </a:fld>
            <a:endParaRPr/>
          </a:p>
        </p:txBody>
      </p:sp>
      <p:sp>
        <p:nvSpPr>
          <p:cNvPr id="8" name="PlaceHolder 7"/>
          <p:cNvSpPr>
            <a:spLocks noGrp="1"/>
          </p:cNvSpPr>
          <p:nvPr>
            <p:ph type="dt" idx="7"/>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609480" y="274680"/>
            <a:ext cx="9550080" cy="114264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Calibri"/>
            </a:endParaRPr>
          </a:p>
        </p:txBody>
      </p:sp>
      <p:sp>
        <p:nvSpPr>
          <p:cNvPr id="107" name="PlaceHolder 2"/>
          <p:cNvSpPr>
            <a:spLocks noGrp="1"/>
          </p:cNvSpPr>
          <p:nvPr>
            <p:ph/>
          </p:nvPr>
        </p:nvSpPr>
        <p:spPr>
          <a:xfrm>
            <a:off x="609480" y="1600200"/>
            <a:ext cx="535428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108" name="PlaceHolder 3"/>
          <p:cNvSpPr>
            <a:spLocks noGrp="1"/>
          </p:cNvSpPr>
          <p:nvPr>
            <p:ph/>
          </p:nvPr>
        </p:nvSpPr>
        <p:spPr>
          <a:xfrm>
            <a:off x="6231960" y="1600200"/>
            <a:ext cx="535428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109" name="PlaceHolder 4"/>
          <p:cNvSpPr>
            <a:spLocks noGrp="1"/>
          </p:cNvSpPr>
          <p:nvPr>
            <p:ph/>
          </p:nvPr>
        </p:nvSpPr>
        <p:spPr>
          <a:xfrm>
            <a:off x="609480" y="3964320"/>
            <a:ext cx="1097244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6" name="PlaceHolder 5"/>
          <p:cNvSpPr>
            <a:spLocks noGrp="1"/>
          </p:cNvSpPr>
          <p:nvPr>
            <p:ph type="ftr" idx="8"/>
          </p:nvPr>
        </p:nvSpPr>
        <p:spPr/>
        <p:txBody>
          <a:bodyPr/>
          <a:lstStyle/>
          <a:p>
            <a:r>
              <a:t>Footer</a:t>
            </a:r>
          </a:p>
        </p:txBody>
      </p:sp>
      <p:sp>
        <p:nvSpPr>
          <p:cNvPr id="7" name="PlaceHolder 6"/>
          <p:cNvSpPr>
            <a:spLocks noGrp="1"/>
          </p:cNvSpPr>
          <p:nvPr>
            <p:ph type="sldNum" idx="9"/>
          </p:nvPr>
        </p:nvSpPr>
        <p:spPr/>
        <p:txBody>
          <a:bodyPr/>
          <a:lstStyle/>
          <a:p>
            <a:fld id="{5A5AC74E-C04D-4FFA-93D2-B60FE837CDAF}" type="slidenum">
              <a:t>‹nº›</a:t>
            </a:fld>
            <a:endParaRPr/>
          </a:p>
        </p:txBody>
      </p:sp>
      <p:sp>
        <p:nvSpPr>
          <p:cNvPr id="8" name="PlaceHolder 7"/>
          <p:cNvSpPr>
            <a:spLocks noGrp="1"/>
          </p:cNvSpPr>
          <p:nvPr>
            <p:ph type="dt" idx="7"/>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609480" y="274680"/>
            <a:ext cx="9550080" cy="114264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Calibri"/>
            </a:endParaRPr>
          </a:p>
        </p:txBody>
      </p:sp>
      <p:sp>
        <p:nvSpPr>
          <p:cNvPr id="111" name="PlaceHolder 2"/>
          <p:cNvSpPr>
            <a:spLocks noGrp="1"/>
          </p:cNvSpPr>
          <p:nvPr>
            <p:ph/>
          </p:nvPr>
        </p:nvSpPr>
        <p:spPr>
          <a:xfrm>
            <a:off x="609480" y="1600200"/>
            <a:ext cx="1097244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112" name="PlaceHolder 3"/>
          <p:cNvSpPr>
            <a:spLocks noGrp="1"/>
          </p:cNvSpPr>
          <p:nvPr>
            <p:ph/>
          </p:nvPr>
        </p:nvSpPr>
        <p:spPr>
          <a:xfrm>
            <a:off x="609480" y="3964320"/>
            <a:ext cx="1097244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5" name="PlaceHolder 4"/>
          <p:cNvSpPr>
            <a:spLocks noGrp="1"/>
          </p:cNvSpPr>
          <p:nvPr>
            <p:ph type="ftr" idx="8"/>
          </p:nvPr>
        </p:nvSpPr>
        <p:spPr/>
        <p:txBody>
          <a:bodyPr/>
          <a:lstStyle/>
          <a:p>
            <a:r>
              <a:t>Footer</a:t>
            </a:r>
          </a:p>
        </p:txBody>
      </p:sp>
      <p:sp>
        <p:nvSpPr>
          <p:cNvPr id="6" name="PlaceHolder 5"/>
          <p:cNvSpPr>
            <a:spLocks noGrp="1"/>
          </p:cNvSpPr>
          <p:nvPr>
            <p:ph type="sldNum" idx="9"/>
          </p:nvPr>
        </p:nvSpPr>
        <p:spPr/>
        <p:txBody>
          <a:bodyPr/>
          <a:lstStyle/>
          <a:p>
            <a:fld id="{9CF70C9E-1B45-4909-92CE-FA6EFF141CDD}" type="slidenum">
              <a:t>‹nº›</a:t>
            </a:fld>
            <a:endParaRPr/>
          </a:p>
        </p:txBody>
      </p:sp>
      <p:sp>
        <p:nvSpPr>
          <p:cNvPr id="7" name="PlaceHolder 6"/>
          <p:cNvSpPr>
            <a:spLocks noGrp="1"/>
          </p:cNvSpPr>
          <p:nvPr>
            <p:ph type="dt" idx="7"/>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609480" y="274680"/>
            <a:ext cx="9550080" cy="114264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Calibri"/>
            </a:endParaRPr>
          </a:p>
        </p:txBody>
      </p:sp>
      <p:sp>
        <p:nvSpPr>
          <p:cNvPr id="114" name="PlaceHolder 2"/>
          <p:cNvSpPr>
            <a:spLocks noGrp="1"/>
          </p:cNvSpPr>
          <p:nvPr>
            <p:ph/>
          </p:nvPr>
        </p:nvSpPr>
        <p:spPr>
          <a:xfrm>
            <a:off x="609480" y="1600200"/>
            <a:ext cx="535428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115" name="PlaceHolder 3"/>
          <p:cNvSpPr>
            <a:spLocks noGrp="1"/>
          </p:cNvSpPr>
          <p:nvPr>
            <p:ph/>
          </p:nvPr>
        </p:nvSpPr>
        <p:spPr>
          <a:xfrm>
            <a:off x="6231960" y="1600200"/>
            <a:ext cx="535428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116" name="PlaceHolder 4"/>
          <p:cNvSpPr>
            <a:spLocks noGrp="1"/>
          </p:cNvSpPr>
          <p:nvPr>
            <p:ph/>
          </p:nvPr>
        </p:nvSpPr>
        <p:spPr>
          <a:xfrm>
            <a:off x="609480" y="3964320"/>
            <a:ext cx="535428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117" name="PlaceHolder 5"/>
          <p:cNvSpPr>
            <a:spLocks noGrp="1"/>
          </p:cNvSpPr>
          <p:nvPr>
            <p:ph/>
          </p:nvPr>
        </p:nvSpPr>
        <p:spPr>
          <a:xfrm>
            <a:off x="6231960" y="3964320"/>
            <a:ext cx="535428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7" name="PlaceHolder 6"/>
          <p:cNvSpPr>
            <a:spLocks noGrp="1"/>
          </p:cNvSpPr>
          <p:nvPr>
            <p:ph type="ftr" idx="8"/>
          </p:nvPr>
        </p:nvSpPr>
        <p:spPr/>
        <p:txBody>
          <a:bodyPr/>
          <a:lstStyle/>
          <a:p>
            <a:r>
              <a:t>Footer</a:t>
            </a:r>
          </a:p>
        </p:txBody>
      </p:sp>
      <p:sp>
        <p:nvSpPr>
          <p:cNvPr id="8" name="PlaceHolder 7"/>
          <p:cNvSpPr>
            <a:spLocks noGrp="1"/>
          </p:cNvSpPr>
          <p:nvPr>
            <p:ph type="sldNum" idx="9"/>
          </p:nvPr>
        </p:nvSpPr>
        <p:spPr/>
        <p:txBody>
          <a:bodyPr/>
          <a:lstStyle/>
          <a:p>
            <a:fld id="{2DBC562C-1F83-4914-8A47-D84DB7850C41}" type="slidenum">
              <a:t>‹nº›</a:t>
            </a:fld>
            <a:endParaRPr/>
          </a:p>
        </p:txBody>
      </p:sp>
      <p:sp>
        <p:nvSpPr>
          <p:cNvPr id="9" name="PlaceHolder 8"/>
          <p:cNvSpPr>
            <a:spLocks noGrp="1"/>
          </p:cNvSpPr>
          <p:nvPr>
            <p:ph type="dt" idx="7"/>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609480" y="274680"/>
            <a:ext cx="9550080" cy="114264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Calibri"/>
            </a:endParaRPr>
          </a:p>
        </p:txBody>
      </p:sp>
      <p:sp>
        <p:nvSpPr>
          <p:cNvPr id="119" name="PlaceHolder 2"/>
          <p:cNvSpPr>
            <a:spLocks noGrp="1"/>
          </p:cNvSpPr>
          <p:nvPr>
            <p:ph/>
          </p:nvPr>
        </p:nvSpPr>
        <p:spPr>
          <a:xfrm>
            <a:off x="609480" y="1600200"/>
            <a:ext cx="353304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120" name="PlaceHolder 3"/>
          <p:cNvSpPr>
            <a:spLocks noGrp="1"/>
          </p:cNvSpPr>
          <p:nvPr>
            <p:ph/>
          </p:nvPr>
        </p:nvSpPr>
        <p:spPr>
          <a:xfrm>
            <a:off x="4319640" y="1600200"/>
            <a:ext cx="353304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121" name="PlaceHolder 4"/>
          <p:cNvSpPr>
            <a:spLocks noGrp="1"/>
          </p:cNvSpPr>
          <p:nvPr>
            <p:ph/>
          </p:nvPr>
        </p:nvSpPr>
        <p:spPr>
          <a:xfrm>
            <a:off x="8029800" y="1600200"/>
            <a:ext cx="353304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122" name="PlaceHolder 5"/>
          <p:cNvSpPr>
            <a:spLocks noGrp="1"/>
          </p:cNvSpPr>
          <p:nvPr>
            <p:ph/>
          </p:nvPr>
        </p:nvSpPr>
        <p:spPr>
          <a:xfrm>
            <a:off x="609480" y="3964320"/>
            <a:ext cx="353304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123" name="PlaceHolder 6"/>
          <p:cNvSpPr>
            <a:spLocks noGrp="1"/>
          </p:cNvSpPr>
          <p:nvPr>
            <p:ph/>
          </p:nvPr>
        </p:nvSpPr>
        <p:spPr>
          <a:xfrm>
            <a:off x="4319640" y="3964320"/>
            <a:ext cx="353304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124" name="PlaceHolder 7"/>
          <p:cNvSpPr>
            <a:spLocks noGrp="1"/>
          </p:cNvSpPr>
          <p:nvPr>
            <p:ph/>
          </p:nvPr>
        </p:nvSpPr>
        <p:spPr>
          <a:xfrm>
            <a:off x="8029800" y="3964320"/>
            <a:ext cx="3533040" cy="2158560"/>
          </a:xfrm>
          <a:prstGeom prst="rect">
            <a:avLst/>
          </a:prstGeom>
          <a:noFill/>
          <a:ln w="0">
            <a:noFill/>
          </a:ln>
        </p:spPr>
        <p:txBody>
          <a:bodyPr lIns="0" tIns="0" rIns="0" bIns="0" anchor="t">
            <a:normAutofit/>
          </a:bodyPr>
          <a:lstStyle/>
          <a:p>
            <a:pPr indent="0">
              <a:spcBef>
                <a:spcPts val="1417"/>
              </a:spcBef>
              <a:buNone/>
            </a:pPr>
            <a:endParaRPr lang="pt-BR" sz="3200" b="0" strike="noStrike" spc="-1">
              <a:solidFill>
                <a:srgbClr val="000000"/>
              </a:solidFill>
              <a:latin typeface="Calibri"/>
            </a:endParaRPr>
          </a:p>
        </p:txBody>
      </p:sp>
      <p:sp>
        <p:nvSpPr>
          <p:cNvPr id="9" name="PlaceHolder 8"/>
          <p:cNvSpPr>
            <a:spLocks noGrp="1"/>
          </p:cNvSpPr>
          <p:nvPr>
            <p:ph type="ftr" idx="8"/>
          </p:nvPr>
        </p:nvSpPr>
        <p:spPr/>
        <p:txBody>
          <a:bodyPr/>
          <a:lstStyle/>
          <a:p>
            <a:r>
              <a:t>Footer</a:t>
            </a:r>
          </a:p>
        </p:txBody>
      </p:sp>
      <p:sp>
        <p:nvSpPr>
          <p:cNvPr id="10" name="PlaceHolder 9"/>
          <p:cNvSpPr>
            <a:spLocks noGrp="1"/>
          </p:cNvSpPr>
          <p:nvPr>
            <p:ph type="sldNum" idx="9"/>
          </p:nvPr>
        </p:nvSpPr>
        <p:spPr/>
        <p:txBody>
          <a:bodyPr/>
          <a:lstStyle/>
          <a:p>
            <a:fld id="{B2747E16-D834-4354-AB5B-511CE63B7FD6}" type="slidenum">
              <a:t>‹nº›</a:t>
            </a:fld>
            <a:endParaRPr/>
          </a:p>
        </p:txBody>
      </p:sp>
      <p:sp>
        <p:nvSpPr>
          <p:cNvPr id="11" name="PlaceHolder 10"/>
          <p:cNvSpPr>
            <a:spLocks noGrp="1"/>
          </p:cNvSpPr>
          <p:nvPr>
            <p:ph type="dt" idx="7"/>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dt" idx="1"/>
          </p:nvPr>
        </p:nvSpPr>
        <p:spPr>
          <a:xfrm>
            <a:off x="609480" y="6356520"/>
            <a:ext cx="2844360" cy="364680"/>
          </a:xfrm>
          <a:prstGeom prst="rect">
            <a:avLst/>
          </a:prstGeom>
          <a:noFill/>
          <a:ln w="0">
            <a:noFill/>
          </a:ln>
        </p:spPr>
        <p:txBody>
          <a:bodyPr anchor="ctr">
            <a:noAutofit/>
          </a:bodyPr>
          <a:lstStyle>
            <a:lvl1pPr indent="0">
              <a:lnSpc>
                <a:spcPct val="100000"/>
              </a:lnSpc>
              <a:buNone/>
              <a:tabLst>
                <a:tab pos="0" algn="l"/>
              </a:tabLst>
              <a:defRPr lang="pt-BR" sz="1400" b="0" strike="noStrike" spc="-1">
                <a:solidFill>
                  <a:srgbClr val="000000"/>
                </a:solidFill>
                <a:latin typeface="Times New Roman"/>
              </a:defRPr>
            </a:lvl1pPr>
          </a:lstStyle>
          <a:p>
            <a:pPr indent="0">
              <a:lnSpc>
                <a:spcPct val="100000"/>
              </a:lnSpc>
              <a:buNone/>
              <a:tabLst>
                <a:tab pos="0" algn="l"/>
              </a:tabLst>
            </a:pPr>
            <a:r>
              <a:rPr lang="pt-BR" sz="1400" b="0" strike="noStrike" spc="-1">
                <a:solidFill>
                  <a:srgbClr val="000000"/>
                </a:solidFill>
                <a:latin typeface="Times New Roman"/>
              </a:rPr>
              <a:t> </a:t>
            </a:r>
          </a:p>
        </p:txBody>
      </p:sp>
      <p:sp>
        <p:nvSpPr>
          <p:cNvPr id="6" name="PlaceHolder 2"/>
          <p:cNvSpPr>
            <a:spLocks noGrp="1"/>
          </p:cNvSpPr>
          <p:nvPr>
            <p:ph type="ftr" idx="2"/>
          </p:nvPr>
        </p:nvSpPr>
        <p:spPr>
          <a:xfrm>
            <a:off x="4165560" y="6356520"/>
            <a:ext cx="3860280" cy="364680"/>
          </a:xfrm>
          <a:prstGeom prst="rect">
            <a:avLst/>
          </a:prstGeom>
          <a:noFill/>
          <a:ln w="0">
            <a:noFill/>
          </a:ln>
        </p:spPr>
        <p:txBody>
          <a:bodyPr anchor="ctr">
            <a:noAutofit/>
          </a:bodyPr>
          <a:lstStyle>
            <a:lvl1pPr indent="0" algn="ctr">
              <a:lnSpc>
                <a:spcPct val="100000"/>
              </a:lnSpc>
              <a:buNone/>
              <a:tabLst>
                <a:tab pos="0" algn="l"/>
              </a:tabLst>
              <a:defRPr lang="pt-BR" sz="1400" b="0" strike="noStrike" spc="-1">
                <a:solidFill>
                  <a:srgbClr val="000000"/>
                </a:solidFill>
                <a:latin typeface="Times New Roman"/>
                <a:ea typeface="DejaVu Sans"/>
              </a:defRPr>
            </a:lvl1pPr>
          </a:lstStyle>
          <a:p>
            <a:pPr indent="0" algn="ctr">
              <a:lnSpc>
                <a:spcPct val="100000"/>
              </a:lnSpc>
              <a:buNone/>
              <a:tabLst>
                <a:tab pos="0" algn="l"/>
              </a:tabLst>
            </a:pPr>
            <a:r>
              <a:rPr lang="pt-BR" sz="1400" b="0" strike="noStrike" spc="-1">
                <a:solidFill>
                  <a:srgbClr val="000000"/>
                </a:solidFill>
                <a:latin typeface="Times New Roman"/>
                <a:ea typeface="DejaVu Sans"/>
              </a:rPr>
              <a:t> </a:t>
            </a:r>
            <a:endParaRPr lang="pt-BR" sz="1400" b="0" strike="noStrike" spc="-1">
              <a:solidFill>
                <a:srgbClr val="000000"/>
              </a:solidFill>
              <a:latin typeface="Times New Roman"/>
            </a:endParaRPr>
          </a:p>
        </p:txBody>
      </p:sp>
      <p:sp>
        <p:nvSpPr>
          <p:cNvPr id="2" name="PlaceHolder 3"/>
          <p:cNvSpPr>
            <a:spLocks noGrp="1"/>
          </p:cNvSpPr>
          <p:nvPr>
            <p:ph type="sldNum" idx="3"/>
          </p:nvPr>
        </p:nvSpPr>
        <p:spPr>
          <a:xfrm>
            <a:off x="8737560" y="6356520"/>
            <a:ext cx="2844360" cy="364680"/>
          </a:xfrm>
          <a:prstGeom prst="rect">
            <a:avLst/>
          </a:prstGeom>
          <a:noFill/>
          <a:ln w="0">
            <a:noFill/>
          </a:ln>
        </p:spPr>
        <p:txBody>
          <a:bodyPr numCol="1" spcCol="0" anchor="ctr">
            <a:noAutofit/>
          </a:bodyPr>
          <a:lstStyle>
            <a:lvl1pPr indent="0" algn="r">
              <a:lnSpc>
                <a:spcPct val="100000"/>
              </a:lnSpc>
              <a:buNone/>
              <a:tabLst>
                <a:tab pos="0" algn="l"/>
              </a:tabLst>
              <a:defRPr lang="pt-BR" sz="1200" b="0" strike="noStrike" spc="-1">
                <a:solidFill>
                  <a:srgbClr val="FFFFFF"/>
                </a:solidFill>
                <a:latin typeface="Aptos"/>
                <a:ea typeface="DejaVu Sans"/>
              </a:defRPr>
            </a:lvl1pPr>
          </a:lstStyle>
          <a:p>
            <a:pPr indent="0" algn="r">
              <a:lnSpc>
                <a:spcPct val="100000"/>
              </a:lnSpc>
              <a:buNone/>
              <a:tabLst>
                <a:tab pos="0" algn="l"/>
              </a:tabLst>
            </a:pPr>
            <a:fld id="{B310A62F-F591-46BC-9095-049763FB183F}" type="slidenum">
              <a:rPr lang="pt-BR" sz="1200" b="0" strike="noStrike" spc="-1">
                <a:solidFill>
                  <a:srgbClr val="FFFFFF"/>
                </a:solidFill>
                <a:latin typeface="Aptos"/>
                <a:ea typeface="DejaVu Sans"/>
              </a:rPr>
              <a:t>‹nº›</a:t>
            </a:fld>
            <a:endParaRPr lang="pt-BR" sz="1200" b="0" strike="noStrike" spc="-1">
              <a:solidFill>
                <a:srgbClr val="000000"/>
              </a:solidFill>
              <a:latin typeface="Times New Roman"/>
            </a:endParaRPr>
          </a:p>
        </p:txBody>
      </p:sp>
      <p:sp>
        <p:nvSpPr>
          <p:cNvPr id="3"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pt-BR" sz="1800" b="0" strike="noStrike" spc="-1">
                <a:solidFill>
                  <a:srgbClr val="000000"/>
                </a:solidFill>
                <a:latin typeface="Calibri"/>
              </a:rPr>
              <a:t>Clique para editar o formato do texto do título</a:t>
            </a: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pt-BR" sz="3200" b="0" strike="noStrike" spc="-1">
                <a:solidFill>
                  <a:srgbClr val="000000"/>
                </a:solidFill>
                <a:latin typeface="Calibri"/>
              </a:rPr>
              <a:t>Clique para editar o formato do texto da estrutura de tópicos</a:t>
            </a:r>
          </a:p>
          <a:p>
            <a:pPr marL="864000" lvl="1" indent="-324000">
              <a:spcBef>
                <a:spcPts val="1134"/>
              </a:spcBef>
              <a:buClr>
                <a:srgbClr val="000000"/>
              </a:buClr>
              <a:buSzPct val="75000"/>
              <a:buFont typeface="Symbol" charset="2"/>
              <a:buChar char=""/>
            </a:pPr>
            <a:r>
              <a:rPr lang="pt-BR" sz="2400" b="0" strike="noStrike" spc="-1">
                <a:solidFill>
                  <a:srgbClr val="000000"/>
                </a:solidFill>
                <a:latin typeface="Calibri"/>
              </a:rPr>
              <a:t>2.º nível da estrutura de tópicos</a:t>
            </a:r>
          </a:p>
          <a:p>
            <a:pPr marL="1296000" lvl="2" indent="-288000">
              <a:spcBef>
                <a:spcPts val="850"/>
              </a:spcBef>
              <a:buClr>
                <a:srgbClr val="000000"/>
              </a:buClr>
              <a:buSzPct val="45000"/>
              <a:buFont typeface="Wingdings" charset="2"/>
              <a:buChar char=""/>
            </a:pPr>
            <a:r>
              <a:rPr lang="pt-BR" sz="2000" b="0" strike="noStrike" spc="-1">
                <a:solidFill>
                  <a:srgbClr val="000000"/>
                </a:solidFill>
                <a:latin typeface="Calibri"/>
              </a:rPr>
              <a:t>3.º nível da estrutura de tópicos</a:t>
            </a:r>
          </a:p>
          <a:p>
            <a:pPr marL="1728000" lvl="3" indent="-216000">
              <a:spcBef>
                <a:spcPts val="567"/>
              </a:spcBef>
              <a:buClr>
                <a:srgbClr val="000000"/>
              </a:buClr>
              <a:buSzPct val="75000"/>
              <a:buFont typeface="Symbol" charset="2"/>
              <a:buChar char=""/>
            </a:pPr>
            <a:r>
              <a:rPr lang="pt-BR" sz="2000" b="0" strike="noStrike" spc="-1">
                <a:solidFill>
                  <a:srgbClr val="000000"/>
                </a:solidFill>
                <a:latin typeface="Calibri"/>
              </a:rPr>
              <a:t>4.º nível da estrutura de tópicos</a:t>
            </a:r>
          </a:p>
          <a:p>
            <a:pPr marL="2160000" lvl="4" indent="-216000">
              <a:spcBef>
                <a:spcPts val="283"/>
              </a:spcBef>
              <a:buClr>
                <a:srgbClr val="000000"/>
              </a:buClr>
              <a:buSzPct val="45000"/>
              <a:buFont typeface="Wingdings" charset="2"/>
              <a:buChar char=""/>
            </a:pPr>
            <a:r>
              <a:rPr lang="pt-BR" sz="2000" b="0" strike="noStrike" spc="-1">
                <a:solidFill>
                  <a:srgbClr val="000000"/>
                </a:solidFill>
                <a:latin typeface="Calibri"/>
              </a:rPr>
              <a:t>5.º nível da estrutura de tópicos</a:t>
            </a:r>
          </a:p>
          <a:p>
            <a:pPr marL="2592000" lvl="5" indent="-216000">
              <a:spcBef>
                <a:spcPts val="283"/>
              </a:spcBef>
              <a:buClr>
                <a:srgbClr val="000000"/>
              </a:buClr>
              <a:buSzPct val="45000"/>
              <a:buFont typeface="Wingdings" charset="2"/>
              <a:buChar char=""/>
            </a:pPr>
            <a:r>
              <a:rPr lang="pt-BR" sz="2000" b="0" strike="noStrike" spc="-1">
                <a:solidFill>
                  <a:srgbClr val="000000"/>
                </a:solidFill>
                <a:latin typeface="Calibri"/>
              </a:rPr>
              <a:t>6.º nível da estrutura de tópicos</a:t>
            </a:r>
          </a:p>
          <a:p>
            <a:pPr marL="3024000" lvl="6" indent="-216000">
              <a:spcBef>
                <a:spcPts val="283"/>
              </a:spcBef>
              <a:buClr>
                <a:srgbClr val="000000"/>
              </a:buClr>
              <a:buSzPct val="45000"/>
              <a:buFont typeface="Wingdings" charset="2"/>
              <a:buChar char=""/>
            </a:pPr>
            <a:r>
              <a:rPr lang="pt-BR" sz="2000" b="0" strike="noStrike" spc="-1">
                <a:solidFill>
                  <a:srgbClr val="000000"/>
                </a:solidFill>
                <a:latin typeface="Calibri"/>
              </a:rPr>
              <a:t>7.º nível da estrutura de tópicos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 name="PlaceHolder 1"/>
          <p:cNvSpPr>
            <a:spLocks noGrp="1"/>
          </p:cNvSpPr>
          <p:nvPr>
            <p:ph type="title"/>
          </p:nvPr>
        </p:nvSpPr>
        <p:spPr>
          <a:xfrm>
            <a:off x="609480" y="274680"/>
            <a:ext cx="9550080" cy="1142640"/>
          </a:xfrm>
          <a:prstGeom prst="rect">
            <a:avLst/>
          </a:prstGeom>
          <a:noFill/>
          <a:ln w="0">
            <a:noFill/>
          </a:ln>
        </p:spPr>
        <p:txBody>
          <a:bodyPr numCol="1" spcCol="0" anchor="ctr">
            <a:noAutofit/>
          </a:bodyPr>
          <a:lstStyle/>
          <a:p>
            <a:pPr indent="0" algn="ctr">
              <a:lnSpc>
                <a:spcPct val="100000"/>
              </a:lnSpc>
              <a:buNone/>
            </a:pPr>
            <a:r>
              <a:rPr lang="pt-BR" sz="4400" b="0" strike="noStrike" spc="-1">
                <a:solidFill>
                  <a:srgbClr val="000000"/>
                </a:solidFill>
                <a:latin typeface="Calibri"/>
              </a:rPr>
              <a:t>Clique para editar o título Mestre</a:t>
            </a:r>
          </a:p>
        </p:txBody>
      </p:sp>
      <p:sp>
        <p:nvSpPr>
          <p:cNvPr id="84" name="PlaceHolder 2"/>
          <p:cNvSpPr>
            <a:spLocks noGrp="1"/>
          </p:cNvSpPr>
          <p:nvPr>
            <p:ph type="body"/>
          </p:nvPr>
        </p:nvSpPr>
        <p:spPr>
          <a:xfrm>
            <a:off x="609480" y="1600200"/>
            <a:ext cx="10972440" cy="4525560"/>
          </a:xfrm>
          <a:prstGeom prst="rect">
            <a:avLst/>
          </a:prstGeom>
          <a:noFill/>
          <a:ln w="0">
            <a:noFill/>
          </a:ln>
        </p:spPr>
        <p:txBody>
          <a:bodyPr numCol="1" spcCol="0" anchor="t">
            <a:noAutofit/>
          </a:bodyPr>
          <a:lstStyle/>
          <a:p>
            <a:pPr marL="343080" indent="-343080">
              <a:lnSpc>
                <a:spcPct val="100000"/>
              </a:lnSpc>
              <a:spcBef>
                <a:spcPts val="641"/>
              </a:spcBef>
              <a:buClr>
                <a:srgbClr val="000000"/>
              </a:buClr>
              <a:buFont typeface="Arial"/>
              <a:buChar char="•"/>
            </a:pPr>
            <a:r>
              <a:rPr lang="pt-BR" sz="3200" b="0" strike="noStrike" spc="-1">
                <a:solidFill>
                  <a:srgbClr val="000000"/>
                </a:solidFill>
                <a:latin typeface="Calibri"/>
              </a:rPr>
              <a:t>Clique para editar os estilos de texto Mestres</a:t>
            </a:r>
          </a:p>
          <a:p>
            <a:pPr marL="743040" lvl="1" indent="-285840">
              <a:lnSpc>
                <a:spcPct val="100000"/>
              </a:lnSpc>
              <a:spcBef>
                <a:spcPts val="561"/>
              </a:spcBef>
              <a:buClr>
                <a:srgbClr val="000000"/>
              </a:buClr>
              <a:buFont typeface="Arial"/>
              <a:buChar char="–"/>
            </a:pPr>
            <a:r>
              <a:rPr lang="pt-BR" sz="2800" b="0" strike="noStrike" spc="-1">
                <a:solidFill>
                  <a:srgbClr val="000000"/>
                </a:solidFill>
                <a:latin typeface="Calibri"/>
              </a:rPr>
              <a:t>Segundo nível</a:t>
            </a:r>
          </a:p>
          <a:p>
            <a:pPr marL="1143000" lvl="2" indent="-228600">
              <a:lnSpc>
                <a:spcPct val="100000"/>
              </a:lnSpc>
              <a:spcBef>
                <a:spcPts val="479"/>
              </a:spcBef>
              <a:buClr>
                <a:srgbClr val="000000"/>
              </a:buClr>
              <a:buFont typeface="Arial"/>
              <a:buChar char="•"/>
            </a:pPr>
            <a:r>
              <a:rPr lang="pt-BR" sz="2400" b="0" strike="noStrike" spc="-1">
                <a:solidFill>
                  <a:srgbClr val="000000"/>
                </a:solidFill>
                <a:latin typeface="Calibri"/>
              </a:rPr>
              <a:t>Terceiro nível</a:t>
            </a:r>
          </a:p>
          <a:p>
            <a:pPr marL="1600200" lvl="3" indent="-228600">
              <a:lnSpc>
                <a:spcPct val="100000"/>
              </a:lnSpc>
              <a:spcBef>
                <a:spcPts val="400"/>
              </a:spcBef>
              <a:buClr>
                <a:srgbClr val="000000"/>
              </a:buClr>
              <a:buFont typeface="Arial"/>
              <a:buChar char="–"/>
            </a:pPr>
            <a:r>
              <a:rPr lang="pt-BR" sz="2000" b="0" strike="noStrike" spc="-1">
                <a:solidFill>
                  <a:srgbClr val="000000"/>
                </a:solidFill>
                <a:latin typeface="Calibri"/>
              </a:rPr>
              <a:t>Quarto nível</a:t>
            </a:r>
          </a:p>
          <a:p>
            <a:pPr marL="2057400" lvl="4" indent="-228600">
              <a:lnSpc>
                <a:spcPct val="100000"/>
              </a:lnSpc>
              <a:spcBef>
                <a:spcPts val="400"/>
              </a:spcBef>
              <a:buClr>
                <a:srgbClr val="000000"/>
              </a:buClr>
              <a:buFont typeface="Arial"/>
              <a:buChar char="»"/>
            </a:pPr>
            <a:r>
              <a:rPr lang="pt-BR" sz="2000" b="0" strike="noStrike" spc="-1">
                <a:solidFill>
                  <a:srgbClr val="000000"/>
                </a:solidFill>
                <a:latin typeface="Calibri"/>
              </a:rPr>
              <a:t>Quinto nível</a:t>
            </a:r>
          </a:p>
        </p:txBody>
      </p:sp>
      <p:sp>
        <p:nvSpPr>
          <p:cNvPr id="85" name="PlaceHolder 3"/>
          <p:cNvSpPr>
            <a:spLocks noGrp="1"/>
          </p:cNvSpPr>
          <p:nvPr>
            <p:ph type="dt" idx="7"/>
          </p:nvPr>
        </p:nvSpPr>
        <p:spPr>
          <a:xfrm>
            <a:off x="609480" y="6356520"/>
            <a:ext cx="2844360" cy="364680"/>
          </a:xfrm>
          <a:prstGeom prst="rect">
            <a:avLst/>
          </a:prstGeom>
          <a:noFill/>
          <a:ln w="0">
            <a:noFill/>
          </a:ln>
        </p:spPr>
        <p:txBody>
          <a:bodyPr anchor="ctr">
            <a:noAutofit/>
          </a:bodyPr>
          <a:lstStyle>
            <a:lvl1pPr indent="0">
              <a:lnSpc>
                <a:spcPct val="100000"/>
              </a:lnSpc>
              <a:buNone/>
              <a:tabLst>
                <a:tab pos="0" algn="l"/>
              </a:tabLst>
              <a:defRPr lang="pt-BR" sz="1400" b="0" strike="noStrike" spc="-1">
                <a:solidFill>
                  <a:srgbClr val="000000"/>
                </a:solidFill>
                <a:latin typeface="Times New Roman"/>
              </a:defRPr>
            </a:lvl1pPr>
          </a:lstStyle>
          <a:p>
            <a:pPr indent="0">
              <a:lnSpc>
                <a:spcPct val="100000"/>
              </a:lnSpc>
              <a:buNone/>
              <a:tabLst>
                <a:tab pos="0" algn="l"/>
              </a:tabLst>
            </a:pPr>
            <a:r>
              <a:rPr lang="pt-BR" sz="1400" b="0" strike="noStrike" spc="-1">
                <a:solidFill>
                  <a:srgbClr val="000000"/>
                </a:solidFill>
                <a:latin typeface="Times New Roman"/>
              </a:rPr>
              <a:t>&lt;data/hora&gt;</a:t>
            </a:r>
          </a:p>
        </p:txBody>
      </p:sp>
      <p:sp>
        <p:nvSpPr>
          <p:cNvPr id="86" name="PlaceHolder 4"/>
          <p:cNvSpPr>
            <a:spLocks noGrp="1"/>
          </p:cNvSpPr>
          <p:nvPr>
            <p:ph type="ftr" idx="8"/>
          </p:nvPr>
        </p:nvSpPr>
        <p:spPr>
          <a:xfrm>
            <a:off x="4165560" y="6356520"/>
            <a:ext cx="3860280" cy="364680"/>
          </a:xfrm>
          <a:prstGeom prst="rect">
            <a:avLst/>
          </a:prstGeom>
          <a:noFill/>
          <a:ln w="0">
            <a:noFill/>
          </a:ln>
        </p:spPr>
        <p:txBody>
          <a:bodyPr anchor="ctr">
            <a:noAutofit/>
          </a:bodyPr>
          <a:lstStyle>
            <a:lvl1pPr indent="0" algn="ctr">
              <a:lnSpc>
                <a:spcPct val="100000"/>
              </a:lnSpc>
              <a:buNone/>
              <a:tabLst>
                <a:tab pos="0" algn="l"/>
              </a:tabLst>
              <a:defRPr lang="pt-BR" sz="1400" b="0" strike="noStrike" spc="-1">
                <a:solidFill>
                  <a:srgbClr val="000000"/>
                </a:solidFill>
                <a:latin typeface="Times New Roman"/>
                <a:ea typeface="DejaVu Sans"/>
              </a:defRPr>
            </a:lvl1pPr>
          </a:lstStyle>
          <a:p>
            <a:pPr indent="0" algn="ctr">
              <a:lnSpc>
                <a:spcPct val="100000"/>
              </a:lnSpc>
              <a:buNone/>
              <a:tabLst>
                <a:tab pos="0" algn="l"/>
              </a:tabLst>
            </a:pPr>
            <a:r>
              <a:rPr lang="pt-BR" sz="1400" b="0" strike="noStrike" spc="-1">
                <a:solidFill>
                  <a:srgbClr val="000000"/>
                </a:solidFill>
                <a:latin typeface="Times New Roman"/>
                <a:ea typeface="DejaVu Sans"/>
              </a:rPr>
              <a:t>&lt;rodapé&gt;</a:t>
            </a:r>
            <a:endParaRPr lang="pt-BR" sz="1400" b="0" strike="noStrike" spc="-1">
              <a:solidFill>
                <a:srgbClr val="000000"/>
              </a:solidFill>
              <a:latin typeface="Times New Roman"/>
            </a:endParaRPr>
          </a:p>
        </p:txBody>
      </p:sp>
      <p:sp>
        <p:nvSpPr>
          <p:cNvPr id="87" name="PlaceHolder 5"/>
          <p:cNvSpPr>
            <a:spLocks noGrp="1"/>
          </p:cNvSpPr>
          <p:nvPr>
            <p:ph type="sldNum" idx="9"/>
          </p:nvPr>
        </p:nvSpPr>
        <p:spPr>
          <a:xfrm>
            <a:off x="8737560" y="6356520"/>
            <a:ext cx="2844360" cy="364680"/>
          </a:xfrm>
          <a:prstGeom prst="rect">
            <a:avLst/>
          </a:prstGeom>
          <a:noFill/>
          <a:ln w="0">
            <a:noFill/>
          </a:ln>
        </p:spPr>
        <p:txBody>
          <a:bodyPr numCol="1" spcCol="0" anchor="ctr">
            <a:noAutofit/>
          </a:bodyPr>
          <a:lstStyle>
            <a:lvl1pPr indent="0" algn="r">
              <a:lnSpc>
                <a:spcPct val="100000"/>
              </a:lnSpc>
              <a:buNone/>
              <a:tabLst>
                <a:tab pos="0" algn="l"/>
              </a:tabLst>
              <a:defRPr lang="pt-BR" sz="1200" b="0" strike="noStrike" spc="-1">
                <a:solidFill>
                  <a:srgbClr val="FFFFFF"/>
                </a:solidFill>
                <a:latin typeface="Aptos"/>
                <a:ea typeface="DejaVu Sans"/>
              </a:defRPr>
            </a:lvl1pPr>
          </a:lstStyle>
          <a:p>
            <a:pPr indent="0" algn="r">
              <a:lnSpc>
                <a:spcPct val="100000"/>
              </a:lnSpc>
              <a:buNone/>
              <a:tabLst>
                <a:tab pos="0" algn="l"/>
              </a:tabLst>
            </a:pPr>
            <a:fld id="{197C8185-6B57-4950-B217-EC549E3D86B4}" type="slidenum">
              <a:rPr lang="pt-BR" sz="1200" b="0" strike="noStrike" spc="-1">
                <a:solidFill>
                  <a:srgbClr val="FFFFFF"/>
                </a:solidFill>
                <a:latin typeface="Aptos"/>
                <a:ea typeface="DejaVu Sans"/>
              </a:rPr>
              <a:t>‹nº›</a:t>
            </a:fld>
            <a:endParaRPr lang="pt-BR" sz="1200" b="0" strike="noStrike" spc="-1">
              <a:solidFill>
                <a:srgbClr val="000000"/>
              </a:solidFill>
              <a:latin typeface="Times New Roman"/>
            </a:endParaRPr>
          </a:p>
        </p:txBody>
      </p:sp>
      <p:pic>
        <p:nvPicPr>
          <p:cNvPr id="88" name="Imagem 6"/>
          <p:cNvPicPr/>
          <p:nvPr/>
        </p:nvPicPr>
        <p:blipFill>
          <a:blip r:embed="rId14"/>
          <a:stretch/>
        </p:blipFill>
        <p:spPr>
          <a:xfrm>
            <a:off x="10159920" y="4680"/>
            <a:ext cx="2023560" cy="8409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em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TextBox 4"/>
          <p:cNvSpPr/>
          <p:nvPr/>
        </p:nvSpPr>
        <p:spPr>
          <a:xfrm>
            <a:off x="1440000" y="2449440"/>
            <a:ext cx="9377280" cy="1506651"/>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pt-BR" sz="4600" b="1" strike="noStrike" spc="-1" dirty="0">
                <a:solidFill>
                  <a:srgbClr val="FF0000"/>
                </a:solidFill>
                <a:latin typeface="Arial"/>
                <a:ea typeface="DejaVu Sans"/>
              </a:rPr>
              <a:t>Estratégias de Teste de Software</a:t>
            </a:r>
            <a:r>
              <a:rPr lang="pt-BR" sz="4600" b="1" strike="noStrike" spc="-1" dirty="0">
                <a:solidFill>
                  <a:srgbClr val="FFFFFF"/>
                </a:solidFill>
                <a:latin typeface="Arial"/>
                <a:ea typeface="DejaVu Sans"/>
              </a:rPr>
              <a:t>)</a:t>
            </a:r>
            <a:endParaRPr lang="pt-BR" sz="4600" b="0" strike="noStrike" spc="-1" dirty="0">
              <a:solidFill>
                <a:srgbClr val="000000"/>
              </a:solidFill>
              <a:latin typeface="Arial"/>
            </a:endParaRPr>
          </a:p>
        </p:txBody>
      </p:sp>
      <p:sp>
        <p:nvSpPr>
          <p:cNvPr id="174" name="Retângulo 10"/>
          <p:cNvSpPr/>
          <p:nvPr/>
        </p:nvSpPr>
        <p:spPr>
          <a:xfrm>
            <a:off x="0" y="3953520"/>
            <a:ext cx="12189960" cy="57240"/>
          </a:xfrm>
          <a:prstGeom prst="rect">
            <a:avLst/>
          </a:prstGeom>
          <a:solidFill>
            <a:schemeClr val="tx1">
              <a:lumMod val="95000"/>
            </a:schemeClr>
          </a:solidFill>
          <a:ln>
            <a:solidFill>
              <a:srgbClr val="000000"/>
            </a:solidFill>
            <a:round/>
          </a:ln>
        </p:spPr>
        <p:style>
          <a:lnRef idx="2">
            <a:schemeClr val="accent1">
              <a:shade val="50000"/>
            </a:schemeClr>
          </a:lnRef>
          <a:fillRef idx="1">
            <a:schemeClr val="accent1"/>
          </a:fillRef>
          <a:effectRef idx="0">
            <a:schemeClr val="accent1"/>
          </a:effectRef>
          <a:fontRef idx="minor"/>
        </p:style>
        <p:txBody>
          <a:bodyPr lIns="90000" tIns="14400" rIns="90000" bIns="14400" anchor="ctr">
            <a:noAutofit/>
          </a:bodyPr>
          <a:lstStyle/>
          <a:p>
            <a:pPr algn="ctr">
              <a:lnSpc>
                <a:spcPct val="100000"/>
              </a:lnSpc>
            </a:pPr>
            <a:endParaRPr lang="pt-BR" sz="1868" b="0" strike="noStrike" spc="-1" baseline="-25000">
              <a:solidFill>
                <a:srgbClr val="FFFFFF"/>
              </a:solidFill>
              <a:latin typeface="Aptos"/>
              <a:ea typeface="DejaVu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 name="Imagem 174"/>
          <p:cNvPicPr/>
          <p:nvPr/>
        </p:nvPicPr>
        <p:blipFill>
          <a:blip r:embed="rId2"/>
          <a:stretch/>
        </p:blipFill>
        <p:spPr>
          <a:xfrm>
            <a:off x="1158840" y="900000"/>
            <a:ext cx="10416600" cy="5580000"/>
          </a:xfrm>
          <a:prstGeom prst="rect">
            <a:avLst/>
          </a:prstGeom>
          <a:ln w="0">
            <a:noFill/>
          </a:ln>
        </p:spPr>
      </p:pic>
      <p:sp>
        <p:nvSpPr>
          <p:cNvPr id="176" name="CaixaDeTexto 175"/>
          <p:cNvSpPr txBox="1"/>
          <p:nvPr/>
        </p:nvSpPr>
        <p:spPr>
          <a:xfrm>
            <a:off x="180000" y="6480000"/>
            <a:ext cx="8376840" cy="346680"/>
          </a:xfrm>
          <a:prstGeom prst="rect">
            <a:avLst/>
          </a:prstGeom>
          <a:noFill/>
          <a:ln w="0">
            <a:noFill/>
          </a:ln>
        </p:spPr>
        <p:txBody>
          <a:bodyPr lIns="90000" tIns="45000" rIns="90000" bIns="45000" anchor="t">
            <a:noAutofit/>
          </a:bodyPr>
          <a:lstStyle/>
          <a:p>
            <a:r>
              <a:rPr lang="pt-BR" sz="1800" b="0" strike="noStrike" spc="-1">
                <a:solidFill>
                  <a:srgbClr val="000000"/>
                </a:solidFill>
                <a:latin typeface="Arial"/>
              </a:rPr>
              <a:t>https://www.estrategiaconcursos.com.br/blog/estrategias-testes-software-caixa-ti/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CaixaDeTexto 216"/>
          <p:cNvSpPr/>
          <p:nvPr/>
        </p:nvSpPr>
        <p:spPr>
          <a:xfrm>
            <a:off x="609480" y="274680"/>
            <a:ext cx="9550080" cy="1142640"/>
          </a:xfrm>
          <a:prstGeom prst="rect">
            <a:avLst/>
          </a:prstGeom>
          <a:noFill/>
          <a:ln w="0">
            <a:noFill/>
          </a:ln>
        </p:spPr>
        <p:style>
          <a:lnRef idx="0">
            <a:scrgbClr r="0" g="0" b="0"/>
          </a:lnRef>
          <a:fillRef idx="0">
            <a:scrgbClr r="0" g="0" b="0"/>
          </a:fillRef>
          <a:effectRef idx="0">
            <a:scrgbClr r="0" g="0" b="0"/>
          </a:effectRef>
          <a:fontRef idx="minor"/>
        </p:style>
        <p:txBody>
          <a:bodyPr numCol="1" spcCol="0" anchor="ctr">
            <a:normAutofit/>
          </a:bodyPr>
          <a:lstStyle/>
          <a:p>
            <a:pPr algn="ctr">
              <a:lnSpc>
                <a:spcPct val="100000"/>
              </a:lnSpc>
              <a:spcAft>
                <a:spcPts val="601"/>
              </a:spcAft>
            </a:pPr>
            <a:r>
              <a:rPr lang="en-US" sz="4400" b="0" strike="noStrike" spc="-1">
                <a:solidFill>
                  <a:srgbClr val="000000"/>
                </a:solidFill>
                <a:latin typeface="Calibri"/>
              </a:rPr>
              <a:t>Teste de Estrutura de Controle</a:t>
            </a:r>
            <a:endParaRPr lang="pt-BR" sz="4400" b="0" strike="noStrike" spc="-1">
              <a:solidFill>
                <a:srgbClr val="000000"/>
              </a:solidFill>
              <a:latin typeface="Arial"/>
            </a:endParaRPr>
          </a:p>
        </p:txBody>
      </p:sp>
      <p:sp>
        <p:nvSpPr>
          <p:cNvPr id="180" name="CaixaDeTexto 217"/>
          <p:cNvSpPr/>
          <p:nvPr/>
        </p:nvSpPr>
        <p:spPr>
          <a:xfrm>
            <a:off x="609480" y="1600200"/>
            <a:ext cx="10972440" cy="4525560"/>
          </a:xfrm>
          <a:prstGeom prst="rect">
            <a:avLst/>
          </a:prstGeom>
          <a:noFill/>
          <a:ln w="0">
            <a:noFill/>
          </a:ln>
        </p:spPr>
        <p:style>
          <a:lnRef idx="0">
            <a:scrgbClr r="0" g="0" b="0"/>
          </a:lnRef>
          <a:fillRef idx="0">
            <a:scrgbClr r="0" g="0" b="0"/>
          </a:fillRef>
          <a:effectRef idx="0">
            <a:scrgbClr r="0" g="0" b="0"/>
          </a:effectRef>
          <a:fontRef idx="minor"/>
        </p:style>
        <p:txBody>
          <a:bodyPr numCol="1" spcCol="0" anchor="t">
            <a:normAutofit/>
          </a:bodyPr>
          <a:lstStyle/>
          <a:p>
            <a:pPr marL="343080" indent="-343080">
              <a:lnSpc>
                <a:spcPct val="90000"/>
              </a:lnSpc>
              <a:spcBef>
                <a:spcPts val="641"/>
              </a:spcBef>
              <a:buClr>
                <a:srgbClr val="000000"/>
              </a:buClr>
              <a:buFont typeface="Arial"/>
              <a:buChar char="•"/>
            </a:pPr>
            <a:r>
              <a:rPr lang="pt-BR" sz="3200" b="0" strike="noStrike" spc="-1">
                <a:solidFill>
                  <a:srgbClr val="000000"/>
                </a:solidFill>
                <a:latin typeface="Calibri"/>
              </a:rPr>
              <a:t>O teste de caminho base seja simples e altamente eficaz, ele sozinho não é suficiente. Nesta seção discutimos outras variações do teste de estrutura de controle. Elas ampliam a abrangência do teste e melhoram a qualidade do teste caixa-branca:</a:t>
            </a:r>
            <a:endParaRPr lang="pt-BR" sz="3200" b="0" strike="noStrike" spc="-1">
              <a:solidFill>
                <a:srgbClr val="000000"/>
              </a:solidFill>
              <a:latin typeface="Arial"/>
            </a:endParaRPr>
          </a:p>
          <a:p>
            <a:pPr>
              <a:lnSpc>
                <a:spcPct val="90000"/>
              </a:lnSpc>
              <a:spcBef>
                <a:spcPts val="641"/>
              </a:spcBef>
            </a:pPr>
            <a:endParaRPr lang="pt-BR" sz="3200" b="0" strike="noStrike" spc="-1">
              <a:solidFill>
                <a:srgbClr val="000000"/>
              </a:solidFill>
              <a:latin typeface="Arial"/>
            </a:endParaRPr>
          </a:p>
          <a:p>
            <a:pPr marL="343080" indent="-343080">
              <a:lnSpc>
                <a:spcPct val="90000"/>
              </a:lnSpc>
              <a:spcBef>
                <a:spcPts val="641"/>
              </a:spcBef>
              <a:buClr>
                <a:srgbClr val="000000"/>
              </a:buClr>
              <a:buFont typeface="Arial"/>
              <a:buChar char="•"/>
            </a:pPr>
            <a:r>
              <a:rPr lang="en-US" sz="3200" b="0" strike="noStrike" spc="-1">
                <a:solidFill>
                  <a:srgbClr val="000000"/>
                </a:solidFill>
                <a:latin typeface="Calibri"/>
              </a:rPr>
              <a:t>Teste de condição</a:t>
            </a:r>
            <a:endParaRPr lang="pt-BR" sz="3200" b="0" strike="noStrike" spc="-1">
              <a:solidFill>
                <a:srgbClr val="000000"/>
              </a:solidFill>
              <a:latin typeface="Arial"/>
            </a:endParaRPr>
          </a:p>
          <a:p>
            <a:pPr marL="343080" indent="-343080">
              <a:lnSpc>
                <a:spcPct val="90000"/>
              </a:lnSpc>
              <a:spcBef>
                <a:spcPts val="641"/>
              </a:spcBef>
              <a:buClr>
                <a:srgbClr val="000000"/>
              </a:buClr>
              <a:buFont typeface="Arial"/>
              <a:buChar char="•"/>
            </a:pPr>
            <a:r>
              <a:rPr lang="en-US" sz="3200" b="0" strike="noStrike" spc="-1">
                <a:solidFill>
                  <a:srgbClr val="000000"/>
                </a:solidFill>
                <a:latin typeface="Calibri"/>
              </a:rPr>
              <a:t>Teste de fluxo de dados</a:t>
            </a:r>
            <a:endParaRPr lang="pt-BR" sz="3200" b="0" strike="noStrike" spc="-1">
              <a:solidFill>
                <a:srgbClr val="000000"/>
              </a:solidFill>
              <a:latin typeface="Arial"/>
            </a:endParaRPr>
          </a:p>
          <a:p>
            <a:pPr marL="343080" indent="-343080">
              <a:lnSpc>
                <a:spcPct val="90000"/>
              </a:lnSpc>
              <a:spcBef>
                <a:spcPts val="641"/>
              </a:spcBef>
              <a:buClr>
                <a:srgbClr val="000000"/>
              </a:buClr>
              <a:buFont typeface="Arial"/>
              <a:buChar char="•"/>
            </a:pPr>
            <a:r>
              <a:rPr lang="en-US" sz="3200" b="0" strike="noStrike" spc="-1">
                <a:solidFill>
                  <a:srgbClr val="000000"/>
                </a:solidFill>
                <a:latin typeface="Calibri"/>
              </a:rPr>
              <a:t>Teste de ciclo</a:t>
            </a:r>
            <a:endParaRPr lang="pt-BR" sz="3200" b="0" strike="noStrike" spc="-1">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CaixaDeTexto 218"/>
          <p:cNvSpPr/>
          <p:nvPr/>
        </p:nvSpPr>
        <p:spPr>
          <a:xfrm>
            <a:off x="609480" y="274680"/>
            <a:ext cx="9550080" cy="1142640"/>
          </a:xfrm>
          <a:prstGeom prst="rect">
            <a:avLst/>
          </a:prstGeom>
          <a:noFill/>
          <a:ln w="0">
            <a:noFill/>
          </a:ln>
        </p:spPr>
        <p:style>
          <a:lnRef idx="0">
            <a:scrgbClr r="0" g="0" b="0"/>
          </a:lnRef>
          <a:fillRef idx="0">
            <a:scrgbClr r="0" g="0" b="0"/>
          </a:fillRef>
          <a:effectRef idx="0">
            <a:scrgbClr r="0" g="0" b="0"/>
          </a:effectRef>
          <a:fontRef idx="minor"/>
        </p:style>
        <p:txBody>
          <a:bodyPr numCol="1" spcCol="0" anchor="ctr">
            <a:normAutofit/>
          </a:bodyPr>
          <a:lstStyle/>
          <a:p>
            <a:pPr algn="ctr">
              <a:lnSpc>
                <a:spcPct val="90000"/>
              </a:lnSpc>
              <a:spcAft>
                <a:spcPts val="601"/>
              </a:spcAft>
            </a:pPr>
            <a:r>
              <a:rPr lang="pt-BR" sz="3700" b="0" strike="noStrike" spc="-1" dirty="0">
                <a:solidFill>
                  <a:srgbClr val="000000"/>
                </a:solidFill>
                <a:latin typeface="Calibri"/>
              </a:rPr>
              <a:t>Teste de Estrutura de Controle: Teste de condição  lógica </a:t>
            </a:r>
            <a:endParaRPr lang="pt-BR" sz="3700" b="0" strike="noStrike" spc="-1" dirty="0">
              <a:solidFill>
                <a:srgbClr val="000000"/>
              </a:solidFill>
              <a:latin typeface="Arial"/>
            </a:endParaRPr>
          </a:p>
        </p:txBody>
      </p:sp>
      <p:sp>
        <p:nvSpPr>
          <p:cNvPr id="182" name="CaixaDeTexto 219"/>
          <p:cNvSpPr/>
          <p:nvPr/>
        </p:nvSpPr>
        <p:spPr>
          <a:xfrm>
            <a:off x="609480" y="1600200"/>
            <a:ext cx="10972440" cy="4525560"/>
          </a:xfrm>
          <a:prstGeom prst="rect">
            <a:avLst/>
          </a:prstGeom>
          <a:noFill/>
          <a:ln w="0">
            <a:noFill/>
          </a:ln>
        </p:spPr>
        <p:style>
          <a:lnRef idx="0">
            <a:scrgbClr r="0" g="0" b="0"/>
          </a:lnRef>
          <a:fillRef idx="0">
            <a:scrgbClr r="0" g="0" b="0"/>
          </a:fillRef>
          <a:effectRef idx="0">
            <a:scrgbClr r="0" g="0" b="0"/>
          </a:effectRef>
          <a:fontRef idx="minor"/>
        </p:style>
        <p:txBody>
          <a:bodyPr numCol="1" spcCol="0" anchor="t">
            <a:noAutofit/>
          </a:bodyPr>
          <a:lstStyle/>
          <a:p>
            <a:pPr marL="343080" indent="-343080">
              <a:lnSpc>
                <a:spcPct val="90000"/>
              </a:lnSpc>
              <a:spcBef>
                <a:spcPts val="479"/>
              </a:spcBef>
              <a:buClr>
                <a:srgbClr val="000000"/>
              </a:buClr>
              <a:buFont typeface="Arial"/>
              <a:buChar char="•"/>
            </a:pPr>
            <a:r>
              <a:rPr lang="pt-BR" sz="3200" b="0" strike="noStrike" spc="-1" dirty="0">
                <a:solidFill>
                  <a:srgbClr val="000000"/>
                </a:solidFill>
                <a:latin typeface="Calibri"/>
              </a:rPr>
              <a:t>Uma condição simples é uma variável booleana ou uma expressão relacional. </a:t>
            </a:r>
            <a:endParaRPr lang="pt-BR" sz="3200" b="0" strike="noStrike" spc="-1" dirty="0">
              <a:solidFill>
                <a:srgbClr val="000000"/>
              </a:solidFill>
              <a:latin typeface="Arial"/>
            </a:endParaRPr>
          </a:p>
          <a:p>
            <a:pPr marL="343080" indent="-343080">
              <a:lnSpc>
                <a:spcPct val="90000"/>
              </a:lnSpc>
              <a:spcBef>
                <a:spcPts val="479"/>
              </a:spcBef>
              <a:buClr>
                <a:srgbClr val="000000"/>
              </a:buClr>
              <a:buFont typeface="Arial"/>
              <a:buChar char="•"/>
            </a:pPr>
            <a:r>
              <a:rPr lang="pt-BR" sz="3200" b="0" strike="noStrike" spc="-1" dirty="0">
                <a:solidFill>
                  <a:srgbClr val="000000"/>
                </a:solidFill>
                <a:latin typeface="Calibri"/>
              </a:rPr>
              <a:t>Uma expressão relacional toma a forma</a:t>
            </a:r>
            <a:endParaRPr lang="pt-BR" sz="3200" b="0" strike="noStrike" spc="-1" dirty="0">
              <a:solidFill>
                <a:srgbClr val="000000"/>
              </a:solidFill>
              <a:latin typeface="Arial"/>
            </a:endParaRPr>
          </a:p>
          <a:p>
            <a:pPr algn="ctr">
              <a:lnSpc>
                <a:spcPct val="90000"/>
              </a:lnSpc>
              <a:spcBef>
                <a:spcPts val="479"/>
              </a:spcBef>
            </a:pPr>
            <a:r>
              <a:rPr lang="pt-BR" sz="3200" b="1" strike="noStrike" spc="-1" dirty="0">
                <a:solidFill>
                  <a:srgbClr val="000000"/>
                </a:solidFill>
                <a:latin typeface="Calibri"/>
              </a:rPr>
              <a:t>E1 &lt;operador relacional &gt; E2 onde E1 e E2 são expressões aritméticas e &lt;operador &gt; &lt;, ≤, =, ≠ (não igual), &gt;, ou ≥</a:t>
            </a:r>
            <a:endParaRPr lang="pt-BR" sz="3200" b="1" strike="noStrike" spc="-1" dirty="0">
              <a:solidFill>
                <a:srgbClr val="000000"/>
              </a:solidFill>
              <a:latin typeface="Arial"/>
            </a:endParaRPr>
          </a:p>
          <a:p>
            <a:pPr>
              <a:lnSpc>
                <a:spcPct val="90000"/>
              </a:lnSpc>
              <a:spcBef>
                <a:spcPts val="479"/>
              </a:spcBef>
            </a:pPr>
            <a:endParaRPr lang="pt-BR" sz="3200" b="0" strike="noStrike" spc="-1" dirty="0">
              <a:solidFill>
                <a:srgbClr val="000000"/>
              </a:solidFill>
              <a:latin typeface="Arial"/>
            </a:endParaRPr>
          </a:p>
          <a:p>
            <a:pPr marL="343080" indent="-343080">
              <a:lnSpc>
                <a:spcPct val="90000"/>
              </a:lnSpc>
              <a:spcBef>
                <a:spcPts val="479"/>
              </a:spcBef>
              <a:buClr>
                <a:srgbClr val="000000"/>
              </a:buClr>
              <a:buFont typeface="Arial"/>
              <a:buChar char="•"/>
            </a:pPr>
            <a:r>
              <a:rPr lang="pt-BR" sz="3200" b="0" strike="noStrike" spc="-1" dirty="0">
                <a:solidFill>
                  <a:srgbClr val="000000"/>
                </a:solidFill>
                <a:latin typeface="Calibri"/>
              </a:rPr>
              <a:t>Uma condição composta é formada por duas ou mais condições simples, operadores booleanos e parênteses. Assumimos que os operadores booleanos permitidos em uma condição composta incluem OR (|), AND (&amp;) e NOT (¬).</a:t>
            </a:r>
            <a:endParaRPr lang="pt-BR" sz="3200" b="0" strike="noStrike" spc="-1" dirty="0">
              <a:solidFill>
                <a:srgbClr val="000000"/>
              </a:solidFill>
              <a:latin typeface="Arial"/>
            </a:endParaRPr>
          </a:p>
          <a:p>
            <a:pPr>
              <a:lnSpc>
                <a:spcPct val="90000"/>
              </a:lnSpc>
              <a:spcBef>
                <a:spcPts val="360"/>
              </a:spcBef>
            </a:pPr>
            <a:endParaRPr lang="pt-BR" sz="3200" b="0" strike="noStrike" spc="-1" dirty="0">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CaixaDeTexto 218"/>
          <p:cNvSpPr/>
          <p:nvPr/>
        </p:nvSpPr>
        <p:spPr>
          <a:xfrm>
            <a:off x="609480" y="274680"/>
            <a:ext cx="9550080" cy="1142640"/>
          </a:xfrm>
          <a:prstGeom prst="rect">
            <a:avLst/>
          </a:prstGeom>
          <a:noFill/>
          <a:ln w="0">
            <a:noFill/>
          </a:ln>
        </p:spPr>
        <p:style>
          <a:lnRef idx="0">
            <a:scrgbClr r="0" g="0" b="0"/>
          </a:lnRef>
          <a:fillRef idx="0">
            <a:scrgbClr r="0" g="0" b="0"/>
          </a:fillRef>
          <a:effectRef idx="0">
            <a:scrgbClr r="0" g="0" b="0"/>
          </a:effectRef>
          <a:fontRef idx="minor"/>
        </p:style>
        <p:txBody>
          <a:bodyPr numCol="1" spcCol="0" anchor="ctr">
            <a:normAutofit/>
          </a:bodyPr>
          <a:lstStyle/>
          <a:p>
            <a:pPr algn="ctr">
              <a:lnSpc>
                <a:spcPct val="90000"/>
              </a:lnSpc>
              <a:spcAft>
                <a:spcPts val="601"/>
              </a:spcAft>
            </a:pPr>
            <a:r>
              <a:rPr lang="en-US" sz="3700" b="0" strike="noStrike" spc="-1">
                <a:solidFill>
                  <a:srgbClr val="000000"/>
                </a:solidFill>
                <a:latin typeface="Calibri"/>
              </a:rPr>
              <a:t>Teste de Estrutura de Controle: Teste de condição   </a:t>
            </a:r>
            <a:endParaRPr lang="pt-BR" sz="3700" b="0" strike="noStrike" spc="-1">
              <a:solidFill>
                <a:srgbClr val="000000"/>
              </a:solidFill>
              <a:latin typeface="Arial"/>
            </a:endParaRPr>
          </a:p>
        </p:txBody>
      </p:sp>
      <p:sp>
        <p:nvSpPr>
          <p:cNvPr id="184" name="CaixaDeTexto 219"/>
          <p:cNvSpPr/>
          <p:nvPr/>
        </p:nvSpPr>
        <p:spPr>
          <a:xfrm>
            <a:off x="609480" y="1600200"/>
            <a:ext cx="10972440" cy="4525560"/>
          </a:xfrm>
          <a:prstGeom prst="rect">
            <a:avLst/>
          </a:prstGeom>
          <a:noFill/>
          <a:ln w="0">
            <a:noFill/>
          </a:ln>
        </p:spPr>
        <p:style>
          <a:lnRef idx="0">
            <a:scrgbClr r="0" g="0" b="0"/>
          </a:lnRef>
          <a:fillRef idx="0">
            <a:scrgbClr r="0" g="0" b="0"/>
          </a:fillRef>
          <a:effectRef idx="0">
            <a:scrgbClr r="0" g="0" b="0"/>
          </a:effectRef>
          <a:fontRef idx="minor"/>
        </p:style>
        <p:txBody>
          <a:bodyPr numCol="1" spcCol="0" anchor="t">
            <a:noAutofit/>
          </a:bodyPr>
          <a:lstStyle/>
          <a:p>
            <a:pPr>
              <a:lnSpc>
                <a:spcPct val="90000"/>
              </a:lnSpc>
              <a:spcBef>
                <a:spcPts val="360"/>
              </a:spcBef>
            </a:pPr>
            <a:endParaRPr lang="pt-BR" sz="1800" b="0" strike="noStrike" spc="-1" dirty="0">
              <a:solidFill>
                <a:srgbClr val="000000"/>
              </a:solidFill>
              <a:latin typeface="Arial"/>
            </a:endParaRPr>
          </a:p>
          <a:p>
            <a:pPr>
              <a:lnSpc>
                <a:spcPct val="90000"/>
              </a:lnSpc>
              <a:spcBef>
                <a:spcPts val="479"/>
              </a:spcBef>
            </a:pPr>
            <a:r>
              <a:rPr lang="pt-BR" sz="2400" b="0" strike="noStrike" spc="-1" dirty="0">
                <a:solidFill>
                  <a:srgbClr val="000000"/>
                </a:solidFill>
                <a:latin typeface="Calibri"/>
              </a:rPr>
              <a:t>Tipos de erros em uma condição incluem:</a:t>
            </a:r>
            <a:endParaRPr lang="pt-BR" sz="2400" b="0" strike="noStrike" spc="-1" dirty="0">
              <a:solidFill>
                <a:srgbClr val="000000"/>
              </a:solidFill>
              <a:latin typeface="Arial"/>
            </a:endParaRPr>
          </a:p>
          <a:p>
            <a:pPr marL="343080" indent="-343080">
              <a:lnSpc>
                <a:spcPct val="90000"/>
              </a:lnSpc>
              <a:spcBef>
                <a:spcPts val="479"/>
              </a:spcBef>
              <a:buClr>
                <a:srgbClr val="000000"/>
              </a:buClr>
              <a:buFont typeface="Arial"/>
              <a:buChar char="•"/>
            </a:pPr>
            <a:r>
              <a:rPr lang="pt-BR" sz="2400" b="0" strike="noStrike" spc="-1" dirty="0">
                <a:solidFill>
                  <a:srgbClr val="000000"/>
                </a:solidFill>
                <a:latin typeface="Calibri"/>
              </a:rPr>
              <a:t>1. erros de operador booleano (operadores booleanos incorretos, faltando ou extra),</a:t>
            </a:r>
            <a:endParaRPr lang="pt-BR" sz="2400" b="0" strike="noStrike" spc="-1" dirty="0">
              <a:solidFill>
                <a:srgbClr val="000000"/>
              </a:solidFill>
              <a:latin typeface="Arial"/>
            </a:endParaRPr>
          </a:p>
          <a:p>
            <a:pPr marL="343080" indent="-343080">
              <a:lnSpc>
                <a:spcPct val="90000"/>
              </a:lnSpc>
              <a:spcBef>
                <a:spcPts val="479"/>
              </a:spcBef>
              <a:buClr>
                <a:srgbClr val="000000"/>
              </a:buClr>
              <a:buFont typeface="Arial"/>
              <a:buChar char="•"/>
            </a:pPr>
            <a:r>
              <a:rPr lang="pt-BR" sz="2400" b="0" strike="noStrike" spc="-1" dirty="0">
                <a:solidFill>
                  <a:srgbClr val="000000"/>
                </a:solidFill>
                <a:latin typeface="Calibri"/>
              </a:rPr>
              <a:t>2. erros de variável booleana, </a:t>
            </a:r>
            <a:endParaRPr lang="pt-BR" sz="2400" b="0" strike="noStrike" spc="-1" dirty="0">
              <a:solidFill>
                <a:srgbClr val="000000"/>
              </a:solidFill>
              <a:latin typeface="Arial"/>
            </a:endParaRPr>
          </a:p>
          <a:p>
            <a:pPr marL="343080" indent="-343080">
              <a:lnSpc>
                <a:spcPct val="90000"/>
              </a:lnSpc>
              <a:spcBef>
                <a:spcPts val="479"/>
              </a:spcBef>
              <a:buClr>
                <a:srgbClr val="000000"/>
              </a:buClr>
              <a:buFont typeface="Arial"/>
              <a:buChar char="•"/>
            </a:pPr>
            <a:r>
              <a:rPr lang="pt-BR" sz="2400" b="0" strike="noStrike" spc="-1" dirty="0">
                <a:solidFill>
                  <a:srgbClr val="000000"/>
                </a:solidFill>
                <a:latin typeface="Calibri"/>
              </a:rPr>
              <a:t>3. erros de parênteses booleanos, </a:t>
            </a:r>
            <a:endParaRPr lang="pt-BR" sz="2400" b="0" strike="noStrike" spc="-1" dirty="0">
              <a:solidFill>
                <a:srgbClr val="000000"/>
              </a:solidFill>
              <a:latin typeface="Arial"/>
            </a:endParaRPr>
          </a:p>
          <a:p>
            <a:pPr marL="343080" indent="-343080">
              <a:lnSpc>
                <a:spcPct val="90000"/>
              </a:lnSpc>
              <a:spcBef>
                <a:spcPts val="479"/>
              </a:spcBef>
              <a:buClr>
                <a:srgbClr val="000000"/>
              </a:buClr>
              <a:buFont typeface="Arial"/>
              <a:buChar char="•"/>
            </a:pPr>
            <a:r>
              <a:rPr lang="pt-BR" sz="2400" b="0" strike="noStrike" spc="-1" dirty="0">
                <a:solidFill>
                  <a:srgbClr val="000000"/>
                </a:solidFill>
                <a:latin typeface="Calibri"/>
              </a:rPr>
              <a:t>4. erros de operador relacional e </a:t>
            </a:r>
            <a:endParaRPr lang="pt-BR" sz="2400" b="0" strike="noStrike" spc="-1" dirty="0">
              <a:solidFill>
                <a:srgbClr val="000000"/>
              </a:solidFill>
              <a:latin typeface="Arial"/>
            </a:endParaRPr>
          </a:p>
          <a:p>
            <a:pPr marL="343080" indent="-343080">
              <a:lnSpc>
                <a:spcPct val="90000"/>
              </a:lnSpc>
              <a:spcBef>
                <a:spcPts val="479"/>
              </a:spcBef>
              <a:buClr>
                <a:srgbClr val="000000"/>
              </a:buClr>
              <a:buFont typeface="Arial"/>
              <a:buChar char="•"/>
            </a:pPr>
            <a:r>
              <a:rPr lang="pt-BR" sz="2400" b="0" strike="noStrike" spc="-1" dirty="0">
                <a:solidFill>
                  <a:srgbClr val="000000"/>
                </a:solidFill>
                <a:latin typeface="Calibri"/>
              </a:rPr>
              <a:t>5. erros de expressão aritmética. </a:t>
            </a:r>
            <a:endParaRPr lang="pt-BR" sz="2400" b="0" strike="noStrike" spc="-1" dirty="0">
              <a:solidFill>
                <a:srgbClr val="000000"/>
              </a:solidFill>
              <a:latin typeface="Arial"/>
            </a:endParaRPr>
          </a:p>
          <a:p>
            <a:pPr>
              <a:lnSpc>
                <a:spcPct val="90000"/>
              </a:lnSpc>
              <a:spcBef>
                <a:spcPts val="479"/>
              </a:spcBef>
            </a:pPr>
            <a:endParaRPr lang="pt-BR" sz="2400" b="0" strike="noStrike" spc="-1" dirty="0">
              <a:solidFill>
                <a:srgbClr val="000000"/>
              </a:solidFill>
              <a:latin typeface="Arial"/>
            </a:endParaRPr>
          </a:p>
          <a:p>
            <a:pPr marL="343080" indent="-343080">
              <a:lnSpc>
                <a:spcPct val="90000"/>
              </a:lnSpc>
              <a:spcBef>
                <a:spcPts val="479"/>
              </a:spcBef>
              <a:buClr>
                <a:srgbClr val="000000"/>
              </a:buClr>
              <a:buFont typeface="Arial"/>
              <a:buChar char="•"/>
            </a:pPr>
            <a:r>
              <a:rPr lang="pt-BR" sz="2400" b="0" strike="noStrike" spc="-1" dirty="0">
                <a:solidFill>
                  <a:srgbClr val="000000"/>
                </a:solidFill>
                <a:latin typeface="Calibri"/>
              </a:rPr>
              <a:t>O método de teste de condição focaliza o teste </a:t>
            </a:r>
            <a:r>
              <a:rPr lang="pt-BR" sz="2400" b="0" strike="noStrike" spc="-1" dirty="0">
                <a:solidFill>
                  <a:srgbClr val="FF0000"/>
                </a:solidFill>
                <a:latin typeface="Calibri"/>
              </a:rPr>
              <a:t>de cada condição </a:t>
            </a:r>
            <a:r>
              <a:rPr lang="pt-BR" sz="2400" b="0" strike="noStrike" spc="-1" dirty="0">
                <a:solidFill>
                  <a:srgbClr val="000000"/>
                </a:solidFill>
                <a:latin typeface="Calibri"/>
              </a:rPr>
              <a:t>no programa para garantir que ele não contenha erros</a:t>
            </a:r>
            <a:endParaRPr lang="pt-BR" sz="2400" b="0" strike="noStrike" spc="-1" dirty="0">
              <a:solidFill>
                <a:srgbClr val="00000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CaixaDeTexto 220"/>
          <p:cNvSpPr/>
          <p:nvPr/>
        </p:nvSpPr>
        <p:spPr>
          <a:xfrm>
            <a:off x="609480" y="274680"/>
            <a:ext cx="9550080" cy="1142640"/>
          </a:xfrm>
          <a:prstGeom prst="rect">
            <a:avLst/>
          </a:prstGeom>
          <a:noFill/>
          <a:ln w="0">
            <a:noFill/>
          </a:ln>
        </p:spPr>
        <p:style>
          <a:lnRef idx="0">
            <a:scrgbClr r="0" g="0" b="0"/>
          </a:lnRef>
          <a:fillRef idx="0">
            <a:scrgbClr r="0" g="0" b="0"/>
          </a:fillRef>
          <a:effectRef idx="0">
            <a:scrgbClr r="0" g="0" b="0"/>
          </a:effectRef>
          <a:fontRef idx="minor"/>
        </p:style>
        <p:txBody>
          <a:bodyPr numCol="1" spcCol="0" anchor="ctr">
            <a:normAutofit/>
          </a:bodyPr>
          <a:lstStyle/>
          <a:p>
            <a:pPr algn="ctr">
              <a:lnSpc>
                <a:spcPct val="90000"/>
              </a:lnSpc>
              <a:spcAft>
                <a:spcPts val="601"/>
              </a:spcAft>
            </a:pPr>
            <a:r>
              <a:rPr lang="en-US" sz="3700" b="0" strike="noStrike" spc="-1">
                <a:solidFill>
                  <a:srgbClr val="000000"/>
                </a:solidFill>
                <a:latin typeface="Calibri"/>
              </a:rPr>
              <a:t>Teste de Estrutura de Controle:  Teste de fluxo de dados</a:t>
            </a:r>
            <a:endParaRPr lang="pt-BR" sz="3700" b="0" strike="noStrike" spc="-1">
              <a:solidFill>
                <a:srgbClr val="000000"/>
              </a:solidFill>
              <a:latin typeface="Arial"/>
            </a:endParaRPr>
          </a:p>
        </p:txBody>
      </p:sp>
      <p:sp>
        <p:nvSpPr>
          <p:cNvPr id="186" name="CaixaDeTexto 221"/>
          <p:cNvSpPr/>
          <p:nvPr/>
        </p:nvSpPr>
        <p:spPr>
          <a:xfrm>
            <a:off x="609480" y="1600200"/>
            <a:ext cx="10972440" cy="4525560"/>
          </a:xfrm>
          <a:prstGeom prst="rect">
            <a:avLst/>
          </a:prstGeom>
          <a:noFill/>
          <a:ln w="0">
            <a:noFill/>
          </a:ln>
        </p:spPr>
        <p:style>
          <a:lnRef idx="0">
            <a:scrgbClr r="0" g="0" b="0"/>
          </a:lnRef>
          <a:fillRef idx="0">
            <a:scrgbClr r="0" g="0" b="0"/>
          </a:fillRef>
          <a:effectRef idx="0">
            <a:scrgbClr r="0" g="0" b="0"/>
          </a:effectRef>
          <a:fontRef idx="minor"/>
        </p:style>
        <p:txBody>
          <a:bodyPr numCol="1" spcCol="0" anchor="t">
            <a:normAutofit/>
          </a:bodyPr>
          <a:lstStyle/>
          <a:p>
            <a:pPr marL="343080" indent="-343080">
              <a:lnSpc>
                <a:spcPct val="90000"/>
              </a:lnSpc>
              <a:spcBef>
                <a:spcPts val="479"/>
              </a:spcBef>
              <a:buClr>
                <a:srgbClr val="000000"/>
              </a:buClr>
              <a:buFont typeface="Arial"/>
              <a:buChar char="•"/>
            </a:pPr>
            <a:r>
              <a:rPr lang="pt-BR" sz="2400" b="0" strike="noStrike" spc="-1" dirty="0">
                <a:solidFill>
                  <a:srgbClr val="000000"/>
                </a:solidFill>
                <a:latin typeface="Calibri"/>
              </a:rPr>
              <a:t>Caminhos de teste de um programa de acordo com as localizações de </a:t>
            </a:r>
            <a:r>
              <a:rPr lang="pt-BR" sz="2400" b="0" strike="noStrike" spc="-1" dirty="0">
                <a:solidFill>
                  <a:srgbClr val="FF0000"/>
                </a:solidFill>
                <a:latin typeface="Calibri"/>
              </a:rPr>
              <a:t>definições</a:t>
            </a:r>
            <a:r>
              <a:rPr lang="pt-BR" sz="2400" b="0" strike="noStrike" spc="-1" dirty="0">
                <a:solidFill>
                  <a:srgbClr val="000000"/>
                </a:solidFill>
                <a:latin typeface="Calibri"/>
              </a:rPr>
              <a:t> e </a:t>
            </a:r>
            <a:r>
              <a:rPr lang="pt-BR" sz="2400" b="0" strike="noStrike" spc="-1" dirty="0">
                <a:solidFill>
                  <a:srgbClr val="FF0000"/>
                </a:solidFill>
                <a:latin typeface="Calibri"/>
              </a:rPr>
              <a:t>usos</a:t>
            </a:r>
            <a:r>
              <a:rPr lang="pt-BR" sz="2400" b="0" strike="noStrike" spc="-1" dirty="0">
                <a:solidFill>
                  <a:srgbClr val="000000"/>
                </a:solidFill>
                <a:latin typeface="Calibri"/>
              </a:rPr>
              <a:t> de variáveis no programa.</a:t>
            </a:r>
            <a:endParaRPr lang="pt-BR" sz="2400" b="0" strike="noStrike" spc="-1" dirty="0">
              <a:solidFill>
                <a:srgbClr val="000000"/>
              </a:solidFill>
              <a:latin typeface="Arial"/>
            </a:endParaRPr>
          </a:p>
          <a:p>
            <a:pPr>
              <a:lnSpc>
                <a:spcPct val="90000"/>
              </a:lnSpc>
              <a:spcBef>
                <a:spcPts val="479"/>
              </a:spcBef>
            </a:pPr>
            <a:endParaRPr lang="pt-BR" sz="2400" b="0" strike="noStrike" spc="-1" dirty="0">
              <a:solidFill>
                <a:srgbClr val="000000"/>
              </a:solidFill>
              <a:latin typeface="Arial"/>
            </a:endParaRPr>
          </a:p>
          <a:p>
            <a:pPr marL="343080" indent="-343080">
              <a:lnSpc>
                <a:spcPct val="90000"/>
              </a:lnSpc>
              <a:spcBef>
                <a:spcPts val="479"/>
              </a:spcBef>
              <a:buClr>
                <a:srgbClr val="000000"/>
              </a:buClr>
              <a:buFont typeface="Arial"/>
              <a:buChar char="•"/>
            </a:pPr>
            <a:r>
              <a:rPr lang="pt-BR" sz="2400" b="0" strike="noStrike" spc="-1" dirty="0">
                <a:solidFill>
                  <a:srgbClr val="000000"/>
                </a:solidFill>
                <a:latin typeface="Calibri"/>
              </a:rPr>
              <a:t>Para um comando com S como seu número de comando,</a:t>
            </a:r>
            <a:endParaRPr lang="pt-BR" sz="2400" b="0" strike="noStrike" spc="-1" dirty="0">
              <a:solidFill>
                <a:srgbClr val="000000"/>
              </a:solidFill>
              <a:latin typeface="Arial"/>
            </a:endParaRPr>
          </a:p>
          <a:p>
            <a:pPr marL="343080" indent="-343080">
              <a:lnSpc>
                <a:spcPct val="90000"/>
              </a:lnSpc>
              <a:spcBef>
                <a:spcPts val="479"/>
              </a:spcBef>
              <a:buClr>
                <a:srgbClr val="000000"/>
              </a:buClr>
              <a:buFont typeface="Arial"/>
              <a:buChar char="•"/>
            </a:pPr>
            <a:r>
              <a:rPr lang="pt-BR" sz="2400" b="0" strike="noStrike" spc="-1" dirty="0">
                <a:solidFill>
                  <a:srgbClr val="000000"/>
                </a:solidFill>
                <a:latin typeface="Calibri"/>
              </a:rPr>
              <a:t>DEF(S) = {X | comando S contém uma </a:t>
            </a:r>
            <a:r>
              <a:rPr lang="pt-BR" sz="2400" b="0" strike="noStrike" spc="-1" dirty="0">
                <a:solidFill>
                  <a:srgbClr val="FF0000"/>
                </a:solidFill>
                <a:latin typeface="Calibri"/>
              </a:rPr>
              <a:t>definição</a:t>
            </a:r>
            <a:r>
              <a:rPr lang="pt-BR" sz="2400" b="0" strike="noStrike" spc="-1" dirty="0">
                <a:solidFill>
                  <a:srgbClr val="000000"/>
                </a:solidFill>
                <a:latin typeface="Calibri"/>
              </a:rPr>
              <a:t> de X}</a:t>
            </a:r>
            <a:endParaRPr lang="pt-BR" sz="2400" b="0" strike="noStrike" spc="-1" dirty="0">
              <a:solidFill>
                <a:srgbClr val="000000"/>
              </a:solidFill>
              <a:latin typeface="Arial"/>
            </a:endParaRPr>
          </a:p>
          <a:p>
            <a:pPr marL="343080" indent="-343080">
              <a:lnSpc>
                <a:spcPct val="90000"/>
              </a:lnSpc>
              <a:spcBef>
                <a:spcPts val="479"/>
              </a:spcBef>
              <a:buClr>
                <a:srgbClr val="000000"/>
              </a:buClr>
              <a:buFont typeface="Arial"/>
              <a:buChar char="•"/>
            </a:pPr>
            <a:r>
              <a:rPr lang="pt-BR" sz="2400" b="0" strike="noStrike" spc="-1" dirty="0">
                <a:solidFill>
                  <a:srgbClr val="000000"/>
                </a:solidFill>
                <a:latin typeface="Calibri"/>
              </a:rPr>
              <a:t>USE(S) = {X | comando S contém um </a:t>
            </a:r>
            <a:r>
              <a:rPr lang="pt-BR" sz="2400" b="0" strike="noStrike" spc="-1" dirty="0">
                <a:solidFill>
                  <a:srgbClr val="FF0000"/>
                </a:solidFill>
                <a:latin typeface="Calibri"/>
              </a:rPr>
              <a:t>uso</a:t>
            </a:r>
            <a:r>
              <a:rPr lang="pt-BR" sz="2400" b="0" strike="noStrike" spc="-1" dirty="0">
                <a:solidFill>
                  <a:srgbClr val="000000"/>
                </a:solidFill>
                <a:latin typeface="Calibri"/>
              </a:rPr>
              <a:t> de X}</a:t>
            </a:r>
            <a:endParaRPr lang="pt-BR" sz="2400" b="0" strike="noStrike" spc="-1" dirty="0">
              <a:solidFill>
                <a:srgbClr val="000000"/>
              </a:solidFill>
              <a:latin typeface="Arial"/>
            </a:endParaRPr>
          </a:p>
          <a:p>
            <a:pPr>
              <a:lnSpc>
                <a:spcPct val="90000"/>
              </a:lnSpc>
              <a:spcBef>
                <a:spcPts val="479"/>
              </a:spcBef>
            </a:pPr>
            <a:endParaRPr lang="pt-BR" sz="2400" b="0" strike="noStrike" spc="-1" dirty="0">
              <a:solidFill>
                <a:srgbClr val="000000"/>
              </a:solidFill>
              <a:latin typeface="Arial"/>
            </a:endParaRPr>
          </a:p>
          <a:p>
            <a:pPr marL="343080" indent="-343080">
              <a:lnSpc>
                <a:spcPct val="90000"/>
              </a:lnSpc>
              <a:spcBef>
                <a:spcPts val="479"/>
              </a:spcBef>
              <a:buClr>
                <a:srgbClr val="000000"/>
              </a:buClr>
              <a:buFont typeface="Arial"/>
              <a:buChar char="•"/>
            </a:pPr>
            <a:r>
              <a:rPr lang="pt-BR" sz="2400" b="0" strike="noStrike" spc="-1" dirty="0">
                <a:solidFill>
                  <a:srgbClr val="000000"/>
                </a:solidFill>
                <a:latin typeface="Calibri"/>
              </a:rPr>
              <a:t>Dizemos que a definição da variável X no comando S é considerada viva no comando S’ se existe um </a:t>
            </a:r>
            <a:r>
              <a:rPr lang="pt-BR" sz="2400" b="0" strike="noStrike" spc="-1" dirty="0">
                <a:solidFill>
                  <a:srgbClr val="FF0000"/>
                </a:solidFill>
                <a:latin typeface="Calibri"/>
              </a:rPr>
              <a:t>caminho</a:t>
            </a:r>
            <a:r>
              <a:rPr lang="pt-BR" sz="2400" b="0" strike="noStrike" spc="-1" dirty="0">
                <a:solidFill>
                  <a:srgbClr val="000000"/>
                </a:solidFill>
                <a:latin typeface="Calibri"/>
              </a:rPr>
              <a:t> do comando S para o comando S’ que não contenha outra definição de X.</a:t>
            </a:r>
            <a:endParaRPr lang="pt-BR" sz="2400" b="0" strike="noStrike" spc="-1" dirty="0">
              <a:solidFill>
                <a:srgbClr val="000000"/>
              </a:solidFill>
              <a:latin typeface="Arial"/>
            </a:endParaRPr>
          </a:p>
          <a:p>
            <a:pPr>
              <a:lnSpc>
                <a:spcPct val="90000"/>
              </a:lnSpc>
              <a:spcBef>
                <a:spcPts val="261"/>
              </a:spcBef>
            </a:pPr>
            <a:endParaRPr lang="pt-BR" sz="1300" b="0" strike="noStrike" spc="-1" dirty="0">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CaixaDeTexto 220"/>
          <p:cNvSpPr/>
          <p:nvPr/>
        </p:nvSpPr>
        <p:spPr>
          <a:xfrm>
            <a:off x="609480" y="274680"/>
            <a:ext cx="9550080" cy="1142640"/>
          </a:xfrm>
          <a:prstGeom prst="rect">
            <a:avLst/>
          </a:prstGeom>
          <a:noFill/>
          <a:ln w="0">
            <a:noFill/>
          </a:ln>
        </p:spPr>
        <p:style>
          <a:lnRef idx="0">
            <a:scrgbClr r="0" g="0" b="0"/>
          </a:lnRef>
          <a:fillRef idx="0">
            <a:scrgbClr r="0" g="0" b="0"/>
          </a:fillRef>
          <a:effectRef idx="0">
            <a:scrgbClr r="0" g="0" b="0"/>
          </a:effectRef>
          <a:fontRef idx="minor"/>
        </p:style>
        <p:txBody>
          <a:bodyPr numCol="1" spcCol="0" anchor="ctr">
            <a:normAutofit/>
          </a:bodyPr>
          <a:lstStyle/>
          <a:p>
            <a:pPr algn="ctr">
              <a:lnSpc>
                <a:spcPct val="90000"/>
              </a:lnSpc>
              <a:spcAft>
                <a:spcPts val="601"/>
              </a:spcAft>
            </a:pPr>
            <a:r>
              <a:rPr lang="en-US" sz="3700" b="0" strike="noStrike" spc="-1" dirty="0">
                <a:solidFill>
                  <a:srgbClr val="000000"/>
                </a:solidFill>
                <a:latin typeface="Calibri"/>
              </a:rPr>
              <a:t>Teste de </a:t>
            </a:r>
            <a:r>
              <a:rPr lang="en-US" sz="3700" b="0" strike="noStrike" spc="-1" dirty="0" err="1">
                <a:solidFill>
                  <a:srgbClr val="000000"/>
                </a:solidFill>
                <a:latin typeface="Calibri"/>
              </a:rPr>
              <a:t>Estrutura</a:t>
            </a:r>
            <a:r>
              <a:rPr lang="en-US" sz="3700" b="0" strike="noStrike" spc="-1" dirty="0">
                <a:solidFill>
                  <a:srgbClr val="000000"/>
                </a:solidFill>
                <a:latin typeface="Calibri"/>
              </a:rPr>
              <a:t> de </a:t>
            </a:r>
            <a:r>
              <a:rPr lang="en-US" sz="3700" b="0" strike="noStrike" spc="-1" dirty="0" err="1">
                <a:solidFill>
                  <a:srgbClr val="000000"/>
                </a:solidFill>
                <a:latin typeface="Calibri"/>
              </a:rPr>
              <a:t>Controle</a:t>
            </a:r>
            <a:r>
              <a:rPr lang="en-US" sz="3700" b="0" strike="noStrike" spc="-1" dirty="0">
                <a:solidFill>
                  <a:srgbClr val="000000"/>
                </a:solidFill>
                <a:latin typeface="Calibri"/>
              </a:rPr>
              <a:t>:  Teste de </a:t>
            </a:r>
            <a:r>
              <a:rPr lang="en-US" sz="3700" b="0" strike="noStrike" spc="-1" dirty="0" err="1">
                <a:solidFill>
                  <a:srgbClr val="000000"/>
                </a:solidFill>
                <a:latin typeface="Calibri"/>
              </a:rPr>
              <a:t>fluxo</a:t>
            </a:r>
            <a:r>
              <a:rPr lang="en-US" sz="3700" b="0" strike="noStrike" spc="-1" dirty="0">
                <a:solidFill>
                  <a:srgbClr val="000000"/>
                </a:solidFill>
                <a:latin typeface="Calibri"/>
              </a:rPr>
              <a:t> de dados</a:t>
            </a:r>
            <a:endParaRPr lang="pt-BR" sz="3700" b="0" strike="noStrike" spc="-1" dirty="0">
              <a:solidFill>
                <a:srgbClr val="000000"/>
              </a:solidFill>
              <a:latin typeface="Arial"/>
            </a:endParaRPr>
          </a:p>
        </p:txBody>
      </p:sp>
      <p:sp>
        <p:nvSpPr>
          <p:cNvPr id="188" name="CaixaDeTexto 221"/>
          <p:cNvSpPr/>
          <p:nvPr/>
        </p:nvSpPr>
        <p:spPr>
          <a:xfrm>
            <a:off x="609480" y="1629960"/>
            <a:ext cx="10972440" cy="4525560"/>
          </a:xfrm>
          <a:prstGeom prst="rect">
            <a:avLst/>
          </a:prstGeom>
          <a:noFill/>
          <a:ln w="0">
            <a:noFill/>
          </a:ln>
        </p:spPr>
        <p:style>
          <a:lnRef idx="0">
            <a:scrgbClr r="0" g="0" b="0"/>
          </a:lnRef>
          <a:fillRef idx="0">
            <a:scrgbClr r="0" g="0" b="0"/>
          </a:fillRef>
          <a:effectRef idx="0">
            <a:scrgbClr r="0" g="0" b="0"/>
          </a:effectRef>
          <a:fontRef idx="minor"/>
        </p:style>
        <p:txBody>
          <a:bodyPr numCol="1" spcCol="0" anchor="t">
            <a:normAutofit fontScale="98000" lnSpcReduction="10000"/>
          </a:bodyPr>
          <a:lstStyle/>
          <a:p>
            <a:pPr>
              <a:lnSpc>
                <a:spcPct val="90000"/>
              </a:lnSpc>
              <a:spcBef>
                <a:spcPts val="479"/>
              </a:spcBef>
            </a:pPr>
            <a:endParaRPr lang="pt-BR" sz="2400" b="0" strike="noStrike" spc="-1" dirty="0">
              <a:solidFill>
                <a:srgbClr val="000000"/>
              </a:solidFill>
              <a:latin typeface="Arial"/>
            </a:endParaRPr>
          </a:p>
          <a:p>
            <a:pPr marL="335880" indent="-335880">
              <a:lnSpc>
                <a:spcPct val="90000"/>
              </a:lnSpc>
              <a:spcBef>
                <a:spcPts val="479"/>
              </a:spcBef>
              <a:buClr>
                <a:srgbClr val="FF0000"/>
              </a:buClr>
              <a:buFont typeface="Arial"/>
              <a:buChar char="•"/>
            </a:pPr>
            <a:r>
              <a:rPr lang="pt-BR" sz="3300" b="0" strike="noStrike" spc="-1" dirty="0">
                <a:solidFill>
                  <a:srgbClr val="FF0000"/>
                </a:solidFill>
                <a:latin typeface="Calibri"/>
              </a:rPr>
              <a:t>Uma estratégia simples de teste de fluxo de dados é requerer que toda cadeia DU seja coberta </a:t>
            </a:r>
            <a:r>
              <a:rPr lang="pt-BR" sz="3300" b="0" strike="noStrike" spc="-1" dirty="0">
                <a:solidFill>
                  <a:srgbClr val="000000"/>
                </a:solidFill>
                <a:latin typeface="Calibri"/>
              </a:rPr>
              <a:t>pelo menos uma vez. Chamamos essa estratégia de estratégia de teste DU. Tem sido demonstrado que o teste DU </a:t>
            </a:r>
            <a:r>
              <a:rPr lang="pt-BR" sz="3300" b="0" strike="noStrike" spc="-1" dirty="0">
                <a:solidFill>
                  <a:srgbClr val="FF0000"/>
                </a:solidFill>
                <a:latin typeface="Calibri"/>
              </a:rPr>
              <a:t>não garante a abrangência de todos os desvios de um programa.</a:t>
            </a:r>
            <a:endParaRPr lang="pt-BR" sz="3300" b="0" strike="noStrike" spc="-1" dirty="0">
              <a:solidFill>
                <a:srgbClr val="000000"/>
              </a:solidFill>
              <a:latin typeface="Arial"/>
            </a:endParaRPr>
          </a:p>
          <a:p>
            <a:pPr>
              <a:lnSpc>
                <a:spcPct val="90000"/>
              </a:lnSpc>
              <a:spcBef>
                <a:spcPts val="479"/>
              </a:spcBef>
            </a:pPr>
            <a:endParaRPr lang="pt-BR" sz="3300" b="0" strike="noStrike" spc="-1" dirty="0">
              <a:solidFill>
                <a:srgbClr val="000000"/>
              </a:solidFill>
              <a:latin typeface="Arial"/>
            </a:endParaRPr>
          </a:p>
          <a:p>
            <a:pPr marL="335880" indent="-335880">
              <a:lnSpc>
                <a:spcPct val="90000"/>
              </a:lnSpc>
              <a:spcBef>
                <a:spcPts val="479"/>
              </a:spcBef>
              <a:buClr>
                <a:srgbClr val="000000"/>
              </a:buClr>
              <a:buFont typeface="Arial"/>
              <a:buChar char="•"/>
            </a:pPr>
            <a:r>
              <a:rPr lang="pt-BR" sz="3300" b="0" strike="noStrike" spc="-1" dirty="0">
                <a:solidFill>
                  <a:srgbClr val="000000"/>
                </a:solidFill>
                <a:latin typeface="Calibri"/>
              </a:rPr>
              <a:t>Ela ajuda a detectar erros onde uma variável é definida mas não usada corretamente, ou onde uma variável é usada sem ter sido adequadamente definida</a:t>
            </a:r>
            <a:endParaRPr lang="pt-BR" sz="3300" b="0" strike="noStrike" spc="-1" dirty="0">
              <a:solidFill>
                <a:srgbClr val="000000"/>
              </a:solidFill>
              <a:latin typeface="Arial"/>
            </a:endParaRPr>
          </a:p>
          <a:p>
            <a:pPr>
              <a:lnSpc>
                <a:spcPct val="90000"/>
              </a:lnSpc>
              <a:spcBef>
                <a:spcPts val="360"/>
              </a:spcBef>
            </a:pPr>
            <a:endParaRPr lang="pt-BR" sz="1800" b="0" strike="noStrike" spc="-1" dirty="0">
              <a:solidFill>
                <a:srgbClr val="000000"/>
              </a:solidFill>
              <a:latin typeface="Arial"/>
            </a:endParaRPr>
          </a:p>
          <a:p>
            <a:pPr>
              <a:lnSpc>
                <a:spcPct val="90000"/>
              </a:lnSpc>
              <a:spcBef>
                <a:spcPts val="261"/>
              </a:spcBef>
            </a:pPr>
            <a:endParaRPr lang="pt-BR" sz="1300" b="0" strike="noStrike" spc="-1" dirty="0">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609480" y="274680"/>
            <a:ext cx="9550080" cy="1142640"/>
          </a:xfrm>
          <a:prstGeom prst="rect">
            <a:avLst/>
          </a:prstGeom>
          <a:noFill/>
          <a:ln w="0">
            <a:noFill/>
          </a:ln>
        </p:spPr>
        <p:txBody>
          <a:bodyPr numCol="1" spcCol="0" anchor="ctr">
            <a:noAutofit/>
          </a:bodyPr>
          <a:lstStyle/>
          <a:p>
            <a:pPr indent="0" algn="ctr">
              <a:lnSpc>
                <a:spcPct val="100000"/>
              </a:lnSpc>
              <a:buNone/>
            </a:pPr>
            <a:r>
              <a:rPr lang="en-US" sz="4400" b="0" strike="noStrike" spc="-1">
                <a:solidFill>
                  <a:srgbClr val="000000"/>
                </a:solidFill>
                <a:latin typeface="Calibri"/>
              </a:rPr>
              <a:t>Teste de Estrutura de Controle:  Teste de fluxo de dados</a:t>
            </a:r>
            <a:endParaRPr lang="pt-BR" sz="4400" b="0" strike="noStrike" spc="-1">
              <a:solidFill>
                <a:srgbClr val="000000"/>
              </a:solidFill>
              <a:latin typeface="Calibri"/>
            </a:endParaRPr>
          </a:p>
        </p:txBody>
      </p:sp>
      <p:sp>
        <p:nvSpPr>
          <p:cNvPr id="190" name="CaixaDeTexto 222"/>
          <p:cNvSpPr/>
          <p:nvPr/>
        </p:nvSpPr>
        <p:spPr>
          <a:xfrm>
            <a:off x="609480" y="1600200"/>
            <a:ext cx="5620680" cy="1429560"/>
          </a:xfrm>
          <a:prstGeom prst="rect">
            <a:avLst/>
          </a:prstGeom>
          <a:noFill/>
          <a:ln w="0">
            <a:noFill/>
          </a:ln>
        </p:spPr>
        <p:style>
          <a:lnRef idx="0">
            <a:scrgbClr r="0" g="0" b="0"/>
          </a:lnRef>
          <a:fillRef idx="0">
            <a:scrgbClr r="0" g="0" b="0"/>
          </a:fillRef>
          <a:effectRef idx="0">
            <a:scrgbClr r="0" g="0" b="0"/>
          </a:effectRef>
          <a:fontRef idx="minor"/>
        </p:style>
        <p:txBody>
          <a:bodyPr numCol="1" spcCol="0" anchor="t">
            <a:noAutofit/>
          </a:bodyPr>
          <a:lstStyle/>
          <a:p>
            <a:pPr marL="343080" indent="-343080">
              <a:lnSpc>
                <a:spcPct val="90000"/>
              </a:lnSpc>
              <a:spcBef>
                <a:spcPts val="360"/>
              </a:spcBef>
              <a:buClr>
                <a:srgbClr val="000000"/>
              </a:buClr>
              <a:buFont typeface="Arial"/>
              <a:buChar char="•"/>
            </a:pPr>
            <a:r>
              <a:rPr lang="en-US" sz="1800" b="0" strike="noStrike" spc="-1">
                <a:solidFill>
                  <a:srgbClr val="000000"/>
                </a:solidFill>
                <a:latin typeface="Calibri"/>
              </a:rPr>
              <a:t>1. X = 5;        // DEF(X) na instrução 1</a:t>
            </a:r>
            <a:endParaRPr lang="pt-BR" sz="1800" b="0" strike="noStrike" spc="-1">
              <a:solidFill>
                <a:srgbClr val="000000"/>
              </a:solidFill>
              <a:latin typeface="Arial"/>
            </a:endParaRPr>
          </a:p>
          <a:p>
            <a:pPr marL="343080" indent="-343080">
              <a:lnSpc>
                <a:spcPct val="90000"/>
              </a:lnSpc>
              <a:spcBef>
                <a:spcPts val="360"/>
              </a:spcBef>
              <a:buClr>
                <a:srgbClr val="000000"/>
              </a:buClr>
              <a:buFont typeface="Arial"/>
              <a:buChar char="•"/>
            </a:pPr>
            <a:r>
              <a:rPr lang="en-US" sz="1800" b="0" strike="noStrike" spc="-1">
                <a:solidFill>
                  <a:srgbClr val="000000"/>
                </a:solidFill>
                <a:latin typeface="Calibri"/>
              </a:rPr>
              <a:t>2. Y = X + 2;    // USE(X) na instrução 2</a:t>
            </a:r>
            <a:endParaRPr lang="pt-BR" sz="1800" b="0" strike="noStrike" spc="-1">
              <a:solidFill>
                <a:srgbClr val="000000"/>
              </a:solidFill>
              <a:latin typeface="Arial"/>
            </a:endParaRPr>
          </a:p>
          <a:p>
            <a:pPr marL="343080" indent="-343080">
              <a:lnSpc>
                <a:spcPct val="90000"/>
              </a:lnSpc>
              <a:spcBef>
                <a:spcPts val="360"/>
              </a:spcBef>
              <a:buClr>
                <a:srgbClr val="000000"/>
              </a:buClr>
              <a:buFont typeface="Arial"/>
              <a:buChar char="•"/>
            </a:pPr>
            <a:r>
              <a:rPr lang="en-US" sz="1800" b="0" strike="noStrike" spc="-1">
                <a:solidFill>
                  <a:srgbClr val="000000"/>
                </a:solidFill>
                <a:latin typeface="Calibri"/>
              </a:rPr>
              <a:t>3. X = 10;       // DEF(X) na instrução 3</a:t>
            </a:r>
            <a:endParaRPr lang="pt-BR" sz="1800" b="0" strike="noStrike" spc="-1">
              <a:solidFill>
                <a:srgbClr val="000000"/>
              </a:solidFill>
              <a:latin typeface="Arial"/>
            </a:endParaRPr>
          </a:p>
          <a:p>
            <a:pPr marL="343080" indent="-343080">
              <a:lnSpc>
                <a:spcPct val="90000"/>
              </a:lnSpc>
              <a:spcBef>
                <a:spcPts val="360"/>
              </a:spcBef>
              <a:buClr>
                <a:srgbClr val="000000"/>
              </a:buClr>
              <a:buFont typeface="Arial"/>
              <a:buChar char="•"/>
            </a:pPr>
            <a:r>
              <a:rPr lang="en-US" sz="1800" b="0" strike="noStrike" spc="-1">
                <a:solidFill>
                  <a:srgbClr val="000000"/>
                </a:solidFill>
                <a:latin typeface="Calibri"/>
              </a:rPr>
              <a:t>4. Z = X * 2;    // USE(X) na instrução 4</a:t>
            </a:r>
            <a:endParaRPr lang="pt-BR" sz="1800" b="0" strike="noStrike" spc="-1">
              <a:solidFill>
                <a:srgbClr val="000000"/>
              </a:solidFill>
              <a:latin typeface="Arial"/>
            </a:endParaRPr>
          </a:p>
          <a:p>
            <a:pPr>
              <a:lnSpc>
                <a:spcPct val="90000"/>
              </a:lnSpc>
              <a:spcBef>
                <a:spcPts val="360"/>
              </a:spcBef>
            </a:pPr>
            <a:endParaRPr lang="pt-BR" sz="1800" b="0" strike="noStrike" spc="-1">
              <a:solidFill>
                <a:srgbClr val="000000"/>
              </a:solidFill>
              <a:latin typeface="Arial"/>
            </a:endParaRPr>
          </a:p>
        </p:txBody>
      </p:sp>
      <p:sp>
        <p:nvSpPr>
          <p:cNvPr id="191" name="CaixaDeTexto 2"/>
          <p:cNvSpPr/>
          <p:nvPr/>
        </p:nvSpPr>
        <p:spPr>
          <a:xfrm>
            <a:off x="6390000" y="1702800"/>
            <a:ext cx="6097320" cy="1121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343080">
              <a:lnSpc>
                <a:spcPct val="90000"/>
              </a:lnSpc>
              <a:spcBef>
                <a:spcPts val="360"/>
              </a:spcBef>
              <a:buClr>
                <a:srgbClr val="000000"/>
              </a:buClr>
              <a:buFont typeface="Arial"/>
              <a:buChar char="•"/>
            </a:pPr>
            <a:r>
              <a:rPr lang="en-US" sz="1800" b="0" strike="noStrike" spc="-1">
                <a:solidFill>
                  <a:srgbClr val="000000"/>
                </a:solidFill>
                <a:latin typeface="Calibri"/>
              </a:rPr>
              <a:t>A cadeia [X, 1, 2]: A variável X é definida na instrução 1 (com X = 5) e usada na instrução 2 (Y = X + 2).</a:t>
            </a:r>
            <a:endParaRPr lang="pt-BR" sz="1800" b="0" strike="noStrike" spc="-1">
              <a:solidFill>
                <a:srgbClr val="000000"/>
              </a:solidFill>
              <a:latin typeface="Arial"/>
            </a:endParaRPr>
          </a:p>
          <a:p>
            <a:pPr marL="343080" indent="-343080">
              <a:lnSpc>
                <a:spcPct val="90000"/>
              </a:lnSpc>
              <a:spcBef>
                <a:spcPts val="360"/>
              </a:spcBef>
              <a:buClr>
                <a:srgbClr val="000000"/>
              </a:buClr>
              <a:buFont typeface="Arial"/>
              <a:buChar char="•"/>
            </a:pPr>
            <a:r>
              <a:rPr lang="en-US" sz="1800" b="0" strike="noStrike" spc="-1">
                <a:solidFill>
                  <a:srgbClr val="000000"/>
                </a:solidFill>
                <a:latin typeface="Calibri"/>
              </a:rPr>
              <a:t>A cadeia [X, 3, 4]: A variável X é redefinida na instrução 3 (com X = 10) e usada na instrução 4 (Z = X * 2).</a:t>
            </a:r>
            <a:endParaRPr lang="pt-BR" sz="1800" b="0" strike="noStrike" spc="-1">
              <a:solidFill>
                <a:srgbClr val="000000"/>
              </a:solidFill>
              <a:latin typeface="Arial"/>
            </a:endParaRPr>
          </a:p>
        </p:txBody>
      </p:sp>
      <p:sp>
        <p:nvSpPr>
          <p:cNvPr id="192" name="CaixaDeTexto 4"/>
          <p:cNvSpPr/>
          <p:nvPr/>
        </p:nvSpPr>
        <p:spPr>
          <a:xfrm>
            <a:off x="397080" y="3158280"/>
            <a:ext cx="11794680" cy="829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343080">
              <a:lnSpc>
                <a:spcPct val="90000"/>
              </a:lnSpc>
              <a:spcBef>
                <a:spcPts val="360"/>
              </a:spcBef>
              <a:buClr>
                <a:srgbClr val="000000"/>
              </a:buClr>
              <a:buFont typeface="Arial"/>
              <a:buChar char="•"/>
            </a:pPr>
            <a:r>
              <a:rPr lang="en-US" sz="1800" b="0" strike="noStrike" spc="-1" dirty="0">
                <a:solidFill>
                  <a:srgbClr val="000000"/>
                </a:solidFill>
                <a:latin typeface="Calibri"/>
              </a:rPr>
              <a:t>A </a:t>
            </a:r>
            <a:r>
              <a:rPr lang="en-US" sz="1800" b="0" strike="noStrike" spc="-1" dirty="0" err="1">
                <a:solidFill>
                  <a:srgbClr val="000000"/>
                </a:solidFill>
                <a:latin typeface="Calibri"/>
              </a:rPr>
              <a:t>estratégia</a:t>
            </a:r>
            <a:r>
              <a:rPr lang="en-US" sz="1800" b="0" strike="noStrike" spc="-1" dirty="0">
                <a:solidFill>
                  <a:srgbClr val="000000"/>
                </a:solidFill>
                <a:latin typeface="Calibri"/>
              </a:rPr>
              <a:t> de teste DU é </a:t>
            </a:r>
            <a:r>
              <a:rPr lang="en-US" sz="1800" b="0" strike="noStrike" spc="-1" dirty="0" err="1">
                <a:solidFill>
                  <a:srgbClr val="000000"/>
                </a:solidFill>
                <a:latin typeface="Calibri"/>
              </a:rPr>
              <a:t>muito</a:t>
            </a:r>
            <a:r>
              <a:rPr lang="en-US" sz="1800" b="0" strike="noStrike" spc="-1" dirty="0">
                <a:solidFill>
                  <a:srgbClr val="000000"/>
                </a:solidFill>
                <a:latin typeface="Calibri"/>
              </a:rPr>
              <a:t> </a:t>
            </a:r>
            <a:r>
              <a:rPr lang="en-US" sz="1800" b="0" strike="noStrike" spc="-1" dirty="0" err="1">
                <a:solidFill>
                  <a:srgbClr val="000000"/>
                </a:solidFill>
                <a:latin typeface="Calibri"/>
              </a:rPr>
              <a:t>eficaz</a:t>
            </a:r>
            <a:r>
              <a:rPr lang="en-US" sz="1800" b="0" strike="noStrike" spc="-1" dirty="0">
                <a:solidFill>
                  <a:srgbClr val="000000"/>
                </a:solidFill>
                <a:latin typeface="Calibri"/>
              </a:rPr>
              <a:t> para </a:t>
            </a:r>
            <a:r>
              <a:rPr lang="en-US" sz="1800" b="0" strike="noStrike" spc="-1" dirty="0" err="1">
                <a:solidFill>
                  <a:srgbClr val="000000"/>
                </a:solidFill>
                <a:latin typeface="Calibri"/>
              </a:rPr>
              <a:t>garantir</a:t>
            </a:r>
            <a:r>
              <a:rPr lang="en-US" sz="1800" b="0" strike="noStrike" spc="-1" dirty="0">
                <a:solidFill>
                  <a:srgbClr val="000000"/>
                </a:solidFill>
                <a:latin typeface="Calibri"/>
              </a:rPr>
              <a:t> que as </a:t>
            </a:r>
            <a:r>
              <a:rPr lang="en-US" sz="1800" b="0" strike="noStrike" spc="-1" dirty="0" err="1">
                <a:solidFill>
                  <a:srgbClr val="000000"/>
                </a:solidFill>
                <a:latin typeface="Calibri"/>
              </a:rPr>
              <a:t>variáveis</a:t>
            </a:r>
            <a:r>
              <a:rPr lang="en-US" sz="1800" b="0" strike="noStrike" spc="-1" dirty="0">
                <a:solidFill>
                  <a:srgbClr val="000000"/>
                </a:solidFill>
                <a:latin typeface="Calibri"/>
              </a:rPr>
              <a:t> </a:t>
            </a:r>
            <a:r>
              <a:rPr lang="en-US" sz="1800" b="0" strike="noStrike" spc="-1" dirty="0" err="1">
                <a:solidFill>
                  <a:srgbClr val="000000"/>
                </a:solidFill>
                <a:latin typeface="Calibri"/>
              </a:rPr>
              <a:t>sejam</a:t>
            </a:r>
            <a:r>
              <a:rPr lang="en-US" sz="1800" b="0" strike="noStrike" spc="-1" dirty="0">
                <a:solidFill>
                  <a:srgbClr val="000000"/>
                </a:solidFill>
                <a:latin typeface="Calibri"/>
              </a:rPr>
              <a:t> </a:t>
            </a:r>
            <a:r>
              <a:rPr lang="en-US" sz="1800" b="0" strike="noStrike" spc="-1" dirty="0" err="1">
                <a:solidFill>
                  <a:srgbClr val="000000"/>
                </a:solidFill>
                <a:latin typeface="Calibri"/>
              </a:rPr>
              <a:t>corretamente</a:t>
            </a:r>
            <a:r>
              <a:rPr lang="en-US" sz="1800" b="0" strike="noStrike" spc="-1" dirty="0">
                <a:solidFill>
                  <a:srgbClr val="000000"/>
                </a:solidFill>
                <a:latin typeface="Calibri"/>
              </a:rPr>
              <a:t> </a:t>
            </a:r>
            <a:r>
              <a:rPr lang="en-US" sz="1800" b="0" strike="noStrike" spc="-1" dirty="0" err="1">
                <a:solidFill>
                  <a:srgbClr val="000000"/>
                </a:solidFill>
                <a:latin typeface="Calibri"/>
              </a:rPr>
              <a:t>definidas</a:t>
            </a:r>
            <a:r>
              <a:rPr lang="en-US" sz="1800" b="0" strike="noStrike" spc="-1" dirty="0">
                <a:solidFill>
                  <a:srgbClr val="000000"/>
                </a:solidFill>
                <a:latin typeface="Calibri"/>
              </a:rPr>
              <a:t> e </a:t>
            </a:r>
            <a:r>
              <a:rPr lang="en-US" sz="1800" b="0" strike="noStrike" spc="-1" dirty="0" err="1">
                <a:solidFill>
                  <a:srgbClr val="000000"/>
                </a:solidFill>
                <a:latin typeface="Calibri"/>
              </a:rPr>
              <a:t>usadas</a:t>
            </a:r>
            <a:r>
              <a:rPr lang="en-US" sz="1800" b="0" strike="noStrike" spc="-1" dirty="0">
                <a:solidFill>
                  <a:srgbClr val="000000"/>
                </a:solidFill>
                <a:latin typeface="Calibri"/>
              </a:rPr>
              <a:t>, mas </a:t>
            </a:r>
            <a:r>
              <a:rPr lang="en-US" sz="1800" b="0" strike="noStrike" spc="-1" dirty="0" err="1">
                <a:solidFill>
                  <a:srgbClr val="000000"/>
                </a:solidFill>
                <a:latin typeface="Calibri"/>
              </a:rPr>
              <a:t>ela</a:t>
            </a:r>
            <a:r>
              <a:rPr lang="en-US" sz="1800" b="0" strike="noStrike" spc="-1" dirty="0">
                <a:solidFill>
                  <a:srgbClr val="000000"/>
                </a:solidFill>
                <a:latin typeface="Calibri"/>
              </a:rPr>
              <a:t> </a:t>
            </a:r>
            <a:r>
              <a:rPr lang="en-US" sz="1800" b="0" strike="noStrike" spc="-1" dirty="0" err="1">
                <a:solidFill>
                  <a:srgbClr val="000000"/>
                </a:solidFill>
                <a:latin typeface="Calibri"/>
              </a:rPr>
              <a:t>não</a:t>
            </a:r>
            <a:r>
              <a:rPr lang="en-US" sz="1800" b="0" strike="noStrike" spc="-1" dirty="0">
                <a:solidFill>
                  <a:srgbClr val="000000"/>
                </a:solidFill>
                <a:latin typeface="Calibri"/>
              </a:rPr>
              <a:t> </a:t>
            </a:r>
            <a:r>
              <a:rPr lang="en-US" sz="1800" b="0" strike="noStrike" spc="-1" dirty="0" err="1">
                <a:solidFill>
                  <a:srgbClr val="000000"/>
                </a:solidFill>
                <a:latin typeface="Calibri"/>
              </a:rPr>
              <a:t>garante</a:t>
            </a:r>
            <a:r>
              <a:rPr lang="en-US" sz="1800" b="0" strike="noStrike" spc="-1" dirty="0">
                <a:solidFill>
                  <a:srgbClr val="000000"/>
                </a:solidFill>
                <a:latin typeface="Calibri"/>
              </a:rPr>
              <a:t> </a:t>
            </a:r>
            <a:r>
              <a:rPr lang="en-US" sz="1800" b="0" strike="noStrike" spc="-1" dirty="0" err="1">
                <a:solidFill>
                  <a:srgbClr val="000000"/>
                </a:solidFill>
                <a:latin typeface="Calibri"/>
              </a:rPr>
              <a:t>cobertura</a:t>
            </a:r>
            <a:r>
              <a:rPr lang="en-US" sz="1800" b="0" strike="noStrike" spc="-1" dirty="0">
                <a:solidFill>
                  <a:srgbClr val="000000"/>
                </a:solidFill>
                <a:latin typeface="Calibri"/>
              </a:rPr>
              <a:t> de </a:t>
            </a:r>
            <a:r>
              <a:rPr lang="en-US" sz="1800" b="0" strike="noStrike" spc="-1" dirty="0" err="1">
                <a:solidFill>
                  <a:srgbClr val="000000"/>
                </a:solidFill>
                <a:latin typeface="Calibri"/>
              </a:rPr>
              <a:t>todos</a:t>
            </a:r>
            <a:r>
              <a:rPr lang="en-US" sz="1800" b="0" strike="noStrike" spc="-1" dirty="0">
                <a:solidFill>
                  <a:srgbClr val="000000"/>
                </a:solidFill>
                <a:latin typeface="Calibri"/>
              </a:rPr>
              <a:t> </a:t>
            </a:r>
            <a:r>
              <a:rPr lang="en-US" sz="1800" b="0" strike="noStrike" spc="-1" dirty="0" err="1">
                <a:solidFill>
                  <a:srgbClr val="000000"/>
                </a:solidFill>
                <a:latin typeface="Calibri"/>
              </a:rPr>
              <a:t>os</a:t>
            </a:r>
            <a:r>
              <a:rPr lang="en-US" sz="1800" b="0" strike="noStrike" spc="-1" dirty="0">
                <a:solidFill>
                  <a:srgbClr val="000000"/>
                </a:solidFill>
                <a:latin typeface="Calibri"/>
              </a:rPr>
              <a:t> </a:t>
            </a:r>
            <a:r>
              <a:rPr lang="en-US" sz="1800" b="0" strike="noStrike" spc="-1" dirty="0" err="1">
                <a:solidFill>
                  <a:srgbClr val="000000"/>
                </a:solidFill>
                <a:latin typeface="Calibri"/>
              </a:rPr>
              <a:t>desvios</a:t>
            </a:r>
            <a:r>
              <a:rPr lang="en-US" sz="1800" b="0" strike="noStrike" spc="-1" dirty="0">
                <a:solidFill>
                  <a:srgbClr val="000000"/>
                </a:solidFill>
                <a:latin typeface="Calibri"/>
              </a:rPr>
              <a:t> do </a:t>
            </a:r>
            <a:r>
              <a:rPr lang="en-US" sz="1800" b="0" strike="noStrike" spc="-1" dirty="0" err="1">
                <a:solidFill>
                  <a:srgbClr val="000000"/>
                </a:solidFill>
                <a:latin typeface="Calibri"/>
              </a:rPr>
              <a:t>programa</a:t>
            </a:r>
            <a:r>
              <a:rPr lang="en-US" sz="1800" b="0" strike="noStrike" spc="-1" dirty="0">
                <a:solidFill>
                  <a:srgbClr val="000000"/>
                </a:solidFill>
                <a:latin typeface="Calibri"/>
              </a:rPr>
              <a:t>, </a:t>
            </a:r>
            <a:r>
              <a:rPr lang="en-US" sz="1800" b="0" strike="noStrike" spc="-1" dirty="0" err="1">
                <a:solidFill>
                  <a:srgbClr val="000000"/>
                </a:solidFill>
                <a:latin typeface="Calibri"/>
              </a:rPr>
              <a:t>especialmente</a:t>
            </a:r>
            <a:r>
              <a:rPr lang="en-US" sz="1800" b="0" strike="noStrike" spc="-1" dirty="0">
                <a:solidFill>
                  <a:srgbClr val="000000"/>
                </a:solidFill>
                <a:latin typeface="Calibri"/>
              </a:rPr>
              <a:t> </a:t>
            </a:r>
            <a:r>
              <a:rPr lang="en-US" sz="1800" b="0" strike="noStrike" spc="-1" dirty="0" err="1">
                <a:solidFill>
                  <a:srgbClr val="000000"/>
                </a:solidFill>
                <a:latin typeface="Calibri"/>
              </a:rPr>
              <a:t>em</a:t>
            </a:r>
            <a:r>
              <a:rPr lang="en-US" sz="1800" b="0" strike="noStrike" spc="-1" dirty="0">
                <a:solidFill>
                  <a:srgbClr val="000000"/>
                </a:solidFill>
                <a:latin typeface="Calibri"/>
              </a:rPr>
              <a:t> </a:t>
            </a:r>
            <a:r>
              <a:rPr lang="en-US" sz="1800" b="0" strike="noStrike" spc="-1" dirty="0" err="1">
                <a:solidFill>
                  <a:srgbClr val="000000"/>
                </a:solidFill>
                <a:latin typeface="Calibri"/>
              </a:rPr>
              <a:t>construções</a:t>
            </a:r>
            <a:r>
              <a:rPr lang="en-US" sz="1800" b="0" strike="noStrike" spc="-1" dirty="0">
                <a:solidFill>
                  <a:srgbClr val="000000"/>
                </a:solidFill>
                <a:latin typeface="Calibri"/>
              </a:rPr>
              <a:t> de </a:t>
            </a:r>
            <a:r>
              <a:rPr lang="en-US" sz="1800" b="0" strike="noStrike" spc="-1" dirty="0" err="1">
                <a:solidFill>
                  <a:srgbClr val="000000"/>
                </a:solidFill>
                <a:latin typeface="Calibri"/>
              </a:rPr>
              <a:t>controle</a:t>
            </a:r>
            <a:r>
              <a:rPr lang="en-US" sz="1800" b="0" strike="noStrike" spc="-1" dirty="0">
                <a:solidFill>
                  <a:srgbClr val="000000"/>
                </a:solidFill>
                <a:latin typeface="Calibri"/>
              </a:rPr>
              <a:t> de </a:t>
            </a:r>
            <a:r>
              <a:rPr lang="en-US" sz="1800" b="0" strike="noStrike" spc="-1" dirty="0" err="1">
                <a:solidFill>
                  <a:srgbClr val="000000"/>
                </a:solidFill>
                <a:latin typeface="Calibri"/>
              </a:rPr>
              <a:t>fluxo</a:t>
            </a:r>
            <a:r>
              <a:rPr lang="en-US" sz="1800" b="0" strike="noStrike" spc="-1" dirty="0">
                <a:solidFill>
                  <a:srgbClr val="000000"/>
                </a:solidFill>
                <a:latin typeface="Calibri"/>
              </a:rPr>
              <a:t>, </a:t>
            </a:r>
            <a:r>
              <a:rPr lang="en-US" sz="1800" b="0" strike="noStrike" spc="-1" dirty="0" err="1">
                <a:solidFill>
                  <a:srgbClr val="000000"/>
                </a:solidFill>
                <a:latin typeface="Calibri"/>
              </a:rPr>
              <a:t>como</a:t>
            </a:r>
            <a:r>
              <a:rPr lang="en-US" sz="1800" b="0" strike="noStrike" spc="-1" dirty="0">
                <a:solidFill>
                  <a:srgbClr val="000000"/>
                </a:solidFill>
                <a:latin typeface="Calibri"/>
              </a:rPr>
              <a:t> as </a:t>
            </a:r>
            <a:r>
              <a:rPr lang="en-US" sz="1800" b="0" strike="noStrike" spc="-1" dirty="0" err="1">
                <a:solidFill>
                  <a:srgbClr val="000000"/>
                </a:solidFill>
                <a:latin typeface="Calibri"/>
              </a:rPr>
              <a:t>instruções</a:t>
            </a:r>
            <a:r>
              <a:rPr lang="en-US" sz="1800" b="0" strike="noStrike" spc="-1" dirty="0">
                <a:solidFill>
                  <a:srgbClr val="000000"/>
                </a:solidFill>
                <a:latin typeface="Calibri"/>
              </a:rPr>
              <a:t> se-</a:t>
            </a:r>
            <a:r>
              <a:rPr lang="en-US" sz="1800" b="0" strike="noStrike" spc="-1" dirty="0" err="1">
                <a:solidFill>
                  <a:srgbClr val="000000"/>
                </a:solidFill>
                <a:latin typeface="Calibri"/>
              </a:rPr>
              <a:t>então</a:t>
            </a:r>
            <a:r>
              <a:rPr lang="en-US" sz="1800" b="0" strike="noStrike" spc="-1" dirty="0">
                <a:solidFill>
                  <a:srgbClr val="000000"/>
                </a:solidFill>
                <a:latin typeface="Calibri"/>
              </a:rPr>
              <a:t>-</a:t>
            </a:r>
            <a:r>
              <a:rPr lang="en-US" sz="1800" b="0" strike="noStrike" spc="-1" dirty="0" err="1">
                <a:solidFill>
                  <a:srgbClr val="000000"/>
                </a:solidFill>
                <a:latin typeface="Calibri"/>
              </a:rPr>
              <a:t>senão</a:t>
            </a:r>
            <a:r>
              <a:rPr lang="en-US" sz="1800" b="0" strike="noStrike" spc="-1" dirty="0">
                <a:solidFill>
                  <a:srgbClr val="000000"/>
                </a:solidFill>
                <a:latin typeface="Calibri"/>
              </a:rPr>
              <a:t>.</a:t>
            </a:r>
            <a:endParaRPr lang="pt-BR" sz="1800" b="0" strike="noStrike" spc="-1" dirty="0">
              <a:solidFill>
                <a:srgbClr val="000000"/>
              </a:solidFill>
              <a:latin typeface="Arial"/>
            </a:endParaRPr>
          </a:p>
        </p:txBody>
      </p:sp>
      <p:sp>
        <p:nvSpPr>
          <p:cNvPr id="193" name="CaixaDeTexto 6"/>
          <p:cNvSpPr/>
          <p:nvPr/>
        </p:nvSpPr>
        <p:spPr>
          <a:xfrm>
            <a:off x="609480" y="4280760"/>
            <a:ext cx="6246360" cy="1797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343080">
              <a:lnSpc>
                <a:spcPct val="90000"/>
              </a:lnSpc>
              <a:spcBef>
                <a:spcPts val="360"/>
              </a:spcBef>
              <a:buClr>
                <a:srgbClr val="000000"/>
              </a:buClr>
              <a:buFont typeface="Arial"/>
              <a:buChar char="•"/>
            </a:pPr>
            <a:r>
              <a:rPr lang="en-US" sz="1800" b="0" strike="noStrike" spc="-1">
                <a:solidFill>
                  <a:srgbClr val="000000"/>
                </a:solidFill>
                <a:latin typeface="Calibri"/>
              </a:rPr>
              <a:t>1. if (condicao) {</a:t>
            </a:r>
            <a:endParaRPr lang="pt-BR" sz="1800" b="0" strike="noStrike" spc="-1">
              <a:solidFill>
                <a:srgbClr val="000000"/>
              </a:solidFill>
              <a:latin typeface="Arial"/>
            </a:endParaRPr>
          </a:p>
          <a:p>
            <a:pPr marL="343080" indent="-343080">
              <a:lnSpc>
                <a:spcPct val="90000"/>
              </a:lnSpc>
              <a:spcBef>
                <a:spcPts val="360"/>
              </a:spcBef>
              <a:buClr>
                <a:srgbClr val="000000"/>
              </a:buClr>
              <a:buFont typeface="Arial"/>
              <a:buChar char="•"/>
            </a:pPr>
            <a:r>
              <a:rPr lang="en-US" sz="1800" b="0" strike="noStrike" spc="-1">
                <a:solidFill>
                  <a:srgbClr val="000000"/>
                </a:solidFill>
                <a:latin typeface="Calibri"/>
              </a:rPr>
              <a:t>2.     X = 5;   // DEF(X) na instrução 2</a:t>
            </a:r>
            <a:endParaRPr lang="pt-BR" sz="1800" b="0" strike="noStrike" spc="-1">
              <a:solidFill>
                <a:srgbClr val="000000"/>
              </a:solidFill>
              <a:latin typeface="Arial"/>
            </a:endParaRPr>
          </a:p>
          <a:p>
            <a:pPr marL="343080" indent="-343080">
              <a:lnSpc>
                <a:spcPct val="90000"/>
              </a:lnSpc>
              <a:spcBef>
                <a:spcPts val="360"/>
              </a:spcBef>
              <a:buClr>
                <a:srgbClr val="000000"/>
              </a:buClr>
              <a:buFont typeface="Arial"/>
              <a:buChar char="•"/>
            </a:pPr>
            <a:r>
              <a:rPr lang="en-US" sz="1800" b="0" strike="noStrike" spc="-1">
                <a:solidFill>
                  <a:srgbClr val="000000"/>
                </a:solidFill>
                <a:latin typeface="Calibri"/>
              </a:rPr>
              <a:t>3.     Y = X;   // USE(X) na instrução 3</a:t>
            </a:r>
            <a:endParaRPr lang="pt-BR" sz="1800" b="0" strike="noStrike" spc="-1">
              <a:solidFill>
                <a:srgbClr val="000000"/>
              </a:solidFill>
              <a:latin typeface="Arial"/>
            </a:endParaRPr>
          </a:p>
          <a:p>
            <a:pPr marL="343080" indent="-343080">
              <a:lnSpc>
                <a:spcPct val="90000"/>
              </a:lnSpc>
              <a:spcBef>
                <a:spcPts val="360"/>
              </a:spcBef>
              <a:buClr>
                <a:srgbClr val="000000"/>
              </a:buClr>
              <a:buFont typeface="Arial"/>
              <a:buChar char="•"/>
            </a:pPr>
            <a:r>
              <a:rPr lang="en-US" sz="1800" b="0" strike="noStrike" spc="-1">
                <a:solidFill>
                  <a:srgbClr val="000000"/>
                </a:solidFill>
                <a:latin typeface="Calibri"/>
              </a:rPr>
              <a:t>4. } else {</a:t>
            </a:r>
            <a:endParaRPr lang="pt-BR" sz="1800" b="0" strike="noStrike" spc="-1">
              <a:solidFill>
                <a:srgbClr val="000000"/>
              </a:solidFill>
              <a:latin typeface="Arial"/>
            </a:endParaRPr>
          </a:p>
          <a:p>
            <a:pPr marL="343080" indent="-343080">
              <a:lnSpc>
                <a:spcPct val="90000"/>
              </a:lnSpc>
              <a:spcBef>
                <a:spcPts val="360"/>
              </a:spcBef>
              <a:buClr>
                <a:srgbClr val="000000"/>
              </a:buClr>
              <a:buFont typeface="Arial"/>
              <a:buChar char="•"/>
            </a:pPr>
            <a:r>
              <a:rPr lang="en-US" sz="1800" b="0" strike="noStrike" spc="-1">
                <a:solidFill>
                  <a:srgbClr val="000000"/>
                </a:solidFill>
                <a:latin typeface="Calibri"/>
              </a:rPr>
              <a:t>5.     // Nenhuma definição de X aqui</a:t>
            </a:r>
            <a:endParaRPr lang="pt-BR" sz="1800" b="0" strike="noStrike" spc="-1">
              <a:solidFill>
                <a:srgbClr val="000000"/>
              </a:solidFill>
              <a:latin typeface="Arial"/>
            </a:endParaRPr>
          </a:p>
          <a:p>
            <a:pPr marL="343080" indent="-343080">
              <a:lnSpc>
                <a:spcPct val="90000"/>
              </a:lnSpc>
              <a:spcBef>
                <a:spcPts val="360"/>
              </a:spcBef>
              <a:buClr>
                <a:srgbClr val="000000"/>
              </a:buClr>
              <a:buFont typeface="Arial"/>
              <a:buChar char="•"/>
            </a:pPr>
            <a:r>
              <a:rPr lang="en-US" sz="1800" b="0" strike="noStrike" spc="-1">
                <a:solidFill>
                  <a:srgbClr val="000000"/>
                </a:solidFill>
                <a:latin typeface="Calibri"/>
              </a:rPr>
              <a:t>6. }</a:t>
            </a:r>
            <a:endParaRPr lang="pt-BR" sz="1800" b="0" strike="noStrike" spc="-1">
              <a:solidFill>
                <a:srgbClr val="000000"/>
              </a:solidFill>
              <a:latin typeface="Arial"/>
            </a:endParaRPr>
          </a:p>
        </p:txBody>
      </p:sp>
      <p:sp>
        <p:nvSpPr>
          <p:cNvPr id="194" name="CaixaDeTexto 8"/>
          <p:cNvSpPr/>
          <p:nvPr/>
        </p:nvSpPr>
        <p:spPr>
          <a:xfrm>
            <a:off x="5945400" y="4294440"/>
            <a:ext cx="6246360" cy="1815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343080">
              <a:lnSpc>
                <a:spcPct val="90000"/>
              </a:lnSpc>
              <a:spcBef>
                <a:spcPts val="360"/>
              </a:spcBef>
              <a:buClr>
                <a:srgbClr val="000000"/>
              </a:buClr>
              <a:buFont typeface="Arial"/>
              <a:buChar char="•"/>
            </a:pPr>
            <a:r>
              <a:rPr lang="en-US" sz="1800" b="0" strike="noStrike" spc="-1">
                <a:solidFill>
                  <a:srgbClr val="000000"/>
                </a:solidFill>
                <a:latin typeface="Calibri"/>
              </a:rPr>
              <a:t>X é definida apenas no bloco do então (linha 2) e usada no bloco então (linha 3). O fluxo de controle pode entrar ou sair do bloco se dependendo da condição. No entanto, o fluxo "senão" (linha 4) não tem nenhuma definição de X, o que significa que, se o programa seguir pelo desvio senão, a variável X não será utilizada e, portanto, nenhuma cadeia DU envolvendo o desvio senão será coberta.</a:t>
            </a:r>
            <a:endParaRPr lang="pt-BR" sz="1800" b="0" strike="noStrike" spc="-1">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CaixaDeTexto 223"/>
          <p:cNvSpPr/>
          <p:nvPr/>
        </p:nvSpPr>
        <p:spPr>
          <a:xfrm>
            <a:off x="359999" y="360000"/>
            <a:ext cx="10665809" cy="85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pt-BR" sz="3700" spc="-1" dirty="0">
                <a:solidFill>
                  <a:srgbClr val="000000"/>
                </a:solidFill>
                <a:latin typeface="Calibri"/>
              </a:rPr>
              <a:t>Teste de Estrutura de Controle:  Teste de ciclo</a:t>
            </a:r>
          </a:p>
        </p:txBody>
      </p:sp>
      <p:sp>
        <p:nvSpPr>
          <p:cNvPr id="196" name="CaixaDeTexto 224"/>
          <p:cNvSpPr/>
          <p:nvPr/>
        </p:nvSpPr>
        <p:spPr>
          <a:xfrm>
            <a:off x="531720" y="1154296"/>
            <a:ext cx="9907920" cy="2381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pt-BR" sz="2400" b="0" strike="noStrike" spc="-1" dirty="0">
                <a:solidFill>
                  <a:srgbClr val="000000"/>
                </a:solidFill>
                <a:latin typeface="Arial"/>
              </a:rPr>
              <a:t>O teste de ciclo é uma técnica de teste caixa-branca que focaliza exclusivamente a validade das construções de ciclo. </a:t>
            </a:r>
          </a:p>
          <a:p>
            <a:pPr>
              <a:lnSpc>
                <a:spcPct val="100000"/>
              </a:lnSpc>
            </a:pPr>
            <a:r>
              <a:rPr lang="pt-BR" sz="2400" b="0" strike="noStrike" spc="-1" dirty="0">
                <a:solidFill>
                  <a:srgbClr val="000000"/>
                </a:solidFill>
                <a:latin typeface="Arial"/>
              </a:rPr>
              <a:t>Podem ser definidas quatro diferentes classes de ciclos [Bei90]: </a:t>
            </a:r>
          </a:p>
          <a:p>
            <a:pPr marL="343080" indent="-343080">
              <a:lnSpc>
                <a:spcPct val="100000"/>
              </a:lnSpc>
              <a:buClr>
                <a:srgbClr val="000000"/>
              </a:buClr>
              <a:buFont typeface="Arial"/>
              <a:buChar char="•"/>
            </a:pPr>
            <a:r>
              <a:rPr lang="pt-BR" sz="2400" b="0" strike="noStrike" spc="-1" dirty="0">
                <a:solidFill>
                  <a:srgbClr val="000000"/>
                </a:solidFill>
                <a:latin typeface="Arial"/>
              </a:rPr>
              <a:t>Ciclos simples, </a:t>
            </a:r>
          </a:p>
          <a:p>
            <a:pPr marL="343080" indent="-343080">
              <a:lnSpc>
                <a:spcPct val="100000"/>
              </a:lnSpc>
              <a:buClr>
                <a:srgbClr val="000000"/>
              </a:buClr>
              <a:buFont typeface="Arial"/>
              <a:buChar char="•"/>
            </a:pPr>
            <a:r>
              <a:rPr lang="pt-BR" sz="2400" spc="-1" dirty="0">
                <a:solidFill>
                  <a:srgbClr val="000000"/>
                </a:solidFill>
                <a:latin typeface="Arial"/>
              </a:rPr>
              <a:t>C</a:t>
            </a:r>
            <a:r>
              <a:rPr lang="pt-BR" sz="2400" b="0" strike="noStrike" spc="-1" dirty="0">
                <a:solidFill>
                  <a:srgbClr val="000000"/>
                </a:solidFill>
                <a:latin typeface="Arial"/>
              </a:rPr>
              <a:t>iclos concatenados, </a:t>
            </a:r>
          </a:p>
          <a:p>
            <a:pPr marL="343080" indent="-343080">
              <a:lnSpc>
                <a:spcPct val="100000"/>
              </a:lnSpc>
              <a:buClr>
                <a:srgbClr val="000000"/>
              </a:buClr>
              <a:buFont typeface="Arial"/>
              <a:buChar char="•"/>
            </a:pPr>
            <a:r>
              <a:rPr lang="pt-BR" sz="2400" spc="-1" dirty="0">
                <a:solidFill>
                  <a:srgbClr val="000000"/>
                </a:solidFill>
                <a:latin typeface="Arial"/>
              </a:rPr>
              <a:t>C</a:t>
            </a:r>
            <a:r>
              <a:rPr lang="pt-BR" sz="2400" b="0" strike="noStrike" spc="-1" dirty="0">
                <a:solidFill>
                  <a:srgbClr val="000000"/>
                </a:solidFill>
                <a:latin typeface="Arial"/>
              </a:rPr>
              <a:t>iclos aninhados e ciclos não estruturados</a:t>
            </a:r>
          </a:p>
        </p:txBody>
      </p:sp>
      <p:pic>
        <p:nvPicPr>
          <p:cNvPr id="197" name="Imagem 225"/>
          <p:cNvPicPr/>
          <p:nvPr/>
        </p:nvPicPr>
        <p:blipFill>
          <a:blip r:embed="rId2"/>
          <a:stretch/>
        </p:blipFill>
        <p:spPr>
          <a:xfrm>
            <a:off x="7281360" y="3418920"/>
            <a:ext cx="4276440" cy="3009600"/>
          </a:xfrm>
          <a:prstGeom prst="rect">
            <a:avLst/>
          </a:prstGeom>
          <a:ln w="0">
            <a:noFill/>
          </a:ln>
        </p:spPr>
      </p:pic>
      <p:sp>
        <p:nvSpPr>
          <p:cNvPr id="198" name="CaixaDeTexto 226"/>
          <p:cNvSpPr/>
          <p:nvPr/>
        </p:nvSpPr>
        <p:spPr>
          <a:xfrm>
            <a:off x="644426" y="3773740"/>
            <a:ext cx="7739640" cy="572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pt-BR" sz="2400" b="0" strike="noStrike" spc="-1" dirty="0">
                <a:solidFill>
                  <a:srgbClr val="000000"/>
                </a:solidFill>
                <a:latin typeface="Arial"/>
              </a:rPr>
              <a:t>Ciclos simples:</a:t>
            </a:r>
          </a:p>
          <a:p>
            <a:pPr>
              <a:lnSpc>
                <a:spcPct val="100000"/>
              </a:lnSpc>
            </a:pPr>
            <a:r>
              <a:rPr lang="pt-BR" sz="2400" b="0" strike="noStrike" spc="-1" dirty="0">
                <a:solidFill>
                  <a:srgbClr val="000000"/>
                </a:solidFill>
                <a:latin typeface="Arial"/>
              </a:rPr>
              <a:t>Pular o ciclo inteiramente.</a:t>
            </a:r>
          </a:p>
          <a:p>
            <a:pPr>
              <a:lnSpc>
                <a:spcPct val="100000"/>
              </a:lnSpc>
            </a:pPr>
            <a:r>
              <a:rPr lang="pt-BR" sz="2400" b="0" strike="noStrike" spc="-1" dirty="0">
                <a:solidFill>
                  <a:srgbClr val="000000"/>
                </a:solidFill>
                <a:latin typeface="Arial"/>
              </a:rPr>
              <a:t>2. Somente uma passagem pelo ciclo.</a:t>
            </a:r>
          </a:p>
          <a:p>
            <a:pPr>
              <a:lnSpc>
                <a:spcPct val="100000"/>
              </a:lnSpc>
            </a:pPr>
            <a:r>
              <a:rPr lang="pt-BR" sz="2400" b="0" strike="noStrike" spc="-1" dirty="0">
                <a:solidFill>
                  <a:srgbClr val="000000"/>
                </a:solidFill>
                <a:latin typeface="Arial"/>
              </a:rPr>
              <a:t>3. Duas passagens pelo ciclo.</a:t>
            </a:r>
          </a:p>
          <a:p>
            <a:pPr>
              <a:lnSpc>
                <a:spcPct val="100000"/>
              </a:lnSpc>
            </a:pPr>
            <a:r>
              <a:rPr lang="pt-BR" sz="2400" b="0" strike="noStrike" spc="-1" dirty="0">
                <a:solidFill>
                  <a:srgbClr val="000000"/>
                </a:solidFill>
                <a:latin typeface="Arial"/>
              </a:rPr>
              <a:t>4. m passagens através do ciclo onde m &lt; n.</a:t>
            </a:r>
          </a:p>
          <a:p>
            <a:pPr>
              <a:lnSpc>
                <a:spcPct val="100000"/>
              </a:lnSpc>
            </a:pPr>
            <a:r>
              <a:rPr lang="pt-BR" sz="2400" b="0" strike="noStrike" spc="-1" dirty="0">
                <a:solidFill>
                  <a:srgbClr val="000000"/>
                </a:solidFill>
                <a:latin typeface="Arial"/>
              </a:rPr>
              <a:t>5. n – 1, n, n + 1 passagens através do ciclo.</a:t>
            </a:r>
          </a:p>
          <a:p>
            <a:pPr>
              <a:lnSpc>
                <a:spcPct val="100000"/>
              </a:lnSpc>
            </a:pPr>
            <a:endParaRPr lang="pt-BR" sz="1800" b="0" strike="noStrike" spc="-1" dirty="0">
              <a:solidFill>
                <a:srgbClr val="000000"/>
              </a:solidFill>
              <a:latin typeface="Arial"/>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26713" y="21068"/>
            <a:ext cx="1665287"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CaixaDeTexto 223"/>
          <p:cNvSpPr/>
          <p:nvPr/>
        </p:nvSpPr>
        <p:spPr>
          <a:xfrm>
            <a:off x="360000" y="360000"/>
            <a:ext cx="9823412" cy="85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pt-BR" sz="3700" spc="-1" dirty="0">
                <a:solidFill>
                  <a:srgbClr val="000000"/>
                </a:solidFill>
                <a:latin typeface="Calibri"/>
              </a:rPr>
              <a:t>Teste de Estrutura de Controle:  Teste de ciclo</a:t>
            </a:r>
          </a:p>
        </p:txBody>
      </p:sp>
      <p:sp>
        <p:nvSpPr>
          <p:cNvPr id="201" name="CaixaDeTexto 226"/>
          <p:cNvSpPr/>
          <p:nvPr/>
        </p:nvSpPr>
        <p:spPr>
          <a:xfrm>
            <a:off x="535320" y="1218240"/>
            <a:ext cx="7739640" cy="572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t-BR" sz="1800" b="0" strike="noStrike" spc="-1">
              <a:solidFill>
                <a:srgbClr val="000000"/>
              </a:solidFill>
              <a:latin typeface="Arial"/>
            </a:endParaRPr>
          </a:p>
          <a:p>
            <a:pPr>
              <a:lnSpc>
                <a:spcPct val="100000"/>
              </a:lnSpc>
            </a:pPr>
            <a:r>
              <a:rPr lang="pt-BR" sz="2400" b="1" strike="noStrike" spc="-1">
                <a:solidFill>
                  <a:srgbClr val="000000"/>
                </a:solidFill>
                <a:latin typeface="Arial"/>
              </a:rPr>
              <a:t>Ciclos aninhados:</a:t>
            </a:r>
            <a:endParaRPr lang="pt-BR" sz="2400" b="0" strike="noStrike" spc="-1">
              <a:solidFill>
                <a:srgbClr val="000000"/>
              </a:solidFill>
              <a:latin typeface="Arial"/>
            </a:endParaRPr>
          </a:p>
          <a:p>
            <a:pPr>
              <a:lnSpc>
                <a:spcPct val="100000"/>
              </a:lnSpc>
            </a:pPr>
            <a:r>
              <a:rPr lang="pt-BR" sz="2400" b="0" strike="noStrike" spc="-1">
                <a:solidFill>
                  <a:srgbClr val="000000"/>
                </a:solidFill>
                <a:latin typeface="Arial"/>
              </a:rPr>
              <a:t>Comece pelo ciclo mais interno. Coloque todos os outros ciclos nos seus valores mínimos.</a:t>
            </a:r>
          </a:p>
          <a:p>
            <a:pPr>
              <a:lnSpc>
                <a:spcPct val="100000"/>
              </a:lnSpc>
            </a:pPr>
            <a:r>
              <a:rPr lang="pt-BR" sz="2400" b="0" strike="noStrike" spc="-1">
                <a:solidFill>
                  <a:srgbClr val="000000"/>
                </a:solidFill>
                <a:latin typeface="Arial"/>
              </a:rPr>
              <a:t>2. ..Acrescente outros testes para valores fora do intervalo ou excluídos.</a:t>
            </a:r>
          </a:p>
          <a:p>
            <a:pPr>
              <a:lnSpc>
                <a:spcPct val="100000"/>
              </a:lnSpc>
            </a:pPr>
            <a:r>
              <a:rPr lang="pt-BR" sz="2400" b="0" strike="noStrike" spc="-1">
                <a:solidFill>
                  <a:srgbClr val="000000"/>
                </a:solidFill>
                <a:latin typeface="Arial"/>
              </a:rPr>
              <a:t>3. Trabalhe para fora, fazendo testes para o próximo ciclo, mas mantendo todos os outros ciclos externos nos seus valores mínimos e outros ciclos aninhados com valores “típicos”.</a:t>
            </a:r>
          </a:p>
          <a:p>
            <a:pPr>
              <a:lnSpc>
                <a:spcPct val="100000"/>
              </a:lnSpc>
            </a:pPr>
            <a:r>
              <a:rPr lang="pt-BR" sz="2400" b="0" strike="noStrike" spc="-1">
                <a:solidFill>
                  <a:srgbClr val="000000"/>
                </a:solidFill>
                <a:latin typeface="Arial"/>
              </a:rPr>
              <a:t>4. Continue até que todos os ciclos tenham sido testados.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4284" y="1114892"/>
            <a:ext cx="3138256" cy="5927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26713" y="21068"/>
            <a:ext cx="1665287"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66162" y="2290831"/>
            <a:ext cx="2254250"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2" name="CaixaDeTexto 228"/>
          <p:cNvSpPr/>
          <p:nvPr/>
        </p:nvSpPr>
        <p:spPr>
          <a:xfrm>
            <a:off x="609480" y="274680"/>
            <a:ext cx="9550080" cy="1142640"/>
          </a:xfrm>
          <a:prstGeom prst="rect">
            <a:avLst/>
          </a:prstGeom>
          <a:noFill/>
          <a:ln w="0">
            <a:noFill/>
          </a:ln>
        </p:spPr>
        <p:style>
          <a:lnRef idx="0">
            <a:scrgbClr r="0" g="0" b="0"/>
          </a:lnRef>
          <a:fillRef idx="0">
            <a:scrgbClr r="0" g="0" b="0"/>
          </a:fillRef>
          <a:effectRef idx="0">
            <a:scrgbClr r="0" g="0" b="0"/>
          </a:effectRef>
          <a:fontRef idx="minor"/>
        </p:style>
        <p:txBody>
          <a:bodyPr numCol="1" spcCol="0" anchor="ctr">
            <a:normAutofit/>
          </a:bodyPr>
          <a:lstStyle/>
          <a:p>
            <a:pPr algn="ctr">
              <a:lnSpc>
                <a:spcPct val="90000"/>
              </a:lnSpc>
              <a:spcAft>
                <a:spcPts val="601"/>
              </a:spcAft>
            </a:pPr>
            <a:r>
              <a:rPr lang="en-US" sz="3700" b="0" strike="noStrike" spc="-1">
                <a:solidFill>
                  <a:srgbClr val="000000"/>
                </a:solidFill>
                <a:latin typeface="Calibri"/>
              </a:rPr>
              <a:t>Teste de Estrutura de Controle:  Teste de ciclo</a:t>
            </a:r>
            <a:endParaRPr lang="pt-BR" sz="3700" b="0" strike="noStrike" spc="-1">
              <a:solidFill>
                <a:srgbClr val="000000"/>
              </a:solidFill>
              <a:latin typeface="Arial"/>
            </a:endParaRPr>
          </a:p>
        </p:txBody>
      </p:sp>
      <p:sp>
        <p:nvSpPr>
          <p:cNvPr id="203" name="CaixaDeTexto 227"/>
          <p:cNvSpPr/>
          <p:nvPr/>
        </p:nvSpPr>
        <p:spPr>
          <a:xfrm>
            <a:off x="609480" y="1600200"/>
            <a:ext cx="9289894" cy="4525560"/>
          </a:xfrm>
          <a:prstGeom prst="rect">
            <a:avLst/>
          </a:prstGeom>
          <a:noFill/>
          <a:ln w="0">
            <a:noFill/>
          </a:ln>
        </p:spPr>
        <p:style>
          <a:lnRef idx="0">
            <a:scrgbClr r="0" g="0" b="0"/>
          </a:lnRef>
          <a:fillRef idx="0">
            <a:scrgbClr r="0" g="0" b="0"/>
          </a:fillRef>
          <a:effectRef idx="0">
            <a:scrgbClr r="0" g="0" b="0"/>
          </a:effectRef>
          <a:fontRef idx="minor"/>
        </p:style>
        <p:txBody>
          <a:bodyPr numCol="1" spcCol="0" anchor="t">
            <a:normAutofit/>
          </a:bodyPr>
          <a:lstStyle/>
          <a:p>
            <a:pPr marL="343080" indent="-343080">
              <a:lnSpc>
                <a:spcPct val="90000"/>
              </a:lnSpc>
              <a:spcBef>
                <a:spcPts val="479"/>
              </a:spcBef>
              <a:buClr>
                <a:srgbClr val="000000"/>
              </a:buClr>
              <a:buFont typeface="Arial"/>
              <a:buChar char="•"/>
            </a:pPr>
            <a:r>
              <a:rPr lang="pt-BR" sz="2400" b="1" strike="noStrike" spc="-1" dirty="0">
                <a:solidFill>
                  <a:srgbClr val="000000"/>
                </a:solidFill>
                <a:latin typeface="Calibri"/>
              </a:rPr>
              <a:t>Ciclos concatenados</a:t>
            </a:r>
            <a:r>
              <a:rPr lang="pt-BR" sz="2400" b="0" strike="noStrike" spc="-1" dirty="0">
                <a:solidFill>
                  <a:srgbClr val="000000"/>
                </a:solidFill>
                <a:latin typeface="Calibri"/>
              </a:rPr>
              <a:t>. Ciclos concatenados podem ser testados usando a abordagem definida para ciclos simples, se cada um for independente do outro. No entanto, se dois ciclos forem concatenados e a contagem para o ciclo 1 for usada como valor individual para o ciclo 2, então os ciclos não são independentes. </a:t>
            </a:r>
            <a:endParaRPr lang="pt-BR" sz="2400" b="0" strike="noStrike" spc="-1" dirty="0">
              <a:solidFill>
                <a:srgbClr val="000000"/>
              </a:solidFill>
              <a:latin typeface="Arial"/>
            </a:endParaRPr>
          </a:p>
          <a:p>
            <a:pPr marL="343080" indent="-343080">
              <a:lnSpc>
                <a:spcPct val="90000"/>
              </a:lnSpc>
              <a:spcBef>
                <a:spcPts val="479"/>
              </a:spcBef>
              <a:buClr>
                <a:srgbClr val="000000"/>
              </a:buClr>
              <a:buFont typeface="Arial"/>
              <a:buChar char="•"/>
            </a:pPr>
            <a:r>
              <a:rPr lang="pt-BR" sz="2400" b="0" strike="noStrike" spc="-1" dirty="0">
                <a:solidFill>
                  <a:srgbClr val="000000"/>
                </a:solidFill>
                <a:latin typeface="Calibri"/>
              </a:rPr>
              <a:t>Quando os ciclos não são independentes, é recomendada a abordagem aplicada a ciclos aninhados.</a:t>
            </a:r>
            <a:endParaRPr lang="pt-BR" sz="2400" b="0" strike="noStrike" spc="-1" dirty="0">
              <a:solidFill>
                <a:srgbClr val="000000"/>
              </a:solidFill>
              <a:latin typeface="Arial"/>
            </a:endParaRPr>
          </a:p>
          <a:p>
            <a:pPr>
              <a:lnSpc>
                <a:spcPct val="90000"/>
              </a:lnSpc>
              <a:spcBef>
                <a:spcPts val="479"/>
              </a:spcBef>
            </a:pPr>
            <a:endParaRPr lang="pt-BR" sz="2400" b="0" strike="noStrike" spc="-1" dirty="0">
              <a:solidFill>
                <a:srgbClr val="000000"/>
              </a:solidFill>
              <a:latin typeface="Arial"/>
            </a:endParaRPr>
          </a:p>
          <a:p>
            <a:pPr marL="343080" indent="-343080">
              <a:lnSpc>
                <a:spcPct val="90000"/>
              </a:lnSpc>
              <a:spcBef>
                <a:spcPts val="479"/>
              </a:spcBef>
              <a:buClr>
                <a:srgbClr val="000000"/>
              </a:buClr>
              <a:buFont typeface="Arial"/>
              <a:buChar char="•"/>
            </a:pPr>
            <a:r>
              <a:rPr lang="pt-BR" sz="2400" b="1" strike="noStrike" spc="-1" dirty="0">
                <a:solidFill>
                  <a:srgbClr val="000000"/>
                </a:solidFill>
                <a:latin typeface="Calibri"/>
              </a:rPr>
              <a:t>Ciclos não estruturados</a:t>
            </a:r>
            <a:r>
              <a:rPr lang="pt-BR" sz="2400" b="0" strike="noStrike" spc="-1" dirty="0">
                <a:solidFill>
                  <a:srgbClr val="000000"/>
                </a:solidFill>
                <a:latin typeface="Calibri"/>
              </a:rPr>
              <a:t>. Sempre que possível, essa classe de ciclos deverá ser redesenhada para refletir o uso das construções de programação estruturada. </a:t>
            </a:r>
            <a:r>
              <a:rPr lang="pt-BR" sz="2400" b="0" strike="noStrike" spc="-1" dirty="0" err="1">
                <a:solidFill>
                  <a:srgbClr val="FF0000"/>
                </a:solidFill>
                <a:latin typeface="Calibri"/>
              </a:rPr>
              <a:t>Refatorar</a:t>
            </a:r>
            <a:r>
              <a:rPr lang="pt-BR" sz="2400" b="0" strike="noStrike" spc="-1" dirty="0">
                <a:solidFill>
                  <a:srgbClr val="FF0000"/>
                </a:solidFill>
                <a:latin typeface="Calibri"/>
              </a:rPr>
              <a:t>!!</a:t>
            </a:r>
            <a:endParaRPr lang="pt-BR" sz="2400" b="0" strike="noStrike" spc="-1" dirty="0">
              <a:solidFill>
                <a:srgbClr val="000000"/>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Retângulo 201"/>
          <p:cNvSpPr/>
          <p:nvPr/>
        </p:nvSpPr>
        <p:spPr>
          <a:xfrm>
            <a:off x="609480" y="274680"/>
            <a:ext cx="9550080" cy="1142640"/>
          </a:xfrm>
          <a:prstGeom prst="rect">
            <a:avLst/>
          </a:prstGeom>
          <a:noFill/>
          <a:ln w="0">
            <a:noFill/>
          </a:ln>
        </p:spPr>
        <p:style>
          <a:lnRef idx="0">
            <a:scrgbClr r="0" g="0" b="0"/>
          </a:lnRef>
          <a:fillRef idx="0">
            <a:scrgbClr r="0" g="0" b="0"/>
          </a:fillRef>
          <a:effectRef idx="0">
            <a:scrgbClr r="0" g="0" b="0"/>
          </a:effectRef>
          <a:fontRef idx="minor"/>
        </p:style>
        <p:txBody>
          <a:bodyPr numCol="1" spcCol="0" anchor="ctr">
            <a:normAutofit/>
          </a:bodyPr>
          <a:lstStyle/>
          <a:p>
            <a:pPr algn="ctr">
              <a:lnSpc>
                <a:spcPct val="100000"/>
              </a:lnSpc>
              <a:spcAft>
                <a:spcPts val="601"/>
              </a:spcAft>
            </a:pPr>
            <a:r>
              <a:rPr lang="en-US" sz="4400" b="0" strike="noStrike" spc="-1">
                <a:solidFill>
                  <a:srgbClr val="000000"/>
                </a:solidFill>
                <a:latin typeface="Calibri"/>
              </a:rPr>
              <a:t>Visão Externa do Teste: teste caixa preta</a:t>
            </a:r>
            <a:endParaRPr lang="pt-BR" sz="4400" b="0" strike="noStrike" spc="-1">
              <a:solidFill>
                <a:srgbClr val="000000"/>
              </a:solidFill>
              <a:latin typeface="Arial"/>
            </a:endParaRPr>
          </a:p>
        </p:txBody>
      </p:sp>
      <p:sp>
        <p:nvSpPr>
          <p:cNvPr id="178" name="Retângulo 200"/>
          <p:cNvSpPr/>
          <p:nvPr/>
        </p:nvSpPr>
        <p:spPr>
          <a:xfrm>
            <a:off x="609480" y="1600200"/>
            <a:ext cx="10972440" cy="4525560"/>
          </a:xfrm>
          <a:prstGeom prst="rect">
            <a:avLst/>
          </a:prstGeom>
          <a:noFill/>
          <a:ln w="0">
            <a:noFill/>
          </a:ln>
        </p:spPr>
        <p:style>
          <a:lnRef idx="0">
            <a:scrgbClr r="0" g="0" b="0"/>
          </a:lnRef>
          <a:fillRef idx="0">
            <a:scrgbClr r="0" g="0" b="0"/>
          </a:fillRef>
          <a:effectRef idx="0">
            <a:scrgbClr r="0" g="0" b="0"/>
          </a:effectRef>
          <a:fontRef idx="minor"/>
        </p:style>
        <p:txBody>
          <a:bodyPr numCol="1" spcCol="0" anchor="t">
            <a:normAutofit/>
          </a:bodyPr>
          <a:lstStyle/>
          <a:p>
            <a:pPr marL="343080" indent="-343080">
              <a:lnSpc>
                <a:spcPct val="90000"/>
              </a:lnSpc>
              <a:spcBef>
                <a:spcPts val="641"/>
              </a:spcBef>
              <a:buClr>
                <a:srgbClr val="000000"/>
              </a:buClr>
              <a:buFont typeface="Arial"/>
              <a:buChar char="•"/>
            </a:pPr>
            <a:r>
              <a:rPr lang="pt-BR" sz="3200" b="0" strike="noStrike" spc="-1">
                <a:solidFill>
                  <a:srgbClr val="000000"/>
                </a:solidFill>
                <a:latin typeface="Calibri"/>
              </a:rPr>
              <a:t>Abordagem: Conhecendo a função especificada para o qual um produto foi projetado para realizar, podem ser feitos testes que demonstram que cada uma das funções é totalmente operacional, embora ao mesmo tempo procurem erros em cada função.</a:t>
            </a:r>
            <a:endParaRPr lang="pt-BR" sz="3200" b="0" strike="noStrike" spc="-1">
              <a:solidFill>
                <a:srgbClr val="000000"/>
              </a:solidFill>
              <a:latin typeface="Arial"/>
            </a:endParaRPr>
          </a:p>
          <a:p>
            <a:pPr>
              <a:lnSpc>
                <a:spcPct val="90000"/>
              </a:lnSpc>
              <a:spcBef>
                <a:spcPts val="641"/>
              </a:spcBef>
            </a:pPr>
            <a:endParaRPr lang="pt-BR" sz="3200" b="0" strike="noStrike" spc="-1">
              <a:solidFill>
                <a:srgbClr val="000000"/>
              </a:solidFill>
              <a:latin typeface="Arial"/>
            </a:endParaRPr>
          </a:p>
          <a:p>
            <a:pPr marL="343080" indent="-343080">
              <a:lnSpc>
                <a:spcPct val="90000"/>
              </a:lnSpc>
              <a:spcBef>
                <a:spcPts val="641"/>
              </a:spcBef>
              <a:buClr>
                <a:srgbClr val="000000"/>
              </a:buClr>
              <a:buFont typeface="Arial"/>
              <a:buChar char="•"/>
            </a:pPr>
            <a:r>
              <a:rPr lang="pt-BR" sz="3200" b="0" strike="noStrike" spc="-1">
                <a:solidFill>
                  <a:srgbClr val="000000"/>
                </a:solidFill>
                <a:latin typeface="Calibri"/>
              </a:rPr>
              <a:t>O teste caixa-preta faz referência a testes realizados </a:t>
            </a:r>
            <a:r>
              <a:rPr lang="pt-BR" sz="3200" b="0" strike="noStrike" spc="-1">
                <a:solidFill>
                  <a:srgbClr val="FF0000"/>
                </a:solidFill>
                <a:latin typeface="Calibri"/>
              </a:rPr>
              <a:t>na interface do software. </a:t>
            </a:r>
            <a:endParaRPr lang="pt-BR" sz="3200" b="0" strike="noStrike" spc="-1">
              <a:solidFill>
                <a:srgbClr val="000000"/>
              </a:solidFill>
              <a:latin typeface="Arial"/>
            </a:endParaRPr>
          </a:p>
          <a:p>
            <a:pPr>
              <a:lnSpc>
                <a:spcPct val="90000"/>
              </a:lnSpc>
              <a:spcBef>
                <a:spcPts val="499"/>
              </a:spcBef>
            </a:pPr>
            <a:endParaRPr lang="pt-BR" sz="2500" b="0" strike="noStrike" spc="-1">
              <a:solidFill>
                <a:srgbClr val="000000"/>
              </a:solidFill>
              <a:latin typeface="Arial"/>
            </a:endParaRPr>
          </a:p>
        </p:txBody>
      </p:sp>
    </p:spTree>
    <p:extLst>
      <p:ext uri="{BB962C8B-B14F-4D97-AF65-F5344CB8AC3E}">
        <p14:creationId xmlns:p14="http://schemas.microsoft.com/office/powerpoint/2010/main" val="36103415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609480" y="274680"/>
            <a:ext cx="9550080" cy="1142640"/>
          </a:xfrm>
          <a:prstGeom prst="rect">
            <a:avLst/>
          </a:prstGeom>
          <a:noFill/>
          <a:ln w="0">
            <a:noFill/>
          </a:ln>
        </p:spPr>
        <p:txBody>
          <a:bodyPr numCol="1" spcCol="0" anchor="ctr">
            <a:noAutofit/>
          </a:bodyPr>
          <a:lstStyle/>
          <a:p>
            <a:pPr indent="0" algn="ctr">
              <a:lnSpc>
                <a:spcPct val="100000"/>
              </a:lnSpc>
              <a:buNone/>
            </a:pPr>
            <a:r>
              <a:rPr lang="pt-BR" sz="4400" b="0" strike="noStrike" spc="-1">
                <a:solidFill>
                  <a:srgbClr val="000000"/>
                </a:solidFill>
                <a:latin typeface="Calibri"/>
              </a:rPr>
              <a:t>Teste Caixa-Preta</a:t>
            </a:r>
          </a:p>
        </p:txBody>
      </p:sp>
      <p:sp>
        <p:nvSpPr>
          <p:cNvPr id="205" name="PlaceHolder 2"/>
          <p:cNvSpPr>
            <a:spLocks noGrp="1"/>
          </p:cNvSpPr>
          <p:nvPr>
            <p:ph/>
          </p:nvPr>
        </p:nvSpPr>
        <p:spPr>
          <a:xfrm>
            <a:off x="609480" y="1600200"/>
            <a:ext cx="10972440" cy="4525560"/>
          </a:xfrm>
          <a:prstGeom prst="rect">
            <a:avLst/>
          </a:prstGeom>
          <a:noFill/>
          <a:ln w="0">
            <a:noFill/>
          </a:ln>
        </p:spPr>
        <p:txBody>
          <a:bodyPr numCol="1" spcCol="0" anchor="t">
            <a:noAutofit/>
          </a:bodyPr>
          <a:lstStyle/>
          <a:p>
            <a:pPr marL="343080" indent="-343080">
              <a:lnSpc>
                <a:spcPct val="100000"/>
              </a:lnSpc>
              <a:spcBef>
                <a:spcPts val="641"/>
              </a:spcBef>
              <a:buClr>
                <a:srgbClr val="000000"/>
              </a:buClr>
              <a:buFont typeface="Arial"/>
              <a:buChar char="•"/>
            </a:pPr>
            <a:r>
              <a:rPr lang="pt-BR" sz="3200" b="0" strike="noStrike" spc="-1">
                <a:solidFill>
                  <a:srgbClr val="000000"/>
                </a:solidFill>
                <a:latin typeface="Calibri"/>
              </a:rPr>
              <a:t>Teste comportamental, focaliza os requisitos funcionais do software. Casos de teste que com condições de entrada que utilizarão completamente todos os requisitos funcionais.</a:t>
            </a:r>
          </a:p>
          <a:p>
            <a:pPr marL="343080" indent="-343080">
              <a:lnSpc>
                <a:spcPct val="100000"/>
              </a:lnSpc>
              <a:spcBef>
                <a:spcPts val="641"/>
              </a:spcBef>
              <a:buClr>
                <a:srgbClr val="000000"/>
              </a:buClr>
              <a:buFont typeface="Arial"/>
              <a:buChar char="•"/>
            </a:pPr>
            <a:r>
              <a:rPr lang="pt-BR" sz="3200" b="0" strike="noStrike" spc="-1">
                <a:solidFill>
                  <a:srgbClr val="000000"/>
                </a:solidFill>
                <a:latin typeface="Calibri"/>
              </a:rPr>
              <a:t>Teste complementar à caixa branca tende “a ser aplicado durante estágios posteriores do teste”.</a:t>
            </a:r>
          </a:p>
          <a:p>
            <a:pPr marL="343080" indent="-343080">
              <a:lnSpc>
                <a:spcPct val="100000"/>
              </a:lnSpc>
              <a:spcBef>
                <a:spcPts val="641"/>
              </a:spcBef>
              <a:buClr>
                <a:srgbClr val="000000"/>
              </a:buClr>
              <a:buFont typeface="Arial"/>
              <a:buChar char="•"/>
            </a:pPr>
            <a:r>
              <a:rPr lang="pt-BR" sz="3200" b="0" strike="noStrike" spc="-1">
                <a:solidFill>
                  <a:srgbClr val="000000"/>
                </a:solidFill>
                <a:latin typeface="Calibri"/>
              </a:rPr>
              <a:t>Erros nas seguintes categorias: </a:t>
            </a:r>
          </a:p>
          <a:p>
            <a:pPr marL="343080" indent="-343080">
              <a:lnSpc>
                <a:spcPct val="100000"/>
              </a:lnSpc>
              <a:spcBef>
                <a:spcPts val="400"/>
              </a:spcBef>
              <a:buClr>
                <a:srgbClr val="000000"/>
              </a:buClr>
              <a:buFont typeface="Arial"/>
              <a:buChar char="•"/>
            </a:pPr>
            <a:r>
              <a:rPr lang="pt-BR" sz="2000" b="0" strike="noStrike" spc="-1">
                <a:solidFill>
                  <a:srgbClr val="000000"/>
                </a:solidFill>
                <a:latin typeface="Calibri"/>
              </a:rPr>
              <a:t>(1) funções incorretas ou faltando, </a:t>
            </a:r>
          </a:p>
          <a:p>
            <a:pPr marL="343080" indent="-343080">
              <a:lnSpc>
                <a:spcPct val="100000"/>
              </a:lnSpc>
              <a:spcBef>
                <a:spcPts val="400"/>
              </a:spcBef>
              <a:buClr>
                <a:srgbClr val="000000"/>
              </a:buClr>
              <a:buFont typeface="Arial"/>
              <a:buChar char="•"/>
            </a:pPr>
            <a:r>
              <a:rPr lang="pt-BR" sz="2000" b="0" strike="noStrike" spc="-1">
                <a:solidFill>
                  <a:srgbClr val="000000"/>
                </a:solidFill>
                <a:latin typeface="Calibri"/>
              </a:rPr>
              <a:t>(2) erros de interface, </a:t>
            </a:r>
          </a:p>
          <a:p>
            <a:pPr marL="343080" indent="-343080">
              <a:lnSpc>
                <a:spcPct val="100000"/>
              </a:lnSpc>
              <a:spcBef>
                <a:spcPts val="400"/>
              </a:spcBef>
              <a:buClr>
                <a:srgbClr val="000000"/>
              </a:buClr>
              <a:buFont typeface="Arial"/>
              <a:buChar char="•"/>
            </a:pPr>
            <a:r>
              <a:rPr lang="pt-BR" sz="2000" b="0" strike="noStrike" spc="-1">
                <a:solidFill>
                  <a:srgbClr val="000000"/>
                </a:solidFill>
                <a:latin typeface="Calibri"/>
              </a:rPr>
              <a:t>(3) erros em estruturas de dados ou acesso a bases de dados externas, </a:t>
            </a:r>
          </a:p>
          <a:p>
            <a:pPr marL="343080" indent="-343080">
              <a:lnSpc>
                <a:spcPct val="100000"/>
              </a:lnSpc>
              <a:spcBef>
                <a:spcPts val="400"/>
              </a:spcBef>
              <a:buClr>
                <a:srgbClr val="000000"/>
              </a:buClr>
              <a:buFont typeface="Arial"/>
              <a:buChar char="•"/>
            </a:pPr>
            <a:r>
              <a:rPr lang="pt-BR" sz="2000" b="0" strike="noStrike" spc="-1">
                <a:solidFill>
                  <a:srgbClr val="000000"/>
                </a:solidFill>
                <a:latin typeface="Calibri"/>
              </a:rPr>
              <a:t>(4) erros de comportamento ou de desempenho, e </a:t>
            </a:r>
          </a:p>
          <a:p>
            <a:pPr marL="343080" indent="-343080">
              <a:lnSpc>
                <a:spcPct val="100000"/>
              </a:lnSpc>
              <a:spcBef>
                <a:spcPts val="400"/>
              </a:spcBef>
              <a:buClr>
                <a:srgbClr val="000000"/>
              </a:buClr>
              <a:buFont typeface="Arial"/>
              <a:buChar char="•"/>
            </a:pPr>
            <a:r>
              <a:rPr lang="pt-BR" sz="2000" b="0" strike="noStrike" spc="-1">
                <a:solidFill>
                  <a:srgbClr val="000000"/>
                </a:solidFill>
                <a:latin typeface="Calibri"/>
              </a:rPr>
              <a:t>(5) erros de inicialização e término.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PlaceHolder 1"/>
          <p:cNvSpPr>
            <a:spLocks noGrp="1"/>
          </p:cNvSpPr>
          <p:nvPr>
            <p:ph type="title"/>
          </p:nvPr>
        </p:nvSpPr>
        <p:spPr>
          <a:xfrm>
            <a:off x="609480" y="274680"/>
            <a:ext cx="9550080" cy="1142640"/>
          </a:xfrm>
          <a:prstGeom prst="rect">
            <a:avLst/>
          </a:prstGeom>
          <a:noFill/>
          <a:ln w="0">
            <a:noFill/>
          </a:ln>
        </p:spPr>
        <p:txBody>
          <a:bodyPr numCol="1" spcCol="0" anchor="ctr">
            <a:noAutofit/>
          </a:bodyPr>
          <a:lstStyle/>
          <a:p>
            <a:pPr indent="0" algn="ctr">
              <a:lnSpc>
                <a:spcPct val="100000"/>
              </a:lnSpc>
              <a:buNone/>
            </a:pPr>
            <a:r>
              <a:rPr lang="pt-BR" sz="4400" b="0" strike="noStrike" spc="-1">
                <a:solidFill>
                  <a:srgbClr val="000000"/>
                </a:solidFill>
                <a:latin typeface="Calibri"/>
              </a:rPr>
              <a:t>Questões que responde a Caixa  preta</a:t>
            </a:r>
          </a:p>
        </p:txBody>
      </p:sp>
      <p:sp>
        <p:nvSpPr>
          <p:cNvPr id="208" name="PlaceHolder 2"/>
          <p:cNvSpPr>
            <a:spLocks noGrp="1"/>
          </p:cNvSpPr>
          <p:nvPr>
            <p:ph/>
          </p:nvPr>
        </p:nvSpPr>
        <p:spPr>
          <a:xfrm>
            <a:off x="609480" y="1600200"/>
            <a:ext cx="10972440" cy="4525560"/>
          </a:xfrm>
          <a:prstGeom prst="rect">
            <a:avLst/>
          </a:prstGeom>
          <a:noFill/>
          <a:ln w="0">
            <a:noFill/>
          </a:ln>
        </p:spPr>
        <p:txBody>
          <a:bodyPr numCol="1" spcCol="0" anchor="t">
            <a:noAutofit/>
          </a:bodyPr>
          <a:lstStyle/>
          <a:p>
            <a:pPr marL="343080" indent="-343080">
              <a:lnSpc>
                <a:spcPct val="100000"/>
              </a:lnSpc>
              <a:spcBef>
                <a:spcPts val="641"/>
              </a:spcBef>
              <a:buClr>
                <a:srgbClr val="000000"/>
              </a:buClr>
              <a:buFont typeface="Arial"/>
              <a:buChar char="•"/>
            </a:pPr>
            <a:r>
              <a:rPr lang="pt-BR" sz="3200" b="0" strike="noStrike" spc="-1" dirty="0">
                <a:solidFill>
                  <a:srgbClr val="000000"/>
                </a:solidFill>
                <a:latin typeface="Calibri"/>
              </a:rPr>
              <a:t>Questões:</a:t>
            </a:r>
          </a:p>
          <a:p>
            <a:pPr marL="343080" indent="-343080">
              <a:lnSpc>
                <a:spcPct val="100000"/>
              </a:lnSpc>
              <a:spcBef>
                <a:spcPts val="439"/>
              </a:spcBef>
              <a:buClr>
                <a:srgbClr val="000000"/>
              </a:buClr>
              <a:buFont typeface="Arial"/>
              <a:buChar char="•"/>
            </a:pPr>
            <a:r>
              <a:rPr lang="pt-BR" sz="2200" b="0" strike="noStrike" spc="-1" dirty="0">
                <a:solidFill>
                  <a:srgbClr val="000000"/>
                </a:solidFill>
                <a:latin typeface="Calibri"/>
              </a:rPr>
              <a:t>Como o comportamento e o desempenho do sistema é testado? </a:t>
            </a:r>
          </a:p>
          <a:p>
            <a:pPr marL="343080" indent="-343080">
              <a:lnSpc>
                <a:spcPct val="100000"/>
              </a:lnSpc>
              <a:spcBef>
                <a:spcPts val="439"/>
              </a:spcBef>
              <a:buClr>
                <a:srgbClr val="000000"/>
              </a:buClr>
              <a:buFont typeface="Arial"/>
              <a:buChar char="•"/>
            </a:pPr>
            <a:r>
              <a:rPr lang="pt-BR" sz="2200" b="0" strike="noStrike" spc="-1" dirty="0">
                <a:solidFill>
                  <a:srgbClr val="000000"/>
                </a:solidFill>
                <a:latin typeface="Calibri"/>
              </a:rPr>
              <a:t>Que classes de entrada farão bons casos de teste?  </a:t>
            </a:r>
          </a:p>
          <a:p>
            <a:pPr marL="343080" indent="-343080">
              <a:lnSpc>
                <a:spcPct val="100000"/>
              </a:lnSpc>
              <a:spcBef>
                <a:spcPts val="439"/>
              </a:spcBef>
              <a:buClr>
                <a:srgbClr val="000000"/>
              </a:buClr>
              <a:buFont typeface="Arial"/>
              <a:buChar char="•"/>
            </a:pPr>
            <a:r>
              <a:rPr lang="pt-BR" sz="2200" b="0" strike="noStrike" spc="-1" dirty="0">
                <a:solidFill>
                  <a:srgbClr val="000000"/>
                </a:solidFill>
                <a:latin typeface="Calibri"/>
              </a:rPr>
              <a:t>O sistema é particularmente sensível a certos valores de entrada? </a:t>
            </a:r>
          </a:p>
          <a:p>
            <a:pPr marL="343080" indent="-343080">
              <a:lnSpc>
                <a:spcPct val="100000"/>
              </a:lnSpc>
              <a:spcBef>
                <a:spcPts val="439"/>
              </a:spcBef>
              <a:buClr>
                <a:srgbClr val="000000"/>
              </a:buClr>
              <a:buFont typeface="Arial"/>
              <a:buChar char="•"/>
            </a:pPr>
            <a:r>
              <a:rPr lang="pt-BR" sz="2200" b="0" strike="noStrike" spc="-1" dirty="0">
                <a:solidFill>
                  <a:srgbClr val="000000"/>
                </a:solidFill>
                <a:latin typeface="Calibri"/>
              </a:rPr>
              <a:t>Como as fronteiras de uma classe de dados é isolada? </a:t>
            </a:r>
          </a:p>
          <a:p>
            <a:pPr marL="343080" indent="-343080">
              <a:lnSpc>
                <a:spcPct val="100000"/>
              </a:lnSpc>
              <a:spcBef>
                <a:spcPts val="439"/>
              </a:spcBef>
              <a:buClr>
                <a:srgbClr val="000000"/>
              </a:buClr>
              <a:buFont typeface="Arial"/>
              <a:buChar char="•"/>
            </a:pPr>
            <a:r>
              <a:rPr lang="pt-BR" sz="2200" b="0" strike="noStrike" spc="-1" dirty="0">
                <a:solidFill>
                  <a:srgbClr val="000000"/>
                </a:solidFill>
                <a:latin typeface="Calibri"/>
              </a:rPr>
              <a:t>Que taxas e volumes de dados o sistema pode tolerar? </a:t>
            </a:r>
          </a:p>
          <a:p>
            <a:pPr marL="343080" indent="-343080">
              <a:lnSpc>
                <a:spcPct val="100000"/>
              </a:lnSpc>
              <a:spcBef>
                <a:spcPts val="439"/>
              </a:spcBef>
              <a:buClr>
                <a:srgbClr val="000000"/>
              </a:buClr>
              <a:buFont typeface="Arial"/>
              <a:buChar char="•"/>
            </a:pPr>
            <a:r>
              <a:rPr lang="pt-BR" sz="2200" b="0" strike="noStrike" spc="-1" dirty="0">
                <a:solidFill>
                  <a:srgbClr val="000000"/>
                </a:solidFill>
                <a:latin typeface="Calibri"/>
              </a:rPr>
              <a:t>Que efeito combinações específicas de dados terão sobre a operação do sistema?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PlaceHolder 1"/>
          <p:cNvSpPr>
            <a:spLocks noGrp="1"/>
          </p:cNvSpPr>
          <p:nvPr>
            <p:ph type="title" idx="4294967295"/>
          </p:nvPr>
        </p:nvSpPr>
        <p:spPr>
          <a:xfrm>
            <a:off x="609480" y="274680"/>
            <a:ext cx="9550080" cy="1142640"/>
          </a:xfrm>
          <a:prstGeom prst="rect">
            <a:avLst/>
          </a:prstGeom>
          <a:noFill/>
          <a:ln w="0">
            <a:noFill/>
          </a:ln>
        </p:spPr>
        <p:txBody>
          <a:bodyPr numCol="1" spcCol="0" anchor="ctr">
            <a:noAutofit/>
          </a:bodyPr>
          <a:lstStyle/>
          <a:p>
            <a:pPr indent="0" algn="ctr">
              <a:lnSpc>
                <a:spcPct val="100000"/>
              </a:lnSpc>
              <a:buNone/>
            </a:pPr>
            <a:r>
              <a:rPr lang="pt-BR" sz="4400" b="0" strike="noStrike" spc="-1" dirty="0">
                <a:solidFill>
                  <a:srgbClr val="000000"/>
                </a:solidFill>
                <a:latin typeface="Calibri"/>
              </a:rPr>
              <a:t>Métodos de Teste Caixa  </a:t>
            </a:r>
            <a:r>
              <a:rPr lang="pt-BR" spc="-1" dirty="0">
                <a:solidFill>
                  <a:srgbClr val="000000"/>
                </a:solidFill>
                <a:latin typeface="Calibri"/>
              </a:rPr>
              <a:t>P</a:t>
            </a:r>
            <a:r>
              <a:rPr lang="pt-BR" sz="4400" b="0" strike="noStrike" spc="-1" dirty="0">
                <a:solidFill>
                  <a:srgbClr val="000000"/>
                </a:solidFill>
                <a:latin typeface="Calibri"/>
              </a:rPr>
              <a:t>reta</a:t>
            </a:r>
          </a:p>
        </p:txBody>
      </p:sp>
      <p:sp>
        <p:nvSpPr>
          <p:cNvPr id="208" name="PlaceHolder 2"/>
          <p:cNvSpPr>
            <a:spLocks noGrp="1"/>
          </p:cNvSpPr>
          <p:nvPr>
            <p:ph idx="4294967295"/>
          </p:nvPr>
        </p:nvSpPr>
        <p:spPr>
          <a:xfrm>
            <a:off x="609480" y="1600200"/>
            <a:ext cx="10972440" cy="4525560"/>
          </a:xfrm>
          <a:prstGeom prst="rect">
            <a:avLst/>
          </a:prstGeom>
          <a:noFill/>
          <a:ln w="0">
            <a:solidFill>
              <a:schemeClr val="accent1"/>
            </a:solidFill>
          </a:ln>
        </p:spPr>
        <p:txBody>
          <a:bodyPr numCol="1" spcCol="0" anchor="t">
            <a:noAutofit/>
          </a:bodyPr>
          <a:lstStyle/>
          <a:p>
            <a:pPr marL="914400" lvl="1" indent="-457200">
              <a:lnSpc>
                <a:spcPct val="100000"/>
              </a:lnSpc>
              <a:spcBef>
                <a:spcPts val="439"/>
              </a:spcBef>
              <a:buClr>
                <a:srgbClr val="000000"/>
              </a:buClr>
              <a:buFont typeface="+mj-lt"/>
              <a:buAutoNum type="arabicPeriod"/>
            </a:pPr>
            <a:r>
              <a:rPr lang="pt-BR" strike="noStrike" spc="-1" dirty="0">
                <a:solidFill>
                  <a:srgbClr val="000000"/>
                </a:solidFill>
                <a:latin typeface="Calibri"/>
              </a:rPr>
              <a:t>Métodos de teste com base em grafo: </a:t>
            </a:r>
            <a:r>
              <a:rPr lang="pt-BR" dirty="0"/>
              <a:t>usa modelos de fluxo de controle, estados ou transições.</a:t>
            </a:r>
            <a:endParaRPr lang="pt-BR" strike="noStrike" spc="-1" dirty="0">
              <a:solidFill>
                <a:srgbClr val="000000"/>
              </a:solidFill>
              <a:latin typeface="Calibri"/>
            </a:endParaRPr>
          </a:p>
          <a:p>
            <a:pPr marL="914400" lvl="1" indent="-457200">
              <a:lnSpc>
                <a:spcPct val="100000"/>
              </a:lnSpc>
              <a:spcBef>
                <a:spcPts val="439"/>
              </a:spcBef>
              <a:buClr>
                <a:srgbClr val="000000"/>
              </a:buClr>
              <a:buFont typeface="+mj-lt"/>
              <a:buAutoNum type="arabicPeriod"/>
            </a:pPr>
            <a:r>
              <a:rPr lang="pt-BR" strike="noStrike" spc="-1" dirty="0" err="1">
                <a:solidFill>
                  <a:srgbClr val="000000"/>
                </a:solidFill>
                <a:latin typeface="Calibri"/>
              </a:rPr>
              <a:t>Particionamento</a:t>
            </a:r>
            <a:r>
              <a:rPr lang="pt-BR" strike="noStrike" spc="-1" dirty="0">
                <a:solidFill>
                  <a:srgbClr val="000000"/>
                </a:solidFill>
                <a:latin typeface="Calibri"/>
              </a:rPr>
              <a:t> de </a:t>
            </a:r>
            <a:r>
              <a:rPr lang="pt-BR" strike="noStrike" spc="-1" dirty="0" err="1">
                <a:solidFill>
                  <a:srgbClr val="000000"/>
                </a:solidFill>
                <a:latin typeface="Calibri"/>
              </a:rPr>
              <a:t>equivalência:</a:t>
            </a:r>
            <a:r>
              <a:rPr lang="pt-BR" dirty="0" err="1"/>
              <a:t>divide</a:t>
            </a:r>
            <a:r>
              <a:rPr lang="pt-BR" dirty="0"/>
              <a:t> entradas em classes que se comportam de forma semelhante.</a:t>
            </a:r>
            <a:endParaRPr lang="pt-BR" strike="noStrike" spc="-1" dirty="0">
              <a:solidFill>
                <a:srgbClr val="000000"/>
              </a:solidFill>
              <a:latin typeface="Calibri"/>
            </a:endParaRPr>
          </a:p>
          <a:p>
            <a:pPr marL="914400" lvl="1" indent="-457200">
              <a:lnSpc>
                <a:spcPct val="100000"/>
              </a:lnSpc>
              <a:spcBef>
                <a:spcPts val="439"/>
              </a:spcBef>
              <a:buClr>
                <a:srgbClr val="000000"/>
              </a:buClr>
              <a:buFont typeface="+mj-lt"/>
              <a:buAutoNum type="arabicPeriod"/>
            </a:pPr>
            <a:r>
              <a:rPr lang="pt-BR" strike="noStrike" spc="-1" dirty="0">
                <a:solidFill>
                  <a:srgbClr val="000000"/>
                </a:solidFill>
                <a:latin typeface="Calibri"/>
              </a:rPr>
              <a:t>Análise de </a:t>
            </a:r>
            <a:r>
              <a:rPr lang="pt-BR" strike="noStrike" spc="-1" dirty="0" err="1">
                <a:solidFill>
                  <a:srgbClr val="000000"/>
                </a:solidFill>
                <a:latin typeface="Calibri"/>
              </a:rPr>
              <a:t>valores-limite:</a:t>
            </a:r>
            <a:r>
              <a:rPr lang="pt-BR" dirty="0" err="1"/>
              <a:t>testa</a:t>
            </a:r>
            <a:r>
              <a:rPr lang="pt-BR" dirty="0"/>
              <a:t> limites entre classes de equivalência.</a:t>
            </a:r>
            <a:endParaRPr lang="pt-BR" strike="noStrike" spc="-1" dirty="0">
              <a:solidFill>
                <a:srgbClr val="000000"/>
              </a:solidFill>
              <a:latin typeface="Calibri"/>
            </a:endParaRPr>
          </a:p>
          <a:p>
            <a:pPr marL="914400" lvl="1" indent="-457200">
              <a:lnSpc>
                <a:spcPct val="100000"/>
              </a:lnSpc>
              <a:spcBef>
                <a:spcPts val="439"/>
              </a:spcBef>
              <a:buClr>
                <a:srgbClr val="000000"/>
              </a:buClr>
              <a:buFont typeface="+mj-lt"/>
              <a:buAutoNum type="arabicPeriod"/>
            </a:pPr>
            <a:r>
              <a:rPr lang="pt-BR" spc="-1" dirty="0">
                <a:solidFill>
                  <a:srgbClr val="000000"/>
                </a:solidFill>
                <a:latin typeface="Calibri"/>
              </a:rPr>
              <a:t>Teste de matriz ortogonal: </a:t>
            </a:r>
            <a:r>
              <a:rPr lang="pt-BR" dirty="0"/>
              <a:t>combina entradas de forma sistemática para cobrir interações entre variáveis. Desenvolvidas no contexto do Design </a:t>
            </a:r>
            <a:r>
              <a:rPr lang="pt-BR" dirty="0" err="1"/>
              <a:t>of</a:t>
            </a:r>
            <a:r>
              <a:rPr lang="pt-BR" dirty="0"/>
              <a:t> </a:t>
            </a:r>
            <a:r>
              <a:rPr lang="pt-BR" dirty="0" err="1"/>
              <a:t>Experiments</a:t>
            </a:r>
            <a:r>
              <a:rPr lang="pt-BR" dirty="0"/>
              <a:t> (DOE) por </a:t>
            </a:r>
            <a:r>
              <a:rPr lang="pt-BR" dirty="0" err="1"/>
              <a:t>Genichi</a:t>
            </a:r>
            <a:r>
              <a:rPr lang="pt-BR" dirty="0"/>
              <a:t> Taguchi, e são usadas em testes combinatórios.</a:t>
            </a:r>
            <a:endParaRPr lang="pt-BR" strike="noStrike" spc="-1" dirty="0">
              <a:solidFill>
                <a:srgbClr val="000000"/>
              </a:solidFill>
              <a:latin typeface="Calibri"/>
            </a:endParaRPr>
          </a:p>
        </p:txBody>
      </p:sp>
    </p:spTree>
    <p:extLst>
      <p:ext uri="{BB962C8B-B14F-4D97-AF65-F5344CB8AC3E}">
        <p14:creationId xmlns:p14="http://schemas.microsoft.com/office/powerpoint/2010/main" val="36649516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PlaceHolder 1"/>
          <p:cNvSpPr>
            <a:spLocks noGrp="1"/>
          </p:cNvSpPr>
          <p:nvPr>
            <p:ph type="title"/>
          </p:nvPr>
        </p:nvSpPr>
        <p:spPr>
          <a:xfrm>
            <a:off x="609480" y="274680"/>
            <a:ext cx="9550080" cy="1142640"/>
          </a:xfrm>
          <a:prstGeom prst="rect">
            <a:avLst/>
          </a:prstGeom>
          <a:noFill/>
          <a:ln w="0">
            <a:noFill/>
          </a:ln>
        </p:spPr>
        <p:txBody>
          <a:bodyPr numCol="1" spcCol="0" anchor="ctr">
            <a:noAutofit/>
          </a:bodyPr>
          <a:lstStyle/>
          <a:p>
            <a:pPr indent="0" algn="ctr">
              <a:lnSpc>
                <a:spcPct val="100000"/>
              </a:lnSpc>
              <a:buNone/>
            </a:pPr>
            <a:r>
              <a:rPr lang="pt-BR" sz="4400" b="0" strike="noStrike" spc="-1">
                <a:solidFill>
                  <a:srgbClr val="000000"/>
                </a:solidFill>
                <a:latin typeface="Calibri"/>
              </a:rPr>
              <a:t>Métodos de teste com base em grafo</a:t>
            </a:r>
          </a:p>
        </p:txBody>
      </p:sp>
      <p:sp>
        <p:nvSpPr>
          <p:cNvPr id="210" name="PlaceHolder 2"/>
          <p:cNvSpPr>
            <a:spLocks noGrp="1"/>
          </p:cNvSpPr>
          <p:nvPr>
            <p:ph/>
          </p:nvPr>
        </p:nvSpPr>
        <p:spPr>
          <a:xfrm>
            <a:off x="609480" y="1600200"/>
            <a:ext cx="10972440" cy="4525560"/>
          </a:xfrm>
          <a:prstGeom prst="rect">
            <a:avLst/>
          </a:prstGeom>
          <a:noFill/>
          <a:ln w="0">
            <a:noFill/>
          </a:ln>
        </p:spPr>
        <p:txBody>
          <a:bodyPr numCol="1" spcCol="0" anchor="t">
            <a:noAutofit/>
          </a:bodyPr>
          <a:lstStyle/>
          <a:p>
            <a:pPr marL="343080" indent="-343080">
              <a:lnSpc>
                <a:spcPct val="100000"/>
              </a:lnSpc>
              <a:spcBef>
                <a:spcPts val="641"/>
              </a:spcBef>
              <a:buClr>
                <a:srgbClr val="000000"/>
              </a:buClr>
              <a:buFont typeface="Arial"/>
              <a:buChar char="•"/>
            </a:pPr>
            <a:r>
              <a:rPr lang="pt-BR" sz="3200" b="0" strike="noStrike" spc="-1" dirty="0">
                <a:solidFill>
                  <a:srgbClr val="000000"/>
                </a:solidFill>
                <a:latin typeface="Calibri"/>
              </a:rPr>
              <a:t>O teste do software começa criando um grafo de objetos importantes e suas relações e então imaginando uma série de testes que abrangerá o grafo de forma que cada objeto e relação sejam exercitados e os erros sejam descobertos</a:t>
            </a:r>
          </a:p>
          <a:p>
            <a:pPr marL="343080" indent="-343080">
              <a:lnSpc>
                <a:spcPct val="100000"/>
              </a:lnSpc>
              <a:spcBef>
                <a:spcPts val="641"/>
              </a:spcBef>
              <a:buClr>
                <a:srgbClr val="000000"/>
              </a:buClr>
              <a:buFont typeface="Arial"/>
              <a:buChar char="•"/>
            </a:pPr>
            <a:r>
              <a:rPr lang="pt-BR" sz="3200" b="0" strike="noStrike" spc="-1" dirty="0">
                <a:solidFill>
                  <a:srgbClr val="000000"/>
                </a:solidFill>
                <a:latin typeface="Calibri"/>
              </a:rPr>
              <a:t>Grafo — uma coleção de nós que representam objetos, ligações que representam as relações entre objetos, pesos que descrevem as propriedades de um nó (por exemplo, o valor específico de um dado ou comportamento de estado), e pesos de ligação (link </a:t>
            </a:r>
            <a:r>
              <a:rPr lang="pt-BR" sz="3200" b="0" strike="noStrike" spc="-1" dirty="0" err="1">
                <a:solidFill>
                  <a:srgbClr val="000000"/>
                </a:solidFill>
                <a:latin typeface="Calibri"/>
              </a:rPr>
              <a:t>weights</a:t>
            </a:r>
            <a:r>
              <a:rPr lang="pt-BR" sz="3200" b="0" strike="noStrike" spc="-1" dirty="0">
                <a:solidFill>
                  <a:srgbClr val="000000"/>
                </a:solidFill>
                <a:latin typeface="Calibri"/>
              </a:rPr>
              <a:t>) que descrevem alguma característica de uma ligação.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PlaceHolder 1"/>
          <p:cNvSpPr>
            <a:spLocks noGrp="1"/>
          </p:cNvSpPr>
          <p:nvPr>
            <p:ph type="title"/>
          </p:nvPr>
        </p:nvSpPr>
        <p:spPr>
          <a:xfrm>
            <a:off x="609480" y="274680"/>
            <a:ext cx="9550080" cy="1142640"/>
          </a:xfrm>
          <a:prstGeom prst="rect">
            <a:avLst/>
          </a:prstGeom>
          <a:noFill/>
          <a:ln w="0">
            <a:noFill/>
          </a:ln>
        </p:spPr>
        <p:txBody>
          <a:bodyPr numCol="1" spcCol="0" anchor="ctr">
            <a:noAutofit/>
          </a:bodyPr>
          <a:lstStyle/>
          <a:p>
            <a:pPr indent="0" algn="ctr">
              <a:lnSpc>
                <a:spcPct val="100000"/>
              </a:lnSpc>
              <a:buNone/>
            </a:pPr>
            <a:r>
              <a:rPr lang="pt-BR" sz="4400" b="0" strike="noStrike" spc="-1">
                <a:solidFill>
                  <a:srgbClr val="000000"/>
                </a:solidFill>
                <a:latin typeface="Calibri"/>
              </a:rPr>
              <a:t>Notação de Grafo</a:t>
            </a:r>
          </a:p>
        </p:txBody>
      </p:sp>
      <p:sp>
        <p:nvSpPr>
          <p:cNvPr id="212" name="PlaceHolder 2"/>
          <p:cNvSpPr>
            <a:spLocks noGrp="1"/>
          </p:cNvSpPr>
          <p:nvPr>
            <p:ph/>
          </p:nvPr>
        </p:nvSpPr>
        <p:spPr>
          <a:xfrm>
            <a:off x="609480" y="1600200"/>
            <a:ext cx="10972440" cy="4525560"/>
          </a:xfrm>
          <a:prstGeom prst="rect">
            <a:avLst/>
          </a:prstGeom>
          <a:noFill/>
          <a:ln w="0">
            <a:noFill/>
          </a:ln>
        </p:spPr>
        <p:txBody>
          <a:bodyPr numCol="1" spcCol="0" anchor="t">
            <a:noAutofit/>
          </a:bodyPr>
          <a:lstStyle/>
          <a:p>
            <a:pPr marL="343080" indent="-343080">
              <a:lnSpc>
                <a:spcPct val="100000"/>
              </a:lnSpc>
              <a:spcBef>
                <a:spcPts val="641"/>
              </a:spcBef>
              <a:buClr>
                <a:srgbClr val="000000"/>
              </a:buClr>
              <a:buFont typeface="Arial"/>
              <a:buChar char="•"/>
            </a:pPr>
            <a:r>
              <a:rPr lang="pt-BR" sz="3200" b="0" strike="noStrike" spc="-1">
                <a:solidFill>
                  <a:srgbClr val="000000"/>
                </a:solidFill>
                <a:latin typeface="Calibri"/>
              </a:rPr>
              <a:t>Ligações paralelas são usadas quando várias relações diferentes são estabelecidas entre os nós do grafo.</a:t>
            </a:r>
          </a:p>
        </p:txBody>
      </p:sp>
      <p:pic>
        <p:nvPicPr>
          <p:cNvPr id="213" name="Imagem 6"/>
          <p:cNvPicPr/>
          <p:nvPr/>
        </p:nvPicPr>
        <p:blipFill>
          <a:blip r:embed="rId2"/>
          <a:stretch/>
        </p:blipFill>
        <p:spPr>
          <a:xfrm>
            <a:off x="1300320" y="2988360"/>
            <a:ext cx="6428880" cy="2647440"/>
          </a:xfrm>
          <a:prstGeom prst="rect">
            <a:avLst/>
          </a:prstGeom>
          <a:ln w="0">
            <a:noFill/>
          </a:ln>
        </p:spPr>
      </p:pic>
      <p:sp>
        <p:nvSpPr>
          <p:cNvPr id="214" name="CaixaDeTexto 8"/>
          <p:cNvSpPr/>
          <p:nvPr/>
        </p:nvSpPr>
        <p:spPr>
          <a:xfrm>
            <a:off x="8420760" y="2690280"/>
            <a:ext cx="3531960" cy="2558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pt-BR" sz="1800" b="0" strike="noStrike" spc="-1">
                <a:solidFill>
                  <a:srgbClr val="000000"/>
                </a:solidFill>
                <a:latin typeface="Calibri"/>
              </a:rPr>
              <a:t>uma seleção de menu em arquivoNovo gera uma janela de documento. O peso do nó de janelaDeDocumento fornece uma lista dos atributos de janela que devem ser esperados quando a janela é gerada. O peso da ligação indica que a janela deve ser gerada em menos de 1,0 segundo</a:t>
            </a:r>
            <a:endParaRPr lang="pt-BR" sz="1800" b="0" strike="noStrike" spc="-1">
              <a:solidFill>
                <a:srgbClr val="000000"/>
              </a:solidFill>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609480" y="274680"/>
            <a:ext cx="9550080" cy="1142640"/>
          </a:xfrm>
          <a:prstGeom prst="rect">
            <a:avLst/>
          </a:prstGeom>
          <a:noFill/>
          <a:ln w="0">
            <a:noFill/>
          </a:ln>
        </p:spPr>
        <p:txBody>
          <a:bodyPr numCol="1" spcCol="0" anchor="ctr">
            <a:noAutofit/>
          </a:bodyPr>
          <a:lstStyle/>
          <a:p>
            <a:pPr indent="0" algn="ctr">
              <a:lnSpc>
                <a:spcPct val="100000"/>
              </a:lnSpc>
              <a:buNone/>
            </a:pPr>
            <a:r>
              <a:rPr lang="pt-BR" sz="4400" b="0" strike="noStrike" spc="-1">
                <a:solidFill>
                  <a:srgbClr val="000000"/>
                </a:solidFill>
                <a:latin typeface="Calibri"/>
              </a:rPr>
              <a:t>Casos de teste para o grafo</a:t>
            </a:r>
          </a:p>
        </p:txBody>
      </p:sp>
      <p:sp>
        <p:nvSpPr>
          <p:cNvPr id="216" name="PlaceHolder 2"/>
          <p:cNvSpPr>
            <a:spLocks noGrp="1"/>
          </p:cNvSpPr>
          <p:nvPr>
            <p:ph/>
          </p:nvPr>
        </p:nvSpPr>
        <p:spPr>
          <a:xfrm>
            <a:off x="609480" y="1600200"/>
            <a:ext cx="10972440" cy="4525560"/>
          </a:xfrm>
          <a:prstGeom prst="rect">
            <a:avLst/>
          </a:prstGeom>
          <a:noFill/>
          <a:ln w="0">
            <a:noFill/>
          </a:ln>
        </p:spPr>
        <p:txBody>
          <a:bodyPr numCol="1" spcCol="0" anchor="t">
            <a:noAutofit/>
          </a:bodyPr>
          <a:lstStyle/>
          <a:p>
            <a:pPr marL="343080" indent="-343080">
              <a:lnSpc>
                <a:spcPct val="100000"/>
              </a:lnSpc>
              <a:spcBef>
                <a:spcPts val="641"/>
              </a:spcBef>
              <a:buClr>
                <a:srgbClr val="000000"/>
              </a:buClr>
              <a:buFont typeface="Arial"/>
              <a:buChar char="•"/>
            </a:pPr>
            <a:r>
              <a:rPr lang="pt-BR" sz="3200" b="0" strike="noStrike" spc="-1">
                <a:solidFill>
                  <a:srgbClr val="000000"/>
                </a:solidFill>
                <a:latin typeface="Calibri"/>
              </a:rPr>
              <a:t>Criar casos de teste atravessando o grafo e percorrendo cada uma das relações mostradas. Esses casos de teste são projetados numa tentativa de encontrar erros em qualquer uma das relações</a:t>
            </a:r>
          </a:p>
          <a:p>
            <a:pPr marL="343080" indent="-343080">
              <a:lnSpc>
                <a:spcPct val="100000"/>
              </a:lnSpc>
              <a:spcBef>
                <a:spcPts val="641"/>
              </a:spcBef>
              <a:buClr>
                <a:srgbClr val="000000"/>
              </a:buClr>
              <a:buFont typeface="Arial"/>
              <a:buChar char="•"/>
            </a:pPr>
            <a:r>
              <a:rPr lang="pt-BR" sz="3200" b="0" strike="noStrike" spc="-1">
                <a:solidFill>
                  <a:srgbClr val="000000"/>
                </a:solidFill>
                <a:latin typeface="Calibri"/>
              </a:rPr>
              <a:t>Beizer [Bei95] descreve uma série de métodos de teste comportamental que utilizam grafos:</a:t>
            </a:r>
          </a:p>
          <a:p>
            <a:pPr marL="743040" lvl="1" indent="-285840">
              <a:lnSpc>
                <a:spcPct val="100000"/>
              </a:lnSpc>
              <a:spcBef>
                <a:spcPts val="561"/>
              </a:spcBef>
              <a:buClr>
                <a:srgbClr val="000000"/>
              </a:buClr>
              <a:buFont typeface="Arial"/>
              <a:buChar char="–"/>
            </a:pPr>
            <a:r>
              <a:rPr lang="pt-BR" sz="2800" b="0" strike="noStrike" spc="-1">
                <a:solidFill>
                  <a:srgbClr val="000000"/>
                </a:solidFill>
                <a:latin typeface="Calibri"/>
              </a:rPr>
              <a:t>Modelagem de fluxo de transação: nós indicam passos na transação.</a:t>
            </a:r>
          </a:p>
          <a:p>
            <a:pPr marL="743040" lvl="1" indent="-285840">
              <a:lnSpc>
                <a:spcPct val="100000"/>
              </a:lnSpc>
              <a:spcBef>
                <a:spcPts val="561"/>
              </a:spcBef>
              <a:buClr>
                <a:srgbClr val="000000"/>
              </a:buClr>
              <a:buFont typeface="Arial"/>
              <a:buChar char="–"/>
            </a:pPr>
            <a:r>
              <a:rPr lang="pt-BR" sz="2800" b="0" strike="noStrike" spc="-1">
                <a:solidFill>
                  <a:srgbClr val="000000"/>
                </a:solidFill>
                <a:latin typeface="Calibri"/>
              </a:rPr>
              <a:t>Modelagem de estado finito: nós são estados</a:t>
            </a:r>
          </a:p>
          <a:p>
            <a:pPr marL="743040" lvl="1" indent="-285840">
              <a:lnSpc>
                <a:spcPct val="100000"/>
              </a:lnSpc>
              <a:spcBef>
                <a:spcPts val="561"/>
              </a:spcBef>
              <a:buClr>
                <a:srgbClr val="000000"/>
              </a:buClr>
              <a:buFont typeface="Arial"/>
              <a:buChar char="–"/>
            </a:pPr>
            <a:r>
              <a:rPr lang="pt-BR" sz="2800" b="0" strike="noStrike" spc="-1">
                <a:solidFill>
                  <a:srgbClr val="000000"/>
                </a:solidFill>
                <a:latin typeface="Calibri"/>
              </a:rPr>
              <a:t>Modelagem de fluxo de dados: nós são objetos dados</a:t>
            </a:r>
          </a:p>
          <a:p>
            <a:pPr marL="743040" lvl="1" indent="-285840">
              <a:lnSpc>
                <a:spcPct val="100000"/>
              </a:lnSpc>
              <a:spcBef>
                <a:spcPts val="561"/>
              </a:spcBef>
              <a:buClr>
                <a:srgbClr val="000000"/>
              </a:buClr>
              <a:buFont typeface="Arial"/>
              <a:buChar char="–"/>
            </a:pPr>
            <a:r>
              <a:rPr lang="pt-BR" sz="2800" b="0" strike="noStrike" spc="-1">
                <a:solidFill>
                  <a:srgbClr val="000000"/>
                </a:solidFill>
                <a:latin typeface="Calibri"/>
              </a:rPr>
              <a:t>Modelagem no tempo:nós são objetos de programa.</a:t>
            </a:r>
          </a:p>
        </p:txBody>
      </p:sp>
      <p:sp>
        <p:nvSpPr>
          <p:cNvPr id="217" name="CaixaDeTexto 4"/>
          <p:cNvSpPr/>
          <p:nvPr/>
        </p:nvSpPr>
        <p:spPr>
          <a:xfrm>
            <a:off x="9142560" y="6488640"/>
            <a:ext cx="609840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pt-BR" sz="1800" b="0" strike="noStrike" spc="-1">
                <a:solidFill>
                  <a:srgbClr val="000000"/>
                </a:solidFill>
                <a:latin typeface="Calibri"/>
              </a:rPr>
              <a:t>Pressman, pg441</a:t>
            </a:r>
            <a:endParaRPr lang="pt-BR" sz="1800" b="0" strike="noStrike" spc="-1">
              <a:solidFill>
                <a:srgbClr val="000000"/>
              </a:solidFill>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609480" y="274680"/>
            <a:ext cx="9550080" cy="1142640"/>
          </a:xfrm>
          <a:prstGeom prst="rect">
            <a:avLst/>
          </a:prstGeom>
          <a:noFill/>
          <a:ln w="0">
            <a:noFill/>
          </a:ln>
        </p:spPr>
        <p:txBody>
          <a:bodyPr numCol="1" spcCol="0" anchor="ctr">
            <a:noAutofit/>
          </a:bodyPr>
          <a:lstStyle/>
          <a:p>
            <a:pPr indent="0" algn="ctr">
              <a:lnSpc>
                <a:spcPct val="100000"/>
              </a:lnSpc>
              <a:buNone/>
            </a:pPr>
            <a:r>
              <a:rPr lang="pt-BR" sz="4400" b="0" strike="noStrike" spc="-1">
                <a:solidFill>
                  <a:srgbClr val="000000"/>
                </a:solidFill>
                <a:latin typeface="Calibri"/>
              </a:rPr>
              <a:t>Particionamento de equivalência</a:t>
            </a:r>
          </a:p>
        </p:txBody>
      </p:sp>
      <p:sp>
        <p:nvSpPr>
          <p:cNvPr id="219" name="PlaceHolder 2"/>
          <p:cNvSpPr>
            <a:spLocks noGrp="1"/>
          </p:cNvSpPr>
          <p:nvPr>
            <p:ph/>
          </p:nvPr>
        </p:nvSpPr>
        <p:spPr>
          <a:xfrm>
            <a:off x="609480" y="1600200"/>
            <a:ext cx="10972440" cy="4525560"/>
          </a:xfrm>
          <a:prstGeom prst="rect">
            <a:avLst/>
          </a:prstGeom>
          <a:noFill/>
          <a:ln w="0">
            <a:noFill/>
          </a:ln>
        </p:spPr>
        <p:txBody>
          <a:bodyPr numCol="1" spcCol="0" anchor="t">
            <a:noAutofit/>
          </a:bodyPr>
          <a:lstStyle/>
          <a:p>
            <a:pPr marL="343080" indent="-343080">
              <a:lnSpc>
                <a:spcPct val="100000"/>
              </a:lnSpc>
              <a:spcBef>
                <a:spcPts val="641"/>
              </a:spcBef>
              <a:buClr>
                <a:srgbClr val="000000"/>
              </a:buClr>
              <a:buFont typeface="Arial"/>
              <a:buChar char="•"/>
            </a:pPr>
            <a:r>
              <a:rPr lang="pt-BR" sz="3200" b="0" strike="noStrike" spc="-1">
                <a:solidFill>
                  <a:srgbClr val="000000"/>
                </a:solidFill>
                <a:latin typeface="Calibri"/>
              </a:rPr>
              <a:t>Divide o domínio de entrada de um programa em classes de dados a partir das quais podem ser criados casos de teste.</a:t>
            </a:r>
          </a:p>
          <a:p>
            <a:pPr marL="343080" indent="-343080">
              <a:lnSpc>
                <a:spcPct val="100000"/>
              </a:lnSpc>
              <a:spcBef>
                <a:spcPts val="641"/>
              </a:spcBef>
              <a:buClr>
                <a:srgbClr val="000000"/>
              </a:buClr>
              <a:buFont typeface="Arial"/>
              <a:buChar char="•"/>
            </a:pPr>
            <a:r>
              <a:rPr lang="pt-BR" sz="3200" b="0" strike="noStrike" spc="-1">
                <a:solidFill>
                  <a:srgbClr val="000000"/>
                </a:solidFill>
                <a:latin typeface="Calibri"/>
              </a:rPr>
              <a:t>Tem como base a avaliação das classes de equivalência para uma condição de entrada. </a:t>
            </a:r>
          </a:p>
          <a:p>
            <a:pPr marL="343080" indent="-343080">
              <a:lnSpc>
                <a:spcPct val="100000"/>
              </a:lnSpc>
              <a:spcBef>
                <a:spcPts val="641"/>
              </a:spcBef>
              <a:buClr>
                <a:srgbClr val="000000"/>
              </a:buClr>
              <a:buFont typeface="Arial"/>
              <a:buChar char="•"/>
            </a:pPr>
            <a:r>
              <a:rPr lang="pt-BR" sz="3200" b="0" strike="noStrike" spc="-1">
                <a:solidFill>
                  <a:srgbClr val="000000"/>
                </a:solidFill>
                <a:latin typeface="Calibri"/>
              </a:rPr>
              <a:t>Uma classe de equivalência representa um conjunto de estados válidos ou inválidos para condições de entrada. </a:t>
            </a:r>
          </a:p>
          <a:p>
            <a:pPr marL="343080" indent="-343080">
              <a:lnSpc>
                <a:spcPct val="100000"/>
              </a:lnSpc>
              <a:spcBef>
                <a:spcPts val="641"/>
              </a:spcBef>
              <a:buClr>
                <a:srgbClr val="000000"/>
              </a:buClr>
              <a:buFont typeface="Arial"/>
              <a:buChar char="•"/>
            </a:pPr>
            <a:r>
              <a:rPr lang="pt-BR" sz="3200" b="0" strike="noStrike" spc="-1">
                <a:solidFill>
                  <a:srgbClr val="000000"/>
                </a:solidFill>
                <a:latin typeface="Calibri"/>
              </a:rPr>
              <a:t>Condição de entrada é um valor numérico específico, um intervalo de valores, um conjunto de valores relacionados ou uma condição booleana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PlaceHolder 1"/>
          <p:cNvSpPr>
            <a:spLocks noGrp="1"/>
          </p:cNvSpPr>
          <p:nvPr>
            <p:ph type="title"/>
          </p:nvPr>
        </p:nvSpPr>
        <p:spPr>
          <a:xfrm>
            <a:off x="609480" y="274680"/>
            <a:ext cx="9550080" cy="1142640"/>
          </a:xfrm>
          <a:prstGeom prst="rect">
            <a:avLst/>
          </a:prstGeom>
          <a:noFill/>
          <a:ln w="0">
            <a:noFill/>
          </a:ln>
        </p:spPr>
        <p:txBody>
          <a:bodyPr numCol="1" spcCol="0" anchor="ctr">
            <a:noAutofit/>
          </a:bodyPr>
          <a:lstStyle/>
          <a:p>
            <a:pPr indent="0" algn="ctr">
              <a:lnSpc>
                <a:spcPct val="100000"/>
              </a:lnSpc>
              <a:buNone/>
            </a:pPr>
            <a:r>
              <a:rPr lang="pt-BR" sz="4400" b="0" strike="noStrike" spc="-1">
                <a:solidFill>
                  <a:srgbClr val="000000"/>
                </a:solidFill>
                <a:latin typeface="Calibri"/>
              </a:rPr>
              <a:t>Classes de Equivalência: regras de definição</a:t>
            </a:r>
          </a:p>
        </p:txBody>
      </p:sp>
      <p:sp>
        <p:nvSpPr>
          <p:cNvPr id="221" name="PlaceHolder 2"/>
          <p:cNvSpPr>
            <a:spLocks noGrp="1"/>
          </p:cNvSpPr>
          <p:nvPr>
            <p:ph/>
          </p:nvPr>
        </p:nvSpPr>
        <p:spPr>
          <a:xfrm>
            <a:off x="609480" y="1600200"/>
            <a:ext cx="10972440" cy="4525560"/>
          </a:xfrm>
          <a:prstGeom prst="rect">
            <a:avLst/>
          </a:prstGeom>
          <a:noFill/>
          <a:ln w="0">
            <a:noFill/>
          </a:ln>
        </p:spPr>
        <p:txBody>
          <a:bodyPr numCol="1" spcCol="0" anchor="t">
            <a:noAutofit/>
          </a:bodyPr>
          <a:lstStyle/>
          <a:p>
            <a:pPr marL="514440" indent="-514440">
              <a:lnSpc>
                <a:spcPct val="100000"/>
              </a:lnSpc>
              <a:spcBef>
                <a:spcPts val="641"/>
              </a:spcBef>
              <a:buClr>
                <a:srgbClr val="000000"/>
              </a:buClr>
              <a:buFont typeface="Arial"/>
              <a:buAutoNum type="arabicPeriod"/>
            </a:pPr>
            <a:r>
              <a:rPr lang="pt-BR" sz="3200" b="0" strike="noStrike" spc="-1">
                <a:solidFill>
                  <a:srgbClr val="000000"/>
                </a:solidFill>
                <a:latin typeface="Calibri"/>
              </a:rPr>
              <a:t>Se uma condição de entrada </a:t>
            </a:r>
            <a:r>
              <a:rPr lang="pt-BR" sz="3200" b="0" strike="noStrike" spc="-1">
                <a:solidFill>
                  <a:srgbClr val="FF0000"/>
                </a:solidFill>
                <a:latin typeface="Calibri"/>
              </a:rPr>
              <a:t>especifica um intervalo</a:t>
            </a:r>
            <a:r>
              <a:rPr lang="pt-BR" sz="3200" b="0" strike="noStrike" spc="-1">
                <a:solidFill>
                  <a:srgbClr val="000000"/>
                </a:solidFill>
                <a:latin typeface="Calibri"/>
              </a:rPr>
              <a:t>, são definidas uma classe de equivalência válida e duas classes de equivalência inválidas. </a:t>
            </a:r>
          </a:p>
          <a:p>
            <a:pPr marL="514440" indent="-514440">
              <a:lnSpc>
                <a:spcPct val="100000"/>
              </a:lnSpc>
              <a:spcBef>
                <a:spcPts val="641"/>
              </a:spcBef>
              <a:buClr>
                <a:srgbClr val="000000"/>
              </a:buClr>
              <a:buFont typeface="Arial"/>
              <a:buAutoNum type="arabicPeriod"/>
            </a:pPr>
            <a:r>
              <a:rPr lang="pt-BR" sz="3200" b="0" strike="noStrike" spc="-1">
                <a:solidFill>
                  <a:srgbClr val="000000"/>
                </a:solidFill>
                <a:latin typeface="Calibri"/>
              </a:rPr>
              <a:t>Se uma condição de entrada requer </a:t>
            </a:r>
            <a:r>
              <a:rPr lang="pt-BR" sz="3200" b="0" strike="noStrike" spc="-1">
                <a:solidFill>
                  <a:srgbClr val="FF0000"/>
                </a:solidFill>
                <a:latin typeface="Calibri"/>
              </a:rPr>
              <a:t>um valor específico</a:t>
            </a:r>
            <a:r>
              <a:rPr lang="pt-BR" sz="3200" b="0" strike="noStrike" spc="-1">
                <a:solidFill>
                  <a:srgbClr val="000000"/>
                </a:solidFill>
                <a:latin typeface="Calibri"/>
              </a:rPr>
              <a:t>, são definidas uma classe de equivalência válida e duas classes de equivalência inválidas. </a:t>
            </a:r>
          </a:p>
          <a:p>
            <a:pPr marL="514440" indent="-514440">
              <a:lnSpc>
                <a:spcPct val="100000"/>
              </a:lnSpc>
              <a:spcBef>
                <a:spcPts val="641"/>
              </a:spcBef>
              <a:buClr>
                <a:srgbClr val="000000"/>
              </a:buClr>
              <a:buFont typeface="Arial"/>
              <a:buAutoNum type="arabicPeriod"/>
            </a:pPr>
            <a:r>
              <a:rPr lang="pt-BR" sz="3200" b="0" strike="noStrike" spc="-1">
                <a:solidFill>
                  <a:srgbClr val="000000"/>
                </a:solidFill>
                <a:latin typeface="Calibri"/>
              </a:rPr>
              <a:t>Se uma condição de entrada especifica um membro de um conjunto, são definidas uma classe válida e uma inválida. </a:t>
            </a:r>
          </a:p>
          <a:p>
            <a:pPr marL="514440" indent="-514440">
              <a:lnSpc>
                <a:spcPct val="100000"/>
              </a:lnSpc>
              <a:spcBef>
                <a:spcPts val="641"/>
              </a:spcBef>
              <a:buClr>
                <a:srgbClr val="000000"/>
              </a:buClr>
              <a:buFont typeface="Arial"/>
              <a:buAutoNum type="arabicPeriod"/>
            </a:pPr>
            <a:r>
              <a:rPr lang="pt-BR" sz="3200" b="0" strike="noStrike" spc="-1">
                <a:solidFill>
                  <a:srgbClr val="000000"/>
                </a:solidFill>
                <a:latin typeface="Calibri"/>
              </a:rPr>
              <a:t>Se uma condição de entrada for booleana, uma classe válida e uma inválida.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609480" y="274680"/>
            <a:ext cx="9550080" cy="1142640"/>
          </a:xfrm>
          <a:prstGeom prst="rect">
            <a:avLst/>
          </a:prstGeom>
          <a:noFill/>
          <a:ln w="0">
            <a:noFill/>
          </a:ln>
        </p:spPr>
        <p:txBody>
          <a:bodyPr numCol="1" spcCol="0" anchor="ctr">
            <a:noAutofit/>
          </a:bodyPr>
          <a:lstStyle/>
          <a:p>
            <a:pPr indent="0" algn="ctr">
              <a:lnSpc>
                <a:spcPct val="100000"/>
              </a:lnSpc>
              <a:buNone/>
            </a:pPr>
            <a:r>
              <a:rPr lang="pt-BR" sz="4400" b="0" strike="noStrike" spc="-1">
                <a:solidFill>
                  <a:srgbClr val="000000"/>
                </a:solidFill>
                <a:latin typeface="Calibri"/>
              </a:rPr>
              <a:t>Características</a:t>
            </a:r>
          </a:p>
        </p:txBody>
      </p:sp>
      <p:sp>
        <p:nvSpPr>
          <p:cNvPr id="223" name="PlaceHolder 2"/>
          <p:cNvSpPr>
            <a:spLocks noGrp="1"/>
          </p:cNvSpPr>
          <p:nvPr>
            <p:ph/>
          </p:nvPr>
        </p:nvSpPr>
        <p:spPr>
          <a:xfrm>
            <a:off x="609480" y="1600200"/>
            <a:ext cx="10033200" cy="4619520"/>
          </a:xfrm>
          <a:prstGeom prst="rect">
            <a:avLst/>
          </a:prstGeom>
          <a:noFill/>
          <a:ln w="0">
            <a:noFill/>
          </a:ln>
        </p:spPr>
        <p:txBody>
          <a:bodyPr numCol="1" spcCol="0" anchor="t">
            <a:noAutofit/>
          </a:bodyPr>
          <a:lstStyle/>
          <a:p>
            <a:pPr marL="343080" indent="-343080">
              <a:lnSpc>
                <a:spcPct val="100000"/>
              </a:lnSpc>
              <a:spcBef>
                <a:spcPts val="561"/>
              </a:spcBef>
              <a:buClr>
                <a:srgbClr val="000000"/>
              </a:buClr>
              <a:buFont typeface="Arial"/>
              <a:buChar char="•"/>
            </a:pPr>
            <a:r>
              <a:rPr lang="pt-BR" sz="2800" b="0" strike="noStrike" spc="-1">
                <a:solidFill>
                  <a:srgbClr val="000000"/>
                </a:solidFill>
                <a:latin typeface="Calibri"/>
              </a:rPr>
              <a:t>Uma partição divide o domínio em classes de equivalência</a:t>
            </a:r>
          </a:p>
          <a:p>
            <a:pPr marL="343080" indent="-343080">
              <a:lnSpc>
                <a:spcPct val="100000"/>
              </a:lnSpc>
              <a:spcBef>
                <a:spcPts val="561"/>
              </a:spcBef>
              <a:buClr>
                <a:srgbClr val="000000"/>
              </a:buClr>
              <a:buFont typeface="Arial"/>
              <a:buChar char="•"/>
            </a:pPr>
            <a:r>
              <a:rPr lang="pt-BR" sz="2800" b="0" strike="noStrike" spc="-1">
                <a:solidFill>
                  <a:srgbClr val="000000"/>
                </a:solidFill>
                <a:latin typeface="Calibri"/>
              </a:rPr>
              <a:t> Supõe-se que dados pertencentes a uma classe de equivalência têm capacidade de revelar os mesmos tipos de falhas</a:t>
            </a:r>
          </a:p>
          <a:p>
            <a:pPr marL="343080" indent="-343080">
              <a:lnSpc>
                <a:spcPct val="100000"/>
              </a:lnSpc>
              <a:spcBef>
                <a:spcPts val="561"/>
              </a:spcBef>
              <a:buClr>
                <a:srgbClr val="000000"/>
              </a:buClr>
              <a:buFont typeface="Arial"/>
              <a:buChar char="•"/>
            </a:pPr>
            <a:r>
              <a:rPr lang="pt-BR" sz="2800" b="0" strike="noStrike" spc="-1">
                <a:solidFill>
                  <a:srgbClr val="000000"/>
                </a:solidFill>
                <a:latin typeface="Calibri"/>
              </a:rPr>
              <a:t>Uma classe de equivalência representa um conjunto de estados válidos e inválidos para uma dada condição de entrada</a:t>
            </a:r>
          </a:p>
          <a:p>
            <a:pPr marL="343080" indent="-343080">
              <a:lnSpc>
                <a:spcPct val="100000"/>
              </a:lnSpc>
              <a:spcBef>
                <a:spcPts val="561"/>
              </a:spcBef>
              <a:buClr>
                <a:srgbClr val="000000"/>
              </a:buClr>
              <a:buFont typeface="Arial"/>
              <a:buChar char="•"/>
            </a:pPr>
            <a:r>
              <a:rPr lang="pt-BR" sz="2800" b="0" strike="noStrike" spc="-1">
                <a:solidFill>
                  <a:srgbClr val="000000"/>
                </a:solidFill>
                <a:latin typeface="Calibri"/>
              </a:rPr>
              <a:t>Classes de equivalência são disjuntas</a:t>
            </a:r>
          </a:p>
          <a:p>
            <a:pPr marL="343080" indent="-343080">
              <a:lnSpc>
                <a:spcPct val="100000"/>
              </a:lnSpc>
              <a:spcBef>
                <a:spcPts val="561"/>
              </a:spcBef>
              <a:buClr>
                <a:srgbClr val="000000"/>
              </a:buClr>
              <a:buFont typeface="Arial"/>
              <a:buChar char="•"/>
            </a:pPr>
            <a:r>
              <a:rPr lang="pt-BR" sz="2800" b="0" strike="noStrike" spc="-1">
                <a:solidFill>
                  <a:srgbClr val="000000"/>
                </a:solidFill>
                <a:latin typeface="Calibri"/>
              </a:rPr>
              <a:t>A união das classes de equivalência = domínio completo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609480" y="274680"/>
            <a:ext cx="9550080" cy="1142640"/>
          </a:xfrm>
          <a:prstGeom prst="rect">
            <a:avLst/>
          </a:prstGeom>
          <a:noFill/>
          <a:ln w="0">
            <a:noFill/>
          </a:ln>
        </p:spPr>
        <p:txBody>
          <a:bodyPr numCol="1" spcCol="0" anchor="ctr">
            <a:noAutofit/>
          </a:bodyPr>
          <a:lstStyle/>
          <a:p>
            <a:pPr indent="0" algn="ctr">
              <a:lnSpc>
                <a:spcPct val="100000"/>
              </a:lnSpc>
              <a:buNone/>
            </a:pPr>
            <a:r>
              <a:rPr lang="pt-BR" sz="4400" b="0" strike="noStrike" spc="-1">
                <a:solidFill>
                  <a:srgbClr val="000000"/>
                </a:solidFill>
                <a:latin typeface="Calibri"/>
              </a:rPr>
              <a:t>Teste</a:t>
            </a:r>
          </a:p>
        </p:txBody>
      </p:sp>
      <p:sp>
        <p:nvSpPr>
          <p:cNvPr id="225" name="PlaceHolder 2"/>
          <p:cNvSpPr>
            <a:spLocks noGrp="1"/>
          </p:cNvSpPr>
          <p:nvPr>
            <p:ph/>
          </p:nvPr>
        </p:nvSpPr>
        <p:spPr>
          <a:xfrm>
            <a:off x="609480" y="1600200"/>
            <a:ext cx="10972440" cy="4525560"/>
          </a:xfrm>
          <a:prstGeom prst="rect">
            <a:avLst/>
          </a:prstGeom>
          <a:noFill/>
          <a:ln w="0">
            <a:noFill/>
          </a:ln>
        </p:spPr>
        <p:txBody>
          <a:bodyPr numCol="1" spcCol="0" anchor="t">
            <a:noAutofit/>
          </a:bodyPr>
          <a:lstStyle/>
          <a:p>
            <a:pPr marL="343080" indent="-343080">
              <a:lnSpc>
                <a:spcPct val="100000"/>
              </a:lnSpc>
              <a:spcBef>
                <a:spcPts val="641"/>
              </a:spcBef>
              <a:buClr>
                <a:srgbClr val="000000"/>
              </a:buClr>
              <a:buFont typeface="Arial"/>
              <a:buChar char="•"/>
            </a:pPr>
            <a:r>
              <a:rPr lang="pt-BR" sz="3200" b="0" strike="noStrike" spc="-1">
                <a:solidFill>
                  <a:srgbClr val="000000"/>
                </a:solidFill>
                <a:latin typeface="Calibri"/>
              </a:rPr>
              <a:t>Critério de cobertura:  </a:t>
            </a:r>
          </a:p>
          <a:p>
            <a:pPr marL="743040" lvl="1" indent="-285840">
              <a:lnSpc>
                <a:spcPct val="100000"/>
              </a:lnSpc>
              <a:spcBef>
                <a:spcPts val="561"/>
              </a:spcBef>
              <a:buClr>
                <a:srgbClr val="000000"/>
              </a:buClr>
              <a:buFont typeface="Arial"/>
              <a:buChar char="–"/>
            </a:pPr>
            <a:r>
              <a:rPr lang="pt-BR" sz="2800" b="0" strike="noStrike" spc="-1">
                <a:solidFill>
                  <a:srgbClr val="000000"/>
                </a:solidFill>
                <a:latin typeface="Calibri"/>
              </a:rPr>
              <a:t>Cada partição deve ser considerada ao menos 1 vez </a:t>
            </a:r>
          </a:p>
          <a:p>
            <a:pPr marL="743040" lvl="1" indent="-285840">
              <a:lnSpc>
                <a:spcPct val="100000"/>
              </a:lnSpc>
              <a:spcBef>
                <a:spcPts val="561"/>
              </a:spcBef>
              <a:buClr>
                <a:srgbClr val="000000"/>
              </a:buClr>
              <a:buFont typeface="Arial"/>
              <a:buChar char="–"/>
            </a:pPr>
            <a:r>
              <a:rPr lang="pt-BR" sz="2800" b="0" strike="noStrike" spc="-1">
                <a:solidFill>
                  <a:srgbClr val="000000"/>
                </a:solidFill>
                <a:latin typeface="Calibri"/>
              </a:rPr>
              <a:t>Cada partição é um requisito de testes </a:t>
            </a:r>
          </a:p>
          <a:p>
            <a:pPr marL="343080" indent="-343080">
              <a:lnSpc>
                <a:spcPct val="100000"/>
              </a:lnSpc>
              <a:spcBef>
                <a:spcPts val="641"/>
              </a:spcBef>
              <a:buClr>
                <a:srgbClr val="000000"/>
              </a:buClr>
              <a:buFont typeface="Arial"/>
              <a:buChar char="•"/>
            </a:pPr>
            <a:r>
              <a:rPr lang="pt-BR" sz="3200" b="0" strike="noStrike" spc="-1">
                <a:solidFill>
                  <a:srgbClr val="000000"/>
                </a:solidFill>
                <a:latin typeface="Calibri"/>
              </a:rPr>
              <a:t>Geração de testes:  selecionar um ou mais dados de cada partição </a:t>
            </a:r>
          </a:p>
        </p:txBody>
      </p:sp>
      <p:pic>
        <p:nvPicPr>
          <p:cNvPr id="226" name="Imagem 4"/>
          <p:cNvPicPr/>
          <p:nvPr/>
        </p:nvPicPr>
        <p:blipFill>
          <a:blip r:embed="rId2"/>
          <a:stretch/>
        </p:blipFill>
        <p:spPr>
          <a:xfrm>
            <a:off x="5785920" y="4102560"/>
            <a:ext cx="3182400" cy="2107440"/>
          </a:xfrm>
          <a:prstGeom prst="rect">
            <a:avLst/>
          </a:prstGeom>
          <a:ln w="0">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609480" y="274680"/>
            <a:ext cx="9550080" cy="1142640"/>
          </a:xfrm>
          <a:prstGeom prst="rect">
            <a:avLst/>
          </a:prstGeom>
          <a:noFill/>
          <a:ln w="0">
            <a:noFill/>
          </a:ln>
        </p:spPr>
        <p:txBody>
          <a:bodyPr numCol="1" spcCol="0" anchor="ctr">
            <a:noAutofit/>
          </a:bodyPr>
          <a:lstStyle/>
          <a:p>
            <a:pPr indent="0" algn="ctr">
              <a:lnSpc>
                <a:spcPct val="100000"/>
              </a:lnSpc>
              <a:buNone/>
            </a:pPr>
            <a:r>
              <a:rPr lang="pt-BR" sz="4400" b="0" strike="noStrike" spc="-1">
                <a:solidFill>
                  <a:srgbClr val="000000"/>
                </a:solidFill>
                <a:latin typeface="Calibri"/>
              </a:rPr>
              <a:t>Exemplo</a:t>
            </a:r>
          </a:p>
        </p:txBody>
      </p:sp>
      <p:sp>
        <p:nvSpPr>
          <p:cNvPr id="228" name="PlaceHolder 2"/>
          <p:cNvSpPr>
            <a:spLocks noGrp="1"/>
          </p:cNvSpPr>
          <p:nvPr>
            <p:ph/>
          </p:nvPr>
        </p:nvSpPr>
        <p:spPr>
          <a:xfrm>
            <a:off x="609480" y="1600200"/>
            <a:ext cx="10972440" cy="4525560"/>
          </a:xfrm>
          <a:prstGeom prst="rect">
            <a:avLst/>
          </a:prstGeom>
          <a:noFill/>
          <a:ln w="0">
            <a:noFill/>
          </a:ln>
        </p:spPr>
        <p:txBody>
          <a:bodyPr numCol="1" spcCol="0" anchor="t">
            <a:noAutofit/>
          </a:bodyPr>
          <a:lstStyle/>
          <a:p>
            <a:pPr marL="343080" indent="-343080">
              <a:lnSpc>
                <a:spcPct val="100000"/>
              </a:lnSpc>
              <a:spcBef>
                <a:spcPts val="641"/>
              </a:spcBef>
              <a:buClr>
                <a:srgbClr val="000000"/>
              </a:buClr>
              <a:buFont typeface="Arial"/>
              <a:buChar char="•"/>
            </a:pPr>
            <a:r>
              <a:rPr lang="pt-BR" sz="3200" b="0" strike="noStrike" spc="-1">
                <a:solidFill>
                  <a:srgbClr val="000000"/>
                </a:solidFill>
                <a:latin typeface="Calibri"/>
              </a:rPr>
              <a:t>Um programa recebe como entrada um arquivo, que pode ou não estar ordenado.</a:t>
            </a:r>
          </a:p>
          <a:p>
            <a:pPr marL="343080" indent="-343080">
              <a:lnSpc>
                <a:spcPct val="100000"/>
              </a:lnSpc>
              <a:spcBef>
                <a:spcPts val="641"/>
              </a:spcBef>
              <a:buClr>
                <a:srgbClr val="000000"/>
              </a:buClr>
              <a:buFont typeface="Arial"/>
              <a:buChar char="•"/>
            </a:pPr>
            <a:r>
              <a:rPr lang="pt-BR" sz="3200" b="0" strike="noStrike" spc="-1">
                <a:solidFill>
                  <a:srgbClr val="000000"/>
                </a:solidFill>
                <a:latin typeface="Calibri"/>
              </a:rPr>
              <a:t>Partição 1: arquivo em ordem crescente </a:t>
            </a:r>
          </a:p>
          <a:p>
            <a:pPr marL="743040" lvl="1" indent="-285840">
              <a:lnSpc>
                <a:spcPct val="100000"/>
              </a:lnSpc>
              <a:spcBef>
                <a:spcPts val="561"/>
              </a:spcBef>
              <a:buClr>
                <a:srgbClr val="000000"/>
              </a:buClr>
              <a:buFont typeface="Arial"/>
              <a:buChar char="–"/>
            </a:pPr>
            <a:r>
              <a:rPr lang="pt-BR" sz="2800" b="0" strike="noStrike" spc="-1">
                <a:solidFill>
                  <a:srgbClr val="000000"/>
                </a:solidFill>
                <a:latin typeface="Calibri"/>
              </a:rPr>
              <a:t>Classe 1: sim </a:t>
            </a:r>
          </a:p>
          <a:p>
            <a:pPr marL="743040" lvl="1" indent="-285840">
              <a:lnSpc>
                <a:spcPct val="100000"/>
              </a:lnSpc>
              <a:spcBef>
                <a:spcPts val="561"/>
              </a:spcBef>
              <a:buClr>
                <a:srgbClr val="000000"/>
              </a:buClr>
              <a:buFont typeface="Arial"/>
              <a:buChar char="–"/>
            </a:pPr>
            <a:r>
              <a:rPr lang="pt-BR" sz="2800" b="0" strike="noStrike" spc="-1">
                <a:solidFill>
                  <a:srgbClr val="000000"/>
                </a:solidFill>
                <a:latin typeface="Calibri"/>
              </a:rPr>
              <a:t>Classe 2: não ou </a:t>
            </a:r>
          </a:p>
          <a:p>
            <a:pPr marL="343080" indent="-343080">
              <a:lnSpc>
                <a:spcPct val="100000"/>
              </a:lnSpc>
              <a:spcBef>
                <a:spcPts val="641"/>
              </a:spcBef>
              <a:buClr>
                <a:srgbClr val="000000"/>
              </a:buClr>
              <a:buFont typeface="Arial"/>
              <a:buChar char="•"/>
            </a:pPr>
            <a:r>
              <a:rPr lang="pt-BR" sz="3200" b="0" strike="noStrike" spc="-1">
                <a:solidFill>
                  <a:srgbClr val="000000"/>
                </a:solidFill>
                <a:latin typeface="Calibri"/>
              </a:rPr>
              <a:t>Partição 2: arquivo em ordem decrescente </a:t>
            </a:r>
          </a:p>
          <a:p>
            <a:pPr marL="743040" lvl="1" indent="-285840">
              <a:lnSpc>
                <a:spcPct val="100000"/>
              </a:lnSpc>
              <a:spcBef>
                <a:spcPts val="561"/>
              </a:spcBef>
              <a:buClr>
                <a:srgbClr val="000000"/>
              </a:buClr>
              <a:buFont typeface="Arial"/>
              <a:buChar char="–"/>
            </a:pPr>
            <a:r>
              <a:rPr lang="pt-BR" sz="2800" b="0" strike="noStrike" spc="-1">
                <a:solidFill>
                  <a:srgbClr val="000000"/>
                </a:solidFill>
                <a:latin typeface="Calibri"/>
              </a:rPr>
              <a:t>Classe 1: sim </a:t>
            </a:r>
          </a:p>
          <a:p>
            <a:pPr marL="743040" lvl="1" indent="-285840">
              <a:lnSpc>
                <a:spcPct val="100000"/>
              </a:lnSpc>
              <a:spcBef>
                <a:spcPts val="561"/>
              </a:spcBef>
              <a:buClr>
                <a:srgbClr val="000000"/>
              </a:buClr>
              <a:buFont typeface="Arial"/>
              <a:buChar char="–"/>
            </a:pPr>
            <a:r>
              <a:rPr lang="pt-BR" sz="2800" b="0" strike="noStrike" spc="-1">
                <a:solidFill>
                  <a:srgbClr val="000000"/>
                </a:solidFill>
                <a:latin typeface="Calibri"/>
              </a:rPr>
              <a:t>Classe 2: não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609480" y="274680"/>
            <a:ext cx="9550080" cy="1142640"/>
          </a:xfrm>
          <a:prstGeom prst="rect">
            <a:avLst/>
          </a:prstGeom>
          <a:noFill/>
          <a:ln w="0">
            <a:noFill/>
          </a:ln>
        </p:spPr>
        <p:txBody>
          <a:bodyPr numCol="1" spcCol="0" anchor="ctr">
            <a:noAutofit/>
          </a:bodyPr>
          <a:lstStyle/>
          <a:p>
            <a:pPr indent="0" algn="ctr">
              <a:lnSpc>
                <a:spcPct val="100000"/>
              </a:lnSpc>
              <a:buNone/>
            </a:pPr>
            <a:r>
              <a:rPr lang="pt-BR" sz="4400" b="0" strike="noStrike" spc="-1">
                <a:solidFill>
                  <a:srgbClr val="000000"/>
                </a:solidFill>
                <a:latin typeface="Calibri"/>
              </a:rPr>
              <a:t>Determinação das classes de equivalência</a:t>
            </a:r>
          </a:p>
        </p:txBody>
      </p:sp>
      <p:pic>
        <p:nvPicPr>
          <p:cNvPr id="230" name="Espaço Reservado para Conteúdo 4"/>
          <p:cNvPicPr/>
          <p:nvPr/>
        </p:nvPicPr>
        <p:blipFill>
          <a:blip r:embed="rId2"/>
          <a:stretch/>
        </p:blipFill>
        <p:spPr>
          <a:xfrm>
            <a:off x="2548080" y="2058120"/>
            <a:ext cx="7095600" cy="3609720"/>
          </a:xfrm>
          <a:prstGeom prst="rect">
            <a:avLst/>
          </a:prstGeom>
          <a:ln w="0">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PlaceHolder 1"/>
          <p:cNvSpPr>
            <a:spLocks noGrp="1"/>
          </p:cNvSpPr>
          <p:nvPr>
            <p:ph type="title"/>
          </p:nvPr>
        </p:nvSpPr>
        <p:spPr>
          <a:xfrm>
            <a:off x="609480" y="274680"/>
            <a:ext cx="9550080" cy="1142640"/>
          </a:xfrm>
          <a:prstGeom prst="rect">
            <a:avLst/>
          </a:prstGeom>
          <a:noFill/>
          <a:ln w="0">
            <a:noFill/>
          </a:ln>
        </p:spPr>
        <p:txBody>
          <a:bodyPr numCol="1" spcCol="0" anchor="ctr">
            <a:noAutofit/>
          </a:bodyPr>
          <a:lstStyle/>
          <a:p>
            <a:pPr indent="0" algn="ctr">
              <a:lnSpc>
                <a:spcPct val="100000"/>
              </a:lnSpc>
              <a:buNone/>
            </a:pPr>
            <a:r>
              <a:rPr lang="pt-BR" sz="4400" b="0" strike="noStrike" spc="-1">
                <a:solidFill>
                  <a:srgbClr val="000000"/>
                </a:solidFill>
                <a:latin typeface="Calibri"/>
              </a:rPr>
              <a:t>Determinação das classes de equivalência</a:t>
            </a:r>
          </a:p>
        </p:txBody>
      </p:sp>
      <p:pic>
        <p:nvPicPr>
          <p:cNvPr id="232" name="Espaço Reservado para Conteúdo 4"/>
          <p:cNvPicPr/>
          <p:nvPr/>
        </p:nvPicPr>
        <p:blipFill>
          <a:blip r:embed="rId2"/>
          <a:stretch/>
        </p:blipFill>
        <p:spPr>
          <a:xfrm>
            <a:off x="2142360" y="1600200"/>
            <a:ext cx="7907040" cy="4525560"/>
          </a:xfrm>
          <a:prstGeom prst="rect">
            <a:avLst/>
          </a:prstGeom>
          <a:ln w="0">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609480" y="274680"/>
            <a:ext cx="9550080" cy="1142640"/>
          </a:xfrm>
          <a:prstGeom prst="rect">
            <a:avLst/>
          </a:prstGeom>
          <a:noFill/>
          <a:ln w="0">
            <a:noFill/>
          </a:ln>
        </p:spPr>
        <p:txBody>
          <a:bodyPr numCol="1" spcCol="0" anchor="ctr">
            <a:noAutofit/>
          </a:bodyPr>
          <a:lstStyle/>
          <a:p>
            <a:pPr indent="0" algn="ctr">
              <a:lnSpc>
                <a:spcPct val="100000"/>
              </a:lnSpc>
              <a:buNone/>
            </a:pPr>
            <a:r>
              <a:rPr lang="pt-BR" sz="4400" b="0" strike="noStrike" spc="-1">
                <a:solidFill>
                  <a:srgbClr val="000000"/>
                </a:solidFill>
                <a:latin typeface="Calibri"/>
              </a:rPr>
              <a:t>Determinação das classes de equivalência</a:t>
            </a:r>
          </a:p>
        </p:txBody>
      </p:sp>
      <p:sp>
        <p:nvSpPr>
          <p:cNvPr id="234" name="PlaceHolder 2"/>
          <p:cNvSpPr>
            <a:spLocks noGrp="1"/>
          </p:cNvSpPr>
          <p:nvPr>
            <p:ph/>
          </p:nvPr>
        </p:nvSpPr>
        <p:spPr>
          <a:xfrm>
            <a:off x="609480" y="1600200"/>
            <a:ext cx="10972440" cy="4525560"/>
          </a:xfrm>
          <a:prstGeom prst="rect">
            <a:avLst/>
          </a:prstGeom>
          <a:noFill/>
          <a:ln w="0">
            <a:noFill/>
          </a:ln>
        </p:spPr>
        <p:txBody>
          <a:bodyPr numCol="1" spcCol="0" anchor="t">
            <a:noAutofit/>
          </a:bodyPr>
          <a:lstStyle/>
          <a:p>
            <a:pPr marL="343080" indent="-343080">
              <a:lnSpc>
                <a:spcPct val="100000"/>
              </a:lnSpc>
              <a:spcBef>
                <a:spcPts val="641"/>
              </a:spcBef>
              <a:buClr>
                <a:srgbClr val="000000"/>
              </a:buClr>
              <a:buFont typeface="Arial"/>
              <a:buChar char="•"/>
            </a:pPr>
            <a:r>
              <a:rPr lang="pt-BR" sz="3200" b="0" strike="noStrike" spc="-1">
                <a:solidFill>
                  <a:srgbClr val="000000"/>
                </a:solidFill>
                <a:latin typeface="Calibri"/>
              </a:rPr>
              <a:t>Supor uma função que calcula o valor de  </a:t>
            </a:r>
          </a:p>
        </p:txBody>
      </p:sp>
      <p:pic>
        <p:nvPicPr>
          <p:cNvPr id="235" name="Imagem 4"/>
          <p:cNvPicPr/>
          <p:nvPr/>
        </p:nvPicPr>
        <p:blipFill>
          <a:blip r:embed="rId2"/>
          <a:stretch/>
        </p:blipFill>
        <p:spPr>
          <a:xfrm>
            <a:off x="3522600" y="2164680"/>
            <a:ext cx="3723840" cy="1018800"/>
          </a:xfrm>
          <a:prstGeom prst="rect">
            <a:avLst/>
          </a:prstGeom>
          <a:ln w="0">
            <a:noFill/>
          </a:ln>
        </p:spPr>
      </p:pic>
      <p:pic>
        <p:nvPicPr>
          <p:cNvPr id="236" name="Imagem 6"/>
          <p:cNvPicPr/>
          <p:nvPr/>
        </p:nvPicPr>
        <p:blipFill>
          <a:blip r:embed="rId3"/>
          <a:stretch/>
        </p:blipFill>
        <p:spPr>
          <a:xfrm>
            <a:off x="6923880" y="4572720"/>
            <a:ext cx="4914720" cy="2133360"/>
          </a:xfrm>
          <a:prstGeom prst="rect">
            <a:avLst/>
          </a:prstGeom>
          <a:ln w="0">
            <a:noFill/>
          </a:ln>
        </p:spPr>
      </p:pic>
      <p:pic>
        <p:nvPicPr>
          <p:cNvPr id="237" name="Imagem 8"/>
          <p:cNvPicPr/>
          <p:nvPr/>
        </p:nvPicPr>
        <p:blipFill>
          <a:blip r:embed="rId4"/>
          <a:stretch/>
        </p:blipFill>
        <p:spPr>
          <a:xfrm>
            <a:off x="1236600" y="3200760"/>
            <a:ext cx="4571640" cy="1952280"/>
          </a:xfrm>
          <a:prstGeom prst="rect">
            <a:avLst/>
          </a:prstGeom>
          <a:ln w="0">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PlaceHolder 1"/>
          <p:cNvSpPr>
            <a:spLocks noGrp="1"/>
          </p:cNvSpPr>
          <p:nvPr>
            <p:ph type="title"/>
          </p:nvPr>
        </p:nvSpPr>
        <p:spPr>
          <a:xfrm>
            <a:off x="609480" y="274680"/>
            <a:ext cx="9550080" cy="1142640"/>
          </a:xfrm>
          <a:prstGeom prst="rect">
            <a:avLst/>
          </a:prstGeom>
          <a:noFill/>
          <a:ln w="0">
            <a:noFill/>
          </a:ln>
        </p:spPr>
        <p:txBody>
          <a:bodyPr numCol="1" spcCol="0" anchor="ctr">
            <a:noAutofit/>
          </a:bodyPr>
          <a:lstStyle/>
          <a:p>
            <a:pPr indent="0" algn="ctr">
              <a:lnSpc>
                <a:spcPct val="100000"/>
              </a:lnSpc>
              <a:buNone/>
            </a:pPr>
            <a:r>
              <a:rPr lang="pt-BR" sz="4400" b="0" strike="noStrike" spc="-1">
                <a:solidFill>
                  <a:srgbClr val="000000"/>
                </a:solidFill>
                <a:latin typeface="Calibri"/>
              </a:rPr>
              <a:t> Análise de valores-limite </a:t>
            </a:r>
          </a:p>
        </p:txBody>
      </p:sp>
      <p:sp>
        <p:nvSpPr>
          <p:cNvPr id="239" name="PlaceHolder 2"/>
          <p:cNvSpPr>
            <a:spLocks noGrp="1"/>
          </p:cNvSpPr>
          <p:nvPr>
            <p:ph/>
          </p:nvPr>
        </p:nvSpPr>
        <p:spPr>
          <a:xfrm>
            <a:off x="609480" y="1600200"/>
            <a:ext cx="10972440" cy="4525560"/>
          </a:xfrm>
          <a:prstGeom prst="rect">
            <a:avLst/>
          </a:prstGeom>
          <a:noFill/>
          <a:ln w="0">
            <a:noFill/>
          </a:ln>
        </p:spPr>
        <p:txBody>
          <a:bodyPr numCol="1" spcCol="0" anchor="t">
            <a:noAutofit/>
          </a:bodyPr>
          <a:lstStyle/>
          <a:p>
            <a:pPr marL="343080" indent="-343080">
              <a:lnSpc>
                <a:spcPct val="100000"/>
              </a:lnSpc>
              <a:spcBef>
                <a:spcPts val="641"/>
              </a:spcBef>
              <a:buClr>
                <a:srgbClr val="000000"/>
              </a:buClr>
              <a:buFont typeface="Arial"/>
              <a:buChar char="•"/>
            </a:pPr>
            <a:r>
              <a:rPr lang="pt-BR" sz="3200" b="0" strike="noStrike" spc="-1">
                <a:solidFill>
                  <a:srgbClr val="000000"/>
                </a:solidFill>
                <a:latin typeface="Calibri"/>
              </a:rPr>
              <a:t>Critério de seleção que identifica valores nos limites das classes de equivalência:</a:t>
            </a:r>
          </a:p>
          <a:p>
            <a:pPr marL="743040" lvl="1" indent="-285840">
              <a:lnSpc>
                <a:spcPct val="100000"/>
              </a:lnSpc>
              <a:spcBef>
                <a:spcPts val="561"/>
              </a:spcBef>
              <a:buClr>
                <a:srgbClr val="000000"/>
              </a:buClr>
              <a:buFont typeface="Arial"/>
              <a:buChar char="–"/>
            </a:pPr>
            <a:r>
              <a:rPr lang="pt-BR" sz="2800" b="0" strike="noStrike" spc="-1">
                <a:solidFill>
                  <a:srgbClr val="000000"/>
                </a:solidFill>
                <a:latin typeface="Calibri"/>
              </a:rPr>
              <a:t>valor mínimo (máximo) igual ao mínimo (máximo) válido </a:t>
            </a:r>
          </a:p>
          <a:p>
            <a:pPr marL="743040" lvl="1" indent="-285840">
              <a:lnSpc>
                <a:spcPct val="100000"/>
              </a:lnSpc>
              <a:spcBef>
                <a:spcPts val="561"/>
              </a:spcBef>
              <a:buClr>
                <a:srgbClr val="000000"/>
              </a:buClr>
              <a:buFont typeface="Arial"/>
              <a:buChar char="–"/>
            </a:pPr>
            <a:r>
              <a:rPr lang="pt-BR" sz="2800" b="0" strike="noStrike" spc="-1">
                <a:solidFill>
                  <a:srgbClr val="000000"/>
                </a:solidFill>
                <a:latin typeface="Calibri"/>
              </a:rPr>
              <a:t>uma unidade abaixo do mínimo </a:t>
            </a:r>
          </a:p>
          <a:p>
            <a:pPr marL="743040" lvl="1" indent="-285840">
              <a:lnSpc>
                <a:spcPct val="100000"/>
              </a:lnSpc>
              <a:spcBef>
                <a:spcPts val="561"/>
              </a:spcBef>
              <a:buClr>
                <a:srgbClr val="000000"/>
              </a:buClr>
              <a:buFont typeface="Arial"/>
              <a:buChar char="–"/>
            </a:pPr>
            <a:r>
              <a:rPr lang="pt-BR" sz="2800" b="0" strike="noStrike" spc="-1">
                <a:solidFill>
                  <a:srgbClr val="000000"/>
                </a:solidFill>
                <a:latin typeface="Calibri"/>
              </a:rPr>
              <a:t>uma unidade acima do máximo </a:t>
            </a:r>
          </a:p>
          <a:p>
            <a:pPr marL="743040" lvl="1" indent="-285840">
              <a:lnSpc>
                <a:spcPct val="100000"/>
              </a:lnSpc>
              <a:spcBef>
                <a:spcPts val="561"/>
              </a:spcBef>
              <a:buClr>
                <a:srgbClr val="000000"/>
              </a:buClr>
              <a:buFont typeface="Arial"/>
              <a:buChar char="–"/>
            </a:pPr>
            <a:r>
              <a:rPr lang="pt-BR" sz="2800" b="0" strike="noStrike" spc="-1">
                <a:solidFill>
                  <a:srgbClr val="000000"/>
                </a:solidFill>
                <a:latin typeface="Calibri"/>
              </a:rPr>
              <a:t>arquivo vazio </a:t>
            </a:r>
          </a:p>
          <a:p>
            <a:pPr marL="743040" lvl="1" indent="-285840">
              <a:lnSpc>
                <a:spcPct val="100000"/>
              </a:lnSpc>
              <a:spcBef>
                <a:spcPts val="561"/>
              </a:spcBef>
              <a:buClr>
                <a:srgbClr val="000000"/>
              </a:buClr>
              <a:buFont typeface="Arial"/>
              <a:buChar char="–"/>
            </a:pPr>
            <a:r>
              <a:rPr lang="pt-BR" sz="2800" b="0" strike="noStrike" spc="-1">
                <a:solidFill>
                  <a:srgbClr val="000000"/>
                </a:solidFill>
                <a:latin typeface="Calibri"/>
              </a:rPr>
              <a:t>arquivo maior ou igual à capacidade máxima de armazenamento</a:t>
            </a:r>
          </a:p>
          <a:p>
            <a:pPr marL="743040" lvl="1" indent="-285840">
              <a:lnSpc>
                <a:spcPct val="100000"/>
              </a:lnSpc>
              <a:spcBef>
                <a:spcPts val="561"/>
              </a:spcBef>
              <a:buClr>
                <a:srgbClr val="000000"/>
              </a:buClr>
              <a:buFont typeface="Arial"/>
              <a:buChar char="–"/>
            </a:pPr>
            <a:r>
              <a:rPr lang="pt-BR" sz="2800" b="0" strike="noStrike" spc="-1">
                <a:solidFill>
                  <a:srgbClr val="000000"/>
                </a:solidFill>
                <a:latin typeface="Calibri"/>
              </a:rPr>
              <a:t>cálculo que pode levar a “overflow” (“underflow”) </a:t>
            </a:r>
          </a:p>
          <a:p>
            <a:pPr marL="743040" lvl="1" indent="-285840">
              <a:lnSpc>
                <a:spcPct val="100000"/>
              </a:lnSpc>
              <a:spcBef>
                <a:spcPts val="561"/>
              </a:spcBef>
              <a:buClr>
                <a:srgbClr val="000000"/>
              </a:buClr>
              <a:buFont typeface="Arial"/>
              <a:buChar char="–"/>
            </a:pPr>
            <a:r>
              <a:rPr lang="pt-BR" sz="2800" b="0" strike="noStrike" spc="-1">
                <a:solidFill>
                  <a:srgbClr val="000000"/>
                </a:solidFill>
                <a:latin typeface="Calibri"/>
              </a:rPr>
              <a:t>erro no primeiro (último) registro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PlaceHolder 1"/>
          <p:cNvSpPr>
            <a:spLocks noGrp="1"/>
          </p:cNvSpPr>
          <p:nvPr>
            <p:ph type="title"/>
          </p:nvPr>
        </p:nvSpPr>
        <p:spPr>
          <a:xfrm>
            <a:off x="609480" y="274680"/>
            <a:ext cx="9550080" cy="1142640"/>
          </a:xfrm>
          <a:prstGeom prst="rect">
            <a:avLst/>
          </a:prstGeom>
          <a:noFill/>
          <a:ln w="0">
            <a:noFill/>
          </a:ln>
        </p:spPr>
        <p:txBody>
          <a:bodyPr numCol="1" spcCol="0" anchor="ctr">
            <a:noAutofit/>
          </a:bodyPr>
          <a:lstStyle/>
          <a:p>
            <a:pPr indent="0" algn="ctr">
              <a:lnSpc>
                <a:spcPct val="100000"/>
              </a:lnSpc>
              <a:buNone/>
            </a:pPr>
            <a:r>
              <a:rPr lang="pt-BR" sz="4400" b="0" strike="noStrike" spc="-1">
                <a:solidFill>
                  <a:srgbClr val="000000"/>
                </a:solidFill>
                <a:latin typeface="Calibri"/>
              </a:rPr>
              <a:t>Exemplo 1 - Análise de valores limites </a:t>
            </a:r>
          </a:p>
        </p:txBody>
      </p:sp>
      <p:sp>
        <p:nvSpPr>
          <p:cNvPr id="241" name="PlaceHolder 2"/>
          <p:cNvSpPr>
            <a:spLocks noGrp="1"/>
          </p:cNvSpPr>
          <p:nvPr>
            <p:ph/>
          </p:nvPr>
        </p:nvSpPr>
        <p:spPr>
          <a:xfrm>
            <a:off x="609480" y="1600200"/>
            <a:ext cx="10972440" cy="4525560"/>
          </a:xfrm>
          <a:prstGeom prst="rect">
            <a:avLst/>
          </a:prstGeom>
          <a:noFill/>
          <a:ln w="0">
            <a:noFill/>
          </a:ln>
        </p:spPr>
        <p:txBody>
          <a:bodyPr numCol="1" spcCol="0" anchor="t">
            <a:noAutofit/>
          </a:bodyPr>
          <a:lstStyle/>
          <a:p>
            <a:pPr marL="343080" indent="-343080">
              <a:lnSpc>
                <a:spcPct val="100000"/>
              </a:lnSpc>
              <a:spcBef>
                <a:spcPts val="641"/>
              </a:spcBef>
              <a:buClr>
                <a:srgbClr val="000000"/>
              </a:buClr>
              <a:buFont typeface="Arial"/>
              <a:buChar char="•"/>
            </a:pPr>
            <a:r>
              <a:rPr lang="pt-BR" sz="3200" b="0" strike="noStrike" spc="-1">
                <a:solidFill>
                  <a:srgbClr val="000000"/>
                </a:solidFill>
                <a:latin typeface="Calibri"/>
              </a:rPr>
              <a:t>No exemplo da função:</a:t>
            </a:r>
          </a:p>
          <a:p>
            <a:pPr indent="0">
              <a:lnSpc>
                <a:spcPct val="100000"/>
              </a:lnSpc>
              <a:spcBef>
                <a:spcPts val="641"/>
              </a:spcBef>
              <a:buNone/>
              <a:tabLst>
                <a:tab pos="0" algn="l"/>
              </a:tabLst>
            </a:pPr>
            <a:r>
              <a:rPr lang="pt-BR" sz="3200" b="0" strike="noStrike" spc="-1">
                <a:solidFill>
                  <a:srgbClr val="000000"/>
                </a:solidFill>
                <a:latin typeface="Calibri"/>
              </a:rPr>
              <a:t>após determinar as classes de equivalência, devemos fazer uma análise de valores-limites para a escolha dos valores de cada classe (ou partição) de equivalência. </a:t>
            </a:r>
          </a:p>
          <a:p>
            <a:pPr marL="343080" indent="-343080">
              <a:lnSpc>
                <a:spcPct val="100000"/>
              </a:lnSpc>
              <a:spcBef>
                <a:spcPts val="641"/>
              </a:spcBef>
              <a:buClr>
                <a:srgbClr val="000000"/>
              </a:buClr>
              <a:buFont typeface="Arial"/>
              <a:buChar char="•"/>
              <a:tabLst>
                <a:tab pos="0" algn="l"/>
              </a:tabLst>
            </a:pPr>
            <a:r>
              <a:rPr lang="pt-BR" sz="3200" b="0" strike="noStrike" spc="-1">
                <a:solidFill>
                  <a:srgbClr val="000000"/>
                </a:solidFill>
                <a:latin typeface="Calibri"/>
              </a:rPr>
              <a:t> </a:t>
            </a:r>
          </a:p>
        </p:txBody>
      </p:sp>
      <p:pic>
        <p:nvPicPr>
          <p:cNvPr id="242" name="Imagem 3"/>
          <p:cNvPicPr/>
          <p:nvPr/>
        </p:nvPicPr>
        <p:blipFill>
          <a:blip r:embed="rId2"/>
          <a:stretch/>
        </p:blipFill>
        <p:spPr>
          <a:xfrm>
            <a:off x="4947480" y="1207440"/>
            <a:ext cx="3723840" cy="1018800"/>
          </a:xfrm>
          <a:prstGeom prst="rect">
            <a:avLst/>
          </a:prstGeom>
          <a:ln w="0">
            <a:noFill/>
          </a:ln>
        </p:spPr>
      </p:pic>
      <p:pic>
        <p:nvPicPr>
          <p:cNvPr id="243" name="Imagem 5"/>
          <p:cNvPicPr/>
          <p:nvPr/>
        </p:nvPicPr>
        <p:blipFill>
          <a:blip r:embed="rId3"/>
          <a:stretch/>
        </p:blipFill>
        <p:spPr>
          <a:xfrm>
            <a:off x="2016000" y="4344120"/>
            <a:ext cx="7819560" cy="1657080"/>
          </a:xfrm>
          <a:prstGeom prst="rect">
            <a:avLst/>
          </a:prstGeom>
          <a:ln w="0">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PlaceHolder 1"/>
          <p:cNvSpPr>
            <a:spLocks noGrp="1"/>
          </p:cNvSpPr>
          <p:nvPr>
            <p:ph type="title"/>
          </p:nvPr>
        </p:nvSpPr>
        <p:spPr>
          <a:xfrm>
            <a:off x="609480" y="274680"/>
            <a:ext cx="9550080" cy="1142640"/>
          </a:xfrm>
          <a:prstGeom prst="rect">
            <a:avLst/>
          </a:prstGeom>
          <a:noFill/>
          <a:ln w="0">
            <a:noFill/>
          </a:ln>
        </p:spPr>
        <p:txBody>
          <a:bodyPr numCol="1" spcCol="0" anchor="ctr">
            <a:noAutofit/>
          </a:bodyPr>
          <a:lstStyle/>
          <a:p>
            <a:pPr indent="0" algn="ctr">
              <a:lnSpc>
                <a:spcPct val="100000"/>
              </a:lnSpc>
              <a:buNone/>
            </a:pPr>
            <a:r>
              <a:rPr lang="pt-BR" sz="4400" b="0" strike="noStrike" spc="-1">
                <a:solidFill>
                  <a:srgbClr val="000000"/>
                </a:solidFill>
                <a:latin typeface="Calibri"/>
              </a:rPr>
              <a:t>Análise de valores limite</a:t>
            </a:r>
          </a:p>
        </p:txBody>
      </p:sp>
      <p:sp>
        <p:nvSpPr>
          <p:cNvPr id="245" name="PlaceHolder 2"/>
          <p:cNvSpPr>
            <a:spLocks noGrp="1"/>
          </p:cNvSpPr>
          <p:nvPr>
            <p:ph/>
          </p:nvPr>
        </p:nvSpPr>
        <p:spPr>
          <a:xfrm>
            <a:off x="609480" y="1600200"/>
            <a:ext cx="10972440" cy="4525560"/>
          </a:xfrm>
          <a:prstGeom prst="rect">
            <a:avLst/>
          </a:prstGeom>
          <a:noFill/>
          <a:ln w="0">
            <a:noFill/>
          </a:ln>
        </p:spPr>
        <p:txBody>
          <a:bodyPr numCol="1" spcCol="0" anchor="t">
            <a:noAutofit/>
          </a:bodyPr>
          <a:lstStyle/>
          <a:p>
            <a:pPr marL="343080" indent="-343080">
              <a:lnSpc>
                <a:spcPct val="100000"/>
              </a:lnSpc>
              <a:spcBef>
                <a:spcPts val="641"/>
              </a:spcBef>
              <a:buClr>
                <a:srgbClr val="000000"/>
              </a:buClr>
              <a:buFont typeface="Arial"/>
              <a:buChar char="•"/>
            </a:pPr>
            <a:r>
              <a:rPr lang="pt-BR" sz="3200" b="0" strike="noStrike" spc="-1">
                <a:solidFill>
                  <a:srgbClr val="000000"/>
                </a:solidFill>
                <a:latin typeface="Calibri"/>
              </a:rPr>
              <a:t>Um número maior de erros ocorre nas fronteiras do domínio de entrada (bordas da classe).</a:t>
            </a:r>
          </a:p>
          <a:p>
            <a:pPr marL="343080" indent="-343080">
              <a:lnSpc>
                <a:spcPct val="100000"/>
              </a:lnSpc>
              <a:spcBef>
                <a:spcPts val="641"/>
              </a:spcBef>
              <a:buClr>
                <a:srgbClr val="000000"/>
              </a:buClr>
              <a:buFont typeface="Arial"/>
              <a:buChar char="•"/>
            </a:pPr>
            <a:r>
              <a:rPr lang="pt-BR" sz="3200" b="0" strike="noStrike" spc="-1">
                <a:solidFill>
                  <a:srgbClr val="000000"/>
                </a:solidFill>
                <a:latin typeface="Calibri"/>
              </a:rPr>
              <a:t>Se uma condição de entrada (ce) especifica um intervalo limitado por valores a e b, deverão ser projetados casos de teste com valores a e b imediatamente acima e abaixo de a e b. 2. Se uma ce especifica um conjunto de valores, deverão ser desenvolvidos casos de teste que usam os números mínimo e máximo e imediatamente acima e abaixo dos valores mínimo e máximo.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PlaceHolder 1"/>
          <p:cNvSpPr>
            <a:spLocks noGrp="1"/>
          </p:cNvSpPr>
          <p:nvPr>
            <p:ph type="title"/>
          </p:nvPr>
        </p:nvSpPr>
        <p:spPr>
          <a:xfrm>
            <a:off x="609480" y="274680"/>
            <a:ext cx="9550080" cy="1142640"/>
          </a:xfrm>
          <a:prstGeom prst="rect">
            <a:avLst/>
          </a:prstGeom>
          <a:noFill/>
          <a:ln w="0">
            <a:noFill/>
          </a:ln>
        </p:spPr>
        <p:txBody>
          <a:bodyPr numCol="1" spcCol="0" anchor="ctr">
            <a:noAutofit/>
          </a:bodyPr>
          <a:lstStyle/>
          <a:p>
            <a:pPr indent="0" algn="ctr">
              <a:lnSpc>
                <a:spcPct val="100000"/>
              </a:lnSpc>
              <a:buNone/>
            </a:pPr>
            <a:r>
              <a:rPr lang="pt-BR" sz="4400" b="0" strike="noStrike" spc="-1">
                <a:solidFill>
                  <a:srgbClr val="000000"/>
                </a:solidFill>
                <a:latin typeface="Calibri"/>
              </a:rPr>
              <a:t>Análise de valores limite</a:t>
            </a:r>
          </a:p>
        </p:txBody>
      </p:sp>
      <p:sp>
        <p:nvSpPr>
          <p:cNvPr id="247" name="PlaceHolder 2"/>
          <p:cNvSpPr>
            <a:spLocks noGrp="1"/>
          </p:cNvSpPr>
          <p:nvPr>
            <p:ph/>
          </p:nvPr>
        </p:nvSpPr>
        <p:spPr>
          <a:xfrm>
            <a:off x="609480" y="1600200"/>
            <a:ext cx="10972440" cy="4525560"/>
          </a:xfrm>
          <a:prstGeom prst="rect">
            <a:avLst/>
          </a:prstGeom>
          <a:noFill/>
          <a:ln w="0">
            <a:noFill/>
          </a:ln>
        </p:spPr>
        <p:txBody>
          <a:bodyPr numCol="1" spcCol="0" anchor="t">
            <a:noAutofit/>
          </a:bodyPr>
          <a:lstStyle/>
          <a:p>
            <a:pPr marL="343080" indent="-343080">
              <a:lnSpc>
                <a:spcPct val="100000"/>
              </a:lnSpc>
              <a:spcBef>
                <a:spcPts val="641"/>
              </a:spcBef>
              <a:buClr>
                <a:srgbClr val="000000"/>
              </a:buClr>
              <a:buFont typeface="Arial"/>
              <a:buChar char="•"/>
            </a:pPr>
            <a:r>
              <a:rPr lang="pt-BR" sz="3200" b="0" strike="noStrike" spc="-1">
                <a:solidFill>
                  <a:srgbClr val="000000"/>
                </a:solidFill>
                <a:latin typeface="Calibri"/>
              </a:rPr>
              <a:t>3. Aplique as diretrizes 1 e 2 às condições de saída. Por exemplo, suponha que um programa de análise de engenharia precisa ter como saída uma tabela de temperatura versus pressão. Deverão ser projetados casos de teste para criar um relatório de saída que produza o número máximo (e mínimo) permitido de entradas da tabela. </a:t>
            </a:r>
          </a:p>
          <a:p>
            <a:pPr marL="343080" indent="-343080">
              <a:lnSpc>
                <a:spcPct val="100000"/>
              </a:lnSpc>
              <a:spcBef>
                <a:spcPts val="641"/>
              </a:spcBef>
              <a:buClr>
                <a:srgbClr val="000000"/>
              </a:buClr>
              <a:buFont typeface="Arial"/>
              <a:buChar char="•"/>
            </a:pPr>
            <a:r>
              <a:rPr lang="pt-BR" sz="3200" b="0" strike="noStrike" spc="-1">
                <a:solidFill>
                  <a:srgbClr val="000000"/>
                </a:solidFill>
                <a:latin typeface="Calibri"/>
              </a:rPr>
              <a:t>4. Se as estruturas de dados internas do programa prescreveram fronteiras (por exemplo, uma tabela tem um limite definido de 100 entrada criar um caso de teste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PlaceHolder 1"/>
          <p:cNvSpPr>
            <a:spLocks noGrp="1"/>
          </p:cNvSpPr>
          <p:nvPr>
            <p:ph type="title"/>
          </p:nvPr>
        </p:nvSpPr>
        <p:spPr>
          <a:xfrm>
            <a:off x="609480" y="274680"/>
            <a:ext cx="9550080" cy="1142640"/>
          </a:xfrm>
          <a:prstGeom prst="rect">
            <a:avLst/>
          </a:prstGeom>
          <a:noFill/>
          <a:ln w="0">
            <a:noFill/>
          </a:ln>
        </p:spPr>
        <p:txBody>
          <a:bodyPr numCol="1" spcCol="0" anchor="ctr">
            <a:noAutofit/>
          </a:bodyPr>
          <a:lstStyle/>
          <a:p>
            <a:pPr indent="0" algn="ctr">
              <a:lnSpc>
                <a:spcPct val="100000"/>
              </a:lnSpc>
              <a:buNone/>
            </a:pPr>
            <a:r>
              <a:rPr lang="pt-BR" sz="4400" b="0" strike="noStrike" spc="-1">
                <a:solidFill>
                  <a:srgbClr val="000000"/>
                </a:solidFill>
                <a:latin typeface="Calibri"/>
              </a:rPr>
              <a:t>Teste Baseado em Modelos</a:t>
            </a:r>
          </a:p>
        </p:txBody>
      </p:sp>
      <p:sp>
        <p:nvSpPr>
          <p:cNvPr id="249" name="PlaceHolder 2"/>
          <p:cNvSpPr>
            <a:spLocks noGrp="1"/>
          </p:cNvSpPr>
          <p:nvPr>
            <p:ph/>
          </p:nvPr>
        </p:nvSpPr>
        <p:spPr>
          <a:xfrm>
            <a:off x="609480" y="1600200"/>
            <a:ext cx="10972440" cy="4525560"/>
          </a:xfrm>
          <a:prstGeom prst="rect">
            <a:avLst/>
          </a:prstGeom>
          <a:noFill/>
          <a:ln w="0">
            <a:noFill/>
          </a:ln>
        </p:spPr>
        <p:txBody>
          <a:bodyPr numCol="1" spcCol="0" anchor="t">
            <a:noAutofit/>
          </a:bodyPr>
          <a:lstStyle/>
          <a:p>
            <a:pPr marL="343080" indent="-343080">
              <a:lnSpc>
                <a:spcPct val="100000"/>
              </a:lnSpc>
              <a:spcBef>
                <a:spcPts val="641"/>
              </a:spcBef>
              <a:buClr>
                <a:srgbClr val="000000"/>
              </a:buClr>
              <a:buFont typeface="Arial"/>
              <a:buChar char="•"/>
            </a:pPr>
            <a:r>
              <a:rPr lang="pt-BR" sz="3200" b="0" strike="noStrike" spc="-1" dirty="0">
                <a:solidFill>
                  <a:srgbClr val="000000"/>
                </a:solidFill>
                <a:latin typeface="Calibri"/>
              </a:rPr>
              <a:t>(</a:t>
            </a:r>
            <a:r>
              <a:rPr lang="pt-BR" sz="3200" b="0" strike="noStrike" spc="-1" dirty="0" err="1">
                <a:solidFill>
                  <a:srgbClr val="000000"/>
                </a:solidFill>
                <a:latin typeface="Calibri"/>
              </a:rPr>
              <a:t>Model-based</a:t>
            </a:r>
            <a:r>
              <a:rPr lang="pt-BR" sz="3200" b="0" strike="noStrike" spc="-1" dirty="0">
                <a:solidFill>
                  <a:srgbClr val="000000"/>
                </a:solidFill>
                <a:latin typeface="Calibri"/>
              </a:rPr>
              <a:t> </a:t>
            </a:r>
            <a:r>
              <a:rPr lang="pt-BR" sz="3200" b="0" strike="noStrike" spc="-1" dirty="0" err="1">
                <a:solidFill>
                  <a:srgbClr val="000000"/>
                </a:solidFill>
                <a:latin typeface="Calibri"/>
              </a:rPr>
              <a:t>testing</a:t>
            </a:r>
            <a:r>
              <a:rPr lang="pt-BR" sz="3200" b="0" strike="noStrike" spc="-1" dirty="0">
                <a:solidFill>
                  <a:srgbClr val="000000"/>
                </a:solidFill>
                <a:latin typeface="Calibri"/>
              </a:rPr>
              <a:t> - MBT) é uma técnica de teste caixa-preta que usa informações contidas no </a:t>
            </a:r>
            <a:r>
              <a:rPr lang="pt-BR" sz="3200" b="0" strike="noStrike" spc="-1" dirty="0">
                <a:solidFill>
                  <a:srgbClr val="FF0000"/>
                </a:solidFill>
                <a:latin typeface="Calibri"/>
              </a:rPr>
              <a:t>modelo de requisitos </a:t>
            </a:r>
            <a:r>
              <a:rPr lang="pt-BR" sz="3200" b="0" strike="noStrike" spc="-1" dirty="0">
                <a:solidFill>
                  <a:srgbClr val="000000"/>
                </a:solidFill>
                <a:latin typeface="Calibri"/>
              </a:rPr>
              <a:t>como base para a geração de casos de teste. </a:t>
            </a:r>
          </a:p>
          <a:p>
            <a:pPr marL="343080" indent="-343080">
              <a:lnSpc>
                <a:spcPct val="100000"/>
              </a:lnSpc>
              <a:spcBef>
                <a:spcPts val="641"/>
              </a:spcBef>
              <a:buClr>
                <a:srgbClr val="000000"/>
              </a:buClr>
              <a:buFont typeface="Arial"/>
              <a:buChar char="•"/>
            </a:pPr>
            <a:r>
              <a:rPr lang="pt-BR" sz="3200" b="0" strike="noStrike" spc="-1" dirty="0">
                <a:solidFill>
                  <a:srgbClr val="000000"/>
                </a:solidFill>
                <a:latin typeface="Calibri"/>
              </a:rPr>
              <a:t>Usam diagramas de estado UML, um elemento do modelo comportamental, como base para o projeto de casos de teste.</a:t>
            </a:r>
          </a:p>
          <a:p>
            <a:pPr marL="343080" indent="-343080">
              <a:lnSpc>
                <a:spcPct val="100000"/>
              </a:lnSpc>
              <a:spcBef>
                <a:spcPts val="641"/>
              </a:spcBef>
              <a:buClr>
                <a:srgbClr val="000000"/>
              </a:buClr>
              <a:buFont typeface="Arial"/>
              <a:buChar char="•"/>
            </a:pPr>
            <a:r>
              <a:rPr lang="pt-BR" sz="3200" b="0" strike="noStrike" spc="-1" dirty="0">
                <a:solidFill>
                  <a:srgbClr val="000000"/>
                </a:solidFill>
                <a:latin typeface="Calibri"/>
              </a:rPr>
              <a:t>Passos:</a:t>
            </a:r>
          </a:p>
          <a:p>
            <a:pPr marL="514350" indent="-514350">
              <a:lnSpc>
                <a:spcPct val="100000"/>
              </a:lnSpc>
              <a:spcBef>
                <a:spcPts val="641"/>
              </a:spcBef>
              <a:buClr>
                <a:srgbClr val="000000"/>
              </a:buClr>
              <a:buFont typeface="+mj-lt"/>
              <a:buAutoNum type="arabicPeriod"/>
            </a:pPr>
            <a:r>
              <a:rPr lang="pt-BR" sz="3200" b="0" strike="noStrike" spc="-1" dirty="0">
                <a:solidFill>
                  <a:srgbClr val="000000"/>
                </a:solidFill>
                <a:latin typeface="Calibri"/>
              </a:rPr>
              <a:t>Analise um modelo comportamental existente para o software ou crie um. Rever o modelo comportamental para verificar exatidão e consistência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PlaceHolder 1"/>
          <p:cNvSpPr>
            <a:spLocks noGrp="1"/>
          </p:cNvSpPr>
          <p:nvPr>
            <p:ph type="title"/>
          </p:nvPr>
        </p:nvSpPr>
        <p:spPr>
          <a:xfrm>
            <a:off x="609480" y="274680"/>
            <a:ext cx="9550080" cy="1142640"/>
          </a:xfrm>
          <a:prstGeom prst="rect">
            <a:avLst/>
          </a:prstGeom>
          <a:noFill/>
          <a:ln w="0">
            <a:noFill/>
          </a:ln>
        </p:spPr>
        <p:txBody>
          <a:bodyPr numCol="1" spcCol="0" anchor="ctr">
            <a:noAutofit/>
          </a:bodyPr>
          <a:lstStyle/>
          <a:p>
            <a:pPr indent="0" algn="ctr">
              <a:lnSpc>
                <a:spcPct val="100000"/>
              </a:lnSpc>
              <a:buNone/>
            </a:pPr>
            <a:r>
              <a:rPr lang="pt-BR" sz="4400" b="0" strike="noStrike" spc="-1">
                <a:solidFill>
                  <a:srgbClr val="000000"/>
                </a:solidFill>
                <a:latin typeface="Calibri"/>
              </a:rPr>
              <a:t>Teste Baseado em Modelos: Passos</a:t>
            </a:r>
          </a:p>
        </p:txBody>
      </p:sp>
      <p:sp>
        <p:nvSpPr>
          <p:cNvPr id="251" name="PlaceHolder 2"/>
          <p:cNvSpPr>
            <a:spLocks noGrp="1"/>
          </p:cNvSpPr>
          <p:nvPr>
            <p:ph/>
          </p:nvPr>
        </p:nvSpPr>
        <p:spPr>
          <a:xfrm>
            <a:off x="609480" y="1600200"/>
            <a:ext cx="10972440" cy="4525560"/>
          </a:xfrm>
          <a:prstGeom prst="rect">
            <a:avLst/>
          </a:prstGeom>
          <a:noFill/>
          <a:ln w="0">
            <a:noFill/>
          </a:ln>
        </p:spPr>
        <p:txBody>
          <a:bodyPr numCol="1" spcCol="0" anchor="t">
            <a:noAutofit/>
          </a:bodyPr>
          <a:lstStyle/>
          <a:p>
            <a:pPr marL="343080" indent="-343080">
              <a:lnSpc>
                <a:spcPct val="100000"/>
              </a:lnSpc>
              <a:spcBef>
                <a:spcPts val="641"/>
              </a:spcBef>
              <a:buClr>
                <a:srgbClr val="000000"/>
              </a:buClr>
              <a:buFont typeface="Arial"/>
              <a:buChar char="•"/>
            </a:pPr>
            <a:r>
              <a:rPr lang="pt-BR" sz="3200" b="0" strike="noStrike" spc="-1">
                <a:solidFill>
                  <a:srgbClr val="000000"/>
                </a:solidFill>
                <a:latin typeface="Calibri"/>
              </a:rPr>
              <a:t>(2) Percorra o modelo comportamental e especifique as entradas que forçarão o software a fazer a transição de um estado para outro. </a:t>
            </a:r>
          </a:p>
          <a:p>
            <a:pPr marL="343080" indent="-343080">
              <a:lnSpc>
                <a:spcPct val="100000"/>
              </a:lnSpc>
              <a:spcBef>
                <a:spcPts val="641"/>
              </a:spcBef>
              <a:buClr>
                <a:srgbClr val="000000"/>
              </a:buClr>
              <a:buFont typeface="Arial"/>
              <a:buChar char="•"/>
            </a:pPr>
            <a:r>
              <a:rPr lang="pt-BR" sz="3200" b="0" strike="noStrike" spc="-1">
                <a:solidFill>
                  <a:srgbClr val="000000"/>
                </a:solidFill>
                <a:latin typeface="Calibri"/>
              </a:rPr>
              <a:t>(3) Reveja o modelo comportamental e observe as saídas esperadas à medida que o software faz a transição de um estado para outro.</a:t>
            </a:r>
          </a:p>
          <a:p>
            <a:pPr marL="343080" indent="-343080">
              <a:lnSpc>
                <a:spcPct val="100000"/>
              </a:lnSpc>
              <a:spcBef>
                <a:spcPts val="641"/>
              </a:spcBef>
              <a:buClr>
                <a:srgbClr val="000000"/>
              </a:buClr>
              <a:buFont typeface="Arial"/>
              <a:buChar char="•"/>
            </a:pPr>
            <a:r>
              <a:rPr lang="pt-BR" sz="3200" b="0" strike="noStrike" spc="-1">
                <a:solidFill>
                  <a:srgbClr val="000000"/>
                </a:solidFill>
                <a:latin typeface="Calibri"/>
              </a:rPr>
              <a:t>(4) Execute os casos de teste. Os testes podem ser executados manualmente ou pode ser criado um script de teste </a:t>
            </a:r>
          </a:p>
          <a:p>
            <a:pPr marL="343080" indent="-343080">
              <a:lnSpc>
                <a:spcPct val="100000"/>
              </a:lnSpc>
              <a:spcBef>
                <a:spcPts val="641"/>
              </a:spcBef>
              <a:buClr>
                <a:srgbClr val="000000"/>
              </a:buClr>
              <a:buFont typeface="Arial"/>
              <a:buChar char="•"/>
            </a:pPr>
            <a:r>
              <a:rPr lang="pt-BR" sz="3200" b="0" strike="noStrike" spc="-1">
                <a:solidFill>
                  <a:srgbClr val="000000"/>
                </a:solidFill>
                <a:latin typeface="Calibri"/>
              </a:rPr>
              <a:t>(5) Compare os resultados real e esperado e tome a ação corretiva necessária...</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Teste Matriz Ortogonal</a:t>
            </a:r>
          </a:p>
        </p:txBody>
      </p:sp>
      <p:sp>
        <p:nvSpPr>
          <p:cNvPr id="4" name="Retângulo 3"/>
          <p:cNvSpPr/>
          <p:nvPr/>
        </p:nvSpPr>
        <p:spPr>
          <a:xfrm>
            <a:off x="781878" y="1559221"/>
            <a:ext cx="10933044" cy="3416320"/>
          </a:xfrm>
          <a:prstGeom prst="rect">
            <a:avLst/>
          </a:prstGeom>
        </p:spPr>
        <p:txBody>
          <a:bodyPr wrap="square">
            <a:spAutoFit/>
          </a:bodyPr>
          <a:lstStyle/>
          <a:p>
            <a:r>
              <a:rPr lang="pt-BR" dirty="0"/>
              <a:t>Identificam-se os </a:t>
            </a:r>
            <a:r>
              <a:rPr lang="pt-BR" b="1" dirty="0">
                <a:solidFill>
                  <a:srgbClr val="FF0000"/>
                </a:solidFill>
              </a:rPr>
              <a:t>parâmetros de entrada</a:t>
            </a:r>
            <a:r>
              <a:rPr lang="pt-BR" dirty="0">
                <a:solidFill>
                  <a:srgbClr val="FF0000"/>
                </a:solidFill>
              </a:rPr>
              <a:t> </a:t>
            </a:r>
            <a:r>
              <a:rPr lang="pt-BR" dirty="0"/>
              <a:t>e seus </a:t>
            </a:r>
            <a:r>
              <a:rPr lang="pt-BR" b="1" dirty="0"/>
              <a:t>níveis (</a:t>
            </a:r>
            <a:r>
              <a:rPr lang="pt-BR" b="1" dirty="0">
                <a:solidFill>
                  <a:srgbClr val="FF0000"/>
                </a:solidFill>
              </a:rPr>
              <a:t>valores possíveis</a:t>
            </a:r>
            <a:r>
              <a:rPr lang="pt-BR" b="1" dirty="0"/>
              <a:t>)</a:t>
            </a:r>
            <a:r>
              <a:rPr lang="pt-BR" dirty="0"/>
              <a:t>.</a:t>
            </a:r>
          </a:p>
          <a:p>
            <a:r>
              <a:rPr lang="pt-BR" dirty="0"/>
              <a:t>Em vez de testar todas as combinações possíveis (explosão combinatória), usa-se </a:t>
            </a:r>
            <a:r>
              <a:rPr lang="pt-BR" dirty="0">
                <a:solidFill>
                  <a:srgbClr val="FF0000"/>
                </a:solidFill>
              </a:rPr>
              <a:t>uma tabela ortogonal </a:t>
            </a:r>
            <a:r>
              <a:rPr lang="pt-BR" dirty="0"/>
              <a:t>(ex.: L4, L8, L16...) que representa combinações equilibradas e estatisticamente significativas.</a:t>
            </a:r>
          </a:p>
          <a:p>
            <a:r>
              <a:rPr lang="pt-BR" dirty="0"/>
              <a:t>Cada linha da matriz representa um </a:t>
            </a:r>
            <a:r>
              <a:rPr lang="pt-BR" b="1" dirty="0"/>
              <a:t>caso de teste</a:t>
            </a:r>
            <a:r>
              <a:rPr lang="pt-BR" dirty="0"/>
              <a:t>.</a:t>
            </a:r>
          </a:p>
          <a:p>
            <a:endParaRPr lang="pt-BR" dirty="0"/>
          </a:p>
          <a:p>
            <a:r>
              <a:rPr lang="pt-BR" dirty="0"/>
              <a:t>Suponha 3 parâmetros com 3 valores cada:</a:t>
            </a:r>
          </a:p>
          <a:p>
            <a:r>
              <a:rPr lang="pt-BR" dirty="0"/>
              <a:t>A: {A1, A2, A3}</a:t>
            </a:r>
          </a:p>
          <a:p>
            <a:r>
              <a:rPr lang="pt-BR" dirty="0"/>
              <a:t>B: {B1, B2, B3}</a:t>
            </a:r>
          </a:p>
          <a:p>
            <a:r>
              <a:rPr lang="pt-BR" dirty="0"/>
              <a:t>C: {C1, C2, C3}</a:t>
            </a:r>
          </a:p>
          <a:p>
            <a:r>
              <a:rPr lang="pt-BR" dirty="0"/>
              <a:t>Total de combinações possíveis: 3³ = 27.</a:t>
            </a:r>
            <a:br>
              <a:rPr lang="pt-BR" dirty="0"/>
            </a:br>
            <a:r>
              <a:rPr lang="pt-BR" dirty="0"/>
              <a:t>Com uma matriz ortogonal L9, testamos apenas 9 casos de teste mantendo cobertura equilibrada de pares de valores.</a:t>
            </a:r>
          </a:p>
        </p:txBody>
      </p:sp>
    </p:spTree>
    <p:extLst>
      <p:ext uri="{BB962C8B-B14F-4D97-AF65-F5344CB8AC3E}">
        <p14:creationId xmlns:p14="http://schemas.microsoft.com/office/powerpoint/2010/main" val="38043219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Teste Matriz Ortogonal</a:t>
            </a:r>
          </a:p>
        </p:txBody>
      </p:sp>
      <p:sp>
        <p:nvSpPr>
          <p:cNvPr id="4" name="Retângulo 3"/>
          <p:cNvSpPr/>
          <p:nvPr/>
        </p:nvSpPr>
        <p:spPr>
          <a:xfrm>
            <a:off x="781878" y="1559221"/>
            <a:ext cx="3564835" cy="923330"/>
          </a:xfrm>
          <a:prstGeom prst="rect">
            <a:avLst/>
          </a:prstGeom>
        </p:spPr>
        <p:txBody>
          <a:bodyPr wrap="square">
            <a:spAutoFit/>
          </a:bodyPr>
          <a:lstStyle/>
          <a:p>
            <a:r>
              <a:rPr lang="pt-BR" dirty="0"/>
              <a:t>A matriz ortogonal L9 (3³) ou 3 variáveis com 3 níveis é assim:</a:t>
            </a:r>
          </a:p>
          <a:p>
            <a:endParaRPr lang="pt-BR" dirty="0"/>
          </a:p>
        </p:txBody>
      </p:sp>
      <p:graphicFrame>
        <p:nvGraphicFramePr>
          <p:cNvPr id="3" name="Tabela 2"/>
          <p:cNvGraphicFramePr>
            <a:graphicFrameLocks noGrp="1"/>
          </p:cNvGraphicFramePr>
          <p:nvPr>
            <p:extLst>
              <p:ext uri="{D42A27DB-BD31-4B8C-83A1-F6EECF244321}">
                <p14:modId xmlns:p14="http://schemas.microsoft.com/office/powerpoint/2010/main" val="4192294646"/>
              </p:ext>
            </p:extLst>
          </p:nvPr>
        </p:nvGraphicFramePr>
        <p:xfrm>
          <a:off x="282713" y="2205552"/>
          <a:ext cx="5163932" cy="3708400"/>
        </p:xfrm>
        <a:graphic>
          <a:graphicData uri="http://schemas.openxmlformats.org/drawingml/2006/table">
            <a:tbl>
              <a:tblPr firstRow="1" bandRow="1">
                <a:tableStyleId>{5C22544A-7EE6-4342-B048-85BDC9FD1C3A}</a:tableStyleId>
              </a:tblPr>
              <a:tblGrid>
                <a:gridCol w="949740">
                  <a:extLst>
                    <a:ext uri="{9D8B030D-6E8A-4147-A177-3AD203B41FA5}">
                      <a16:colId xmlns:a16="http://schemas.microsoft.com/office/drawing/2014/main" val="20000"/>
                    </a:ext>
                  </a:extLst>
                </a:gridCol>
                <a:gridCol w="1285461">
                  <a:extLst>
                    <a:ext uri="{9D8B030D-6E8A-4147-A177-3AD203B41FA5}">
                      <a16:colId xmlns:a16="http://schemas.microsoft.com/office/drawing/2014/main" val="20001"/>
                    </a:ext>
                  </a:extLst>
                </a:gridCol>
                <a:gridCol w="1272208">
                  <a:extLst>
                    <a:ext uri="{9D8B030D-6E8A-4147-A177-3AD203B41FA5}">
                      <a16:colId xmlns:a16="http://schemas.microsoft.com/office/drawing/2014/main" val="20002"/>
                    </a:ext>
                  </a:extLst>
                </a:gridCol>
                <a:gridCol w="1656523">
                  <a:extLst>
                    <a:ext uri="{9D8B030D-6E8A-4147-A177-3AD203B41FA5}">
                      <a16:colId xmlns:a16="http://schemas.microsoft.com/office/drawing/2014/main" val="20003"/>
                    </a:ext>
                  </a:extLst>
                </a:gridCol>
              </a:tblGrid>
              <a:tr h="370840">
                <a:tc>
                  <a:txBody>
                    <a:bodyPr/>
                    <a:lstStyle/>
                    <a:p>
                      <a:r>
                        <a:rPr lang="pt-BR" dirty="0"/>
                        <a:t>Caso</a:t>
                      </a:r>
                    </a:p>
                  </a:txBody>
                  <a:tcPr/>
                </a:tc>
                <a:tc>
                  <a:txBody>
                    <a:bodyPr/>
                    <a:lstStyle/>
                    <a:p>
                      <a:r>
                        <a:rPr lang="pt-BR" dirty="0"/>
                        <a:t>Coluna</a:t>
                      </a:r>
                      <a:r>
                        <a:rPr lang="pt-BR" baseline="0" dirty="0"/>
                        <a:t> 1</a:t>
                      </a:r>
                      <a:endParaRPr lang="pt-BR" dirty="0"/>
                    </a:p>
                  </a:txBody>
                  <a:tcPr/>
                </a:tc>
                <a:tc>
                  <a:txBody>
                    <a:bodyPr/>
                    <a:lstStyle/>
                    <a:p>
                      <a:r>
                        <a:rPr lang="pt-BR" dirty="0"/>
                        <a:t>Coluna 2</a:t>
                      </a:r>
                    </a:p>
                  </a:txBody>
                  <a:tcPr/>
                </a:tc>
                <a:tc>
                  <a:txBody>
                    <a:bodyPr/>
                    <a:lstStyle/>
                    <a:p>
                      <a:r>
                        <a:rPr lang="pt-BR" dirty="0"/>
                        <a:t>Coluna 3</a:t>
                      </a:r>
                    </a:p>
                  </a:txBody>
                  <a:tcPr/>
                </a:tc>
                <a:extLst>
                  <a:ext uri="{0D108BD9-81ED-4DB2-BD59-A6C34878D82A}">
                    <a16:rowId xmlns:a16="http://schemas.microsoft.com/office/drawing/2014/main" val="10000"/>
                  </a:ext>
                </a:extLst>
              </a:tr>
              <a:tr h="370840">
                <a:tc>
                  <a:txBody>
                    <a:bodyPr/>
                    <a:lstStyle/>
                    <a:p>
                      <a:r>
                        <a:rPr lang="pt-BR" dirty="0"/>
                        <a:t>1</a:t>
                      </a:r>
                    </a:p>
                  </a:txBody>
                  <a:tcPr/>
                </a:tc>
                <a:tc>
                  <a:txBody>
                    <a:bodyPr/>
                    <a:lstStyle/>
                    <a:p>
                      <a:r>
                        <a:rPr lang="pt-BR" dirty="0"/>
                        <a:t>1</a:t>
                      </a:r>
                    </a:p>
                  </a:txBody>
                  <a:tcPr/>
                </a:tc>
                <a:tc>
                  <a:txBody>
                    <a:bodyPr/>
                    <a:lstStyle/>
                    <a:p>
                      <a:r>
                        <a:rPr lang="pt-BR" dirty="0"/>
                        <a:t>1</a:t>
                      </a:r>
                    </a:p>
                  </a:txBody>
                  <a:tcPr/>
                </a:tc>
                <a:tc>
                  <a:txBody>
                    <a:bodyPr/>
                    <a:lstStyle/>
                    <a:p>
                      <a:r>
                        <a:rPr lang="pt-BR" dirty="0"/>
                        <a:t>1</a:t>
                      </a:r>
                    </a:p>
                  </a:txBody>
                  <a:tcPr/>
                </a:tc>
                <a:extLst>
                  <a:ext uri="{0D108BD9-81ED-4DB2-BD59-A6C34878D82A}">
                    <a16:rowId xmlns:a16="http://schemas.microsoft.com/office/drawing/2014/main" val="10001"/>
                  </a:ext>
                </a:extLst>
              </a:tr>
              <a:tr h="370840">
                <a:tc>
                  <a:txBody>
                    <a:bodyPr/>
                    <a:lstStyle/>
                    <a:p>
                      <a:r>
                        <a:rPr lang="pt-BR" dirty="0"/>
                        <a:t>2</a:t>
                      </a:r>
                    </a:p>
                  </a:txBody>
                  <a:tcPr/>
                </a:tc>
                <a:tc>
                  <a:txBody>
                    <a:bodyPr/>
                    <a:lstStyle/>
                    <a:p>
                      <a:r>
                        <a:rPr lang="pt-BR" dirty="0"/>
                        <a:t>1</a:t>
                      </a:r>
                    </a:p>
                  </a:txBody>
                  <a:tcPr/>
                </a:tc>
                <a:tc>
                  <a:txBody>
                    <a:bodyPr/>
                    <a:lstStyle/>
                    <a:p>
                      <a:r>
                        <a:rPr lang="pt-BR" dirty="0"/>
                        <a:t>2</a:t>
                      </a:r>
                    </a:p>
                  </a:txBody>
                  <a:tcPr/>
                </a:tc>
                <a:tc>
                  <a:txBody>
                    <a:bodyPr/>
                    <a:lstStyle/>
                    <a:p>
                      <a:r>
                        <a:rPr lang="pt-BR" dirty="0"/>
                        <a:t>2</a:t>
                      </a:r>
                    </a:p>
                  </a:txBody>
                  <a:tcPr/>
                </a:tc>
                <a:extLst>
                  <a:ext uri="{0D108BD9-81ED-4DB2-BD59-A6C34878D82A}">
                    <a16:rowId xmlns:a16="http://schemas.microsoft.com/office/drawing/2014/main" val="10002"/>
                  </a:ext>
                </a:extLst>
              </a:tr>
              <a:tr h="370840">
                <a:tc>
                  <a:txBody>
                    <a:bodyPr/>
                    <a:lstStyle/>
                    <a:p>
                      <a:r>
                        <a:rPr lang="pt-BR" dirty="0"/>
                        <a:t>3</a:t>
                      </a:r>
                    </a:p>
                  </a:txBody>
                  <a:tcPr/>
                </a:tc>
                <a:tc>
                  <a:txBody>
                    <a:bodyPr/>
                    <a:lstStyle/>
                    <a:p>
                      <a:r>
                        <a:rPr lang="pt-BR" dirty="0"/>
                        <a:t>1</a:t>
                      </a:r>
                    </a:p>
                  </a:txBody>
                  <a:tcPr/>
                </a:tc>
                <a:tc>
                  <a:txBody>
                    <a:bodyPr/>
                    <a:lstStyle/>
                    <a:p>
                      <a:r>
                        <a:rPr lang="pt-BR" dirty="0"/>
                        <a:t>3</a:t>
                      </a:r>
                    </a:p>
                  </a:txBody>
                  <a:tcPr/>
                </a:tc>
                <a:tc>
                  <a:txBody>
                    <a:bodyPr/>
                    <a:lstStyle/>
                    <a:p>
                      <a:r>
                        <a:rPr lang="pt-BR" dirty="0"/>
                        <a:t>3</a:t>
                      </a:r>
                    </a:p>
                  </a:txBody>
                  <a:tcPr/>
                </a:tc>
                <a:extLst>
                  <a:ext uri="{0D108BD9-81ED-4DB2-BD59-A6C34878D82A}">
                    <a16:rowId xmlns:a16="http://schemas.microsoft.com/office/drawing/2014/main" val="10003"/>
                  </a:ext>
                </a:extLst>
              </a:tr>
              <a:tr h="370840">
                <a:tc>
                  <a:txBody>
                    <a:bodyPr/>
                    <a:lstStyle/>
                    <a:p>
                      <a:r>
                        <a:rPr lang="pt-BR" dirty="0"/>
                        <a:t>4</a:t>
                      </a:r>
                    </a:p>
                  </a:txBody>
                  <a:tcPr/>
                </a:tc>
                <a:tc>
                  <a:txBody>
                    <a:bodyPr/>
                    <a:lstStyle/>
                    <a:p>
                      <a:r>
                        <a:rPr lang="pt-BR" dirty="0"/>
                        <a:t>2</a:t>
                      </a:r>
                    </a:p>
                  </a:txBody>
                  <a:tcPr/>
                </a:tc>
                <a:tc>
                  <a:txBody>
                    <a:bodyPr/>
                    <a:lstStyle/>
                    <a:p>
                      <a:r>
                        <a:rPr lang="pt-BR" dirty="0"/>
                        <a:t>1</a:t>
                      </a:r>
                    </a:p>
                  </a:txBody>
                  <a:tcPr/>
                </a:tc>
                <a:tc>
                  <a:txBody>
                    <a:bodyPr/>
                    <a:lstStyle/>
                    <a:p>
                      <a:r>
                        <a:rPr lang="pt-BR" dirty="0"/>
                        <a:t>2</a:t>
                      </a:r>
                    </a:p>
                  </a:txBody>
                  <a:tcPr/>
                </a:tc>
                <a:extLst>
                  <a:ext uri="{0D108BD9-81ED-4DB2-BD59-A6C34878D82A}">
                    <a16:rowId xmlns:a16="http://schemas.microsoft.com/office/drawing/2014/main" val="10004"/>
                  </a:ext>
                </a:extLst>
              </a:tr>
              <a:tr h="370840">
                <a:tc>
                  <a:txBody>
                    <a:bodyPr/>
                    <a:lstStyle/>
                    <a:p>
                      <a:r>
                        <a:rPr lang="pt-BR" dirty="0"/>
                        <a:t>5</a:t>
                      </a:r>
                    </a:p>
                  </a:txBody>
                  <a:tcPr/>
                </a:tc>
                <a:tc>
                  <a:txBody>
                    <a:bodyPr/>
                    <a:lstStyle/>
                    <a:p>
                      <a:r>
                        <a:rPr lang="pt-BR" dirty="0"/>
                        <a:t>2</a:t>
                      </a:r>
                    </a:p>
                  </a:txBody>
                  <a:tcPr/>
                </a:tc>
                <a:tc>
                  <a:txBody>
                    <a:bodyPr/>
                    <a:lstStyle/>
                    <a:p>
                      <a:r>
                        <a:rPr lang="pt-BR" dirty="0"/>
                        <a:t>2</a:t>
                      </a:r>
                    </a:p>
                  </a:txBody>
                  <a:tcPr/>
                </a:tc>
                <a:tc>
                  <a:txBody>
                    <a:bodyPr/>
                    <a:lstStyle/>
                    <a:p>
                      <a:r>
                        <a:rPr lang="pt-BR" dirty="0"/>
                        <a:t>3</a:t>
                      </a:r>
                    </a:p>
                  </a:txBody>
                  <a:tcPr/>
                </a:tc>
                <a:extLst>
                  <a:ext uri="{0D108BD9-81ED-4DB2-BD59-A6C34878D82A}">
                    <a16:rowId xmlns:a16="http://schemas.microsoft.com/office/drawing/2014/main" val="10005"/>
                  </a:ext>
                </a:extLst>
              </a:tr>
              <a:tr h="370840">
                <a:tc>
                  <a:txBody>
                    <a:bodyPr/>
                    <a:lstStyle/>
                    <a:p>
                      <a:r>
                        <a:rPr lang="pt-BR" dirty="0"/>
                        <a:t>6</a:t>
                      </a:r>
                    </a:p>
                  </a:txBody>
                  <a:tcPr/>
                </a:tc>
                <a:tc>
                  <a:txBody>
                    <a:bodyPr/>
                    <a:lstStyle/>
                    <a:p>
                      <a:r>
                        <a:rPr lang="pt-BR" dirty="0"/>
                        <a:t>2</a:t>
                      </a:r>
                    </a:p>
                  </a:txBody>
                  <a:tcPr/>
                </a:tc>
                <a:tc>
                  <a:txBody>
                    <a:bodyPr/>
                    <a:lstStyle/>
                    <a:p>
                      <a:r>
                        <a:rPr lang="pt-BR" dirty="0"/>
                        <a:t>3</a:t>
                      </a:r>
                    </a:p>
                  </a:txBody>
                  <a:tcPr/>
                </a:tc>
                <a:tc>
                  <a:txBody>
                    <a:bodyPr/>
                    <a:lstStyle/>
                    <a:p>
                      <a:r>
                        <a:rPr lang="pt-BR" dirty="0"/>
                        <a:t>1</a:t>
                      </a:r>
                    </a:p>
                  </a:txBody>
                  <a:tcPr/>
                </a:tc>
                <a:extLst>
                  <a:ext uri="{0D108BD9-81ED-4DB2-BD59-A6C34878D82A}">
                    <a16:rowId xmlns:a16="http://schemas.microsoft.com/office/drawing/2014/main" val="10006"/>
                  </a:ext>
                </a:extLst>
              </a:tr>
              <a:tr h="370840">
                <a:tc>
                  <a:txBody>
                    <a:bodyPr/>
                    <a:lstStyle/>
                    <a:p>
                      <a:r>
                        <a:rPr lang="pt-BR" dirty="0"/>
                        <a:t>7</a:t>
                      </a:r>
                    </a:p>
                  </a:txBody>
                  <a:tcPr/>
                </a:tc>
                <a:tc>
                  <a:txBody>
                    <a:bodyPr/>
                    <a:lstStyle/>
                    <a:p>
                      <a:r>
                        <a:rPr lang="pt-BR" dirty="0"/>
                        <a:t>3</a:t>
                      </a:r>
                    </a:p>
                  </a:txBody>
                  <a:tcPr/>
                </a:tc>
                <a:tc>
                  <a:txBody>
                    <a:bodyPr/>
                    <a:lstStyle/>
                    <a:p>
                      <a:r>
                        <a:rPr lang="pt-BR" dirty="0"/>
                        <a:t>1</a:t>
                      </a:r>
                    </a:p>
                  </a:txBody>
                  <a:tcPr/>
                </a:tc>
                <a:tc>
                  <a:txBody>
                    <a:bodyPr/>
                    <a:lstStyle/>
                    <a:p>
                      <a:r>
                        <a:rPr lang="pt-BR" dirty="0"/>
                        <a:t>3</a:t>
                      </a:r>
                    </a:p>
                  </a:txBody>
                  <a:tcPr/>
                </a:tc>
                <a:extLst>
                  <a:ext uri="{0D108BD9-81ED-4DB2-BD59-A6C34878D82A}">
                    <a16:rowId xmlns:a16="http://schemas.microsoft.com/office/drawing/2014/main" val="10007"/>
                  </a:ext>
                </a:extLst>
              </a:tr>
              <a:tr h="370840">
                <a:tc>
                  <a:txBody>
                    <a:bodyPr/>
                    <a:lstStyle/>
                    <a:p>
                      <a:r>
                        <a:rPr lang="pt-BR" dirty="0"/>
                        <a:t>8</a:t>
                      </a:r>
                    </a:p>
                  </a:txBody>
                  <a:tcPr/>
                </a:tc>
                <a:tc>
                  <a:txBody>
                    <a:bodyPr/>
                    <a:lstStyle/>
                    <a:p>
                      <a:r>
                        <a:rPr lang="pt-BR" dirty="0"/>
                        <a:t>3</a:t>
                      </a:r>
                    </a:p>
                  </a:txBody>
                  <a:tcPr/>
                </a:tc>
                <a:tc>
                  <a:txBody>
                    <a:bodyPr/>
                    <a:lstStyle/>
                    <a:p>
                      <a:r>
                        <a:rPr lang="pt-BR" dirty="0"/>
                        <a:t>2</a:t>
                      </a:r>
                    </a:p>
                  </a:txBody>
                  <a:tcPr/>
                </a:tc>
                <a:tc>
                  <a:txBody>
                    <a:bodyPr/>
                    <a:lstStyle/>
                    <a:p>
                      <a:r>
                        <a:rPr lang="pt-BR" dirty="0"/>
                        <a:t>1</a:t>
                      </a:r>
                    </a:p>
                  </a:txBody>
                  <a:tcPr/>
                </a:tc>
                <a:extLst>
                  <a:ext uri="{0D108BD9-81ED-4DB2-BD59-A6C34878D82A}">
                    <a16:rowId xmlns:a16="http://schemas.microsoft.com/office/drawing/2014/main" val="10008"/>
                  </a:ext>
                </a:extLst>
              </a:tr>
              <a:tr h="370840">
                <a:tc>
                  <a:txBody>
                    <a:bodyPr/>
                    <a:lstStyle/>
                    <a:p>
                      <a:r>
                        <a:rPr lang="pt-BR" dirty="0"/>
                        <a:t>9</a:t>
                      </a:r>
                    </a:p>
                  </a:txBody>
                  <a:tcPr/>
                </a:tc>
                <a:tc>
                  <a:txBody>
                    <a:bodyPr/>
                    <a:lstStyle/>
                    <a:p>
                      <a:r>
                        <a:rPr lang="pt-BR" dirty="0"/>
                        <a:t>3</a:t>
                      </a:r>
                    </a:p>
                  </a:txBody>
                  <a:tcPr/>
                </a:tc>
                <a:tc>
                  <a:txBody>
                    <a:bodyPr/>
                    <a:lstStyle/>
                    <a:p>
                      <a:r>
                        <a:rPr lang="pt-BR" dirty="0"/>
                        <a:t>3</a:t>
                      </a:r>
                    </a:p>
                  </a:txBody>
                  <a:tcPr/>
                </a:tc>
                <a:tc>
                  <a:txBody>
                    <a:bodyPr/>
                    <a:lstStyle/>
                    <a:p>
                      <a:r>
                        <a:rPr lang="pt-BR" dirty="0"/>
                        <a:t>2</a:t>
                      </a:r>
                    </a:p>
                  </a:txBody>
                  <a:tcPr/>
                </a:tc>
                <a:extLst>
                  <a:ext uri="{0D108BD9-81ED-4DB2-BD59-A6C34878D82A}">
                    <a16:rowId xmlns:a16="http://schemas.microsoft.com/office/drawing/2014/main" val="10009"/>
                  </a:ext>
                </a:extLst>
              </a:tr>
            </a:tbl>
          </a:graphicData>
        </a:graphic>
      </p:graphicFrame>
      <p:graphicFrame>
        <p:nvGraphicFramePr>
          <p:cNvPr id="6" name="Tabela 5"/>
          <p:cNvGraphicFramePr>
            <a:graphicFrameLocks noGrp="1"/>
          </p:cNvGraphicFramePr>
          <p:nvPr>
            <p:extLst>
              <p:ext uri="{D42A27DB-BD31-4B8C-83A1-F6EECF244321}">
                <p14:modId xmlns:p14="http://schemas.microsoft.com/office/powerpoint/2010/main" val="1059513222"/>
              </p:ext>
            </p:extLst>
          </p:nvPr>
        </p:nvGraphicFramePr>
        <p:xfrm>
          <a:off x="6248400" y="2304943"/>
          <a:ext cx="5163932" cy="3708400"/>
        </p:xfrm>
        <a:graphic>
          <a:graphicData uri="http://schemas.openxmlformats.org/drawingml/2006/table">
            <a:tbl>
              <a:tblPr firstRow="1" bandRow="1">
                <a:tableStyleId>{5C22544A-7EE6-4342-B048-85BDC9FD1C3A}</a:tableStyleId>
              </a:tblPr>
              <a:tblGrid>
                <a:gridCol w="949740">
                  <a:extLst>
                    <a:ext uri="{9D8B030D-6E8A-4147-A177-3AD203B41FA5}">
                      <a16:colId xmlns:a16="http://schemas.microsoft.com/office/drawing/2014/main" val="20000"/>
                    </a:ext>
                  </a:extLst>
                </a:gridCol>
                <a:gridCol w="1285461">
                  <a:extLst>
                    <a:ext uri="{9D8B030D-6E8A-4147-A177-3AD203B41FA5}">
                      <a16:colId xmlns:a16="http://schemas.microsoft.com/office/drawing/2014/main" val="20001"/>
                    </a:ext>
                  </a:extLst>
                </a:gridCol>
                <a:gridCol w="1272208">
                  <a:extLst>
                    <a:ext uri="{9D8B030D-6E8A-4147-A177-3AD203B41FA5}">
                      <a16:colId xmlns:a16="http://schemas.microsoft.com/office/drawing/2014/main" val="20002"/>
                    </a:ext>
                  </a:extLst>
                </a:gridCol>
                <a:gridCol w="1656523">
                  <a:extLst>
                    <a:ext uri="{9D8B030D-6E8A-4147-A177-3AD203B41FA5}">
                      <a16:colId xmlns:a16="http://schemas.microsoft.com/office/drawing/2014/main" val="20003"/>
                    </a:ext>
                  </a:extLst>
                </a:gridCol>
              </a:tblGrid>
              <a:tr h="370840">
                <a:tc>
                  <a:txBody>
                    <a:bodyPr/>
                    <a:lstStyle/>
                    <a:p>
                      <a:r>
                        <a:rPr lang="pt-BR" dirty="0"/>
                        <a:t>Caso</a:t>
                      </a:r>
                    </a:p>
                  </a:txBody>
                  <a:tcPr/>
                </a:tc>
                <a:tc>
                  <a:txBody>
                    <a:bodyPr/>
                    <a:lstStyle/>
                    <a:p>
                      <a:r>
                        <a:rPr lang="pt-BR" dirty="0"/>
                        <a:t>A</a:t>
                      </a:r>
                    </a:p>
                  </a:txBody>
                  <a:tcPr/>
                </a:tc>
                <a:tc>
                  <a:txBody>
                    <a:bodyPr/>
                    <a:lstStyle/>
                    <a:p>
                      <a:r>
                        <a:rPr lang="pt-BR" dirty="0"/>
                        <a:t>B</a:t>
                      </a:r>
                    </a:p>
                  </a:txBody>
                  <a:tcPr/>
                </a:tc>
                <a:tc>
                  <a:txBody>
                    <a:bodyPr/>
                    <a:lstStyle/>
                    <a:p>
                      <a:r>
                        <a:rPr lang="pt-BR" dirty="0"/>
                        <a:t>C</a:t>
                      </a:r>
                    </a:p>
                  </a:txBody>
                  <a:tcPr/>
                </a:tc>
                <a:extLst>
                  <a:ext uri="{0D108BD9-81ED-4DB2-BD59-A6C34878D82A}">
                    <a16:rowId xmlns:a16="http://schemas.microsoft.com/office/drawing/2014/main" val="10000"/>
                  </a:ext>
                </a:extLst>
              </a:tr>
              <a:tr h="370840">
                <a:tc>
                  <a:txBody>
                    <a:bodyPr/>
                    <a:lstStyle/>
                    <a:p>
                      <a:r>
                        <a:rPr lang="pt-BR" dirty="0"/>
                        <a:t>1</a:t>
                      </a:r>
                    </a:p>
                  </a:txBody>
                  <a:tcPr/>
                </a:tc>
                <a:tc>
                  <a:txBody>
                    <a:bodyPr/>
                    <a:lstStyle/>
                    <a:p>
                      <a:r>
                        <a:rPr lang="pt-BR" dirty="0"/>
                        <a:t>A1</a:t>
                      </a:r>
                    </a:p>
                  </a:txBody>
                  <a:tcPr/>
                </a:tc>
                <a:tc>
                  <a:txBody>
                    <a:bodyPr/>
                    <a:lstStyle/>
                    <a:p>
                      <a:r>
                        <a:rPr lang="pt-BR" dirty="0"/>
                        <a:t>B1</a:t>
                      </a:r>
                    </a:p>
                  </a:txBody>
                  <a:tcPr/>
                </a:tc>
                <a:tc>
                  <a:txBody>
                    <a:bodyPr/>
                    <a:lstStyle/>
                    <a:p>
                      <a:r>
                        <a:rPr lang="pt-BR" dirty="0"/>
                        <a:t>C1</a:t>
                      </a:r>
                    </a:p>
                  </a:txBody>
                  <a:tcPr/>
                </a:tc>
                <a:extLst>
                  <a:ext uri="{0D108BD9-81ED-4DB2-BD59-A6C34878D82A}">
                    <a16:rowId xmlns:a16="http://schemas.microsoft.com/office/drawing/2014/main" val="10001"/>
                  </a:ext>
                </a:extLst>
              </a:tr>
              <a:tr h="370840">
                <a:tc>
                  <a:txBody>
                    <a:bodyPr/>
                    <a:lstStyle/>
                    <a:p>
                      <a:r>
                        <a:rPr lang="pt-BR" dirty="0"/>
                        <a:t>2</a:t>
                      </a:r>
                    </a:p>
                  </a:txBody>
                  <a:tcPr/>
                </a:tc>
                <a:tc>
                  <a:txBody>
                    <a:bodyPr/>
                    <a:lstStyle/>
                    <a:p>
                      <a:r>
                        <a:rPr lang="pt-BR" dirty="0"/>
                        <a:t>A1</a:t>
                      </a:r>
                    </a:p>
                  </a:txBody>
                  <a:tcPr/>
                </a:tc>
                <a:tc>
                  <a:txBody>
                    <a:bodyPr/>
                    <a:lstStyle/>
                    <a:p>
                      <a:r>
                        <a:rPr lang="pt-BR" dirty="0"/>
                        <a:t>B2</a:t>
                      </a:r>
                    </a:p>
                  </a:txBody>
                  <a:tcPr/>
                </a:tc>
                <a:tc>
                  <a:txBody>
                    <a:bodyPr/>
                    <a:lstStyle/>
                    <a:p>
                      <a:r>
                        <a:rPr lang="pt-BR" dirty="0"/>
                        <a:t>C2</a:t>
                      </a:r>
                    </a:p>
                  </a:txBody>
                  <a:tcPr/>
                </a:tc>
                <a:extLst>
                  <a:ext uri="{0D108BD9-81ED-4DB2-BD59-A6C34878D82A}">
                    <a16:rowId xmlns:a16="http://schemas.microsoft.com/office/drawing/2014/main" val="10002"/>
                  </a:ext>
                </a:extLst>
              </a:tr>
              <a:tr h="370840">
                <a:tc>
                  <a:txBody>
                    <a:bodyPr/>
                    <a:lstStyle/>
                    <a:p>
                      <a:r>
                        <a:rPr lang="pt-BR" dirty="0"/>
                        <a:t>3</a:t>
                      </a:r>
                    </a:p>
                  </a:txBody>
                  <a:tcPr/>
                </a:tc>
                <a:tc>
                  <a:txBody>
                    <a:bodyPr/>
                    <a:lstStyle/>
                    <a:p>
                      <a:r>
                        <a:rPr lang="pt-BR" dirty="0"/>
                        <a:t>A1</a:t>
                      </a:r>
                    </a:p>
                  </a:txBody>
                  <a:tcPr/>
                </a:tc>
                <a:tc>
                  <a:txBody>
                    <a:bodyPr/>
                    <a:lstStyle/>
                    <a:p>
                      <a:r>
                        <a:rPr lang="pt-BR" dirty="0"/>
                        <a:t>B3</a:t>
                      </a:r>
                    </a:p>
                  </a:txBody>
                  <a:tcPr/>
                </a:tc>
                <a:tc>
                  <a:txBody>
                    <a:bodyPr/>
                    <a:lstStyle/>
                    <a:p>
                      <a:r>
                        <a:rPr lang="pt-BR" dirty="0"/>
                        <a:t>C3</a:t>
                      </a:r>
                    </a:p>
                  </a:txBody>
                  <a:tcPr/>
                </a:tc>
                <a:extLst>
                  <a:ext uri="{0D108BD9-81ED-4DB2-BD59-A6C34878D82A}">
                    <a16:rowId xmlns:a16="http://schemas.microsoft.com/office/drawing/2014/main" val="10003"/>
                  </a:ext>
                </a:extLst>
              </a:tr>
              <a:tr h="370840">
                <a:tc>
                  <a:txBody>
                    <a:bodyPr/>
                    <a:lstStyle/>
                    <a:p>
                      <a:r>
                        <a:rPr lang="pt-BR" dirty="0"/>
                        <a:t>4</a:t>
                      </a:r>
                    </a:p>
                  </a:txBody>
                  <a:tcPr/>
                </a:tc>
                <a:tc>
                  <a:txBody>
                    <a:bodyPr/>
                    <a:lstStyle/>
                    <a:p>
                      <a:r>
                        <a:rPr lang="pt-BR" dirty="0"/>
                        <a:t>A2</a:t>
                      </a:r>
                    </a:p>
                  </a:txBody>
                  <a:tcPr/>
                </a:tc>
                <a:tc>
                  <a:txBody>
                    <a:bodyPr/>
                    <a:lstStyle/>
                    <a:p>
                      <a:r>
                        <a:rPr lang="pt-BR" dirty="0"/>
                        <a:t>B1</a:t>
                      </a:r>
                    </a:p>
                  </a:txBody>
                  <a:tcPr/>
                </a:tc>
                <a:tc>
                  <a:txBody>
                    <a:bodyPr/>
                    <a:lstStyle/>
                    <a:p>
                      <a:r>
                        <a:rPr lang="pt-BR" dirty="0"/>
                        <a:t>C2</a:t>
                      </a:r>
                    </a:p>
                  </a:txBody>
                  <a:tcPr/>
                </a:tc>
                <a:extLst>
                  <a:ext uri="{0D108BD9-81ED-4DB2-BD59-A6C34878D82A}">
                    <a16:rowId xmlns:a16="http://schemas.microsoft.com/office/drawing/2014/main" val="10004"/>
                  </a:ext>
                </a:extLst>
              </a:tr>
              <a:tr h="370840">
                <a:tc>
                  <a:txBody>
                    <a:bodyPr/>
                    <a:lstStyle/>
                    <a:p>
                      <a:r>
                        <a:rPr lang="pt-BR" dirty="0"/>
                        <a:t>5</a:t>
                      </a:r>
                    </a:p>
                  </a:txBody>
                  <a:tcPr/>
                </a:tc>
                <a:tc>
                  <a:txBody>
                    <a:bodyPr/>
                    <a:lstStyle/>
                    <a:p>
                      <a:r>
                        <a:rPr lang="pt-BR" dirty="0"/>
                        <a:t>A2</a:t>
                      </a:r>
                    </a:p>
                  </a:txBody>
                  <a:tcPr/>
                </a:tc>
                <a:tc>
                  <a:txBody>
                    <a:bodyPr/>
                    <a:lstStyle/>
                    <a:p>
                      <a:r>
                        <a:rPr lang="pt-BR" dirty="0"/>
                        <a:t>B2</a:t>
                      </a:r>
                    </a:p>
                  </a:txBody>
                  <a:tcPr/>
                </a:tc>
                <a:tc>
                  <a:txBody>
                    <a:bodyPr/>
                    <a:lstStyle/>
                    <a:p>
                      <a:r>
                        <a:rPr lang="pt-BR" dirty="0"/>
                        <a:t>C3</a:t>
                      </a:r>
                    </a:p>
                  </a:txBody>
                  <a:tcPr/>
                </a:tc>
                <a:extLst>
                  <a:ext uri="{0D108BD9-81ED-4DB2-BD59-A6C34878D82A}">
                    <a16:rowId xmlns:a16="http://schemas.microsoft.com/office/drawing/2014/main" val="10005"/>
                  </a:ext>
                </a:extLst>
              </a:tr>
              <a:tr h="370840">
                <a:tc>
                  <a:txBody>
                    <a:bodyPr/>
                    <a:lstStyle/>
                    <a:p>
                      <a:r>
                        <a:rPr lang="pt-BR" dirty="0"/>
                        <a:t>6</a:t>
                      </a:r>
                    </a:p>
                  </a:txBody>
                  <a:tcPr/>
                </a:tc>
                <a:tc>
                  <a:txBody>
                    <a:bodyPr/>
                    <a:lstStyle/>
                    <a:p>
                      <a:r>
                        <a:rPr lang="pt-BR" dirty="0"/>
                        <a:t>A2</a:t>
                      </a:r>
                    </a:p>
                  </a:txBody>
                  <a:tcPr/>
                </a:tc>
                <a:tc>
                  <a:txBody>
                    <a:bodyPr/>
                    <a:lstStyle/>
                    <a:p>
                      <a:r>
                        <a:rPr lang="pt-BR" dirty="0"/>
                        <a:t>B3</a:t>
                      </a:r>
                    </a:p>
                  </a:txBody>
                  <a:tcPr/>
                </a:tc>
                <a:tc>
                  <a:txBody>
                    <a:bodyPr/>
                    <a:lstStyle/>
                    <a:p>
                      <a:r>
                        <a:rPr lang="pt-BR" dirty="0"/>
                        <a:t>C1</a:t>
                      </a:r>
                    </a:p>
                  </a:txBody>
                  <a:tcPr/>
                </a:tc>
                <a:extLst>
                  <a:ext uri="{0D108BD9-81ED-4DB2-BD59-A6C34878D82A}">
                    <a16:rowId xmlns:a16="http://schemas.microsoft.com/office/drawing/2014/main" val="10006"/>
                  </a:ext>
                </a:extLst>
              </a:tr>
              <a:tr h="370840">
                <a:tc>
                  <a:txBody>
                    <a:bodyPr/>
                    <a:lstStyle/>
                    <a:p>
                      <a:r>
                        <a:rPr lang="pt-BR" dirty="0"/>
                        <a:t>7</a:t>
                      </a:r>
                    </a:p>
                  </a:txBody>
                  <a:tcPr/>
                </a:tc>
                <a:tc>
                  <a:txBody>
                    <a:bodyPr/>
                    <a:lstStyle/>
                    <a:p>
                      <a:r>
                        <a:rPr lang="pt-BR" dirty="0"/>
                        <a:t>A3</a:t>
                      </a:r>
                    </a:p>
                  </a:txBody>
                  <a:tcPr/>
                </a:tc>
                <a:tc>
                  <a:txBody>
                    <a:bodyPr/>
                    <a:lstStyle/>
                    <a:p>
                      <a:r>
                        <a:rPr lang="pt-BR" dirty="0"/>
                        <a:t>B1</a:t>
                      </a:r>
                    </a:p>
                  </a:txBody>
                  <a:tcPr/>
                </a:tc>
                <a:tc>
                  <a:txBody>
                    <a:bodyPr/>
                    <a:lstStyle/>
                    <a:p>
                      <a:r>
                        <a:rPr lang="pt-BR" dirty="0"/>
                        <a:t>C3</a:t>
                      </a:r>
                    </a:p>
                  </a:txBody>
                  <a:tcPr/>
                </a:tc>
                <a:extLst>
                  <a:ext uri="{0D108BD9-81ED-4DB2-BD59-A6C34878D82A}">
                    <a16:rowId xmlns:a16="http://schemas.microsoft.com/office/drawing/2014/main" val="10007"/>
                  </a:ext>
                </a:extLst>
              </a:tr>
              <a:tr h="370840">
                <a:tc>
                  <a:txBody>
                    <a:bodyPr/>
                    <a:lstStyle/>
                    <a:p>
                      <a:r>
                        <a:rPr lang="pt-BR" dirty="0"/>
                        <a:t>8</a:t>
                      </a:r>
                    </a:p>
                  </a:txBody>
                  <a:tcPr/>
                </a:tc>
                <a:tc>
                  <a:txBody>
                    <a:bodyPr/>
                    <a:lstStyle/>
                    <a:p>
                      <a:r>
                        <a:rPr lang="pt-BR" dirty="0"/>
                        <a:t>A3</a:t>
                      </a:r>
                    </a:p>
                  </a:txBody>
                  <a:tcPr/>
                </a:tc>
                <a:tc>
                  <a:txBody>
                    <a:bodyPr/>
                    <a:lstStyle/>
                    <a:p>
                      <a:r>
                        <a:rPr lang="pt-BR" dirty="0"/>
                        <a:t>B2</a:t>
                      </a:r>
                    </a:p>
                  </a:txBody>
                  <a:tcPr/>
                </a:tc>
                <a:tc>
                  <a:txBody>
                    <a:bodyPr/>
                    <a:lstStyle/>
                    <a:p>
                      <a:r>
                        <a:rPr lang="pt-BR" dirty="0"/>
                        <a:t>C1</a:t>
                      </a:r>
                    </a:p>
                  </a:txBody>
                  <a:tcPr/>
                </a:tc>
                <a:extLst>
                  <a:ext uri="{0D108BD9-81ED-4DB2-BD59-A6C34878D82A}">
                    <a16:rowId xmlns:a16="http://schemas.microsoft.com/office/drawing/2014/main" val="10008"/>
                  </a:ext>
                </a:extLst>
              </a:tr>
              <a:tr h="370840">
                <a:tc>
                  <a:txBody>
                    <a:bodyPr/>
                    <a:lstStyle/>
                    <a:p>
                      <a:r>
                        <a:rPr lang="pt-BR" dirty="0"/>
                        <a:t>9</a:t>
                      </a:r>
                    </a:p>
                  </a:txBody>
                  <a:tcPr/>
                </a:tc>
                <a:tc>
                  <a:txBody>
                    <a:bodyPr/>
                    <a:lstStyle/>
                    <a:p>
                      <a:r>
                        <a:rPr lang="pt-BR" dirty="0"/>
                        <a:t>A3</a:t>
                      </a:r>
                    </a:p>
                  </a:txBody>
                  <a:tcPr/>
                </a:tc>
                <a:tc>
                  <a:txBody>
                    <a:bodyPr/>
                    <a:lstStyle/>
                    <a:p>
                      <a:r>
                        <a:rPr lang="pt-BR" dirty="0"/>
                        <a:t>B3</a:t>
                      </a:r>
                    </a:p>
                  </a:txBody>
                  <a:tcPr/>
                </a:tc>
                <a:tc>
                  <a:txBody>
                    <a:bodyPr/>
                    <a:lstStyle/>
                    <a:p>
                      <a:r>
                        <a:rPr lang="pt-BR" dirty="0"/>
                        <a:t>C2</a:t>
                      </a:r>
                    </a:p>
                  </a:txBody>
                  <a:tcPr/>
                </a:tc>
                <a:extLst>
                  <a:ext uri="{0D108BD9-81ED-4DB2-BD59-A6C34878D82A}">
                    <a16:rowId xmlns:a16="http://schemas.microsoft.com/office/drawing/2014/main" val="10009"/>
                  </a:ext>
                </a:extLst>
              </a:tr>
            </a:tbl>
          </a:graphicData>
        </a:graphic>
      </p:graphicFrame>
      <p:sp>
        <p:nvSpPr>
          <p:cNvPr id="7" name="Retângulo 6"/>
          <p:cNvSpPr/>
          <p:nvPr/>
        </p:nvSpPr>
        <p:spPr>
          <a:xfrm>
            <a:off x="6235147" y="1548059"/>
            <a:ext cx="3564835" cy="923330"/>
          </a:xfrm>
          <a:prstGeom prst="rect">
            <a:avLst/>
          </a:prstGeom>
        </p:spPr>
        <p:txBody>
          <a:bodyPr wrap="square">
            <a:spAutoFit/>
          </a:bodyPr>
          <a:lstStyle/>
          <a:p>
            <a:r>
              <a:rPr lang="pt-BR" dirty="0"/>
              <a:t>No exemplo ela seria desta forma</a:t>
            </a:r>
          </a:p>
          <a:p>
            <a:endParaRPr lang="pt-BR" dirty="0"/>
          </a:p>
        </p:txBody>
      </p:sp>
    </p:spTree>
    <p:extLst>
      <p:ext uri="{BB962C8B-B14F-4D97-AF65-F5344CB8AC3E}">
        <p14:creationId xmlns:p14="http://schemas.microsoft.com/office/powerpoint/2010/main" val="26645370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Teste Matriz Ortogonal</a:t>
            </a:r>
          </a:p>
        </p:txBody>
      </p:sp>
      <p:sp>
        <p:nvSpPr>
          <p:cNvPr id="4" name="Retângulo 3"/>
          <p:cNvSpPr/>
          <p:nvPr/>
        </p:nvSpPr>
        <p:spPr>
          <a:xfrm>
            <a:off x="781877" y="1271838"/>
            <a:ext cx="10269299" cy="1754326"/>
          </a:xfrm>
          <a:prstGeom prst="rect">
            <a:avLst/>
          </a:prstGeom>
        </p:spPr>
        <p:txBody>
          <a:bodyPr wrap="square">
            <a:spAutoFit/>
          </a:bodyPr>
          <a:lstStyle/>
          <a:p>
            <a:r>
              <a:rPr lang="pt-BR" dirty="0"/>
              <a:t>Em um exemplo mais prático: </a:t>
            </a:r>
          </a:p>
          <a:p>
            <a:r>
              <a:rPr lang="pt-BR" b="1" dirty="0"/>
              <a:t>A:</a:t>
            </a:r>
            <a:r>
              <a:rPr lang="pt-BR" dirty="0"/>
              <a:t> Navegador → {</a:t>
            </a:r>
            <a:r>
              <a:rPr lang="pt-BR" dirty="0" err="1"/>
              <a:t>Chrome</a:t>
            </a:r>
            <a:r>
              <a:rPr lang="pt-BR" dirty="0"/>
              <a:t>, Firefox, Edge}</a:t>
            </a:r>
          </a:p>
          <a:p>
            <a:r>
              <a:rPr lang="pt-BR" b="1" dirty="0"/>
              <a:t>B:</a:t>
            </a:r>
            <a:r>
              <a:rPr lang="pt-BR" dirty="0"/>
              <a:t> Sistema Operacional → {Windows, Linux, </a:t>
            </a:r>
            <a:r>
              <a:rPr lang="pt-BR" dirty="0" err="1"/>
              <a:t>macOS</a:t>
            </a:r>
            <a:r>
              <a:rPr lang="pt-BR" dirty="0"/>
              <a:t>}</a:t>
            </a:r>
          </a:p>
          <a:p>
            <a:r>
              <a:rPr lang="pt-BR" b="1" dirty="0"/>
              <a:t>C:</a:t>
            </a:r>
            <a:r>
              <a:rPr lang="pt-BR" dirty="0"/>
              <a:t> Tipo de conexão → {Wi-Fi, 4G, Ethernet}</a:t>
            </a:r>
          </a:p>
          <a:p>
            <a:endParaRPr lang="pt-BR" dirty="0"/>
          </a:p>
          <a:p>
            <a:endParaRPr lang="pt-BR" dirty="0"/>
          </a:p>
        </p:txBody>
      </p:sp>
      <p:graphicFrame>
        <p:nvGraphicFramePr>
          <p:cNvPr id="6" name="Tabela 5"/>
          <p:cNvGraphicFramePr>
            <a:graphicFrameLocks noGrp="1"/>
          </p:cNvGraphicFramePr>
          <p:nvPr>
            <p:extLst>
              <p:ext uri="{D42A27DB-BD31-4B8C-83A1-F6EECF244321}">
                <p14:modId xmlns:p14="http://schemas.microsoft.com/office/powerpoint/2010/main" val="3998058130"/>
              </p:ext>
            </p:extLst>
          </p:nvPr>
        </p:nvGraphicFramePr>
        <p:xfrm>
          <a:off x="2042158" y="2693222"/>
          <a:ext cx="8460378" cy="3708400"/>
        </p:xfrm>
        <a:graphic>
          <a:graphicData uri="http://schemas.openxmlformats.org/drawingml/2006/table">
            <a:tbl>
              <a:tblPr firstRow="1" bandRow="1">
                <a:tableStyleId>{5C22544A-7EE6-4342-B048-85BDC9FD1C3A}</a:tableStyleId>
              </a:tblPr>
              <a:tblGrid>
                <a:gridCol w="1556016">
                  <a:extLst>
                    <a:ext uri="{9D8B030D-6E8A-4147-A177-3AD203B41FA5}">
                      <a16:colId xmlns:a16="http://schemas.microsoft.com/office/drawing/2014/main" val="20000"/>
                    </a:ext>
                  </a:extLst>
                </a:gridCol>
                <a:gridCol w="2227861">
                  <a:extLst>
                    <a:ext uri="{9D8B030D-6E8A-4147-A177-3AD203B41FA5}">
                      <a16:colId xmlns:a16="http://schemas.microsoft.com/office/drawing/2014/main" val="20001"/>
                    </a:ext>
                  </a:extLst>
                </a:gridCol>
                <a:gridCol w="2037805">
                  <a:extLst>
                    <a:ext uri="{9D8B030D-6E8A-4147-A177-3AD203B41FA5}">
                      <a16:colId xmlns:a16="http://schemas.microsoft.com/office/drawing/2014/main" val="20002"/>
                    </a:ext>
                  </a:extLst>
                </a:gridCol>
                <a:gridCol w="2638696">
                  <a:extLst>
                    <a:ext uri="{9D8B030D-6E8A-4147-A177-3AD203B41FA5}">
                      <a16:colId xmlns:a16="http://schemas.microsoft.com/office/drawing/2014/main" val="20003"/>
                    </a:ext>
                  </a:extLst>
                </a:gridCol>
              </a:tblGrid>
              <a:tr h="370840">
                <a:tc>
                  <a:txBody>
                    <a:bodyPr/>
                    <a:lstStyle/>
                    <a:p>
                      <a:r>
                        <a:rPr lang="pt-BR" dirty="0"/>
                        <a:t>Caso</a:t>
                      </a:r>
                    </a:p>
                  </a:txBody>
                  <a:tcPr/>
                </a:tc>
                <a:tc>
                  <a:txBody>
                    <a:bodyPr/>
                    <a:lstStyle/>
                    <a:p>
                      <a:r>
                        <a:rPr lang="pt-BR" dirty="0"/>
                        <a:t>Navegador</a:t>
                      </a:r>
                    </a:p>
                  </a:txBody>
                  <a:tcPr/>
                </a:tc>
                <a:tc>
                  <a:txBody>
                    <a:bodyPr/>
                    <a:lstStyle/>
                    <a:p>
                      <a:r>
                        <a:rPr lang="pt-BR" dirty="0"/>
                        <a:t>SO</a:t>
                      </a:r>
                    </a:p>
                  </a:txBody>
                  <a:tcPr/>
                </a:tc>
                <a:tc>
                  <a:txBody>
                    <a:bodyPr/>
                    <a:lstStyle/>
                    <a:p>
                      <a:r>
                        <a:rPr lang="pt-BR" dirty="0"/>
                        <a:t>Conexão</a:t>
                      </a:r>
                    </a:p>
                  </a:txBody>
                  <a:tcPr/>
                </a:tc>
                <a:extLst>
                  <a:ext uri="{0D108BD9-81ED-4DB2-BD59-A6C34878D82A}">
                    <a16:rowId xmlns:a16="http://schemas.microsoft.com/office/drawing/2014/main" val="10000"/>
                  </a:ext>
                </a:extLst>
              </a:tr>
              <a:tr h="370840">
                <a:tc>
                  <a:txBody>
                    <a:bodyPr/>
                    <a:lstStyle/>
                    <a:p>
                      <a:r>
                        <a:rPr lang="pt-BR" dirty="0"/>
                        <a:t>1</a:t>
                      </a:r>
                    </a:p>
                  </a:txBody>
                  <a:tcPr/>
                </a:tc>
                <a:tc>
                  <a:txBody>
                    <a:bodyPr/>
                    <a:lstStyle/>
                    <a:p>
                      <a:r>
                        <a:rPr lang="pt-BR"/>
                        <a:t>Chrome</a:t>
                      </a:r>
                    </a:p>
                  </a:txBody>
                  <a:tcPr anchor="ctr"/>
                </a:tc>
                <a:tc>
                  <a:txBody>
                    <a:bodyPr/>
                    <a:lstStyle/>
                    <a:p>
                      <a:r>
                        <a:rPr lang="pt-BR" dirty="0"/>
                        <a:t>Windows</a:t>
                      </a:r>
                    </a:p>
                  </a:txBody>
                  <a:tcPr anchor="ctr"/>
                </a:tc>
                <a:tc>
                  <a:txBody>
                    <a:bodyPr/>
                    <a:lstStyle/>
                    <a:p>
                      <a:r>
                        <a:rPr lang="pt-BR" dirty="0"/>
                        <a:t>Wi-Fi</a:t>
                      </a:r>
                    </a:p>
                  </a:txBody>
                  <a:tcPr anchor="ctr"/>
                </a:tc>
                <a:extLst>
                  <a:ext uri="{0D108BD9-81ED-4DB2-BD59-A6C34878D82A}">
                    <a16:rowId xmlns:a16="http://schemas.microsoft.com/office/drawing/2014/main" val="10001"/>
                  </a:ext>
                </a:extLst>
              </a:tr>
              <a:tr h="370840">
                <a:tc>
                  <a:txBody>
                    <a:bodyPr/>
                    <a:lstStyle/>
                    <a:p>
                      <a:r>
                        <a:rPr lang="pt-BR" dirty="0"/>
                        <a:t>2</a:t>
                      </a:r>
                    </a:p>
                  </a:txBody>
                  <a:tcPr/>
                </a:tc>
                <a:tc>
                  <a:txBody>
                    <a:bodyPr/>
                    <a:lstStyle/>
                    <a:p>
                      <a:r>
                        <a:rPr lang="pt-BR" dirty="0" err="1"/>
                        <a:t>Chrome</a:t>
                      </a:r>
                      <a:endParaRPr lang="pt-BR" dirty="0"/>
                    </a:p>
                  </a:txBody>
                  <a:tcPr/>
                </a:tc>
                <a:tc>
                  <a:txBody>
                    <a:bodyPr/>
                    <a:lstStyle/>
                    <a:p>
                      <a:r>
                        <a:rPr lang="pt-BR" dirty="0"/>
                        <a:t>Linux</a:t>
                      </a:r>
                    </a:p>
                  </a:txBody>
                  <a:tcPr/>
                </a:tc>
                <a:tc>
                  <a:txBody>
                    <a:bodyPr/>
                    <a:lstStyle/>
                    <a:p>
                      <a:r>
                        <a:rPr lang="pt-BR" dirty="0"/>
                        <a:t>4G</a:t>
                      </a:r>
                    </a:p>
                  </a:txBody>
                  <a:tcPr/>
                </a:tc>
                <a:extLst>
                  <a:ext uri="{0D108BD9-81ED-4DB2-BD59-A6C34878D82A}">
                    <a16:rowId xmlns:a16="http://schemas.microsoft.com/office/drawing/2014/main" val="10002"/>
                  </a:ext>
                </a:extLst>
              </a:tr>
              <a:tr h="370840">
                <a:tc>
                  <a:txBody>
                    <a:bodyPr/>
                    <a:lstStyle/>
                    <a:p>
                      <a:r>
                        <a:rPr lang="pt-BR" dirty="0"/>
                        <a:t>3</a:t>
                      </a:r>
                    </a:p>
                  </a:txBody>
                  <a:tcPr/>
                </a:tc>
                <a:tc>
                  <a:txBody>
                    <a:bodyPr/>
                    <a:lstStyle/>
                    <a:p>
                      <a:r>
                        <a:rPr lang="pt-BR" dirty="0" err="1"/>
                        <a:t>Chrome</a:t>
                      </a:r>
                      <a:endParaRPr lang="pt-BR" dirty="0"/>
                    </a:p>
                  </a:txBody>
                  <a:tcPr/>
                </a:tc>
                <a:tc>
                  <a:txBody>
                    <a:bodyPr/>
                    <a:lstStyle/>
                    <a:p>
                      <a:r>
                        <a:rPr lang="pt-BR" dirty="0" err="1"/>
                        <a:t>macOS</a:t>
                      </a:r>
                      <a:endParaRPr lang="pt-BR" dirty="0"/>
                    </a:p>
                  </a:txBody>
                  <a:tcPr/>
                </a:tc>
                <a:tc>
                  <a:txBody>
                    <a:bodyPr/>
                    <a:lstStyle/>
                    <a:p>
                      <a:r>
                        <a:rPr lang="pt-BR" dirty="0"/>
                        <a:t>Ethernet</a:t>
                      </a:r>
                    </a:p>
                  </a:txBody>
                  <a:tcPr/>
                </a:tc>
                <a:extLst>
                  <a:ext uri="{0D108BD9-81ED-4DB2-BD59-A6C34878D82A}">
                    <a16:rowId xmlns:a16="http://schemas.microsoft.com/office/drawing/2014/main" val="10003"/>
                  </a:ext>
                </a:extLst>
              </a:tr>
              <a:tr h="370840">
                <a:tc>
                  <a:txBody>
                    <a:bodyPr/>
                    <a:lstStyle/>
                    <a:p>
                      <a:r>
                        <a:rPr lang="pt-BR" dirty="0"/>
                        <a:t>4</a:t>
                      </a:r>
                    </a:p>
                  </a:txBody>
                  <a:tcPr/>
                </a:tc>
                <a:tc>
                  <a:txBody>
                    <a:bodyPr/>
                    <a:lstStyle/>
                    <a:p>
                      <a:r>
                        <a:rPr lang="pt-BR" dirty="0"/>
                        <a:t>Firefox</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Windows</a:t>
                      </a:r>
                    </a:p>
                  </a:txBody>
                  <a:tcPr/>
                </a:tc>
                <a:tc>
                  <a:txBody>
                    <a:bodyPr/>
                    <a:lstStyle/>
                    <a:p>
                      <a:r>
                        <a:rPr lang="pt-BR" dirty="0"/>
                        <a:t>4G</a:t>
                      </a:r>
                    </a:p>
                  </a:txBody>
                  <a:tcPr/>
                </a:tc>
                <a:extLst>
                  <a:ext uri="{0D108BD9-81ED-4DB2-BD59-A6C34878D82A}">
                    <a16:rowId xmlns:a16="http://schemas.microsoft.com/office/drawing/2014/main" val="10004"/>
                  </a:ext>
                </a:extLst>
              </a:tr>
              <a:tr h="370840">
                <a:tc>
                  <a:txBody>
                    <a:bodyPr/>
                    <a:lstStyle/>
                    <a:p>
                      <a:r>
                        <a:rPr lang="pt-BR" dirty="0"/>
                        <a:t>5</a:t>
                      </a:r>
                    </a:p>
                  </a:txBody>
                  <a:tcPr/>
                </a:tc>
                <a:tc>
                  <a:txBody>
                    <a:bodyPr/>
                    <a:lstStyle/>
                    <a:p>
                      <a:r>
                        <a:rPr lang="pt-BR" dirty="0"/>
                        <a:t>Firefox</a:t>
                      </a:r>
                    </a:p>
                  </a:txBody>
                  <a:tcPr/>
                </a:tc>
                <a:tc>
                  <a:txBody>
                    <a:bodyPr/>
                    <a:lstStyle/>
                    <a:p>
                      <a:r>
                        <a:rPr lang="pt-BR" dirty="0"/>
                        <a:t>Linux</a:t>
                      </a:r>
                    </a:p>
                  </a:txBody>
                  <a:tcPr/>
                </a:tc>
                <a:tc>
                  <a:txBody>
                    <a:bodyPr/>
                    <a:lstStyle/>
                    <a:p>
                      <a:r>
                        <a:rPr lang="pt-BR" dirty="0"/>
                        <a:t>Ethernet</a:t>
                      </a:r>
                    </a:p>
                  </a:txBody>
                  <a:tcPr/>
                </a:tc>
                <a:extLst>
                  <a:ext uri="{0D108BD9-81ED-4DB2-BD59-A6C34878D82A}">
                    <a16:rowId xmlns:a16="http://schemas.microsoft.com/office/drawing/2014/main" val="10005"/>
                  </a:ext>
                </a:extLst>
              </a:tr>
              <a:tr h="370840">
                <a:tc>
                  <a:txBody>
                    <a:bodyPr/>
                    <a:lstStyle/>
                    <a:p>
                      <a:r>
                        <a:rPr lang="pt-BR" dirty="0"/>
                        <a:t>6</a:t>
                      </a:r>
                    </a:p>
                  </a:txBody>
                  <a:tcPr/>
                </a:tc>
                <a:tc>
                  <a:txBody>
                    <a:bodyPr/>
                    <a:lstStyle/>
                    <a:p>
                      <a:r>
                        <a:rPr lang="pt-BR" dirty="0"/>
                        <a:t>Firefox</a:t>
                      </a:r>
                    </a:p>
                  </a:txBody>
                  <a:tcPr/>
                </a:tc>
                <a:tc>
                  <a:txBody>
                    <a:bodyPr/>
                    <a:lstStyle/>
                    <a:p>
                      <a:r>
                        <a:rPr lang="pt-BR" dirty="0" err="1"/>
                        <a:t>macOS</a:t>
                      </a:r>
                      <a:endParaRPr lang="pt-BR" dirty="0"/>
                    </a:p>
                  </a:txBody>
                  <a:tcPr/>
                </a:tc>
                <a:tc>
                  <a:txBody>
                    <a:bodyPr/>
                    <a:lstStyle/>
                    <a:p>
                      <a:r>
                        <a:rPr lang="pt-BR" dirty="0"/>
                        <a:t>Wi-Fi</a:t>
                      </a:r>
                    </a:p>
                  </a:txBody>
                  <a:tcPr/>
                </a:tc>
                <a:extLst>
                  <a:ext uri="{0D108BD9-81ED-4DB2-BD59-A6C34878D82A}">
                    <a16:rowId xmlns:a16="http://schemas.microsoft.com/office/drawing/2014/main" val="10006"/>
                  </a:ext>
                </a:extLst>
              </a:tr>
              <a:tr h="370840">
                <a:tc>
                  <a:txBody>
                    <a:bodyPr/>
                    <a:lstStyle/>
                    <a:p>
                      <a:r>
                        <a:rPr lang="pt-BR" dirty="0"/>
                        <a:t>7</a:t>
                      </a:r>
                    </a:p>
                  </a:txBody>
                  <a:tcPr/>
                </a:tc>
                <a:tc>
                  <a:txBody>
                    <a:bodyPr/>
                    <a:lstStyle/>
                    <a:p>
                      <a:r>
                        <a:rPr lang="pt-BR" dirty="0"/>
                        <a:t>Edge</a:t>
                      </a:r>
                    </a:p>
                  </a:txBody>
                  <a:tcPr/>
                </a:tc>
                <a:tc>
                  <a:txBody>
                    <a:bodyPr/>
                    <a:lstStyle/>
                    <a:p>
                      <a:r>
                        <a:rPr lang="pt-BR" dirty="0"/>
                        <a:t>Windows</a:t>
                      </a:r>
                    </a:p>
                  </a:txBody>
                  <a:tcPr/>
                </a:tc>
                <a:tc>
                  <a:txBody>
                    <a:bodyPr/>
                    <a:lstStyle/>
                    <a:p>
                      <a:r>
                        <a:rPr lang="pt-BR" dirty="0"/>
                        <a:t>Ethernet</a:t>
                      </a:r>
                    </a:p>
                  </a:txBody>
                  <a:tcPr/>
                </a:tc>
                <a:extLst>
                  <a:ext uri="{0D108BD9-81ED-4DB2-BD59-A6C34878D82A}">
                    <a16:rowId xmlns:a16="http://schemas.microsoft.com/office/drawing/2014/main" val="10007"/>
                  </a:ext>
                </a:extLst>
              </a:tr>
              <a:tr h="370840">
                <a:tc>
                  <a:txBody>
                    <a:bodyPr/>
                    <a:lstStyle/>
                    <a:p>
                      <a:r>
                        <a:rPr lang="pt-BR" dirty="0"/>
                        <a:t>8</a:t>
                      </a:r>
                    </a:p>
                  </a:txBody>
                  <a:tcPr/>
                </a:tc>
                <a:tc>
                  <a:txBody>
                    <a:bodyPr/>
                    <a:lstStyle/>
                    <a:p>
                      <a:r>
                        <a:rPr lang="pt-BR" dirty="0"/>
                        <a:t>Edge</a:t>
                      </a:r>
                    </a:p>
                  </a:txBody>
                  <a:tcPr/>
                </a:tc>
                <a:tc>
                  <a:txBody>
                    <a:bodyPr/>
                    <a:lstStyle/>
                    <a:p>
                      <a:r>
                        <a:rPr lang="pt-BR" dirty="0"/>
                        <a:t>Linux</a:t>
                      </a:r>
                    </a:p>
                  </a:txBody>
                  <a:tcPr/>
                </a:tc>
                <a:tc>
                  <a:txBody>
                    <a:bodyPr/>
                    <a:lstStyle/>
                    <a:p>
                      <a:r>
                        <a:rPr lang="pt-BR" dirty="0"/>
                        <a:t>Wi-Fi</a:t>
                      </a:r>
                    </a:p>
                  </a:txBody>
                  <a:tcPr/>
                </a:tc>
                <a:extLst>
                  <a:ext uri="{0D108BD9-81ED-4DB2-BD59-A6C34878D82A}">
                    <a16:rowId xmlns:a16="http://schemas.microsoft.com/office/drawing/2014/main" val="10008"/>
                  </a:ext>
                </a:extLst>
              </a:tr>
              <a:tr h="370840">
                <a:tc>
                  <a:txBody>
                    <a:bodyPr/>
                    <a:lstStyle/>
                    <a:p>
                      <a:r>
                        <a:rPr lang="pt-BR" dirty="0"/>
                        <a:t>9</a:t>
                      </a:r>
                    </a:p>
                  </a:txBody>
                  <a:tcPr/>
                </a:tc>
                <a:tc>
                  <a:txBody>
                    <a:bodyPr/>
                    <a:lstStyle/>
                    <a:p>
                      <a:r>
                        <a:rPr lang="pt-BR" dirty="0"/>
                        <a:t>Edge</a:t>
                      </a:r>
                    </a:p>
                  </a:txBody>
                  <a:tcPr/>
                </a:tc>
                <a:tc>
                  <a:txBody>
                    <a:bodyPr/>
                    <a:lstStyle/>
                    <a:p>
                      <a:r>
                        <a:rPr lang="pt-BR" dirty="0" err="1"/>
                        <a:t>macOS</a:t>
                      </a:r>
                      <a:endParaRPr lang="pt-BR" dirty="0"/>
                    </a:p>
                  </a:txBody>
                  <a:tcPr/>
                </a:tc>
                <a:tc>
                  <a:txBody>
                    <a:bodyPr/>
                    <a:lstStyle/>
                    <a:p>
                      <a:r>
                        <a:rPr lang="pt-BR" dirty="0"/>
                        <a:t>4G</a:t>
                      </a:r>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726012962"/>
      </p:ext>
    </p:extLst>
  </p:cSld>
  <p:clrMapOvr>
    <a:masterClrMapping/>
  </p:clrMapOvr>
</p:sld>
</file>

<file path=ppt/theme/theme1.xml><?xml version="1.0" encoding="utf-8"?>
<a:theme xmlns:a="http://schemas.openxmlformats.org/drawingml/2006/main" name="puc">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uc">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2866</TotalTime>
  <Words>2830</Words>
  <Application>Microsoft Office PowerPoint</Application>
  <PresentationFormat>Widescreen</PresentationFormat>
  <Paragraphs>318</Paragraphs>
  <Slides>35</Slides>
  <Notes>1</Notes>
  <HiddenSlides>0</HiddenSlides>
  <MMClips>0</MMClips>
  <ScaleCrop>false</ScaleCrop>
  <HeadingPairs>
    <vt:vector size="6" baseType="variant">
      <vt:variant>
        <vt:lpstr>Fontes usadas</vt:lpstr>
      </vt:variant>
      <vt:variant>
        <vt:i4>7</vt:i4>
      </vt:variant>
      <vt:variant>
        <vt:lpstr>Tema</vt:lpstr>
      </vt:variant>
      <vt:variant>
        <vt:i4>2</vt:i4>
      </vt:variant>
      <vt:variant>
        <vt:lpstr>Títulos de slides</vt:lpstr>
      </vt:variant>
      <vt:variant>
        <vt:i4>35</vt:i4>
      </vt:variant>
    </vt:vector>
  </HeadingPairs>
  <TitlesOfParts>
    <vt:vector size="44" baseType="lpstr">
      <vt:lpstr>Aptos</vt:lpstr>
      <vt:lpstr>Arial</vt:lpstr>
      <vt:lpstr>Calibri</vt:lpstr>
      <vt:lpstr>DejaVu Sans</vt:lpstr>
      <vt:lpstr>Symbol</vt:lpstr>
      <vt:lpstr>Times New Roman</vt:lpstr>
      <vt:lpstr>Wingdings</vt:lpstr>
      <vt:lpstr>puc</vt:lpstr>
      <vt:lpstr>puc</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Teste de Estrutura de Controle:  Teste de fluxo de dados</vt:lpstr>
      <vt:lpstr>Apresentação do PowerPoint</vt:lpstr>
      <vt:lpstr>Apresentação do PowerPoint</vt:lpstr>
      <vt:lpstr>Apresentação do PowerPoint</vt:lpstr>
      <vt:lpstr>Apresentação do PowerPoint</vt:lpstr>
      <vt:lpstr>Teste Caixa-Preta</vt:lpstr>
      <vt:lpstr>Questões que responde a Caixa  preta</vt:lpstr>
      <vt:lpstr>Métodos de Teste Caixa  Preta</vt:lpstr>
      <vt:lpstr>Métodos de teste com base em grafo</vt:lpstr>
      <vt:lpstr>Notação de Grafo</vt:lpstr>
      <vt:lpstr>Casos de teste para o grafo</vt:lpstr>
      <vt:lpstr>Particionamento de equivalência</vt:lpstr>
      <vt:lpstr>Classes de Equivalência: regras de definição</vt:lpstr>
      <vt:lpstr>Características</vt:lpstr>
      <vt:lpstr>Teste</vt:lpstr>
      <vt:lpstr>Exemplo</vt:lpstr>
      <vt:lpstr>Determinação das classes de equivalência</vt:lpstr>
      <vt:lpstr>Determinação das classes de equivalência</vt:lpstr>
      <vt:lpstr>Determinação das classes de equivalência</vt:lpstr>
      <vt:lpstr> Análise de valores-limite </vt:lpstr>
      <vt:lpstr>Exemplo 1 - Análise de valores limites </vt:lpstr>
      <vt:lpstr>Análise de valores limite</vt:lpstr>
      <vt:lpstr>Análise de valores limite</vt:lpstr>
      <vt:lpstr>Teste Baseado em Modelos</vt:lpstr>
      <vt:lpstr>Teste Baseado em Modelos: Passos</vt:lpstr>
      <vt:lpstr>Teste Matriz Ortogonal</vt:lpstr>
      <vt:lpstr>Teste Matriz Ortogonal</vt:lpstr>
      <vt:lpstr>Teste Matriz Ortogonal</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Luiz Henrique Proença Soares</dc:creator>
  <cp:lastModifiedBy>CECILIA SOSA ARIAS PEIXOTO</cp:lastModifiedBy>
  <cp:revision>328</cp:revision>
  <dcterms:created xsi:type="dcterms:W3CDTF">2015-02-10T17:45:35Z</dcterms:created>
  <dcterms:modified xsi:type="dcterms:W3CDTF">2025-11-04T13:21:28Z</dcterms:modified>
  <dc:language>pt-BR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0x0101006CFD0211DE75424E90D6B9FC9752CE9C</vt:lpwstr>
  </property>
  <property fmtid="{D5CDD505-2E9C-101B-9397-08002B2CF9AE}" pid="3" name="HiddenSlides">
    <vt:i4>1</vt:i4>
  </property>
  <property fmtid="{D5CDD505-2E9C-101B-9397-08002B2CF9AE}" pid="4" name="Notes">
    <vt:i4>1</vt:i4>
  </property>
  <property fmtid="{D5CDD505-2E9C-101B-9397-08002B2CF9AE}" pid="5" name="PresentationFormat">
    <vt:lpwstr>Widescreen</vt:lpwstr>
  </property>
  <property fmtid="{D5CDD505-2E9C-101B-9397-08002B2CF9AE}" pid="6" name="Slides">
    <vt:i4>31</vt:i4>
  </property>
  <property fmtid="{D5CDD505-2E9C-101B-9397-08002B2CF9AE}" pid="7" name="_dlc_DocIdItemGuid">
    <vt:lpwstr>c4e29cf4-0531-4add-8990-adc6a2a1b232</vt:lpwstr>
  </property>
</Properties>
</file>