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98" r:id="rId2"/>
    <p:sldId id="311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99" r:id="rId13"/>
    <p:sldId id="272" r:id="rId14"/>
    <p:sldId id="273" r:id="rId15"/>
    <p:sldId id="317" r:id="rId16"/>
    <p:sldId id="287" r:id="rId17"/>
    <p:sldId id="288" r:id="rId18"/>
    <p:sldId id="316" r:id="rId19"/>
    <p:sldId id="313" r:id="rId20"/>
    <p:sldId id="312" r:id="rId21"/>
    <p:sldId id="314" r:id="rId22"/>
    <p:sldId id="315" r:id="rId23"/>
  </p:sldIdLst>
  <p:sldSz cx="10083800" cy="7556500"/>
  <p:notesSz cx="100838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40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4"/>
          <p:cNvSpPr txBox="1">
            <a:spLocks noGrp="1"/>
          </p:cNvSpPr>
          <p:nvPr>
            <p:ph type="title"/>
          </p:nvPr>
        </p:nvSpPr>
        <p:spPr>
          <a:xfrm>
            <a:off x="3441700" y="635569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15" name="Google Shape;15;p44"/>
          <p:cNvSpPr txBox="1">
            <a:spLocks noGrp="1"/>
          </p:cNvSpPr>
          <p:nvPr>
            <p:ph type="body" idx="1"/>
          </p:nvPr>
        </p:nvSpPr>
        <p:spPr>
          <a:xfrm>
            <a:off x="1235325" y="2218434"/>
            <a:ext cx="70927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29" y="207646"/>
            <a:ext cx="2362268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>
            <a:spLocks noGrp="1"/>
          </p:cNvSpPr>
          <p:nvPr>
            <p:ph type="ctrTitle"/>
          </p:nvPr>
        </p:nvSpPr>
        <p:spPr>
          <a:xfrm>
            <a:off x="756285" y="2342516"/>
            <a:ext cx="857123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subTitle" idx="1"/>
          </p:nvPr>
        </p:nvSpPr>
        <p:spPr>
          <a:xfrm>
            <a:off x="1512570" y="4231641"/>
            <a:ext cx="70586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ftr" idx="11"/>
          </p:nvPr>
        </p:nvSpPr>
        <p:spPr>
          <a:xfrm>
            <a:off x="864544" y="6792254"/>
            <a:ext cx="4904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30" name="Google Shape;30;p46"/>
          <p:cNvSpPr txBox="1">
            <a:spLocks noGrp="1"/>
          </p:cNvSpPr>
          <p:nvPr>
            <p:ph type="dt" idx="10"/>
          </p:nvPr>
        </p:nvSpPr>
        <p:spPr>
          <a:xfrm>
            <a:off x="504190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12700">
              <a:lnSpc>
                <a:spcPts val="1630"/>
              </a:lnSpc>
            </a:pPr>
            <a:r>
              <a:rPr lang="pt-BR" spc="-10"/>
              <a:t>13/12/13</a:t>
            </a:r>
            <a:endParaRPr lang="pt-BR" spc="-10" dirty="0"/>
          </a:p>
        </p:txBody>
      </p:sp>
      <p:sp>
        <p:nvSpPr>
          <p:cNvPr id="31" name="Google Shape;31;p46"/>
          <p:cNvSpPr txBox="1">
            <a:spLocks noGrp="1"/>
          </p:cNvSpPr>
          <p:nvPr>
            <p:ph type="sldNum" idx="12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pt-BR" spc="-25" smtClean="0"/>
              <a:t>‹nº›</a:t>
            </a:fld>
            <a:endParaRPr lang="pt-BR"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7"/>
          <p:cNvSpPr txBox="1">
            <a:spLocks noGrp="1"/>
          </p:cNvSpPr>
          <p:nvPr>
            <p:ph type="title"/>
          </p:nvPr>
        </p:nvSpPr>
        <p:spPr>
          <a:xfrm>
            <a:off x="1235325" y="1653032"/>
            <a:ext cx="76131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ftr" idx="11"/>
          </p:nvPr>
        </p:nvSpPr>
        <p:spPr>
          <a:xfrm>
            <a:off x="864544" y="6792254"/>
            <a:ext cx="4904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35" name="Google Shape;35;p47"/>
          <p:cNvSpPr txBox="1">
            <a:spLocks noGrp="1"/>
          </p:cNvSpPr>
          <p:nvPr>
            <p:ph type="dt" idx="10"/>
          </p:nvPr>
        </p:nvSpPr>
        <p:spPr>
          <a:xfrm>
            <a:off x="504190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12700">
              <a:lnSpc>
                <a:spcPts val="1630"/>
              </a:lnSpc>
            </a:pPr>
            <a:r>
              <a:rPr lang="pt-BR" spc="-10"/>
              <a:t>13/12/13</a:t>
            </a:r>
            <a:endParaRPr lang="pt-BR" spc="-10" dirty="0"/>
          </a:p>
        </p:txBody>
      </p:sp>
      <p:sp>
        <p:nvSpPr>
          <p:cNvPr id="36" name="Google Shape;36;p47"/>
          <p:cNvSpPr txBox="1">
            <a:spLocks noGrp="1"/>
          </p:cNvSpPr>
          <p:nvPr>
            <p:ph type="sldNum" idx="12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pt-BR" spc="-25" smtClean="0"/>
              <a:t>‹nº›</a:t>
            </a:fld>
            <a:endParaRPr lang="pt-BR"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 txBox="1">
            <a:spLocks noGrp="1"/>
          </p:cNvSpPr>
          <p:nvPr>
            <p:ph type="ftr" idx="11"/>
          </p:nvPr>
        </p:nvSpPr>
        <p:spPr>
          <a:xfrm>
            <a:off x="864544" y="6792254"/>
            <a:ext cx="4904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39" name="Google Shape;39;p48"/>
          <p:cNvSpPr txBox="1">
            <a:spLocks noGrp="1"/>
          </p:cNvSpPr>
          <p:nvPr>
            <p:ph type="dt" idx="10"/>
          </p:nvPr>
        </p:nvSpPr>
        <p:spPr>
          <a:xfrm>
            <a:off x="504190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12700">
              <a:lnSpc>
                <a:spcPts val="1630"/>
              </a:lnSpc>
            </a:pPr>
            <a:r>
              <a:rPr lang="pt-BR" spc="-10"/>
              <a:t>13/12/13</a:t>
            </a:r>
            <a:endParaRPr lang="pt-BR" spc="-10" dirty="0"/>
          </a:p>
        </p:txBody>
      </p:sp>
      <p:sp>
        <p:nvSpPr>
          <p:cNvPr id="40" name="Google Shape;40;p48"/>
          <p:cNvSpPr txBox="1">
            <a:spLocks noGrp="1"/>
          </p:cNvSpPr>
          <p:nvPr>
            <p:ph type="sldNum" idx="12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pt-BR" spc="-25" smtClean="0"/>
              <a:t>‹nº›</a:t>
            </a:fld>
            <a:endParaRPr lang="pt-BR"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D00"/>
                </a:solidFill>
                <a:latin typeface="Arial"/>
                <a:cs typeface="Arial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lang="pt-BR" spc="-10"/>
              <a:t>13/12/13</a:t>
            </a:r>
            <a:endParaRPr lang="pt-BR"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pt-BR" spc="-25" smtClean="0"/>
              <a:t>‹nº›</a:t>
            </a:fld>
            <a:endParaRPr lang="pt-BR"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D00"/>
                </a:solidFill>
                <a:latin typeface="Arial"/>
                <a:cs typeface="Arial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lang="pt-BR" spc="-10"/>
              <a:t>13/12/13</a:t>
            </a:r>
            <a:endParaRPr lang="pt-BR"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pt-BR" spc="-25" smtClean="0"/>
              <a:t>‹nº›</a:t>
            </a:fld>
            <a:endParaRPr lang="pt-BR"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/>
          <p:nvPr/>
        </p:nvSpPr>
        <p:spPr>
          <a:xfrm>
            <a:off x="729933" y="1402074"/>
            <a:ext cx="8622727" cy="29209"/>
          </a:xfrm>
          <a:custGeom>
            <a:avLst/>
            <a:gdLst/>
            <a:ahLst/>
            <a:cxnLst/>
            <a:rect l="l" t="t" r="r" b="b"/>
            <a:pathLst>
              <a:path w="9144000" h="29209" extrusionOk="0">
                <a:moveTo>
                  <a:pt x="9143999" y="28955"/>
                </a:moveTo>
                <a:lnTo>
                  <a:pt x="9143999" y="0"/>
                </a:lnTo>
                <a:lnTo>
                  <a:pt x="0" y="0"/>
                </a:lnTo>
                <a:lnTo>
                  <a:pt x="0" y="28955"/>
                </a:lnTo>
                <a:lnTo>
                  <a:pt x="9143999" y="289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7;p4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6167" y="445001"/>
            <a:ext cx="491495" cy="8854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43"/>
          <p:cNvSpPr txBox="1">
            <a:spLocks noGrp="1"/>
          </p:cNvSpPr>
          <p:nvPr>
            <p:ph type="title"/>
          </p:nvPr>
        </p:nvSpPr>
        <p:spPr>
          <a:xfrm>
            <a:off x="1235325" y="1653032"/>
            <a:ext cx="76131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43"/>
          <p:cNvSpPr txBox="1">
            <a:spLocks noGrp="1"/>
          </p:cNvSpPr>
          <p:nvPr>
            <p:ph type="body" idx="1"/>
          </p:nvPr>
        </p:nvSpPr>
        <p:spPr>
          <a:xfrm>
            <a:off x="1235325" y="2218434"/>
            <a:ext cx="70927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ftr" idx="11"/>
          </p:nvPr>
        </p:nvSpPr>
        <p:spPr>
          <a:xfrm>
            <a:off x="864544" y="6792254"/>
            <a:ext cx="4904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lang="pt-BR"/>
          </a:p>
        </p:txBody>
      </p:sp>
      <p:sp>
        <p:nvSpPr>
          <p:cNvPr id="11" name="Google Shape;11;p43"/>
          <p:cNvSpPr txBox="1">
            <a:spLocks noGrp="1"/>
          </p:cNvSpPr>
          <p:nvPr>
            <p:ph type="dt" idx="10"/>
          </p:nvPr>
        </p:nvSpPr>
        <p:spPr>
          <a:xfrm>
            <a:off x="504190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marL="12700">
              <a:lnSpc>
                <a:spcPts val="1630"/>
              </a:lnSpc>
            </a:pPr>
            <a:r>
              <a:rPr lang="pt-BR" spc="-10"/>
              <a:t>13/12/13</a:t>
            </a:r>
            <a:endParaRPr lang="pt-BR" spc="-10" dirty="0"/>
          </a:p>
        </p:txBody>
      </p:sp>
      <p:sp>
        <p:nvSpPr>
          <p:cNvPr id="12" name="Google Shape;12;p43"/>
          <p:cNvSpPr txBox="1">
            <a:spLocks noGrp="1"/>
          </p:cNvSpPr>
          <p:nvPr>
            <p:ph type="sldNum" idx="12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pt-BR" spc="-25" smtClean="0"/>
              <a:t>‹nº›</a:t>
            </a:fld>
            <a:endParaRPr lang="pt-BR" spc="-25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31900" y="3778250"/>
            <a:ext cx="7613150" cy="1354217"/>
          </a:xfrm>
        </p:spPr>
        <p:txBody>
          <a:bodyPr/>
          <a:lstStyle/>
          <a:p>
            <a:pPr algn="ctr"/>
            <a:r>
              <a:rPr lang="pt-BR" dirty="0"/>
              <a:t>Projeto de Interação, Interface e do Software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196850"/>
            <a:ext cx="1981200" cy="1300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611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77201" y="348145"/>
            <a:ext cx="137836" cy="251568"/>
          </a:xfrm>
          <a:prstGeom prst="rect">
            <a:avLst/>
          </a:prstGeom>
        </p:spPr>
        <p:txBody>
          <a:bodyPr vert="horz" wrap="square" lIns="0" tIns="13994" rIns="0" bIns="0" rtlCol="0">
            <a:spAutoFit/>
          </a:bodyPr>
          <a:lstStyle/>
          <a:p>
            <a:pPr marL="13994">
              <a:spcBef>
                <a:spcPts val="110"/>
              </a:spcBef>
            </a:pPr>
            <a:r>
              <a:rPr sz="1543" b="1" spc="-55" dirty="0">
                <a:solidFill>
                  <a:srgbClr val="D2810E"/>
                </a:solidFill>
                <a:latin typeface="Arial"/>
                <a:cs typeface="Arial"/>
              </a:rPr>
              <a:t>2</a:t>
            </a:r>
            <a:endParaRPr sz="1543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96477" y="700303"/>
            <a:ext cx="6716889" cy="457135"/>
          </a:xfrm>
          <a:prstGeom prst="rect">
            <a:avLst/>
          </a:prstGeom>
        </p:spPr>
        <p:txBody>
          <a:bodyPr spcFirstLastPara="1" vert="horz" wrap="square" lIns="0" tIns="13294" rIns="0" bIns="0" rtlCol="0" anchor="t" anchorCtr="0">
            <a:spAutoFit/>
          </a:bodyPr>
          <a:lstStyle/>
          <a:p>
            <a:pPr marL="13994">
              <a:spcBef>
                <a:spcPts val="105"/>
              </a:spcBef>
            </a:pPr>
            <a:r>
              <a:rPr dirty="0"/>
              <a:t>Design</a:t>
            </a:r>
            <a:endParaRPr spc="-28" dirty="0"/>
          </a:p>
        </p:txBody>
      </p:sp>
      <p:sp>
        <p:nvSpPr>
          <p:cNvPr id="4" name="object 4"/>
          <p:cNvSpPr txBox="1"/>
          <p:nvPr/>
        </p:nvSpPr>
        <p:spPr>
          <a:xfrm>
            <a:off x="593365" y="1580428"/>
            <a:ext cx="5253867" cy="1139876"/>
          </a:xfrm>
          <a:prstGeom prst="rect">
            <a:avLst/>
          </a:prstGeom>
        </p:spPr>
        <p:txBody>
          <a:bodyPr vert="horz" wrap="square" lIns="0" tIns="82562" rIns="0" bIns="0" rtlCol="0">
            <a:spAutoFit/>
          </a:bodyPr>
          <a:lstStyle/>
          <a:p>
            <a:pPr marL="13994">
              <a:spcBef>
                <a:spcPts val="650"/>
              </a:spcBef>
              <a:tabLst>
                <a:tab pos="391136" algn="l"/>
              </a:tabLst>
            </a:pPr>
            <a:endParaRPr sz="1983" dirty="0">
              <a:latin typeface="Arial MT"/>
              <a:cs typeface="Arial MT"/>
            </a:endParaRPr>
          </a:p>
          <a:p>
            <a:pPr lvl="1">
              <a:spcBef>
                <a:spcPts val="1052"/>
              </a:spcBef>
              <a:buFont typeface="Arial MT"/>
              <a:buChar char="–"/>
            </a:pPr>
            <a:endParaRPr sz="1983" dirty="0">
              <a:latin typeface="Arial MT"/>
              <a:cs typeface="Arial MT"/>
            </a:endParaRPr>
          </a:p>
          <a:p>
            <a:pPr marL="833350" lvl="1" indent="-316267">
              <a:buChar char="–"/>
              <a:tabLst>
                <a:tab pos="833350" algn="l"/>
              </a:tabLst>
            </a:pPr>
            <a:r>
              <a:rPr sz="1983" spc="-11" dirty="0">
                <a:latin typeface="Arial MT"/>
                <a:cs typeface="Arial MT"/>
              </a:rPr>
              <a:t>DESIGN</a:t>
            </a:r>
            <a:endParaRPr sz="1983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39086" y="3788987"/>
            <a:ext cx="1433636" cy="284717"/>
          </a:xfrm>
          <a:prstGeom prst="rect">
            <a:avLst/>
          </a:prstGeom>
        </p:spPr>
        <p:txBody>
          <a:bodyPr vert="horz" wrap="square" lIns="0" tIns="13294" rIns="0" bIns="0" rtlCol="0">
            <a:spAutoFit/>
          </a:bodyPr>
          <a:lstStyle/>
          <a:p>
            <a:pPr marL="13994">
              <a:spcBef>
                <a:spcPts val="105"/>
              </a:spcBef>
            </a:pPr>
            <a:r>
              <a:rPr sz="1763" spc="-11" dirty="0">
                <a:latin typeface="Arial MT"/>
                <a:cs typeface="Arial MT"/>
              </a:rPr>
              <a:t>implementada</a:t>
            </a:r>
            <a:endParaRPr sz="1763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7132" y="4291632"/>
            <a:ext cx="5803812" cy="1264771"/>
          </a:xfrm>
          <a:prstGeom prst="rect">
            <a:avLst/>
          </a:prstGeom>
        </p:spPr>
        <p:txBody>
          <a:bodyPr vert="horz" wrap="square" lIns="0" tIns="76265" rIns="0" bIns="0" rtlCol="0">
            <a:spAutoFit/>
          </a:bodyPr>
          <a:lstStyle/>
          <a:p>
            <a:pPr marL="329562" indent="-315568">
              <a:spcBef>
                <a:spcPts val="601"/>
              </a:spcBef>
              <a:buChar char="–"/>
              <a:tabLst>
                <a:tab pos="329562" algn="l"/>
              </a:tabLst>
            </a:pPr>
            <a:r>
              <a:rPr sz="1983" dirty="0">
                <a:latin typeface="Arial MT"/>
                <a:cs typeface="Arial MT"/>
              </a:rPr>
              <a:t>DE</a:t>
            </a:r>
            <a:r>
              <a:rPr sz="1983" spc="-33" dirty="0">
                <a:latin typeface="Arial MT"/>
                <a:cs typeface="Arial MT"/>
              </a:rPr>
              <a:t> </a:t>
            </a:r>
            <a:r>
              <a:rPr sz="1983" spc="-28" dirty="0">
                <a:latin typeface="Arial MT"/>
                <a:cs typeface="Arial MT"/>
              </a:rPr>
              <a:t>IHC</a:t>
            </a:r>
            <a:endParaRPr sz="1983" dirty="0">
              <a:latin typeface="Arial MT"/>
              <a:cs typeface="Arial MT"/>
            </a:endParaRPr>
          </a:p>
          <a:p>
            <a:pPr marL="768977" marR="5598" lvl="1" indent="-251894">
              <a:spcBef>
                <a:spcPts val="430"/>
              </a:spcBef>
              <a:buChar char="•"/>
              <a:tabLst>
                <a:tab pos="768977" algn="l"/>
              </a:tabLst>
            </a:pPr>
            <a:r>
              <a:rPr sz="1763" dirty="0">
                <a:latin typeface="Arial MT"/>
                <a:cs typeface="Arial MT"/>
              </a:rPr>
              <a:t>Estamos</a:t>
            </a:r>
            <a:r>
              <a:rPr sz="1763" spc="-50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falando</a:t>
            </a:r>
            <a:r>
              <a:rPr sz="1763" spc="-39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da</a:t>
            </a:r>
            <a:r>
              <a:rPr sz="1763" spc="-22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EXPERIÊNCIA</a:t>
            </a:r>
            <a:r>
              <a:rPr sz="1763" spc="-66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DO</a:t>
            </a:r>
            <a:r>
              <a:rPr sz="1763" spc="-28" dirty="0">
                <a:latin typeface="Arial MT"/>
                <a:cs typeface="Arial MT"/>
              </a:rPr>
              <a:t> </a:t>
            </a:r>
            <a:r>
              <a:rPr sz="1763" spc="-11" dirty="0">
                <a:latin typeface="Arial MT"/>
                <a:cs typeface="Arial MT"/>
              </a:rPr>
              <a:t>USUÁRIO </a:t>
            </a:r>
            <a:r>
              <a:rPr sz="1763" dirty="0">
                <a:latin typeface="Arial MT"/>
                <a:cs typeface="Arial MT"/>
              </a:rPr>
              <a:t>(design</a:t>
            </a:r>
            <a:r>
              <a:rPr sz="1763" spc="-55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de</a:t>
            </a:r>
            <a:r>
              <a:rPr sz="1763" spc="-33" dirty="0">
                <a:latin typeface="Arial MT"/>
                <a:cs typeface="Arial MT"/>
              </a:rPr>
              <a:t> </a:t>
            </a:r>
            <a:r>
              <a:rPr sz="1763" spc="-11" dirty="0">
                <a:latin typeface="Arial MT"/>
                <a:cs typeface="Arial MT"/>
              </a:rPr>
              <a:t>interação)</a:t>
            </a:r>
            <a:endParaRPr sz="1763" dirty="0">
              <a:latin typeface="Arial MT"/>
              <a:cs typeface="Arial MT"/>
            </a:endParaRPr>
          </a:p>
          <a:p>
            <a:pPr marL="361049" algn="ctr">
              <a:spcBef>
                <a:spcPts val="369"/>
              </a:spcBef>
              <a:tabLst>
                <a:tab pos="612943" algn="l"/>
              </a:tabLst>
            </a:pPr>
            <a:r>
              <a:rPr sz="1543" spc="-55" dirty="0">
                <a:latin typeface="Arial MT"/>
                <a:cs typeface="Arial MT"/>
              </a:rPr>
              <a:t>–</a:t>
            </a:r>
            <a:r>
              <a:rPr sz="1543" dirty="0">
                <a:latin typeface="Arial MT"/>
                <a:cs typeface="Arial MT"/>
              </a:rPr>
              <a:t>	Isto</a:t>
            </a:r>
            <a:r>
              <a:rPr sz="1543" spc="-61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TEM</a:t>
            </a:r>
            <a:r>
              <a:rPr sz="1543" spc="-28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A</a:t>
            </a:r>
            <a:r>
              <a:rPr sz="1543" spc="-22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VER</a:t>
            </a:r>
            <a:r>
              <a:rPr sz="1543" spc="-11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COM</a:t>
            </a:r>
            <a:r>
              <a:rPr sz="1543" spc="-28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o</a:t>
            </a:r>
            <a:r>
              <a:rPr sz="1543" spc="-22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projeto</a:t>
            </a:r>
            <a:r>
              <a:rPr sz="1543" spc="-44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do</a:t>
            </a:r>
            <a:r>
              <a:rPr sz="1543" spc="-33" dirty="0">
                <a:latin typeface="Arial MT"/>
                <a:cs typeface="Arial MT"/>
              </a:rPr>
              <a:t> </a:t>
            </a:r>
            <a:r>
              <a:rPr sz="1543" spc="-11" dirty="0">
                <a:latin typeface="Arial MT"/>
                <a:cs typeface="Arial MT"/>
              </a:rPr>
              <a:t>software,</a:t>
            </a:r>
            <a:endParaRPr sz="1543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04664" y="5570272"/>
            <a:ext cx="4403060" cy="251568"/>
          </a:xfrm>
          <a:prstGeom prst="rect">
            <a:avLst/>
          </a:prstGeom>
        </p:spPr>
        <p:txBody>
          <a:bodyPr vert="horz" wrap="square" lIns="0" tIns="13994" rIns="0" bIns="0" rtlCol="0">
            <a:spAutoFit/>
          </a:bodyPr>
          <a:lstStyle/>
          <a:p>
            <a:pPr marL="13994">
              <a:spcBef>
                <a:spcPts val="110"/>
              </a:spcBef>
              <a:tabLst>
                <a:tab pos="265189" algn="l"/>
              </a:tabLst>
            </a:pPr>
            <a:r>
              <a:rPr sz="1543" spc="-55" dirty="0">
                <a:latin typeface="Arial MT"/>
                <a:cs typeface="Arial MT"/>
              </a:rPr>
              <a:t>–</a:t>
            </a:r>
            <a:r>
              <a:rPr sz="1543" dirty="0">
                <a:latin typeface="Arial MT"/>
                <a:cs typeface="Arial MT"/>
              </a:rPr>
              <a:t>	Mas</a:t>
            </a:r>
            <a:r>
              <a:rPr sz="1543" spc="-50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NÃO</a:t>
            </a:r>
            <a:r>
              <a:rPr sz="1543" spc="-28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É</a:t>
            </a:r>
            <a:r>
              <a:rPr sz="1543" spc="-17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SINÔNIMO</a:t>
            </a:r>
            <a:r>
              <a:rPr sz="1543" spc="-39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DE</a:t>
            </a:r>
            <a:r>
              <a:rPr sz="1543" spc="-17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projeto</a:t>
            </a:r>
            <a:r>
              <a:rPr sz="1543" spc="-66" dirty="0">
                <a:latin typeface="Arial MT"/>
                <a:cs typeface="Arial MT"/>
              </a:rPr>
              <a:t> </a:t>
            </a:r>
            <a:r>
              <a:rPr sz="1543" dirty="0">
                <a:latin typeface="Arial MT"/>
                <a:cs typeface="Arial MT"/>
              </a:rPr>
              <a:t>de</a:t>
            </a:r>
            <a:r>
              <a:rPr sz="1543" spc="-33" dirty="0">
                <a:latin typeface="Arial MT"/>
                <a:cs typeface="Arial MT"/>
              </a:rPr>
              <a:t> </a:t>
            </a:r>
            <a:r>
              <a:rPr sz="1543" spc="-11" dirty="0">
                <a:latin typeface="Arial MT"/>
                <a:cs typeface="Arial MT"/>
              </a:rPr>
              <a:t>software</a:t>
            </a:r>
            <a:endParaRPr sz="1543" dirty="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22111" y="3168650"/>
            <a:ext cx="7857361" cy="604970"/>
          </a:xfrm>
          <a:prstGeom prst="rect">
            <a:avLst/>
          </a:prstGeom>
        </p:spPr>
        <p:txBody>
          <a:bodyPr vert="horz" wrap="square" lIns="0" tIns="36382" rIns="0" bIns="0" rtlCol="0">
            <a:spAutoFit/>
          </a:bodyPr>
          <a:lstStyle/>
          <a:p>
            <a:pPr marL="293177" indent="-251195">
              <a:spcBef>
                <a:spcPts val="285"/>
              </a:spcBef>
              <a:buChar char="•"/>
              <a:tabLst>
                <a:tab pos="293177" algn="l"/>
              </a:tabLst>
            </a:pPr>
            <a:r>
              <a:rPr sz="1763" dirty="0">
                <a:latin typeface="Arial MT"/>
                <a:cs typeface="Arial MT"/>
              </a:rPr>
              <a:t>Concepção</a:t>
            </a:r>
            <a:r>
              <a:rPr sz="1763" spc="-83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(intelectual)</a:t>
            </a:r>
            <a:r>
              <a:rPr sz="1763" spc="-55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da</a:t>
            </a:r>
            <a:r>
              <a:rPr sz="1763" spc="-44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experiência</a:t>
            </a:r>
            <a:r>
              <a:rPr sz="1763" spc="-55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do</a:t>
            </a:r>
            <a:r>
              <a:rPr sz="1763" spc="-50" dirty="0">
                <a:latin typeface="Arial MT"/>
                <a:cs typeface="Arial MT"/>
              </a:rPr>
              <a:t> </a:t>
            </a:r>
            <a:r>
              <a:rPr sz="1763" spc="-11" dirty="0">
                <a:latin typeface="Arial MT"/>
                <a:cs typeface="Arial MT"/>
              </a:rPr>
              <a:t>usuário</a:t>
            </a:r>
            <a:endParaRPr sz="1763" dirty="0">
              <a:latin typeface="Arial MT"/>
              <a:cs typeface="Arial MT"/>
            </a:endParaRPr>
          </a:p>
          <a:p>
            <a:pPr marL="293177" indent="-251195">
              <a:spcBef>
                <a:spcPts val="198"/>
              </a:spcBef>
              <a:buChar char="•"/>
              <a:tabLst>
                <a:tab pos="293177" algn="l"/>
              </a:tabLst>
            </a:pPr>
            <a:r>
              <a:rPr sz="1763" dirty="0">
                <a:latin typeface="Arial MT"/>
                <a:cs typeface="Arial MT"/>
              </a:rPr>
              <a:t>Concretização</a:t>
            </a:r>
            <a:r>
              <a:rPr sz="1763" spc="-77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desta</a:t>
            </a:r>
            <a:r>
              <a:rPr sz="1763" spc="-61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concepção</a:t>
            </a:r>
            <a:r>
              <a:rPr sz="1763" spc="-72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em</a:t>
            </a:r>
            <a:r>
              <a:rPr sz="1763" spc="-55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uma</a:t>
            </a:r>
            <a:r>
              <a:rPr sz="1763" spc="-50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representação</a:t>
            </a:r>
            <a:r>
              <a:rPr sz="1763" spc="-39" dirty="0">
                <a:latin typeface="Arial MT"/>
                <a:cs typeface="Arial MT"/>
              </a:rPr>
              <a:t> </a:t>
            </a:r>
            <a:r>
              <a:rPr sz="1763" dirty="0">
                <a:latin typeface="Arial MT"/>
                <a:cs typeface="Arial MT"/>
              </a:rPr>
              <a:t>que</a:t>
            </a:r>
            <a:r>
              <a:rPr sz="1763" spc="-61" dirty="0">
                <a:latin typeface="Arial MT"/>
                <a:cs typeface="Arial MT"/>
              </a:rPr>
              <a:t> </a:t>
            </a:r>
            <a:r>
              <a:rPr sz="1763" spc="61" dirty="0" err="1">
                <a:latin typeface="Arial MT"/>
                <a:cs typeface="Arial MT"/>
              </a:rPr>
              <a:t>s</a:t>
            </a:r>
            <a:r>
              <a:rPr sz="1763" spc="55" dirty="0" err="1">
                <a:latin typeface="Arial MT"/>
                <a:cs typeface="Arial MT"/>
              </a:rPr>
              <a:t>e</a:t>
            </a:r>
            <a:r>
              <a:rPr sz="1763" spc="44" dirty="0" err="1">
                <a:latin typeface="Arial MT"/>
                <a:cs typeface="Arial MT"/>
              </a:rPr>
              <a:t>r</a:t>
            </a:r>
            <a:r>
              <a:rPr lang="pt-BR" sz="1763" spc="-777" dirty="0">
                <a:latin typeface="Arial MT"/>
                <a:cs typeface="Arial MT"/>
              </a:rPr>
              <a:t>á 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120429" y="1580428"/>
            <a:ext cx="1763883" cy="1539869"/>
          </a:xfrm>
          <a:prstGeom prst="rect">
            <a:avLst/>
          </a:prstGeom>
        </p:spPr>
        <p:txBody>
          <a:bodyPr vert="horz" wrap="square" lIns="0" tIns="13994" rIns="0" bIns="0" rtlCol="0">
            <a:spAutoFit/>
          </a:bodyPr>
          <a:lstStyle/>
          <a:p>
            <a:pPr marL="13994" marR="5598" algn="ctr">
              <a:spcBef>
                <a:spcPts val="110"/>
              </a:spcBef>
            </a:pPr>
            <a:r>
              <a:rPr lang="pt-BR" sz="1983" dirty="0">
                <a:latin typeface="Comic Sans MS"/>
                <a:cs typeface="Comic Sans MS"/>
              </a:rPr>
              <a:t>Quem vem primeiro </a:t>
            </a:r>
            <a:r>
              <a:rPr sz="1983" dirty="0" err="1">
                <a:latin typeface="Comic Sans MS"/>
                <a:cs typeface="Comic Sans MS"/>
              </a:rPr>
              <a:t>Projeto</a:t>
            </a:r>
            <a:r>
              <a:rPr sz="1983" spc="252" dirty="0">
                <a:latin typeface="Comic Sans MS"/>
                <a:cs typeface="Comic Sans MS"/>
              </a:rPr>
              <a:t> </a:t>
            </a:r>
            <a:r>
              <a:rPr sz="1983" dirty="0">
                <a:latin typeface="Comic Sans MS"/>
                <a:cs typeface="Comic Sans MS"/>
              </a:rPr>
              <a:t>de</a:t>
            </a:r>
            <a:r>
              <a:rPr sz="1983" spc="252" dirty="0">
                <a:latin typeface="Comic Sans MS"/>
                <a:cs typeface="Comic Sans MS"/>
              </a:rPr>
              <a:t> </a:t>
            </a:r>
            <a:r>
              <a:rPr sz="1983" spc="-28" dirty="0">
                <a:latin typeface="Comic Sans MS"/>
                <a:cs typeface="Comic Sans MS"/>
              </a:rPr>
              <a:t>Sw </a:t>
            </a:r>
            <a:r>
              <a:rPr sz="1983" dirty="0">
                <a:latin typeface="Comic Sans MS"/>
                <a:cs typeface="Comic Sans MS"/>
              </a:rPr>
              <a:t>ou</a:t>
            </a:r>
            <a:r>
              <a:rPr sz="1983" spc="231" dirty="0">
                <a:latin typeface="Comic Sans MS"/>
                <a:cs typeface="Comic Sans MS"/>
              </a:rPr>
              <a:t> </a:t>
            </a:r>
            <a:r>
              <a:rPr sz="1983" dirty="0">
                <a:latin typeface="Comic Sans MS"/>
                <a:cs typeface="Comic Sans MS"/>
              </a:rPr>
              <a:t>Projeto</a:t>
            </a:r>
            <a:r>
              <a:rPr sz="1983" spc="248" dirty="0">
                <a:latin typeface="Comic Sans MS"/>
                <a:cs typeface="Comic Sans MS"/>
              </a:rPr>
              <a:t> </a:t>
            </a:r>
            <a:r>
              <a:rPr sz="1983" spc="-28" dirty="0">
                <a:latin typeface="Comic Sans MS"/>
                <a:cs typeface="Comic Sans MS"/>
              </a:rPr>
              <a:t>de </a:t>
            </a:r>
            <a:r>
              <a:rPr sz="1983" spc="-22" dirty="0">
                <a:latin typeface="Comic Sans MS"/>
                <a:cs typeface="Comic Sans MS"/>
              </a:rPr>
              <a:t>IHC?</a:t>
            </a:r>
            <a:endParaRPr sz="1983" dirty="0">
              <a:latin typeface="Comic Sans MS"/>
              <a:cs typeface="Comic Sans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262956" y="4576372"/>
            <a:ext cx="2837186" cy="1309793"/>
            <a:chOff x="6568688" y="5572754"/>
            <a:chExt cx="2574925" cy="1188720"/>
          </a:xfrm>
        </p:grpSpPr>
        <p:sp>
          <p:nvSpPr>
            <p:cNvPr id="23" name="object 23"/>
            <p:cNvSpPr/>
            <p:nvPr/>
          </p:nvSpPr>
          <p:spPr>
            <a:xfrm>
              <a:off x="6587748" y="5601709"/>
              <a:ext cx="2555875" cy="1141095"/>
            </a:xfrm>
            <a:custGeom>
              <a:avLst/>
              <a:gdLst/>
              <a:ahLst/>
              <a:cxnLst/>
              <a:rect l="l" t="t" r="r" b="b"/>
              <a:pathLst>
                <a:path w="2555875" h="1141095">
                  <a:moveTo>
                    <a:pt x="310125" y="953255"/>
                  </a:moveTo>
                  <a:lnTo>
                    <a:pt x="310125" y="246888"/>
                  </a:lnTo>
                  <a:lnTo>
                    <a:pt x="256014" y="275444"/>
                  </a:lnTo>
                  <a:lnTo>
                    <a:pt x="206988" y="305159"/>
                  </a:lnTo>
                  <a:lnTo>
                    <a:pt x="163080" y="335922"/>
                  </a:lnTo>
                  <a:lnTo>
                    <a:pt x="124322" y="367620"/>
                  </a:lnTo>
                  <a:lnTo>
                    <a:pt x="90748" y="400143"/>
                  </a:lnTo>
                  <a:lnTo>
                    <a:pt x="62390" y="433380"/>
                  </a:lnTo>
                  <a:lnTo>
                    <a:pt x="39282" y="467219"/>
                  </a:lnTo>
                  <a:lnTo>
                    <a:pt x="21455" y="501548"/>
                  </a:lnTo>
                  <a:lnTo>
                    <a:pt x="1781" y="571234"/>
                  </a:lnTo>
                  <a:lnTo>
                    <a:pt x="0" y="606368"/>
                  </a:lnTo>
                  <a:lnTo>
                    <a:pt x="3632" y="641547"/>
                  </a:lnTo>
                  <a:lnTo>
                    <a:pt x="27269" y="711597"/>
                  </a:lnTo>
                  <a:lnTo>
                    <a:pt x="47341" y="746244"/>
                  </a:lnTo>
                  <a:lnTo>
                    <a:pt x="72958" y="780492"/>
                  </a:lnTo>
                  <a:lnTo>
                    <a:pt x="104154" y="814229"/>
                  </a:lnTo>
                  <a:lnTo>
                    <a:pt x="140961" y="847344"/>
                  </a:lnTo>
                  <a:lnTo>
                    <a:pt x="198856" y="890044"/>
                  </a:lnTo>
                  <a:lnTo>
                    <a:pt x="264438" y="929696"/>
                  </a:lnTo>
                  <a:lnTo>
                    <a:pt x="299922" y="948353"/>
                  </a:lnTo>
                  <a:lnTo>
                    <a:pt x="310125" y="953255"/>
                  </a:lnTo>
                  <a:close/>
                </a:path>
                <a:path w="2555875" h="1141095">
                  <a:moveTo>
                    <a:pt x="2555510" y="610053"/>
                  </a:moveTo>
                  <a:lnTo>
                    <a:pt x="2550901" y="552045"/>
                  </a:lnTo>
                  <a:lnTo>
                    <a:pt x="2531362" y="494011"/>
                  </a:lnTo>
                  <a:lnTo>
                    <a:pt x="2496522" y="436444"/>
                  </a:lnTo>
                  <a:lnTo>
                    <a:pt x="2446014" y="379835"/>
                  </a:lnTo>
                  <a:lnTo>
                    <a:pt x="2414769" y="352044"/>
                  </a:lnTo>
                  <a:lnTo>
                    <a:pt x="2356874" y="309357"/>
                  </a:lnTo>
                  <a:lnTo>
                    <a:pt x="2291289" y="269741"/>
                  </a:lnTo>
                  <a:lnTo>
                    <a:pt x="2255804" y="251110"/>
                  </a:lnTo>
                  <a:lnTo>
                    <a:pt x="2218625" y="233277"/>
                  </a:lnTo>
                  <a:lnTo>
                    <a:pt x="2179827" y="216252"/>
                  </a:lnTo>
                  <a:lnTo>
                    <a:pt x="2139487" y="200045"/>
                  </a:lnTo>
                  <a:lnTo>
                    <a:pt x="2097682" y="184665"/>
                  </a:lnTo>
                  <a:lnTo>
                    <a:pt x="2054486" y="170124"/>
                  </a:lnTo>
                  <a:lnTo>
                    <a:pt x="2009977" y="156430"/>
                  </a:lnTo>
                  <a:lnTo>
                    <a:pt x="1964229" y="143594"/>
                  </a:lnTo>
                  <a:lnTo>
                    <a:pt x="1917320" y="131626"/>
                  </a:lnTo>
                  <a:lnTo>
                    <a:pt x="1869325" y="120536"/>
                  </a:lnTo>
                  <a:lnTo>
                    <a:pt x="1820321" y="110333"/>
                  </a:lnTo>
                  <a:lnTo>
                    <a:pt x="1770382" y="101029"/>
                  </a:lnTo>
                  <a:lnTo>
                    <a:pt x="1719586" y="92632"/>
                  </a:lnTo>
                  <a:lnTo>
                    <a:pt x="1668009" y="85153"/>
                  </a:lnTo>
                  <a:lnTo>
                    <a:pt x="1615726" y="78602"/>
                  </a:lnTo>
                  <a:lnTo>
                    <a:pt x="1562813" y="72988"/>
                  </a:lnTo>
                  <a:lnTo>
                    <a:pt x="1509347" y="68323"/>
                  </a:lnTo>
                  <a:lnTo>
                    <a:pt x="1455404" y="64615"/>
                  </a:lnTo>
                  <a:lnTo>
                    <a:pt x="1401059" y="61875"/>
                  </a:lnTo>
                  <a:lnTo>
                    <a:pt x="1346388" y="60113"/>
                  </a:lnTo>
                  <a:lnTo>
                    <a:pt x="1291469" y="59338"/>
                  </a:lnTo>
                  <a:lnTo>
                    <a:pt x="1263751" y="59451"/>
                  </a:lnTo>
                  <a:lnTo>
                    <a:pt x="1181186" y="60793"/>
                  </a:lnTo>
                  <a:lnTo>
                    <a:pt x="1125975" y="63042"/>
                  </a:lnTo>
                  <a:lnTo>
                    <a:pt x="1070819" y="66318"/>
                  </a:lnTo>
                  <a:lnTo>
                    <a:pt x="1015793" y="70633"/>
                  </a:lnTo>
                  <a:lnTo>
                    <a:pt x="960975" y="75995"/>
                  </a:lnTo>
                  <a:lnTo>
                    <a:pt x="906440" y="82415"/>
                  </a:lnTo>
                  <a:lnTo>
                    <a:pt x="852263" y="89902"/>
                  </a:lnTo>
                  <a:lnTo>
                    <a:pt x="798522" y="98468"/>
                  </a:lnTo>
                  <a:lnTo>
                    <a:pt x="745292" y="108121"/>
                  </a:lnTo>
                  <a:lnTo>
                    <a:pt x="692649" y="118872"/>
                  </a:lnTo>
                  <a:lnTo>
                    <a:pt x="160773" y="0"/>
                  </a:lnTo>
                  <a:lnTo>
                    <a:pt x="310125" y="246888"/>
                  </a:lnTo>
                  <a:lnTo>
                    <a:pt x="310125" y="953255"/>
                  </a:lnTo>
                  <a:lnTo>
                    <a:pt x="337098" y="966216"/>
                  </a:lnTo>
                  <a:lnTo>
                    <a:pt x="375892" y="983274"/>
                  </a:lnTo>
                  <a:lnTo>
                    <a:pt x="416226" y="999518"/>
                  </a:lnTo>
                  <a:lnTo>
                    <a:pt x="458024" y="1014936"/>
                  </a:lnTo>
                  <a:lnTo>
                    <a:pt x="501211" y="1029518"/>
                  </a:lnTo>
                  <a:lnTo>
                    <a:pt x="545710" y="1043253"/>
                  </a:lnTo>
                  <a:lnTo>
                    <a:pt x="591444" y="1056132"/>
                  </a:lnTo>
                  <a:lnTo>
                    <a:pt x="638338" y="1068142"/>
                  </a:lnTo>
                  <a:lnTo>
                    <a:pt x="686315" y="1079274"/>
                  </a:lnTo>
                  <a:lnTo>
                    <a:pt x="735299" y="1089517"/>
                  </a:lnTo>
                  <a:lnTo>
                    <a:pt x="785214" y="1098860"/>
                  </a:lnTo>
                  <a:lnTo>
                    <a:pt x="835983" y="1107293"/>
                  </a:lnTo>
                  <a:lnTo>
                    <a:pt x="887530" y="1114806"/>
                  </a:lnTo>
                  <a:lnTo>
                    <a:pt x="939780" y="1121387"/>
                  </a:lnTo>
                  <a:lnTo>
                    <a:pt x="992655" y="1127026"/>
                  </a:lnTo>
                  <a:lnTo>
                    <a:pt x="1046080" y="1131712"/>
                  </a:lnTo>
                  <a:lnTo>
                    <a:pt x="1099978" y="1135436"/>
                  </a:lnTo>
                  <a:lnTo>
                    <a:pt x="1154274" y="1138186"/>
                  </a:lnTo>
                  <a:lnTo>
                    <a:pt x="1208890" y="1139952"/>
                  </a:lnTo>
                  <a:lnTo>
                    <a:pt x="1263751" y="1140722"/>
                  </a:lnTo>
                  <a:lnTo>
                    <a:pt x="1291469" y="1140604"/>
                  </a:lnTo>
                  <a:lnTo>
                    <a:pt x="1318780" y="1140488"/>
                  </a:lnTo>
                  <a:lnTo>
                    <a:pt x="1373901" y="1139237"/>
                  </a:lnTo>
                  <a:lnTo>
                    <a:pt x="1429038" y="1136960"/>
                  </a:lnTo>
                  <a:lnTo>
                    <a:pt x="1484114" y="1133646"/>
                  </a:lnTo>
                  <a:lnTo>
                    <a:pt x="1539055" y="1129284"/>
                  </a:lnTo>
                  <a:lnTo>
                    <a:pt x="1593782" y="1123863"/>
                  </a:lnTo>
                  <a:lnTo>
                    <a:pt x="1648220" y="1117374"/>
                  </a:lnTo>
                  <a:lnTo>
                    <a:pt x="1702293" y="1109805"/>
                  </a:lnTo>
                  <a:lnTo>
                    <a:pt x="1755924" y="1101146"/>
                  </a:lnTo>
                  <a:lnTo>
                    <a:pt x="1809038" y="1091386"/>
                  </a:lnTo>
                  <a:lnTo>
                    <a:pt x="1861557" y="1080516"/>
                  </a:lnTo>
                  <a:lnTo>
                    <a:pt x="1925144" y="1065815"/>
                  </a:lnTo>
                  <a:lnTo>
                    <a:pt x="1985967" y="1049817"/>
                  </a:lnTo>
                  <a:lnTo>
                    <a:pt x="2043979" y="1032582"/>
                  </a:lnTo>
                  <a:lnTo>
                    <a:pt x="2099135" y="1014173"/>
                  </a:lnTo>
                  <a:lnTo>
                    <a:pt x="2151388" y="994651"/>
                  </a:lnTo>
                  <a:lnTo>
                    <a:pt x="2200693" y="974077"/>
                  </a:lnTo>
                  <a:lnTo>
                    <a:pt x="2247002" y="952514"/>
                  </a:lnTo>
                  <a:lnTo>
                    <a:pt x="2290271" y="930021"/>
                  </a:lnTo>
                  <a:lnTo>
                    <a:pt x="2330452" y="906661"/>
                  </a:lnTo>
                  <a:lnTo>
                    <a:pt x="2367501" y="882496"/>
                  </a:lnTo>
                  <a:lnTo>
                    <a:pt x="2401370" y="857586"/>
                  </a:lnTo>
                  <a:lnTo>
                    <a:pt x="2432013" y="831993"/>
                  </a:lnTo>
                  <a:lnTo>
                    <a:pt x="2483439" y="779006"/>
                  </a:lnTo>
                  <a:lnTo>
                    <a:pt x="2521410" y="724026"/>
                  </a:lnTo>
                  <a:lnTo>
                    <a:pt x="2545556" y="667544"/>
                  </a:lnTo>
                  <a:lnTo>
                    <a:pt x="2552330" y="638894"/>
                  </a:lnTo>
                  <a:lnTo>
                    <a:pt x="2555510" y="610053"/>
                  </a:lnTo>
                  <a:close/>
                </a:path>
              </a:pathLst>
            </a:custGeom>
            <a:solidFill>
              <a:srgbClr val="FFFF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68688" y="5572754"/>
              <a:ext cx="2565400" cy="1188720"/>
            </a:xfrm>
            <a:custGeom>
              <a:avLst/>
              <a:gdLst/>
              <a:ahLst/>
              <a:cxnLst/>
              <a:rect l="l" t="t" r="r" b="b"/>
              <a:pathLst>
                <a:path w="2565400" h="1188720">
                  <a:moveTo>
                    <a:pt x="317500" y="259079"/>
                  </a:moveTo>
                  <a:lnTo>
                    <a:pt x="292100" y="271184"/>
                  </a:lnTo>
                  <a:lnTo>
                    <a:pt x="279400" y="274319"/>
                  </a:lnTo>
                  <a:lnTo>
                    <a:pt x="215900" y="307847"/>
                  </a:lnTo>
                  <a:lnTo>
                    <a:pt x="190500" y="326135"/>
                  </a:lnTo>
                  <a:lnTo>
                    <a:pt x="165100" y="342899"/>
                  </a:lnTo>
                  <a:lnTo>
                    <a:pt x="114300" y="379475"/>
                  </a:lnTo>
                  <a:lnTo>
                    <a:pt x="101600" y="399287"/>
                  </a:lnTo>
                  <a:lnTo>
                    <a:pt x="88900" y="417575"/>
                  </a:lnTo>
                  <a:lnTo>
                    <a:pt x="38100" y="477011"/>
                  </a:lnTo>
                  <a:lnTo>
                    <a:pt x="25400" y="498347"/>
                  </a:lnTo>
                  <a:lnTo>
                    <a:pt x="12700" y="518159"/>
                  </a:lnTo>
                  <a:lnTo>
                    <a:pt x="0" y="560831"/>
                  </a:lnTo>
                  <a:lnTo>
                    <a:pt x="0" y="710183"/>
                  </a:lnTo>
                  <a:lnTo>
                    <a:pt x="12700" y="729995"/>
                  </a:lnTo>
                  <a:lnTo>
                    <a:pt x="25400" y="751331"/>
                  </a:lnTo>
                  <a:lnTo>
                    <a:pt x="25400" y="589787"/>
                  </a:lnTo>
                  <a:lnTo>
                    <a:pt x="38100" y="569975"/>
                  </a:lnTo>
                  <a:lnTo>
                    <a:pt x="38100" y="534923"/>
                  </a:lnTo>
                  <a:lnTo>
                    <a:pt x="50800" y="515111"/>
                  </a:lnTo>
                  <a:lnTo>
                    <a:pt x="50800" y="516635"/>
                  </a:lnTo>
                  <a:lnTo>
                    <a:pt x="63500" y="496823"/>
                  </a:lnTo>
                  <a:lnTo>
                    <a:pt x="63500" y="498347"/>
                  </a:lnTo>
                  <a:lnTo>
                    <a:pt x="88900" y="480059"/>
                  </a:lnTo>
                  <a:lnTo>
                    <a:pt x="88900" y="461771"/>
                  </a:lnTo>
                  <a:lnTo>
                    <a:pt x="114300" y="443483"/>
                  </a:lnTo>
                  <a:lnTo>
                    <a:pt x="114300" y="445007"/>
                  </a:lnTo>
                  <a:lnTo>
                    <a:pt x="139700" y="408431"/>
                  </a:lnTo>
                  <a:lnTo>
                    <a:pt x="165100" y="391667"/>
                  </a:lnTo>
                  <a:lnTo>
                    <a:pt x="190500" y="373379"/>
                  </a:lnTo>
                  <a:lnTo>
                    <a:pt x="190500" y="374903"/>
                  </a:lnTo>
                  <a:lnTo>
                    <a:pt x="203200" y="356615"/>
                  </a:lnTo>
                  <a:lnTo>
                    <a:pt x="203200" y="358139"/>
                  </a:lnTo>
                  <a:lnTo>
                    <a:pt x="292100" y="307847"/>
                  </a:lnTo>
                  <a:lnTo>
                    <a:pt x="292100" y="286511"/>
                  </a:lnTo>
                  <a:lnTo>
                    <a:pt x="317500" y="259079"/>
                  </a:lnTo>
                  <a:close/>
                </a:path>
                <a:path w="2565400" h="1188720">
                  <a:moveTo>
                    <a:pt x="139700" y="844295"/>
                  </a:moveTo>
                  <a:lnTo>
                    <a:pt x="114300" y="826007"/>
                  </a:lnTo>
                  <a:lnTo>
                    <a:pt x="63500" y="771143"/>
                  </a:lnTo>
                  <a:lnTo>
                    <a:pt x="50800" y="751331"/>
                  </a:lnTo>
                  <a:lnTo>
                    <a:pt x="50800" y="734567"/>
                  </a:lnTo>
                  <a:lnTo>
                    <a:pt x="38100" y="714755"/>
                  </a:lnTo>
                  <a:lnTo>
                    <a:pt x="38100" y="697991"/>
                  </a:lnTo>
                  <a:lnTo>
                    <a:pt x="25400" y="678179"/>
                  </a:lnTo>
                  <a:lnTo>
                    <a:pt x="25400" y="772667"/>
                  </a:lnTo>
                  <a:lnTo>
                    <a:pt x="50800" y="812291"/>
                  </a:lnTo>
                  <a:lnTo>
                    <a:pt x="63500" y="833627"/>
                  </a:lnTo>
                  <a:lnTo>
                    <a:pt x="88900" y="851915"/>
                  </a:lnTo>
                  <a:lnTo>
                    <a:pt x="127000" y="891539"/>
                  </a:lnTo>
                  <a:lnTo>
                    <a:pt x="127000" y="842771"/>
                  </a:lnTo>
                  <a:lnTo>
                    <a:pt x="139700" y="844295"/>
                  </a:lnTo>
                  <a:close/>
                </a:path>
                <a:path w="2565400" h="1188720">
                  <a:moveTo>
                    <a:pt x="101600" y="461771"/>
                  </a:moveTo>
                  <a:lnTo>
                    <a:pt x="88900" y="461771"/>
                  </a:lnTo>
                  <a:lnTo>
                    <a:pt x="88900" y="480059"/>
                  </a:lnTo>
                  <a:lnTo>
                    <a:pt x="101600" y="461771"/>
                  </a:lnTo>
                  <a:close/>
                </a:path>
                <a:path w="2565400" h="1188720">
                  <a:moveTo>
                    <a:pt x="711200" y="164782"/>
                  </a:moveTo>
                  <a:lnTo>
                    <a:pt x="711200" y="129539"/>
                  </a:lnTo>
                  <a:lnTo>
                    <a:pt x="698500" y="129539"/>
                  </a:lnTo>
                  <a:lnTo>
                    <a:pt x="698500" y="127985"/>
                  </a:lnTo>
                  <a:lnTo>
                    <a:pt x="127000" y="0"/>
                  </a:lnTo>
                  <a:lnTo>
                    <a:pt x="165100" y="52093"/>
                  </a:lnTo>
                  <a:lnTo>
                    <a:pt x="165100" y="47243"/>
                  </a:lnTo>
                  <a:lnTo>
                    <a:pt x="177800" y="18287"/>
                  </a:lnTo>
                  <a:lnTo>
                    <a:pt x="203200" y="56075"/>
                  </a:lnTo>
                  <a:lnTo>
                    <a:pt x="698500" y="167639"/>
                  </a:lnTo>
                  <a:lnTo>
                    <a:pt x="698500" y="129539"/>
                  </a:lnTo>
                  <a:lnTo>
                    <a:pt x="711200" y="129539"/>
                  </a:lnTo>
                  <a:lnTo>
                    <a:pt x="711200" y="164782"/>
                  </a:lnTo>
                  <a:close/>
                </a:path>
                <a:path w="2565400" h="1188720">
                  <a:moveTo>
                    <a:pt x="2489200" y="830579"/>
                  </a:moveTo>
                  <a:lnTo>
                    <a:pt x="2489200" y="781811"/>
                  </a:lnTo>
                  <a:lnTo>
                    <a:pt x="2476500" y="794003"/>
                  </a:lnTo>
                  <a:lnTo>
                    <a:pt x="2463800" y="818387"/>
                  </a:lnTo>
                  <a:lnTo>
                    <a:pt x="2463800" y="816863"/>
                  </a:lnTo>
                  <a:lnTo>
                    <a:pt x="2425700" y="841247"/>
                  </a:lnTo>
                  <a:lnTo>
                    <a:pt x="2425700" y="839723"/>
                  </a:lnTo>
                  <a:lnTo>
                    <a:pt x="2400300" y="864107"/>
                  </a:lnTo>
                  <a:lnTo>
                    <a:pt x="2400300" y="862583"/>
                  </a:lnTo>
                  <a:lnTo>
                    <a:pt x="2387600" y="874775"/>
                  </a:lnTo>
                  <a:lnTo>
                    <a:pt x="2273300" y="949451"/>
                  </a:lnTo>
                  <a:lnTo>
                    <a:pt x="2273300" y="947927"/>
                  </a:lnTo>
                  <a:lnTo>
                    <a:pt x="2235200" y="969263"/>
                  </a:lnTo>
                  <a:lnTo>
                    <a:pt x="2235200" y="967739"/>
                  </a:lnTo>
                  <a:lnTo>
                    <a:pt x="2222500" y="978407"/>
                  </a:lnTo>
                  <a:lnTo>
                    <a:pt x="2184400" y="987551"/>
                  </a:lnTo>
                  <a:lnTo>
                    <a:pt x="2095500" y="1024127"/>
                  </a:lnTo>
                  <a:lnTo>
                    <a:pt x="2082800" y="1031747"/>
                  </a:lnTo>
                  <a:lnTo>
                    <a:pt x="2044700" y="1040891"/>
                  </a:lnTo>
                  <a:lnTo>
                    <a:pt x="2006600" y="1056131"/>
                  </a:lnTo>
                  <a:lnTo>
                    <a:pt x="1917700" y="1077467"/>
                  </a:lnTo>
                  <a:lnTo>
                    <a:pt x="1866900" y="1091183"/>
                  </a:lnTo>
                  <a:lnTo>
                    <a:pt x="1739900" y="1114043"/>
                  </a:lnTo>
                  <a:lnTo>
                    <a:pt x="1625600" y="1130807"/>
                  </a:lnTo>
                  <a:lnTo>
                    <a:pt x="1498600" y="1142999"/>
                  </a:lnTo>
                  <a:lnTo>
                    <a:pt x="1384300" y="1149095"/>
                  </a:lnTo>
                  <a:lnTo>
                    <a:pt x="1257300" y="1150619"/>
                  </a:lnTo>
                  <a:lnTo>
                    <a:pt x="1130300" y="1147571"/>
                  </a:lnTo>
                  <a:lnTo>
                    <a:pt x="1016000" y="1138427"/>
                  </a:lnTo>
                  <a:lnTo>
                    <a:pt x="889000" y="1124711"/>
                  </a:lnTo>
                  <a:lnTo>
                    <a:pt x="787400" y="1106423"/>
                  </a:lnTo>
                  <a:lnTo>
                    <a:pt x="673100" y="1083563"/>
                  </a:lnTo>
                  <a:lnTo>
                    <a:pt x="673100" y="1085087"/>
                  </a:lnTo>
                  <a:lnTo>
                    <a:pt x="571500" y="1057655"/>
                  </a:lnTo>
                  <a:lnTo>
                    <a:pt x="508000" y="1042415"/>
                  </a:lnTo>
                  <a:lnTo>
                    <a:pt x="419100" y="1008887"/>
                  </a:lnTo>
                  <a:lnTo>
                    <a:pt x="368300" y="990599"/>
                  </a:lnTo>
                  <a:lnTo>
                    <a:pt x="342900" y="970787"/>
                  </a:lnTo>
                  <a:lnTo>
                    <a:pt x="342900" y="972311"/>
                  </a:lnTo>
                  <a:lnTo>
                    <a:pt x="254000" y="929639"/>
                  </a:lnTo>
                  <a:lnTo>
                    <a:pt x="254000" y="931163"/>
                  </a:lnTo>
                  <a:lnTo>
                    <a:pt x="190500" y="885443"/>
                  </a:lnTo>
                  <a:lnTo>
                    <a:pt x="165100" y="861059"/>
                  </a:lnTo>
                  <a:lnTo>
                    <a:pt x="165100" y="862583"/>
                  </a:lnTo>
                  <a:lnTo>
                    <a:pt x="127000" y="842771"/>
                  </a:lnTo>
                  <a:lnTo>
                    <a:pt x="127000" y="891539"/>
                  </a:lnTo>
                  <a:lnTo>
                    <a:pt x="203200" y="940307"/>
                  </a:lnTo>
                  <a:lnTo>
                    <a:pt x="241300" y="963167"/>
                  </a:lnTo>
                  <a:lnTo>
                    <a:pt x="317500" y="1005839"/>
                  </a:lnTo>
                  <a:lnTo>
                    <a:pt x="355600" y="1025651"/>
                  </a:lnTo>
                  <a:lnTo>
                    <a:pt x="444500" y="1062227"/>
                  </a:lnTo>
                  <a:lnTo>
                    <a:pt x="508000" y="1078991"/>
                  </a:lnTo>
                  <a:lnTo>
                    <a:pt x="558800" y="1094231"/>
                  </a:lnTo>
                  <a:lnTo>
                    <a:pt x="596900" y="1107947"/>
                  </a:lnTo>
                  <a:lnTo>
                    <a:pt x="660400" y="1121663"/>
                  </a:lnTo>
                  <a:lnTo>
                    <a:pt x="774700" y="1144523"/>
                  </a:lnTo>
                  <a:lnTo>
                    <a:pt x="889000" y="1162811"/>
                  </a:lnTo>
                  <a:lnTo>
                    <a:pt x="1016000" y="1176527"/>
                  </a:lnTo>
                  <a:lnTo>
                    <a:pt x="1130300" y="1185671"/>
                  </a:lnTo>
                  <a:lnTo>
                    <a:pt x="1257300" y="1188719"/>
                  </a:lnTo>
                  <a:lnTo>
                    <a:pt x="1384300" y="1187195"/>
                  </a:lnTo>
                  <a:lnTo>
                    <a:pt x="1498600" y="1181099"/>
                  </a:lnTo>
                  <a:lnTo>
                    <a:pt x="1625600" y="1168907"/>
                  </a:lnTo>
                  <a:lnTo>
                    <a:pt x="1739900" y="1150619"/>
                  </a:lnTo>
                  <a:lnTo>
                    <a:pt x="1866900" y="1127759"/>
                  </a:lnTo>
                  <a:lnTo>
                    <a:pt x="1930400" y="1115567"/>
                  </a:lnTo>
                  <a:lnTo>
                    <a:pt x="2019300" y="1092707"/>
                  </a:lnTo>
                  <a:lnTo>
                    <a:pt x="2032000" y="1085087"/>
                  </a:lnTo>
                  <a:lnTo>
                    <a:pt x="2070100" y="1075943"/>
                  </a:lnTo>
                  <a:lnTo>
                    <a:pt x="2095500" y="1068323"/>
                  </a:lnTo>
                  <a:lnTo>
                    <a:pt x="2159000" y="1040891"/>
                  </a:lnTo>
                  <a:lnTo>
                    <a:pt x="2184400" y="1031747"/>
                  </a:lnTo>
                  <a:lnTo>
                    <a:pt x="2197100" y="1022603"/>
                  </a:lnTo>
                  <a:lnTo>
                    <a:pt x="2235200" y="1013459"/>
                  </a:lnTo>
                  <a:lnTo>
                    <a:pt x="2247900" y="1002791"/>
                  </a:lnTo>
                  <a:lnTo>
                    <a:pt x="2273300" y="992123"/>
                  </a:lnTo>
                  <a:lnTo>
                    <a:pt x="2298700" y="982979"/>
                  </a:lnTo>
                  <a:lnTo>
                    <a:pt x="2324100" y="961643"/>
                  </a:lnTo>
                  <a:lnTo>
                    <a:pt x="2349500" y="949451"/>
                  </a:lnTo>
                  <a:lnTo>
                    <a:pt x="2387600" y="928115"/>
                  </a:lnTo>
                  <a:lnTo>
                    <a:pt x="2413000" y="903731"/>
                  </a:lnTo>
                  <a:lnTo>
                    <a:pt x="2425700" y="893063"/>
                  </a:lnTo>
                  <a:lnTo>
                    <a:pt x="2463800" y="868679"/>
                  </a:lnTo>
                  <a:lnTo>
                    <a:pt x="2476500" y="844295"/>
                  </a:lnTo>
                  <a:lnTo>
                    <a:pt x="2489200" y="830579"/>
                  </a:lnTo>
                  <a:close/>
                </a:path>
                <a:path w="2565400" h="1188720">
                  <a:moveTo>
                    <a:pt x="203200" y="56075"/>
                  </a:moveTo>
                  <a:lnTo>
                    <a:pt x="177800" y="18287"/>
                  </a:lnTo>
                  <a:lnTo>
                    <a:pt x="165100" y="47243"/>
                  </a:lnTo>
                  <a:lnTo>
                    <a:pt x="203200" y="56075"/>
                  </a:lnTo>
                  <a:close/>
                </a:path>
                <a:path w="2565400" h="1188720">
                  <a:moveTo>
                    <a:pt x="342900" y="283463"/>
                  </a:moveTo>
                  <a:lnTo>
                    <a:pt x="203200" y="56075"/>
                  </a:lnTo>
                  <a:lnTo>
                    <a:pt x="165100" y="47243"/>
                  </a:lnTo>
                  <a:lnTo>
                    <a:pt x="165100" y="52093"/>
                  </a:lnTo>
                  <a:lnTo>
                    <a:pt x="292100" y="271184"/>
                  </a:lnTo>
                  <a:lnTo>
                    <a:pt x="317500" y="259079"/>
                  </a:lnTo>
                  <a:lnTo>
                    <a:pt x="317500" y="300735"/>
                  </a:lnTo>
                  <a:lnTo>
                    <a:pt x="342900" y="283463"/>
                  </a:lnTo>
                  <a:close/>
                </a:path>
                <a:path w="2565400" h="1188720">
                  <a:moveTo>
                    <a:pt x="317500" y="300735"/>
                  </a:moveTo>
                  <a:lnTo>
                    <a:pt x="317500" y="259079"/>
                  </a:lnTo>
                  <a:lnTo>
                    <a:pt x="292100" y="286511"/>
                  </a:lnTo>
                  <a:lnTo>
                    <a:pt x="292100" y="309371"/>
                  </a:lnTo>
                  <a:lnTo>
                    <a:pt x="317500" y="300735"/>
                  </a:lnTo>
                  <a:close/>
                </a:path>
                <a:path w="2565400" h="1188720">
                  <a:moveTo>
                    <a:pt x="2527300" y="531875"/>
                  </a:moveTo>
                  <a:lnTo>
                    <a:pt x="2527300" y="460247"/>
                  </a:lnTo>
                  <a:lnTo>
                    <a:pt x="2489200" y="432815"/>
                  </a:lnTo>
                  <a:lnTo>
                    <a:pt x="2476500" y="405383"/>
                  </a:lnTo>
                  <a:lnTo>
                    <a:pt x="2463800" y="393191"/>
                  </a:lnTo>
                  <a:lnTo>
                    <a:pt x="2451100" y="379475"/>
                  </a:lnTo>
                  <a:lnTo>
                    <a:pt x="2425700" y="367283"/>
                  </a:lnTo>
                  <a:lnTo>
                    <a:pt x="2400300" y="341375"/>
                  </a:lnTo>
                  <a:lnTo>
                    <a:pt x="2374900" y="318515"/>
                  </a:lnTo>
                  <a:lnTo>
                    <a:pt x="2324100" y="295655"/>
                  </a:lnTo>
                  <a:lnTo>
                    <a:pt x="2298700" y="272795"/>
                  </a:lnTo>
                  <a:lnTo>
                    <a:pt x="2159000" y="213359"/>
                  </a:lnTo>
                  <a:lnTo>
                    <a:pt x="2070100" y="179831"/>
                  </a:lnTo>
                  <a:lnTo>
                    <a:pt x="1955800" y="149351"/>
                  </a:lnTo>
                  <a:lnTo>
                    <a:pt x="1892300" y="137159"/>
                  </a:lnTo>
                  <a:lnTo>
                    <a:pt x="1790700" y="114299"/>
                  </a:lnTo>
                  <a:lnTo>
                    <a:pt x="1663700" y="96011"/>
                  </a:lnTo>
                  <a:lnTo>
                    <a:pt x="1562100" y="82295"/>
                  </a:lnTo>
                  <a:lnTo>
                    <a:pt x="1435100" y="73151"/>
                  </a:lnTo>
                  <a:lnTo>
                    <a:pt x="1308100" y="70103"/>
                  </a:lnTo>
                  <a:lnTo>
                    <a:pt x="1181100" y="71627"/>
                  </a:lnTo>
                  <a:lnTo>
                    <a:pt x="1054100" y="77723"/>
                  </a:lnTo>
                  <a:lnTo>
                    <a:pt x="939800" y="89915"/>
                  </a:lnTo>
                  <a:lnTo>
                    <a:pt x="812800" y="106679"/>
                  </a:lnTo>
                  <a:lnTo>
                    <a:pt x="698500" y="127985"/>
                  </a:lnTo>
                  <a:lnTo>
                    <a:pt x="711200" y="129539"/>
                  </a:lnTo>
                  <a:lnTo>
                    <a:pt x="711200" y="164782"/>
                  </a:lnTo>
                  <a:lnTo>
                    <a:pt x="812800" y="144779"/>
                  </a:lnTo>
                  <a:lnTo>
                    <a:pt x="939800" y="126491"/>
                  </a:lnTo>
                  <a:lnTo>
                    <a:pt x="939800" y="128015"/>
                  </a:lnTo>
                  <a:lnTo>
                    <a:pt x="1054100" y="115823"/>
                  </a:lnTo>
                  <a:lnTo>
                    <a:pt x="1181100" y="109727"/>
                  </a:lnTo>
                  <a:lnTo>
                    <a:pt x="1308100" y="108203"/>
                  </a:lnTo>
                  <a:lnTo>
                    <a:pt x="1422400" y="111251"/>
                  </a:lnTo>
                  <a:lnTo>
                    <a:pt x="1549400" y="120395"/>
                  </a:lnTo>
                  <a:lnTo>
                    <a:pt x="1663700" y="132587"/>
                  </a:lnTo>
                  <a:lnTo>
                    <a:pt x="1790700" y="150875"/>
                  </a:lnTo>
                  <a:lnTo>
                    <a:pt x="1892300" y="173735"/>
                  </a:lnTo>
                  <a:lnTo>
                    <a:pt x="1943100" y="187451"/>
                  </a:lnTo>
                  <a:lnTo>
                    <a:pt x="2006600" y="201167"/>
                  </a:lnTo>
                  <a:lnTo>
                    <a:pt x="2095500" y="231647"/>
                  </a:lnTo>
                  <a:lnTo>
                    <a:pt x="2146300" y="249935"/>
                  </a:lnTo>
                  <a:lnTo>
                    <a:pt x="2146300" y="248411"/>
                  </a:lnTo>
                  <a:lnTo>
                    <a:pt x="2184400" y="268223"/>
                  </a:lnTo>
                  <a:lnTo>
                    <a:pt x="2184400" y="266699"/>
                  </a:lnTo>
                  <a:lnTo>
                    <a:pt x="2235200" y="286511"/>
                  </a:lnTo>
                  <a:lnTo>
                    <a:pt x="2260600" y="306323"/>
                  </a:lnTo>
                  <a:lnTo>
                    <a:pt x="2311400" y="327659"/>
                  </a:lnTo>
                  <a:lnTo>
                    <a:pt x="2336800" y="350519"/>
                  </a:lnTo>
                  <a:lnTo>
                    <a:pt x="2336800" y="348995"/>
                  </a:lnTo>
                  <a:lnTo>
                    <a:pt x="2374900" y="373379"/>
                  </a:lnTo>
                  <a:lnTo>
                    <a:pt x="2374900" y="371855"/>
                  </a:lnTo>
                  <a:lnTo>
                    <a:pt x="2463800" y="445007"/>
                  </a:lnTo>
                  <a:lnTo>
                    <a:pt x="2476500" y="469391"/>
                  </a:lnTo>
                  <a:lnTo>
                    <a:pt x="2489200" y="481583"/>
                  </a:lnTo>
                  <a:lnTo>
                    <a:pt x="2489200" y="493775"/>
                  </a:lnTo>
                  <a:lnTo>
                    <a:pt x="2501900" y="507491"/>
                  </a:lnTo>
                  <a:lnTo>
                    <a:pt x="2501900" y="518159"/>
                  </a:lnTo>
                  <a:lnTo>
                    <a:pt x="2527300" y="531875"/>
                  </a:lnTo>
                  <a:close/>
                </a:path>
                <a:path w="2565400" h="1188720">
                  <a:moveTo>
                    <a:pt x="2501900" y="818387"/>
                  </a:moveTo>
                  <a:lnTo>
                    <a:pt x="2501900" y="746759"/>
                  </a:lnTo>
                  <a:lnTo>
                    <a:pt x="2489200" y="771143"/>
                  </a:lnTo>
                  <a:lnTo>
                    <a:pt x="2476500" y="783335"/>
                  </a:lnTo>
                  <a:lnTo>
                    <a:pt x="2489200" y="781811"/>
                  </a:lnTo>
                  <a:lnTo>
                    <a:pt x="2489200" y="830579"/>
                  </a:lnTo>
                  <a:lnTo>
                    <a:pt x="2501900" y="818387"/>
                  </a:lnTo>
                  <a:close/>
                </a:path>
                <a:path w="2565400" h="1188720">
                  <a:moveTo>
                    <a:pt x="2540000" y="778763"/>
                  </a:moveTo>
                  <a:lnTo>
                    <a:pt x="2540000" y="687323"/>
                  </a:lnTo>
                  <a:lnTo>
                    <a:pt x="2527300" y="723899"/>
                  </a:lnTo>
                  <a:lnTo>
                    <a:pt x="2527300" y="722375"/>
                  </a:lnTo>
                  <a:lnTo>
                    <a:pt x="2501900" y="736091"/>
                  </a:lnTo>
                  <a:lnTo>
                    <a:pt x="2501900" y="806195"/>
                  </a:lnTo>
                  <a:lnTo>
                    <a:pt x="2540000" y="778763"/>
                  </a:lnTo>
                  <a:close/>
                </a:path>
                <a:path w="2565400" h="1188720">
                  <a:moveTo>
                    <a:pt x="2552700" y="752855"/>
                  </a:moveTo>
                  <a:lnTo>
                    <a:pt x="2552700" y="501395"/>
                  </a:lnTo>
                  <a:lnTo>
                    <a:pt x="2540000" y="486155"/>
                  </a:lnTo>
                  <a:lnTo>
                    <a:pt x="2527300" y="473963"/>
                  </a:lnTo>
                  <a:lnTo>
                    <a:pt x="2527300" y="554735"/>
                  </a:lnTo>
                  <a:lnTo>
                    <a:pt x="2540000" y="568451"/>
                  </a:lnTo>
                  <a:lnTo>
                    <a:pt x="2540000" y="766571"/>
                  </a:lnTo>
                  <a:lnTo>
                    <a:pt x="2552700" y="752855"/>
                  </a:lnTo>
                  <a:close/>
                </a:path>
                <a:path w="2565400" h="1188720">
                  <a:moveTo>
                    <a:pt x="2565400" y="726795"/>
                  </a:moveTo>
                  <a:lnTo>
                    <a:pt x="2565400" y="553516"/>
                  </a:lnTo>
                  <a:lnTo>
                    <a:pt x="2552700" y="528827"/>
                  </a:lnTo>
                  <a:lnTo>
                    <a:pt x="2552700" y="739139"/>
                  </a:lnTo>
                  <a:lnTo>
                    <a:pt x="2565400" y="7267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847174" y="4766482"/>
            <a:ext cx="1616251" cy="929574"/>
          </a:xfrm>
          <a:prstGeom prst="rect">
            <a:avLst/>
          </a:prstGeom>
        </p:spPr>
        <p:txBody>
          <a:bodyPr vert="horz" wrap="square" lIns="0" tIns="13994" rIns="0" bIns="0" rtlCol="0">
            <a:spAutoFit/>
          </a:bodyPr>
          <a:lstStyle/>
          <a:p>
            <a:pPr marL="13994" marR="5598" algn="ctr">
              <a:spcBef>
                <a:spcPts val="110"/>
              </a:spcBef>
            </a:pPr>
            <a:r>
              <a:rPr sz="1983" dirty="0">
                <a:latin typeface="Comic Sans MS"/>
                <a:cs typeface="Comic Sans MS"/>
              </a:rPr>
              <a:t>Melhor</a:t>
            </a:r>
            <a:r>
              <a:rPr sz="1983" spc="231" dirty="0">
                <a:latin typeface="Comic Sans MS"/>
                <a:cs typeface="Comic Sans MS"/>
              </a:rPr>
              <a:t> </a:t>
            </a:r>
            <a:r>
              <a:rPr sz="1983" spc="-22" dirty="0">
                <a:latin typeface="Comic Sans MS"/>
                <a:cs typeface="Comic Sans MS"/>
              </a:rPr>
              <a:t>virem </a:t>
            </a:r>
            <a:r>
              <a:rPr sz="1983" spc="-11" dirty="0">
                <a:latin typeface="Comic Sans MS"/>
                <a:cs typeface="Comic Sans MS"/>
              </a:rPr>
              <a:t>juntos, integrados.</a:t>
            </a:r>
            <a:endParaRPr sz="1983" dirty="0">
              <a:latin typeface="Comic Sans MS"/>
              <a:cs typeface="Comic Sans M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785244" y="6292850"/>
            <a:ext cx="50419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Três camadas complementares no design e desenvolvimento de sistemas.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1891029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2736850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319405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3962400"/>
            <a:ext cx="95250" cy="952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23289" y="1727200"/>
            <a:ext cx="8662670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2780"/>
              </a:lnSpc>
              <a:spcBef>
                <a:spcPts val="100"/>
              </a:spcBef>
            </a:pPr>
            <a:r>
              <a:rPr sz="2400" dirty="0" err="1">
                <a:latin typeface="Arial MT"/>
                <a:cs typeface="Arial MT"/>
              </a:rPr>
              <a:t>Em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termos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bem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gerais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podemos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caracterizar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atividade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de</a:t>
            </a:r>
            <a:endParaRPr sz="2400" dirty="0">
              <a:latin typeface="Arial MT"/>
              <a:cs typeface="Arial MT"/>
            </a:endParaRPr>
          </a:p>
          <a:p>
            <a:pPr marL="12700" algn="just">
              <a:lnSpc>
                <a:spcPts val="2780"/>
              </a:lnSpc>
            </a:pPr>
            <a:r>
              <a:rPr sz="2400" b="1" dirty="0">
                <a:latin typeface="Arial"/>
                <a:cs typeface="Arial"/>
              </a:rPr>
              <a:t>design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como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sendo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três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atividades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básicas:</a:t>
            </a:r>
            <a:endParaRPr sz="2400" dirty="0">
              <a:latin typeface="Arial MT"/>
              <a:cs typeface="Arial MT"/>
            </a:endParaRPr>
          </a:p>
          <a:p>
            <a:pPr marL="444500" algn="just">
              <a:lnSpc>
                <a:spcPct val="100000"/>
              </a:lnSpc>
              <a:spcBef>
                <a:spcPts val="1230"/>
              </a:spcBef>
            </a:pPr>
            <a:r>
              <a:rPr sz="2200" b="1" i="1" dirty="0">
                <a:latin typeface="Arial"/>
                <a:cs typeface="Arial"/>
              </a:rPr>
              <a:t>análise</a:t>
            </a:r>
            <a:r>
              <a:rPr sz="2200" b="1" i="1" spc="-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da</a:t>
            </a:r>
            <a:r>
              <a:rPr sz="2200" b="1" spc="-7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situação</a:t>
            </a:r>
            <a:r>
              <a:rPr sz="2200" b="1" spc="-7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atual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estudar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interpretar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situação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atual;</a:t>
            </a:r>
            <a:endParaRPr sz="2200" dirty="0">
              <a:latin typeface="Arial MT"/>
              <a:cs typeface="Arial MT"/>
            </a:endParaRPr>
          </a:p>
          <a:p>
            <a:pPr marL="444500" marR="5080" algn="just">
              <a:lnSpc>
                <a:spcPts val="2460"/>
              </a:lnSpc>
              <a:spcBef>
                <a:spcPts val="1190"/>
              </a:spcBef>
            </a:pPr>
            <a:r>
              <a:rPr sz="2200" b="1" i="1" dirty="0">
                <a:latin typeface="Arial"/>
                <a:cs typeface="Arial"/>
              </a:rPr>
              <a:t>síntese</a:t>
            </a:r>
            <a:r>
              <a:rPr sz="2200" b="1" i="1" spc="440" dirty="0">
                <a:latin typeface="Arial"/>
                <a:cs typeface="Arial"/>
              </a:rPr>
              <a:t>  </a:t>
            </a:r>
            <a:r>
              <a:rPr sz="2200" b="1" dirty="0">
                <a:latin typeface="Arial"/>
                <a:cs typeface="Arial"/>
              </a:rPr>
              <a:t>de</a:t>
            </a:r>
            <a:r>
              <a:rPr sz="2200" b="1" spc="434" dirty="0">
                <a:latin typeface="Arial"/>
                <a:cs typeface="Arial"/>
              </a:rPr>
              <a:t>  </a:t>
            </a:r>
            <a:r>
              <a:rPr sz="2200" b="1" dirty="0">
                <a:latin typeface="Arial"/>
                <a:cs typeface="Arial"/>
              </a:rPr>
              <a:t>uma</a:t>
            </a:r>
            <a:r>
              <a:rPr sz="2200" b="1" spc="440" dirty="0">
                <a:latin typeface="Arial"/>
                <a:cs typeface="Arial"/>
              </a:rPr>
              <a:t>  </a:t>
            </a:r>
            <a:r>
              <a:rPr sz="2200" b="1" dirty="0">
                <a:latin typeface="Arial"/>
                <a:cs typeface="Arial"/>
              </a:rPr>
              <a:t>intervenção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4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planejar</a:t>
            </a:r>
            <a:r>
              <a:rPr sz="2200" spc="43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e</a:t>
            </a:r>
            <a:r>
              <a:rPr sz="2200" spc="4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executar</a:t>
            </a:r>
            <a:r>
              <a:rPr sz="2200" spc="430" dirty="0">
                <a:latin typeface="Arial MT"/>
                <a:cs typeface="Arial MT"/>
              </a:rPr>
              <a:t>  </a:t>
            </a:r>
            <a:r>
              <a:rPr sz="2200" spc="-25" dirty="0">
                <a:latin typeface="Arial MT"/>
                <a:cs typeface="Arial MT"/>
              </a:rPr>
              <a:t>uma </a:t>
            </a:r>
            <a:r>
              <a:rPr sz="2200" dirty="0">
                <a:latin typeface="Arial MT"/>
                <a:cs typeface="Arial MT"/>
              </a:rPr>
              <a:t>intervenção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situação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atual;</a:t>
            </a:r>
            <a:endParaRPr sz="2200" dirty="0">
              <a:latin typeface="Arial MT"/>
              <a:cs typeface="Arial MT"/>
            </a:endParaRPr>
          </a:p>
          <a:p>
            <a:pPr marL="444500" marR="6350" algn="just">
              <a:lnSpc>
                <a:spcPts val="2460"/>
              </a:lnSpc>
              <a:spcBef>
                <a:spcPts val="1130"/>
              </a:spcBef>
            </a:pPr>
            <a:r>
              <a:rPr sz="2200" b="1" i="1" dirty="0">
                <a:latin typeface="Arial"/>
                <a:cs typeface="Arial"/>
              </a:rPr>
              <a:t>avaliação</a:t>
            </a:r>
            <a:r>
              <a:rPr sz="2200" b="1" i="1" spc="409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da</a:t>
            </a:r>
            <a:r>
              <a:rPr sz="2200" b="1" spc="409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nova</a:t>
            </a:r>
            <a:r>
              <a:rPr sz="2200" b="1" spc="409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situação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409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verificar</a:t>
            </a:r>
            <a:r>
              <a:rPr sz="2200" spc="409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</a:t>
            </a:r>
            <a:r>
              <a:rPr sz="2200" spc="4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efeito</a:t>
            </a:r>
            <a:r>
              <a:rPr sz="2200" spc="409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</a:t>
            </a:r>
            <a:r>
              <a:rPr sz="2200" spc="4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intervenção, </a:t>
            </a:r>
            <a:r>
              <a:rPr sz="2200" dirty="0">
                <a:latin typeface="Arial MT"/>
                <a:cs typeface="Arial MT"/>
              </a:rPr>
              <a:t>comparando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situação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analisada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anteriormente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com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spc="-20" dirty="0">
                <a:latin typeface="Arial MT"/>
                <a:cs typeface="Arial MT"/>
              </a:rPr>
              <a:t>nova </a:t>
            </a:r>
            <a:r>
              <a:rPr sz="2200" dirty="0">
                <a:latin typeface="Arial MT"/>
                <a:cs typeface="Arial MT"/>
              </a:rPr>
              <a:t>situação,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atingida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após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intervenção.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0100" y="4963159"/>
            <a:ext cx="5939790" cy="2236470"/>
          </a:xfrm>
          <a:prstGeom prst="rect">
            <a:avLst/>
          </a:prstGeom>
        </p:spPr>
      </p:pic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 de design</a:t>
            </a:r>
          </a:p>
        </p:txBody>
      </p:sp>
    </p:spTree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469900" y="1568450"/>
            <a:ext cx="9220200" cy="5248232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200" b="1" dirty="0">
                <a:solidFill>
                  <a:srgbClr val="FF0000"/>
                </a:solidFill>
                <a:latin typeface="Arial MT"/>
                <a:cs typeface="Arial MT"/>
              </a:rPr>
              <a:t>Análise</a:t>
            </a:r>
            <a:r>
              <a:rPr sz="2200" b="1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 MT"/>
                <a:cs typeface="Arial MT"/>
              </a:rPr>
              <a:t>da</a:t>
            </a:r>
            <a:r>
              <a:rPr sz="2200" b="1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b="1" dirty="0" err="1">
                <a:solidFill>
                  <a:srgbClr val="FF0000"/>
                </a:solidFill>
                <a:latin typeface="Arial MT"/>
                <a:cs typeface="Arial MT"/>
              </a:rPr>
              <a:t>situação</a:t>
            </a:r>
            <a:r>
              <a:rPr sz="2200" b="1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b="1" spc="-10" dirty="0" err="1">
                <a:solidFill>
                  <a:srgbClr val="FF0000"/>
                </a:solidFill>
                <a:latin typeface="Arial MT"/>
                <a:cs typeface="Arial MT"/>
              </a:rPr>
              <a:t>atual</a:t>
            </a:r>
            <a:r>
              <a:rPr lang="pt-BR" sz="2200" b="1" spc="-10" dirty="0">
                <a:solidFill>
                  <a:srgbClr val="FF0000"/>
                </a:solidFill>
                <a:latin typeface="Arial MT"/>
                <a:cs typeface="Arial MT"/>
              </a:rPr>
              <a:t> ou do problema</a:t>
            </a:r>
            <a:r>
              <a:rPr sz="2200" b="1" spc="-10" dirty="0">
                <a:solidFill>
                  <a:srgbClr val="FF0000"/>
                </a:solidFill>
                <a:latin typeface="Arial MT"/>
                <a:cs typeface="Arial MT"/>
              </a:rPr>
              <a:t>:</a:t>
            </a:r>
            <a:endParaRPr sz="2200" b="1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558800" indent="-342900">
              <a:lnSpc>
                <a:spcPct val="100000"/>
              </a:lnSpc>
              <a:spcBef>
                <a:spcPts val="1260"/>
              </a:spcBef>
              <a:buFont typeface="Arial" panose="020B0604020202020204" pitchFamily="34" charset="0"/>
              <a:buChar char="•"/>
            </a:pPr>
            <a:r>
              <a:rPr sz="2000" b="0" dirty="0">
                <a:latin typeface="Arial MT"/>
                <a:cs typeface="Arial MT"/>
              </a:rPr>
              <a:t>Buscamos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conhecer</a:t>
            </a:r>
            <a:r>
              <a:rPr sz="2000" b="0" spc="-4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os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elementos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envolvidos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e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as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relações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entre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spc="-10" dirty="0">
                <a:latin typeface="Arial MT"/>
                <a:cs typeface="Arial MT"/>
              </a:rPr>
              <a:t>eles;</a:t>
            </a:r>
            <a:endParaRPr sz="2000" dirty="0">
              <a:latin typeface="Arial MT"/>
              <a:cs typeface="Arial MT"/>
            </a:endParaRPr>
          </a:p>
          <a:p>
            <a:pPr marL="558800" marR="5715" indent="-342900">
              <a:lnSpc>
                <a:spcPts val="2230"/>
              </a:lnSpc>
              <a:spcBef>
                <a:spcPts val="1175"/>
              </a:spcBef>
              <a:buFont typeface="Arial" panose="020B0604020202020204" pitchFamily="34" charset="0"/>
              <a:buChar char="•"/>
            </a:pPr>
            <a:r>
              <a:rPr sz="2000" b="0" dirty="0">
                <a:latin typeface="Arial MT"/>
                <a:cs typeface="Arial MT"/>
              </a:rPr>
              <a:t>Dentre</a:t>
            </a:r>
            <a:r>
              <a:rPr sz="2000" b="0" spc="-2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diversos</a:t>
            </a:r>
            <a:r>
              <a:rPr sz="2000" b="0" spc="-2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elementos,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geralmente</a:t>
            </a:r>
            <a:r>
              <a:rPr sz="2000" b="0" spc="-2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são</a:t>
            </a:r>
            <a:r>
              <a:rPr sz="2000" b="0" spc="-3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analisados:</a:t>
            </a:r>
            <a:r>
              <a:rPr sz="2000" b="0" spc="-30" dirty="0"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FF0000"/>
                </a:solidFill>
                <a:latin typeface="Arial MT"/>
                <a:cs typeface="Arial MT"/>
              </a:rPr>
              <a:t>pessoas,</a:t>
            </a:r>
            <a:r>
              <a:rPr sz="2000" b="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b="0" spc="-10" dirty="0" err="1">
                <a:solidFill>
                  <a:srgbClr val="FF0000"/>
                </a:solidFill>
                <a:latin typeface="Arial MT"/>
                <a:cs typeface="Arial MT"/>
              </a:rPr>
              <a:t>artefa</a:t>
            </a:r>
            <a:r>
              <a:rPr sz="2000" b="0" dirty="0" err="1">
                <a:solidFill>
                  <a:srgbClr val="FF0000"/>
                </a:solidFill>
                <a:latin typeface="Arial MT"/>
                <a:cs typeface="Arial MT"/>
              </a:rPr>
              <a:t>tos</a:t>
            </a:r>
            <a:r>
              <a:rPr sz="2000" b="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000" b="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b="0" spc="-10" dirty="0">
                <a:solidFill>
                  <a:srgbClr val="FF0000"/>
                </a:solidFill>
                <a:latin typeface="Arial MT"/>
                <a:cs typeface="Arial MT"/>
              </a:rPr>
              <a:t>processos;</a:t>
            </a:r>
            <a:endParaRPr sz="20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558800" marR="14604" indent="-342900">
              <a:lnSpc>
                <a:spcPts val="2230"/>
              </a:lnSpc>
              <a:spcBef>
                <a:spcPts val="1140"/>
              </a:spcBef>
              <a:buFont typeface="Arial" panose="020B0604020202020204" pitchFamily="34" charset="0"/>
              <a:buChar char="•"/>
              <a:tabLst>
                <a:tab pos="1276350" algn="l"/>
                <a:tab pos="2475865" algn="l"/>
                <a:tab pos="3603625" algn="l"/>
                <a:tab pos="4251960" algn="l"/>
                <a:tab pos="5889625" algn="l"/>
                <a:tab pos="6325235" algn="l"/>
                <a:tab pos="7524115" algn="l"/>
              </a:tabLst>
            </a:pPr>
            <a:r>
              <a:rPr sz="2000" b="0" spc="-20" dirty="0">
                <a:latin typeface="Arial MT"/>
                <a:cs typeface="Arial MT"/>
              </a:rPr>
              <a:t>Como</a:t>
            </a:r>
            <a:r>
              <a:rPr sz="2000" b="0" dirty="0">
                <a:latin typeface="Arial MT"/>
                <a:cs typeface="Arial MT"/>
              </a:rPr>
              <a:t>	</a:t>
            </a:r>
            <a:r>
              <a:rPr sz="2000" b="0" spc="-10" dirty="0">
                <a:latin typeface="Arial MT"/>
                <a:cs typeface="Arial MT"/>
              </a:rPr>
              <a:t>resultado</a:t>
            </a:r>
            <a:r>
              <a:rPr sz="2000" b="0" dirty="0">
                <a:latin typeface="Arial MT"/>
                <a:cs typeface="Arial MT"/>
              </a:rPr>
              <a:t>	</a:t>
            </a:r>
            <a:r>
              <a:rPr sz="2000" b="0" spc="-10" dirty="0">
                <a:latin typeface="Arial MT"/>
                <a:cs typeface="Arial MT"/>
              </a:rPr>
              <a:t>obtemos</a:t>
            </a:r>
            <a:r>
              <a:rPr sz="2000" b="0" dirty="0">
                <a:latin typeface="Arial MT"/>
                <a:cs typeface="Arial MT"/>
              </a:rPr>
              <a:t>	</a:t>
            </a:r>
            <a:r>
              <a:rPr sz="2000" b="0" spc="-25" dirty="0">
                <a:latin typeface="Arial MT"/>
                <a:cs typeface="Arial MT"/>
              </a:rPr>
              <a:t>uma</a:t>
            </a:r>
            <a:r>
              <a:rPr sz="2000" b="0" dirty="0">
                <a:latin typeface="Arial MT"/>
                <a:cs typeface="Arial MT"/>
              </a:rPr>
              <a:t>	</a:t>
            </a:r>
            <a:r>
              <a:rPr sz="2000" b="0" spc="-10" dirty="0">
                <a:latin typeface="Arial MT"/>
                <a:cs typeface="Arial MT"/>
              </a:rPr>
              <a:t>interpretação</a:t>
            </a:r>
            <a:r>
              <a:rPr sz="2000" b="0" dirty="0">
                <a:latin typeface="Arial MT"/>
                <a:cs typeface="Arial MT"/>
              </a:rPr>
              <a:t>	</a:t>
            </a:r>
            <a:r>
              <a:rPr sz="2000" b="0" spc="-25" dirty="0">
                <a:latin typeface="Arial MT"/>
                <a:cs typeface="Arial MT"/>
              </a:rPr>
              <a:t>da</a:t>
            </a:r>
            <a:r>
              <a:rPr sz="2000" b="0" dirty="0">
                <a:latin typeface="Arial MT"/>
                <a:cs typeface="Arial MT"/>
              </a:rPr>
              <a:t>	</a:t>
            </a:r>
            <a:r>
              <a:rPr sz="2000" b="0" spc="-10" dirty="0">
                <a:latin typeface="Arial MT"/>
                <a:cs typeface="Arial MT"/>
              </a:rPr>
              <a:t>realidade</a:t>
            </a:r>
            <a:r>
              <a:rPr sz="2000" b="0" dirty="0">
                <a:latin typeface="Arial MT"/>
                <a:cs typeface="Arial MT"/>
              </a:rPr>
              <a:t>	</a:t>
            </a:r>
            <a:r>
              <a:rPr sz="2000" b="0" spc="-10" dirty="0">
                <a:latin typeface="Arial MT"/>
                <a:cs typeface="Arial MT"/>
              </a:rPr>
              <a:t>estudada, </a:t>
            </a:r>
            <a:r>
              <a:rPr sz="2000" b="0" dirty="0">
                <a:latin typeface="Arial MT"/>
                <a:cs typeface="Arial MT"/>
              </a:rPr>
              <a:t>através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de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um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enquadramento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e</a:t>
            </a:r>
            <a:r>
              <a:rPr sz="2000" b="0" spc="-4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um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recorte</a:t>
            </a:r>
            <a:r>
              <a:rPr sz="2000" b="0" spc="-4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particular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spc="-10" dirty="0">
                <a:latin typeface="Arial MT"/>
                <a:cs typeface="Arial MT"/>
              </a:rPr>
              <a:t>dela;</a:t>
            </a:r>
            <a:endParaRPr sz="2000" dirty="0">
              <a:latin typeface="Arial MT"/>
              <a:cs typeface="Arial MT"/>
            </a:endParaRPr>
          </a:p>
          <a:p>
            <a:pPr marL="12700" marR="5080">
              <a:lnSpc>
                <a:spcPts val="2460"/>
              </a:lnSpc>
              <a:spcBef>
                <a:spcPts val="1135"/>
              </a:spcBef>
            </a:pPr>
            <a:r>
              <a:rPr sz="2200" b="0" dirty="0">
                <a:latin typeface="Arial MT"/>
                <a:cs typeface="Arial MT"/>
              </a:rPr>
              <a:t>A</a:t>
            </a:r>
            <a:r>
              <a:rPr sz="2200" b="0" spc="-8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diferença</a:t>
            </a:r>
            <a:r>
              <a:rPr sz="2200" b="0" spc="3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entre</a:t>
            </a:r>
            <a:r>
              <a:rPr sz="2200" b="0" spc="4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</a:t>
            </a:r>
            <a:r>
              <a:rPr sz="2200" b="0" spc="2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situação</a:t>
            </a:r>
            <a:r>
              <a:rPr sz="2200" b="0" spc="4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atual</a:t>
            </a:r>
            <a:r>
              <a:rPr sz="2200" b="0" spc="4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e</a:t>
            </a:r>
            <a:r>
              <a:rPr sz="2200" b="0" spc="3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uma</a:t>
            </a:r>
            <a:r>
              <a:rPr sz="2200" b="0" spc="3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situação</a:t>
            </a:r>
            <a:r>
              <a:rPr sz="2200" b="0" spc="4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desejada</a:t>
            </a:r>
            <a:r>
              <a:rPr sz="2200" b="0" spc="3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é</a:t>
            </a:r>
            <a:r>
              <a:rPr sz="2200" b="0" spc="3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</a:t>
            </a:r>
            <a:r>
              <a:rPr sz="2200" b="0" spc="35" dirty="0">
                <a:latin typeface="Arial MT"/>
                <a:cs typeface="Arial MT"/>
              </a:rPr>
              <a:t> </a:t>
            </a:r>
            <a:r>
              <a:rPr sz="2200" b="0" spc="-10" dirty="0" err="1">
                <a:solidFill>
                  <a:srgbClr val="FF0000"/>
                </a:solidFill>
                <a:latin typeface="Arial MT"/>
                <a:cs typeface="Arial MT"/>
              </a:rPr>
              <a:t>moti</a:t>
            </a:r>
            <a:r>
              <a:rPr sz="2200" b="0" dirty="0" err="1">
                <a:solidFill>
                  <a:srgbClr val="FF0000"/>
                </a:solidFill>
                <a:latin typeface="Arial MT"/>
                <a:cs typeface="Arial MT"/>
              </a:rPr>
              <a:t>vação</a:t>
            </a:r>
            <a:r>
              <a:rPr sz="2200" b="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principal</a:t>
            </a:r>
            <a:r>
              <a:rPr sz="2200" b="0" spc="-8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para</a:t>
            </a:r>
            <a:r>
              <a:rPr sz="2200" b="0" spc="-8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projetarmos</a:t>
            </a:r>
            <a:r>
              <a:rPr sz="2200" b="0" spc="-7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e</a:t>
            </a:r>
            <a:r>
              <a:rPr sz="2200" b="0" spc="-8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sintetizarmos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uma</a:t>
            </a:r>
            <a:r>
              <a:rPr sz="2200" b="0" spc="-80" dirty="0"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rgbClr val="FF0000"/>
                </a:solidFill>
                <a:latin typeface="Arial MT"/>
                <a:cs typeface="Arial MT"/>
              </a:rPr>
              <a:t>intervenção</a:t>
            </a:r>
            <a:r>
              <a:rPr sz="2200" b="0" spc="-10" dirty="0">
                <a:latin typeface="Arial MT"/>
                <a:cs typeface="Arial MT"/>
              </a:rPr>
              <a:t>;</a:t>
            </a:r>
            <a:endParaRPr sz="2200" dirty="0">
              <a:latin typeface="Arial MT"/>
              <a:cs typeface="Arial MT"/>
            </a:endParaRPr>
          </a:p>
          <a:p>
            <a:pPr marL="12700" marR="7620">
              <a:lnSpc>
                <a:spcPts val="2460"/>
              </a:lnSpc>
              <a:spcBef>
                <a:spcPts val="1410"/>
              </a:spcBef>
            </a:pPr>
            <a:r>
              <a:rPr sz="2200" b="0" dirty="0">
                <a:latin typeface="Arial MT"/>
                <a:cs typeface="Arial MT"/>
              </a:rPr>
              <a:t>É</a:t>
            </a:r>
            <a:r>
              <a:rPr sz="2200" b="0" spc="114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denominada</a:t>
            </a:r>
            <a:r>
              <a:rPr sz="2200" b="0" spc="12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de</a:t>
            </a:r>
            <a:r>
              <a:rPr sz="2200" b="0" spc="125" dirty="0">
                <a:latin typeface="Arial MT"/>
                <a:cs typeface="Arial MT"/>
              </a:rPr>
              <a:t> </a:t>
            </a:r>
            <a:r>
              <a:rPr sz="2200" b="0" i="1" dirty="0">
                <a:solidFill>
                  <a:srgbClr val="FF0000"/>
                </a:solidFill>
                <a:latin typeface="Arial"/>
                <a:cs typeface="Arial"/>
              </a:rPr>
              <a:t>solução</a:t>
            </a:r>
            <a:r>
              <a:rPr sz="2200" b="0" dirty="0">
                <a:latin typeface="Arial MT"/>
                <a:cs typeface="Arial MT"/>
              </a:rPr>
              <a:t>,</a:t>
            </a:r>
            <a:r>
              <a:rPr sz="2200" b="0" spc="10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pois</a:t>
            </a:r>
            <a:r>
              <a:rPr sz="2200" b="0" spc="12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responde</a:t>
            </a:r>
            <a:r>
              <a:rPr sz="2200" b="0" spc="114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</a:t>
            </a:r>
            <a:r>
              <a:rPr sz="2200" b="0" spc="10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pergunta</a:t>
            </a:r>
            <a:r>
              <a:rPr sz="2200" b="0" spc="12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que</a:t>
            </a:r>
            <a:r>
              <a:rPr sz="2200" b="0" spc="114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define</a:t>
            </a:r>
            <a:r>
              <a:rPr sz="2200" b="0" spc="105" dirty="0">
                <a:latin typeface="Arial MT"/>
                <a:cs typeface="Arial MT"/>
              </a:rPr>
              <a:t> </a:t>
            </a:r>
            <a:r>
              <a:rPr sz="2200" b="0" spc="-25" dirty="0">
                <a:latin typeface="Arial MT"/>
                <a:cs typeface="Arial MT"/>
              </a:rPr>
              <a:t>um </a:t>
            </a:r>
            <a:r>
              <a:rPr sz="2200" b="0" dirty="0">
                <a:latin typeface="Arial MT"/>
                <a:cs typeface="Arial MT"/>
              </a:rPr>
              <a:t>problema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</a:t>
            </a:r>
            <a:r>
              <a:rPr sz="2200" b="0" spc="-7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ser</a:t>
            </a:r>
            <a:r>
              <a:rPr sz="2200" b="0" spc="-7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resolvido: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“Como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melhorar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esta</a:t>
            </a:r>
            <a:r>
              <a:rPr sz="2200" b="0" spc="-75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situação?”;</a:t>
            </a:r>
            <a:endParaRPr sz="2200" dirty="0">
              <a:latin typeface="Arial MT"/>
              <a:cs typeface="Arial MT"/>
            </a:endParaRPr>
          </a:p>
          <a:p>
            <a:pPr marL="558800" marR="5715" indent="-342900" algn="just">
              <a:lnSpc>
                <a:spcPts val="2230"/>
              </a:lnSpc>
              <a:spcBef>
                <a:spcPts val="1425"/>
              </a:spcBef>
              <a:buFont typeface="Arial" panose="020B0604020202020204" pitchFamily="34" charset="0"/>
              <a:buChar char="•"/>
            </a:pPr>
            <a:r>
              <a:rPr sz="2000" b="0" dirty="0">
                <a:latin typeface="Arial MT"/>
                <a:cs typeface="Arial MT"/>
              </a:rPr>
              <a:t>Uma</a:t>
            </a:r>
            <a:r>
              <a:rPr sz="2000" b="0" spc="11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intervenção</a:t>
            </a:r>
            <a:r>
              <a:rPr sz="2000" b="0" spc="9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adequada</a:t>
            </a:r>
            <a:r>
              <a:rPr sz="2000" b="0" spc="10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pode</a:t>
            </a:r>
            <a:r>
              <a:rPr sz="2000" b="0" spc="9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ser</a:t>
            </a:r>
            <a:r>
              <a:rPr sz="2000" b="0" spc="10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desde</a:t>
            </a:r>
            <a:r>
              <a:rPr sz="2000" b="0" spc="10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de</a:t>
            </a:r>
            <a:r>
              <a:rPr sz="2000" b="0" spc="10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uma</a:t>
            </a:r>
            <a:r>
              <a:rPr sz="2000" b="0" spc="105" dirty="0"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FF0000"/>
                </a:solidFill>
                <a:latin typeface="Arial MT"/>
                <a:cs typeface="Arial MT"/>
              </a:rPr>
              <a:t>novo</a:t>
            </a:r>
            <a:r>
              <a:rPr sz="2000" b="0" spc="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FF0000"/>
                </a:solidFill>
                <a:latin typeface="Arial MT"/>
                <a:cs typeface="Arial MT"/>
              </a:rPr>
              <a:t>sistema</a:t>
            </a:r>
            <a:r>
              <a:rPr sz="2000" b="0" spc="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b="0" spc="-10" dirty="0">
                <a:latin typeface="Arial MT"/>
                <a:cs typeface="Arial MT"/>
              </a:rPr>
              <a:t>inte- </a:t>
            </a:r>
            <a:r>
              <a:rPr sz="2000" b="0" dirty="0">
                <a:latin typeface="Arial MT"/>
                <a:cs typeface="Arial MT"/>
              </a:rPr>
              <a:t>rativo</a:t>
            </a:r>
            <a:r>
              <a:rPr sz="2000" b="0" spc="8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ou</a:t>
            </a:r>
            <a:r>
              <a:rPr sz="2000" b="0" spc="8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uma</a:t>
            </a:r>
            <a:r>
              <a:rPr sz="2000" b="0" spc="9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nova</a:t>
            </a:r>
            <a:r>
              <a:rPr sz="2000" b="0" spc="9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verão</a:t>
            </a:r>
            <a:r>
              <a:rPr sz="2000" b="0" spc="9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do</a:t>
            </a:r>
            <a:r>
              <a:rPr sz="2000" b="0" spc="9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sistema</a:t>
            </a:r>
            <a:r>
              <a:rPr sz="2000" b="0" spc="9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existente</a:t>
            </a:r>
            <a:r>
              <a:rPr sz="2000" b="0" spc="9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ou</a:t>
            </a:r>
            <a:r>
              <a:rPr sz="2000" b="0" spc="9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apenas</a:t>
            </a:r>
            <a:r>
              <a:rPr sz="2000" b="0" spc="90" dirty="0">
                <a:latin typeface="Arial MT"/>
                <a:cs typeface="Arial MT"/>
              </a:rPr>
              <a:t> </a:t>
            </a:r>
            <a:r>
              <a:rPr sz="2000" b="0" dirty="0" err="1">
                <a:latin typeface="Arial MT"/>
                <a:cs typeface="Arial MT"/>
              </a:rPr>
              <a:t>uma</a:t>
            </a:r>
            <a:r>
              <a:rPr sz="2000" b="0" spc="95" dirty="0">
                <a:latin typeface="Arial MT"/>
                <a:cs typeface="Arial MT"/>
              </a:rPr>
              <a:t> </a:t>
            </a:r>
            <a:r>
              <a:rPr sz="2000" b="0" spc="-10" dirty="0" err="1">
                <a:latin typeface="Arial MT"/>
                <a:cs typeface="Arial MT"/>
              </a:rPr>
              <a:t>mudan</a:t>
            </a:r>
            <a:r>
              <a:rPr sz="2000" b="0" dirty="0" err="1">
                <a:latin typeface="Arial MT"/>
                <a:cs typeface="Arial MT"/>
              </a:rPr>
              <a:t>ça</a:t>
            </a:r>
            <a:r>
              <a:rPr sz="2000" b="0" spc="-1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em</a:t>
            </a:r>
            <a:r>
              <a:rPr sz="2000" b="0" spc="-15" dirty="0">
                <a:latin typeface="Arial MT"/>
                <a:cs typeface="Arial MT"/>
              </a:rPr>
              <a:t> </a:t>
            </a:r>
            <a:r>
              <a:rPr sz="2000" b="0" spc="-10" dirty="0">
                <a:latin typeface="Arial MT"/>
                <a:cs typeface="Arial MT"/>
              </a:rPr>
              <a:t>processos.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47177EB-FCE3-71AD-EC47-B1477A37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700" y="635569"/>
            <a:ext cx="6096000" cy="430887"/>
          </a:xfrm>
        </p:spPr>
        <p:txBody>
          <a:bodyPr/>
          <a:lstStyle/>
          <a:p>
            <a:r>
              <a:rPr lang="pt-BR" dirty="0"/>
              <a:t>Análise</a:t>
            </a:r>
          </a:p>
        </p:txBody>
      </p:sp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241300" y="1644650"/>
            <a:ext cx="9220200" cy="5130892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20"/>
              </a:spcBef>
            </a:pPr>
            <a:r>
              <a:rPr sz="2600" b="0" dirty="0">
                <a:latin typeface="Arial MT"/>
                <a:cs typeface="Arial MT"/>
              </a:rPr>
              <a:t>Análise</a:t>
            </a:r>
            <a:r>
              <a:rPr sz="2600" b="0" spc="-45" dirty="0">
                <a:latin typeface="Arial MT"/>
                <a:cs typeface="Arial MT"/>
              </a:rPr>
              <a:t> </a:t>
            </a:r>
            <a:r>
              <a:rPr sz="2600" b="0" dirty="0">
                <a:latin typeface="Arial MT"/>
                <a:cs typeface="Arial MT"/>
              </a:rPr>
              <a:t>da</a:t>
            </a:r>
            <a:r>
              <a:rPr sz="2600" b="0" spc="-50" dirty="0">
                <a:latin typeface="Arial MT"/>
                <a:cs typeface="Arial MT"/>
              </a:rPr>
              <a:t> </a:t>
            </a:r>
            <a:r>
              <a:rPr sz="2600" b="0" dirty="0">
                <a:latin typeface="Arial MT"/>
                <a:cs typeface="Arial MT"/>
              </a:rPr>
              <a:t>situação</a:t>
            </a:r>
            <a:r>
              <a:rPr sz="2600" b="0" spc="-50" dirty="0">
                <a:latin typeface="Arial MT"/>
                <a:cs typeface="Arial MT"/>
              </a:rPr>
              <a:t> </a:t>
            </a:r>
            <a:r>
              <a:rPr sz="2600" b="0" spc="-10" dirty="0">
                <a:latin typeface="Arial MT"/>
                <a:cs typeface="Arial MT"/>
              </a:rPr>
              <a:t>atual:</a:t>
            </a:r>
            <a:endParaRPr sz="2600" dirty="0">
              <a:latin typeface="Arial MT"/>
              <a:cs typeface="Arial MT"/>
            </a:endParaRPr>
          </a:p>
          <a:p>
            <a:pPr marL="444500" algn="just">
              <a:lnSpc>
                <a:spcPct val="100000"/>
              </a:lnSpc>
              <a:spcBef>
                <a:spcPts val="1220"/>
              </a:spcBef>
            </a:pPr>
            <a:r>
              <a:rPr sz="2400" b="0" dirty="0">
                <a:latin typeface="Arial MT"/>
                <a:cs typeface="Arial MT"/>
              </a:rPr>
              <a:t>Caso</a:t>
            </a:r>
            <a:r>
              <a:rPr sz="2400" b="0" spc="-80" dirty="0">
                <a:latin typeface="Arial MT"/>
                <a:cs typeface="Arial MT"/>
              </a:rPr>
              <a:t> </a:t>
            </a:r>
            <a:r>
              <a:rPr sz="2400" b="0" spc="-25" dirty="0">
                <a:latin typeface="Arial MT"/>
                <a:cs typeface="Arial MT"/>
              </a:rPr>
              <a:t>1:</a:t>
            </a:r>
            <a:endParaRPr sz="2400" dirty="0">
              <a:latin typeface="Arial MT"/>
              <a:cs typeface="Arial MT"/>
            </a:endParaRPr>
          </a:p>
          <a:p>
            <a:pPr marL="875665" marR="5080" algn="just">
              <a:lnSpc>
                <a:spcPct val="93400"/>
              </a:lnSpc>
              <a:spcBef>
                <a:spcPts val="1125"/>
              </a:spcBef>
            </a:pPr>
            <a:r>
              <a:rPr sz="2200" b="0" dirty="0">
                <a:latin typeface="Arial MT"/>
                <a:cs typeface="Arial MT"/>
              </a:rPr>
              <a:t>O</a:t>
            </a:r>
            <a:r>
              <a:rPr sz="2200" b="0" spc="-5" dirty="0">
                <a:latin typeface="Arial MT"/>
                <a:cs typeface="Arial MT"/>
              </a:rPr>
              <a:t>  </a:t>
            </a:r>
            <a:r>
              <a:rPr sz="2200" b="0" dirty="0">
                <a:latin typeface="Arial MT"/>
                <a:cs typeface="Arial MT"/>
              </a:rPr>
              <a:t>usuários</a:t>
            </a:r>
            <a:r>
              <a:rPr sz="2200" b="0" spc="10" dirty="0">
                <a:latin typeface="Arial MT"/>
                <a:cs typeface="Arial MT"/>
              </a:rPr>
              <a:t>  </a:t>
            </a:r>
            <a:r>
              <a:rPr sz="2200" b="0" dirty="0">
                <a:latin typeface="Arial MT"/>
                <a:cs typeface="Arial MT"/>
              </a:rPr>
              <a:t>gastam  muito  tempo</a:t>
            </a:r>
            <a:r>
              <a:rPr sz="2200" b="0" spc="5" dirty="0">
                <a:latin typeface="Arial MT"/>
                <a:cs typeface="Arial MT"/>
              </a:rPr>
              <a:t>  </a:t>
            </a:r>
            <a:r>
              <a:rPr sz="2200" b="0" dirty="0">
                <a:latin typeface="Arial MT"/>
                <a:cs typeface="Arial MT"/>
              </a:rPr>
              <a:t>processando  </a:t>
            </a:r>
            <a:r>
              <a:rPr sz="2200" b="0" spc="-10" dirty="0">
                <a:latin typeface="Arial MT"/>
                <a:cs typeface="Arial MT"/>
              </a:rPr>
              <a:t>informações </a:t>
            </a:r>
            <a:r>
              <a:rPr sz="2200" b="0" dirty="0">
                <a:latin typeface="Arial MT"/>
                <a:cs typeface="Arial MT"/>
              </a:rPr>
              <a:t>que</a:t>
            </a:r>
            <a:r>
              <a:rPr sz="2200" b="0" spc="-2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um</a:t>
            </a:r>
            <a:r>
              <a:rPr sz="2200" b="0" spc="-2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sistema</a:t>
            </a:r>
            <a:r>
              <a:rPr sz="2200" b="0" spc="-2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computacional</a:t>
            </a:r>
            <a:r>
              <a:rPr sz="2200" b="0" spc="-1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poderia</a:t>
            </a:r>
            <a:r>
              <a:rPr sz="2200" b="0" spc="-2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fazer</a:t>
            </a:r>
            <a:r>
              <a:rPr sz="2200" b="0" spc="-15" dirty="0">
                <a:latin typeface="Arial MT"/>
                <a:cs typeface="Arial MT"/>
              </a:rPr>
              <a:t> </a:t>
            </a:r>
            <a:r>
              <a:rPr sz="2200" b="0" dirty="0" err="1">
                <a:latin typeface="Arial MT"/>
                <a:cs typeface="Arial MT"/>
              </a:rPr>
              <a:t>mais</a:t>
            </a:r>
            <a:r>
              <a:rPr sz="2200" b="0" spc="-15" dirty="0">
                <a:latin typeface="Arial MT"/>
                <a:cs typeface="Arial MT"/>
              </a:rPr>
              <a:t> </a:t>
            </a:r>
            <a:r>
              <a:rPr sz="2200" b="0" spc="-10" dirty="0" err="1">
                <a:latin typeface="Arial MT"/>
                <a:cs typeface="Arial MT"/>
              </a:rPr>
              <a:t>rapidamen</a:t>
            </a:r>
            <a:r>
              <a:rPr sz="2200" b="0" spc="-25" dirty="0" err="1">
                <a:latin typeface="Arial MT"/>
                <a:cs typeface="Arial MT"/>
              </a:rPr>
              <a:t>te</a:t>
            </a:r>
            <a:r>
              <a:rPr sz="2200" b="0" spc="-25" dirty="0">
                <a:latin typeface="Arial MT"/>
                <a:cs typeface="Arial MT"/>
              </a:rPr>
              <a:t>;</a:t>
            </a:r>
            <a:endParaRPr sz="2200" dirty="0">
              <a:latin typeface="Arial MT"/>
              <a:cs typeface="Arial MT"/>
            </a:endParaRPr>
          </a:p>
          <a:p>
            <a:pPr marL="875665" marR="5080" algn="just">
              <a:lnSpc>
                <a:spcPts val="2460"/>
              </a:lnSpc>
              <a:spcBef>
                <a:spcPts val="900"/>
              </a:spcBef>
            </a:pPr>
            <a:r>
              <a:rPr sz="2200" b="0" dirty="0">
                <a:solidFill>
                  <a:srgbClr val="FF0000"/>
                </a:solidFill>
                <a:latin typeface="Arial MT"/>
                <a:cs typeface="Arial MT"/>
              </a:rPr>
              <a:t>Meta</a:t>
            </a:r>
            <a:r>
              <a:rPr sz="2200" b="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rgbClr val="FF0000"/>
                </a:solidFill>
                <a:latin typeface="Arial MT"/>
                <a:cs typeface="Arial MT"/>
              </a:rPr>
              <a:t>de</a:t>
            </a:r>
            <a:r>
              <a:rPr sz="2200" b="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rgbClr val="FF0000"/>
                </a:solidFill>
                <a:latin typeface="Arial MT"/>
                <a:cs typeface="Arial MT"/>
              </a:rPr>
              <a:t>design</a:t>
            </a:r>
            <a:r>
              <a:rPr sz="2200" b="0" spc="-10" dirty="0">
                <a:latin typeface="Arial MT"/>
                <a:cs typeface="Arial MT"/>
              </a:rPr>
              <a:t>:</a:t>
            </a:r>
            <a:r>
              <a:rPr sz="2200" b="0" spc="-14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Aumentar</a:t>
            </a:r>
            <a:r>
              <a:rPr sz="2200" b="0" spc="-5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</a:t>
            </a:r>
            <a:r>
              <a:rPr sz="2200" b="0" spc="-5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eficiência</a:t>
            </a:r>
            <a:r>
              <a:rPr sz="2200" b="0" spc="-5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das</a:t>
            </a:r>
            <a:r>
              <a:rPr sz="2200" b="0" spc="-4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atividades</a:t>
            </a:r>
            <a:r>
              <a:rPr sz="2200" b="0" spc="-5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do</a:t>
            </a:r>
            <a:r>
              <a:rPr sz="2200" b="0" spc="-50" dirty="0">
                <a:latin typeface="Arial MT"/>
                <a:cs typeface="Arial MT"/>
              </a:rPr>
              <a:t> </a:t>
            </a:r>
            <a:r>
              <a:rPr sz="2200" b="0" spc="-10" dirty="0" err="1">
                <a:latin typeface="Arial MT"/>
                <a:cs typeface="Arial MT"/>
              </a:rPr>
              <a:t>usuá</a:t>
            </a:r>
            <a:r>
              <a:rPr sz="2200" b="0" dirty="0" err="1">
                <a:latin typeface="Arial MT"/>
                <a:cs typeface="Arial MT"/>
              </a:rPr>
              <a:t>rio</a:t>
            </a:r>
            <a:r>
              <a:rPr sz="2200" b="0" dirty="0">
                <a:latin typeface="Arial MT"/>
                <a:cs typeface="Arial MT"/>
              </a:rPr>
              <a:t>,</a:t>
            </a:r>
            <a:r>
              <a:rPr sz="2200" b="0" spc="-4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que</a:t>
            </a:r>
            <a:r>
              <a:rPr sz="2200" b="0" spc="-4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um</a:t>
            </a:r>
            <a:r>
              <a:rPr sz="2200" b="0" spc="-4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dos</a:t>
            </a:r>
            <a:r>
              <a:rPr sz="2200" b="0" spc="-4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fatores</a:t>
            </a:r>
            <a:r>
              <a:rPr sz="2200" b="0" spc="-3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de</a:t>
            </a:r>
            <a:r>
              <a:rPr sz="2200" b="0" spc="-40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usabilidade;</a:t>
            </a:r>
            <a:endParaRPr sz="2200" dirty="0">
              <a:latin typeface="Arial MT"/>
              <a:cs typeface="Arial MT"/>
            </a:endParaRPr>
          </a:p>
          <a:p>
            <a:pPr marL="444500" algn="just">
              <a:lnSpc>
                <a:spcPct val="100000"/>
              </a:lnSpc>
              <a:spcBef>
                <a:spcPts val="600"/>
              </a:spcBef>
            </a:pPr>
            <a:r>
              <a:rPr sz="2400" b="0" dirty="0">
                <a:latin typeface="Arial MT"/>
                <a:cs typeface="Arial MT"/>
              </a:rPr>
              <a:t>Caso</a:t>
            </a:r>
            <a:r>
              <a:rPr sz="2400" b="0" spc="-80" dirty="0">
                <a:latin typeface="Arial MT"/>
                <a:cs typeface="Arial MT"/>
              </a:rPr>
              <a:t> </a:t>
            </a:r>
            <a:r>
              <a:rPr sz="2400" b="0" spc="-50" dirty="0">
                <a:latin typeface="Arial MT"/>
                <a:cs typeface="Arial MT"/>
              </a:rPr>
              <a:t>2</a:t>
            </a:r>
            <a:endParaRPr sz="2400" dirty="0">
              <a:latin typeface="Arial MT"/>
              <a:cs typeface="Arial MT"/>
            </a:endParaRPr>
          </a:p>
          <a:p>
            <a:pPr marL="875665" marR="12065" algn="just">
              <a:lnSpc>
                <a:spcPts val="2460"/>
              </a:lnSpc>
              <a:spcBef>
                <a:spcPts val="1180"/>
              </a:spcBef>
            </a:pPr>
            <a:r>
              <a:rPr sz="2200" b="0" dirty="0">
                <a:latin typeface="Arial MT"/>
                <a:cs typeface="Arial MT"/>
              </a:rPr>
              <a:t>Vários</a:t>
            </a:r>
            <a:r>
              <a:rPr sz="2200" b="0" spc="51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usuários</a:t>
            </a:r>
            <a:r>
              <a:rPr sz="2200" b="0" spc="52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encontram</a:t>
            </a:r>
            <a:r>
              <a:rPr sz="2200" b="0" spc="50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dificuldades</a:t>
            </a:r>
            <a:r>
              <a:rPr sz="2200" b="0" spc="51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para</a:t>
            </a:r>
            <a:r>
              <a:rPr sz="2200" b="0" spc="509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usar</a:t>
            </a:r>
            <a:r>
              <a:rPr sz="2200" b="0" spc="509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sistemas </a:t>
            </a:r>
            <a:r>
              <a:rPr sz="2200" b="0" dirty="0">
                <a:latin typeface="Arial MT"/>
                <a:cs typeface="Arial MT"/>
              </a:rPr>
              <a:t>semelhantes</a:t>
            </a:r>
            <a:r>
              <a:rPr sz="2200" b="0" spc="-7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porque</a:t>
            </a:r>
            <a:r>
              <a:rPr sz="2200" b="0" spc="-7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não</a:t>
            </a:r>
            <a:r>
              <a:rPr sz="2200" b="0" spc="-80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compreendem</a:t>
            </a:r>
            <a:r>
              <a:rPr sz="2200" b="0" spc="-8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seu</a:t>
            </a:r>
            <a:r>
              <a:rPr sz="2200" b="0" spc="-70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funcionamento;</a:t>
            </a:r>
            <a:endParaRPr sz="2200" dirty="0">
              <a:latin typeface="Arial MT"/>
              <a:cs typeface="Arial MT"/>
            </a:endParaRPr>
          </a:p>
          <a:p>
            <a:pPr marL="875665" marR="5080" algn="just">
              <a:lnSpc>
                <a:spcPts val="2460"/>
              </a:lnSpc>
              <a:spcBef>
                <a:spcPts val="850"/>
              </a:spcBef>
            </a:pPr>
            <a:r>
              <a:rPr sz="2200" b="0" dirty="0">
                <a:solidFill>
                  <a:srgbClr val="FF0000"/>
                </a:solidFill>
                <a:latin typeface="Arial MT"/>
                <a:cs typeface="Arial MT"/>
              </a:rPr>
              <a:t>Meta</a:t>
            </a:r>
            <a:r>
              <a:rPr sz="2200" b="0" spc="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rgbClr val="FF0000"/>
                </a:solidFill>
                <a:latin typeface="Arial MT"/>
                <a:cs typeface="Arial MT"/>
              </a:rPr>
              <a:t>de</a:t>
            </a:r>
            <a:r>
              <a:rPr sz="2200" b="0" spc="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rgbClr val="FF0000"/>
                </a:solidFill>
                <a:latin typeface="Arial MT"/>
                <a:cs typeface="Arial MT"/>
              </a:rPr>
              <a:t>design</a:t>
            </a:r>
            <a:r>
              <a:rPr sz="2200" b="0" dirty="0">
                <a:latin typeface="Arial MT"/>
                <a:cs typeface="Arial MT"/>
              </a:rPr>
              <a:t>:</a:t>
            </a:r>
            <a:r>
              <a:rPr sz="2200" b="0" spc="10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Comunicar</a:t>
            </a:r>
            <a:r>
              <a:rPr sz="2200" b="0" spc="9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adequadamente</a:t>
            </a:r>
            <a:r>
              <a:rPr sz="2200" b="0" spc="9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através</a:t>
            </a:r>
            <a:r>
              <a:rPr sz="2200" b="0" spc="10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da</a:t>
            </a:r>
            <a:r>
              <a:rPr sz="2200" b="0" spc="95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inter</a:t>
            </a:r>
            <a:r>
              <a:rPr sz="2200" b="0" dirty="0">
                <a:latin typeface="Arial MT"/>
                <a:cs typeface="Arial MT"/>
              </a:rPr>
              <a:t>face</a:t>
            </a:r>
            <a:r>
              <a:rPr sz="2200" b="0" spc="29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</a:t>
            </a:r>
            <a:r>
              <a:rPr sz="2200" b="0" spc="29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visão</a:t>
            </a:r>
            <a:r>
              <a:rPr sz="2200" b="0" spc="29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do</a:t>
            </a:r>
            <a:r>
              <a:rPr sz="2200" b="0" spc="290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designer</a:t>
            </a:r>
            <a:r>
              <a:rPr sz="2200" b="0" spc="29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sobre</a:t>
            </a:r>
            <a:r>
              <a:rPr sz="2200" b="0" spc="29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as</a:t>
            </a:r>
            <a:r>
              <a:rPr sz="2200" b="0" spc="29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operações</a:t>
            </a:r>
            <a:r>
              <a:rPr sz="2200" b="0" spc="29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que</a:t>
            </a:r>
            <a:r>
              <a:rPr sz="2200" b="0" spc="29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o</a:t>
            </a:r>
            <a:r>
              <a:rPr sz="2200" b="0" spc="295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usuário </a:t>
            </a:r>
            <a:r>
              <a:rPr sz="2200" b="0" dirty="0">
                <a:latin typeface="Arial MT"/>
                <a:cs typeface="Arial MT"/>
              </a:rPr>
              <a:t>pode</a:t>
            </a:r>
            <a:r>
              <a:rPr sz="2200" b="0" spc="-65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realizar,</a:t>
            </a:r>
            <a:r>
              <a:rPr sz="2200" b="0" spc="-60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aumentando</a:t>
            </a:r>
            <a:r>
              <a:rPr sz="2200" b="0" spc="-65" dirty="0">
                <a:latin typeface="Arial MT"/>
                <a:cs typeface="Arial MT"/>
              </a:rPr>
              <a:t> </a:t>
            </a:r>
            <a:r>
              <a:rPr sz="2200" b="0" dirty="0">
                <a:latin typeface="Arial MT"/>
                <a:cs typeface="Arial MT"/>
              </a:rPr>
              <a:t>a</a:t>
            </a:r>
            <a:r>
              <a:rPr sz="2200" b="0" spc="-70" dirty="0">
                <a:latin typeface="Arial MT"/>
                <a:cs typeface="Arial MT"/>
              </a:rPr>
              <a:t> </a:t>
            </a:r>
            <a:r>
              <a:rPr sz="2200" b="0" spc="-10" dirty="0">
                <a:latin typeface="Arial MT"/>
                <a:cs typeface="Arial MT"/>
              </a:rPr>
              <a:t>comunicabilidade.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1798320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2548889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3288029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439" y="3956050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4592320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439" y="5260340"/>
            <a:ext cx="95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5897879"/>
            <a:ext cx="95250" cy="952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439" y="6294120"/>
            <a:ext cx="95250" cy="952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67410" y="1659890"/>
            <a:ext cx="8722360" cy="50996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6350">
              <a:lnSpc>
                <a:spcPts val="2340"/>
              </a:lnSpc>
              <a:spcBef>
                <a:spcPts val="315"/>
              </a:spcBef>
            </a:pPr>
            <a:r>
              <a:rPr sz="2100" dirty="0">
                <a:latin typeface="Arial MT"/>
                <a:cs typeface="Arial MT"/>
              </a:rPr>
              <a:t>Uma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vez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definida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uma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0000"/>
                </a:solidFill>
                <a:latin typeface="Arial MT"/>
                <a:cs typeface="Arial MT"/>
              </a:rPr>
              <a:t>intervenção</a:t>
            </a:r>
            <a:r>
              <a:rPr sz="2100" dirty="0">
                <a:latin typeface="Arial MT"/>
                <a:cs typeface="Arial MT"/>
              </a:rPr>
              <a:t>,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preciso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avaliar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ela modifica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 </a:t>
            </a:r>
            <a:r>
              <a:rPr sz="2100" spc="-10" dirty="0">
                <a:latin typeface="Arial MT"/>
                <a:cs typeface="Arial MT"/>
              </a:rPr>
              <a:t>situ- </a:t>
            </a:r>
            <a:r>
              <a:rPr sz="2100" dirty="0">
                <a:latin typeface="Arial MT"/>
                <a:cs typeface="Arial MT"/>
              </a:rPr>
              <a:t>ação</a:t>
            </a:r>
            <a:r>
              <a:rPr sz="2100" spc="-6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atual</a:t>
            </a:r>
            <a:r>
              <a:rPr sz="2100" spc="-6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forma</a:t>
            </a:r>
            <a:r>
              <a:rPr sz="2100" spc="-6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desejada;</a:t>
            </a:r>
            <a:endParaRPr sz="2100" dirty="0">
              <a:latin typeface="Arial MT"/>
              <a:cs typeface="Arial MT"/>
            </a:endParaRPr>
          </a:p>
          <a:p>
            <a:pPr marL="12700" marR="6350">
              <a:lnSpc>
                <a:spcPts val="2350"/>
              </a:lnSpc>
              <a:spcBef>
                <a:spcPts val="1225"/>
              </a:spcBef>
            </a:pPr>
            <a:r>
              <a:rPr sz="2100" dirty="0">
                <a:latin typeface="Arial MT"/>
                <a:cs typeface="Arial MT"/>
              </a:rPr>
              <a:t>A</a:t>
            </a:r>
            <a:r>
              <a:rPr sz="2100" spc="70" dirty="0"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0000"/>
                </a:solidFill>
                <a:latin typeface="Arial MT"/>
                <a:cs typeface="Arial MT"/>
              </a:rPr>
              <a:t>avaliação</a:t>
            </a:r>
            <a:r>
              <a:rPr sz="2100" spc="1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</a:t>
            </a:r>
            <a:r>
              <a:rPr sz="2100" spc="18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uma</a:t>
            </a:r>
            <a:r>
              <a:rPr sz="2100" spc="18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intervenção</a:t>
            </a:r>
            <a:r>
              <a:rPr sz="2100" spc="18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pode</a:t>
            </a:r>
            <a:r>
              <a:rPr sz="2100" spc="17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ocorrer</a:t>
            </a:r>
            <a:r>
              <a:rPr sz="2100" spc="18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em</a:t>
            </a:r>
            <a:r>
              <a:rPr sz="2100" spc="17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vários</a:t>
            </a:r>
            <a:r>
              <a:rPr sz="2100" spc="18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pontos</a:t>
            </a:r>
            <a:r>
              <a:rPr sz="2100" spc="17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</a:t>
            </a:r>
            <a:r>
              <a:rPr sz="2100" spc="17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pro- </a:t>
            </a:r>
            <a:r>
              <a:rPr sz="2100" dirty="0">
                <a:latin typeface="Arial MT"/>
                <a:cs typeface="Arial MT"/>
              </a:rPr>
              <a:t>cesso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desenvolvimento:</a:t>
            </a:r>
            <a:endParaRPr sz="2100" dirty="0">
              <a:latin typeface="Arial MT"/>
              <a:cs typeface="Arial MT"/>
            </a:endParaRPr>
          </a:p>
          <a:p>
            <a:pPr marL="388620" marR="10160">
              <a:lnSpc>
                <a:spcPts val="2140"/>
              </a:lnSpc>
              <a:spcBef>
                <a:spcPts val="1215"/>
              </a:spcBef>
            </a:pPr>
            <a:r>
              <a:rPr sz="1900" dirty="0">
                <a:latin typeface="Arial MT"/>
                <a:cs typeface="Arial MT"/>
              </a:rPr>
              <a:t>Durante</a:t>
            </a:r>
            <a:r>
              <a:rPr sz="1900" spc="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concepção</a:t>
            </a:r>
            <a:r>
              <a:rPr sz="1900" spc="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</a:t>
            </a:r>
            <a:r>
              <a:rPr sz="1900" spc="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</a:t>
            </a:r>
            <a:r>
              <a:rPr sz="1900" spc="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desenvolvimento</a:t>
            </a:r>
            <a:r>
              <a:rPr sz="1900" spc="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</a:t>
            </a:r>
            <a:r>
              <a:rPr sz="1900" spc="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intervenção,</a:t>
            </a:r>
            <a:r>
              <a:rPr sz="1900" spc="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para</a:t>
            </a:r>
            <a:r>
              <a:rPr sz="1900" spc="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prever</a:t>
            </a:r>
            <a:r>
              <a:rPr sz="1900" spc="3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seus </a:t>
            </a:r>
            <a:r>
              <a:rPr sz="1900" dirty="0">
                <a:latin typeface="Arial MT"/>
                <a:cs typeface="Arial MT"/>
              </a:rPr>
              <a:t>possíveis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impactos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na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situação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atual:</a:t>
            </a:r>
            <a:endParaRPr sz="1900" dirty="0">
              <a:latin typeface="Arial MT"/>
              <a:cs typeface="Arial MT"/>
            </a:endParaRPr>
          </a:p>
          <a:p>
            <a:pPr marL="764540" marR="5080">
              <a:lnSpc>
                <a:spcPts val="2140"/>
              </a:lnSpc>
              <a:spcBef>
                <a:spcPts val="980"/>
              </a:spcBef>
            </a:pPr>
            <a:r>
              <a:rPr sz="1900" dirty="0">
                <a:latin typeface="Arial MT"/>
                <a:cs typeface="Arial MT"/>
              </a:rPr>
              <a:t>Exemplo: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inspecionando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as</a:t>
            </a:r>
            <a:r>
              <a:rPr sz="1900" spc="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telas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produzidas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durante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projeto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interfa- </a:t>
            </a:r>
            <a:r>
              <a:rPr sz="1900" dirty="0">
                <a:latin typeface="Arial MT"/>
                <a:cs typeface="Arial MT"/>
              </a:rPr>
              <a:t>ce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com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usuário;</a:t>
            </a:r>
            <a:endParaRPr sz="1900" dirty="0">
              <a:latin typeface="Arial MT"/>
              <a:cs typeface="Arial MT"/>
            </a:endParaRPr>
          </a:p>
          <a:p>
            <a:pPr marL="388620" marR="5080">
              <a:lnSpc>
                <a:spcPts val="2140"/>
              </a:lnSpc>
              <a:spcBef>
                <a:spcPts val="740"/>
              </a:spcBef>
            </a:pPr>
            <a:r>
              <a:rPr sz="1900" dirty="0">
                <a:latin typeface="Arial MT"/>
                <a:cs typeface="Arial MT"/>
              </a:rPr>
              <a:t>Logo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antes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introdução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intervenção,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para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identificar</a:t>
            </a:r>
            <a:r>
              <a:rPr sz="1900" spc="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consequências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ne- </a:t>
            </a:r>
            <a:r>
              <a:rPr sz="1900" dirty="0">
                <a:latin typeface="Arial MT"/>
                <a:cs typeface="Arial MT"/>
              </a:rPr>
              <a:t>gativas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ou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problemas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que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possam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ser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evitados:</a:t>
            </a:r>
            <a:endParaRPr sz="1900" dirty="0">
              <a:latin typeface="Arial MT"/>
              <a:cs typeface="Arial MT"/>
            </a:endParaRPr>
          </a:p>
          <a:p>
            <a:pPr marL="764540" marR="5080">
              <a:lnSpc>
                <a:spcPts val="2140"/>
              </a:lnSpc>
              <a:spcBef>
                <a:spcPts val="980"/>
              </a:spcBef>
            </a:pPr>
            <a:r>
              <a:rPr sz="1900" dirty="0">
                <a:latin typeface="Arial MT"/>
                <a:cs typeface="Arial MT"/>
              </a:rPr>
              <a:t>Exemplo:</a:t>
            </a:r>
            <a:r>
              <a:rPr sz="1900" spc="204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fazendo</a:t>
            </a:r>
            <a:r>
              <a:rPr sz="1900" spc="20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testes</a:t>
            </a:r>
            <a:r>
              <a:rPr sz="1900" spc="20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com</a:t>
            </a:r>
            <a:r>
              <a:rPr sz="1900" spc="20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usuários</a:t>
            </a:r>
            <a:r>
              <a:rPr sz="1900" spc="204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</a:t>
            </a:r>
            <a:r>
              <a:rPr sz="1900" spc="204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produzindo</a:t>
            </a:r>
            <a:r>
              <a:rPr sz="1900" spc="20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material</a:t>
            </a:r>
            <a:r>
              <a:rPr sz="1900" spc="204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</a:t>
            </a:r>
            <a:r>
              <a:rPr sz="1900" spc="19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treina- </a:t>
            </a:r>
            <a:r>
              <a:rPr sz="1900" dirty="0">
                <a:latin typeface="Arial MT"/>
                <a:cs typeface="Arial MT"/>
              </a:rPr>
              <a:t>mento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partir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dos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seus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resultados;</a:t>
            </a:r>
            <a:endParaRPr sz="1900" dirty="0">
              <a:latin typeface="Arial MT"/>
              <a:cs typeface="Arial MT"/>
            </a:endParaRPr>
          </a:p>
          <a:p>
            <a:pPr marL="388620">
              <a:lnSpc>
                <a:spcPct val="100000"/>
              </a:lnSpc>
              <a:spcBef>
                <a:spcPts val="545"/>
              </a:spcBef>
            </a:pPr>
            <a:r>
              <a:rPr sz="1900" dirty="0">
                <a:latin typeface="Arial MT"/>
                <a:cs typeface="Arial MT"/>
              </a:rPr>
              <a:t>Depois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intervenção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ter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sido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aplicada,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para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verificar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impactos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ocorridos:</a:t>
            </a:r>
            <a:endParaRPr sz="1900" dirty="0">
              <a:latin typeface="Arial MT"/>
              <a:cs typeface="Arial MT"/>
            </a:endParaRPr>
          </a:p>
          <a:p>
            <a:pPr marL="764540" marR="8255">
              <a:lnSpc>
                <a:spcPts val="2140"/>
              </a:lnSpc>
              <a:spcBef>
                <a:spcPts val="1035"/>
              </a:spcBef>
            </a:pPr>
            <a:r>
              <a:rPr sz="1900" dirty="0">
                <a:latin typeface="Arial MT"/>
                <a:cs typeface="Arial MT"/>
              </a:rPr>
              <a:t>Exemplo: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avaliando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como</a:t>
            </a:r>
            <a:r>
              <a:rPr sz="1900" spc="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os</a:t>
            </a:r>
            <a:r>
              <a:rPr sz="1900" spc="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usuários</a:t>
            </a:r>
            <a:r>
              <a:rPr sz="1900" spc="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apropriam</a:t>
            </a:r>
            <a:r>
              <a:rPr sz="1900" spc="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do</a:t>
            </a:r>
            <a:r>
              <a:rPr sz="1900" spc="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sistema</a:t>
            </a:r>
            <a:r>
              <a:rPr sz="1900" spc="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interativo desenvolvido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quais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mudanças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ocorreram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na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sua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pratica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trabalho;</a:t>
            </a:r>
            <a:endParaRPr sz="1900" dirty="0">
              <a:latin typeface="Arial MT"/>
              <a:cs typeface="Arial MT"/>
            </a:endParaRPr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8A2510BD-F1AA-C908-12DA-52BA3636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Intervenção</a:t>
            </a:r>
          </a:p>
        </p:txBody>
      </p:sp>
    </p:spTree>
  </p:cSld>
  <p:clrMapOvr>
    <a:masterClrMapping/>
  </p:clrMapOvr>
  <p:transition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1100" y="425450"/>
            <a:ext cx="6096000" cy="430887"/>
          </a:xfrm>
          <a:prstGeom prst="rect">
            <a:avLst/>
          </a:prstGeom>
        </p:spPr>
        <p:txBody>
          <a:bodyPr vert="horz" wrap="square" lIns="0" tIns="325119" rIns="0" bIns="0" rtlCol="0">
            <a:spAutoFit/>
          </a:bodyPr>
          <a:lstStyle/>
          <a:p>
            <a:pPr marL="1187450">
              <a:lnSpc>
                <a:spcPct val="100000"/>
              </a:lnSpc>
              <a:spcBef>
                <a:spcPts val="100"/>
              </a:spcBef>
            </a:pPr>
            <a:r>
              <a:rPr dirty="0"/>
              <a:t>Perspectiva</a:t>
            </a:r>
            <a:r>
              <a:rPr spc="-135" dirty="0"/>
              <a:t> </a:t>
            </a:r>
            <a:r>
              <a:rPr dirty="0"/>
              <a:t>de</a:t>
            </a:r>
            <a:r>
              <a:rPr spc="-130" dirty="0"/>
              <a:t> </a:t>
            </a:r>
            <a:r>
              <a:rPr spc="-10" dirty="0"/>
              <a:t>design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1341434" y="4391673"/>
            <a:ext cx="6139817" cy="1782612"/>
            <a:chOff x="2951289" y="4554029"/>
            <a:chExt cx="4177665" cy="1476375"/>
          </a:xfrm>
        </p:grpSpPr>
        <p:sp>
          <p:nvSpPr>
            <p:cNvPr id="4" name="object 4"/>
            <p:cNvSpPr/>
            <p:nvPr/>
          </p:nvSpPr>
          <p:spPr>
            <a:xfrm>
              <a:off x="2969259" y="4571999"/>
              <a:ext cx="4141470" cy="1440180"/>
            </a:xfrm>
            <a:custGeom>
              <a:avLst/>
              <a:gdLst/>
              <a:ahLst/>
              <a:cxnLst/>
              <a:rect l="l" t="t" r="r" b="b"/>
              <a:pathLst>
                <a:path w="4141470" h="1440179">
                  <a:moveTo>
                    <a:pt x="4141469" y="0"/>
                  </a:moveTo>
                  <a:lnTo>
                    <a:pt x="0" y="0"/>
                  </a:lnTo>
                  <a:lnTo>
                    <a:pt x="0" y="1440180"/>
                  </a:lnTo>
                  <a:lnTo>
                    <a:pt x="4141469" y="1440180"/>
                  </a:lnTo>
                  <a:lnTo>
                    <a:pt x="4141469" y="0"/>
                  </a:lnTo>
                  <a:close/>
                </a:path>
              </a:pathLst>
            </a:custGeom>
            <a:solidFill>
              <a:srgbClr val="DBE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51289" y="4554029"/>
              <a:ext cx="4177665" cy="1476375"/>
            </a:xfrm>
            <a:custGeom>
              <a:avLst/>
              <a:gdLst/>
              <a:ahLst/>
              <a:cxnLst/>
              <a:rect l="l" t="t" r="r" b="b"/>
              <a:pathLst>
                <a:path w="4177665" h="1476375">
                  <a:moveTo>
                    <a:pt x="35941" y="17970"/>
                  </a:moveTo>
                  <a:lnTo>
                    <a:pt x="30670" y="5270"/>
                  </a:lnTo>
                  <a:lnTo>
                    <a:pt x="17970" y="0"/>
                  </a:lnTo>
                  <a:lnTo>
                    <a:pt x="5257" y="5270"/>
                  </a:lnTo>
                  <a:lnTo>
                    <a:pt x="0" y="17970"/>
                  </a:lnTo>
                  <a:lnTo>
                    <a:pt x="5257" y="30683"/>
                  </a:lnTo>
                  <a:lnTo>
                    <a:pt x="17970" y="35941"/>
                  </a:lnTo>
                  <a:lnTo>
                    <a:pt x="30670" y="30683"/>
                  </a:lnTo>
                  <a:lnTo>
                    <a:pt x="35941" y="17970"/>
                  </a:lnTo>
                  <a:close/>
                </a:path>
                <a:path w="4177665" h="1476375">
                  <a:moveTo>
                    <a:pt x="4177398" y="1458150"/>
                  </a:moveTo>
                  <a:lnTo>
                    <a:pt x="4172140" y="1445450"/>
                  </a:lnTo>
                  <a:lnTo>
                    <a:pt x="4159440" y="1440180"/>
                  </a:lnTo>
                  <a:lnTo>
                    <a:pt x="4146727" y="1445450"/>
                  </a:lnTo>
                  <a:lnTo>
                    <a:pt x="4141470" y="1458150"/>
                  </a:lnTo>
                  <a:lnTo>
                    <a:pt x="4146727" y="1470863"/>
                  </a:lnTo>
                  <a:lnTo>
                    <a:pt x="4159440" y="1476133"/>
                  </a:lnTo>
                  <a:lnTo>
                    <a:pt x="4172140" y="1470863"/>
                  </a:lnTo>
                  <a:lnTo>
                    <a:pt x="4177398" y="145815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84323" y="4766171"/>
            <a:ext cx="5654040" cy="1033616"/>
          </a:xfrm>
          <a:prstGeom prst="rect">
            <a:avLst/>
          </a:prstGeom>
          <a:ln w="35940">
            <a:solidFill>
              <a:srgbClr val="00007F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07950" marR="100330" algn="just">
              <a:lnSpc>
                <a:spcPct val="100000"/>
              </a:lnSpc>
              <a:spcBef>
                <a:spcPts val="500"/>
              </a:spcBef>
            </a:pPr>
            <a:r>
              <a:rPr sz="2100" spc="160" dirty="0">
                <a:latin typeface="+mj-lt"/>
                <a:cs typeface="Trebuchet MS"/>
              </a:rPr>
              <a:t>Designer</a:t>
            </a:r>
            <a:r>
              <a:rPr sz="2100" spc="95" dirty="0">
                <a:latin typeface="+mj-lt"/>
                <a:cs typeface="Trebuchet MS"/>
              </a:rPr>
              <a:t>  </a:t>
            </a:r>
            <a:r>
              <a:rPr sz="2100" spc="145" dirty="0">
                <a:latin typeface="+mj-lt"/>
                <a:cs typeface="Trebuchet MS"/>
              </a:rPr>
              <a:t>enquadra</a:t>
            </a:r>
            <a:r>
              <a:rPr sz="2100" spc="95" dirty="0">
                <a:latin typeface="+mj-lt"/>
                <a:cs typeface="Trebuchet MS"/>
              </a:rPr>
              <a:t>  </a:t>
            </a:r>
            <a:r>
              <a:rPr sz="2100" spc="204" dirty="0" err="1">
                <a:latin typeface="+mj-lt"/>
                <a:cs typeface="Trebuchet MS"/>
              </a:rPr>
              <a:t>uma</a:t>
            </a:r>
            <a:r>
              <a:rPr sz="2100" spc="90" dirty="0">
                <a:latin typeface="+mj-lt"/>
                <a:cs typeface="Trebuchet MS"/>
              </a:rPr>
              <a:t>  </a:t>
            </a:r>
            <a:r>
              <a:rPr sz="2100" spc="45" dirty="0" err="1">
                <a:latin typeface="+mj-lt"/>
                <a:cs typeface="Trebuchet MS"/>
              </a:rPr>
              <a:t>si</a:t>
            </a:r>
            <a:r>
              <a:rPr sz="2100" spc="125" dirty="0" err="1">
                <a:latin typeface="+mj-lt"/>
                <a:cs typeface="Trebuchet MS"/>
              </a:rPr>
              <a:t>tuação</a:t>
            </a:r>
            <a:r>
              <a:rPr sz="2100" spc="245" dirty="0">
                <a:latin typeface="+mj-lt"/>
                <a:cs typeface="Trebuchet MS"/>
              </a:rPr>
              <a:t>  </a:t>
            </a:r>
            <a:r>
              <a:rPr sz="2100" spc="210" dirty="0">
                <a:latin typeface="+mj-lt"/>
                <a:cs typeface="Trebuchet MS"/>
              </a:rPr>
              <a:t>num</a:t>
            </a:r>
            <a:r>
              <a:rPr sz="2100" spc="245" dirty="0">
                <a:latin typeface="+mj-lt"/>
                <a:cs typeface="Trebuchet MS"/>
              </a:rPr>
              <a:t>  </a:t>
            </a:r>
            <a:r>
              <a:rPr sz="2100" spc="65" dirty="0">
                <a:latin typeface="+mj-lt"/>
                <a:cs typeface="Trebuchet MS"/>
              </a:rPr>
              <a:t>tipo</a:t>
            </a:r>
            <a:r>
              <a:rPr sz="2100" spc="250" dirty="0">
                <a:latin typeface="+mj-lt"/>
                <a:cs typeface="Trebuchet MS"/>
              </a:rPr>
              <a:t>  </a:t>
            </a:r>
            <a:r>
              <a:rPr sz="2100" spc="114" dirty="0">
                <a:latin typeface="+mj-lt"/>
                <a:cs typeface="Trebuchet MS"/>
              </a:rPr>
              <a:t>geral</a:t>
            </a:r>
            <a:r>
              <a:rPr sz="2100" spc="245" dirty="0">
                <a:latin typeface="+mj-lt"/>
                <a:cs typeface="Trebuchet MS"/>
              </a:rPr>
              <a:t>  </a:t>
            </a:r>
            <a:r>
              <a:rPr sz="2100" spc="114" dirty="0">
                <a:latin typeface="+mj-lt"/>
                <a:cs typeface="Trebuchet MS"/>
              </a:rPr>
              <a:t>de </a:t>
            </a:r>
            <a:r>
              <a:rPr sz="2100" spc="125" dirty="0">
                <a:latin typeface="+mj-lt"/>
                <a:cs typeface="Trebuchet MS"/>
              </a:rPr>
              <a:t>problema</a:t>
            </a:r>
            <a:r>
              <a:rPr sz="2100" spc="-55" dirty="0">
                <a:latin typeface="+mj-lt"/>
                <a:cs typeface="Trebuchet MS"/>
              </a:rPr>
              <a:t>  </a:t>
            </a:r>
            <a:r>
              <a:rPr sz="2100" spc="65" dirty="0">
                <a:latin typeface="+mj-lt"/>
                <a:cs typeface="Trebuchet MS"/>
              </a:rPr>
              <a:t>cuja</a:t>
            </a:r>
            <a:r>
              <a:rPr sz="2100" spc="-60" dirty="0">
                <a:latin typeface="+mj-lt"/>
                <a:cs typeface="Trebuchet MS"/>
              </a:rPr>
              <a:t>  </a:t>
            </a:r>
            <a:r>
              <a:rPr sz="2100" spc="114" dirty="0">
                <a:latin typeface="+mj-lt"/>
                <a:cs typeface="Trebuchet MS"/>
              </a:rPr>
              <a:t>forma</a:t>
            </a:r>
            <a:r>
              <a:rPr sz="2100" spc="-55" dirty="0">
                <a:latin typeface="+mj-lt"/>
                <a:cs typeface="Trebuchet MS"/>
              </a:rPr>
              <a:t>  </a:t>
            </a:r>
            <a:r>
              <a:rPr sz="2100" spc="140" dirty="0">
                <a:latin typeface="+mj-lt"/>
                <a:cs typeface="Trebuchet MS"/>
              </a:rPr>
              <a:t>de</a:t>
            </a:r>
            <a:r>
              <a:rPr sz="2100" spc="-50" dirty="0">
                <a:latin typeface="+mj-lt"/>
                <a:cs typeface="Trebuchet MS"/>
              </a:rPr>
              <a:t>  </a:t>
            </a:r>
            <a:r>
              <a:rPr sz="2100" spc="105" dirty="0" err="1">
                <a:latin typeface="+mj-lt"/>
                <a:cs typeface="Trebuchet MS"/>
              </a:rPr>
              <a:t>so</a:t>
            </a:r>
            <a:r>
              <a:rPr sz="2100" spc="110" dirty="0" err="1">
                <a:latin typeface="+mj-lt"/>
                <a:cs typeface="Trebuchet MS"/>
              </a:rPr>
              <a:t>lução</a:t>
            </a:r>
            <a:r>
              <a:rPr sz="2100" spc="45" dirty="0">
                <a:latin typeface="+mj-lt"/>
                <a:cs typeface="Trebuchet MS"/>
              </a:rPr>
              <a:t> </a:t>
            </a:r>
            <a:r>
              <a:rPr sz="2100" spc="85" dirty="0" err="1">
                <a:latin typeface="+mj-lt"/>
                <a:cs typeface="Trebuchet MS"/>
              </a:rPr>
              <a:t>seja</a:t>
            </a:r>
            <a:r>
              <a:rPr sz="2100" spc="45" dirty="0">
                <a:latin typeface="+mj-lt"/>
                <a:cs typeface="Trebuchet MS"/>
              </a:rPr>
              <a:t> </a:t>
            </a:r>
            <a:r>
              <a:rPr sz="2100" spc="95" dirty="0" err="1">
                <a:latin typeface="+mj-lt"/>
                <a:cs typeface="Trebuchet MS"/>
              </a:rPr>
              <a:t>conhecida</a:t>
            </a:r>
            <a:endParaRPr sz="2100" dirty="0">
              <a:latin typeface="+mj-lt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1918970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2480310"/>
            <a:ext cx="95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569" y="2974339"/>
            <a:ext cx="95250" cy="952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569" y="3417570"/>
            <a:ext cx="95250" cy="952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23289" y="1561041"/>
            <a:ext cx="8660130" cy="2420620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sz="2600" dirty="0">
                <a:latin typeface="Arial MT"/>
                <a:cs typeface="Arial MT"/>
              </a:rPr>
              <a:t>São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formas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interpretar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atividade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design:</a:t>
            </a:r>
            <a:endParaRPr sz="2600">
              <a:latin typeface="Arial MT"/>
              <a:cs typeface="Arial MT"/>
            </a:endParaRPr>
          </a:p>
          <a:p>
            <a:pPr marL="444500">
              <a:lnSpc>
                <a:spcPct val="100000"/>
              </a:lnSpc>
              <a:spcBef>
                <a:spcPts val="1420"/>
              </a:spcBef>
            </a:pPr>
            <a:r>
              <a:rPr sz="2400" spc="-10" dirty="0">
                <a:latin typeface="Arial MT"/>
                <a:cs typeface="Arial MT"/>
              </a:rPr>
              <a:t>Racionalismo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técnico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(Simon,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1981):</a:t>
            </a:r>
            <a:endParaRPr sz="2400">
              <a:latin typeface="Arial MT"/>
              <a:cs typeface="Arial MT"/>
            </a:endParaRPr>
          </a:p>
          <a:p>
            <a:pPr marL="875665">
              <a:lnSpc>
                <a:spcPct val="100000"/>
              </a:lnSpc>
              <a:spcBef>
                <a:spcPts val="1130"/>
              </a:spcBef>
            </a:pPr>
            <a:r>
              <a:rPr sz="2200" dirty="0">
                <a:latin typeface="Arial MT"/>
                <a:cs typeface="Arial MT"/>
              </a:rPr>
              <a:t>Enquadra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uma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situação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num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tipo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geral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problema;</a:t>
            </a:r>
            <a:endParaRPr sz="2200">
              <a:latin typeface="Arial MT"/>
              <a:cs typeface="Arial MT"/>
            </a:endParaRPr>
          </a:p>
          <a:p>
            <a:pPr marL="875665" marR="5080">
              <a:lnSpc>
                <a:spcPct val="100000"/>
              </a:lnSpc>
              <a:spcBef>
                <a:spcPts val="850"/>
              </a:spcBef>
              <a:tabLst>
                <a:tab pos="1834514" algn="l"/>
                <a:tab pos="2297430" algn="l"/>
                <a:tab pos="3413125" algn="l"/>
                <a:tab pos="4840605" algn="l"/>
                <a:tab pos="5302885" algn="l"/>
                <a:tab pos="6526530" algn="l"/>
                <a:tab pos="7220584" algn="l"/>
                <a:tab pos="8491855" algn="l"/>
              </a:tabLst>
            </a:pPr>
            <a:r>
              <a:rPr sz="2200" spc="-10" dirty="0">
                <a:latin typeface="Arial MT"/>
                <a:cs typeface="Arial MT"/>
              </a:rPr>
              <a:t>Forma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de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solução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conhecida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ou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métodos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bem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definidos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50" dirty="0">
                <a:latin typeface="Arial MT"/>
                <a:cs typeface="Arial MT"/>
              </a:rPr>
              <a:t>e </a:t>
            </a:r>
            <a:r>
              <a:rPr sz="2200" dirty="0">
                <a:latin typeface="Arial MT"/>
                <a:cs typeface="Arial MT"/>
              </a:rPr>
              <a:t>precisos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para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gerá-</a:t>
            </a:r>
            <a:r>
              <a:rPr sz="2200" spc="-25" dirty="0">
                <a:latin typeface="Arial MT"/>
                <a:cs typeface="Arial MT"/>
              </a:rPr>
              <a:t>la;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5119" rIns="0" bIns="0" rtlCol="0">
            <a:spAutoFit/>
          </a:bodyPr>
          <a:lstStyle/>
          <a:p>
            <a:pPr marL="1187450">
              <a:lnSpc>
                <a:spcPct val="100000"/>
              </a:lnSpc>
              <a:spcBef>
                <a:spcPts val="100"/>
              </a:spcBef>
            </a:pPr>
            <a:r>
              <a:rPr dirty="0"/>
              <a:t>Perspectiva</a:t>
            </a:r>
            <a:r>
              <a:rPr spc="-135" dirty="0"/>
              <a:t> </a:t>
            </a:r>
            <a:r>
              <a:rPr dirty="0"/>
              <a:t>de</a:t>
            </a:r>
            <a:r>
              <a:rPr spc="-130" dirty="0"/>
              <a:t> </a:t>
            </a:r>
            <a:r>
              <a:rPr spc="-10" dirty="0"/>
              <a:t>design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1607819" y="4699633"/>
            <a:ext cx="6079681" cy="1116965"/>
            <a:chOff x="2772219" y="4661979"/>
            <a:chExt cx="4535805" cy="1116965"/>
          </a:xfrm>
        </p:grpSpPr>
        <p:sp>
          <p:nvSpPr>
            <p:cNvPr id="4" name="object 4"/>
            <p:cNvSpPr/>
            <p:nvPr/>
          </p:nvSpPr>
          <p:spPr>
            <a:xfrm>
              <a:off x="2790190" y="4679949"/>
              <a:ext cx="4499610" cy="1080770"/>
            </a:xfrm>
            <a:custGeom>
              <a:avLst/>
              <a:gdLst/>
              <a:ahLst/>
              <a:cxnLst/>
              <a:rect l="l" t="t" r="r" b="b"/>
              <a:pathLst>
                <a:path w="4499609" h="1080770">
                  <a:moveTo>
                    <a:pt x="4499610" y="0"/>
                  </a:moveTo>
                  <a:lnTo>
                    <a:pt x="0" y="0"/>
                  </a:lnTo>
                  <a:lnTo>
                    <a:pt x="0" y="1080770"/>
                  </a:lnTo>
                  <a:lnTo>
                    <a:pt x="4499610" y="1080770"/>
                  </a:lnTo>
                  <a:lnTo>
                    <a:pt x="4499610" y="0"/>
                  </a:lnTo>
                  <a:close/>
                </a:path>
              </a:pathLst>
            </a:custGeom>
            <a:solidFill>
              <a:srgbClr val="DBE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72219" y="4661979"/>
              <a:ext cx="4535805" cy="1116965"/>
            </a:xfrm>
            <a:custGeom>
              <a:avLst/>
              <a:gdLst/>
              <a:ahLst/>
              <a:cxnLst/>
              <a:rect l="l" t="t" r="r" b="b"/>
              <a:pathLst>
                <a:path w="4535805" h="1116964">
                  <a:moveTo>
                    <a:pt x="35928" y="17970"/>
                  </a:moveTo>
                  <a:lnTo>
                    <a:pt x="30670" y="5270"/>
                  </a:lnTo>
                  <a:lnTo>
                    <a:pt x="17970" y="0"/>
                  </a:lnTo>
                  <a:lnTo>
                    <a:pt x="5257" y="5270"/>
                  </a:lnTo>
                  <a:lnTo>
                    <a:pt x="0" y="17970"/>
                  </a:lnTo>
                  <a:lnTo>
                    <a:pt x="5257" y="30683"/>
                  </a:lnTo>
                  <a:lnTo>
                    <a:pt x="17970" y="35941"/>
                  </a:lnTo>
                  <a:lnTo>
                    <a:pt x="30670" y="30683"/>
                  </a:lnTo>
                  <a:lnTo>
                    <a:pt x="35928" y="17970"/>
                  </a:lnTo>
                  <a:close/>
                </a:path>
                <a:path w="4535805" h="1116964">
                  <a:moveTo>
                    <a:pt x="4535551" y="1098740"/>
                  </a:moveTo>
                  <a:lnTo>
                    <a:pt x="4530280" y="1086040"/>
                  </a:lnTo>
                  <a:lnTo>
                    <a:pt x="4517580" y="1080770"/>
                  </a:lnTo>
                  <a:lnTo>
                    <a:pt x="4504868" y="1086040"/>
                  </a:lnTo>
                  <a:lnTo>
                    <a:pt x="4499610" y="1098740"/>
                  </a:lnTo>
                  <a:lnTo>
                    <a:pt x="4504868" y="1111453"/>
                  </a:lnTo>
                  <a:lnTo>
                    <a:pt x="4517580" y="1116711"/>
                  </a:lnTo>
                  <a:lnTo>
                    <a:pt x="4530280" y="1111453"/>
                  </a:lnTo>
                  <a:lnTo>
                    <a:pt x="4535551" y="109874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39569" y="4650358"/>
            <a:ext cx="6037284" cy="1033616"/>
          </a:xfrm>
          <a:prstGeom prst="rect">
            <a:avLst/>
          </a:prstGeom>
          <a:ln w="35940">
            <a:solidFill>
              <a:srgbClr val="00007F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07950" marR="99060" algn="just">
              <a:lnSpc>
                <a:spcPct val="100000"/>
              </a:lnSpc>
              <a:spcBef>
                <a:spcPts val="500"/>
              </a:spcBef>
            </a:pPr>
            <a:r>
              <a:rPr sz="2100" spc="160" dirty="0">
                <a:latin typeface="Trebuchet MS"/>
                <a:cs typeface="Trebuchet MS"/>
              </a:rPr>
              <a:t>Designer</a:t>
            </a:r>
            <a:r>
              <a:rPr sz="2100" spc="300" dirty="0">
                <a:latin typeface="Trebuchet MS"/>
                <a:cs typeface="Trebuchet MS"/>
              </a:rPr>
              <a:t> </a:t>
            </a:r>
            <a:r>
              <a:rPr sz="2100" spc="165" dirty="0">
                <a:latin typeface="Trebuchet MS"/>
                <a:cs typeface="Trebuchet MS"/>
              </a:rPr>
              <a:t>busca</a:t>
            </a:r>
            <a:r>
              <a:rPr sz="2100" spc="295" dirty="0">
                <a:latin typeface="Trebuchet MS"/>
                <a:cs typeface="Trebuchet MS"/>
              </a:rPr>
              <a:t> </a:t>
            </a:r>
            <a:r>
              <a:rPr sz="2100" spc="120" dirty="0">
                <a:latin typeface="Trebuchet MS"/>
                <a:cs typeface="Trebuchet MS"/>
              </a:rPr>
              <a:t>aprender</a:t>
            </a:r>
            <a:r>
              <a:rPr sz="2100" spc="295" dirty="0">
                <a:latin typeface="Trebuchet MS"/>
                <a:cs typeface="Trebuchet MS"/>
              </a:rPr>
              <a:t> </a:t>
            </a:r>
            <a:r>
              <a:rPr sz="2100" spc="120" dirty="0">
                <a:latin typeface="Trebuchet MS"/>
                <a:cs typeface="Trebuchet MS"/>
              </a:rPr>
              <a:t>sobre </a:t>
            </a:r>
            <a:r>
              <a:rPr sz="2100" spc="155" dirty="0">
                <a:latin typeface="Trebuchet MS"/>
                <a:cs typeface="Trebuchet MS"/>
              </a:rPr>
              <a:t>o</a:t>
            </a:r>
            <a:r>
              <a:rPr sz="2100" spc="195" dirty="0">
                <a:latin typeface="Trebuchet MS"/>
                <a:cs typeface="Trebuchet MS"/>
              </a:rPr>
              <a:t> </a:t>
            </a:r>
            <a:r>
              <a:rPr sz="2100" spc="125" dirty="0">
                <a:latin typeface="Trebuchet MS"/>
                <a:cs typeface="Trebuchet MS"/>
              </a:rPr>
              <a:t>problema</a:t>
            </a:r>
            <a:r>
              <a:rPr sz="2100" spc="204" dirty="0">
                <a:latin typeface="Trebuchet MS"/>
                <a:cs typeface="Trebuchet MS"/>
              </a:rPr>
              <a:t> </a:t>
            </a:r>
            <a:r>
              <a:rPr sz="2100" spc="210" dirty="0">
                <a:latin typeface="Trebuchet MS"/>
                <a:cs typeface="Trebuchet MS"/>
              </a:rPr>
              <a:t>em</a:t>
            </a:r>
            <a:r>
              <a:rPr sz="2100" spc="195" dirty="0">
                <a:latin typeface="Trebuchet MS"/>
                <a:cs typeface="Trebuchet MS"/>
              </a:rPr>
              <a:t> </a:t>
            </a:r>
            <a:r>
              <a:rPr sz="2100" spc="140" dirty="0">
                <a:latin typeface="Trebuchet MS"/>
                <a:cs typeface="Trebuchet MS"/>
              </a:rPr>
              <a:t>questão</a:t>
            </a:r>
            <a:r>
              <a:rPr sz="2100" spc="195" dirty="0">
                <a:latin typeface="Trebuchet MS"/>
                <a:cs typeface="Trebuchet MS"/>
              </a:rPr>
              <a:t> </a:t>
            </a:r>
            <a:r>
              <a:rPr sz="2100" spc="135" dirty="0">
                <a:latin typeface="Trebuchet MS"/>
                <a:cs typeface="Trebuchet MS"/>
              </a:rPr>
              <a:t>e</a:t>
            </a:r>
            <a:r>
              <a:rPr sz="2100" spc="210" dirty="0">
                <a:latin typeface="Trebuchet MS"/>
                <a:cs typeface="Trebuchet MS"/>
              </a:rPr>
              <a:t> </a:t>
            </a:r>
            <a:r>
              <a:rPr sz="2100" spc="175" dirty="0">
                <a:latin typeface="Trebuchet MS"/>
                <a:cs typeface="Trebuchet MS"/>
              </a:rPr>
              <a:t>a</a:t>
            </a:r>
            <a:r>
              <a:rPr sz="2100" spc="195" dirty="0">
                <a:latin typeface="Trebuchet MS"/>
                <a:cs typeface="Trebuchet MS"/>
              </a:rPr>
              <a:t> </a:t>
            </a:r>
            <a:r>
              <a:rPr sz="2100" spc="105" dirty="0" err="1">
                <a:latin typeface="Trebuchet MS"/>
                <a:cs typeface="Trebuchet MS"/>
              </a:rPr>
              <a:t>so</a:t>
            </a:r>
            <a:r>
              <a:rPr sz="2100" spc="110" dirty="0" err="1">
                <a:latin typeface="Trebuchet MS"/>
                <a:cs typeface="Trebuchet MS"/>
              </a:rPr>
              <a:t>lução</a:t>
            </a:r>
            <a:r>
              <a:rPr sz="2100" spc="45" dirty="0">
                <a:latin typeface="Trebuchet MS"/>
                <a:cs typeface="Trebuchet MS"/>
              </a:rPr>
              <a:t> </a:t>
            </a:r>
            <a:r>
              <a:rPr sz="2100" spc="165" dirty="0">
                <a:latin typeface="Trebuchet MS"/>
                <a:cs typeface="Trebuchet MS"/>
              </a:rPr>
              <a:t>sendo</a:t>
            </a:r>
            <a:r>
              <a:rPr sz="2100" spc="55" dirty="0">
                <a:latin typeface="Trebuchet MS"/>
                <a:cs typeface="Trebuchet MS"/>
              </a:rPr>
              <a:t> </a:t>
            </a:r>
            <a:r>
              <a:rPr sz="2100" spc="90" dirty="0">
                <a:latin typeface="Trebuchet MS"/>
                <a:cs typeface="Trebuchet MS"/>
              </a:rPr>
              <a:t>concebida.</a:t>
            </a:r>
            <a:endParaRPr sz="2100" dirty="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1903729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569" y="2399029"/>
            <a:ext cx="95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569" y="2842260"/>
            <a:ext cx="95250" cy="952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355089" y="1599853"/>
            <a:ext cx="6779895" cy="1470025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400" b="1" dirty="0">
                <a:latin typeface="Arial MT"/>
                <a:cs typeface="Arial MT"/>
              </a:rPr>
              <a:t>Reflexão</a:t>
            </a:r>
            <a:r>
              <a:rPr sz="2400" b="1" spc="-9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 MT"/>
                <a:cs typeface="Arial MT"/>
              </a:rPr>
              <a:t>em</a:t>
            </a:r>
            <a:r>
              <a:rPr sz="2400" b="1" spc="-8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 MT"/>
                <a:cs typeface="Arial MT"/>
              </a:rPr>
              <a:t>ação</a:t>
            </a:r>
            <a:r>
              <a:rPr sz="2400" b="1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(Schön,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1983):</a:t>
            </a:r>
            <a:endParaRPr sz="2400" dirty="0">
              <a:latin typeface="Arial MT"/>
              <a:cs typeface="Arial MT"/>
            </a:endParaRPr>
          </a:p>
          <a:p>
            <a:pPr marL="443865">
              <a:lnSpc>
                <a:spcPct val="100000"/>
              </a:lnSpc>
              <a:spcBef>
                <a:spcPts val="1130"/>
              </a:spcBef>
            </a:pPr>
            <a:r>
              <a:rPr sz="2200" dirty="0">
                <a:latin typeface="Arial MT"/>
                <a:cs typeface="Arial MT"/>
              </a:rPr>
              <a:t>Cada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caso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é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diferente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outro;</a:t>
            </a:r>
            <a:endParaRPr sz="2200" dirty="0">
              <a:latin typeface="Arial MT"/>
              <a:cs typeface="Arial MT"/>
            </a:endParaRPr>
          </a:p>
          <a:p>
            <a:pPr marL="443865">
              <a:lnSpc>
                <a:spcPct val="100000"/>
              </a:lnSpc>
              <a:spcBef>
                <a:spcPts val="850"/>
              </a:spcBef>
            </a:pPr>
            <a:r>
              <a:rPr sz="2200" dirty="0">
                <a:latin typeface="Arial MT"/>
                <a:cs typeface="Arial MT"/>
              </a:rPr>
              <a:t>Descoberta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gradual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para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projetar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uma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intervenção;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569" y="3284220"/>
            <a:ext cx="95250" cy="952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786889" y="3152140"/>
            <a:ext cx="14827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3815" algn="l"/>
              </a:tabLst>
            </a:pPr>
            <a:r>
              <a:rPr sz="2200" spc="-10" dirty="0">
                <a:latin typeface="Arial MT"/>
                <a:cs typeface="Arial MT"/>
              </a:rPr>
              <a:t>Métodos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50" dirty="0">
                <a:latin typeface="Arial MT"/>
                <a:cs typeface="Arial MT"/>
              </a:rPr>
              <a:t>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72979" y="3152140"/>
            <a:ext cx="61125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1645" algn="l"/>
                <a:tab pos="2520950" algn="l"/>
                <a:tab pos="3636010" algn="l"/>
                <a:tab pos="4020820" algn="l"/>
                <a:tab pos="5788025" algn="l"/>
              </a:tabLst>
            </a:pPr>
            <a:r>
              <a:rPr sz="2200" spc="-10" dirty="0">
                <a:latin typeface="Arial MT"/>
                <a:cs typeface="Arial MT"/>
              </a:rPr>
              <a:t>ferramentas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para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auxiliar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50" dirty="0">
                <a:latin typeface="Arial MT"/>
                <a:cs typeface="Arial MT"/>
              </a:rPr>
              <a:t>o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aprendizado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do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86889" y="3379470"/>
            <a:ext cx="5961380" cy="91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2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designer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sobre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problema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solução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únicos; </a:t>
            </a:r>
            <a:r>
              <a:rPr sz="2200" dirty="0">
                <a:latin typeface="Arial MT"/>
                <a:cs typeface="Arial MT"/>
              </a:rPr>
              <a:t>Semelhante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ao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processo</a:t>
            </a:r>
            <a:r>
              <a:rPr sz="22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de</a:t>
            </a:r>
            <a:r>
              <a:rPr sz="22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pesquisa</a:t>
            </a:r>
            <a:r>
              <a:rPr sz="22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científica</a:t>
            </a:r>
            <a:r>
              <a:rPr sz="2200" spc="-10" dirty="0"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569" y="4062729"/>
            <a:ext cx="95250" cy="9525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1661160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3289" y="1513840"/>
            <a:ext cx="8665845" cy="1324722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just">
              <a:lnSpc>
                <a:spcPts val="2460"/>
              </a:lnSpc>
              <a:spcBef>
                <a:spcPts val="330"/>
              </a:spcBef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representação</a:t>
            </a:r>
            <a:r>
              <a:rPr sz="2200" spc="2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das</a:t>
            </a:r>
            <a:r>
              <a:rPr sz="2200" spc="254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várias</a:t>
            </a:r>
            <a:r>
              <a:rPr sz="2200" spc="2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ideias</a:t>
            </a:r>
            <a:r>
              <a:rPr sz="2200" spc="2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</a:t>
            </a:r>
            <a:r>
              <a:rPr sz="2200" spc="2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designer</a:t>
            </a:r>
            <a:r>
              <a:rPr sz="2200" spc="2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possui</a:t>
            </a:r>
            <a:r>
              <a:rPr sz="2200" spc="2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um</a:t>
            </a:r>
            <a:r>
              <a:rPr sz="2200" spc="229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beneficio </a:t>
            </a:r>
            <a:r>
              <a:rPr sz="2200" dirty="0">
                <a:latin typeface="Arial MT"/>
                <a:cs typeface="Arial MT"/>
              </a:rPr>
              <a:t>importante</a:t>
            </a:r>
            <a:r>
              <a:rPr sz="2200" spc="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ele</a:t>
            </a:r>
            <a:r>
              <a:rPr sz="2200" spc="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acaba</a:t>
            </a:r>
            <a:r>
              <a:rPr sz="2200" spc="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“conversando”</a:t>
            </a:r>
            <a:r>
              <a:rPr sz="2200" spc="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representação,</a:t>
            </a:r>
            <a:r>
              <a:rPr sz="2200" spc="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um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fenô- </a:t>
            </a:r>
            <a:r>
              <a:rPr sz="2200" dirty="0">
                <a:latin typeface="Arial MT"/>
                <a:cs typeface="Arial MT"/>
              </a:rPr>
              <a:t>meno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chamado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conversa</a:t>
            </a:r>
            <a:r>
              <a:rPr sz="2200" spc="1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materiais</a:t>
            </a:r>
            <a:r>
              <a:rPr sz="2200" spc="1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é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estimulado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pela</a:t>
            </a:r>
            <a:r>
              <a:rPr sz="2200" spc="225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"/>
                <a:cs typeface="Arial"/>
              </a:rPr>
              <a:t>reflexão </a:t>
            </a:r>
            <a:r>
              <a:rPr sz="2200" b="1" dirty="0">
                <a:latin typeface="Arial"/>
                <a:cs typeface="Arial"/>
              </a:rPr>
              <a:t>em</a:t>
            </a:r>
            <a:r>
              <a:rPr sz="2200" b="1" spc="-20" dirty="0">
                <a:latin typeface="Arial"/>
                <a:cs typeface="Arial"/>
              </a:rPr>
              <a:t> ação</a:t>
            </a:r>
            <a:r>
              <a:rPr sz="2200" spc="-20" dirty="0">
                <a:latin typeface="Arial MT"/>
                <a:cs typeface="Arial MT"/>
              </a:rPr>
              <a:t>: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6989" y="3239770"/>
            <a:ext cx="7142480" cy="3449732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Perspectiva da Reflexão e ação</a:t>
            </a:r>
          </a:p>
        </p:txBody>
      </p:sp>
    </p:spTree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4817109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5351779"/>
            <a:ext cx="95250" cy="952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23289" y="4450300"/>
            <a:ext cx="8665210" cy="1830629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600" dirty="0" err="1">
                <a:latin typeface="Arial MT"/>
                <a:cs typeface="Arial MT"/>
              </a:rPr>
              <a:t>Reflexão</a:t>
            </a:r>
            <a:r>
              <a:rPr lang="pt-BR" sz="2600" spc="-30" dirty="0">
                <a:latin typeface="Arial MT"/>
                <a:cs typeface="Arial MT"/>
              </a:rPr>
              <a:t> </a:t>
            </a:r>
            <a:r>
              <a:rPr sz="2600" dirty="0" err="1">
                <a:latin typeface="Arial MT"/>
                <a:cs typeface="Arial MT"/>
              </a:rPr>
              <a:t>em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ação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é:</a:t>
            </a:r>
            <a:endParaRPr sz="2600" dirty="0">
              <a:latin typeface="Arial MT"/>
              <a:cs typeface="Arial MT"/>
            </a:endParaRPr>
          </a:p>
          <a:p>
            <a:pPr marL="444500" marR="5080" algn="just">
              <a:lnSpc>
                <a:spcPts val="2680"/>
              </a:lnSpc>
              <a:spcBef>
                <a:spcPts val="1450"/>
              </a:spcBef>
            </a:pPr>
            <a:r>
              <a:rPr sz="2300" spc="100" dirty="0">
                <a:latin typeface="Trebuchet MS"/>
                <a:cs typeface="Trebuchet MS"/>
              </a:rPr>
              <a:t>Interagir</a:t>
            </a:r>
            <a:r>
              <a:rPr sz="2300" spc="235" dirty="0">
                <a:latin typeface="Trebuchet MS"/>
                <a:cs typeface="Trebuchet MS"/>
              </a:rPr>
              <a:t> </a:t>
            </a:r>
            <a:r>
              <a:rPr sz="2300" spc="200" dirty="0">
                <a:latin typeface="Trebuchet MS"/>
                <a:cs typeface="Trebuchet MS"/>
              </a:rPr>
              <a:t>com</a:t>
            </a:r>
            <a:r>
              <a:rPr sz="2300" spc="245" dirty="0">
                <a:latin typeface="Trebuchet MS"/>
                <a:cs typeface="Trebuchet MS"/>
              </a:rPr>
              <a:t> </a:t>
            </a:r>
            <a:r>
              <a:rPr sz="2300" spc="160" dirty="0">
                <a:latin typeface="Trebuchet MS"/>
                <a:cs typeface="Trebuchet MS"/>
              </a:rPr>
              <a:t>o</a:t>
            </a:r>
            <a:r>
              <a:rPr sz="2300" spc="240" dirty="0">
                <a:latin typeface="Trebuchet MS"/>
                <a:cs typeface="Trebuchet MS"/>
              </a:rPr>
              <a:t> </a:t>
            </a:r>
            <a:r>
              <a:rPr sz="2300" spc="110" dirty="0">
                <a:latin typeface="Trebuchet MS"/>
                <a:cs typeface="Trebuchet MS"/>
              </a:rPr>
              <a:t>modelo,</a:t>
            </a:r>
            <a:r>
              <a:rPr sz="2300" spc="245" dirty="0">
                <a:latin typeface="Trebuchet MS"/>
                <a:cs typeface="Trebuchet MS"/>
              </a:rPr>
              <a:t> </a:t>
            </a:r>
            <a:r>
              <a:rPr sz="2300" spc="95" dirty="0">
                <a:latin typeface="Trebuchet MS"/>
                <a:cs typeface="Trebuchet MS"/>
              </a:rPr>
              <a:t>obter</a:t>
            </a:r>
            <a:r>
              <a:rPr sz="2300" spc="240" dirty="0">
                <a:latin typeface="Trebuchet MS"/>
                <a:cs typeface="Trebuchet MS"/>
              </a:rPr>
              <a:t> </a:t>
            </a:r>
            <a:r>
              <a:rPr sz="2300" spc="130" dirty="0">
                <a:latin typeface="Trebuchet MS"/>
                <a:cs typeface="Trebuchet MS"/>
              </a:rPr>
              <a:t>resultados</a:t>
            </a:r>
            <a:r>
              <a:rPr sz="2300" spc="245" dirty="0">
                <a:latin typeface="Trebuchet MS"/>
                <a:cs typeface="Trebuchet MS"/>
              </a:rPr>
              <a:t> </a:t>
            </a:r>
            <a:r>
              <a:rPr sz="2300" spc="135" dirty="0">
                <a:latin typeface="Trebuchet MS"/>
                <a:cs typeface="Trebuchet MS"/>
              </a:rPr>
              <a:t>surpreenden- </a:t>
            </a:r>
            <a:r>
              <a:rPr sz="2300" spc="70" dirty="0">
                <a:latin typeface="Trebuchet MS"/>
                <a:cs typeface="Trebuchet MS"/>
              </a:rPr>
              <a:t>tes,</a:t>
            </a:r>
            <a:r>
              <a:rPr sz="2300" spc="155" dirty="0">
                <a:latin typeface="Trebuchet MS"/>
                <a:cs typeface="Trebuchet MS"/>
              </a:rPr>
              <a:t> </a:t>
            </a:r>
            <a:r>
              <a:rPr sz="2300" spc="90" dirty="0">
                <a:latin typeface="Trebuchet MS"/>
                <a:cs typeface="Trebuchet MS"/>
              </a:rPr>
              <a:t>tentar</a:t>
            </a:r>
            <a:r>
              <a:rPr sz="2300" spc="165" dirty="0">
                <a:latin typeface="Trebuchet MS"/>
                <a:cs typeface="Trebuchet MS"/>
              </a:rPr>
              <a:t> </a:t>
            </a:r>
            <a:r>
              <a:rPr sz="2300" spc="70" dirty="0">
                <a:latin typeface="Trebuchet MS"/>
                <a:cs typeface="Trebuchet MS"/>
              </a:rPr>
              <a:t>interpretá-</a:t>
            </a:r>
            <a:r>
              <a:rPr sz="2300" spc="65" dirty="0">
                <a:latin typeface="Trebuchet MS"/>
                <a:cs typeface="Trebuchet MS"/>
              </a:rPr>
              <a:t>los,</a:t>
            </a:r>
            <a:r>
              <a:rPr sz="2300" spc="160" dirty="0">
                <a:latin typeface="Trebuchet MS"/>
                <a:cs typeface="Trebuchet MS"/>
              </a:rPr>
              <a:t> e</a:t>
            </a:r>
            <a:r>
              <a:rPr sz="2300" spc="165" dirty="0">
                <a:latin typeface="Trebuchet MS"/>
                <a:cs typeface="Trebuchet MS"/>
              </a:rPr>
              <a:t> </a:t>
            </a:r>
            <a:r>
              <a:rPr sz="2300" spc="135" dirty="0">
                <a:latin typeface="Trebuchet MS"/>
                <a:cs typeface="Trebuchet MS"/>
              </a:rPr>
              <a:t>então</a:t>
            </a:r>
            <a:r>
              <a:rPr sz="2300" spc="155" dirty="0">
                <a:latin typeface="Trebuchet MS"/>
                <a:cs typeface="Trebuchet MS"/>
              </a:rPr>
              <a:t> </a:t>
            </a:r>
            <a:r>
              <a:rPr sz="2300" spc="114" dirty="0">
                <a:latin typeface="Trebuchet MS"/>
                <a:cs typeface="Trebuchet MS"/>
              </a:rPr>
              <a:t>inventar</a:t>
            </a:r>
            <a:r>
              <a:rPr sz="2300" spc="165" dirty="0">
                <a:latin typeface="Trebuchet MS"/>
                <a:cs typeface="Trebuchet MS"/>
              </a:rPr>
              <a:t> </a:t>
            </a:r>
            <a:r>
              <a:rPr sz="2300" spc="200" dirty="0">
                <a:latin typeface="Trebuchet MS"/>
                <a:cs typeface="Trebuchet MS"/>
              </a:rPr>
              <a:t>novas</a:t>
            </a:r>
            <a:r>
              <a:rPr sz="2300" spc="160" dirty="0">
                <a:latin typeface="Trebuchet MS"/>
                <a:cs typeface="Trebuchet MS"/>
              </a:rPr>
              <a:t> </a:t>
            </a:r>
            <a:r>
              <a:rPr sz="2300" spc="110" dirty="0">
                <a:latin typeface="Trebuchet MS"/>
                <a:cs typeface="Trebuchet MS"/>
              </a:rPr>
              <a:t>estra- </a:t>
            </a:r>
            <a:r>
              <a:rPr sz="2300" spc="145" dirty="0">
                <a:latin typeface="Trebuchet MS"/>
                <a:cs typeface="Trebuchet MS"/>
              </a:rPr>
              <a:t>tégias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spc="160" dirty="0">
                <a:latin typeface="Trebuchet MS"/>
                <a:cs typeface="Trebuchet MS"/>
              </a:rPr>
              <a:t>de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165" dirty="0">
                <a:latin typeface="Trebuchet MS"/>
                <a:cs typeface="Trebuchet MS"/>
              </a:rPr>
              <a:t>ação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200" dirty="0">
                <a:latin typeface="Trebuchet MS"/>
                <a:cs typeface="Trebuchet MS"/>
              </a:rPr>
              <a:t>com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195" dirty="0">
                <a:latin typeface="Trebuchet MS"/>
                <a:cs typeface="Trebuchet MS"/>
              </a:rPr>
              <a:t>base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215" dirty="0">
                <a:latin typeface="Trebuchet MS"/>
                <a:cs typeface="Trebuchet MS"/>
              </a:rPr>
              <a:t>nas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204" dirty="0">
                <a:latin typeface="Trebuchet MS"/>
                <a:cs typeface="Trebuchet MS"/>
              </a:rPr>
              <a:t>novas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80" dirty="0">
                <a:latin typeface="Trebuchet MS"/>
                <a:cs typeface="Trebuchet MS"/>
              </a:rPr>
              <a:t>interpretações.</a:t>
            </a:r>
            <a:endParaRPr sz="23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7919" y="2034539"/>
            <a:ext cx="1512570" cy="14951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2570" y="1555750"/>
            <a:ext cx="3185160" cy="294386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603375" y="2299335"/>
            <a:ext cx="2199640" cy="1273810"/>
            <a:chOff x="1603375" y="2299335"/>
            <a:chExt cx="2199640" cy="1273810"/>
          </a:xfrm>
        </p:grpSpPr>
        <p:sp>
          <p:nvSpPr>
            <p:cNvPr id="9" name="object 9"/>
            <p:cNvSpPr/>
            <p:nvPr/>
          </p:nvSpPr>
          <p:spPr>
            <a:xfrm>
              <a:off x="1612900" y="2308859"/>
              <a:ext cx="1751330" cy="689610"/>
            </a:xfrm>
            <a:custGeom>
              <a:avLst/>
              <a:gdLst/>
              <a:ahLst/>
              <a:cxnLst/>
              <a:rect l="l" t="t" r="r" b="b"/>
              <a:pathLst>
                <a:path w="1751329" h="689610">
                  <a:moveTo>
                    <a:pt x="0" y="0"/>
                  </a:moveTo>
                  <a:lnTo>
                    <a:pt x="1751329" y="0"/>
                  </a:lnTo>
                  <a:lnTo>
                    <a:pt x="1751329" y="689610"/>
                  </a:lnTo>
                  <a:lnTo>
                    <a:pt x="0" y="689610"/>
                  </a:lnTo>
                  <a:lnTo>
                    <a:pt x="0" y="0"/>
                  </a:lnTo>
                  <a:close/>
                </a:path>
              </a:pathLst>
            </a:custGeom>
            <a:ln w="19048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03375" y="2299347"/>
              <a:ext cx="1770380" cy="708660"/>
            </a:xfrm>
            <a:custGeom>
              <a:avLst/>
              <a:gdLst/>
              <a:ahLst/>
              <a:cxnLst/>
              <a:rect l="l" t="t" r="r" b="b"/>
              <a:pathLst>
                <a:path w="1770379" h="708660">
                  <a:moveTo>
                    <a:pt x="19037" y="9512"/>
                  </a:moveTo>
                  <a:lnTo>
                    <a:pt x="16256" y="2781"/>
                  </a:lnTo>
                  <a:lnTo>
                    <a:pt x="9525" y="0"/>
                  </a:lnTo>
                  <a:lnTo>
                    <a:pt x="2781" y="2781"/>
                  </a:lnTo>
                  <a:lnTo>
                    <a:pt x="0" y="9512"/>
                  </a:lnTo>
                  <a:lnTo>
                    <a:pt x="2781" y="16256"/>
                  </a:lnTo>
                  <a:lnTo>
                    <a:pt x="9525" y="19037"/>
                  </a:lnTo>
                  <a:lnTo>
                    <a:pt x="16256" y="16256"/>
                  </a:lnTo>
                  <a:lnTo>
                    <a:pt x="19037" y="9512"/>
                  </a:lnTo>
                  <a:close/>
                </a:path>
                <a:path w="1770379" h="708660">
                  <a:moveTo>
                    <a:pt x="1770367" y="699122"/>
                  </a:moveTo>
                  <a:lnTo>
                    <a:pt x="1767586" y="692391"/>
                  </a:lnTo>
                  <a:lnTo>
                    <a:pt x="1760855" y="689610"/>
                  </a:lnTo>
                  <a:lnTo>
                    <a:pt x="1754111" y="692391"/>
                  </a:lnTo>
                  <a:lnTo>
                    <a:pt x="1751330" y="699122"/>
                  </a:lnTo>
                  <a:lnTo>
                    <a:pt x="1754111" y="705866"/>
                  </a:lnTo>
                  <a:lnTo>
                    <a:pt x="1760855" y="708647"/>
                  </a:lnTo>
                  <a:lnTo>
                    <a:pt x="1767586" y="705866"/>
                  </a:lnTo>
                  <a:lnTo>
                    <a:pt x="1770367" y="699122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42160" y="2874009"/>
              <a:ext cx="1751330" cy="689610"/>
            </a:xfrm>
            <a:custGeom>
              <a:avLst/>
              <a:gdLst/>
              <a:ahLst/>
              <a:cxnLst/>
              <a:rect l="l" t="t" r="r" b="b"/>
              <a:pathLst>
                <a:path w="1751329" h="689610">
                  <a:moveTo>
                    <a:pt x="0" y="0"/>
                  </a:moveTo>
                  <a:lnTo>
                    <a:pt x="1751329" y="0"/>
                  </a:lnTo>
                  <a:lnTo>
                    <a:pt x="1751329" y="689610"/>
                  </a:lnTo>
                  <a:lnTo>
                    <a:pt x="0" y="689610"/>
                  </a:lnTo>
                  <a:lnTo>
                    <a:pt x="0" y="0"/>
                  </a:lnTo>
                  <a:close/>
                </a:path>
              </a:pathLst>
            </a:custGeom>
            <a:ln w="19048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32635" y="2864497"/>
              <a:ext cx="1770380" cy="708660"/>
            </a:xfrm>
            <a:custGeom>
              <a:avLst/>
              <a:gdLst/>
              <a:ahLst/>
              <a:cxnLst/>
              <a:rect l="l" t="t" r="r" b="b"/>
              <a:pathLst>
                <a:path w="1770379" h="708660">
                  <a:moveTo>
                    <a:pt x="19037" y="9512"/>
                  </a:moveTo>
                  <a:lnTo>
                    <a:pt x="16256" y="2781"/>
                  </a:lnTo>
                  <a:lnTo>
                    <a:pt x="9525" y="0"/>
                  </a:lnTo>
                  <a:lnTo>
                    <a:pt x="2781" y="2781"/>
                  </a:lnTo>
                  <a:lnTo>
                    <a:pt x="0" y="9512"/>
                  </a:lnTo>
                  <a:lnTo>
                    <a:pt x="2781" y="16256"/>
                  </a:lnTo>
                  <a:lnTo>
                    <a:pt x="9525" y="19037"/>
                  </a:lnTo>
                  <a:lnTo>
                    <a:pt x="16256" y="16256"/>
                  </a:lnTo>
                  <a:lnTo>
                    <a:pt x="19037" y="9512"/>
                  </a:lnTo>
                  <a:close/>
                </a:path>
                <a:path w="1770379" h="708660">
                  <a:moveTo>
                    <a:pt x="1770367" y="699122"/>
                  </a:moveTo>
                  <a:lnTo>
                    <a:pt x="1767586" y="692391"/>
                  </a:lnTo>
                  <a:lnTo>
                    <a:pt x="1760855" y="689610"/>
                  </a:lnTo>
                  <a:lnTo>
                    <a:pt x="1754111" y="692391"/>
                  </a:lnTo>
                  <a:lnTo>
                    <a:pt x="1751330" y="699122"/>
                  </a:lnTo>
                  <a:lnTo>
                    <a:pt x="1754111" y="705866"/>
                  </a:lnTo>
                  <a:lnTo>
                    <a:pt x="1760855" y="708647"/>
                  </a:lnTo>
                  <a:lnTo>
                    <a:pt x="1767586" y="705866"/>
                  </a:lnTo>
                  <a:lnTo>
                    <a:pt x="1770367" y="699122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ítulo 7"/>
          <p:cNvSpPr txBox="1">
            <a:spLocks/>
          </p:cNvSpPr>
          <p:nvPr/>
        </p:nvSpPr>
        <p:spPr>
          <a:xfrm>
            <a:off x="3594100" y="787969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/>
              <a:t>Perspectiva da Reflexão e ação</a:t>
            </a:r>
          </a:p>
        </p:txBody>
      </p:sp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398520" y="487680"/>
            <a:ext cx="5356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Evolução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barra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tarefas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firefox: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000" y="1061720"/>
            <a:ext cx="7302500" cy="611759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" y="7156450"/>
            <a:ext cx="95170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41700" y="425450"/>
            <a:ext cx="6096000" cy="861774"/>
          </a:xfrm>
        </p:spPr>
        <p:txBody>
          <a:bodyPr/>
          <a:lstStyle/>
          <a:p>
            <a:r>
              <a:rPr lang="pt-BR" dirty="0"/>
              <a:t>Sequencia genérica das atividades de Design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67502" y="1702614"/>
            <a:ext cx="8117798" cy="2154436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Refinamentos da análise da situação, sintetizando (concebendo, modelando, construindo) a intervenção, Ela é satisfatória?. 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O design pode ser </a:t>
            </a:r>
            <a:r>
              <a:rPr lang="pt-BR" b="1" dirty="0"/>
              <a:t>dirigido pelo problema </a:t>
            </a:r>
            <a:r>
              <a:rPr lang="pt-BR" dirty="0"/>
              <a:t>ou </a:t>
            </a:r>
            <a:r>
              <a:rPr lang="pt-BR" b="1" dirty="0"/>
              <a:t>pela solução</a:t>
            </a:r>
            <a:r>
              <a:rPr lang="pt-BR" dirty="0"/>
              <a:t>. </a:t>
            </a:r>
            <a:r>
              <a:rPr lang="pt-BR" b="1" dirty="0"/>
              <a:t>Problema</a:t>
            </a:r>
            <a:r>
              <a:rPr lang="pt-BR" dirty="0"/>
              <a:t> mais tempo dedicado a mapear o problema e menos tempo para definir a solução. </a:t>
            </a:r>
            <a:r>
              <a:rPr lang="pt-BR" b="1" dirty="0"/>
              <a:t>Solução</a:t>
            </a:r>
            <a:r>
              <a:rPr lang="pt-BR" dirty="0"/>
              <a:t> emprega pouco tempo analisando a solução atual e mais explorando intervenções. (podem ser mais criativos).</a:t>
            </a:r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7502" y="4370098"/>
            <a:ext cx="7431998" cy="291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82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4500" y="425450"/>
            <a:ext cx="6096000" cy="430887"/>
          </a:xfrm>
          <a:prstGeom prst="rect">
            <a:avLst/>
          </a:prstGeom>
        </p:spPr>
        <p:txBody>
          <a:bodyPr vert="horz" wrap="square" lIns="0" tIns="325119" rIns="0" bIns="0" rtlCol="0">
            <a:spAutoFit/>
          </a:bodyPr>
          <a:lstStyle/>
          <a:p>
            <a:pPr marL="134175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Processos</a:t>
            </a:r>
            <a:r>
              <a:rPr spc="-125" dirty="0"/>
              <a:t> </a:t>
            </a:r>
            <a:r>
              <a:rPr dirty="0"/>
              <a:t>de</a:t>
            </a:r>
            <a:r>
              <a:rPr spc="-120" dirty="0"/>
              <a:t> </a:t>
            </a:r>
            <a:r>
              <a:rPr spc="-10" dirty="0"/>
              <a:t>design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130" y="1874520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580" y="2931160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3321050"/>
            <a:ext cx="95250" cy="952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9630" y="1731009"/>
            <a:ext cx="8738870" cy="206595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just">
              <a:lnSpc>
                <a:spcPts val="2410"/>
              </a:lnSpc>
              <a:spcBef>
                <a:spcPts val="330"/>
              </a:spcBef>
            </a:pPr>
            <a:r>
              <a:rPr sz="2150" dirty="0">
                <a:latin typeface="Arial MT"/>
                <a:cs typeface="Arial MT"/>
              </a:rPr>
              <a:t>Os</a:t>
            </a:r>
            <a:r>
              <a:rPr sz="2150" spc="1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processos</a:t>
            </a:r>
            <a:r>
              <a:rPr sz="2150" spc="16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de</a:t>
            </a:r>
            <a:r>
              <a:rPr sz="2150" spc="15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design</a:t>
            </a:r>
            <a:r>
              <a:rPr sz="2150" spc="160" dirty="0">
                <a:latin typeface="Arial MT"/>
                <a:cs typeface="Arial MT"/>
              </a:rPr>
              <a:t> </a:t>
            </a:r>
            <a:r>
              <a:rPr sz="2150" dirty="0" err="1">
                <a:latin typeface="Arial MT"/>
                <a:cs typeface="Arial MT"/>
              </a:rPr>
              <a:t>buscam</a:t>
            </a:r>
            <a:r>
              <a:rPr sz="2150" spc="1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atender</a:t>
            </a:r>
            <a:r>
              <a:rPr sz="2150" spc="16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e</a:t>
            </a:r>
            <a:r>
              <a:rPr sz="2150" spc="14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servir</a:t>
            </a:r>
            <a:r>
              <a:rPr sz="2150" spc="16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em</a:t>
            </a:r>
            <a:r>
              <a:rPr sz="2150" spc="15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primeiro </a:t>
            </a:r>
            <a:r>
              <a:rPr sz="2150" dirty="0">
                <a:latin typeface="Arial MT"/>
                <a:cs typeface="Arial MT"/>
              </a:rPr>
              <a:t>lugar</a:t>
            </a:r>
            <a:r>
              <a:rPr sz="2150" spc="-20" dirty="0">
                <a:latin typeface="Arial MT"/>
                <a:cs typeface="Arial MT"/>
              </a:rPr>
              <a:t> </a:t>
            </a:r>
            <a:r>
              <a:rPr sz="2150" dirty="0" err="1">
                <a:latin typeface="Arial MT"/>
                <a:cs typeface="Arial MT"/>
              </a:rPr>
              <a:t>aos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dirty="0" err="1">
                <a:latin typeface="Arial MT"/>
                <a:cs typeface="Arial MT"/>
              </a:rPr>
              <a:t>usuários</a:t>
            </a:r>
            <a:r>
              <a:rPr lang="pt-BR" sz="2150" dirty="0">
                <a:latin typeface="Arial MT"/>
                <a:cs typeface="Arial MT"/>
              </a:rPr>
              <a:t> e stakeholders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ou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seja,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é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centrada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no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usuário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e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seguem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dirty="0" err="1">
                <a:latin typeface="Arial MT"/>
                <a:cs typeface="Arial MT"/>
              </a:rPr>
              <a:t>os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spc="-10" dirty="0" err="1">
                <a:latin typeface="Arial MT"/>
                <a:cs typeface="Arial MT"/>
              </a:rPr>
              <a:t>seguin</a:t>
            </a:r>
            <a:r>
              <a:rPr sz="2150" dirty="0" err="1">
                <a:latin typeface="Arial MT"/>
                <a:cs typeface="Arial MT"/>
              </a:rPr>
              <a:t>tes</a:t>
            </a:r>
            <a:r>
              <a:rPr sz="215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princípios:</a:t>
            </a:r>
            <a:endParaRPr sz="2150" dirty="0">
              <a:latin typeface="Arial MT"/>
              <a:cs typeface="Arial MT"/>
            </a:endParaRPr>
          </a:p>
          <a:p>
            <a:pPr marL="371475">
              <a:lnSpc>
                <a:spcPct val="100000"/>
              </a:lnSpc>
              <a:spcBef>
                <a:spcPts val="950"/>
              </a:spcBef>
            </a:pPr>
            <a:r>
              <a:rPr sz="2150" b="1" dirty="0">
                <a:latin typeface="Arial MT"/>
              </a:rPr>
              <a:t>Foco no usuário:</a:t>
            </a:r>
          </a:p>
          <a:p>
            <a:pPr marL="730250" marR="20955">
              <a:lnSpc>
                <a:spcPts val="2039"/>
              </a:lnSpc>
              <a:spcBef>
                <a:spcPts val="985"/>
              </a:spcBef>
            </a:pPr>
            <a:r>
              <a:rPr sz="1800" dirty="0">
                <a:latin typeface="Arial MT"/>
                <a:cs typeface="Arial MT"/>
              </a:rPr>
              <a:t>O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designer</a:t>
            </a:r>
            <a:r>
              <a:rPr sz="1800" spc="2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deve</a:t>
            </a:r>
            <a:r>
              <a:rPr sz="1800" spc="2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projetar</a:t>
            </a:r>
            <a:r>
              <a:rPr sz="1800" spc="2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2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interação</a:t>
            </a:r>
            <a:r>
              <a:rPr sz="1800" spc="2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2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um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sistema</a:t>
            </a:r>
            <a:r>
              <a:rPr sz="1800" spc="2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interativo</a:t>
            </a:r>
            <a:r>
              <a:rPr sz="1800" spc="2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2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atender </a:t>
            </a:r>
            <a:r>
              <a:rPr sz="1800" dirty="0">
                <a:latin typeface="Arial MT"/>
                <a:cs typeface="Arial MT"/>
              </a:rPr>
              <a:t>às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necessidades</a:t>
            </a:r>
            <a:r>
              <a:rPr sz="1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dos</a:t>
            </a:r>
            <a:r>
              <a:rPr sz="1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usuários</a:t>
            </a:r>
            <a:r>
              <a:rPr sz="180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ajudá-los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alcançarem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seus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objetivos,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3929379"/>
            <a:ext cx="95250" cy="952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09039" y="3812540"/>
            <a:ext cx="8481061" cy="922688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70840" marR="5080">
              <a:lnSpc>
                <a:spcPts val="2039"/>
              </a:lnSpc>
              <a:spcBef>
                <a:spcPts val="295"/>
              </a:spcBef>
            </a:pPr>
            <a:r>
              <a:rPr sz="1800" dirty="0">
                <a:latin typeface="Arial MT"/>
                <a:cs typeface="Arial MT"/>
              </a:rPr>
              <a:t>O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designer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dirty="0" err="1">
                <a:latin typeface="Arial MT"/>
                <a:cs typeface="Arial MT"/>
              </a:rPr>
              <a:t>deve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estudar</a:t>
            </a:r>
            <a:r>
              <a:rPr sz="1800" spc="2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seus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usuários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2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245" dirty="0">
                <a:latin typeface="Arial MT"/>
                <a:cs typeface="Arial MT"/>
              </a:rPr>
              <a:t> </a:t>
            </a:r>
            <a:r>
              <a:rPr sz="1800" spc="-10" dirty="0" err="1">
                <a:latin typeface="Arial MT"/>
                <a:cs typeface="Arial MT"/>
              </a:rPr>
              <a:t>possa</a:t>
            </a:r>
            <a:r>
              <a:rPr lang="pt-BR" sz="1800" spc="-10" dirty="0">
                <a:latin typeface="Arial MT"/>
                <a:cs typeface="Arial MT"/>
              </a:rPr>
              <a:t> tirar melhor com</a:t>
            </a:r>
            <a:r>
              <a:rPr sz="1800" spc="-10" dirty="0" err="1">
                <a:latin typeface="Arial MT"/>
                <a:cs typeface="Arial MT"/>
              </a:rPr>
              <a:t>preensão</a:t>
            </a:r>
            <a:r>
              <a:rPr sz="1800" spc="-10" dirty="0">
                <a:latin typeface="Arial MT"/>
                <a:cs typeface="Arial MT"/>
              </a:rPr>
              <a:t>;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b="1" dirty="0" err="1">
                <a:latin typeface="Arial"/>
                <a:cs typeface="Arial"/>
              </a:rPr>
              <a:t>Métricas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10" dirty="0" err="1">
                <a:latin typeface="Arial"/>
                <a:cs typeface="Arial"/>
              </a:rPr>
              <a:t>observáveis</a:t>
            </a:r>
            <a:r>
              <a:rPr lang="pt-BR" sz="2000" b="1" spc="-10" dirty="0">
                <a:latin typeface="Arial"/>
                <a:cs typeface="Arial"/>
              </a:rPr>
              <a:t> - experimentos</a:t>
            </a:r>
            <a:r>
              <a:rPr sz="2000" b="1" spc="-10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580" y="4547870"/>
            <a:ext cx="95250" cy="952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4937759"/>
            <a:ext cx="95250" cy="952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567180" y="4820920"/>
            <a:ext cx="8006080" cy="143129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 algn="just">
              <a:lnSpc>
                <a:spcPct val="94700"/>
              </a:lnSpc>
              <a:spcBef>
                <a:spcPts val="244"/>
              </a:spcBef>
            </a:pPr>
            <a:r>
              <a:rPr sz="1800" dirty="0">
                <a:latin typeface="Arial MT"/>
                <a:cs typeface="Arial MT"/>
              </a:rPr>
              <a:t>O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processo</a:t>
            </a:r>
            <a:r>
              <a:rPr sz="1800" spc="3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3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deve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permitir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realização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experimentos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que </a:t>
            </a:r>
            <a:r>
              <a:rPr sz="1800" dirty="0">
                <a:latin typeface="Arial MT"/>
                <a:cs typeface="Arial MT"/>
              </a:rPr>
              <a:t>representantes</a:t>
            </a:r>
            <a:r>
              <a:rPr sz="1800" spc="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dos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usuários</a:t>
            </a:r>
            <a:r>
              <a:rPr sz="1800" spc="114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usem</a:t>
            </a:r>
            <a:r>
              <a:rPr sz="1800" spc="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simulações</a:t>
            </a:r>
            <a:r>
              <a:rPr sz="1800" spc="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ou</a:t>
            </a:r>
            <a:r>
              <a:rPr sz="1800" spc="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protótipos</a:t>
            </a:r>
            <a:r>
              <a:rPr sz="1800" spc="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sistema</a:t>
            </a:r>
            <a:r>
              <a:rPr sz="1800" spc="10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para </a:t>
            </a:r>
            <a:r>
              <a:rPr sz="1800" dirty="0">
                <a:latin typeface="Arial MT"/>
                <a:cs typeface="Arial MT"/>
              </a:rPr>
              <a:t>realizarem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suas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atividades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alcançarem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objetivos:</a:t>
            </a:r>
            <a:endParaRPr sz="1800" dirty="0">
              <a:latin typeface="Arial MT"/>
              <a:cs typeface="Arial MT"/>
            </a:endParaRPr>
          </a:p>
          <a:p>
            <a:pPr marL="12700" marR="5080" algn="just">
              <a:lnSpc>
                <a:spcPts val="2039"/>
              </a:lnSpc>
              <a:spcBef>
                <a:spcPts val="745"/>
              </a:spcBef>
            </a:pPr>
            <a:r>
              <a:rPr sz="1800" dirty="0">
                <a:latin typeface="Arial MT"/>
                <a:cs typeface="Arial MT"/>
              </a:rPr>
              <a:t>Durante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experimento,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performance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reações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dos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usuários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devem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ser </a:t>
            </a:r>
            <a:r>
              <a:rPr sz="1800" dirty="0">
                <a:latin typeface="Arial MT"/>
                <a:cs typeface="Arial MT"/>
              </a:rPr>
              <a:t>observadas,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registradas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analisadas.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5805170"/>
            <a:ext cx="95250" cy="9525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300" y="273050"/>
            <a:ext cx="6096000" cy="430887"/>
          </a:xfrm>
          <a:prstGeom prst="rect">
            <a:avLst/>
          </a:prstGeom>
        </p:spPr>
        <p:txBody>
          <a:bodyPr vert="horz" wrap="square" lIns="0" tIns="325119" rIns="0" bIns="0" rtlCol="0">
            <a:spAutoFit/>
          </a:bodyPr>
          <a:lstStyle/>
          <a:p>
            <a:pPr marL="134175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Processos</a:t>
            </a:r>
            <a:r>
              <a:rPr spc="-125" dirty="0"/>
              <a:t> </a:t>
            </a:r>
            <a:r>
              <a:rPr dirty="0"/>
              <a:t>de</a:t>
            </a:r>
            <a:r>
              <a:rPr spc="-120" dirty="0"/>
              <a:t> </a:t>
            </a:r>
            <a:r>
              <a:rPr spc="-10" dirty="0"/>
              <a:t>design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1891029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569" y="2374900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569" y="3502659"/>
            <a:ext cx="95250" cy="952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55089" y="1609089"/>
            <a:ext cx="8233409" cy="3162341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30"/>
              </a:spcBef>
            </a:pPr>
            <a:r>
              <a:rPr sz="2400" b="1" dirty="0">
                <a:latin typeface="Arial"/>
                <a:cs typeface="Arial"/>
              </a:rPr>
              <a:t>Design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interativo:</a:t>
            </a:r>
            <a:endParaRPr sz="2400" dirty="0">
              <a:latin typeface="Arial"/>
              <a:cs typeface="Arial"/>
            </a:endParaRPr>
          </a:p>
          <a:p>
            <a:pPr marL="443865" marR="5080" algn="just">
              <a:lnSpc>
                <a:spcPct val="92900"/>
              </a:lnSpc>
              <a:spcBef>
                <a:spcPts val="1135"/>
              </a:spcBef>
            </a:pPr>
            <a:r>
              <a:rPr sz="2400" dirty="0">
                <a:latin typeface="Arial MT"/>
                <a:cs typeface="Arial MT"/>
              </a:rPr>
              <a:t>Quando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os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problemas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forem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encontrados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durante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os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ex- </a:t>
            </a:r>
            <a:r>
              <a:rPr sz="2400" dirty="0">
                <a:latin typeface="Arial MT"/>
                <a:cs typeface="Arial MT"/>
              </a:rPr>
              <a:t>perimentos</a:t>
            </a:r>
            <a:r>
              <a:rPr sz="2400" spc="40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</a:t>
            </a:r>
            <a:r>
              <a:rPr sz="2400" spc="4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os</a:t>
            </a:r>
            <a:r>
              <a:rPr sz="2400" spc="4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usuários,</a:t>
            </a:r>
            <a:r>
              <a:rPr sz="2400" spc="4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eles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deveram</a:t>
            </a:r>
            <a:r>
              <a:rPr sz="2400" spc="4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</a:t>
            </a:r>
            <a:r>
              <a:rPr sz="2400" spc="409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corrigi- </a:t>
            </a:r>
            <a:r>
              <a:rPr sz="2400" spc="-20" dirty="0">
                <a:latin typeface="Arial MT"/>
                <a:cs typeface="Arial MT"/>
              </a:rPr>
              <a:t>dos;</a:t>
            </a:r>
            <a:endParaRPr sz="2400" dirty="0">
              <a:latin typeface="Arial MT"/>
              <a:cs typeface="Arial MT"/>
            </a:endParaRPr>
          </a:p>
          <a:p>
            <a:pPr marL="443865" marR="5080" algn="just">
              <a:lnSpc>
                <a:spcPct val="92900"/>
              </a:lnSpc>
              <a:spcBef>
                <a:spcPts val="850"/>
              </a:spcBef>
            </a:pPr>
            <a:r>
              <a:rPr sz="2400" dirty="0">
                <a:latin typeface="Arial MT"/>
                <a:cs typeface="Arial MT"/>
              </a:rPr>
              <a:t>Isso</a:t>
            </a:r>
            <a:r>
              <a:rPr sz="2400" spc="3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significa</a:t>
            </a:r>
            <a:r>
              <a:rPr sz="2400" spc="3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3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3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atividades</a:t>
            </a:r>
            <a:r>
              <a:rPr sz="2400" spc="3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3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processo</a:t>
            </a:r>
            <a:r>
              <a:rPr sz="2400" spc="3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3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design </a:t>
            </a:r>
            <a:r>
              <a:rPr sz="2400" dirty="0">
                <a:latin typeface="Arial MT"/>
                <a:cs typeface="Arial MT"/>
              </a:rPr>
              <a:t>devem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iterativas,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seja,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ciclo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projeto,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avalia- </a:t>
            </a:r>
            <a:r>
              <a:rPr sz="2400" dirty="0">
                <a:latin typeface="Arial MT"/>
                <a:cs typeface="Arial MT"/>
              </a:rPr>
              <a:t>ção</a:t>
            </a:r>
            <a:r>
              <a:rPr sz="2400" spc="3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medidas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reprojeto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repetir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quantas </a:t>
            </a:r>
            <a:r>
              <a:rPr sz="2400" dirty="0">
                <a:latin typeface="Arial MT"/>
                <a:cs typeface="Arial MT"/>
              </a:rPr>
              <a:t>vezes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forem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 err="1">
                <a:latin typeface="Arial MT"/>
                <a:cs typeface="Arial MT"/>
              </a:rPr>
              <a:t>necessárias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4969509"/>
            <a:ext cx="95250" cy="9525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Design</a:t>
            </a:r>
            <a:r>
              <a:rPr lang="pt-BR" spc="-95" dirty="0"/>
              <a:t> </a:t>
            </a:r>
            <a:r>
              <a:rPr lang="pt-BR" dirty="0"/>
              <a:t>baseado</a:t>
            </a:r>
            <a:r>
              <a:rPr lang="pt-BR" spc="-95" dirty="0"/>
              <a:t> </a:t>
            </a:r>
            <a:r>
              <a:rPr lang="pt-BR" dirty="0"/>
              <a:t>em</a:t>
            </a:r>
            <a:r>
              <a:rPr lang="pt-BR" spc="-114" dirty="0"/>
              <a:t> </a:t>
            </a:r>
            <a:r>
              <a:rPr lang="pt-BR" spc="-10" dirty="0"/>
              <a:t>cenários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79500" y="1644650"/>
            <a:ext cx="8458200" cy="4431983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 MT"/>
                <a:cs typeface="Arial MT"/>
              </a:rPr>
              <a:t>Usa cenários como base.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 MT"/>
                <a:cs typeface="Arial MT"/>
              </a:rPr>
              <a:t>Cenários – histórias para ‘se ligar’ com o usuário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 MT"/>
                <a:cs typeface="Arial MT"/>
              </a:rPr>
              <a:t>Estimular a imaginação de designers e usuários a respeito de aspectos possíveis e relevantes do uso da tecnologia.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 MT"/>
                <a:cs typeface="Arial MT"/>
              </a:rPr>
              <a:t>Cenários </a:t>
            </a:r>
            <a:r>
              <a:rPr lang="pt-BR" sz="2400" dirty="0">
                <a:solidFill>
                  <a:srgbClr val="C00000"/>
                </a:solidFill>
                <a:latin typeface="Arial MT"/>
                <a:cs typeface="Arial MT"/>
              </a:rPr>
              <a:t>são narrativas fictícias</a:t>
            </a:r>
            <a:r>
              <a:rPr lang="pt-BR" sz="2400" dirty="0">
                <a:latin typeface="Arial MT"/>
                <a:cs typeface="Arial MT"/>
              </a:rPr>
              <a:t>, mas plausíveis, ricas em contexto e interesse, com personagens realistas, com os quais participantes de sessões de estudo sobre a </a:t>
            </a:r>
            <a:r>
              <a:rPr lang="pt-BR" sz="2400" dirty="0">
                <a:solidFill>
                  <a:srgbClr val="FF0000"/>
                </a:solidFill>
                <a:latin typeface="Arial MT"/>
                <a:cs typeface="Arial MT"/>
              </a:rPr>
              <a:t>experiência dos usuários </a:t>
            </a:r>
            <a:r>
              <a:rPr lang="pt-BR" sz="2400" dirty="0">
                <a:latin typeface="Arial MT"/>
                <a:cs typeface="Arial MT"/>
              </a:rPr>
              <a:t>podem se identificar sem dificuldade.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 MT"/>
                <a:cs typeface="Arial MT"/>
              </a:rPr>
              <a:t>Apresentados por escrito aos participantes de uma sessão de estudo.</a:t>
            </a:r>
          </a:p>
        </p:txBody>
      </p:sp>
    </p:spTree>
    <p:extLst>
      <p:ext uri="{BB962C8B-B14F-4D97-AF65-F5344CB8AC3E}">
        <p14:creationId xmlns:p14="http://schemas.microsoft.com/office/powerpoint/2010/main" val="2521125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5500" y="425450"/>
            <a:ext cx="6096000" cy="430887"/>
          </a:xfrm>
          <a:prstGeom prst="rect">
            <a:avLst/>
          </a:prstGeom>
        </p:spPr>
        <p:txBody>
          <a:bodyPr vert="horz" wrap="square" lIns="0" tIns="325119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dirty="0"/>
              <a:t>Design</a:t>
            </a:r>
            <a:r>
              <a:rPr spc="-95" dirty="0"/>
              <a:t> </a:t>
            </a:r>
            <a:r>
              <a:rPr dirty="0"/>
              <a:t>baseado</a:t>
            </a:r>
            <a:r>
              <a:rPr spc="-95" dirty="0"/>
              <a:t> </a:t>
            </a:r>
            <a:r>
              <a:rPr dirty="0"/>
              <a:t>em</a:t>
            </a:r>
            <a:r>
              <a:rPr spc="-114" dirty="0"/>
              <a:t> </a:t>
            </a:r>
            <a:r>
              <a:rPr spc="-10" dirty="0"/>
              <a:t>cenários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580" y="1892300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2810" y="1725930"/>
            <a:ext cx="8696960" cy="4717701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 algn="just">
              <a:lnSpc>
                <a:spcPts val="2700"/>
              </a:lnSpc>
              <a:spcBef>
                <a:spcPts val="359"/>
              </a:spcBef>
            </a:pPr>
            <a:r>
              <a:rPr sz="2400" dirty="0">
                <a:latin typeface="Arial MT"/>
                <a:cs typeface="Arial MT"/>
              </a:rPr>
              <a:t>Um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processo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utiliza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diferentes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tipos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cenários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como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re- </a:t>
            </a:r>
            <a:r>
              <a:rPr sz="2400" dirty="0">
                <a:latin typeface="Arial MT"/>
                <a:cs typeface="Arial MT"/>
              </a:rPr>
              <a:t>presentação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básica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fundamental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durante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todas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spc="-10" dirty="0" err="1">
                <a:latin typeface="Arial MT"/>
                <a:cs typeface="Arial MT"/>
              </a:rPr>
              <a:t>atividades</a:t>
            </a:r>
            <a:r>
              <a:rPr lang="pt-BR" sz="2400" spc="-10" dirty="0">
                <a:latin typeface="Arial MT"/>
                <a:cs typeface="Arial MT"/>
              </a:rPr>
              <a:t>. Inicia com o cenário do problema.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lang="pt-BR" sz="2400" dirty="0">
                <a:latin typeface="Arial MT"/>
                <a:cs typeface="Arial MT"/>
              </a:rPr>
              <a:t> </a:t>
            </a:r>
            <a:endParaRPr sz="2400" dirty="0">
              <a:latin typeface="Arial MT"/>
              <a:cs typeface="Arial MT"/>
            </a:endParaRPr>
          </a:p>
          <a:p>
            <a:pPr marL="12700" marR="5080" algn="just">
              <a:lnSpc>
                <a:spcPct val="93900"/>
              </a:lnSpc>
              <a:spcBef>
                <a:spcPts val="1255"/>
              </a:spcBef>
            </a:pPr>
            <a:r>
              <a:rPr sz="2400" b="1" dirty="0">
                <a:latin typeface="Arial"/>
                <a:cs typeface="Arial"/>
              </a:rPr>
              <a:t>Cenários</a:t>
            </a:r>
            <a:r>
              <a:rPr sz="2400" b="1" spc="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problemas:</a:t>
            </a:r>
            <a:r>
              <a:rPr sz="2400" b="1" spc="7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com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conhecimento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adquirido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sobre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situação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atual,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cobrindo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características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usuários,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suas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ati- </a:t>
            </a:r>
            <a:r>
              <a:rPr sz="2400" dirty="0">
                <a:latin typeface="Arial MT"/>
                <a:cs typeface="Arial MT"/>
              </a:rPr>
              <a:t>vidades,</a:t>
            </a:r>
            <a:r>
              <a:rPr sz="2400" spc="4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típicas</a:t>
            </a:r>
            <a:r>
              <a:rPr sz="2400" spc="4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4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criticas,</a:t>
            </a:r>
            <a:r>
              <a:rPr sz="2400" spc="4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os</a:t>
            </a:r>
            <a:r>
              <a:rPr sz="2400" spc="4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artefatos</a:t>
            </a:r>
            <a:r>
              <a:rPr sz="2400" spc="4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4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eles</a:t>
            </a:r>
            <a:r>
              <a:rPr sz="2400" spc="4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utilizam</a:t>
            </a:r>
            <a:r>
              <a:rPr sz="2400" spc="4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45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o </a:t>
            </a:r>
            <a:r>
              <a:rPr sz="2400" dirty="0">
                <a:latin typeface="Arial MT"/>
                <a:cs typeface="Arial MT"/>
              </a:rPr>
              <a:t>contexto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uso;</a:t>
            </a:r>
            <a:endParaRPr sz="2400" dirty="0">
              <a:latin typeface="Arial MT"/>
              <a:cs typeface="Arial MT"/>
            </a:endParaRPr>
          </a:p>
          <a:p>
            <a:pPr marL="12700" marR="8890" algn="just">
              <a:lnSpc>
                <a:spcPts val="2700"/>
              </a:lnSpc>
              <a:spcBef>
                <a:spcPts val="1380"/>
              </a:spcBef>
            </a:pPr>
            <a:r>
              <a:rPr sz="2400" b="1" dirty="0">
                <a:latin typeface="Arial"/>
                <a:cs typeface="Arial"/>
              </a:rPr>
              <a:t>Cenário</a:t>
            </a:r>
            <a:r>
              <a:rPr sz="2400" b="1" spc="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atividade:</a:t>
            </a:r>
            <a:r>
              <a:rPr sz="2400" b="1" spc="8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é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uma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narrativa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sobre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tarefas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típicas 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críticas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usuários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vão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executar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ajuda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10" dirty="0">
                <a:latin typeface="Arial MT"/>
                <a:cs typeface="Arial MT"/>
              </a:rPr>
              <a:t> sistema;</a:t>
            </a:r>
            <a:endParaRPr sz="2400" dirty="0">
              <a:latin typeface="Arial MT"/>
              <a:cs typeface="Arial MT"/>
            </a:endParaRPr>
          </a:p>
          <a:p>
            <a:pPr marL="12700" marR="7620" algn="just">
              <a:lnSpc>
                <a:spcPts val="2700"/>
              </a:lnSpc>
              <a:spcBef>
                <a:spcPts val="1320"/>
              </a:spcBef>
            </a:pPr>
            <a:r>
              <a:rPr sz="2400" b="1" dirty="0">
                <a:latin typeface="Arial"/>
                <a:cs typeface="Arial"/>
              </a:rPr>
              <a:t>Cenário</a:t>
            </a:r>
            <a:r>
              <a:rPr sz="2400" b="1" spc="204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2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informação:</a:t>
            </a:r>
            <a:r>
              <a:rPr sz="2400" b="1" spc="2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é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uma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elaboração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um</a:t>
            </a:r>
            <a:r>
              <a:rPr sz="2400" spc="1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cenário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de </a:t>
            </a:r>
            <a:r>
              <a:rPr sz="2400" dirty="0">
                <a:latin typeface="Arial MT"/>
                <a:cs typeface="Arial MT"/>
              </a:rPr>
              <a:t>atividade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descreve as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informações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fornecidas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pelo </a:t>
            </a:r>
            <a:r>
              <a:rPr sz="2400" spc="-10" dirty="0">
                <a:latin typeface="Arial MT"/>
                <a:cs typeface="Arial MT"/>
              </a:rPr>
              <a:t>sistema </a:t>
            </a:r>
            <a:r>
              <a:rPr sz="2400" dirty="0">
                <a:latin typeface="Arial MT"/>
                <a:cs typeface="Arial MT"/>
              </a:rPr>
              <a:t>ao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usuário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durante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interação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580" y="308991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580" y="4629150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580" y="5482590"/>
            <a:ext cx="95250" cy="9525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Design</a:t>
            </a:r>
            <a:r>
              <a:rPr spc="-95" dirty="0"/>
              <a:t> </a:t>
            </a:r>
            <a:r>
              <a:rPr dirty="0"/>
              <a:t>baseado</a:t>
            </a:r>
            <a:r>
              <a:rPr spc="-95" dirty="0"/>
              <a:t> </a:t>
            </a:r>
            <a:r>
              <a:rPr dirty="0"/>
              <a:t>em</a:t>
            </a:r>
            <a:r>
              <a:rPr spc="-114" dirty="0"/>
              <a:t> </a:t>
            </a:r>
            <a:r>
              <a:rPr spc="-10" dirty="0"/>
              <a:t>cenários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700" y="1869439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6930" y="1731010"/>
            <a:ext cx="8748395" cy="93471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just">
              <a:lnSpc>
                <a:spcPts val="2330"/>
              </a:lnSpc>
              <a:spcBef>
                <a:spcPts val="315"/>
              </a:spcBef>
            </a:pPr>
            <a:r>
              <a:rPr sz="2050" b="1" dirty="0">
                <a:latin typeface="Arial MT"/>
                <a:cs typeface="Arial MT"/>
              </a:rPr>
              <a:t>Cenário</a:t>
            </a:r>
            <a:r>
              <a:rPr sz="2050" b="1" spc="335" dirty="0">
                <a:latin typeface="Arial MT"/>
                <a:cs typeface="Arial MT"/>
              </a:rPr>
              <a:t> </a:t>
            </a:r>
            <a:r>
              <a:rPr sz="2050" b="1" dirty="0">
                <a:latin typeface="Arial MT"/>
                <a:cs typeface="Arial MT"/>
              </a:rPr>
              <a:t>de</a:t>
            </a:r>
            <a:r>
              <a:rPr sz="2050" b="1" spc="360" dirty="0">
                <a:latin typeface="Arial MT"/>
                <a:cs typeface="Arial MT"/>
              </a:rPr>
              <a:t> </a:t>
            </a:r>
            <a:r>
              <a:rPr sz="2050" b="1" dirty="0">
                <a:latin typeface="Arial MT"/>
                <a:cs typeface="Arial MT"/>
              </a:rPr>
              <a:t>interação</a:t>
            </a:r>
            <a:r>
              <a:rPr sz="2050" dirty="0">
                <a:latin typeface="Arial MT"/>
                <a:cs typeface="Arial MT"/>
              </a:rPr>
              <a:t>:</a:t>
            </a:r>
            <a:r>
              <a:rPr sz="2050" spc="36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especifica</a:t>
            </a:r>
            <a:r>
              <a:rPr sz="2050" spc="34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em</a:t>
            </a:r>
            <a:r>
              <a:rPr sz="2050" spc="35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detalhes</a:t>
            </a:r>
            <a:r>
              <a:rPr sz="2050" spc="35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as</a:t>
            </a:r>
            <a:r>
              <a:rPr sz="2050" spc="35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ações</a:t>
            </a:r>
            <a:r>
              <a:rPr sz="2050" spc="36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do</a:t>
            </a:r>
            <a:r>
              <a:rPr sz="2050" spc="35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usuário</a:t>
            </a:r>
            <a:r>
              <a:rPr sz="2050" spc="34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e</a:t>
            </a:r>
            <a:r>
              <a:rPr sz="2050" spc="350" dirty="0">
                <a:latin typeface="Arial MT"/>
                <a:cs typeface="Arial MT"/>
              </a:rPr>
              <a:t> </a:t>
            </a:r>
            <a:r>
              <a:rPr sz="2050" spc="-25" dirty="0">
                <a:latin typeface="Arial MT"/>
                <a:cs typeface="Arial MT"/>
              </a:rPr>
              <a:t>as </a:t>
            </a:r>
            <a:r>
              <a:rPr sz="2050" dirty="0">
                <a:latin typeface="Arial MT"/>
                <a:cs typeface="Arial MT"/>
              </a:rPr>
              <a:t>respectivas</a:t>
            </a:r>
            <a:r>
              <a:rPr sz="2050" spc="42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respostas</a:t>
            </a:r>
            <a:r>
              <a:rPr sz="2050" spc="4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(</a:t>
            </a:r>
            <a:r>
              <a:rPr sz="2050" i="1" dirty="0">
                <a:latin typeface="Arial"/>
                <a:cs typeface="Arial"/>
              </a:rPr>
              <a:t>feedback</a:t>
            </a:r>
            <a:r>
              <a:rPr sz="2050" dirty="0">
                <a:latin typeface="Arial MT"/>
                <a:cs typeface="Arial MT"/>
              </a:rPr>
              <a:t>)</a:t>
            </a:r>
            <a:r>
              <a:rPr sz="2050" spc="44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do</a:t>
            </a:r>
            <a:r>
              <a:rPr sz="2050" spc="4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sistema</a:t>
            </a:r>
            <a:r>
              <a:rPr sz="2050" spc="4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necessárias</a:t>
            </a:r>
            <a:r>
              <a:rPr sz="2050" spc="434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para</a:t>
            </a:r>
            <a:r>
              <a:rPr sz="2050" spc="425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executar </a:t>
            </a:r>
            <a:r>
              <a:rPr sz="2050" dirty="0">
                <a:latin typeface="Arial MT"/>
                <a:cs typeface="Arial MT"/>
              </a:rPr>
              <a:t>as</a:t>
            </a:r>
            <a:r>
              <a:rPr sz="2050" spc="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tarefas</a:t>
            </a:r>
            <a:r>
              <a:rPr sz="2050" spc="2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apoiadas</a:t>
            </a:r>
            <a:r>
              <a:rPr sz="2050" spc="2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pelo</a:t>
            </a:r>
            <a:r>
              <a:rPr sz="2050" spc="15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sistema;</a:t>
            </a:r>
            <a:endParaRPr sz="205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9319" y="2853772"/>
            <a:ext cx="8261350" cy="420234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02B64C6-B71A-3EC5-EA08-8D12F26A4EDD}"/>
              </a:ext>
            </a:extLst>
          </p:cNvPr>
          <p:cNvSpPr txBox="1"/>
          <p:nvPr/>
        </p:nvSpPr>
        <p:spPr>
          <a:xfrm>
            <a:off x="124213" y="6949948"/>
            <a:ext cx="9959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Os cenários descrevem hipóteses sobre o uso da solução que permitem prever os perfis, objetivos e tarefas.</a:t>
            </a:r>
          </a:p>
        </p:txBody>
      </p:sp>
    </p:spTree>
  </p:cSld>
  <p:clrMapOvr>
    <a:masterClrMapping/>
  </p:clrMapOvr>
  <p:transition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Cenário do Problema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9700" y="1339850"/>
            <a:ext cx="10669674" cy="582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8371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Perguntas exploradas nos cenários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31900" y="1720850"/>
            <a:ext cx="7092792" cy="5232202"/>
          </a:xfrm>
        </p:spPr>
        <p:txBody>
          <a:bodyPr/>
          <a:lstStyle/>
          <a:p>
            <a:r>
              <a:rPr lang="pt-BR" dirty="0"/>
              <a:t>[1]. Quem pode/deve cadastrar os dados do projetos</a:t>
            </a:r>
          </a:p>
          <a:p>
            <a:r>
              <a:rPr lang="pt-BR" dirty="0"/>
              <a:t>[2] Quando são cadastrados os projetos</a:t>
            </a:r>
          </a:p>
          <a:p>
            <a:r>
              <a:rPr lang="pt-BR" dirty="0"/>
              <a:t>[3] Quem fornece os dados dos projetos</a:t>
            </a:r>
          </a:p>
          <a:p>
            <a:r>
              <a:rPr lang="pt-BR" dirty="0"/>
              <a:t>[4] quais dados do projeto devem ser cadastrados</a:t>
            </a:r>
          </a:p>
          <a:p>
            <a:r>
              <a:rPr lang="pt-BR" dirty="0"/>
              <a:t>[5] Quantos projetos são cadastrados a cada período</a:t>
            </a:r>
          </a:p>
          <a:p>
            <a:r>
              <a:rPr lang="pt-BR" dirty="0"/>
              <a:t>[6] Quem pode orientar um trabalho final</a:t>
            </a:r>
          </a:p>
          <a:p>
            <a:r>
              <a:rPr lang="pt-BR" dirty="0"/>
              <a:t>[7] Que dados são necessários para cadastrar um co-orientador externo</a:t>
            </a:r>
          </a:p>
          <a:p>
            <a:r>
              <a:rPr lang="pt-BR" dirty="0"/>
              <a:t>[8] Como são obtidos os dados do co-orientador externo</a:t>
            </a:r>
          </a:p>
          <a:p>
            <a:r>
              <a:rPr lang="pt-BR" dirty="0"/>
              <a:t>[9]De quem depende a conclusão do cadastramento do projeto</a:t>
            </a:r>
          </a:p>
          <a:p>
            <a:r>
              <a:rPr lang="pt-BR" dirty="0"/>
              <a:t>[10] De que informações os responsáveis pelo projeto precisam para confirmarem o projeto</a:t>
            </a:r>
          </a:p>
          <a:p>
            <a:r>
              <a:rPr lang="pt-BR" dirty="0"/>
              <a:t>[11] Como um envolvido efetua a confirmação do cadastro</a:t>
            </a:r>
          </a:p>
          <a:p>
            <a:r>
              <a:rPr lang="pt-BR" dirty="0"/>
              <a:t>[12]Em que pontos a interação pode ser mais f=eficiente</a:t>
            </a:r>
          </a:p>
          <a:p>
            <a:r>
              <a:rPr lang="pt-BR" dirty="0"/>
              <a:t>[13] Como entrar em contato com o aluno</a:t>
            </a:r>
          </a:p>
          <a:p>
            <a:r>
              <a:rPr lang="pt-BR" dirty="0"/>
              <a:t>[14] Quem precisa ser notificado da conclusão do cadastro</a:t>
            </a:r>
          </a:p>
        </p:txBody>
      </p:sp>
      <p:sp>
        <p:nvSpPr>
          <p:cNvPr id="4" name="Texto explicativo retangular 3"/>
          <p:cNvSpPr/>
          <p:nvPr/>
        </p:nvSpPr>
        <p:spPr>
          <a:xfrm>
            <a:off x="8089900" y="1568450"/>
            <a:ext cx="1993900" cy="4724400"/>
          </a:xfrm>
          <a:prstGeom prst="wedgeRectCallout">
            <a:avLst>
              <a:gd name="adj1" fmla="val -73899"/>
              <a:gd name="adj2" fmla="val -560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 que o projetista almeja descobrir, explorar, verificar ou ratificar com o cenário?</a:t>
            </a:r>
          </a:p>
        </p:txBody>
      </p:sp>
    </p:spTree>
    <p:extLst>
      <p:ext uri="{BB962C8B-B14F-4D97-AF65-F5344CB8AC3E}">
        <p14:creationId xmlns:p14="http://schemas.microsoft.com/office/powerpoint/2010/main" val="3085795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440" y="1770379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2230120"/>
            <a:ext cx="95250" cy="952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5790" y="1623059"/>
            <a:ext cx="8982075" cy="6004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0">
              <a:lnSpc>
                <a:spcPct val="100000"/>
              </a:lnSpc>
              <a:spcBef>
                <a:spcPts val="100"/>
              </a:spcBef>
            </a:pPr>
            <a:r>
              <a:rPr sz="2200" b="1" spc="250" dirty="0">
                <a:latin typeface="Trebuchet MS"/>
                <a:cs typeface="Trebuchet MS"/>
              </a:rPr>
              <a:t>Cadastro</a:t>
            </a:r>
            <a:r>
              <a:rPr sz="2200" b="1" spc="105" dirty="0">
                <a:latin typeface="Trebuchet MS"/>
                <a:cs typeface="Trebuchet MS"/>
              </a:rPr>
              <a:t> </a:t>
            </a:r>
            <a:r>
              <a:rPr sz="2200" b="1" spc="260" dirty="0">
                <a:latin typeface="Trebuchet MS"/>
                <a:cs typeface="Trebuchet MS"/>
              </a:rPr>
              <a:t>de</a:t>
            </a:r>
            <a:r>
              <a:rPr sz="2200" b="1" spc="110" dirty="0">
                <a:latin typeface="Trebuchet MS"/>
                <a:cs typeface="Trebuchet MS"/>
              </a:rPr>
              <a:t> </a:t>
            </a:r>
            <a:r>
              <a:rPr sz="2200" b="1" spc="195" dirty="0">
                <a:latin typeface="Trebuchet MS"/>
                <a:cs typeface="Trebuchet MS"/>
              </a:rPr>
              <a:t>projetos</a:t>
            </a:r>
            <a:r>
              <a:rPr sz="2200" b="1" spc="114" dirty="0">
                <a:latin typeface="Trebuchet MS"/>
                <a:cs typeface="Trebuchet MS"/>
              </a:rPr>
              <a:t> </a:t>
            </a:r>
            <a:r>
              <a:rPr sz="2200" b="1" spc="200" dirty="0">
                <a:latin typeface="Trebuchet MS"/>
                <a:cs typeface="Trebuchet MS"/>
              </a:rPr>
              <a:t>finais</a:t>
            </a:r>
            <a:r>
              <a:rPr sz="2200" b="1" spc="120" dirty="0">
                <a:latin typeface="Trebuchet MS"/>
                <a:cs typeface="Trebuchet MS"/>
              </a:rPr>
              <a:t> </a:t>
            </a:r>
            <a:r>
              <a:rPr sz="2200" b="1" spc="235" dirty="0">
                <a:latin typeface="Trebuchet MS"/>
                <a:cs typeface="Trebuchet MS"/>
              </a:rPr>
              <a:t>pelos</a:t>
            </a:r>
            <a:r>
              <a:rPr sz="2200" b="1" spc="120" dirty="0">
                <a:latin typeface="Trebuchet MS"/>
                <a:cs typeface="Trebuchet MS"/>
              </a:rPr>
              <a:t> </a:t>
            </a:r>
            <a:r>
              <a:rPr sz="2200" b="1" spc="220" dirty="0">
                <a:latin typeface="Trebuchet MS"/>
                <a:cs typeface="Trebuchet MS"/>
              </a:rPr>
              <a:t>professores:</a:t>
            </a:r>
            <a:endParaRPr sz="2200" dirty="0">
              <a:latin typeface="Trebuchet MS"/>
              <a:cs typeface="Trebuchet MS"/>
            </a:endParaRPr>
          </a:p>
          <a:p>
            <a:pPr marL="876300" marR="8890">
              <a:lnSpc>
                <a:spcPts val="1850"/>
              </a:lnSpc>
              <a:spcBef>
                <a:spcPts val="1490"/>
              </a:spcBef>
            </a:pPr>
            <a:r>
              <a:rPr sz="1600" spc="55" dirty="0">
                <a:latin typeface="Trebuchet MS"/>
                <a:cs typeface="Trebuchet MS"/>
              </a:rPr>
              <a:t>Atores:</a:t>
            </a:r>
            <a:r>
              <a:rPr sz="1600" spc="3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Joana</a:t>
            </a:r>
            <a:r>
              <a:rPr sz="1600" spc="320" dirty="0">
                <a:latin typeface="Trebuchet MS"/>
                <a:cs typeface="Trebuchet MS"/>
              </a:rPr>
              <a:t> </a:t>
            </a:r>
            <a:r>
              <a:rPr sz="1600" spc="50" dirty="0">
                <a:latin typeface="Trebuchet MS"/>
                <a:cs typeface="Trebuchet MS"/>
              </a:rPr>
              <a:t>(secretária),</a:t>
            </a:r>
            <a:r>
              <a:rPr sz="1600" spc="325" dirty="0">
                <a:latin typeface="Trebuchet MS"/>
                <a:cs typeface="Trebuchet MS"/>
              </a:rPr>
              <a:t> </a:t>
            </a:r>
            <a:r>
              <a:rPr sz="1600" spc="85" dirty="0">
                <a:latin typeface="Trebuchet MS"/>
                <a:cs typeface="Trebuchet MS"/>
              </a:rPr>
              <a:t>Fernando</a:t>
            </a:r>
            <a:r>
              <a:rPr sz="1600" spc="315" dirty="0">
                <a:latin typeface="Trebuchet MS"/>
                <a:cs typeface="Trebuchet MS"/>
              </a:rPr>
              <a:t> </a:t>
            </a:r>
            <a:r>
              <a:rPr sz="1600" spc="90" dirty="0">
                <a:latin typeface="Trebuchet MS"/>
                <a:cs typeface="Trebuchet MS"/>
              </a:rPr>
              <a:t>Couto</a:t>
            </a:r>
            <a:r>
              <a:rPr sz="1600" spc="320" dirty="0">
                <a:latin typeface="Trebuchet MS"/>
                <a:cs typeface="Trebuchet MS"/>
              </a:rPr>
              <a:t> </a:t>
            </a:r>
            <a:r>
              <a:rPr sz="1600" spc="55" dirty="0">
                <a:latin typeface="Trebuchet MS"/>
                <a:cs typeface="Trebuchet MS"/>
              </a:rPr>
              <a:t>(aluno),</a:t>
            </a:r>
            <a:r>
              <a:rPr sz="1600" spc="320" dirty="0">
                <a:latin typeface="Trebuchet MS"/>
                <a:cs typeface="Trebuchet MS"/>
              </a:rPr>
              <a:t> </a:t>
            </a:r>
            <a:r>
              <a:rPr sz="1600" spc="120" dirty="0">
                <a:latin typeface="Trebuchet MS"/>
                <a:cs typeface="Trebuchet MS"/>
              </a:rPr>
              <a:t>Marcos</a:t>
            </a:r>
            <a:r>
              <a:rPr sz="1600" spc="325" dirty="0">
                <a:latin typeface="Trebuchet MS"/>
                <a:cs typeface="Trebuchet MS"/>
              </a:rPr>
              <a:t> </a:t>
            </a:r>
            <a:r>
              <a:rPr sz="1600" spc="80" dirty="0">
                <a:latin typeface="Trebuchet MS"/>
                <a:cs typeface="Trebuchet MS"/>
              </a:rPr>
              <a:t>Corrêa</a:t>
            </a:r>
            <a:r>
              <a:rPr sz="1600" spc="330" dirty="0">
                <a:latin typeface="Trebuchet MS"/>
                <a:cs typeface="Trebuchet MS"/>
              </a:rPr>
              <a:t> </a:t>
            </a:r>
            <a:r>
              <a:rPr sz="1600" spc="50" dirty="0">
                <a:latin typeface="Trebuchet MS"/>
                <a:cs typeface="Trebuchet MS"/>
              </a:rPr>
              <a:t>(professor, </a:t>
            </a:r>
            <a:r>
              <a:rPr sz="1600" spc="70" dirty="0">
                <a:latin typeface="Trebuchet MS"/>
                <a:cs typeface="Trebuchet MS"/>
              </a:rPr>
              <a:t>orientador</a:t>
            </a:r>
            <a:r>
              <a:rPr sz="1600" spc="65" dirty="0">
                <a:latin typeface="Trebuchet MS"/>
                <a:cs typeface="Trebuchet MS"/>
              </a:rPr>
              <a:t> </a:t>
            </a:r>
            <a:r>
              <a:rPr sz="1600" spc="55" dirty="0">
                <a:latin typeface="Trebuchet MS"/>
                <a:cs typeface="Trebuchet MS"/>
              </a:rPr>
              <a:t>principal</a:t>
            </a:r>
            <a:r>
              <a:rPr sz="1600" spc="65" dirty="0">
                <a:latin typeface="Trebuchet MS"/>
                <a:cs typeface="Trebuchet MS"/>
              </a:rPr>
              <a:t> </a:t>
            </a:r>
            <a:r>
              <a:rPr sz="1600" spc="110" dirty="0">
                <a:latin typeface="Trebuchet MS"/>
                <a:cs typeface="Trebuchet MS"/>
              </a:rPr>
              <a:t>do</a:t>
            </a:r>
            <a:r>
              <a:rPr sz="1600" spc="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projeto</a:t>
            </a:r>
            <a:r>
              <a:rPr sz="1600" spc="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final),</a:t>
            </a:r>
            <a:r>
              <a:rPr sz="1600" spc="55" dirty="0">
                <a:latin typeface="Trebuchet MS"/>
                <a:cs typeface="Trebuchet MS"/>
              </a:rPr>
              <a:t> </a:t>
            </a:r>
            <a:r>
              <a:rPr sz="1600" spc="65" dirty="0">
                <a:latin typeface="Trebuchet MS"/>
                <a:cs typeface="Trebuchet MS"/>
              </a:rPr>
              <a:t>Pedro</a:t>
            </a:r>
            <a:r>
              <a:rPr sz="1600" spc="70" dirty="0">
                <a:latin typeface="Trebuchet MS"/>
                <a:cs typeface="Trebuchet MS"/>
              </a:rPr>
              <a:t> </a:t>
            </a:r>
            <a:r>
              <a:rPr sz="1600" spc="100" dirty="0">
                <a:latin typeface="Trebuchet MS"/>
                <a:cs typeface="Trebuchet MS"/>
              </a:rPr>
              <a:t>Melo</a:t>
            </a:r>
            <a:r>
              <a:rPr sz="1600" spc="60" dirty="0">
                <a:latin typeface="Trebuchet MS"/>
                <a:cs typeface="Trebuchet MS"/>
              </a:rPr>
              <a:t> </a:t>
            </a:r>
            <a:r>
              <a:rPr sz="1600" spc="70" dirty="0">
                <a:latin typeface="Trebuchet MS"/>
                <a:cs typeface="Trebuchet MS"/>
              </a:rPr>
              <a:t>(coorientador</a:t>
            </a:r>
            <a:r>
              <a:rPr sz="1600" spc="65" dirty="0">
                <a:latin typeface="Trebuchet MS"/>
                <a:cs typeface="Trebuchet MS"/>
              </a:rPr>
              <a:t> </a:t>
            </a:r>
            <a:r>
              <a:rPr sz="1600" spc="45" dirty="0">
                <a:latin typeface="Trebuchet MS"/>
                <a:cs typeface="Trebuchet MS"/>
              </a:rPr>
              <a:t>externo):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933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“Na</a:t>
            </a:r>
            <a:r>
              <a:rPr sz="1800" spc="3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primeira</a:t>
            </a:r>
            <a:r>
              <a:rPr sz="1800" spc="3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semana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aula,</a:t>
            </a:r>
            <a:r>
              <a:rPr sz="1800" spc="3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Joana,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secretária</a:t>
            </a:r>
            <a:r>
              <a:rPr sz="1800" spc="3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curso</a:t>
            </a:r>
            <a:r>
              <a:rPr sz="1800" spc="3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Engenharia</a:t>
            </a:r>
            <a:r>
              <a:rPr sz="1800" spc="2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Ambiental, </a:t>
            </a:r>
            <a:r>
              <a:rPr sz="1800" dirty="0">
                <a:latin typeface="Arial MT"/>
                <a:cs typeface="Arial MT"/>
              </a:rPr>
              <a:t>precisa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certificar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projetos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finais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alunos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iniciados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período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atual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estão </a:t>
            </a:r>
            <a:r>
              <a:rPr sz="1800" dirty="0">
                <a:latin typeface="Arial MT"/>
                <a:cs typeface="Arial MT"/>
              </a:rPr>
              <a:t>cadastrados.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costumam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20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30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projetos,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cadastramento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deve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ser </a:t>
            </a:r>
            <a:r>
              <a:rPr sz="1800" dirty="0">
                <a:latin typeface="Arial MT"/>
                <a:cs typeface="Arial MT"/>
              </a:rPr>
              <a:t>efetuado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época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pessoal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secretaria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está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sobrecarregado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trabalho, </a:t>
            </a: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professor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cadastrar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projetos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alunos. Para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isso,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Joana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envia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uma </a:t>
            </a:r>
            <a:r>
              <a:rPr sz="1800" dirty="0">
                <a:latin typeface="Arial MT"/>
                <a:cs typeface="Arial MT"/>
              </a:rPr>
              <a:t>mensagem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45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todos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professores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solicitando</a:t>
            </a:r>
            <a:r>
              <a:rPr sz="1800" spc="45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cadastrem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projetos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sob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sua </a:t>
            </a:r>
            <a:r>
              <a:rPr sz="1800" dirty="0">
                <a:latin typeface="Arial MT"/>
                <a:cs typeface="Arial MT"/>
              </a:rPr>
              <a:t>orientação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informando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têm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apenas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uma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fazê-</a:t>
            </a:r>
            <a:r>
              <a:rPr sz="1800" dirty="0">
                <a:latin typeface="Arial MT"/>
                <a:cs typeface="Arial MT"/>
              </a:rPr>
              <a:t>lo,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sob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risco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os </a:t>
            </a:r>
            <a:r>
              <a:rPr sz="1800" dirty="0">
                <a:latin typeface="Arial MT"/>
                <a:cs typeface="Arial MT"/>
              </a:rPr>
              <a:t>alunos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terem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suas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matrículas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Projeto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Final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canceladas.</a:t>
            </a:r>
            <a:r>
              <a:rPr sz="1800" spc="75" dirty="0">
                <a:latin typeface="Arial MT"/>
                <a:cs typeface="Arial MT"/>
              </a:rPr>
              <a:t> </a:t>
            </a:r>
            <a:endParaRPr lang="pt-BR" sz="1800" spc="75" dirty="0">
              <a:latin typeface="Arial MT"/>
              <a:cs typeface="Arial MT"/>
            </a:endParaRPr>
          </a:p>
          <a:p>
            <a:pPr marL="12700" marR="5080" algn="just">
              <a:lnSpc>
                <a:spcPct val="93300"/>
              </a:lnSpc>
              <a:spcBef>
                <a:spcPts val="5"/>
              </a:spcBef>
            </a:pPr>
            <a:r>
              <a:rPr sz="1800" dirty="0" err="1">
                <a:latin typeface="Arial MT"/>
                <a:cs typeface="Arial MT"/>
              </a:rPr>
              <a:t>Ao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receber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mensagem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Joana,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Marcos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Corrêa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entra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sistema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cadastrar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projeto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final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aluno </a:t>
            </a:r>
            <a:r>
              <a:rPr sz="1800" dirty="0">
                <a:latin typeface="Arial MT"/>
                <a:cs typeface="Arial MT"/>
              </a:rPr>
              <a:t>Fernando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Couto.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nome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matrícula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aluno,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além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título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formato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entrega</a:t>
            </a:r>
            <a:r>
              <a:rPr sz="1800" spc="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trabalho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relatório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software).</a:t>
            </a:r>
            <a:r>
              <a:rPr sz="1800" spc="3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Ao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informar</a:t>
            </a:r>
            <a:r>
              <a:rPr sz="1800" spc="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dados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do </a:t>
            </a:r>
            <a:r>
              <a:rPr sz="1800" dirty="0">
                <a:latin typeface="Arial MT"/>
                <a:cs typeface="Arial MT"/>
              </a:rPr>
              <a:t>coorientador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externo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(nome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completo,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e-</a:t>
            </a:r>
            <a:r>
              <a:rPr sz="1800" dirty="0">
                <a:latin typeface="Arial MT"/>
                <a:cs typeface="Arial MT"/>
              </a:rPr>
              <a:t>mail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CPF),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percebe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não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possui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do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colega,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Pedro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 err="1">
                <a:latin typeface="Arial MT"/>
                <a:cs typeface="Arial MT"/>
              </a:rPr>
              <a:t>Melo</a:t>
            </a:r>
            <a:r>
              <a:rPr sz="1800" spc="-10" dirty="0">
                <a:latin typeface="Arial MT"/>
                <a:cs typeface="Arial MT"/>
              </a:rPr>
              <a:t>.</a:t>
            </a:r>
            <a:r>
              <a:rPr lang="pt-BR" sz="1800" spc="-10" dirty="0">
                <a:latin typeface="Arial MT"/>
                <a:cs typeface="Arial MT"/>
              </a:rPr>
              <a:t> Marcos pede para o sistema enviar uma mensagem para Pedro solicitando a informação</a:t>
            </a:r>
            <a:r>
              <a:rPr lang="pt-BR" spc="-10" dirty="0">
                <a:latin typeface="Arial MT"/>
                <a:cs typeface="Arial MT"/>
              </a:rPr>
              <a:t> e confirma o cadastro. Ao concluir o cadastro, Marcos é informado de que o sistema enviará uma mensagem pedindo as informações para seu colega Pedro e uma mensagem de feedback para o aluno Fernando Couto”</a:t>
            </a:r>
            <a:endParaRPr lang="pt-BR" sz="1800" dirty="0">
              <a:latin typeface="Arial MT"/>
              <a:cs typeface="Arial MT"/>
            </a:endParaRPr>
          </a:p>
          <a:p>
            <a:pPr marL="12700" marR="5080" algn="just">
              <a:lnSpc>
                <a:spcPct val="93300"/>
              </a:lnSpc>
              <a:spcBef>
                <a:spcPts val="5"/>
              </a:spcBef>
            </a:pPr>
            <a:endParaRPr sz="1800" dirty="0">
              <a:latin typeface="Arial MT"/>
              <a:cs typeface="Arial M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525955F-0951-4A7B-8349-4606CC95F51A}"/>
              </a:ext>
            </a:extLst>
          </p:cNvPr>
          <p:cNvSpPr/>
          <p:nvPr/>
        </p:nvSpPr>
        <p:spPr>
          <a:xfrm>
            <a:off x="3594100" y="640238"/>
            <a:ext cx="54989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dirty="0">
                <a:solidFill>
                  <a:srgbClr val="FF9900"/>
                </a:solidFill>
                <a:latin typeface="Arial"/>
                <a:cs typeface="Arial"/>
                <a:sym typeface="Arial"/>
              </a:rPr>
              <a:t>Exemplo</a:t>
            </a:r>
            <a:r>
              <a:rPr lang="pt-BR" sz="1800" spc="-85" dirty="0"/>
              <a:t> </a:t>
            </a:r>
            <a:r>
              <a:rPr lang="pt-BR" sz="2800" dirty="0">
                <a:solidFill>
                  <a:srgbClr val="FF9900"/>
                </a:solidFill>
                <a:latin typeface="Arial"/>
                <a:cs typeface="Arial"/>
              </a:rPr>
              <a:t>de Cenário de Interação</a:t>
            </a:r>
          </a:p>
        </p:txBody>
      </p:sp>
    </p:spTree>
    <p:extLst>
      <p:ext uri="{BB962C8B-B14F-4D97-AF65-F5344CB8AC3E}">
        <p14:creationId xmlns:p14="http://schemas.microsoft.com/office/powerpoint/2010/main" val="2235819993"/>
      </p:ext>
    </p:extLst>
  </p:cSld>
  <p:clrMapOvr>
    <a:masterClrMapping/>
  </p:clrMapOvr>
  <p:transition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9815513" y="7151688"/>
            <a:ext cx="268287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93700" y="1873250"/>
            <a:ext cx="8982075" cy="52658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0">
              <a:lnSpc>
                <a:spcPct val="100000"/>
              </a:lnSpc>
              <a:spcBef>
                <a:spcPts val="100"/>
              </a:spcBef>
            </a:pPr>
            <a:r>
              <a:rPr lang="pt-BR" sz="2000" b="1" dirty="0">
                <a:latin typeface="Arial MT"/>
                <a:cs typeface="Arial MT"/>
              </a:rPr>
              <a:t>Nos cenários são feitas referencias às perguntas exploradas na sua narrativa</a:t>
            </a:r>
            <a:endParaRPr sz="2000" b="1" dirty="0">
              <a:latin typeface="Arial MT"/>
              <a:cs typeface="Arial MT"/>
            </a:endParaRPr>
          </a:p>
          <a:p>
            <a:pPr marL="12700" marR="5080" algn="just">
              <a:lnSpc>
                <a:spcPct val="933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“Na</a:t>
            </a:r>
            <a:r>
              <a:rPr sz="1800" spc="3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primeira</a:t>
            </a:r>
            <a:r>
              <a:rPr sz="1800" spc="3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semana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aula</a:t>
            </a:r>
            <a:r>
              <a:rPr lang="pt-BR" sz="1800" dirty="0">
                <a:latin typeface="Arial MT"/>
                <a:cs typeface="Arial MT"/>
              </a:rPr>
              <a:t> </a:t>
            </a:r>
            <a:r>
              <a:rPr lang="pt-BR" sz="1800" b="1" dirty="0">
                <a:solidFill>
                  <a:srgbClr val="C00000"/>
                </a:solidFill>
                <a:latin typeface="Arial MT"/>
                <a:cs typeface="Arial MT"/>
              </a:rPr>
              <a:t>[2]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3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Joana,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secretária</a:t>
            </a:r>
            <a:r>
              <a:rPr sz="1800" spc="3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curso</a:t>
            </a:r>
            <a:r>
              <a:rPr sz="1800" spc="3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Engenharia</a:t>
            </a:r>
            <a:r>
              <a:rPr sz="1800" spc="2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Ambiental, </a:t>
            </a:r>
            <a:r>
              <a:rPr sz="1800" dirty="0">
                <a:latin typeface="Arial MT"/>
                <a:cs typeface="Arial MT"/>
              </a:rPr>
              <a:t>precisa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certificar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projetos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finais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alunos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iniciados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período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atual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estão </a:t>
            </a:r>
            <a:r>
              <a:rPr sz="1800" dirty="0">
                <a:latin typeface="Arial MT"/>
                <a:cs typeface="Arial MT"/>
              </a:rPr>
              <a:t>cadastrados.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costumam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20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30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 err="1">
                <a:latin typeface="Arial MT"/>
                <a:cs typeface="Arial MT"/>
              </a:rPr>
              <a:t>projetos</a:t>
            </a:r>
            <a:r>
              <a:rPr lang="pt-BR" sz="1800" dirty="0">
                <a:latin typeface="Arial MT"/>
                <a:cs typeface="Arial MT"/>
              </a:rPr>
              <a:t> </a:t>
            </a:r>
            <a:r>
              <a:rPr lang="pt-BR" sz="1800" b="1" dirty="0">
                <a:solidFill>
                  <a:srgbClr val="C00000"/>
                </a:solidFill>
                <a:latin typeface="Arial MT"/>
                <a:cs typeface="Arial MT"/>
              </a:rPr>
              <a:t>[5]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cadastramento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deve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ser </a:t>
            </a:r>
            <a:r>
              <a:rPr sz="1800" dirty="0">
                <a:latin typeface="Arial MT"/>
                <a:cs typeface="Arial MT"/>
              </a:rPr>
              <a:t>efetuado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época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pessoal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secretaria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está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sobrecarregado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trabalho, </a:t>
            </a: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professor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cadastrar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projetos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 err="1">
                <a:latin typeface="Arial MT"/>
                <a:cs typeface="Arial MT"/>
              </a:rPr>
              <a:t>seus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 err="1">
                <a:latin typeface="Arial MT"/>
                <a:cs typeface="Arial MT"/>
              </a:rPr>
              <a:t>alunos</a:t>
            </a:r>
            <a:r>
              <a:rPr lang="pt-BR" sz="1800" b="1" dirty="0">
                <a:solidFill>
                  <a:srgbClr val="C00000"/>
                </a:solidFill>
                <a:latin typeface="Arial MT"/>
                <a:cs typeface="Arial MT"/>
              </a:rPr>
              <a:t> [1]</a:t>
            </a:r>
            <a:r>
              <a:rPr sz="1800" dirty="0">
                <a:latin typeface="Arial MT"/>
                <a:cs typeface="Arial MT"/>
              </a:rPr>
              <a:t>. Para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isso,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Joana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envia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uma </a:t>
            </a:r>
            <a:r>
              <a:rPr sz="1800" dirty="0">
                <a:latin typeface="Arial MT"/>
                <a:cs typeface="Arial MT"/>
              </a:rPr>
              <a:t>mensagem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45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todos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professores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solicitando</a:t>
            </a:r>
            <a:r>
              <a:rPr sz="1800" spc="45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cadastrem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projetos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sob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sua </a:t>
            </a:r>
            <a:r>
              <a:rPr sz="1800" dirty="0">
                <a:latin typeface="Arial MT"/>
                <a:cs typeface="Arial MT"/>
              </a:rPr>
              <a:t>orientação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informando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têm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apenas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uma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semana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fazê-</a:t>
            </a:r>
            <a:r>
              <a:rPr sz="1800" dirty="0">
                <a:latin typeface="Arial MT"/>
                <a:cs typeface="Arial MT"/>
              </a:rPr>
              <a:t>lo,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sob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risco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os </a:t>
            </a:r>
            <a:r>
              <a:rPr sz="1800" dirty="0">
                <a:latin typeface="Arial MT"/>
                <a:cs typeface="Arial MT"/>
              </a:rPr>
              <a:t>alunos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terem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suas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matrículas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Projeto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Final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canceladas.</a:t>
            </a:r>
            <a:r>
              <a:rPr sz="1800" spc="75" dirty="0">
                <a:latin typeface="Arial MT"/>
                <a:cs typeface="Arial MT"/>
              </a:rPr>
              <a:t> </a:t>
            </a:r>
            <a:endParaRPr lang="pt-BR" sz="1800" spc="75" dirty="0">
              <a:latin typeface="Arial MT"/>
              <a:cs typeface="Arial MT"/>
            </a:endParaRPr>
          </a:p>
          <a:p>
            <a:pPr marL="12700" marR="5080" algn="just">
              <a:lnSpc>
                <a:spcPct val="93300"/>
              </a:lnSpc>
              <a:spcBef>
                <a:spcPts val="5"/>
              </a:spcBef>
            </a:pPr>
            <a:r>
              <a:rPr sz="1800" dirty="0" err="1">
                <a:latin typeface="Arial MT"/>
                <a:cs typeface="Arial MT"/>
              </a:rPr>
              <a:t>Ao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receber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mensagem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Joana,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Marcos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Corrêa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entra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sistema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cadastrar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projeto</a:t>
            </a:r>
            <a:r>
              <a:rPr sz="1800" spc="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final</a:t>
            </a:r>
            <a:r>
              <a:rPr sz="1800" spc="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1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aluno </a:t>
            </a:r>
            <a:r>
              <a:rPr sz="1800" dirty="0">
                <a:latin typeface="Arial MT"/>
                <a:cs typeface="Arial MT"/>
              </a:rPr>
              <a:t>Fernando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Couto</a:t>
            </a:r>
            <a:r>
              <a:rPr lang="pt-BR" sz="1800" b="1" dirty="0">
                <a:solidFill>
                  <a:srgbClr val="C00000"/>
                </a:solidFill>
                <a:latin typeface="Arial MT"/>
                <a:cs typeface="Arial MT"/>
              </a:rPr>
              <a:t> [1,3]</a:t>
            </a:r>
            <a:r>
              <a:rPr sz="1800" dirty="0">
                <a:latin typeface="Arial MT"/>
                <a:cs typeface="Arial MT"/>
              </a:rPr>
              <a:t>.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nome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matrícula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aluno,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além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título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formato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entrega</a:t>
            </a:r>
            <a:r>
              <a:rPr sz="1800" spc="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trabalho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relatório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software)</a:t>
            </a:r>
            <a:r>
              <a:rPr lang="pt-BR" sz="1800" dirty="0">
                <a:latin typeface="Arial MT"/>
                <a:cs typeface="Arial MT"/>
              </a:rPr>
              <a:t> </a:t>
            </a:r>
            <a:r>
              <a:rPr lang="pt-BR" sz="1800" b="1" dirty="0">
                <a:solidFill>
                  <a:srgbClr val="C00000"/>
                </a:solidFill>
                <a:latin typeface="Arial MT"/>
                <a:cs typeface="Arial MT"/>
              </a:rPr>
              <a:t>[4]</a:t>
            </a:r>
            <a:r>
              <a:rPr sz="1800" dirty="0">
                <a:latin typeface="Arial MT"/>
                <a:cs typeface="Arial MT"/>
              </a:rPr>
              <a:t>.</a:t>
            </a:r>
            <a:r>
              <a:rPr sz="1800" spc="3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Ao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informar</a:t>
            </a:r>
            <a:r>
              <a:rPr sz="1800" spc="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dados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do </a:t>
            </a:r>
            <a:r>
              <a:rPr sz="1800" dirty="0">
                <a:latin typeface="Arial MT"/>
                <a:cs typeface="Arial MT"/>
              </a:rPr>
              <a:t>coorientador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externo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(nome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completo,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e-</a:t>
            </a:r>
            <a:r>
              <a:rPr sz="1800" dirty="0">
                <a:latin typeface="Arial MT"/>
                <a:cs typeface="Arial MT"/>
              </a:rPr>
              <a:t>mail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CPF),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percebe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não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possui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lang="pt-BR" sz="1800" b="1" dirty="0">
                <a:solidFill>
                  <a:srgbClr val="C00000"/>
                </a:solidFill>
                <a:latin typeface="Arial MT"/>
                <a:cs typeface="Arial MT"/>
              </a:rPr>
              <a:t>[7] </a:t>
            </a:r>
            <a:r>
              <a:rPr sz="1800" spc="-25" dirty="0">
                <a:latin typeface="Arial MT"/>
                <a:cs typeface="Arial MT"/>
              </a:rPr>
              <a:t>do </a:t>
            </a:r>
            <a:r>
              <a:rPr sz="1800" dirty="0">
                <a:latin typeface="Arial MT"/>
                <a:cs typeface="Arial MT"/>
              </a:rPr>
              <a:t>seu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colega,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Pedro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 err="1">
                <a:latin typeface="Arial MT"/>
                <a:cs typeface="Arial MT"/>
              </a:rPr>
              <a:t>Melo</a:t>
            </a:r>
            <a:r>
              <a:rPr sz="1800" spc="-10" dirty="0">
                <a:latin typeface="Arial MT"/>
                <a:cs typeface="Arial MT"/>
              </a:rPr>
              <a:t>.</a:t>
            </a:r>
            <a:r>
              <a:rPr lang="pt-BR" sz="1800" spc="-10" dirty="0">
                <a:latin typeface="Arial MT"/>
                <a:cs typeface="Arial MT"/>
              </a:rPr>
              <a:t> Marcos pede para o sistema enviar uma mensagem para Pedro solicitando a informação </a:t>
            </a:r>
            <a:r>
              <a:rPr lang="pt-BR" sz="1800" b="1" dirty="0">
                <a:solidFill>
                  <a:srgbClr val="C00000"/>
                </a:solidFill>
                <a:latin typeface="Arial MT"/>
                <a:cs typeface="Arial MT"/>
              </a:rPr>
              <a:t>[8]</a:t>
            </a:r>
            <a:r>
              <a:rPr lang="pt-BR" spc="-10" dirty="0">
                <a:latin typeface="Arial MT"/>
                <a:cs typeface="Arial MT"/>
              </a:rPr>
              <a:t> e confirma o cadastro </a:t>
            </a:r>
            <a:r>
              <a:rPr lang="pt-BR" sz="1800" b="1" dirty="0">
                <a:solidFill>
                  <a:srgbClr val="C00000"/>
                </a:solidFill>
                <a:latin typeface="Arial MT"/>
                <a:cs typeface="Arial MT"/>
              </a:rPr>
              <a:t>[9]</a:t>
            </a:r>
            <a:r>
              <a:rPr lang="pt-BR" spc="-10" dirty="0">
                <a:latin typeface="Arial MT"/>
                <a:cs typeface="Arial MT"/>
              </a:rPr>
              <a:t> Ao concluir o cadastro, Marcos é informado de que o sistema enviará uma mensagem pedindo as informações para seu colega Pedro e uma mensagem de feedback para o aluno Fernando Couto”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525955F-0951-4A7B-8349-4606CC95F51A}"/>
              </a:ext>
            </a:extLst>
          </p:cNvPr>
          <p:cNvSpPr/>
          <p:nvPr/>
        </p:nvSpPr>
        <p:spPr>
          <a:xfrm>
            <a:off x="3594100" y="640238"/>
            <a:ext cx="54989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dirty="0">
                <a:solidFill>
                  <a:srgbClr val="FF9900"/>
                </a:solidFill>
                <a:latin typeface="Arial"/>
                <a:cs typeface="Arial"/>
                <a:sym typeface="Arial"/>
              </a:rPr>
              <a:t>Exemplo</a:t>
            </a:r>
            <a:r>
              <a:rPr lang="pt-BR" sz="1800" spc="-85" dirty="0"/>
              <a:t> </a:t>
            </a:r>
            <a:r>
              <a:rPr lang="pt-BR" sz="2800" dirty="0">
                <a:solidFill>
                  <a:srgbClr val="FF9900"/>
                </a:solidFill>
                <a:latin typeface="Arial"/>
                <a:cs typeface="Arial"/>
              </a:rPr>
              <a:t>de Cenário de Interação</a:t>
            </a:r>
          </a:p>
        </p:txBody>
      </p:sp>
    </p:spTree>
    <p:extLst>
      <p:ext uri="{BB962C8B-B14F-4D97-AF65-F5344CB8AC3E}">
        <p14:creationId xmlns:p14="http://schemas.microsoft.com/office/powerpoint/2010/main" val="3150552893"/>
      </p:ext>
    </p:extLst>
  </p:cSld>
  <p:clrMapOvr>
    <a:masterClrMapping/>
  </p:clrMapOvr>
  <p:transition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31900" y="1644650"/>
            <a:ext cx="7092792" cy="6340197"/>
          </a:xfrm>
        </p:spPr>
        <p:txBody>
          <a:bodyPr/>
          <a:lstStyle/>
          <a:p>
            <a:pPr marL="685800" indent="-457200">
              <a:buFont typeface="+mj-lt"/>
              <a:buAutoNum type="arabicPeriod"/>
            </a:pPr>
            <a:r>
              <a:rPr lang="pt-BR" dirty="0"/>
              <a:t>A equipe deve analisar a situação atual do sistema da biblioteca a fim de elaborar o cenário do problema (história sobre pessoas executando uma atividade”</a:t>
            </a:r>
          </a:p>
          <a:p>
            <a:pPr marL="685800" indent="-457200">
              <a:buFont typeface="+mj-lt"/>
              <a:buAutoNum type="arabicPeriod"/>
            </a:pPr>
            <a:r>
              <a:rPr lang="pt-BR" dirty="0"/>
              <a:t>Exercício: elabore uma narrativa do cenário problema do sistema da biblioteca.</a:t>
            </a:r>
          </a:p>
          <a:p>
            <a:pPr marL="685800" indent="-457200">
              <a:buFont typeface="+mj-lt"/>
              <a:buAutoNum type="arabicPeriod"/>
            </a:pPr>
            <a:r>
              <a:rPr lang="pt-BR" dirty="0"/>
              <a:t>Dica:</a:t>
            </a:r>
          </a:p>
          <a:p>
            <a:pPr marL="685800" indent="-457200">
              <a:buFont typeface="+mj-lt"/>
              <a:buAutoNum type="arabicPeriod"/>
            </a:pPr>
            <a:endParaRPr lang="pt-BR" dirty="0"/>
          </a:p>
          <a:p>
            <a:pPr marL="685800" indent="-457200">
              <a:buFont typeface="+mj-lt"/>
              <a:buAutoNum type="arabicPeriod"/>
            </a:pPr>
            <a:endParaRPr lang="pt-BR" dirty="0"/>
          </a:p>
          <a:p>
            <a:pPr marL="685800" indent="-457200">
              <a:buFont typeface="+mj-lt"/>
              <a:buAutoNum type="arabicPeriod"/>
            </a:pPr>
            <a:endParaRPr lang="pt-BR" dirty="0"/>
          </a:p>
          <a:p>
            <a:pPr marL="685800" indent="-457200">
              <a:buFont typeface="+mj-lt"/>
              <a:buAutoNum type="arabicPeriod"/>
            </a:pPr>
            <a:endParaRPr lang="pt-BR" dirty="0"/>
          </a:p>
          <a:p>
            <a:pPr marL="685800" indent="-457200">
              <a:buFont typeface="+mj-lt"/>
              <a:buAutoNum type="arabicPeriod"/>
            </a:pPr>
            <a:endParaRPr lang="pt-BR" dirty="0"/>
          </a:p>
          <a:p>
            <a:pPr marL="685800" indent="-457200">
              <a:buFont typeface="+mj-lt"/>
              <a:buAutoNum type="arabicPeriod"/>
            </a:pPr>
            <a:endParaRPr lang="pt-BR" dirty="0"/>
          </a:p>
          <a:p>
            <a:pPr marL="685800" indent="-457200">
              <a:buFont typeface="+mj-lt"/>
              <a:buAutoNum type="arabicPeriod"/>
            </a:pPr>
            <a:endParaRPr lang="pt-BR" dirty="0"/>
          </a:p>
          <a:p>
            <a:pPr marL="685800" indent="-457200">
              <a:buFont typeface="+mj-lt"/>
              <a:buAutoNum type="arabicPeriod"/>
            </a:pPr>
            <a:endParaRPr lang="pt-BR" dirty="0"/>
          </a:p>
          <a:p>
            <a:pPr marL="685800" indent="-457200">
              <a:buFont typeface="+mj-lt"/>
              <a:buAutoNum type="arabicPeriod"/>
            </a:pPr>
            <a:r>
              <a:rPr lang="pt-BR" dirty="0"/>
              <a:t>Tentar colocar:</a:t>
            </a:r>
          </a:p>
          <a:p>
            <a:pPr marL="1143000" lvl="1" indent="-457200">
              <a:buFont typeface="+mj-lt"/>
              <a:buAutoNum type="arabicPeriod"/>
            </a:pPr>
            <a:r>
              <a:rPr lang="pt-BR" dirty="0"/>
              <a:t>Quem são os usuários? </a:t>
            </a:r>
          </a:p>
          <a:p>
            <a:pPr marL="1143000" lvl="1" indent="-457200">
              <a:buFont typeface="+mj-lt"/>
              <a:buAutoNum type="arabicPeriod"/>
            </a:pPr>
            <a:r>
              <a:rPr lang="pt-BR" dirty="0"/>
              <a:t>O que eles fazem? </a:t>
            </a:r>
          </a:p>
          <a:p>
            <a:pPr marL="1143000" lvl="1" indent="-457200">
              <a:buFont typeface="+mj-lt"/>
              <a:buAutoNum type="arabicPeriod"/>
            </a:pPr>
            <a:r>
              <a:rPr lang="pt-BR" dirty="0"/>
              <a:t>Como? </a:t>
            </a:r>
          </a:p>
          <a:p>
            <a:pPr marL="1143000" lvl="1" indent="-457200">
              <a:buFont typeface="+mj-lt"/>
              <a:buAutoNum type="arabicPeriod"/>
            </a:pPr>
            <a:r>
              <a:rPr lang="pt-BR" dirty="0"/>
              <a:t>Que problemas enfrentam?</a:t>
            </a:r>
          </a:p>
          <a:p>
            <a:pPr marL="228600" indent="0"/>
            <a:endParaRPr lang="pt-BR" dirty="0"/>
          </a:p>
          <a:p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3321050"/>
            <a:ext cx="6248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2078592"/>
      </p:ext>
    </p:extLst>
  </p:cSld>
  <p:clrMapOvr>
    <a:masterClrMapping/>
  </p:clrMapOvr>
</p:sld>
</file>

<file path=ppt/theme/theme1.xml><?xml version="1.0" encoding="utf-8"?>
<a:theme xmlns:a="http://schemas.openxmlformats.org/drawingml/2006/main" name="puc1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puc1</Template>
  <TotalTime>3411</TotalTime>
  <Words>2075</Words>
  <Application>Microsoft Office PowerPoint</Application>
  <PresentationFormat>Personalizar</PresentationFormat>
  <Paragraphs>152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30" baseType="lpstr">
      <vt:lpstr>Arial</vt:lpstr>
      <vt:lpstr>Arial MT</vt:lpstr>
      <vt:lpstr>Calibri</vt:lpstr>
      <vt:lpstr>Comic Sans MS</vt:lpstr>
      <vt:lpstr>Times New Roman</vt:lpstr>
      <vt:lpstr>Trebuchet MS</vt:lpstr>
      <vt:lpstr>Verdana</vt:lpstr>
      <vt:lpstr>puc1</vt:lpstr>
      <vt:lpstr>Projeto de Interação, Interface e do Software</vt:lpstr>
      <vt:lpstr>Design</vt:lpstr>
      <vt:lpstr>Atividades de design</vt:lpstr>
      <vt:lpstr>Análise</vt:lpstr>
      <vt:lpstr>Apresentação do PowerPoint</vt:lpstr>
      <vt:lpstr>Intervenção</vt:lpstr>
      <vt:lpstr>Perspectiva de design</vt:lpstr>
      <vt:lpstr>Perspectiva de design</vt:lpstr>
      <vt:lpstr>Perspectiva da Reflexão e ação</vt:lpstr>
      <vt:lpstr>Apresentação do PowerPoint</vt:lpstr>
      <vt:lpstr>Apresentação do PowerPoint</vt:lpstr>
      <vt:lpstr>Sequencia genérica das atividades de Design</vt:lpstr>
      <vt:lpstr>Processos de design</vt:lpstr>
      <vt:lpstr>Processos de design</vt:lpstr>
      <vt:lpstr>Design baseado em cenários</vt:lpstr>
      <vt:lpstr>Design baseado em cenários</vt:lpstr>
      <vt:lpstr>Design baseado em cenários</vt:lpstr>
      <vt:lpstr>Cenário do Problema</vt:lpstr>
      <vt:lpstr>Perguntas exploradas nos cenários</vt:lpstr>
      <vt:lpstr>Apresentação do PowerPoint</vt:lpstr>
      <vt:lpstr>Apresentação do PowerPoint</vt:lpstr>
      <vt:lpstr>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IHC</dc:title>
  <dc:creator>Joao Paulo</dc:creator>
  <cp:lastModifiedBy>CECILIA SOSA ARIAS PEIXOTO</cp:lastModifiedBy>
  <cp:revision>46</cp:revision>
  <dcterms:created xsi:type="dcterms:W3CDTF">2025-09-17T17:10:02Z</dcterms:created>
  <dcterms:modified xsi:type="dcterms:W3CDTF">2025-09-23T10:53:42Z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2013-12-13T00:00:00Z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3.5</vt:lpwstr>
  </property>
  <property fmtid="{D5CDD505-2E9C-101B-9397-08002B2CF9AE}" pid="5" name="LastSaved">
    <vt:filetime>2013-12-13T00:00:00Z</vt:filetime>
  </property>
</Properties>
</file>