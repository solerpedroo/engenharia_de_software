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  <p:sldMasterId id="2147483681" r:id="rId2"/>
  </p:sldMasterIdLst>
  <p:notesMasterIdLst>
    <p:notesMasterId r:id="rId33"/>
  </p:notesMasterIdLst>
  <p:sldIdLst>
    <p:sldId id="334" r:id="rId3"/>
    <p:sldId id="336" r:id="rId4"/>
    <p:sldId id="337" r:id="rId5"/>
    <p:sldId id="318" r:id="rId6"/>
    <p:sldId id="321" r:id="rId7"/>
    <p:sldId id="263" r:id="rId8"/>
    <p:sldId id="339" r:id="rId9"/>
    <p:sldId id="322" r:id="rId10"/>
    <p:sldId id="340" r:id="rId11"/>
    <p:sldId id="323" r:id="rId12"/>
    <p:sldId id="341" r:id="rId13"/>
    <p:sldId id="324" r:id="rId14"/>
    <p:sldId id="342" r:id="rId15"/>
    <p:sldId id="352" r:id="rId16"/>
    <p:sldId id="326" r:id="rId17"/>
    <p:sldId id="353" r:id="rId18"/>
    <p:sldId id="354" r:id="rId19"/>
    <p:sldId id="328" r:id="rId20"/>
    <p:sldId id="355" r:id="rId21"/>
    <p:sldId id="356" r:id="rId22"/>
    <p:sldId id="346" r:id="rId23"/>
    <p:sldId id="329" r:id="rId24"/>
    <p:sldId id="348" r:id="rId25"/>
    <p:sldId id="330" r:id="rId26"/>
    <p:sldId id="350" r:id="rId27"/>
    <p:sldId id="331" r:id="rId28"/>
    <p:sldId id="351" r:id="rId29"/>
    <p:sldId id="357" r:id="rId30"/>
    <p:sldId id="332" r:id="rId31"/>
    <p:sldId id="298" r:id="rId32"/>
  </p:sldIdLst>
  <p:sldSz cx="10058400" cy="7772400"/>
  <p:notesSz cx="10058400" cy="77724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2ED2B4-F5DB-46F9-8EC5-36E122A35052}" v="1" dt="2022-03-20T17:12:40.40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55" autoAdjust="0"/>
    <p:restoredTop sz="94660"/>
  </p:normalViewPr>
  <p:slideViewPr>
    <p:cSldViewPr>
      <p:cViewPr varScale="1">
        <p:scale>
          <a:sx n="93" d="100"/>
          <a:sy n="93" d="100"/>
        </p:scale>
        <p:origin x="1350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microsoft.com/office/2015/10/relationships/revisionInfo" Target="revisionInfo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cilia Sosa" userId="6634db0cd389ccf4" providerId="LiveId" clId="{342ED2B4-F5DB-46F9-8EC5-36E122A35052}"/>
    <pc:docChg chg="modSld">
      <pc:chgData name="Cecilia Sosa" userId="6634db0cd389ccf4" providerId="LiveId" clId="{342ED2B4-F5DB-46F9-8EC5-36E122A35052}" dt="2022-03-20T17:12:40.398" v="0" actId="1076"/>
      <pc:docMkLst>
        <pc:docMk/>
      </pc:docMkLst>
      <pc:sldChg chg="modSp">
        <pc:chgData name="Cecilia Sosa" userId="6634db0cd389ccf4" providerId="LiveId" clId="{342ED2B4-F5DB-46F9-8EC5-36E122A35052}" dt="2022-03-20T17:12:40.398" v="0" actId="1076"/>
        <pc:sldMkLst>
          <pc:docMk/>
          <pc:sldMk cId="946288630" sldId="324"/>
        </pc:sldMkLst>
        <pc:spChg chg="mod">
          <ac:chgData name="Cecilia Sosa" userId="6634db0cd389ccf4" providerId="LiveId" clId="{342ED2B4-F5DB-46F9-8EC5-36E122A35052}" dt="2022-03-20T17:12:40.398" v="0" actId="1076"/>
          <ac:spMkLst>
            <pc:docMk/>
            <pc:sldMk cId="946288630" sldId="324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C9212C-4EC0-45C8-B848-1BE41A880690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006475" y="3692525"/>
            <a:ext cx="8045450" cy="34972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7381875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697538" y="7381875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A0F2F-06A6-48DE-B785-C24BECD247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9257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143250" y="582613"/>
            <a:ext cx="3771900" cy="29146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pt-BR" altLang="pt-BR"/>
              <a:t> </a:t>
            </a:r>
            <a:endParaRPr lang="en-US" altLang="pt-BR"/>
          </a:p>
        </p:txBody>
      </p:sp>
      <p:sp>
        <p:nvSpPr>
          <p:cNvPr id="3072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CC8D32A-B467-4C6B-847E-8674D35136A4}" type="slidenum">
              <a:rPr lang="en-US" altLang="pt-BR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altLang="pt-BR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143250" y="582613"/>
            <a:ext cx="3771900" cy="29146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pt-BR" altLang="pt-BR"/>
              <a:t> </a:t>
            </a:r>
          </a:p>
          <a:p>
            <a:pPr eaLnBrk="1" hangingPunct="1">
              <a:spcBef>
                <a:spcPct val="0"/>
              </a:spcBef>
            </a:pPr>
            <a:endParaRPr lang="pt-BR" altLang="pt-BR"/>
          </a:p>
          <a:p>
            <a:pPr eaLnBrk="1" hangingPunct="1">
              <a:spcBef>
                <a:spcPct val="0"/>
              </a:spcBef>
            </a:pPr>
            <a:r>
              <a:rPr lang="pt-BR" altLang="pt-BR"/>
              <a:t> </a:t>
            </a:r>
            <a:endParaRPr lang="en-US" altLang="pt-BR"/>
          </a:p>
        </p:txBody>
      </p:sp>
      <p:sp>
        <p:nvSpPr>
          <p:cNvPr id="317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5330CB2-9B6C-4406-932C-486484D60B81}" type="slidenum">
              <a:rPr lang="en-US" altLang="pt-BR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 altLang="pt-BR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143250" y="582613"/>
            <a:ext cx="3771900" cy="29146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pt-BR" altLang="pt-BR"/>
              <a:t> </a:t>
            </a:r>
            <a:endParaRPr lang="en-US" altLang="pt-BR"/>
          </a:p>
        </p:txBody>
      </p:sp>
      <p:sp>
        <p:nvSpPr>
          <p:cNvPr id="3277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D36CA9C-9FE2-48F6-AD31-AB146CF50A8D}" type="slidenum">
              <a:rPr lang="en-US" altLang="pt-BR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US" altLang="pt-BR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143250" y="582613"/>
            <a:ext cx="3771900" cy="29146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pt-BR"/>
          </a:p>
        </p:txBody>
      </p:sp>
      <p:sp>
        <p:nvSpPr>
          <p:cNvPr id="33796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81C9301-71EE-476F-BAA3-1899ACB4EC84}" type="slidenum">
              <a:rPr lang="en-US" altLang="pt-BR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US" altLang="pt-BR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143250" y="582613"/>
            <a:ext cx="3771900" cy="29146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382059" indent="-382059">
              <a:buFont typeface="Arial" panose="020B0604020202020204" pitchFamily="34" charset="0"/>
              <a:buChar char="•"/>
              <a:defRPr/>
            </a:pPr>
            <a:r>
              <a:rPr lang="pt-BR" altLang="pt-BR" dirty="0"/>
              <a:t> Preocupação com o projeto do sistema para que os erros de interação não ocorram. </a:t>
            </a:r>
          </a:p>
          <a:p>
            <a:pPr marL="382059" indent="-382059">
              <a:buFont typeface="Arial" panose="020B0604020202020204" pitchFamily="34" charset="0"/>
              <a:buChar char="•"/>
              <a:defRPr/>
            </a:pPr>
            <a:r>
              <a:rPr lang="pt-BR" altLang="pt-BR" dirty="0"/>
              <a:t>Exemplo: indicação clara do formato do dado esperado.</a:t>
            </a:r>
          </a:p>
          <a:p>
            <a:pPr marL="382059" indent="-382059">
              <a:buFont typeface="Arial" panose="020B0604020202020204" pitchFamily="34" charset="0"/>
              <a:buChar char="•"/>
              <a:defRPr/>
            </a:pPr>
            <a:endParaRPr lang="pt-BR" altLang="pt-BR" dirty="0"/>
          </a:p>
          <a:p>
            <a:pPr marL="382059" indent="-382059">
              <a:buFont typeface="Arial" panose="020B0604020202020204" pitchFamily="34" charset="0"/>
              <a:buChar char="•"/>
              <a:defRPr/>
            </a:pPr>
            <a:r>
              <a:rPr lang="pt-BR" altLang="pt-BR" dirty="0"/>
              <a:t>Mascara para CPF, CEP.</a:t>
            </a:r>
            <a:endParaRPr lang="en-US" altLang="pt-BR" dirty="0"/>
          </a:p>
          <a:p>
            <a:pPr eaLnBrk="1" hangingPunct="1">
              <a:spcBef>
                <a:spcPct val="0"/>
              </a:spcBef>
            </a:pPr>
            <a:endParaRPr lang="en-US" altLang="pt-BR" dirty="0"/>
          </a:p>
        </p:txBody>
      </p:sp>
      <p:sp>
        <p:nvSpPr>
          <p:cNvPr id="348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2AD9805-22A7-4AB4-852E-2EEDD3C527B4}" type="slidenum">
              <a:rPr lang="en-US" altLang="pt-BR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US" altLang="pt-BR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143250" y="582613"/>
            <a:ext cx="3771900" cy="29146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pt-BR"/>
          </a:p>
        </p:txBody>
      </p:sp>
      <p:sp>
        <p:nvSpPr>
          <p:cNvPr id="3584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7A414-4C46-4CE7-9E4C-B3A0A85AA436}" type="slidenum">
              <a:rPr lang="en-US" altLang="pt-BR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US" altLang="pt-BR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143250" y="582613"/>
            <a:ext cx="3771900" cy="29146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pt-BR" altLang="pt-BR"/>
              <a:t> </a:t>
            </a:r>
            <a:endParaRPr lang="en-US" altLang="pt-BR"/>
          </a:p>
        </p:txBody>
      </p:sp>
      <p:sp>
        <p:nvSpPr>
          <p:cNvPr id="3686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C87A67F-6501-4FD0-B9E5-AB663A37E01E}" type="slidenum">
              <a:rPr lang="en-US" altLang="pt-BR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US" altLang="pt-BR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143250" y="582613"/>
            <a:ext cx="3771900" cy="29146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pt-BR" altLang="pt-BR"/>
              <a:t> </a:t>
            </a:r>
            <a:endParaRPr lang="en-US" altLang="pt-BR"/>
          </a:p>
        </p:txBody>
      </p:sp>
      <p:sp>
        <p:nvSpPr>
          <p:cNvPr id="3789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A95ED31-01EE-404C-8CBB-82D88CC32982}" type="slidenum">
              <a:rPr lang="en-US" altLang="pt-BR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US" altLang="pt-BR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143250" y="582613"/>
            <a:ext cx="3771900" cy="29146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pt-BR" altLang="pt-BR"/>
              <a:t> </a:t>
            </a:r>
            <a:endParaRPr lang="en-US" altLang="pt-BR"/>
          </a:p>
        </p:txBody>
      </p:sp>
      <p:sp>
        <p:nvSpPr>
          <p:cNvPr id="38916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F494E63-B2B0-45C0-B6FC-48BE73784107}" type="slidenum">
              <a:rPr lang="en-US" altLang="pt-BR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US" altLang="pt-BR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143250" y="582613"/>
            <a:ext cx="3771900" cy="29146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pt-BR" altLang="pt-BR"/>
              <a:t>A informação da ajuda deve ser útil e fácil de ser encontrada.</a:t>
            </a:r>
            <a:endParaRPr lang="en-US" altLang="pt-BR"/>
          </a:p>
        </p:txBody>
      </p:sp>
      <p:sp>
        <p:nvSpPr>
          <p:cNvPr id="3994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E7AD380-A2FA-46B8-90A6-F44844A3EC05}" type="slidenum">
              <a:rPr lang="en-US" altLang="pt-BR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en-US" altLang="pt-BR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sigepe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4A0F2F-06A6-48DE-B785-C24BECD247D5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3149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412" indent="0" algn="ctr">
              <a:buNone/>
              <a:defRPr/>
            </a:lvl2pPr>
            <a:lvl3pPr marL="1018824" indent="0" algn="ctr">
              <a:buNone/>
              <a:defRPr/>
            </a:lvl3pPr>
            <a:lvl4pPr marL="1528237" indent="0" algn="ctr">
              <a:buNone/>
              <a:defRPr/>
            </a:lvl4pPr>
            <a:lvl5pPr marL="2037649" indent="0" algn="ctr">
              <a:buNone/>
              <a:defRPr/>
            </a:lvl5pPr>
            <a:lvl6pPr marL="2547061" indent="0" algn="ctr">
              <a:buNone/>
              <a:defRPr/>
            </a:lvl6pPr>
            <a:lvl7pPr marL="3056473" indent="0" algn="ctr">
              <a:buNone/>
              <a:defRPr/>
            </a:lvl7pPr>
            <a:lvl8pPr marL="3565886" indent="0" algn="ctr">
              <a:buNone/>
              <a:defRPr/>
            </a:lvl8pPr>
            <a:lvl9pPr marL="4075298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25400">
              <a:lnSpc>
                <a:spcPts val="1425"/>
              </a:lnSpc>
            </a:pPr>
            <a:fld id="{81D60167-4931-47E6-BA6A-407CBD079E4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9392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25400">
              <a:lnSpc>
                <a:spcPts val="1425"/>
              </a:lnSpc>
            </a:pPr>
            <a:fld id="{81D60167-4931-47E6-BA6A-407CBD079E4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6666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94544" y="4994487"/>
            <a:ext cx="8549640" cy="1543685"/>
          </a:xfrm>
        </p:spPr>
        <p:txBody>
          <a:bodyPr anchor="t"/>
          <a:lstStyle>
            <a:lvl1pPr algn="l">
              <a:defRPr sz="45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94544" y="3294275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412" indent="0">
              <a:buNone/>
              <a:defRPr sz="2000"/>
            </a:lvl2pPr>
            <a:lvl3pPr marL="1018824" indent="0">
              <a:buNone/>
              <a:defRPr sz="1800"/>
            </a:lvl3pPr>
            <a:lvl4pPr marL="1528237" indent="0">
              <a:buNone/>
              <a:defRPr sz="1600"/>
            </a:lvl4pPr>
            <a:lvl5pPr marL="2037649" indent="0">
              <a:buNone/>
              <a:defRPr sz="1600"/>
            </a:lvl5pPr>
            <a:lvl6pPr marL="2547061" indent="0">
              <a:buNone/>
              <a:defRPr sz="1600"/>
            </a:lvl6pPr>
            <a:lvl7pPr marL="3056473" indent="0">
              <a:buNone/>
              <a:defRPr sz="1600"/>
            </a:lvl7pPr>
            <a:lvl8pPr marL="3565886" indent="0">
              <a:buNone/>
              <a:defRPr sz="1600"/>
            </a:lvl8pPr>
            <a:lvl9pPr marL="4075298" indent="0">
              <a:buNone/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25400">
              <a:lnSpc>
                <a:spcPts val="1425"/>
              </a:lnSpc>
            </a:pPr>
            <a:fld id="{81D60167-4931-47E6-BA6A-407CBD079E4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6547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502920" y="1813560"/>
            <a:ext cx="4442460" cy="5129425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13020" y="1813560"/>
            <a:ext cx="4442460" cy="5129425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25400">
              <a:lnSpc>
                <a:spcPts val="1425"/>
              </a:lnSpc>
            </a:pPr>
            <a:fld id="{81D60167-4931-47E6-BA6A-407CBD079E4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7267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02920" y="1739795"/>
            <a:ext cx="4444207" cy="725064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02920" y="2464859"/>
            <a:ext cx="4444207" cy="4478126"/>
          </a:xfrm>
        </p:spPr>
        <p:txBody>
          <a:bodyPr/>
          <a:lstStyle>
            <a:lvl1pPr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109528" y="1739795"/>
            <a:ext cx="4445953" cy="725064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109528" y="2464859"/>
            <a:ext cx="4445953" cy="4478126"/>
          </a:xfrm>
        </p:spPr>
        <p:txBody>
          <a:bodyPr/>
          <a:lstStyle>
            <a:lvl1pPr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25400">
              <a:lnSpc>
                <a:spcPts val="1425"/>
              </a:lnSpc>
            </a:pPr>
            <a:fld id="{81D60167-4931-47E6-BA6A-407CBD079E4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7150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25400">
              <a:lnSpc>
                <a:spcPts val="1425"/>
              </a:lnSpc>
            </a:pPr>
            <a:fld id="{81D60167-4931-47E6-BA6A-407CBD079E4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8406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25400">
              <a:lnSpc>
                <a:spcPts val="1425"/>
              </a:lnSpc>
            </a:pPr>
            <a:fld id="{81D60167-4931-47E6-BA6A-407CBD079E4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9241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2921" y="309457"/>
            <a:ext cx="3309144" cy="1316990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32555" y="309457"/>
            <a:ext cx="5622925" cy="6633528"/>
          </a:xfrm>
        </p:spPr>
        <p:txBody>
          <a:bodyPr/>
          <a:lstStyle>
            <a:lvl1pPr>
              <a:defRPr sz="3600"/>
            </a:lvl1pPr>
            <a:lvl2pPr>
              <a:defRPr sz="3100"/>
            </a:lvl2pPr>
            <a:lvl3pPr>
              <a:defRPr sz="27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02921" y="1626447"/>
            <a:ext cx="3309144" cy="5316538"/>
          </a:xfrm>
        </p:spPr>
        <p:txBody>
          <a:bodyPr/>
          <a:lstStyle>
            <a:lvl1pPr marL="0" indent="0">
              <a:buNone/>
              <a:defRPr sz="1600"/>
            </a:lvl1pPr>
            <a:lvl2pPr marL="509412" indent="0">
              <a:buNone/>
              <a:defRPr sz="1300"/>
            </a:lvl2pPr>
            <a:lvl3pPr marL="1018824" indent="0">
              <a:buNone/>
              <a:defRPr sz="1100"/>
            </a:lvl3pPr>
            <a:lvl4pPr marL="1528237" indent="0">
              <a:buNone/>
              <a:defRPr sz="1000"/>
            </a:lvl4pPr>
            <a:lvl5pPr marL="2037649" indent="0">
              <a:buNone/>
              <a:defRPr sz="1000"/>
            </a:lvl5pPr>
            <a:lvl6pPr marL="2547061" indent="0">
              <a:buNone/>
              <a:defRPr sz="1000"/>
            </a:lvl6pPr>
            <a:lvl7pPr marL="3056473" indent="0">
              <a:buNone/>
              <a:defRPr sz="1000"/>
            </a:lvl7pPr>
            <a:lvl8pPr marL="3565886" indent="0">
              <a:buNone/>
              <a:defRPr sz="1000"/>
            </a:lvl8pPr>
            <a:lvl9pPr marL="4075298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25400">
              <a:lnSpc>
                <a:spcPts val="1425"/>
              </a:lnSpc>
            </a:pPr>
            <a:fld id="{81D60167-4931-47E6-BA6A-407CBD079E4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1510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71517" y="5440680"/>
            <a:ext cx="6035040" cy="64230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971517" y="694478"/>
            <a:ext cx="6035040" cy="4663440"/>
          </a:xfrm>
        </p:spPr>
        <p:txBody>
          <a:bodyPr/>
          <a:lstStyle>
            <a:lvl1pPr marL="0" indent="0">
              <a:buNone/>
              <a:defRPr sz="3600"/>
            </a:lvl1pPr>
            <a:lvl2pPr marL="509412" indent="0">
              <a:buNone/>
              <a:defRPr sz="3100"/>
            </a:lvl2pPr>
            <a:lvl3pPr marL="1018824" indent="0">
              <a:buNone/>
              <a:defRPr sz="2700"/>
            </a:lvl3pPr>
            <a:lvl4pPr marL="1528237" indent="0">
              <a:buNone/>
              <a:defRPr sz="2200"/>
            </a:lvl4pPr>
            <a:lvl5pPr marL="2037649" indent="0">
              <a:buNone/>
              <a:defRPr sz="2200"/>
            </a:lvl5pPr>
            <a:lvl6pPr marL="2547061" indent="0">
              <a:buNone/>
              <a:defRPr sz="2200"/>
            </a:lvl6pPr>
            <a:lvl7pPr marL="3056473" indent="0">
              <a:buNone/>
              <a:defRPr sz="2200"/>
            </a:lvl7pPr>
            <a:lvl8pPr marL="3565886" indent="0">
              <a:buNone/>
              <a:defRPr sz="2200"/>
            </a:lvl8pPr>
            <a:lvl9pPr marL="4075298" indent="0">
              <a:buNone/>
              <a:defRPr sz="2200"/>
            </a:lvl9pPr>
          </a:lstStyle>
          <a:p>
            <a:pPr lv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971517" y="6082983"/>
            <a:ext cx="6035040" cy="912177"/>
          </a:xfrm>
        </p:spPr>
        <p:txBody>
          <a:bodyPr/>
          <a:lstStyle>
            <a:lvl1pPr marL="0" indent="0">
              <a:buNone/>
              <a:defRPr sz="1600"/>
            </a:lvl1pPr>
            <a:lvl2pPr marL="509412" indent="0">
              <a:buNone/>
              <a:defRPr sz="1300"/>
            </a:lvl2pPr>
            <a:lvl3pPr marL="1018824" indent="0">
              <a:buNone/>
              <a:defRPr sz="1100"/>
            </a:lvl3pPr>
            <a:lvl4pPr marL="1528237" indent="0">
              <a:buNone/>
              <a:defRPr sz="1000"/>
            </a:lvl4pPr>
            <a:lvl5pPr marL="2037649" indent="0">
              <a:buNone/>
              <a:defRPr sz="1000"/>
            </a:lvl5pPr>
            <a:lvl6pPr marL="2547061" indent="0">
              <a:buNone/>
              <a:defRPr sz="1000"/>
            </a:lvl6pPr>
            <a:lvl7pPr marL="3056473" indent="0">
              <a:buNone/>
              <a:defRPr sz="1000"/>
            </a:lvl7pPr>
            <a:lvl8pPr marL="3565886" indent="0">
              <a:buNone/>
              <a:defRPr sz="1000"/>
            </a:lvl8pPr>
            <a:lvl9pPr marL="4075298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25400">
              <a:lnSpc>
                <a:spcPts val="1425"/>
              </a:lnSpc>
            </a:pPr>
            <a:fld id="{81D60167-4931-47E6-BA6A-407CBD079E4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16157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25400">
              <a:lnSpc>
                <a:spcPts val="1425"/>
              </a:lnSpc>
            </a:pPr>
            <a:fld id="{81D60167-4931-47E6-BA6A-407CBD079E4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3992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292340" y="311257"/>
            <a:ext cx="2263140" cy="663172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502920" y="311257"/>
            <a:ext cx="6621780" cy="663172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25400">
              <a:lnSpc>
                <a:spcPts val="1425"/>
              </a:lnSpc>
            </a:pPr>
            <a:fld id="{81D60167-4931-47E6-BA6A-407CBD079E4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36590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425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425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64207" y="1364918"/>
            <a:ext cx="3883025" cy="4908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3F3F3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425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19"/>
          <p:cNvSpPr/>
          <p:nvPr/>
        </p:nvSpPr>
        <p:spPr>
          <a:xfrm flipV="1">
            <a:off x="5951220" y="4318000"/>
            <a:ext cx="4107180" cy="102553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58" tIns="50929" rIns="101858" bIns="50929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tângulo 20"/>
          <p:cNvSpPr/>
          <p:nvPr/>
        </p:nvSpPr>
        <p:spPr>
          <a:xfrm flipV="1">
            <a:off x="5951220" y="4416957"/>
            <a:ext cx="4107180" cy="217699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58" tIns="50929" rIns="101858" bIns="50929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tângulo 21"/>
          <p:cNvSpPr/>
          <p:nvPr/>
        </p:nvSpPr>
        <p:spPr>
          <a:xfrm flipV="1">
            <a:off x="5951220" y="4663443"/>
            <a:ext cx="4107180" cy="1079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58" tIns="50929" rIns="101858" bIns="50929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tângulo 23"/>
          <p:cNvSpPr/>
          <p:nvPr/>
        </p:nvSpPr>
        <p:spPr>
          <a:xfrm flipV="1">
            <a:off x="5951220" y="4719215"/>
            <a:ext cx="2161858" cy="21590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58" tIns="50929" rIns="101858" bIns="50929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" name="Retângulo 24"/>
          <p:cNvSpPr/>
          <p:nvPr/>
        </p:nvSpPr>
        <p:spPr>
          <a:xfrm flipV="1">
            <a:off x="5951220" y="4758799"/>
            <a:ext cx="2161858" cy="1079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58" tIns="50929" rIns="101858" bIns="50929"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11" name="Retângulo de cantos arredondados 25"/>
          <p:cNvSpPr/>
          <p:nvPr/>
        </p:nvSpPr>
        <p:spPr bwMode="white">
          <a:xfrm>
            <a:off x="5951222" y="4490720"/>
            <a:ext cx="3370263" cy="3058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58" tIns="50929" rIns="101858" bIns="50929"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12" name="Retângulo de cantos arredondados 26"/>
          <p:cNvSpPr/>
          <p:nvPr/>
        </p:nvSpPr>
        <p:spPr bwMode="white">
          <a:xfrm>
            <a:off x="8114824" y="4602271"/>
            <a:ext cx="1760220" cy="41381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58" tIns="50929" rIns="101858" bIns="50929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3" name="Retângulo 40"/>
          <p:cNvSpPr/>
          <p:nvPr/>
        </p:nvSpPr>
        <p:spPr>
          <a:xfrm>
            <a:off x="0" y="4136285"/>
            <a:ext cx="10058400" cy="277072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58" tIns="50929" rIns="101858" bIns="50929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4" name="Retângulo 41"/>
          <p:cNvSpPr/>
          <p:nvPr/>
        </p:nvSpPr>
        <p:spPr>
          <a:xfrm>
            <a:off x="0" y="4165074"/>
            <a:ext cx="10058400" cy="16012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58" tIns="50929" rIns="101858" bIns="50929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" name="Retângulo 42"/>
          <p:cNvSpPr/>
          <p:nvPr/>
        </p:nvSpPr>
        <p:spPr>
          <a:xfrm flipV="1">
            <a:off x="7054850" y="4129088"/>
            <a:ext cx="3003550" cy="28067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58" tIns="50929" rIns="101858" bIns="50929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6" name="Retângulo 43"/>
          <p:cNvSpPr/>
          <p:nvPr/>
        </p:nvSpPr>
        <p:spPr>
          <a:xfrm>
            <a:off x="0" y="1"/>
            <a:ext cx="10058400" cy="4195657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58" tIns="50929" rIns="101858" bIns="50929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502920" y="2722139"/>
            <a:ext cx="9304020" cy="1666028"/>
          </a:xfrm>
        </p:spPr>
        <p:txBody>
          <a:bodyPr anchor="b"/>
          <a:lstStyle>
            <a:lvl1pPr algn="ctr">
              <a:defRPr sz="49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502920" y="4419930"/>
            <a:ext cx="5448300" cy="1986280"/>
          </a:xfrm>
        </p:spPr>
        <p:txBody>
          <a:bodyPr/>
          <a:lstStyle>
            <a:lvl1pPr marL="71302" indent="0" algn="ctr">
              <a:buNone/>
              <a:defRPr sz="2700">
                <a:solidFill>
                  <a:srgbClr val="C00000"/>
                </a:solidFill>
              </a:defRPr>
            </a:lvl1pPr>
            <a:lvl2pPr marL="509292" indent="0" algn="ctr">
              <a:buNone/>
            </a:lvl2pPr>
            <a:lvl3pPr marL="1018586" indent="0" algn="ctr">
              <a:buNone/>
            </a:lvl3pPr>
            <a:lvl4pPr marL="1527879" indent="0" algn="ctr">
              <a:buNone/>
            </a:lvl4pPr>
            <a:lvl5pPr marL="2037173" indent="0" algn="ctr">
              <a:buNone/>
            </a:lvl5pPr>
            <a:lvl6pPr marL="2546466" indent="0" algn="ctr">
              <a:buNone/>
            </a:lvl6pPr>
            <a:lvl7pPr marL="3055758" indent="0" algn="ctr">
              <a:buNone/>
            </a:lvl7pPr>
            <a:lvl8pPr marL="3565052" indent="0" algn="ctr">
              <a:buNone/>
            </a:lvl8pPr>
            <a:lvl9pPr marL="4074344" indent="0" algn="ctr">
              <a:buNone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17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376160" y="4767792"/>
            <a:ext cx="1056482" cy="51816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8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5951220" y="4765993"/>
            <a:ext cx="1424940" cy="51816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9152098" y="1800"/>
            <a:ext cx="822483" cy="4138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4D67B69-2849-4183-8BC0-38A0CC88C93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6229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2920" y="518160"/>
            <a:ext cx="9052560" cy="120904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02920" y="1899921"/>
            <a:ext cx="9052560" cy="5551221"/>
          </a:xfr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7DE733-E40A-42A9-884A-4C28C15C92F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90348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94544" y="2245363"/>
            <a:ext cx="8549640" cy="1543685"/>
          </a:xfrm>
        </p:spPr>
        <p:txBody>
          <a:bodyPr anchor="b">
            <a:noAutofit/>
          </a:bodyPr>
          <a:lstStyle>
            <a:lvl1pPr algn="l">
              <a:buNone/>
              <a:defRPr sz="48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94544" y="3816033"/>
            <a:ext cx="8549640" cy="1711007"/>
          </a:xfrm>
        </p:spPr>
        <p:txBody>
          <a:bodyPr/>
          <a:lstStyle>
            <a:lvl1pPr marL="50929" indent="0">
              <a:buNone/>
              <a:defRPr sz="2300" b="0">
                <a:solidFill>
                  <a:schemeClr val="tx2"/>
                </a:solidFill>
              </a:defRPr>
            </a:lvl1pPr>
            <a:lvl2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16EFF0-93B7-49A7-B49B-9187E6C3A37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33962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502920" y="2549350"/>
            <a:ext cx="4442460" cy="5129425"/>
          </a:xfrm>
        </p:spPr>
        <p:txBody>
          <a:bodyPr/>
          <a:lstStyle>
            <a:lvl1pPr>
              <a:defRPr sz="2200"/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13020" y="2549350"/>
            <a:ext cx="4442460" cy="5129425"/>
          </a:xfrm>
        </p:spPr>
        <p:txBody>
          <a:bodyPr/>
          <a:lstStyle>
            <a:lvl1pPr>
              <a:defRPr sz="2200"/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9220200" y="7356793"/>
            <a:ext cx="838200" cy="41560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D80246A-8E0E-4E51-A06A-795E1452F02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658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9100" y="1295400"/>
            <a:ext cx="9220200" cy="1212494"/>
          </a:xfrm>
        </p:spPr>
        <p:txBody>
          <a:bodyPr/>
          <a:lstStyle>
            <a:lvl1pPr>
              <a:defRPr sz="4500" b="0" i="0" cap="none" baseline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19101" y="2544299"/>
            <a:ext cx="4445813" cy="51816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50929" indent="0">
              <a:buNone/>
              <a:defRPr sz="21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200" b="1"/>
            </a:lvl2pPr>
            <a:lvl3pPr>
              <a:buNone/>
              <a:defRPr sz="2000" b="1"/>
            </a:lvl3pPr>
            <a:lvl4pPr>
              <a:buNone/>
              <a:defRPr sz="1800" b="1"/>
            </a:lvl4pPr>
            <a:lvl5pPr>
              <a:buNone/>
              <a:defRPr sz="1800" b="1"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5193350" y="2544299"/>
            <a:ext cx="4445953" cy="51816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50929" indent="0">
              <a:buNone/>
              <a:defRPr sz="21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200" b="1"/>
            </a:lvl2pPr>
            <a:lvl3pPr>
              <a:buNone/>
              <a:defRPr sz="2000" b="1"/>
            </a:lvl3pPr>
            <a:lvl4pPr>
              <a:buNone/>
              <a:defRPr sz="1800" b="1"/>
            </a:lvl4pPr>
            <a:lvl5pPr>
              <a:buNone/>
              <a:defRPr sz="1800" b="1"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19101" y="3069655"/>
            <a:ext cx="4445813" cy="440436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190137" y="3069655"/>
            <a:ext cx="4445953" cy="440436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Espaço Reservado para Número de Slide 26"/>
          <p:cNvSpPr>
            <a:spLocks noGrp="1"/>
          </p:cNvSpPr>
          <p:nvPr>
            <p:ph type="sldNum" sz="quarter" idx="11"/>
          </p:nvPr>
        </p:nvSpPr>
        <p:spPr>
          <a:xfrm>
            <a:off x="9220200" y="7356793"/>
            <a:ext cx="838200" cy="41560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DD156C4-7519-40A8-9C34-266DE7D9246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9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92546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2920" y="1295400"/>
            <a:ext cx="9052560" cy="1212494"/>
          </a:xfrm>
        </p:spPr>
        <p:txBody>
          <a:bodyPr/>
          <a:lstStyle>
            <a:lvl1pPr>
              <a:defRPr sz="450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7241699" y="694478"/>
            <a:ext cx="1052988" cy="51816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9220200" y="7356793"/>
            <a:ext cx="838200" cy="41560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B296D6C-DF81-448A-B9F3-63E59C5EF65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32419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9220200" y="7356793"/>
            <a:ext cx="838200" cy="41560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20A73FB-14F2-465A-A1E8-7BCA260C38E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42898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88846" y="1248899"/>
            <a:ext cx="3721608" cy="994867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5888846" y="2278824"/>
            <a:ext cx="3721608" cy="5233416"/>
          </a:xfrm>
        </p:spPr>
        <p:txBody>
          <a:bodyPr/>
          <a:lstStyle>
            <a:lvl1pPr marL="10186" indent="0">
              <a:buNone/>
              <a:defRPr sz="1600"/>
            </a:lvl1pPr>
            <a:lvl2pPr>
              <a:buNone/>
              <a:defRPr sz="1300"/>
            </a:lvl2pPr>
            <a:lvl3pPr>
              <a:buNone/>
              <a:defRPr sz="11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167640" y="879792"/>
            <a:ext cx="5612587" cy="6632448"/>
          </a:xfrm>
        </p:spPr>
        <p:txBody>
          <a:bodyPr/>
          <a:lstStyle>
            <a:lvl1pPr>
              <a:defRPr sz="3600"/>
            </a:lvl1pPr>
            <a:lvl2pPr>
              <a:defRPr sz="3100">
                <a:solidFill>
                  <a:schemeClr val="tx1"/>
                </a:solidFill>
              </a:defRPr>
            </a:lvl2pPr>
            <a:lvl3pPr>
              <a:defRPr sz="2700">
                <a:solidFill>
                  <a:schemeClr val="tx1"/>
                </a:solidFill>
              </a:defRPr>
            </a:lvl3pPr>
            <a:lvl4pPr>
              <a:defRPr sz="2200">
                <a:solidFill>
                  <a:schemeClr val="tx1"/>
                </a:solidFill>
              </a:defRPr>
            </a:lvl4pPr>
            <a:lvl5pP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9220200" y="7356793"/>
            <a:ext cx="838200" cy="41560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9207560-F07F-4B8D-8A47-ED516E6D8E7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1708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984480" y="1257051"/>
            <a:ext cx="645483" cy="5305855"/>
          </a:xfrm>
        </p:spPr>
        <p:txBody>
          <a:bodyPr vert="vert270" lIns="50929" tIns="0" rIns="50929" anchor="t"/>
          <a:lstStyle>
            <a:lvl1pPr algn="ctr">
              <a:buNone/>
              <a:defRPr sz="22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44038" y="1295400"/>
            <a:ext cx="5029200" cy="51816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600"/>
            </a:lvl1pPr>
          </a:lstStyle>
          <a:p>
            <a:pPr lvl="0"/>
            <a:r>
              <a:rPr lang="pt-BR" noProof="0"/>
              <a:t>Clique no ícone para adicionar uma imagem</a:t>
            </a:r>
            <a:endParaRPr lang="en-US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697287" y="3710885"/>
            <a:ext cx="2849880" cy="2852021"/>
          </a:xfrm>
        </p:spPr>
        <p:txBody>
          <a:bodyPr lIns="0" tIns="0" rIns="50929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/>
            </a:lvl1pPr>
            <a:lvl2pPr>
              <a:buFontTx/>
              <a:buNone/>
              <a:defRPr sz="1300"/>
            </a:lvl2pPr>
            <a:lvl3pPr>
              <a:buFontTx/>
              <a:buNone/>
              <a:defRPr sz="1100"/>
            </a:lvl3pPr>
            <a:lvl4pPr>
              <a:buFontTx/>
              <a:buNone/>
              <a:defRPr sz="1000"/>
            </a:lvl4pPr>
            <a:lvl5pPr>
              <a:buFontTx/>
              <a:buNone/>
              <a:defRPr sz="1000"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9220200" y="7356793"/>
            <a:ext cx="838200" cy="41560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E585D10-5B9C-42A8-B807-CB31C97DF15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51986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2920" y="518160"/>
            <a:ext cx="9052560" cy="120904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9220200" y="7356793"/>
            <a:ext cx="838200" cy="41560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6E55475-760C-4F96-8BF3-1A016F74926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3594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459980" y="1295400"/>
            <a:ext cx="2095500" cy="621792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502920" y="1295400"/>
            <a:ext cx="6873240" cy="6217920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9220200" y="7356793"/>
            <a:ext cx="838200" cy="41560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BC9D31A-73AC-46A2-847E-9DCD6C95431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68303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64207" y="1364918"/>
            <a:ext cx="3883025" cy="4908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3F3F3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425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2920" y="311256"/>
            <a:ext cx="905256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82" tIns="50941" rIns="101882" bIns="5094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2920" y="1813560"/>
            <a:ext cx="9052560" cy="512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82" tIns="50941" rIns="101882" bIns="509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6451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02920" y="7077922"/>
            <a:ext cx="2346960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882" tIns="50941" rIns="101882" bIns="5094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latin typeface="Arial" charset="0"/>
                <a:cs typeface="+mn-cs"/>
              </a:defRPr>
            </a:lvl1pPr>
          </a:lstStyle>
          <a:p>
            <a:fld id="{1D8BD707-D9CF-40AE-B4C6-C98DA3205C09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45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36620" y="7077922"/>
            <a:ext cx="3185160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882" tIns="50941" rIns="101882" bIns="50941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600">
                <a:latin typeface="Arial" charset="0"/>
                <a:cs typeface="+mn-cs"/>
              </a:defRPr>
            </a:lvl1pPr>
          </a:lstStyle>
          <a:p>
            <a:endParaRPr lang="pt-BR"/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08520" y="7077922"/>
            <a:ext cx="2346960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882" tIns="50941" rIns="101882" bIns="5094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600"/>
            </a:lvl1pPr>
          </a:lstStyle>
          <a:p>
            <a:pPr marL="25400">
              <a:lnSpc>
                <a:spcPts val="1425"/>
              </a:lnSpc>
            </a:pPr>
            <a:fld id="{81D60167-4931-47E6-BA6A-407CBD079E47}" type="slidenum">
              <a:rPr lang="pt-BR" smtClean="0"/>
              <a:t>‹nº›</a:t>
            </a:fld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  <a:cs typeface="Arial" charset="0"/>
        </a:defRPr>
      </a:lvl5pPr>
      <a:lvl6pPr marL="509412" algn="ctr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  <a:cs typeface="Arial" charset="0"/>
        </a:defRPr>
      </a:lvl6pPr>
      <a:lvl7pPr marL="1018824" algn="ctr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  <a:cs typeface="Arial" charset="0"/>
        </a:defRPr>
      </a:lvl7pPr>
      <a:lvl8pPr marL="1528237" algn="ctr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  <a:cs typeface="Arial" charset="0"/>
        </a:defRPr>
      </a:lvl8pPr>
      <a:lvl9pPr marL="2037649" algn="ctr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82059" indent="-382059" algn="l" rtl="0" eaLnBrk="1" fontAlgn="base" hangingPunct="1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795" indent="-318383" algn="l" rtl="0" eaLnBrk="1" fontAlgn="base" hangingPunct="1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  <a:cs typeface="+mn-cs"/>
        </a:defRPr>
      </a:lvl2pPr>
      <a:lvl3pPr marL="1273531" indent="-254706" algn="l" rtl="0" eaLnBrk="1" fontAlgn="base" hangingPunct="1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  <a:cs typeface="+mn-cs"/>
        </a:defRPr>
      </a:lvl3pPr>
      <a:lvl4pPr marL="1782943" indent="-254706" algn="l" rtl="0" eaLnBrk="1" fontAlgn="base" hangingPunct="1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  <a:cs typeface="+mn-cs"/>
        </a:defRPr>
      </a:lvl4pPr>
      <a:lvl5pPr marL="2292355" indent="-254706" algn="l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cs typeface="+mn-cs"/>
        </a:defRPr>
      </a:lvl5pPr>
      <a:lvl6pPr marL="2801767" indent="-254706" algn="l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cs typeface="+mn-cs"/>
        </a:defRPr>
      </a:lvl6pPr>
      <a:lvl7pPr marL="3311180" indent="-254706" algn="l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cs typeface="+mn-cs"/>
        </a:defRPr>
      </a:lvl7pPr>
      <a:lvl8pPr marL="3820592" indent="-254706" algn="l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cs typeface="+mn-cs"/>
        </a:defRPr>
      </a:lvl8pPr>
      <a:lvl9pPr marL="4330004" indent="-254706" algn="l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pt-BR"/>
      </a:defPPr>
      <a:lvl1pPr marL="0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0" y="415610"/>
            <a:ext cx="10058400" cy="9535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70" tIns="50935" rIns="101870" bIns="50935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9" name="Retângulo 28"/>
          <p:cNvSpPr/>
          <p:nvPr/>
        </p:nvSpPr>
        <p:spPr>
          <a:xfrm>
            <a:off x="0" y="1"/>
            <a:ext cx="10058400" cy="352637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70" tIns="50935" rIns="101870" bIns="50935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0" name="Retângulo 29"/>
          <p:cNvSpPr/>
          <p:nvPr/>
        </p:nvSpPr>
        <p:spPr>
          <a:xfrm>
            <a:off x="0" y="349040"/>
            <a:ext cx="10058400" cy="1043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70" tIns="50935" rIns="101870" bIns="50935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1" name="Retângulo 30"/>
          <p:cNvSpPr/>
          <p:nvPr/>
        </p:nvSpPr>
        <p:spPr>
          <a:xfrm flipV="1">
            <a:off x="5951220" y="408413"/>
            <a:ext cx="4107180" cy="1025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70" tIns="50935" rIns="101870" bIns="50935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2" name="Retângulo 31"/>
          <p:cNvSpPr/>
          <p:nvPr/>
        </p:nvSpPr>
        <p:spPr>
          <a:xfrm flipV="1">
            <a:off x="5951220" y="498371"/>
            <a:ext cx="4107180" cy="20510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70" tIns="50935" rIns="101870" bIns="50935"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5947729" y="563141"/>
            <a:ext cx="3370263" cy="3238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70" tIns="50935" rIns="101870" bIns="50935"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8111332" y="667492"/>
            <a:ext cx="1760220" cy="41380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70" tIns="50935" rIns="101870" bIns="50935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5" name="Retângulo 34"/>
          <p:cNvSpPr/>
          <p:nvPr/>
        </p:nvSpPr>
        <p:spPr bwMode="invGray">
          <a:xfrm>
            <a:off x="9993789" y="-1798"/>
            <a:ext cx="62865" cy="703475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70" tIns="50935" rIns="101870" bIns="50935"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36" name="Retângulo 35"/>
          <p:cNvSpPr/>
          <p:nvPr/>
        </p:nvSpPr>
        <p:spPr bwMode="invGray">
          <a:xfrm>
            <a:off x="9948388" y="-1798"/>
            <a:ext cx="31433" cy="703475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70" tIns="50935" rIns="101870" bIns="50935"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37" name="Retângulo 36"/>
          <p:cNvSpPr/>
          <p:nvPr/>
        </p:nvSpPr>
        <p:spPr bwMode="invGray">
          <a:xfrm>
            <a:off x="9927432" y="-1798"/>
            <a:ext cx="10478" cy="703475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70" tIns="50935" rIns="101870" bIns="50935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8" name="Retângulo 37"/>
          <p:cNvSpPr/>
          <p:nvPr/>
        </p:nvSpPr>
        <p:spPr bwMode="invGray">
          <a:xfrm>
            <a:off x="9873297" y="-1798"/>
            <a:ext cx="29687" cy="703475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70" tIns="50935" rIns="101870" bIns="50935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9" name="Retângulo 38"/>
          <p:cNvSpPr/>
          <p:nvPr/>
        </p:nvSpPr>
        <p:spPr bwMode="invGray">
          <a:xfrm>
            <a:off x="9806942" y="0"/>
            <a:ext cx="61119" cy="663893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70" tIns="50935" rIns="101870" bIns="50935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0" name="Retângulo 39"/>
          <p:cNvSpPr/>
          <p:nvPr/>
        </p:nvSpPr>
        <p:spPr bwMode="invGray">
          <a:xfrm>
            <a:off x="9761537" y="0"/>
            <a:ext cx="8732" cy="663893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1870" tIns="50935" rIns="101870" bIns="50935"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2063" name="Espaço Reservado para Título 21"/>
          <p:cNvSpPr>
            <a:spLocks noGrp="1"/>
          </p:cNvSpPr>
          <p:nvPr>
            <p:ph type="title"/>
          </p:nvPr>
        </p:nvSpPr>
        <p:spPr bwMode="auto">
          <a:xfrm>
            <a:off x="502920" y="431800"/>
            <a:ext cx="905256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70" tIns="50935" rIns="101870" bIns="509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  <a:endParaRPr lang="en-US" altLang="pt-BR"/>
          </a:p>
        </p:txBody>
      </p:sp>
      <p:sp>
        <p:nvSpPr>
          <p:cNvPr id="2064" name="Espaço Reservado para Texto 12"/>
          <p:cNvSpPr>
            <a:spLocks noGrp="1"/>
          </p:cNvSpPr>
          <p:nvPr>
            <p:ph type="body" idx="1"/>
          </p:nvPr>
        </p:nvSpPr>
        <p:spPr bwMode="auto">
          <a:xfrm>
            <a:off x="502920" y="1813560"/>
            <a:ext cx="9052560" cy="5636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70" tIns="50935" rIns="101870" bIns="509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  <a:endParaRPr lang="en-US" altLang="pt-BR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7245192" y="694478"/>
            <a:ext cx="1052988" cy="518160"/>
          </a:xfrm>
          <a:prstGeom prst="rect">
            <a:avLst/>
          </a:prstGeom>
        </p:spPr>
        <p:txBody>
          <a:bodyPr vert="horz" lIns="101870" tIns="50935" rIns="101870" bIns="50935"/>
          <a:lstStyle>
            <a:lvl1pPr algn="l" eaLnBrk="1" latinLnBrk="0" hangingPunct="1">
              <a:defRPr kumimoji="0" sz="900">
                <a:solidFill>
                  <a:schemeClr val="accent2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0B49B218-FC65-47D8-BFFB-AE06CD1EEDFD}" type="datetimeFigureOut">
              <a:rPr lang="pt-BR"/>
              <a:pPr>
                <a:defRPr/>
              </a:pPr>
              <a:t>08/10/2025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5783582" y="694478"/>
            <a:ext cx="1458119" cy="518160"/>
          </a:xfrm>
          <a:prstGeom prst="rect">
            <a:avLst/>
          </a:prstGeom>
        </p:spPr>
        <p:txBody>
          <a:bodyPr vert="horz" lIns="101870" tIns="50935" rIns="101870" bIns="50935"/>
          <a:lstStyle>
            <a:lvl1pPr algn="r" eaLnBrk="1" latinLnBrk="0" hangingPunct="1">
              <a:defRPr kumimoji="0" sz="900">
                <a:solidFill>
                  <a:schemeClr val="accent2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8991442" y="1801"/>
            <a:ext cx="838200" cy="415607"/>
          </a:xfrm>
          <a:prstGeom prst="rect">
            <a:avLst/>
          </a:prstGeom>
        </p:spPr>
        <p:txBody>
          <a:bodyPr vert="horz" wrap="square" lIns="101870" tIns="50935" rIns="101870" bIns="5093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9321DE0-0861-4ADF-A6D8-B62BAC5B79F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5" r:id="rId1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5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Trebuchet MS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Trebuchet MS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Trebuchet MS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Trebuchet MS" pitchFamily="34" charset="0"/>
        </a:defRPr>
      </a:lvl5pPr>
      <a:lvl6pPr marL="509352" algn="l" rtl="0" eaLnBrk="1" fontAlgn="base" hangingPunct="1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Trebuchet MS" pitchFamily="34" charset="0"/>
        </a:defRPr>
      </a:lvl6pPr>
      <a:lvl7pPr marL="1018705" algn="l" rtl="0" eaLnBrk="1" fontAlgn="base" hangingPunct="1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Trebuchet MS" pitchFamily="34" charset="0"/>
        </a:defRPr>
      </a:lvl7pPr>
      <a:lvl8pPr marL="1528058" algn="l" rtl="0" eaLnBrk="1" fontAlgn="base" hangingPunct="1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Trebuchet MS" pitchFamily="34" charset="0"/>
        </a:defRPr>
      </a:lvl8pPr>
      <a:lvl9pPr marL="2037411" algn="l" rtl="0" eaLnBrk="1" fontAlgn="base" hangingPunct="1">
        <a:spcBef>
          <a:spcPct val="0"/>
        </a:spcBef>
        <a:spcAft>
          <a:spcPct val="0"/>
        </a:spcAft>
        <a:defRPr sz="4500">
          <a:solidFill>
            <a:schemeClr val="tx2"/>
          </a:solidFill>
          <a:latin typeface="Trebuchet MS" pitchFamily="34" charset="0"/>
        </a:defRPr>
      </a:lvl9pPr>
    </p:titleStyle>
    <p:bodyStyle>
      <a:lvl1pPr marL="406774" indent="-284743" algn="l" rtl="0" eaLnBrk="1" fontAlgn="base" hangingPunct="1">
        <a:spcBef>
          <a:spcPts val="334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32194" indent="-274131" algn="l" rtl="0" eaLnBrk="1" fontAlgn="base" hangingPunct="1">
        <a:spcBef>
          <a:spcPts val="334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9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027549" indent="-244064" algn="l" rtl="0" eaLnBrk="1" fontAlgn="base" hangingPunct="1">
        <a:spcBef>
          <a:spcPts val="334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7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314060" indent="-222842" algn="l" rtl="0" eaLnBrk="1" fontAlgn="base" hangingPunct="1">
        <a:spcBef>
          <a:spcPts val="334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5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547513" indent="-203388" algn="l" rtl="0" eaLnBrk="1" fontAlgn="base" hangingPunct="1">
        <a:spcBef>
          <a:spcPts val="334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sz="2200" kern="1200">
          <a:solidFill>
            <a:srgbClr val="A04DA3"/>
          </a:solidFill>
          <a:latin typeface="+mn-lt"/>
          <a:ea typeface="+mn-ea"/>
          <a:cs typeface="+mn-cs"/>
        </a:defRPr>
      </a:lvl5pPr>
      <a:lvl6pPr marL="1792922" indent="-203741" algn="l" rtl="0" eaLnBrk="1" latinLnBrk="0" hangingPunct="1">
        <a:spcBef>
          <a:spcPts val="334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2037411" indent="-203741" algn="l" rtl="0" eaLnBrk="1" latinLnBrk="0" hangingPunct="1">
        <a:spcBef>
          <a:spcPts val="334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261525" indent="-203741" algn="l" rtl="0" eaLnBrk="1" latinLnBrk="0" hangingPunct="1">
        <a:spcBef>
          <a:spcPts val="334"/>
        </a:spcBef>
        <a:buClr>
          <a:schemeClr val="accent3"/>
        </a:buClr>
        <a:buFont typeface="Georgia"/>
        <a:buChar char="◦"/>
        <a:defRPr kumimoji="0" sz="17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495828" indent="-203741" algn="l" rtl="0" eaLnBrk="1" latinLnBrk="0" hangingPunct="1">
        <a:spcBef>
          <a:spcPts val="334"/>
        </a:spcBef>
        <a:buClr>
          <a:schemeClr val="accent3"/>
        </a:buClr>
        <a:buFont typeface="Georgia"/>
        <a:buChar char="◦"/>
        <a:defRPr kumimoji="0" sz="16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0935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1870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52805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3741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4676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05611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56546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07482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ied.unicamp.br/biblioteca/design-e-avaliacao-de-interfaces-humano-computador/" TargetMode="Externa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pc="-5" dirty="0"/>
              <a:t>Heurísticas de Nielsen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pc="-5" dirty="0">
                <a:solidFill>
                  <a:srgbClr val="3F3F3F"/>
                </a:solidFill>
                <a:latin typeface="Arial"/>
                <a:cs typeface="Arial"/>
              </a:rPr>
              <a:t>Princípios Gerais </a:t>
            </a:r>
            <a:r>
              <a:rPr lang="pt-BR" dirty="0">
                <a:solidFill>
                  <a:srgbClr val="3F3F3F"/>
                </a:solidFill>
                <a:latin typeface="Arial"/>
                <a:cs typeface="Arial"/>
              </a:rPr>
              <a:t>De </a:t>
            </a:r>
            <a:r>
              <a:rPr lang="pt-BR" spc="-5" dirty="0">
                <a:solidFill>
                  <a:srgbClr val="3F3F3F"/>
                </a:solidFill>
                <a:latin typeface="Arial"/>
                <a:cs typeface="Arial"/>
              </a:rPr>
              <a:t>Bom </a:t>
            </a:r>
            <a:r>
              <a:rPr lang="pt-BR" spc="-10" dirty="0">
                <a:solidFill>
                  <a:srgbClr val="3F3F3F"/>
                </a:solidFill>
                <a:latin typeface="Arial"/>
                <a:cs typeface="Arial"/>
              </a:rPr>
              <a:t>Design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2683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95946" y="689060"/>
            <a:ext cx="4509452" cy="704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5" dirty="0">
                <a:latin typeface="Trebuchet MS (Títulos)"/>
                <a:cs typeface="Arial"/>
              </a:rPr>
              <a:t>Design de</a:t>
            </a:r>
            <a:r>
              <a:rPr b="1" spc="-85" dirty="0">
                <a:latin typeface="Trebuchet MS (Títulos)"/>
                <a:cs typeface="Arial"/>
              </a:rPr>
              <a:t> </a:t>
            </a:r>
            <a:r>
              <a:rPr b="1" spc="-5" dirty="0">
                <a:latin typeface="Trebuchet MS (Títulos)"/>
                <a:cs typeface="Arial"/>
              </a:rPr>
              <a:t>IHC</a:t>
            </a:r>
            <a:endParaRPr dirty="0">
              <a:latin typeface="Trebuchet MS (Títulos)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0" y="1905000"/>
            <a:ext cx="4770120" cy="138176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6235" indent="-344170">
              <a:lnSpc>
                <a:spcPct val="100000"/>
              </a:lnSpc>
              <a:spcBef>
                <a:spcPts val="590"/>
              </a:spcBef>
              <a:buChar char="•"/>
              <a:tabLst>
                <a:tab pos="355600" algn="l"/>
                <a:tab pos="356870" algn="l"/>
              </a:tabLst>
            </a:pPr>
            <a:r>
              <a:rPr sz="2000" dirty="0">
                <a:latin typeface="Arial"/>
                <a:cs typeface="Arial"/>
              </a:rPr>
              <a:t>O </a:t>
            </a:r>
            <a:r>
              <a:rPr sz="2000" spc="-5" dirty="0">
                <a:latin typeface="Arial"/>
                <a:cs typeface="Arial"/>
              </a:rPr>
              <a:t>que </a:t>
            </a:r>
            <a:r>
              <a:rPr sz="2000" dirty="0">
                <a:latin typeface="Arial"/>
                <a:cs typeface="Arial"/>
              </a:rPr>
              <a:t>é </a:t>
            </a:r>
            <a:r>
              <a:rPr sz="2000" b="1" spc="-5" dirty="0">
                <a:latin typeface="Arial"/>
                <a:cs typeface="Arial"/>
              </a:rPr>
              <a:t>design </a:t>
            </a:r>
            <a:r>
              <a:rPr sz="2000" dirty="0">
                <a:latin typeface="Arial"/>
                <a:cs typeface="Arial"/>
              </a:rPr>
              <a:t>de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IHC?</a:t>
            </a:r>
          </a:p>
          <a:p>
            <a:pPr marL="755650" lvl="1" indent="-286385">
              <a:lnSpc>
                <a:spcPct val="100000"/>
              </a:lnSpc>
              <a:spcBef>
                <a:spcPts val="445"/>
              </a:spcBef>
              <a:buChar char="–"/>
              <a:tabLst>
                <a:tab pos="755015" algn="l"/>
                <a:tab pos="756285" algn="l"/>
              </a:tabLst>
            </a:pPr>
            <a:r>
              <a:rPr sz="1800" dirty="0">
                <a:latin typeface="Arial"/>
                <a:cs typeface="Arial"/>
              </a:rPr>
              <a:t>Também </a:t>
            </a:r>
            <a:r>
              <a:rPr sz="1800" spc="-5" dirty="0">
                <a:latin typeface="Arial"/>
                <a:cs typeface="Arial"/>
              </a:rPr>
              <a:t>chamado </a:t>
            </a:r>
            <a:r>
              <a:rPr sz="1800" spc="-10" dirty="0">
                <a:latin typeface="Arial"/>
                <a:cs typeface="Arial"/>
              </a:rPr>
              <a:t>de </a:t>
            </a:r>
            <a:r>
              <a:rPr sz="1800" spc="-5" dirty="0">
                <a:latin typeface="Arial"/>
                <a:cs typeface="Arial"/>
              </a:rPr>
              <a:t>‘</a:t>
            </a:r>
            <a:r>
              <a:rPr sz="1800" b="1" spc="-5" dirty="0">
                <a:latin typeface="Arial"/>
                <a:cs typeface="Arial"/>
              </a:rPr>
              <a:t>projeto</a:t>
            </a:r>
            <a:r>
              <a:rPr sz="1800" spc="-5" dirty="0">
                <a:latin typeface="Arial"/>
                <a:cs typeface="Arial"/>
              </a:rPr>
              <a:t>’ </a:t>
            </a:r>
            <a:r>
              <a:rPr sz="1800" spc="-10" dirty="0">
                <a:latin typeface="Arial"/>
                <a:cs typeface="Arial"/>
              </a:rPr>
              <a:t>de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IHC.</a:t>
            </a:r>
            <a:endParaRPr sz="18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Arial"/>
              <a:buChar char="–"/>
            </a:pPr>
            <a:endParaRPr sz="2600" dirty="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buChar char="–"/>
              <a:tabLst>
                <a:tab pos="755015" algn="l"/>
                <a:tab pos="756285" algn="l"/>
              </a:tabLst>
            </a:pPr>
            <a:r>
              <a:rPr sz="1800" dirty="0">
                <a:latin typeface="Arial"/>
                <a:cs typeface="Arial"/>
              </a:rPr>
              <a:t>DESIGN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19334" y="4877604"/>
            <a:ext cx="5267960" cy="146258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469265" marR="5080" lvl="1">
              <a:lnSpc>
                <a:spcPct val="100000"/>
              </a:lnSpc>
              <a:spcBef>
                <a:spcPts val="390"/>
              </a:spcBef>
              <a:tabLst>
                <a:tab pos="698500" algn="l"/>
                <a:tab pos="699135" algn="l"/>
              </a:tabLst>
            </a:pPr>
            <a:r>
              <a:rPr sz="2200" spc="-5" dirty="0" err="1">
                <a:latin typeface="Arial"/>
                <a:cs typeface="Arial"/>
              </a:rPr>
              <a:t>Estamos</a:t>
            </a:r>
            <a:r>
              <a:rPr sz="2200" spc="-5" dirty="0">
                <a:latin typeface="Arial"/>
                <a:cs typeface="Arial"/>
              </a:rPr>
              <a:t> falando </a:t>
            </a:r>
            <a:r>
              <a:rPr sz="2200" dirty="0">
                <a:latin typeface="Arial"/>
                <a:cs typeface="Arial"/>
              </a:rPr>
              <a:t>da </a:t>
            </a:r>
            <a:r>
              <a:rPr sz="2200" spc="-5" dirty="0">
                <a:latin typeface="Arial"/>
                <a:cs typeface="Arial"/>
              </a:rPr>
              <a:t>EXPERIÊNCIA </a:t>
            </a:r>
            <a:r>
              <a:rPr sz="2200" spc="-10" dirty="0">
                <a:latin typeface="Arial"/>
                <a:cs typeface="Arial"/>
              </a:rPr>
              <a:t>DO </a:t>
            </a:r>
            <a:r>
              <a:rPr sz="2200" spc="-5" dirty="0">
                <a:latin typeface="Arial"/>
                <a:cs typeface="Arial"/>
              </a:rPr>
              <a:t>USUÁRIO  (design </a:t>
            </a:r>
            <a:r>
              <a:rPr sz="2200" dirty="0">
                <a:latin typeface="Arial"/>
                <a:cs typeface="Arial"/>
              </a:rPr>
              <a:t>de</a:t>
            </a:r>
            <a:r>
              <a:rPr sz="2200" spc="-5" dirty="0">
                <a:latin typeface="Arial"/>
                <a:cs typeface="Arial"/>
              </a:rPr>
              <a:t> interação)</a:t>
            </a:r>
            <a:endParaRPr sz="2200" dirty="0">
              <a:latin typeface="Arial"/>
              <a:cs typeface="Arial"/>
            </a:endParaRPr>
          </a:p>
          <a:p>
            <a:pPr marL="328295" algn="ctr">
              <a:lnSpc>
                <a:spcPct val="100000"/>
              </a:lnSpc>
              <a:spcBef>
                <a:spcPts val="334"/>
              </a:spcBef>
              <a:tabLst>
                <a:tab pos="556895" algn="l"/>
              </a:tabLst>
            </a:pPr>
            <a:r>
              <a:rPr sz="2200" dirty="0">
                <a:latin typeface="Arial"/>
                <a:cs typeface="Arial"/>
              </a:rPr>
              <a:t>–	Isto TEM A </a:t>
            </a:r>
            <a:r>
              <a:rPr sz="2200" spc="-5" dirty="0">
                <a:latin typeface="Arial"/>
                <a:cs typeface="Arial"/>
              </a:rPr>
              <a:t>VER </a:t>
            </a:r>
            <a:r>
              <a:rPr sz="2200" dirty="0">
                <a:latin typeface="Arial"/>
                <a:cs typeface="Arial"/>
              </a:rPr>
              <a:t>COM o </a:t>
            </a:r>
            <a:r>
              <a:rPr sz="2200" spc="-5" dirty="0">
                <a:latin typeface="Arial"/>
                <a:cs typeface="Arial"/>
              </a:rPr>
              <a:t>projeto do</a:t>
            </a:r>
            <a:r>
              <a:rPr sz="2200" spc="-1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software,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76400" y="6646171"/>
            <a:ext cx="399796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  <a:tabLst>
                <a:tab pos="240665" algn="l"/>
              </a:tabLst>
            </a:pPr>
            <a:r>
              <a:rPr sz="1400" dirty="0">
                <a:latin typeface="Arial"/>
                <a:cs typeface="Arial"/>
              </a:rPr>
              <a:t>–</a:t>
            </a:r>
            <a:r>
              <a:rPr sz="2200" dirty="0">
                <a:latin typeface="Arial"/>
                <a:cs typeface="Arial"/>
              </a:rPr>
              <a:t>Mas </a:t>
            </a:r>
            <a:r>
              <a:rPr sz="2200" spc="-5" dirty="0">
                <a:latin typeface="Arial"/>
                <a:cs typeface="Arial"/>
              </a:rPr>
              <a:t>NÃO </a:t>
            </a:r>
            <a:r>
              <a:rPr sz="2200" dirty="0">
                <a:latin typeface="Arial"/>
                <a:cs typeface="Arial"/>
              </a:rPr>
              <a:t>É </a:t>
            </a:r>
            <a:r>
              <a:rPr sz="2200" spc="-5" dirty="0">
                <a:latin typeface="Arial"/>
                <a:cs typeface="Arial"/>
              </a:rPr>
              <a:t>SINÔNIMO </a:t>
            </a:r>
            <a:r>
              <a:rPr sz="2200" spc="-10" dirty="0">
                <a:latin typeface="Arial"/>
                <a:cs typeface="Arial"/>
              </a:rPr>
              <a:t>DE </a:t>
            </a:r>
            <a:r>
              <a:rPr sz="2200" dirty="0">
                <a:latin typeface="Arial"/>
                <a:cs typeface="Arial"/>
              </a:rPr>
              <a:t>projeto de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software</a:t>
            </a:r>
            <a:endParaRPr sz="2200" dirty="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307580" y="3579876"/>
            <a:ext cx="2133600" cy="2209800"/>
            <a:chOff x="7307580" y="3579876"/>
            <a:chExt cx="2133600" cy="2209800"/>
          </a:xfrm>
        </p:grpSpPr>
        <p:sp>
          <p:nvSpPr>
            <p:cNvPr id="12" name="object 12"/>
            <p:cNvSpPr/>
            <p:nvPr/>
          </p:nvSpPr>
          <p:spPr>
            <a:xfrm>
              <a:off x="7388351" y="3599688"/>
              <a:ext cx="2034539" cy="2136775"/>
            </a:xfrm>
            <a:custGeom>
              <a:avLst/>
              <a:gdLst/>
              <a:ahLst/>
              <a:cxnLst/>
              <a:rect l="l" t="t" r="r" b="b"/>
              <a:pathLst>
                <a:path w="2034540" h="2136775">
                  <a:moveTo>
                    <a:pt x="1758696" y="1655064"/>
                  </a:moveTo>
                  <a:lnTo>
                    <a:pt x="365760" y="1655064"/>
                  </a:lnTo>
                  <a:lnTo>
                    <a:pt x="316162" y="1650621"/>
                  </a:lnTo>
                  <a:lnTo>
                    <a:pt x="269486" y="1637812"/>
                  </a:lnTo>
                  <a:lnTo>
                    <a:pt x="226511" y="1617415"/>
                  </a:lnTo>
                  <a:lnTo>
                    <a:pt x="188014" y="1590207"/>
                  </a:lnTo>
                  <a:lnTo>
                    <a:pt x="154772" y="1556965"/>
                  </a:lnTo>
                  <a:lnTo>
                    <a:pt x="127564" y="1518468"/>
                  </a:lnTo>
                  <a:lnTo>
                    <a:pt x="107167" y="1475493"/>
                  </a:lnTo>
                  <a:lnTo>
                    <a:pt x="94358" y="1428817"/>
                  </a:lnTo>
                  <a:lnTo>
                    <a:pt x="89916" y="1379219"/>
                  </a:lnTo>
                  <a:lnTo>
                    <a:pt x="89916" y="275843"/>
                  </a:lnTo>
                  <a:lnTo>
                    <a:pt x="94358" y="226246"/>
                  </a:lnTo>
                  <a:lnTo>
                    <a:pt x="107167" y="179570"/>
                  </a:lnTo>
                  <a:lnTo>
                    <a:pt x="127564" y="136595"/>
                  </a:lnTo>
                  <a:lnTo>
                    <a:pt x="154772" y="98098"/>
                  </a:lnTo>
                  <a:lnTo>
                    <a:pt x="188014" y="64856"/>
                  </a:lnTo>
                  <a:lnTo>
                    <a:pt x="226511" y="37648"/>
                  </a:lnTo>
                  <a:lnTo>
                    <a:pt x="269486" y="17251"/>
                  </a:lnTo>
                  <a:lnTo>
                    <a:pt x="316162" y="4442"/>
                  </a:lnTo>
                  <a:lnTo>
                    <a:pt x="365760" y="0"/>
                  </a:lnTo>
                  <a:lnTo>
                    <a:pt x="1758696" y="0"/>
                  </a:lnTo>
                  <a:lnTo>
                    <a:pt x="1808293" y="4442"/>
                  </a:lnTo>
                  <a:lnTo>
                    <a:pt x="1854969" y="17251"/>
                  </a:lnTo>
                  <a:lnTo>
                    <a:pt x="1897944" y="37648"/>
                  </a:lnTo>
                  <a:lnTo>
                    <a:pt x="1936441" y="64856"/>
                  </a:lnTo>
                  <a:lnTo>
                    <a:pt x="1969683" y="98098"/>
                  </a:lnTo>
                  <a:lnTo>
                    <a:pt x="1996891" y="136595"/>
                  </a:lnTo>
                  <a:lnTo>
                    <a:pt x="2017288" y="179570"/>
                  </a:lnTo>
                  <a:lnTo>
                    <a:pt x="2030097" y="226246"/>
                  </a:lnTo>
                  <a:lnTo>
                    <a:pt x="2034540" y="275843"/>
                  </a:lnTo>
                  <a:lnTo>
                    <a:pt x="2034540" y="1379219"/>
                  </a:lnTo>
                  <a:lnTo>
                    <a:pt x="2030097" y="1428817"/>
                  </a:lnTo>
                  <a:lnTo>
                    <a:pt x="2017288" y="1475493"/>
                  </a:lnTo>
                  <a:lnTo>
                    <a:pt x="1996891" y="1518468"/>
                  </a:lnTo>
                  <a:lnTo>
                    <a:pt x="1969683" y="1556965"/>
                  </a:lnTo>
                  <a:lnTo>
                    <a:pt x="1936441" y="1590207"/>
                  </a:lnTo>
                  <a:lnTo>
                    <a:pt x="1897944" y="1617415"/>
                  </a:lnTo>
                  <a:lnTo>
                    <a:pt x="1854969" y="1637812"/>
                  </a:lnTo>
                  <a:lnTo>
                    <a:pt x="1808293" y="1650621"/>
                  </a:lnTo>
                  <a:lnTo>
                    <a:pt x="1758696" y="1655064"/>
                  </a:lnTo>
                  <a:close/>
                </a:path>
                <a:path w="2034540" h="2136775">
                  <a:moveTo>
                    <a:pt x="0" y="2136648"/>
                  </a:moveTo>
                  <a:lnTo>
                    <a:pt x="413003" y="1655064"/>
                  </a:lnTo>
                  <a:lnTo>
                    <a:pt x="899160" y="1655064"/>
                  </a:lnTo>
                  <a:lnTo>
                    <a:pt x="0" y="2136648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307580" y="3579876"/>
              <a:ext cx="2133600" cy="2209800"/>
            </a:xfrm>
            <a:custGeom>
              <a:avLst/>
              <a:gdLst/>
              <a:ahLst/>
              <a:cxnLst/>
              <a:rect l="l" t="t" r="r" b="b"/>
              <a:pathLst>
                <a:path w="2133600" h="2209800">
                  <a:moveTo>
                    <a:pt x="1926335" y="12700"/>
                  </a:moveTo>
                  <a:lnTo>
                    <a:pt x="344423" y="12700"/>
                  </a:lnTo>
                  <a:lnTo>
                    <a:pt x="371855" y="0"/>
                  </a:lnTo>
                  <a:lnTo>
                    <a:pt x="1912619" y="0"/>
                  </a:lnTo>
                  <a:lnTo>
                    <a:pt x="1926335" y="12700"/>
                  </a:lnTo>
                  <a:close/>
                </a:path>
                <a:path w="2133600" h="2209800">
                  <a:moveTo>
                    <a:pt x="1967484" y="25400"/>
                  </a:moveTo>
                  <a:lnTo>
                    <a:pt x="318516" y="25400"/>
                  </a:lnTo>
                  <a:lnTo>
                    <a:pt x="330707" y="12700"/>
                  </a:lnTo>
                  <a:lnTo>
                    <a:pt x="1940051" y="12700"/>
                  </a:lnTo>
                  <a:lnTo>
                    <a:pt x="1967484" y="25400"/>
                  </a:lnTo>
                  <a:close/>
                </a:path>
                <a:path w="2133600" h="2209800">
                  <a:moveTo>
                    <a:pt x="447328" y="1689100"/>
                  </a:moveTo>
                  <a:lnTo>
                    <a:pt x="400812" y="1689100"/>
                  </a:lnTo>
                  <a:lnTo>
                    <a:pt x="387096" y="1676400"/>
                  </a:lnTo>
                  <a:lnTo>
                    <a:pt x="371855" y="1676400"/>
                  </a:lnTo>
                  <a:lnTo>
                    <a:pt x="330707" y="1663700"/>
                  </a:lnTo>
                  <a:lnTo>
                    <a:pt x="318516" y="1663700"/>
                  </a:lnTo>
                  <a:lnTo>
                    <a:pt x="304800" y="1651000"/>
                  </a:lnTo>
                  <a:lnTo>
                    <a:pt x="259080" y="1625600"/>
                  </a:lnTo>
                  <a:lnTo>
                    <a:pt x="237743" y="1600200"/>
                  </a:lnTo>
                  <a:lnTo>
                    <a:pt x="217932" y="1587500"/>
                  </a:lnTo>
                  <a:lnTo>
                    <a:pt x="201167" y="1562100"/>
                  </a:lnTo>
                  <a:lnTo>
                    <a:pt x="187451" y="1536700"/>
                  </a:lnTo>
                  <a:lnTo>
                    <a:pt x="179832" y="1524000"/>
                  </a:lnTo>
                  <a:lnTo>
                    <a:pt x="173735" y="1511300"/>
                  </a:lnTo>
                  <a:lnTo>
                    <a:pt x="160019" y="1473200"/>
                  </a:lnTo>
                  <a:lnTo>
                    <a:pt x="156971" y="1447800"/>
                  </a:lnTo>
                  <a:lnTo>
                    <a:pt x="153923" y="1435100"/>
                  </a:lnTo>
                  <a:lnTo>
                    <a:pt x="150875" y="1409700"/>
                  </a:lnTo>
                  <a:lnTo>
                    <a:pt x="150875" y="279400"/>
                  </a:lnTo>
                  <a:lnTo>
                    <a:pt x="153923" y="241300"/>
                  </a:lnTo>
                  <a:lnTo>
                    <a:pt x="173735" y="177800"/>
                  </a:lnTo>
                  <a:lnTo>
                    <a:pt x="187451" y="152400"/>
                  </a:lnTo>
                  <a:lnTo>
                    <a:pt x="201167" y="127000"/>
                  </a:lnTo>
                  <a:lnTo>
                    <a:pt x="217932" y="101600"/>
                  </a:lnTo>
                  <a:lnTo>
                    <a:pt x="237743" y="76200"/>
                  </a:lnTo>
                  <a:lnTo>
                    <a:pt x="259080" y="63500"/>
                  </a:lnTo>
                  <a:lnTo>
                    <a:pt x="281939" y="38100"/>
                  </a:lnTo>
                  <a:lnTo>
                    <a:pt x="304800" y="25400"/>
                  </a:lnTo>
                  <a:lnTo>
                    <a:pt x="1979675" y="25400"/>
                  </a:lnTo>
                  <a:lnTo>
                    <a:pt x="2004059" y="38100"/>
                  </a:lnTo>
                  <a:lnTo>
                    <a:pt x="370332" y="38100"/>
                  </a:lnTo>
                  <a:lnTo>
                    <a:pt x="345948" y="50800"/>
                  </a:lnTo>
                  <a:lnTo>
                    <a:pt x="347471" y="50800"/>
                  </a:lnTo>
                  <a:lnTo>
                    <a:pt x="335280" y="63500"/>
                  </a:lnTo>
                  <a:lnTo>
                    <a:pt x="324612" y="63500"/>
                  </a:lnTo>
                  <a:lnTo>
                    <a:pt x="301751" y="76200"/>
                  </a:lnTo>
                  <a:lnTo>
                    <a:pt x="303275" y="76200"/>
                  </a:lnTo>
                  <a:lnTo>
                    <a:pt x="281939" y="88900"/>
                  </a:lnTo>
                  <a:lnTo>
                    <a:pt x="283464" y="88900"/>
                  </a:lnTo>
                  <a:lnTo>
                    <a:pt x="273558" y="101600"/>
                  </a:lnTo>
                  <a:lnTo>
                    <a:pt x="265175" y="101600"/>
                  </a:lnTo>
                  <a:lnTo>
                    <a:pt x="246887" y="127000"/>
                  </a:lnTo>
                  <a:lnTo>
                    <a:pt x="248412" y="127000"/>
                  </a:lnTo>
                  <a:lnTo>
                    <a:pt x="240791" y="139700"/>
                  </a:lnTo>
                  <a:lnTo>
                    <a:pt x="233171" y="139700"/>
                  </a:lnTo>
                  <a:lnTo>
                    <a:pt x="219455" y="165100"/>
                  </a:lnTo>
                  <a:lnTo>
                    <a:pt x="220980" y="165100"/>
                  </a:lnTo>
                  <a:lnTo>
                    <a:pt x="208787" y="190500"/>
                  </a:lnTo>
                  <a:lnTo>
                    <a:pt x="210312" y="190500"/>
                  </a:lnTo>
                  <a:lnTo>
                    <a:pt x="204216" y="203200"/>
                  </a:lnTo>
                  <a:lnTo>
                    <a:pt x="205739" y="203200"/>
                  </a:lnTo>
                  <a:lnTo>
                    <a:pt x="196596" y="228600"/>
                  </a:lnTo>
                  <a:lnTo>
                    <a:pt x="198119" y="228600"/>
                  </a:lnTo>
                  <a:lnTo>
                    <a:pt x="192023" y="254000"/>
                  </a:lnTo>
                  <a:lnTo>
                    <a:pt x="188975" y="279400"/>
                  </a:lnTo>
                  <a:lnTo>
                    <a:pt x="188975" y="1409700"/>
                  </a:lnTo>
                  <a:lnTo>
                    <a:pt x="192023" y="1435100"/>
                  </a:lnTo>
                  <a:lnTo>
                    <a:pt x="198119" y="1460500"/>
                  </a:lnTo>
                  <a:lnTo>
                    <a:pt x="196596" y="1460500"/>
                  </a:lnTo>
                  <a:lnTo>
                    <a:pt x="205739" y="1485900"/>
                  </a:lnTo>
                  <a:lnTo>
                    <a:pt x="204216" y="1485900"/>
                  </a:lnTo>
                  <a:lnTo>
                    <a:pt x="210312" y="1498600"/>
                  </a:lnTo>
                  <a:lnTo>
                    <a:pt x="208787" y="1498600"/>
                  </a:lnTo>
                  <a:lnTo>
                    <a:pt x="214883" y="1511300"/>
                  </a:lnTo>
                  <a:lnTo>
                    <a:pt x="219455" y="1511300"/>
                  </a:lnTo>
                  <a:lnTo>
                    <a:pt x="233171" y="1536700"/>
                  </a:lnTo>
                  <a:lnTo>
                    <a:pt x="248412" y="1562100"/>
                  </a:lnTo>
                  <a:lnTo>
                    <a:pt x="246887" y="1562100"/>
                  </a:lnTo>
                  <a:lnTo>
                    <a:pt x="265175" y="1574800"/>
                  </a:lnTo>
                  <a:lnTo>
                    <a:pt x="263651" y="1574800"/>
                  </a:lnTo>
                  <a:lnTo>
                    <a:pt x="283464" y="1587500"/>
                  </a:lnTo>
                  <a:lnTo>
                    <a:pt x="281939" y="1587500"/>
                  </a:lnTo>
                  <a:lnTo>
                    <a:pt x="303275" y="1600200"/>
                  </a:lnTo>
                  <a:lnTo>
                    <a:pt x="301751" y="1600200"/>
                  </a:lnTo>
                  <a:lnTo>
                    <a:pt x="324612" y="1625600"/>
                  </a:lnTo>
                  <a:lnTo>
                    <a:pt x="345948" y="1625600"/>
                  </a:lnTo>
                  <a:lnTo>
                    <a:pt x="358139" y="1638300"/>
                  </a:lnTo>
                  <a:lnTo>
                    <a:pt x="381000" y="1638300"/>
                  </a:lnTo>
                  <a:lnTo>
                    <a:pt x="394716" y="1651000"/>
                  </a:lnTo>
                  <a:lnTo>
                    <a:pt x="480059" y="1651000"/>
                  </a:lnTo>
                  <a:lnTo>
                    <a:pt x="447328" y="1689100"/>
                  </a:lnTo>
                  <a:close/>
                </a:path>
                <a:path w="2133600" h="2209800">
                  <a:moveTo>
                    <a:pt x="2020823" y="114300"/>
                  </a:moveTo>
                  <a:lnTo>
                    <a:pt x="2002535" y="88900"/>
                  </a:lnTo>
                  <a:lnTo>
                    <a:pt x="1981200" y="76200"/>
                  </a:lnTo>
                  <a:lnTo>
                    <a:pt x="1982723" y="76200"/>
                  </a:lnTo>
                  <a:lnTo>
                    <a:pt x="1961387" y="63500"/>
                  </a:lnTo>
                  <a:lnTo>
                    <a:pt x="1950719" y="63500"/>
                  </a:lnTo>
                  <a:lnTo>
                    <a:pt x="1938527" y="50800"/>
                  </a:lnTo>
                  <a:lnTo>
                    <a:pt x="1927859" y="50800"/>
                  </a:lnTo>
                  <a:lnTo>
                    <a:pt x="1914143" y="38100"/>
                  </a:lnTo>
                  <a:lnTo>
                    <a:pt x="2004059" y="38100"/>
                  </a:lnTo>
                  <a:lnTo>
                    <a:pt x="2026919" y="63500"/>
                  </a:lnTo>
                  <a:lnTo>
                    <a:pt x="2048255" y="76200"/>
                  </a:lnTo>
                  <a:lnTo>
                    <a:pt x="2066543" y="101600"/>
                  </a:lnTo>
                  <a:lnTo>
                    <a:pt x="2020823" y="101600"/>
                  </a:lnTo>
                  <a:lnTo>
                    <a:pt x="2020823" y="114300"/>
                  </a:lnTo>
                  <a:close/>
                </a:path>
                <a:path w="2133600" h="2209800">
                  <a:moveTo>
                    <a:pt x="263651" y="114300"/>
                  </a:moveTo>
                  <a:lnTo>
                    <a:pt x="265175" y="101600"/>
                  </a:lnTo>
                  <a:lnTo>
                    <a:pt x="273558" y="101600"/>
                  </a:lnTo>
                  <a:lnTo>
                    <a:pt x="263651" y="114300"/>
                  </a:lnTo>
                  <a:close/>
                </a:path>
                <a:path w="2133600" h="2209800">
                  <a:moveTo>
                    <a:pt x="2052827" y="152400"/>
                  </a:moveTo>
                  <a:lnTo>
                    <a:pt x="2036064" y="127000"/>
                  </a:lnTo>
                  <a:lnTo>
                    <a:pt x="2037587" y="127000"/>
                  </a:lnTo>
                  <a:lnTo>
                    <a:pt x="2020823" y="101600"/>
                  </a:lnTo>
                  <a:lnTo>
                    <a:pt x="2066543" y="101600"/>
                  </a:lnTo>
                  <a:lnTo>
                    <a:pt x="2083307" y="127000"/>
                  </a:lnTo>
                  <a:lnTo>
                    <a:pt x="2090927" y="139700"/>
                  </a:lnTo>
                  <a:lnTo>
                    <a:pt x="2051303" y="139700"/>
                  </a:lnTo>
                  <a:lnTo>
                    <a:pt x="2052827" y="152400"/>
                  </a:lnTo>
                  <a:close/>
                </a:path>
                <a:path w="2133600" h="2209800">
                  <a:moveTo>
                    <a:pt x="233171" y="152400"/>
                  </a:moveTo>
                  <a:lnTo>
                    <a:pt x="233171" y="139700"/>
                  </a:lnTo>
                  <a:lnTo>
                    <a:pt x="240791" y="139700"/>
                  </a:lnTo>
                  <a:lnTo>
                    <a:pt x="233171" y="152400"/>
                  </a:lnTo>
                  <a:close/>
                </a:path>
                <a:path w="2133600" h="2209800">
                  <a:moveTo>
                    <a:pt x="2110740" y="1511300"/>
                  </a:moveTo>
                  <a:lnTo>
                    <a:pt x="2071116" y="1511300"/>
                  </a:lnTo>
                  <a:lnTo>
                    <a:pt x="2084832" y="1473200"/>
                  </a:lnTo>
                  <a:lnTo>
                    <a:pt x="2090927" y="1447800"/>
                  </a:lnTo>
                  <a:lnTo>
                    <a:pt x="2095500" y="1409700"/>
                  </a:lnTo>
                  <a:lnTo>
                    <a:pt x="2095500" y="279400"/>
                  </a:lnTo>
                  <a:lnTo>
                    <a:pt x="2090927" y="241300"/>
                  </a:lnTo>
                  <a:lnTo>
                    <a:pt x="2071116" y="177800"/>
                  </a:lnTo>
                  <a:lnTo>
                    <a:pt x="2051303" y="139700"/>
                  </a:lnTo>
                  <a:lnTo>
                    <a:pt x="2090927" y="139700"/>
                  </a:lnTo>
                  <a:lnTo>
                    <a:pt x="2116835" y="190500"/>
                  </a:lnTo>
                  <a:lnTo>
                    <a:pt x="2130551" y="241300"/>
                  </a:lnTo>
                  <a:lnTo>
                    <a:pt x="2133600" y="279400"/>
                  </a:lnTo>
                  <a:lnTo>
                    <a:pt x="2133600" y="1409700"/>
                  </a:lnTo>
                  <a:lnTo>
                    <a:pt x="2130551" y="1435100"/>
                  </a:lnTo>
                  <a:lnTo>
                    <a:pt x="2127503" y="1447800"/>
                  </a:lnTo>
                  <a:lnTo>
                    <a:pt x="2124455" y="1473200"/>
                  </a:lnTo>
                  <a:lnTo>
                    <a:pt x="2121407" y="1485900"/>
                  </a:lnTo>
                  <a:lnTo>
                    <a:pt x="2116835" y="1498600"/>
                  </a:lnTo>
                  <a:lnTo>
                    <a:pt x="2110740" y="1511300"/>
                  </a:lnTo>
                  <a:close/>
                </a:path>
                <a:path w="2133600" h="2209800">
                  <a:moveTo>
                    <a:pt x="220980" y="1511300"/>
                  </a:moveTo>
                  <a:lnTo>
                    <a:pt x="214883" y="1511300"/>
                  </a:lnTo>
                  <a:lnTo>
                    <a:pt x="214883" y="1498600"/>
                  </a:lnTo>
                  <a:lnTo>
                    <a:pt x="220980" y="1511300"/>
                  </a:lnTo>
                  <a:close/>
                </a:path>
                <a:path w="2133600" h="2209800">
                  <a:moveTo>
                    <a:pt x="96495" y="2159000"/>
                  </a:moveTo>
                  <a:lnTo>
                    <a:pt x="96012" y="2159000"/>
                  </a:lnTo>
                  <a:lnTo>
                    <a:pt x="156850" y="2088828"/>
                  </a:lnTo>
                  <a:lnTo>
                    <a:pt x="975359" y="1651000"/>
                  </a:lnTo>
                  <a:lnTo>
                    <a:pt x="1889759" y="1651000"/>
                  </a:lnTo>
                  <a:lnTo>
                    <a:pt x="1903475" y="1638300"/>
                  </a:lnTo>
                  <a:lnTo>
                    <a:pt x="1926335" y="1638300"/>
                  </a:lnTo>
                  <a:lnTo>
                    <a:pt x="1940051" y="1625600"/>
                  </a:lnTo>
                  <a:lnTo>
                    <a:pt x="1961387" y="1625600"/>
                  </a:lnTo>
                  <a:lnTo>
                    <a:pt x="1982723" y="1600200"/>
                  </a:lnTo>
                  <a:lnTo>
                    <a:pt x="1981200" y="1600200"/>
                  </a:lnTo>
                  <a:lnTo>
                    <a:pt x="2002535" y="1587500"/>
                  </a:lnTo>
                  <a:lnTo>
                    <a:pt x="2020823" y="1574800"/>
                  </a:lnTo>
                  <a:lnTo>
                    <a:pt x="2019300" y="1574800"/>
                  </a:lnTo>
                  <a:lnTo>
                    <a:pt x="2037587" y="1562100"/>
                  </a:lnTo>
                  <a:lnTo>
                    <a:pt x="2036064" y="1562100"/>
                  </a:lnTo>
                  <a:lnTo>
                    <a:pt x="2052827" y="1536700"/>
                  </a:lnTo>
                  <a:lnTo>
                    <a:pt x="2051303" y="1536700"/>
                  </a:lnTo>
                  <a:lnTo>
                    <a:pt x="2065019" y="1511300"/>
                  </a:lnTo>
                  <a:lnTo>
                    <a:pt x="2071116" y="1498600"/>
                  </a:lnTo>
                  <a:lnTo>
                    <a:pt x="2071116" y="1511300"/>
                  </a:lnTo>
                  <a:lnTo>
                    <a:pt x="2110740" y="1511300"/>
                  </a:lnTo>
                  <a:lnTo>
                    <a:pt x="2098548" y="1536700"/>
                  </a:lnTo>
                  <a:lnTo>
                    <a:pt x="2083307" y="1562100"/>
                  </a:lnTo>
                  <a:lnTo>
                    <a:pt x="2066543" y="1587500"/>
                  </a:lnTo>
                  <a:lnTo>
                    <a:pt x="2048255" y="1600200"/>
                  </a:lnTo>
                  <a:lnTo>
                    <a:pt x="2026919" y="1625600"/>
                  </a:lnTo>
                  <a:lnTo>
                    <a:pt x="2004059" y="1638300"/>
                  </a:lnTo>
                  <a:lnTo>
                    <a:pt x="1979675" y="1651000"/>
                  </a:lnTo>
                  <a:lnTo>
                    <a:pt x="1967484" y="1663700"/>
                  </a:lnTo>
                  <a:lnTo>
                    <a:pt x="1953768" y="1663700"/>
                  </a:lnTo>
                  <a:lnTo>
                    <a:pt x="1912619" y="1676400"/>
                  </a:lnTo>
                  <a:lnTo>
                    <a:pt x="1898903" y="1676400"/>
                  </a:lnTo>
                  <a:lnTo>
                    <a:pt x="1883664" y="1689100"/>
                  </a:lnTo>
                  <a:lnTo>
                    <a:pt x="989075" y="1689100"/>
                  </a:lnTo>
                  <a:lnTo>
                    <a:pt x="96495" y="2159000"/>
                  </a:lnTo>
                  <a:close/>
                </a:path>
                <a:path w="2133600" h="2209800">
                  <a:moveTo>
                    <a:pt x="347471" y="1625600"/>
                  </a:moveTo>
                  <a:lnTo>
                    <a:pt x="324612" y="1625600"/>
                  </a:lnTo>
                  <a:lnTo>
                    <a:pt x="323087" y="1612900"/>
                  </a:lnTo>
                  <a:lnTo>
                    <a:pt x="347471" y="1625600"/>
                  </a:lnTo>
                  <a:close/>
                </a:path>
                <a:path w="2133600" h="2209800">
                  <a:moveTo>
                    <a:pt x="1961387" y="1625600"/>
                  </a:moveTo>
                  <a:lnTo>
                    <a:pt x="1950719" y="1625600"/>
                  </a:lnTo>
                  <a:lnTo>
                    <a:pt x="1961387" y="1612900"/>
                  </a:lnTo>
                  <a:lnTo>
                    <a:pt x="1961387" y="1625600"/>
                  </a:lnTo>
                  <a:close/>
                </a:path>
                <a:path w="2133600" h="2209800">
                  <a:moveTo>
                    <a:pt x="408432" y="1651000"/>
                  </a:moveTo>
                  <a:lnTo>
                    <a:pt x="394716" y="1651000"/>
                  </a:lnTo>
                  <a:lnTo>
                    <a:pt x="394716" y="1638300"/>
                  </a:lnTo>
                  <a:lnTo>
                    <a:pt x="408432" y="1651000"/>
                  </a:lnTo>
                  <a:close/>
                </a:path>
                <a:path w="2133600" h="2209800">
                  <a:moveTo>
                    <a:pt x="1889759" y="1651000"/>
                  </a:moveTo>
                  <a:lnTo>
                    <a:pt x="1877568" y="1651000"/>
                  </a:lnTo>
                  <a:lnTo>
                    <a:pt x="1891284" y="1638300"/>
                  </a:lnTo>
                  <a:lnTo>
                    <a:pt x="1889759" y="1651000"/>
                  </a:lnTo>
                  <a:close/>
                </a:path>
                <a:path w="2133600" h="2209800">
                  <a:moveTo>
                    <a:pt x="0" y="2209800"/>
                  </a:moveTo>
                  <a:lnTo>
                    <a:pt x="480059" y="1651000"/>
                  </a:lnTo>
                  <a:lnTo>
                    <a:pt x="493775" y="1689100"/>
                  </a:lnTo>
                  <a:lnTo>
                    <a:pt x="503415" y="1689100"/>
                  </a:lnTo>
                  <a:lnTo>
                    <a:pt x="156850" y="2088828"/>
                  </a:lnTo>
                  <a:lnTo>
                    <a:pt x="73151" y="2133600"/>
                  </a:lnTo>
                  <a:lnTo>
                    <a:pt x="96012" y="2159000"/>
                  </a:lnTo>
                  <a:lnTo>
                    <a:pt x="96495" y="2159000"/>
                  </a:lnTo>
                  <a:lnTo>
                    <a:pt x="0" y="2209800"/>
                  </a:lnTo>
                  <a:close/>
                </a:path>
                <a:path w="2133600" h="2209800">
                  <a:moveTo>
                    <a:pt x="503415" y="1689100"/>
                  </a:moveTo>
                  <a:lnTo>
                    <a:pt x="493775" y="1689100"/>
                  </a:lnTo>
                  <a:lnTo>
                    <a:pt x="480059" y="1651000"/>
                  </a:lnTo>
                  <a:lnTo>
                    <a:pt x="536448" y="1651000"/>
                  </a:lnTo>
                  <a:lnTo>
                    <a:pt x="503415" y="1689100"/>
                  </a:lnTo>
                  <a:close/>
                </a:path>
                <a:path w="2133600" h="2209800">
                  <a:moveTo>
                    <a:pt x="96012" y="2159000"/>
                  </a:moveTo>
                  <a:lnTo>
                    <a:pt x="73151" y="2133600"/>
                  </a:lnTo>
                  <a:lnTo>
                    <a:pt x="156850" y="2088828"/>
                  </a:lnTo>
                  <a:lnTo>
                    <a:pt x="96012" y="2159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637790" y="3716551"/>
            <a:ext cx="1165860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 err="1">
                <a:latin typeface="Comic Sans MS"/>
                <a:cs typeface="Comic Sans MS"/>
              </a:rPr>
              <a:t>Quem</a:t>
            </a:r>
            <a:r>
              <a:rPr sz="1800" b="1" spc="-70" dirty="0">
                <a:latin typeface="Comic Sans MS"/>
                <a:cs typeface="Comic Sans MS"/>
              </a:rPr>
              <a:t> </a:t>
            </a:r>
            <a:r>
              <a:rPr sz="1800" b="1" spc="-5" dirty="0" err="1">
                <a:latin typeface="Comic Sans MS"/>
                <a:cs typeface="Comic Sans MS"/>
              </a:rPr>
              <a:t>vem</a:t>
            </a:r>
            <a:endParaRPr lang="pt-BR" sz="1800" b="1" spc="-5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b="1" spc="-5" dirty="0">
                <a:latin typeface="Comic Sans MS"/>
                <a:cs typeface="Comic Sans MS"/>
              </a:rPr>
              <a:t>Primeiro?</a:t>
            </a:r>
            <a:endParaRPr sz="1800" dirty="0">
              <a:latin typeface="Comic Sans MS"/>
              <a:cs typeface="Comic Sans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9600" y="3335413"/>
            <a:ext cx="6436623" cy="1413207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266700" indent="-229235">
              <a:lnSpc>
                <a:spcPct val="100000"/>
              </a:lnSpc>
              <a:spcBef>
                <a:spcPts val="260"/>
              </a:spcBef>
              <a:buChar char="•"/>
              <a:tabLst>
                <a:tab pos="266700" algn="l"/>
                <a:tab pos="267335" algn="l"/>
              </a:tabLst>
            </a:pPr>
            <a:r>
              <a:rPr sz="2200" spc="-5" dirty="0">
                <a:latin typeface="Arial"/>
                <a:cs typeface="Arial"/>
              </a:rPr>
              <a:t>Concepção (intelectual) </a:t>
            </a:r>
            <a:r>
              <a:rPr sz="2200" dirty="0">
                <a:latin typeface="Arial"/>
                <a:cs typeface="Arial"/>
              </a:rPr>
              <a:t>da </a:t>
            </a:r>
            <a:r>
              <a:rPr sz="2200" spc="-5" dirty="0">
                <a:latin typeface="Arial"/>
                <a:cs typeface="Arial"/>
              </a:rPr>
              <a:t>experiência </a:t>
            </a:r>
            <a:r>
              <a:rPr sz="2200" dirty="0">
                <a:latin typeface="Arial"/>
                <a:cs typeface="Arial"/>
              </a:rPr>
              <a:t>do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spc="-5" dirty="0" err="1">
                <a:latin typeface="Arial"/>
                <a:cs typeface="Arial"/>
              </a:rPr>
              <a:t>usuário</a:t>
            </a:r>
            <a:r>
              <a:rPr lang="pt-BR" sz="2200" spc="-5" dirty="0">
                <a:latin typeface="Arial"/>
                <a:cs typeface="Arial"/>
              </a:rPr>
              <a:t>.</a:t>
            </a:r>
            <a:endParaRPr sz="2200" dirty="0">
              <a:latin typeface="Arial"/>
              <a:cs typeface="Arial"/>
            </a:endParaRPr>
          </a:p>
          <a:p>
            <a:pPr marL="266700" indent="-229235">
              <a:lnSpc>
                <a:spcPct val="100000"/>
              </a:lnSpc>
              <a:spcBef>
                <a:spcPts val="185"/>
              </a:spcBef>
              <a:buChar char="•"/>
              <a:tabLst>
                <a:tab pos="266700" algn="l"/>
                <a:tab pos="267335" algn="l"/>
              </a:tabLst>
            </a:pPr>
            <a:r>
              <a:rPr sz="2200" spc="-5" dirty="0">
                <a:latin typeface="Arial"/>
                <a:cs typeface="Arial"/>
              </a:rPr>
              <a:t>Concretização </a:t>
            </a:r>
            <a:r>
              <a:rPr sz="2200" dirty="0">
                <a:latin typeface="Arial"/>
                <a:cs typeface="Arial"/>
              </a:rPr>
              <a:t>desta </a:t>
            </a:r>
            <a:r>
              <a:rPr sz="2200" spc="-5" dirty="0">
                <a:latin typeface="Arial"/>
                <a:cs typeface="Arial"/>
              </a:rPr>
              <a:t>concepção em </a:t>
            </a:r>
            <a:r>
              <a:rPr sz="2200" spc="-5" dirty="0" err="1">
                <a:latin typeface="Arial"/>
                <a:cs typeface="Arial"/>
              </a:rPr>
              <a:t>uma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lang="pt-BR" sz="2200" spc="-5" dirty="0">
                <a:latin typeface="Arial"/>
                <a:cs typeface="Arial"/>
              </a:rPr>
              <a:t>representação que será implementada</a:t>
            </a:r>
            <a:endParaRPr sz="2200" baseline="20061" dirty="0">
              <a:latin typeface="Comic Sans MS"/>
              <a:cs typeface="Comic Sans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37790" y="4265167"/>
            <a:ext cx="16014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omic Sans MS"/>
                <a:cs typeface="Comic Sans MS"/>
              </a:rPr>
              <a:t>Projeto </a:t>
            </a:r>
            <a:r>
              <a:rPr sz="1800" b="1" dirty="0">
                <a:latin typeface="Comic Sans MS"/>
                <a:cs typeface="Comic Sans MS"/>
              </a:rPr>
              <a:t>de</a:t>
            </a:r>
            <a:r>
              <a:rPr sz="1800" b="1" spc="-70" dirty="0">
                <a:latin typeface="Comic Sans MS"/>
                <a:cs typeface="Comic Sans MS"/>
              </a:rPr>
              <a:t> </a:t>
            </a:r>
            <a:r>
              <a:rPr sz="1800" b="1" spc="-5" dirty="0">
                <a:latin typeface="Comic Sans MS"/>
                <a:cs typeface="Comic Sans MS"/>
              </a:rPr>
              <a:t>Sw  </a:t>
            </a:r>
            <a:r>
              <a:rPr sz="1800" b="1" dirty="0">
                <a:latin typeface="Comic Sans MS"/>
                <a:cs typeface="Comic Sans MS"/>
              </a:rPr>
              <a:t>ou </a:t>
            </a:r>
            <a:r>
              <a:rPr sz="1800" b="1" spc="-5" dirty="0">
                <a:latin typeface="Comic Sans MS"/>
                <a:cs typeface="Comic Sans MS"/>
              </a:rPr>
              <a:t>Projeto </a:t>
            </a:r>
            <a:r>
              <a:rPr sz="1800" b="1" dirty="0">
                <a:latin typeface="Comic Sans MS"/>
                <a:cs typeface="Comic Sans MS"/>
              </a:rPr>
              <a:t>de  </a:t>
            </a:r>
            <a:r>
              <a:rPr sz="1800" b="1" spc="-5" dirty="0">
                <a:latin typeface="Comic Sans MS"/>
                <a:cs typeface="Comic Sans MS"/>
              </a:rPr>
              <a:t>IHC?</a:t>
            </a:r>
            <a:endParaRPr sz="1800" dirty="0">
              <a:latin typeface="Comic Sans MS"/>
              <a:cs typeface="Comic Sans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027164" y="6030467"/>
            <a:ext cx="2574925" cy="1187450"/>
            <a:chOff x="7027164" y="6030467"/>
            <a:chExt cx="2574925" cy="1187450"/>
          </a:xfrm>
        </p:grpSpPr>
        <p:sp>
          <p:nvSpPr>
            <p:cNvPr id="18" name="object 18"/>
            <p:cNvSpPr/>
            <p:nvPr/>
          </p:nvSpPr>
          <p:spPr>
            <a:xfrm>
              <a:off x="7046223" y="6059423"/>
              <a:ext cx="2555875" cy="1141095"/>
            </a:xfrm>
            <a:custGeom>
              <a:avLst/>
              <a:gdLst/>
              <a:ahLst/>
              <a:cxnLst/>
              <a:rect l="l" t="t" r="r" b="b"/>
              <a:pathLst>
                <a:path w="2555875" h="1141095">
                  <a:moveTo>
                    <a:pt x="1263750" y="1140722"/>
                  </a:moveTo>
                  <a:lnTo>
                    <a:pt x="1208890" y="1139951"/>
                  </a:lnTo>
                  <a:lnTo>
                    <a:pt x="1154274" y="1138186"/>
                  </a:lnTo>
                  <a:lnTo>
                    <a:pt x="1099978" y="1135436"/>
                  </a:lnTo>
                  <a:lnTo>
                    <a:pt x="1046080" y="1131712"/>
                  </a:lnTo>
                  <a:lnTo>
                    <a:pt x="992655" y="1127026"/>
                  </a:lnTo>
                  <a:lnTo>
                    <a:pt x="939780" y="1121387"/>
                  </a:lnTo>
                  <a:lnTo>
                    <a:pt x="887530" y="1114805"/>
                  </a:lnTo>
                  <a:lnTo>
                    <a:pt x="835983" y="1107293"/>
                  </a:lnTo>
                  <a:lnTo>
                    <a:pt x="785214" y="1098860"/>
                  </a:lnTo>
                  <a:lnTo>
                    <a:pt x="735299" y="1089517"/>
                  </a:lnTo>
                  <a:lnTo>
                    <a:pt x="686315" y="1079274"/>
                  </a:lnTo>
                  <a:lnTo>
                    <a:pt x="638338" y="1068142"/>
                  </a:lnTo>
                  <a:lnTo>
                    <a:pt x="591444" y="1056132"/>
                  </a:lnTo>
                  <a:lnTo>
                    <a:pt x="545710" y="1043253"/>
                  </a:lnTo>
                  <a:lnTo>
                    <a:pt x="501211" y="1029518"/>
                  </a:lnTo>
                  <a:lnTo>
                    <a:pt x="458024" y="1014936"/>
                  </a:lnTo>
                  <a:lnTo>
                    <a:pt x="416226" y="999518"/>
                  </a:lnTo>
                  <a:lnTo>
                    <a:pt x="375892" y="983274"/>
                  </a:lnTo>
                  <a:lnTo>
                    <a:pt x="337098" y="966216"/>
                  </a:lnTo>
                  <a:lnTo>
                    <a:pt x="299922" y="948353"/>
                  </a:lnTo>
                  <a:lnTo>
                    <a:pt x="264438" y="929696"/>
                  </a:lnTo>
                  <a:lnTo>
                    <a:pt x="230724" y="910256"/>
                  </a:lnTo>
                  <a:lnTo>
                    <a:pt x="168909" y="869069"/>
                  </a:lnTo>
                  <a:lnTo>
                    <a:pt x="104154" y="814229"/>
                  </a:lnTo>
                  <a:lnTo>
                    <a:pt x="72958" y="780492"/>
                  </a:lnTo>
                  <a:lnTo>
                    <a:pt x="47341" y="746244"/>
                  </a:lnTo>
                  <a:lnTo>
                    <a:pt x="27269" y="711597"/>
                  </a:lnTo>
                  <a:lnTo>
                    <a:pt x="3632" y="641547"/>
                  </a:lnTo>
                  <a:lnTo>
                    <a:pt x="0" y="606368"/>
                  </a:lnTo>
                  <a:lnTo>
                    <a:pt x="1781" y="571234"/>
                  </a:lnTo>
                  <a:lnTo>
                    <a:pt x="21455" y="501548"/>
                  </a:lnTo>
                  <a:lnTo>
                    <a:pt x="39282" y="467219"/>
                  </a:lnTo>
                  <a:lnTo>
                    <a:pt x="62390" y="433380"/>
                  </a:lnTo>
                  <a:lnTo>
                    <a:pt x="90748" y="400143"/>
                  </a:lnTo>
                  <a:lnTo>
                    <a:pt x="124322" y="367620"/>
                  </a:lnTo>
                  <a:lnTo>
                    <a:pt x="163080" y="335922"/>
                  </a:lnTo>
                  <a:lnTo>
                    <a:pt x="206988" y="305159"/>
                  </a:lnTo>
                  <a:lnTo>
                    <a:pt x="256014" y="275444"/>
                  </a:lnTo>
                  <a:lnTo>
                    <a:pt x="310125" y="246888"/>
                  </a:lnTo>
                  <a:lnTo>
                    <a:pt x="160773" y="0"/>
                  </a:lnTo>
                  <a:lnTo>
                    <a:pt x="692649" y="118872"/>
                  </a:lnTo>
                  <a:lnTo>
                    <a:pt x="745292" y="108121"/>
                  </a:lnTo>
                  <a:lnTo>
                    <a:pt x="798522" y="98468"/>
                  </a:lnTo>
                  <a:lnTo>
                    <a:pt x="852263" y="89902"/>
                  </a:lnTo>
                  <a:lnTo>
                    <a:pt x="906440" y="82415"/>
                  </a:lnTo>
                  <a:lnTo>
                    <a:pt x="960975" y="75995"/>
                  </a:lnTo>
                  <a:lnTo>
                    <a:pt x="1015793" y="70633"/>
                  </a:lnTo>
                  <a:lnTo>
                    <a:pt x="1070819" y="66318"/>
                  </a:lnTo>
                  <a:lnTo>
                    <a:pt x="1125975" y="63042"/>
                  </a:lnTo>
                  <a:lnTo>
                    <a:pt x="1181186" y="60793"/>
                  </a:lnTo>
                  <a:lnTo>
                    <a:pt x="1236376" y="59562"/>
                  </a:lnTo>
                  <a:lnTo>
                    <a:pt x="1291469" y="59338"/>
                  </a:lnTo>
                  <a:lnTo>
                    <a:pt x="1346388" y="60113"/>
                  </a:lnTo>
                  <a:lnTo>
                    <a:pt x="1401059" y="61875"/>
                  </a:lnTo>
                  <a:lnTo>
                    <a:pt x="1455404" y="64615"/>
                  </a:lnTo>
                  <a:lnTo>
                    <a:pt x="1509347" y="68323"/>
                  </a:lnTo>
                  <a:lnTo>
                    <a:pt x="1562813" y="72988"/>
                  </a:lnTo>
                  <a:lnTo>
                    <a:pt x="1615726" y="78602"/>
                  </a:lnTo>
                  <a:lnTo>
                    <a:pt x="1668009" y="85153"/>
                  </a:lnTo>
                  <a:lnTo>
                    <a:pt x="1719586" y="92632"/>
                  </a:lnTo>
                  <a:lnTo>
                    <a:pt x="1770382" y="101029"/>
                  </a:lnTo>
                  <a:lnTo>
                    <a:pt x="1820321" y="110333"/>
                  </a:lnTo>
                  <a:lnTo>
                    <a:pt x="1869325" y="120536"/>
                  </a:lnTo>
                  <a:lnTo>
                    <a:pt x="1917320" y="131626"/>
                  </a:lnTo>
                  <a:lnTo>
                    <a:pt x="1964229" y="143594"/>
                  </a:lnTo>
                  <a:lnTo>
                    <a:pt x="2009977" y="156430"/>
                  </a:lnTo>
                  <a:lnTo>
                    <a:pt x="2054486" y="170124"/>
                  </a:lnTo>
                  <a:lnTo>
                    <a:pt x="2097682" y="184665"/>
                  </a:lnTo>
                  <a:lnTo>
                    <a:pt x="2139487" y="200045"/>
                  </a:lnTo>
                  <a:lnTo>
                    <a:pt x="2179827" y="216252"/>
                  </a:lnTo>
                  <a:lnTo>
                    <a:pt x="2218624" y="233277"/>
                  </a:lnTo>
                  <a:lnTo>
                    <a:pt x="2255804" y="251110"/>
                  </a:lnTo>
                  <a:lnTo>
                    <a:pt x="2291289" y="269741"/>
                  </a:lnTo>
                  <a:lnTo>
                    <a:pt x="2325005" y="289160"/>
                  </a:lnTo>
                  <a:lnTo>
                    <a:pt x="2386820" y="330321"/>
                  </a:lnTo>
                  <a:lnTo>
                    <a:pt x="2446014" y="379835"/>
                  </a:lnTo>
                  <a:lnTo>
                    <a:pt x="2473250" y="407989"/>
                  </a:lnTo>
                  <a:lnTo>
                    <a:pt x="2515877" y="465139"/>
                  </a:lnTo>
                  <a:lnTo>
                    <a:pt x="2543021" y="523001"/>
                  </a:lnTo>
                  <a:lnTo>
                    <a:pt x="2555049" y="581083"/>
                  </a:lnTo>
                  <a:lnTo>
                    <a:pt x="2555510" y="610053"/>
                  </a:lnTo>
                  <a:lnTo>
                    <a:pt x="2552330" y="638894"/>
                  </a:lnTo>
                  <a:lnTo>
                    <a:pt x="2535234" y="695942"/>
                  </a:lnTo>
                  <a:lnTo>
                    <a:pt x="2504129" y="751734"/>
                  </a:lnTo>
                  <a:lnTo>
                    <a:pt x="2459385" y="805779"/>
                  </a:lnTo>
                  <a:lnTo>
                    <a:pt x="2401369" y="857586"/>
                  </a:lnTo>
                  <a:lnTo>
                    <a:pt x="2367501" y="882495"/>
                  </a:lnTo>
                  <a:lnTo>
                    <a:pt x="2330452" y="906661"/>
                  </a:lnTo>
                  <a:lnTo>
                    <a:pt x="2290271" y="930021"/>
                  </a:lnTo>
                  <a:lnTo>
                    <a:pt x="2247002" y="952513"/>
                  </a:lnTo>
                  <a:lnTo>
                    <a:pt x="2200693" y="974077"/>
                  </a:lnTo>
                  <a:lnTo>
                    <a:pt x="2151388" y="994651"/>
                  </a:lnTo>
                  <a:lnTo>
                    <a:pt x="2099135" y="1014173"/>
                  </a:lnTo>
                  <a:lnTo>
                    <a:pt x="2043979" y="1032582"/>
                  </a:lnTo>
                  <a:lnTo>
                    <a:pt x="1985967" y="1049817"/>
                  </a:lnTo>
                  <a:lnTo>
                    <a:pt x="1925144" y="1065815"/>
                  </a:lnTo>
                  <a:lnTo>
                    <a:pt x="1861557" y="1080516"/>
                  </a:lnTo>
                  <a:lnTo>
                    <a:pt x="1809037" y="1091386"/>
                  </a:lnTo>
                  <a:lnTo>
                    <a:pt x="1755924" y="1101146"/>
                  </a:lnTo>
                  <a:lnTo>
                    <a:pt x="1702293" y="1109805"/>
                  </a:lnTo>
                  <a:lnTo>
                    <a:pt x="1648220" y="1117374"/>
                  </a:lnTo>
                  <a:lnTo>
                    <a:pt x="1593782" y="1123863"/>
                  </a:lnTo>
                  <a:lnTo>
                    <a:pt x="1539054" y="1129283"/>
                  </a:lnTo>
                  <a:lnTo>
                    <a:pt x="1484114" y="1133646"/>
                  </a:lnTo>
                  <a:lnTo>
                    <a:pt x="1429038" y="1136960"/>
                  </a:lnTo>
                  <a:lnTo>
                    <a:pt x="1373901" y="1139237"/>
                  </a:lnTo>
                  <a:lnTo>
                    <a:pt x="1318780" y="1140488"/>
                  </a:lnTo>
                  <a:lnTo>
                    <a:pt x="1263750" y="1140722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027164" y="6030467"/>
              <a:ext cx="2574290" cy="1187450"/>
            </a:xfrm>
            <a:custGeom>
              <a:avLst/>
              <a:gdLst/>
              <a:ahLst/>
              <a:cxnLst/>
              <a:rect l="l" t="t" r="r" b="b"/>
              <a:pathLst>
                <a:path w="2574290" h="1187450">
                  <a:moveTo>
                    <a:pt x="301474" y="267588"/>
                  </a:moveTo>
                  <a:lnTo>
                    <a:pt x="140207" y="0"/>
                  </a:lnTo>
                  <a:lnTo>
                    <a:pt x="220059" y="17780"/>
                  </a:lnTo>
                  <a:lnTo>
                    <a:pt x="195071" y="17780"/>
                  </a:lnTo>
                  <a:lnTo>
                    <a:pt x="175259" y="46990"/>
                  </a:lnTo>
                  <a:lnTo>
                    <a:pt x="218737" y="56665"/>
                  </a:lnTo>
                  <a:lnTo>
                    <a:pt x="341929" y="259080"/>
                  </a:lnTo>
                  <a:lnTo>
                    <a:pt x="320039" y="259080"/>
                  </a:lnTo>
                  <a:lnTo>
                    <a:pt x="301474" y="267588"/>
                  </a:lnTo>
                  <a:close/>
                </a:path>
                <a:path w="2574290" h="1187450">
                  <a:moveTo>
                    <a:pt x="218737" y="56665"/>
                  </a:moveTo>
                  <a:lnTo>
                    <a:pt x="175259" y="46990"/>
                  </a:lnTo>
                  <a:lnTo>
                    <a:pt x="195071" y="17780"/>
                  </a:lnTo>
                  <a:lnTo>
                    <a:pt x="218737" y="56665"/>
                  </a:lnTo>
                  <a:close/>
                </a:path>
                <a:path w="2574290" h="1187450">
                  <a:moveTo>
                    <a:pt x="711707" y="166370"/>
                  </a:moveTo>
                  <a:lnTo>
                    <a:pt x="218737" y="56665"/>
                  </a:lnTo>
                  <a:lnTo>
                    <a:pt x="195071" y="17780"/>
                  </a:lnTo>
                  <a:lnTo>
                    <a:pt x="220059" y="17780"/>
                  </a:lnTo>
                  <a:lnTo>
                    <a:pt x="712880" y="127513"/>
                  </a:lnTo>
                  <a:lnTo>
                    <a:pt x="708659" y="128270"/>
                  </a:lnTo>
                  <a:lnTo>
                    <a:pt x="939291" y="128270"/>
                  </a:lnTo>
                  <a:lnTo>
                    <a:pt x="833627" y="144780"/>
                  </a:lnTo>
                  <a:lnTo>
                    <a:pt x="835151" y="144780"/>
                  </a:lnTo>
                  <a:lnTo>
                    <a:pt x="711707" y="166370"/>
                  </a:lnTo>
                  <a:close/>
                </a:path>
                <a:path w="2574290" h="1187450">
                  <a:moveTo>
                    <a:pt x="939291" y="128270"/>
                  </a:moveTo>
                  <a:lnTo>
                    <a:pt x="716279" y="128270"/>
                  </a:lnTo>
                  <a:lnTo>
                    <a:pt x="712880" y="127513"/>
                  </a:lnTo>
                  <a:lnTo>
                    <a:pt x="829055" y="106680"/>
                  </a:lnTo>
                  <a:lnTo>
                    <a:pt x="950975" y="88900"/>
                  </a:lnTo>
                  <a:lnTo>
                    <a:pt x="1074419" y="77470"/>
                  </a:lnTo>
                  <a:lnTo>
                    <a:pt x="1199387" y="69850"/>
                  </a:lnTo>
                  <a:lnTo>
                    <a:pt x="1324355" y="69850"/>
                  </a:lnTo>
                  <a:lnTo>
                    <a:pt x="1447799" y="72390"/>
                  </a:lnTo>
                  <a:lnTo>
                    <a:pt x="1569719" y="81280"/>
                  </a:lnTo>
                  <a:lnTo>
                    <a:pt x="1690115" y="95250"/>
                  </a:lnTo>
                  <a:lnTo>
                    <a:pt x="1767331" y="107950"/>
                  </a:lnTo>
                  <a:lnTo>
                    <a:pt x="1200911" y="107950"/>
                  </a:lnTo>
                  <a:lnTo>
                    <a:pt x="1077467" y="115570"/>
                  </a:lnTo>
                  <a:lnTo>
                    <a:pt x="1078991" y="115570"/>
                  </a:lnTo>
                  <a:lnTo>
                    <a:pt x="955547" y="125730"/>
                  </a:lnTo>
                  <a:lnTo>
                    <a:pt x="939291" y="128270"/>
                  </a:lnTo>
                  <a:close/>
                </a:path>
                <a:path w="2574290" h="1187450">
                  <a:moveTo>
                    <a:pt x="2156459" y="248920"/>
                  </a:moveTo>
                  <a:lnTo>
                    <a:pt x="2109215" y="231140"/>
                  </a:lnTo>
                  <a:lnTo>
                    <a:pt x="2110739" y="231140"/>
                  </a:lnTo>
                  <a:lnTo>
                    <a:pt x="2011679" y="200660"/>
                  </a:lnTo>
                  <a:lnTo>
                    <a:pt x="1959863" y="186690"/>
                  </a:lnTo>
                  <a:lnTo>
                    <a:pt x="1961387" y="186690"/>
                  </a:lnTo>
                  <a:lnTo>
                    <a:pt x="1908047" y="172720"/>
                  </a:lnTo>
                  <a:lnTo>
                    <a:pt x="1798319" y="149860"/>
                  </a:lnTo>
                  <a:lnTo>
                    <a:pt x="1684019" y="132080"/>
                  </a:lnTo>
                  <a:lnTo>
                    <a:pt x="1685543" y="132080"/>
                  </a:lnTo>
                  <a:lnTo>
                    <a:pt x="1566671" y="119380"/>
                  </a:lnTo>
                  <a:lnTo>
                    <a:pt x="1446275" y="110490"/>
                  </a:lnTo>
                  <a:lnTo>
                    <a:pt x="1324355" y="107950"/>
                  </a:lnTo>
                  <a:lnTo>
                    <a:pt x="1767331" y="107950"/>
                  </a:lnTo>
                  <a:lnTo>
                    <a:pt x="1805939" y="114300"/>
                  </a:lnTo>
                  <a:lnTo>
                    <a:pt x="1970531" y="148590"/>
                  </a:lnTo>
                  <a:lnTo>
                    <a:pt x="2074163" y="179070"/>
                  </a:lnTo>
                  <a:lnTo>
                    <a:pt x="2122931" y="195580"/>
                  </a:lnTo>
                  <a:lnTo>
                    <a:pt x="2170175" y="213360"/>
                  </a:lnTo>
                  <a:lnTo>
                    <a:pt x="2215895" y="232410"/>
                  </a:lnTo>
                  <a:lnTo>
                    <a:pt x="2249042" y="247650"/>
                  </a:lnTo>
                  <a:lnTo>
                    <a:pt x="2156459" y="247650"/>
                  </a:lnTo>
                  <a:lnTo>
                    <a:pt x="2156459" y="248920"/>
                  </a:lnTo>
                  <a:close/>
                </a:path>
                <a:path w="2574290" h="1187450">
                  <a:moveTo>
                    <a:pt x="716279" y="128270"/>
                  </a:moveTo>
                  <a:lnTo>
                    <a:pt x="708659" y="128270"/>
                  </a:lnTo>
                  <a:lnTo>
                    <a:pt x="712880" y="127513"/>
                  </a:lnTo>
                  <a:lnTo>
                    <a:pt x="716279" y="128270"/>
                  </a:lnTo>
                  <a:close/>
                </a:path>
                <a:path w="2574290" h="1187450">
                  <a:moveTo>
                    <a:pt x="2200655" y="267970"/>
                  </a:moveTo>
                  <a:lnTo>
                    <a:pt x="2156459" y="247650"/>
                  </a:lnTo>
                  <a:lnTo>
                    <a:pt x="2249042" y="247650"/>
                  </a:lnTo>
                  <a:lnTo>
                    <a:pt x="2290266" y="266700"/>
                  </a:lnTo>
                  <a:lnTo>
                    <a:pt x="2200655" y="266700"/>
                  </a:lnTo>
                  <a:lnTo>
                    <a:pt x="2200655" y="267970"/>
                  </a:lnTo>
                  <a:close/>
                </a:path>
                <a:path w="2574290" h="1187450">
                  <a:moveTo>
                    <a:pt x="312419" y="285750"/>
                  </a:moveTo>
                  <a:lnTo>
                    <a:pt x="301474" y="267588"/>
                  </a:lnTo>
                  <a:lnTo>
                    <a:pt x="320039" y="259080"/>
                  </a:lnTo>
                  <a:lnTo>
                    <a:pt x="312419" y="285750"/>
                  </a:lnTo>
                  <a:close/>
                </a:path>
                <a:path w="2574290" h="1187450">
                  <a:moveTo>
                    <a:pt x="351586" y="285750"/>
                  </a:moveTo>
                  <a:lnTo>
                    <a:pt x="312419" y="285750"/>
                  </a:lnTo>
                  <a:lnTo>
                    <a:pt x="320039" y="259080"/>
                  </a:lnTo>
                  <a:lnTo>
                    <a:pt x="341929" y="259080"/>
                  </a:lnTo>
                  <a:lnTo>
                    <a:pt x="356615" y="283210"/>
                  </a:lnTo>
                  <a:lnTo>
                    <a:pt x="351586" y="285750"/>
                  </a:lnTo>
                  <a:close/>
                </a:path>
                <a:path w="2574290" h="1187450">
                  <a:moveTo>
                    <a:pt x="2357628" y="349250"/>
                  </a:moveTo>
                  <a:lnTo>
                    <a:pt x="2321051" y="327660"/>
                  </a:lnTo>
                  <a:lnTo>
                    <a:pt x="2322575" y="327660"/>
                  </a:lnTo>
                  <a:lnTo>
                    <a:pt x="2282951" y="306070"/>
                  </a:lnTo>
                  <a:lnTo>
                    <a:pt x="2284475" y="306070"/>
                  </a:lnTo>
                  <a:lnTo>
                    <a:pt x="2243328" y="285750"/>
                  </a:lnTo>
                  <a:lnTo>
                    <a:pt x="2200655" y="266700"/>
                  </a:lnTo>
                  <a:lnTo>
                    <a:pt x="2290266" y="266700"/>
                  </a:lnTo>
                  <a:lnTo>
                    <a:pt x="2340863" y="294640"/>
                  </a:lnTo>
                  <a:lnTo>
                    <a:pt x="2377439" y="317500"/>
                  </a:lnTo>
                  <a:lnTo>
                    <a:pt x="2412491" y="340360"/>
                  </a:lnTo>
                  <a:lnTo>
                    <a:pt x="2422071" y="347980"/>
                  </a:lnTo>
                  <a:lnTo>
                    <a:pt x="2356103" y="347980"/>
                  </a:lnTo>
                  <a:lnTo>
                    <a:pt x="2357628" y="349250"/>
                  </a:lnTo>
                  <a:close/>
                </a:path>
                <a:path w="2574290" h="1187450">
                  <a:moveTo>
                    <a:pt x="1269491" y="1187450"/>
                  </a:moveTo>
                  <a:lnTo>
                    <a:pt x="1144523" y="1184910"/>
                  </a:lnTo>
                  <a:lnTo>
                    <a:pt x="1022603" y="1176020"/>
                  </a:lnTo>
                  <a:lnTo>
                    <a:pt x="903731" y="1162050"/>
                  </a:lnTo>
                  <a:lnTo>
                    <a:pt x="787907" y="1144270"/>
                  </a:lnTo>
                  <a:lnTo>
                    <a:pt x="676655" y="1121410"/>
                  </a:lnTo>
                  <a:lnTo>
                    <a:pt x="571499" y="1093470"/>
                  </a:lnTo>
                  <a:lnTo>
                    <a:pt x="519683" y="1078230"/>
                  </a:lnTo>
                  <a:lnTo>
                    <a:pt x="470915" y="1061720"/>
                  </a:lnTo>
                  <a:lnTo>
                    <a:pt x="423671" y="1042670"/>
                  </a:lnTo>
                  <a:lnTo>
                    <a:pt x="377951" y="1024890"/>
                  </a:lnTo>
                  <a:lnTo>
                    <a:pt x="333755" y="1004570"/>
                  </a:lnTo>
                  <a:lnTo>
                    <a:pt x="292607" y="984250"/>
                  </a:lnTo>
                  <a:lnTo>
                    <a:pt x="252983" y="962660"/>
                  </a:lnTo>
                  <a:lnTo>
                    <a:pt x="214883" y="939800"/>
                  </a:lnTo>
                  <a:lnTo>
                    <a:pt x="147827" y="890270"/>
                  </a:lnTo>
                  <a:lnTo>
                    <a:pt x="105155" y="850900"/>
                  </a:lnTo>
                  <a:lnTo>
                    <a:pt x="70103" y="811530"/>
                  </a:lnTo>
                  <a:lnTo>
                    <a:pt x="42671" y="772160"/>
                  </a:lnTo>
                  <a:lnTo>
                    <a:pt x="21335" y="728980"/>
                  </a:lnTo>
                  <a:lnTo>
                    <a:pt x="12191" y="709930"/>
                  </a:lnTo>
                  <a:lnTo>
                    <a:pt x="3047" y="666750"/>
                  </a:lnTo>
                  <a:lnTo>
                    <a:pt x="0" y="645160"/>
                  </a:lnTo>
                  <a:lnTo>
                    <a:pt x="0" y="622300"/>
                  </a:lnTo>
                  <a:lnTo>
                    <a:pt x="4571" y="580390"/>
                  </a:lnTo>
                  <a:lnTo>
                    <a:pt x="24383" y="518160"/>
                  </a:lnTo>
                  <a:lnTo>
                    <a:pt x="47243" y="476250"/>
                  </a:lnTo>
                  <a:lnTo>
                    <a:pt x="76199" y="436880"/>
                  </a:lnTo>
                  <a:lnTo>
                    <a:pt x="112775" y="398780"/>
                  </a:lnTo>
                  <a:lnTo>
                    <a:pt x="132587" y="378460"/>
                  </a:lnTo>
                  <a:lnTo>
                    <a:pt x="178307" y="342900"/>
                  </a:lnTo>
                  <a:lnTo>
                    <a:pt x="230123" y="307340"/>
                  </a:lnTo>
                  <a:lnTo>
                    <a:pt x="259079" y="290830"/>
                  </a:lnTo>
                  <a:lnTo>
                    <a:pt x="289559" y="273050"/>
                  </a:lnTo>
                  <a:lnTo>
                    <a:pt x="301474" y="267588"/>
                  </a:lnTo>
                  <a:lnTo>
                    <a:pt x="312419" y="285750"/>
                  </a:lnTo>
                  <a:lnTo>
                    <a:pt x="351586" y="285750"/>
                  </a:lnTo>
                  <a:lnTo>
                    <a:pt x="308838" y="307340"/>
                  </a:lnTo>
                  <a:lnTo>
                    <a:pt x="307847" y="307340"/>
                  </a:lnTo>
                  <a:lnTo>
                    <a:pt x="277367" y="323850"/>
                  </a:lnTo>
                  <a:lnTo>
                    <a:pt x="278891" y="323850"/>
                  </a:lnTo>
                  <a:lnTo>
                    <a:pt x="249935" y="340360"/>
                  </a:lnTo>
                  <a:lnTo>
                    <a:pt x="251459" y="340360"/>
                  </a:lnTo>
                  <a:lnTo>
                    <a:pt x="226138" y="355600"/>
                  </a:lnTo>
                  <a:lnTo>
                    <a:pt x="225551" y="355600"/>
                  </a:lnTo>
                  <a:lnTo>
                    <a:pt x="202793" y="373380"/>
                  </a:lnTo>
                  <a:lnTo>
                    <a:pt x="201167" y="373380"/>
                  </a:lnTo>
                  <a:lnTo>
                    <a:pt x="156971" y="407670"/>
                  </a:lnTo>
                  <a:lnTo>
                    <a:pt x="158495" y="407670"/>
                  </a:lnTo>
                  <a:lnTo>
                    <a:pt x="140098" y="424180"/>
                  </a:lnTo>
                  <a:lnTo>
                    <a:pt x="138683" y="424180"/>
                  </a:lnTo>
                  <a:lnTo>
                    <a:pt x="122967" y="443230"/>
                  </a:lnTo>
                  <a:lnTo>
                    <a:pt x="121919" y="443230"/>
                  </a:lnTo>
                  <a:lnTo>
                    <a:pt x="105155" y="461010"/>
                  </a:lnTo>
                  <a:lnTo>
                    <a:pt x="106679" y="461010"/>
                  </a:lnTo>
                  <a:lnTo>
                    <a:pt x="91439" y="480060"/>
                  </a:lnTo>
                  <a:lnTo>
                    <a:pt x="80118" y="496570"/>
                  </a:lnTo>
                  <a:lnTo>
                    <a:pt x="79247" y="496570"/>
                  </a:lnTo>
                  <a:lnTo>
                    <a:pt x="69291" y="514350"/>
                  </a:lnTo>
                  <a:lnTo>
                    <a:pt x="68579" y="514350"/>
                  </a:lnTo>
                  <a:lnTo>
                    <a:pt x="60007" y="533400"/>
                  </a:lnTo>
                  <a:lnTo>
                    <a:pt x="59435" y="533400"/>
                  </a:lnTo>
                  <a:lnTo>
                    <a:pt x="52323" y="551180"/>
                  </a:lnTo>
                  <a:lnTo>
                    <a:pt x="51815" y="551180"/>
                  </a:lnTo>
                  <a:lnTo>
                    <a:pt x="46481" y="568960"/>
                  </a:lnTo>
                  <a:lnTo>
                    <a:pt x="45719" y="568960"/>
                  </a:lnTo>
                  <a:lnTo>
                    <a:pt x="41147" y="589280"/>
                  </a:lnTo>
                  <a:lnTo>
                    <a:pt x="42468" y="589280"/>
                  </a:lnTo>
                  <a:lnTo>
                    <a:pt x="39826" y="605790"/>
                  </a:lnTo>
                  <a:lnTo>
                    <a:pt x="39623" y="605790"/>
                  </a:lnTo>
                  <a:lnTo>
                    <a:pt x="38385" y="622300"/>
                  </a:lnTo>
                  <a:lnTo>
                    <a:pt x="38099" y="622300"/>
                  </a:lnTo>
                  <a:lnTo>
                    <a:pt x="38099" y="642620"/>
                  </a:lnTo>
                  <a:lnTo>
                    <a:pt x="38302" y="642620"/>
                  </a:lnTo>
                  <a:lnTo>
                    <a:pt x="40944" y="659130"/>
                  </a:lnTo>
                  <a:lnTo>
                    <a:pt x="39623" y="659130"/>
                  </a:lnTo>
                  <a:lnTo>
                    <a:pt x="44195" y="679450"/>
                  </a:lnTo>
                  <a:lnTo>
                    <a:pt x="44500" y="679450"/>
                  </a:lnTo>
                  <a:lnTo>
                    <a:pt x="48767" y="697230"/>
                  </a:lnTo>
                  <a:lnTo>
                    <a:pt x="49243" y="697230"/>
                  </a:lnTo>
                  <a:lnTo>
                    <a:pt x="56387" y="716280"/>
                  </a:lnTo>
                  <a:lnTo>
                    <a:pt x="57530" y="716280"/>
                  </a:lnTo>
                  <a:lnTo>
                    <a:pt x="64960" y="732790"/>
                  </a:lnTo>
                  <a:lnTo>
                    <a:pt x="64007" y="732790"/>
                  </a:lnTo>
                  <a:lnTo>
                    <a:pt x="74675" y="751840"/>
                  </a:lnTo>
                  <a:lnTo>
                    <a:pt x="75437" y="751840"/>
                  </a:lnTo>
                  <a:lnTo>
                    <a:pt x="86867" y="770890"/>
                  </a:lnTo>
                  <a:lnTo>
                    <a:pt x="100583" y="788670"/>
                  </a:lnTo>
                  <a:lnTo>
                    <a:pt x="115823" y="806450"/>
                  </a:lnTo>
                  <a:lnTo>
                    <a:pt x="132587" y="825500"/>
                  </a:lnTo>
                  <a:lnTo>
                    <a:pt x="133908" y="825500"/>
                  </a:lnTo>
                  <a:lnTo>
                    <a:pt x="151078" y="842010"/>
                  </a:lnTo>
                  <a:lnTo>
                    <a:pt x="150875" y="842010"/>
                  </a:lnTo>
                  <a:lnTo>
                    <a:pt x="172211" y="862330"/>
                  </a:lnTo>
                  <a:lnTo>
                    <a:pt x="173896" y="862330"/>
                  </a:lnTo>
                  <a:lnTo>
                    <a:pt x="204215" y="885190"/>
                  </a:lnTo>
                  <a:lnTo>
                    <a:pt x="202691" y="885190"/>
                  </a:lnTo>
                  <a:lnTo>
                    <a:pt x="236219" y="908050"/>
                  </a:lnTo>
                  <a:lnTo>
                    <a:pt x="272795" y="930910"/>
                  </a:lnTo>
                  <a:lnTo>
                    <a:pt x="275933" y="930910"/>
                  </a:lnTo>
                  <a:lnTo>
                    <a:pt x="310895" y="949960"/>
                  </a:lnTo>
                  <a:lnTo>
                    <a:pt x="309371" y="949960"/>
                  </a:lnTo>
                  <a:lnTo>
                    <a:pt x="350519" y="970280"/>
                  </a:lnTo>
                  <a:lnTo>
                    <a:pt x="393191" y="990600"/>
                  </a:lnTo>
                  <a:lnTo>
                    <a:pt x="437387" y="1008380"/>
                  </a:lnTo>
                  <a:lnTo>
                    <a:pt x="484631" y="1024890"/>
                  </a:lnTo>
                  <a:lnTo>
                    <a:pt x="483107" y="1024890"/>
                  </a:lnTo>
                  <a:lnTo>
                    <a:pt x="531875" y="1041400"/>
                  </a:lnTo>
                  <a:lnTo>
                    <a:pt x="582167" y="1056640"/>
                  </a:lnTo>
                  <a:lnTo>
                    <a:pt x="580643" y="1056640"/>
                  </a:lnTo>
                  <a:lnTo>
                    <a:pt x="632459" y="1070610"/>
                  </a:lnTo>
                  <a:lnTo>
                    <a:pt x="685799" y="1083310"/>
                  </a:lnTo>
                  <a:lnTo>
                    <a:pt x="795527" y="1106170"/>
                  </a:lnTo>
                  <a:lnTo>
                    <a:pt x="909827" y="1123950"/>
                  </a:lnTo>
                  <a:lnTo>
                    <a:pt x="908303" y="1123950"/>
                  </a:lnTo>
                  <a:lnTo>
                    <a:pt x="1027175" y="1137920"/>
                  </a:lnTo>
                  <a:lnTo>
                    <a:pt x="1147571" y="1146810"/>
                  </a:lnTo>
                  <a:lnTo>
                    <a:pt x="1146047" y="1146810"/>
                  </a:lnTo>
                  <a:lnTo>
                    <a:pt x="1269491" y="1149350"/>
                  </a:lnTo>
                  <a:lnTo>
                    <a:pt x="1764791" y="1149350"/>
                  </a:lnTo>
                  <a:lnTo>
                    <a:pt x="1642871" y="1168400"/>
                  </a:lnTo>
                  <a:lnTo>
                    <a:pt x="1517903" y="1181100"/>
                  </a:lnTo>
                  <a:lnTo>
                    <a:pt x="1394459" y="1186180"/>
                  </a:lnTo>
                  <a:lnTo>
                    <a:pt x="1269491" y="1187450"/>
                  </a:lnTo>
                  <a:close/>
                </a:path>
                <a:path w="2574290" h="1187450">
                  <a:moveTo>
                    <a:pt x="306323" y="308610"/>
                  </a:moveTo>
                  <a:lnTo>
                    <a:pt x="307847" y="307340"/>
                  </a:lnTo>
                  <a:lnTo>
                    <a:pt x="308838" y="307340"/>
                  </a:lnTo>
                  <a:lnTo>
                    <a:pt x="306323" y="308610"/>
                  </a:lnTo>
                  <a:close/>
                </a:path>
                <a:path w="2574290" h="1187450">
                  <a:moveTo>
                    <a:pt x="2391155" y="373380"/>
                  </a:moveTo>
                  <a:lnTo>
                    <a:pt x="2356103" y="347980"/>
                  </a:lnTo>
                  <a:lnTo>
                    <a:pt x="2422071" y="347980"/>
                  </a:lnTo>
                  <a:lnTo>
                    <a:pt x="2446019" y="367030"/>
                  </a:lnTo>
                  <a:lnTo>
                    <a:pt x="2451099" y="370840"/>
                  </a:lnTo>
                  <a:lnTo>
                    <a:pt x="2389631" y="370840"/>
                  </a:lnTo>
                  <a:lnTo>
                    <a:pt x="2391155" y="373380"/>
                  </a:lnTo>
                  <a:close/>
                </a:path>
                <a:path w="2574290" h="1187450">
                  <a:moveTo>
                    <a:pt x="224027" y="356870"/>
                  </a:moveTo>
                  <a:lnTo>
                    <a:pt x="225551" y="355600"/>
                  </a:lnTo>
                  <a:lnTo>
                    <a:pt x="226138" y="355600"/>
                  </a:lnTo>
                  <a:lnTo>
                    <a:pt x="224027" y="356870"/>
                  </a:lnTo>
                  <a:close/>
                </a:path>
                <a:path w="2574290" h="1187450">
                  <a:moveTo>
                    <a:pt x="2511551" y="495300"/>
                  </a:moveTo>
                  <a:lnTo>
                    <a:pt x="2503931" y="481330"/>
                  </a:lnTo>
                  <a:lnTo>
                    <a:pt x="2493263" y="468630"/>
                  </a:lnTo>
                  <a:lnTo>
                    <a:pt x="2494787" y="468630"/>
                  </a:lnTo>
                  <a:lnTo>
                    <a:pt x="2473451" y="444500"/>
                  </a:lnTo>
                  <a:lnTo>
                    <a:pt x="2449067" y="420370"/>
                  </a:lnTo>
                  <a:lnTo>
                    <a:pt x="2421635" y="394970"/>
                  </a:lnTo>
                  <a:lnTo>
                    <a:pt x="2389631" y="370840"/>
                  </a:lnTo>
                  <a:lnTo>
                    <a:pt x="2451099" y="370840"/>
                  </a:lnTo>
                  <a:lnTo>
                    <a:pt x="2461259" y="378460"/>
                  </a:lnTo>
                  <a:lnTo>
                    <a:pt x="2474975" y="392430"/>
                  </a:lnTo>
                  <a:lnTo>
                    <a:pt x="2488691" y="405130"/>
                  </a:lnTo>
                  <a:lnTo>
                    <a:pt x="2513075" y="431800"/>
                  </a:lnTo>
                  <a:lnTo>
                    <a:pt x="2534412" y="459740"/>
                  </a:lnTo>
                  <a:lnTo>
                    <a:pt x="2543555" y="473710"/>
                  </a:lnTo>
                  <a:lnTo>
                    <a:pt x="2552699" y="485140"/>
                  </a:lnTo>
                  <a:lnTo>
                    <a:pt x="2556509" y="492760"/>
                  </a:lnTo>
                  <a:lnTo>
                    <a:pt x="2511551" y="492760"/>
                  </a:lnTo>
                  <a:lnTo>
                    <a:pt x="2511551" y="495300"/>
                  </a:lnTo>
                  <a:close/>
                </a:path>
                <a:path w="2574290" h="1187450">
                  <a:moveTo>
                    <a:pt x="201167" y="374650"/>
                  </a:moveTo>
                  <a:lnTo>
                    <a:pt x="201167" y="373380"/>
                  </a:lnTo>
                  <a:lnTo>
                    <a:pt x="202793" y="373380"/>
                  </a:lnTo>
                  <a:lnTo>
                    <a:pt x="201167" y="374650"/>
                  </a:lnTo>
                  <a:close/>
                </a:path>
                <a:path w="2574290" h="1187450">
                  <a:moveTo>
                    <a:pt x="138683" y="425450"/>
                  </a:moveTo>
                  <a:lnTo>
                    <a:pt x="138683" y="424180"/>
                  </a:lnTo>
                  <a:lnTo>
                    <a:pt x="140098" y="424180"/>
                  </a:lnTo>
                  <a:lnTo>
                    <a:pt x="138683" y="425450"/>
                  </a:lnTo>
                  <a:close/>
                </a:path>
                <a:path w="2574290" h="1187450">
                  <a:moveTo>
                    <a:pt x="121919" y="444500"/>
                  </a:moveTo>
                  <a:lnTo>
                    <a:pt x="121919" y="443230"/>
                  </a:lnTo>
                  <a:lnTo>
                    <a:pt x="122967" y="443230"/>
                  </a:lnTo>
                  <a:lnTo>
                    <a:pt x="121919" y="444500"/>
                  </a:lnTo>
                  <a:close/>
                </a:path>
                <a:path w="2574290" h="1187450">
                  <a:moveTo>
                    <a:pt x="2563783" y="506730"/>
                  </a:moveTo>
                  <a:lnTo>
                    <a:pt x="2520695" y="506730"/>
                  </a:lnTo>
                  <a:lnTo>
                    <a:pt x="2511551" y="492760"/>
                  </a:lnTo>
                  <a:lnTo>
                    <a:pt x="2556509" y="492760"/>
                  </a:lnTo>
                  <a:lnTo>
                    <a:pt x="2560319" y="500380"/>
                  </a:lnTo>
                  <a:lnTo>
                    <a:pt x="2563783" y="506730"/>
                  </a:lnTo>
                  <a:close/>
                </a:path>
                <a:path w="2574290" h="1187450">
                  <a:moveTo>
                    <a:pt x="79247" y="497840"/>
                  </a:moveTo>
                  <a:lnTo>
                    <a:pt x="79247" y="496570"/>
                  </a:lnTo>
                  <a:lnTo>
                    <a:pt x="80118" y="496570"/>
                  </a:lnTo>
                  <a:lnTo>
                    <a:pt x="79247" y="497840"/>
                  </a:lnTo>
                  <a:close/>
                </a:path>
                <a:path w="2574290" h="1187450">
                  <a:moveTo>
                    <a:pt x="2526791" y="519430"/>
                  </a:moveTo>
                  <a:lnTo>
                    <a:pt x="2519171" y="505460"/>
                  </a:lnTo>
                  <a:lnTo>
                    <a:pt x="2520695" y="506730"/>
                  </a:lnTo>
                  <a:lnTo>
                    <a:pt x="2563783" y="506730"/>
                  </a:lnTo>
                  <a:lnTo>
                    <a:pt x="2567939" y="514350"/>
                  </a:lnTo>
                  <a:lnTo>
                    <a:pt x="2569602" y="518160"/>
                  </a:lnTo>
                  <a:lnTo>
                    <a:pt x="2526791" y="518160"/>
                  </a:lnTo>
                  <a:lnTo>
                    <a:pt x="2526791" y="519430"/>
                  </a:lnTo>
                  <a:close/>
                </a:path>
                <a:path w="2574290" h="1187450">
                  <a:moveTo>
                    <a:pt x="68579" y="515620"/>
                  </a:moveTo>
                  <a:lnTo>
                    <a:pt x="68579" y="514350"/>
                  </a:lnTo>
                  <a:lnTo>
                    <a:pt x="69291" y="514350"/>
                  </a:lnTo>
                  <a:lnTo>
                    <a:pt x="68579" y="515620"/>
                  </a:lnTo>
                  <a:close/>
                </a:path>
                <a:path w="2574290" h="1187450">
                  <a:moveTo>
                    <a:pt x="2532887" y="530860"/>
                  </a:moveTo>
                  <a:lnTo>
                    <a:pt x="2526791" y="518160"/>
                  </a:lnTo>
                  <a:lnTo>
                    <a:pt x="2569602" y="518160"/>
                  </a:lnTo>
                  <a:lnTo>
                    <a:pt x="2574036" y="528320"/>
                  </a:lnTo>
                  <a:lnTo>
                    <a:pt x="2574036" y="529590"/>
                  </a:lnTo>
                  <a:lnTo>
                    <a:pt x="2532887" y="529590"/>
                  </a:lnTo>
                  <a:lnTo>
                    <a:pt x="2532887" y="530860"/>
                  </a:lnTo>
                  <a:close/>
                </a:path>
                <a:path w="2574290" h="1187450">
                  <a:moveTo>
                    <a:pt x="2574036" y="543560"/>
                  </a:moveTo>
                  <a:lnTo>
                    <a:pt x="2538983" y="543560"/>
                  </a:lnTo>
                  <a:lnTo>
                    <a:pt x="2532887" y="529590"/>
                  </a:lnTo>
                  <a:lnTo>
                    <a:pt x="2574036" y="529590"/>
                  </a:lnTo>
                  <a:lnTo>
                    <a:pt x="2574036" y="543560"/>
                  </a:lnTo>
                  <a:close/>
                </a:path>
                <a:path w="2574290" h="1187450">
                  <a:moveTo>
                    <a:pt x="59435" y="534670"/>
                  </a:moveTo>
                  <a:lnTo>
                    <a:pt x="59435" y="533400"/>
                  </a:lnTo>
                  <a:lnTo>
                    <a:pt x="60007" y="533400"/>
                  </a:lnTo>
                  <a:lnTo>
                    <a:pt x="59435" y="534670"/>
                  </a:lnTo>
                  <a:close/>
                </a:path>
                <a:path w="2574290" h="1187450">
                  <a:moveTo>
                    <a:pt x="2543555" y="556260"/>
                  </a:moveTo>
                  <a:lnTo>
                    <a:pt x="2537459" y="542290"/>
                  </a:lnTo>
                  <a:lnTo>
                    <a:pt x="2538983" y="543560"/>
                  </a:lnTo>
                  <a:lnTo>
                    <a:pt x="2574036" y="543560"/>
                  </a:lnTo>
                  <a:lnTo>
                    <a:pt x="2574036" y="553720"/>
                  </a:lnTo>
                  <a:lnTo>
                    <a:pt x="2543555" y="553720"/>
                  </a:lnTo>
                  <a:lnTo>
                    <a:pt x="2543555" y="556260"/>
                  </a:lnTo>
                  <a:close/>
                </a:path>
                <a:path w="2574290" h="1187450">
                  <a:moveTo>
                    <a:pt x="51815" y="552450"/>
                  </a:moveTo>
                  <a:lnTo>
                    <a:pt x="51815" y="551180"/>
                  </a:lnTo>
                  <a:lnTo>
                    <a:pt x="52323" y="551180"/>
                  </a:lnTo>
                  <a:lnTo>
                    <a:pt x="51815" y="552450"/>
                  </a:lnTo>
                  <a:close/>
                </a:path>
                <a:path w="2574290" h="1187450">
                  <a:moveTo>
                    <a:pt x="2546603" y="567690"/>
                  </a:moveTo>
                  <a:lnTo>
                    <a:pt x="2543555" y="553720"/>
                  </a:lnTo>
                  <a:lnTo>
                    <a:pt x="2574036" y="553720"/>
                  </a:lnTo>
                  <a:lnTo>
                    <a:pt x="2574036" y="566420"/>
                  </a:lnTo>
                  <a:lnTo>
                    <a:pt x="2546603" y="566420"/>
                  </a:lnTo>
                  <a:lnTo>
                    <a:pt x="2546603" y="567690"/>
                  </a:lnTo>
                  <a:close/>
                </a:path>
                <a:path w="2574290" h="1187450">
                  <a:moveTo>
                    <a:pt x="2549651" y="580390"/>
                  </a:moveTo>
                  <a:lnTo>
                    <a:pt x="2546603" y="566420"/>
                  </a:lnTo>
                  <a:lnTo>
                    <a:pt x="2574036" y="566420"/>
                  </a:lnTo>
                  <a:lnTo>
                    <a:pt x="2574036" y="577850"/>
                  </a:lnTo>
                  <a:lnTo>
                    <a:pt x="2549651" y="577850"/>
                  </a:lnTo>
                  <a:lnTo>
                    <a:pt x="2549651" y="580390"/>
                  </a:lnTo>
                  <a:close/>
                </a:path>
                <a:path w="2574290" h="1187450">
                  <a:moveTo>
                    <a:pt x="45719" y="571500"/>
                  </a:moveTo>
                  <a:lnTo>
                    <a:pt x="45719" y="568960"/>
                  </a:lnTo>
                  <a:lnTo>
                    <a:pt x="46481" y="568960"/>
                  </a:lnTo>
                  <a:lnTo>
                    <a:pt x="45719" y="571500"/>
                  </a:lnTo>
                  <a:close/>
                </a:path>
                <a:path w="2574290" h="1187450">
                  <a:moveTo>
                    <a:pt x="2552699" y="591820"/>
                  </a:moveTo>
                  <a:lnTo>
                    <a:pt x="2549651" y="577850"/>
                  </a:lnTo>
                  <a:lnTo>
                    <a:pt x="2574036" y="577850"/>
                  </a:lnTo>
                  <a:lnTo>
                    <a:pt x="2574036" y="590550"/>
                  </a:lnTo>
                  <a:lnTo>
                    <a:pt x="2552699" y="590550"/>
                  </a:lnTo>
                  <a:lnTo>
                    <a:pt x="2552699" y="591820"/>
                  </a:lnTo>
                  <a:close/>
                </a:path>
                <a:path w="2574290" h="1187450">
                  <a:moveTo>
                    <a:pt x="42468" y="589280"/>
                  </a:moveTo>
                  <a:lnTo>
                    <a:pt x="41147" y="589280"/>
                  </a:lnTo>
                  <a:lnTo>
                    <a:pt x="42671" y="588010"/>
                  </a:lnTo>
                  <a:lnTo>
                    <a:pt x="42468" y="589280"/>
                  </a:lnTo>
                  <a:close/>
                </a:path>
                <a:path w="2574290" h="1187450">
                  <a:moveTo>
                    <a:pt x="2574036" y="640080"/>
                  </a:moveTo>
                  <a:lnTo>
                    <a:pt x="2555747" y="640080"/>
                  </a:lnTo>
                  <a:lnTo>
                    <a:pt x="2555747" y="614680"/>
                  </a:lnTo>
                  <a:lnTo>
                    <a:pt x="2552699" y="590550"/>
                  </a:lnTo>
                  <a:lnTo>
                    <a:pt x="2574036" y="590550"/>
                  </a:lnTo>
                  <a:lnTo>
                    <a:pt x="2574036" y="640080"/>
                  </a:lnTo>
                  <a:close/>
                </a:path>
                <a:path w="2574290" h="1187450">
                  <a:moveTo>
                    <a:pt x="39623" y="607060"/>
                  </a:moveTo>
                  <a:lnTo>
                    <a:pt x="39623" y="605790"/>
                  </a:lnTo>
                  <a:lnTo>
                    <a:pt x="39826" y="605790"/>
                  </a:lnTo>
                  <a:lnTo>
                    <a:pt x="39623" y="607060"/>
                  </a:lnTo>
                  <a:close/>
                </a:path>
                <a:path w="2574290" h="1187450">
                  <a:moveTo>
                    <a:pt x="38099" y="626110"/>
                  </a:moveTo>
                  <a:lnTo>
                    <a:pt x="38099" y="622300"/>
                  </a:lnTo>
                  <a:lnTo>
                    <a:pt x="38385" y="622300"/>
                  </a:lnTo>
                  <a:lnTo>
                    <a:pt x="38099" y="626110"/>
                  </a:lnTo>
                  <a:close/>
                </a:path>
                <a:path w="2574290" h="1187450">
                  <a:moveTo>
                    <a:pt x="2574036" y="651510"/>
                  </a:moveTo>
                  <a:lnTo>
                    <a:pt x="2554223" y="651510"/>
                  </a:lnTo>
                  <a:lnTo>
                    <a:pt x="2555747" y="637540"/>
                  </a:lnTo>
                  <a:lnTo>
                    <a:pt x="2555747" y="640080"/>
                  </a:lnTo>
                  <a:lnTo>
                    <a:pt x="2574036" y="640080"/>
                  </a:lnTo>
                  <a:lnTo>
                    <a:pt x="2574036" y="651510"/>
                  </a:lnTo>
                  <a:close/>
                </a:path>
                <a:path w="2574290" h="1187450">
                  <a:moveTo>
                    <a:pt x="38302" y="642620"/>
                  </a:moveTo>
                  <a:lnTo>
                    <a:pt x="38099" y="642620"/>
                  </a:lnTo>
                  <a:lnTo>
                    <a:pt x="38099" y="641350"/>
                  </a:lnTo>
                  <a:lnTo>
                    <a:pt x="38302" y="642620"/>
                  </a:lnTo>
                  <a:close/>
                </a:path>
                <a:path w="2574290" h="1187450">
                  <a:moveTo>
                    <a:pt x="2574036" y="664210"/>
                  </a:moveTo>
                  <a:lnTo>
                    <a:pt x="2552699" y="664210"/>
                  </a:lnTo>
                  <a:lnTo>
                    <a:pt x="2554223" y="650240"/>
                  </a:lnTo>
                  <a:lnTo>
                    <a:pt x="2554223" y="651510"/>
                  </a:lnTo>
                  <a:lnTo>
                    <a:pt x="2574036" y="651510"/>
                  </a:lnTo>
                  <a:lnTo>
                    <a:pt x="2574036" y="664210"/>
                  </a:lnTo>
                  <a:close/>
                </a:path>
                <a:path w="2574290" h="1187450">
                  <a:moveTo>
                    <a:pt x="41147" y="660400"/>
                  </a:moveTo>
                  <a:lnTo>
                    <a:pt x="39623" y="659130"/>
                  </a:lnTo>
                  <a:lnTo>
                    <a:pt x="40944" y="659130"/>
                  </a:lnTo>
                  <a:lnTo>
                    <a:pt x="41147" y="660400"/>
                  </a:lnTo>
                  <a:close/>
                </a:path>
                <a:path w="2574290" h="1187450">
                  <a:moveTo>
                    <a:pt x="2574036" y="675640"/>
                  </a:moveTo>
                  <a:lnTo>
                    <a:pt x="2551175" y="675640"/>
                  </a:lnTo>
                  <a:lnTo>
                    <a:pt x="2552699" y="661670"/>
                  </a:lnTo>
                  <a:lnTo>
                    <a:pt x="2552699" y="664210"/>
                  </a:lnTo>
                  <a:lnTo>
                    <a:pt x="2574036" y="664210"/>
                  </a:lnTo>
                  <a:lnTo>
                    <a:pt x="2574036" y="675640"/>
                  </a:lnTo>
                  <a:close/>
                </a:path>
                <a:path w="2574290" h="1187450">
                  <a:moveTo>
                    <a:pt x="2574036" y="723900"/>
                  </a:moveTo>
                  <a:lnTo>
                    <a:pt x="2534412" y="723900"/>
                  </a:lnTo>
                  <a:lnTo>
                    <a:pt x="2548128" y="687070"/>
                  </a:lnTo>
                  <a:lnTo>
                    <a:pt x="2551175" y="674370"/>
                  </a:lnTo>
                  <a:lnTo>
                    <a:pt x="2551175" y="675640"/>
                  </a:lnTo>
                  <a:lnTo>
                    <a:pt x="2574036" y="675640"/>
                  </a:lnTo>
                  <a:lnTo>
                    <a:pt x="2574036" y="723900"/>
                  </a:lnTo>
                  <a:close/>
                </a:path>
                <a:path w="2574290" h="1187450">
                  <a:moveTo>
                    <a:pt x="44500" y="679450"/>
                  </a:moveTo>
                  <a:lnTo>
                    <a:pt x="44195" y="679450"/>
                  </a:lnTo>
                  <a:lnTo>
                    <a:pt x="44195" y="678180"/>
                  </a:lnTo>
                  <a:lnTo>
                    <a:pt x="44500" y="679450"/>
                  </a:lnTo>
                  <a:close/>
                </a:path>
                <a:path w="2574290" h="1187450">
                  <a:moveTo>
                    <a:pt x="49243" y="697230"/>
                  </a:moveTo>
                  <a:lnTo>
                    <a:pt x="48767" y="697230"/>
                  </a:lnTo>
                  <a:lnTo>
                    <a:pt x="48767" y="695960"/>
                  </a:lnTo>
                  <a:lnTo>
                    <a:pt x="49243" y="697230"/>
                  </a:lnTo>
                  <a:close/>
                </a:path>
                <a:path w="2574290" h="1187450">
                  <a:moveTo>
                    <a:pt x="57530" y="716280"/>
                  </a:moveTo>
                  <a:lnTo>
                    <a:pt x="56387" y="716280"/>
                  </a:lnTo>
                  <a:lnTo>
                    <a:pt x="56387" y="713740"/>
                  </a:lnTo>
                  <a:lnTo>
                    <a:pt x="57530" y="716280"/>
                  </a:lnTo>
                  <a:close/>
                </a:path>
                <a:path w="2574290" h="1187450">
                  <a:moveTo>
                    <a:pt x="2570606" y="735330"/>
                  </a:moveTo>
                  <a:lnTo>
                    <a:pt x="2528315" y="735330"/>
                  </a:lnTo>
                  <a:lnTo>
                    <a:pt x="2534412" y="721360"/>
                  </a:lnTo>
                  <a:lnTo>
                    <a:pt x="2534412" y="723900"/>
                  </a:lnTo>
                  <a:lnTo>
                    <a:pt x="2574036" y="723900"/>
                  </a:lnTo>
                  <a:lnTo>
                    <a:pt x="2574036" y="727710"/>
                  </a:lnTo>
                  <a:lnTo>
                    <a:pt x="2570606" y="735330"/>
                  </a:lnTo>
                  <a:close/>
                </a:path>
                <a:path w="2574290" h="1187450">
                  <a:moveTo>
                    <a:pt x="65531" y="734060"/>
                  </a:moveTo>
                  <a:lnTo>
                    <a:pt x="64007" y="732790"/>
                  </a:lnTo>
                  <a:lnTo>
                    <a:pt x="64960" y="732790"/>
                  </a:lnTo>
                  <a:lnTo>
                    <a:pt x="65531" y="734060"/>
                  </a:lnTo>
                  <a:close/>
                </a:path>
                <a:path w="2574290" h="1187450">
                  <a:moveTo>
                    <a:pt x="2497835" y="782320"/>
                  </a:moveTo>
                  <a:lnTo>
                    <a:pt x="2506979" y="770890"/>
                  </a:lnTo>
                  <a:lnTo>
                    <a:pt x="2522219" y="746760"/>
                  </a:lnTo>
                  <a:lnTo>
                    <a:pt x="2528315" y="734060"/>
                  </a:lnTo>
                  <a:lnTo>
                    <a:pt x="2528315" y="735330"/>
                  </a:lnTo>
                  <a:lnTo>
                    <a:pt x="2570606" y="735330"/>
                  </a:lnTo>
                  <a:lnTo>
                    <a:pt x="2569463" y="737870"/>
                  </a:lnTo>
                  <a:lnTo>
                    <a:pt x="2561843" y="751840"/>
                  </a:lnTo>
                  <a:lnTo>
                    <a:pt x="2555747" y="765810"/>
                  </a:lnTo>
                  <a:lnTo>
                    <a:pt x="2546603" y="778510"/>
                  </a:lnTo>
                  <a:lnTo>
                    <a:pt x="2545218" y="781050"/>
                  </a:lnTo>
                  <a:lnTo>
                    <a:pt x="2499359" y="781050"/>
                  </a:lnTo>
                  <a:lnTo>
                    <a:pt x="2497835" y="782320"/>
                  </a:lnTo>
                  <a:close/>
                </a:path>
                <a:path w="2574290" h="1187450">
                  <a:moveTo>
                    <a:pt x="75437" y="751840"/>
                  </a:moveTo>
                  <a:lnTo>
                    <a:pt x="74675" y="751840"/>
                  </a:lnTo>
                  <a:lnTo>
                    <a:pt x="74675" y="750570"/>
                  </a:lnTo>
                  <a:lnTo>
                    <a:pt x="75437" y="751840"/>
                  </a:lnTo>
                  <a:close/>
                </a:path>
                <a:path w="2574290" h="1187450">
                  <a:moveTo>
                    <a:pt x="2519171" y="817880"/>
                  </a:moveTo>
                  <a:lnTo>
                    <a:pt x="2468879" y="817880"/>
                  </a:lnTo>
                  <a:lnTo>
                    <a:pt x="2479547" y="805180"/>
                  </a:lnTo>
                  <a:lnTo>
                    <a:pt x="2488691" y="793750"/>
                  </a:lnTo>
                  <a:lnTo>
                    <a:pt x="2499359" y="781050"/>
                  </a:lnTo>
                  <a:lnTo>
                    <a:pt x="2545218" y="781050"/>
                  </a:lnTo>
                  <a:lnTo>
                    <a:pt x="2538983" y="792480"/>
                  </a:lnTo>
                  <a:lnTo>
                    <a:pt x="2528315" y="805180"/>
                  </a:lnTo>
                  <a:lnTo>
                    <a:pt x="2519171" y="817880"/>
                  </a:lnTo>
                  <a:close/>
                </a:path>
                <a:path w="2574290" h="1187450">
                  <a:moveTo>
                    <a:pt x="2444498" y="840737"/>
                  </a:moveTo>
                  <a:lnTo>
                    <a:pt x="2458212" y="828040"/>
                  </a:lnTo>
                  <a:lnTo>
                    <a:pt x="2456687" y="828040"/>
                  </a:lnTo>
                  <a:lnTo>
                    <a:pt x="2468879" y="816610"/>
                  </a:lnTo>
                  <a:lnTo>
                    <a:pt x="2468879" y="817880"/>
                  </a:lnTo>
                  <a:lnTo>
                    <a:pt x="2519171" y="817880"/>
                  </a:lnTo>
                  <a:lnTo>
                    <a:pt x="2508503" y="830580"/>
                  </a:lnTo>
                  <a:lnTo>
                    <a:pt x="2499969" y="839470"/>
                  </a:lnTo>
                  <a:lnTo>
                    <a:pt x="2446019" y="839470"/>
                  </a:lnTo>
                  <a:lnTo>
                    <a:pt x="2444498" y="840737"/>
                  </a:lnTo>
                  <a:close/>
                </a:path>
                <a:path w="2574290" h="1187450">
                  <a:moveTo>
                    <a:pt x="133908" y="825500"/>
                  </a:moveTo>
                  <a:lnTo>
                    <a:pt x="132587" y="825500"/>
                  </a:lnTo>
                  <a:lnTo>
                    <a:pt x="132587" y="824230"/>
                  </a:lnTo>
                  <a:lnTo>
                    <a:pt x="133908" y="825500"/>
                  </a:lnTo>
                  <a:close/>
                </a:path>
                <a:path w="2574290" h="1187450">
                  <a:moveTo>
                    <a:pt x="2498750" y="840740"/>
                  </a:moveTo>
                  <a:lnTo>
                    <a:pt x="2444495" y="840740"/>
                  </a:lnTo>
                  <a:lnTo>
                    <a:pt x="2446019" y="839470"/>
                  </a:lnTo>
                  <a:lnTo>
                    <a:pt x="2499969" y="839470"/>
                  </a:lnTo>
                  <a:lnTo>
                    <a:pt x="2498750" y="840740"/>
                  </a:lnTo>
                  <a:close/>
                </a:path>
                <a:path w="2574290" h="1187450">
                  <a:moveTo>
                    <a:pt x="2362199" y="948690"/>
                  </a:moveTo>
                  <a:lnTo>
                    <a:pt x="2287523" y="948690"/>
                  </a:lnTo>
                  <a:lnTo>
                    <a:pt x="2307335" y="938530"/>
                  </a:lnTo>
                  <a:lnTo>
                    <a:pt x="2325623" y="927100"/>
                  </a:lnTo>
                  <a:lnTo>
                    <a:pt x="2324099" y="927100"/>
                  </a:lnTo>
                  <a:lnTo>
                    <a:pt x="2342387" y="916940"/>
                  </a:lnTo>
                  <a:lnTo>
                    <a:pt x="2375915" y="895350"/>
                  </a:lnTo>
                  <a:lnTo>
                    <a:pt x="2374391" y="895350"/>
                  </a:lnTo>
                  <a:lnTo>
                    <a:pt x="2391155" y="885190"/>
                  </a:lnTo>
                  <a:lnTo>
                    <a:pt x="2389631" y="885190"/>
                  </a:lnTo>
                  <a:lnTo>
                    <a:pt x="2420112" y="862330"/>
                  </a:lnTo>
                  <a:lnTo>
                    <a:pt x="2418587" y="862330"/>
                  </a:lnTo>
                  <a:lnTo>
                    <a:pt x="2444498" y="840737"/>
                  </a:lnTo>
                  <a:lnTo>
                    <a:pt x="2498750" y="840740"/>
                  </a:lnTo>
                  <a:lnTo>
                    <a:pt x="2484119" y="855980"/>
                  </a:lnTo>
                  <a:lnTo>
                    <a:pt x="2470403" y="868680"/>
                  </a:lnTo>
                  <a:lnTo>
                    <a:pt x="2458212" y="880110"/>
                  </a:lnTo>
                  <a:lnTo>
                    <a:pt x="2442971" y="892810"/>
                  </a:lnTo>
                  <a:lnTo>
                    <a:pt x="2427731" y="902970"/>
                  </a:lnTo>
                  <a:lnTo>
                    <a:pt x="2397251" y="927100"/>
                  </a:lnTo>
                  <a:lnTo>
                    <a:pt x="2380487" y="938530"/>
                  </a:lnTo>
                  <a:lnTo>
                    <a:pt x="2362199" y="948690"/>
                  </a:lnTo>
                  <a:close/>
                </a:path>
                <a:path w="2574290" h="1187450">
                  <a:moveTo>
                    <a:pt x="152399" y="843280"/>
                  </a:moveTo>
                  <a:lnTo>
                    <a:pt x="150875" y="842010"/>
                  </a:lnTo>
                  <a:lnTo>
                    <a:pt x="151078" y="842010"/>
                  </a:lnTo>
                  <a:lnTo>
                    <a:pt x="152399" y="843280"/>
                  </a:lnTo>
                  <a:close/>
                </a:path>
                <a:path w="2574290" h="1187450">
                  <a:moveTo>
                    <a:pt x="173896" y="862330"/>
                  </a:moveTo>
                  <a:lnTo>
                    <a:pt x="172211" y="862330"/>
                  </a:lnTo>
                  <a:lnTo>
                    <a:pt x="172211" y="861060"/>
                  </a:lnTo>
                  <a:lnTo>
                    <a:pt x="173896" y="862330"/>
                  </a:lnTo>
                  <a:close/>
                </a:path>
                <a:path w="2574290" h="1187450">
                  <a:moveTo>
                    <a:pt x="275933" y="930910"/>
                  </a:moveTo>
                  <a:lnTo>
                    <a:pt x="272795" y="930910"/>
                  </a:lnTo>
                  <a:lnTo>
                    <a:pt x="271271" y="928370"/>
                  </a:lnTo>
                  <a:lnTo>
                    <a:pt x="275933" y="930910"/>
                  </a:lnTo>
                  <a:close/>
                </a:path>
                <a:path w="2574290" h="1187450">
                  <a:moveTo>
                    <a:pt x="2329281" y="969010"/>
                  </a:moveTo>
                  <a:lnTo>
                    <a:pt x="2249423" y="969010"/>
                  </a:lnTo>
                  <a:lnTo>
                    <a:pt x="2289047" y="947420"/>
                  </a:lnTo>
                  <a:lnTo>
                    <a:pt x="2287523" y="948690"/>
                  </a:lnTo>
                  <a:lnTo>
                    <a:pt x="2362199" y="948690"/>
                  </a:lnTo>
                  <a:lnTo>
                    <a:pt x="2343912" y="958850"/>
                  </a:lnTo>
                  <a:lnTo>
                    <a:pt x="2329281" y="969010"/>
                  </a:lnTo>
                  <a:close/>
                </a:path>
                <a:path w="2574290" h="1187450">
                  <a:moveTo>
                    <a:pt x="2096007" y="1070610"/>
                  </a:moveTo>
                  <a:lnTo>
                    <a:pt x="1961387" y="1070610"/>
                  </a:lnTo>
                  <a:lnTo>
                    <a:pt x="2016251" y="1055370"/>
                  </a:lnTo>
                  <a:lnTo>
                    <a:pt x="2042159" y="1047750"/>
                  </a:lnTo>
                  <a:lnTo>
                    <a:pt x="2068067" y="1038860"/>
                  </a:lnTo>
                  <a:lnTo>
                    <a:pt x="2066543" y="1038860"/>
                  </a:lnTo>
                  <a:lnTo>
                    <a:pt x="2092451" y="1031240"/>
                  </a:lnTo>
                  <a:lnTo>
                    <a:pt x="2116835" y="1023620"/>
                  </a:lnTo>
                  <a:lnTo>
                    <a:pt x="2208275" y="986790"/>
                  </a:lnTo>
                  <a:lnTo>
                    <a:pt x="2206751" y="986790"/>
                  </a:lnTo>
                  <a:lnTo>
                    <a:pt x="2228087" y="977900"/>
                  </a:lnTo>
                  <a:lnTo>
                    <a:pt x="2249423" y="966470"/>
                  </a:lnTo>
                  <a:lnTo>
                    <a:pt x="2249423" y="969010"/>
                  </a:lnTo>
                  <a:lnTo>
                    <a:pt x="2329281" y="969010"/>
                  </a:lnTo>
                  <a:lnTo>
                    <a:pt x="2325623" y="971550"/>
                  </a:lnTo>
                  <a:lnTo>
                    <a:pt x="2305812" y="982980"/>
                  </a:lnTo>
                  <a:lnTo>
                    <a:pt x="2285999" y="991870"/>
                  </a:lnTo>
                  <a:lnTo>
                    <a:pt x="2266187" y="1002030"/>
                  </a:lnTo>
                  <a:lnTo>
                    <a:pt x="2244851" y="1013460"/>
                  </a:lnTo>
                  <a:lnTo>
                    <a:pt x="2221991" y="1022350"/>
                  </a:lnTo>
                  <a:lnTo>
                    <a:pt x="2200655" y="1031240"/>
                  </a:lnTo>
                  <a:lnTo>
                    <a:pt x="2104643" y="1068070"/>
                  </a:lnTo>
                  <a:lnTo>
                    <a:pt x="2096007" y="1070610"/>
                  </a:lnTo>
                  <a:close/>
                </a:path>
                <a:path w="2574290" h="1187450">
                  <a:moveTo>
                    <a:pt x="1764791" y="1149350"/>
                  </a:moveTo>
                  <a:lnTo>
                    <a:pt x="1269491" y="1149350"/>
                  </a:lnTo>
                  <a:lnTo>
                    <a:pt x="1392935" y="1148080"/>
                  </a:lnTo>
                  <a:lnTo>
                    <a:pt x="1391411" y="1148080"/>
                  </a:lnTo>
                  <a:lnTo>
                    <a:pt x="1516379" y="1143000"/>
                  </a:lnTo>
                  <a:lnTo>
                    <a:pt x="1514855" y="1143000"/>
                  </a:lnTo>
                  <a:lnTo>
                    <a:pt x="1638299" y="1130300"/>
                  </a:lnTo>
                  <a:lnTo>
                    <a:pt x="1758695" y="1113790"/>
                  </a:lnTo>
                  <a:lnTo>
                    <a:pt x="1877567" y="1090930"/>
                  </a:lnTo>
                  <a:lnTo>
                    <a:pt x="1876043" y="1090930"/>
                  </a:lnTo>
                  <a:lnTo>
                    <a:pt x="1933955" y="1076960"/>
                  </a:lnTo>
                  <a:lnTo>
                    <a:pt x="1962912" y="1069340"/>
                  </a:lnTo>
                  <a:lnTo>
                    <a:pt x="1961387" y="1070610"/>
                  </a:lnTo>
                  <a:lnTo>
                    <a:pt x="2096007" y="1070610"/>
                  </a:lnTo>
                  <a:lnTo>
                    <a:pt x="2078735" y="1075690"/>
                  </a:lnTo>
                  <a:lnTo>
                    <a:pt x="2052828" y="1084580"/>
                  </a:lnTo>
                  <a:lnTo>
                    <a:pt x="2026919" y="1092200"/>
                  </a:lnTo>
                  <a:lnTo>
                    <a:pt x="1972055" y="1107440"/>
                  </a:lnTo>
                  <a:lnTo>
                    <a:pt x="1943099" y="1113790"/>
                  </a:lnTo>
                  <a:lnTo>
                    <a:pt x="1885187" y="1127760"/>
                  </a:lnTo>
                  <a:lnTo>
                    <a:pt x="1764791" y="1149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499031" y="6221991"/>
            <a:ext cx="146748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omic Sans MS"/>
                <a:cs typeface="Comic Sans MS"/>
              </a:rPr>
              <a:t>Melhor</a:t>
            </a:r>
            <a:r>
              <a:rPr sz="1800" b="1" spc="-95" dirty="0">
                <a:latin typeface="Comic Sans MS"/>
                <a:cs typeface="Comic Sans MS"/>
              </a:rPr>
              <a:t> </a:t>
            </a:r>
            <a:r>
              <a:rPr sz="1800" b="1" spc="-5" dirty="0">
                <a:latin typeface="Comic Sans MS"/>
                <a:cs typeface="Comic Sans MS"/>
              </a:rPr>
              <a:t>virem  juntos,  integrados.</a:t>
            </a:r>
            <a:endParaRPr sz="180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27895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Design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  <a:p>
            <a:pPr marL="356235" indent="-344170">
              <a:spcBef>
                <a:spcPts val="590"/>
              </a:spcBef>
              <a:tabLst>
                <a:tab pos="355600" algn="l"/>
                <a:tab pos="356870" algn="l"/>
              </a:tabLst>
            </a:pPr>
            <a:r>
              <a:rPr lang="pt-BR" dirty="0">
                <a:cs typeface="Arial"/>
              </a:rPr>
              <a:t>O </a:t>
            </a:r>
            <a:r>
              <a:rPr lang="pt-BR" spc="-5" dirty="0">
                <a:cs typeface="Arial"/>
              </a:rPr>
              <a:t>que </a:t>
            </a:r>
            <a:r>
              <a:rPr lang="pt-BR" dirty="0">
                <a:cs typeface="Arial"/>
              </a:rPr>
              <a:t>é design </a:t>
            </a:r>
            <a:r>
              <a:rPr lang="pt-BR" spc="5" dirty="0">
                <a:cs typeface="Arial"/>
              </a:rPr>
              <a:t>(de</a:t>
            </a:r>
            <a:r>
              <a:rPr lang="pt-BR" spc="-155" dirty="0">
                <a:cs typeface="Arial"/>
              </a:rPr>
              <a:t> </a:t>
            </a:r>
            <a:r>
              <a:rPr lang="pt-BR" dirty="0">
                <a:cs typeface="Arial"/>
              </a:rPr>
              <a:t>IHC)?</a:t>
            </a:r>
          </a:p>
          <a:p>
            <a:pPr marL="756285" marR="5080" lvl="1" indent="-287020">
              <a:lnSpc>
                <a:spcPct val="100000"/>
              </a:lnSpc>
              <a:spcBef>
                <a:spcPts val="445"/>
              </a:spcBef>
              <a:buChar char="–"/>
              <a:tabLst>
                <a:tab pos="755015" algn="l"/>
                <a:tab pos="756285" algn="l"/>
              </a:tabLst>
            </a:pPr>
            <a:r>
              <a:rPr lang="pt-BR" sz="3100" dirty="0">
                <a:cs typeface="Arial"/>
              </a:rPr>
              <a:t>Uma </a:t>
            </a:r>
            <a:r>
              <a:rPr lang="pt-BR" sz="3100" i="1" spc="-5" dirty="0">
                <a:cs typeface="Arial"/>
              </a:rPr>
              <a:t>intervenção </a:t>
            </a:r>
            <a:r>
              <a:rPr lang="pt-BR" sz="3100" spc="-10" dirty="0">
                <a:cs typeface="Arial"/>
              </a:rPr>
              <a:t>na </a:t>
            </a:r>
            <a:r>
              <a:rPr lang="pt-BR" sz="3100" spc="-5" dirty="0">
                <a:cs typeface="Arial"/>
              </a:rPr>
              <a:t>situação atual (para </a:t>
            </a:r>
            <a:r>
              <a:rPr lang="pt-BR" sz="3100" spc="-10" dirty="0">
                <a:cs typeface="Arial"/>
              </a:rPr>
              <a:t>mudar </a:t>
            </a:r>
            <a:r>
              <a:rPr lang="pt-BR" sz="3100" dirty="0">
                <a:cs typeface="Arial"/>
              </a:rPr>
              <a:t>e </a:t>
            </a:r>
            <a:r>
              <a:rPr lang="pt-BR" sz="3100" spc="-10" dirty="0">
                <a:cs typeface="Arial"/>
              </a:rPr>
              <a:t>“melhorar” </a:t>
            </a:r>
            <a:r>
              <a:rPr lang="pt-BR" sz="3100" dirty="0">
                <a:cs typeface="Arial"/>
              </a:rPr>
              <a:t>o </a:t>
            </a:r>
            <a:r>
              <a:rPr lang="pt-BR" sz="3100" spc="-5" dirty="0">
                <a:cs typeface="Arial"/>
              </a:rPr>
              <a:t>estado  corrente </a:t>
            </a:r>
            <a:r>
              <a:rPr lang="pt-BR" sz="3100" spc="-10" dirty="0">
                <a:cs typeface="Arial"/>
              </a:rPr>
              <a:t>das</a:t>
            </a:r>
            <a:r>
              <a:rPr lang="pt-BR" sz="3100" spc="10" dirty="0">
                <a:cs typeface="Arial"/>
              </a:rPr>
              <a:t> </a:t>
            </a:r>
            <a:r>
              <a:rPr lang="pt-BR" sz="3100" spc="-5" dirty="0">
                <a:cs typeface="Arial"/>
              </a:rPr>
              <a:t>coisas).</a:t>
            </a:r>
            <a:endParaRPr lang="pt-BR" sz="3100" dirty="0">
              <a:cs typeface="Arial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445"/>
              </a:spcBef>
              <a:buChar char="–"/>
              <a:tabLst>
                <a:tab pos="755015" algn="l"/>
                <a:tab pos="756285" algn="l"/>
              </a:tabLst>
            </a:pPr>
            <a:r>
              <a:rPr lang="pt-BR" dirty="0"/>
              <a:t>Cap. 3. Livro: Design e Avaliação de Interfaces Humano-Computador. Heloísa Vieira da Rocha, Maria Cecília </a:t>
            </a:r>
            <a:r>
              <a:rPr lang="pt-BR" dirty="0" err="1"/>
              <a:t>Baranauskas</a:t>
            </a:r>
            <a:r>
              <a:rPr lang="pt-BR" dirty="0"/>
              <a:t>. Disponível em: </a:t>
            </a:r>
            <a:r>
              <a:rPr lang="pt-BR" dirty="0">
                <a:hlinkClick r:id="rId2"/>
              </a:rPr>
              <a:t>https://www.nied.unicamp.br/biblioteca/design-e-avaliacao-de-interfaces-humano-computador/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78010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 é Heurística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 marR="57150">
              <a:lnSpc>
                <a:spcPts val="2590"/>
              </a:lnSpc>
              <a:spcBef>
                <a:spcPts val="425"/>
              </a:spcBef>
            </a:pPr>
            <a:endParaRPr lang="pt-BR" sz="3200" spc="-5" dirty="0">
              <a:solidFill>
                <a:srgbClr val="3F3F3F"/>
              </a:solidFill>
              <a:latin typeface="Arial"/>
              <a:cs typeface="Arial"/>
            </a:endParaRPr>
          </a:p>
          <a:p>
            <a:pPr marL="342900" marR="57150" indent="-342900">
              <a:lnSpc>
                <a:spcPts val="2590"/>
              </a:lnSpc>
              <a:spcBef>
                <a:spcPts val="425"/>
              </a:spcBef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Ciência ou arte que leva à invenção e descoberta dos fatos.</a:t>
            </a:r>
          </a:p>
          <a:p>
            <a:pPr marL="12700" marR="57150">
              <a:lnSpc>
                <a:spcPts val="2590"/>
              </a:lnSpc>
              <a:spcBef>
                <a:spcPts val="425"/>
              </a:spcBef>
            </a:pPr>
            <a:endParaRPr lang="pt-BR" sz="2800" spc="-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57150" indent="-342900">
              <a:lnSpc>
                <a:spcPts val="2590"/>
              </a:lnSpc>
              <a:spcBef>
                <a:spcPts val="425"/>
              </a:spcBef>
            </a:pPr>
            <a:r>
              <a:rPr lang="pt-BR" sz="2800" spc="-5" dirty="0">
                <a:latin typeface="Arial" panose="020B0604020202020204" pitchFamily="34" charset="0"/>
                <a:cs typeface="Arial" panose="020B0604020202020204" pitchFamily="34" charset="0"/>
              </a:rPr>
              <a:t>“Heurística” 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pt-BR" sz="2800" spc="-5" dirty="0">
                <a:latin typeface="Arial" panose="020B0604020202020204" pitchFamily="34" charset="0"/>
                <a:cs typeface="Arial" panose="020B0604020202020204" pitchFamily="34" charset="0"/>
              </a:rPr>
              <a:t>baseada </a:t>
            </a:r>
            <a:r>
              <a:rPr lang="pt-BR" sz="2800" spc="-10" dirty="0">
                <a:latin typeface="Arial" panose="020B0604020202020204" pitchFamily="34" charset="0"/>
                <a:cs typeface="Arial" panose="020B0604020202020204" pitchFamily="34" charset="0"/>
              </a:rPr>
              <a:t>em um </a:t>
            </a:r>
            <a:r>
              <a:rPr lang="pt-BR" sz="2800" spc="-5" dirty="0">
                <a:latin typeface="Arial" panose="020B0604020202020204" pitchFamily="34" charset="0"/>
                <a:cs typeface="Arial" panose="020B0604020202020204" pitchFamily="34" charset="0"/>
              </a:rPr>
              <a:t>conhecimento prático 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(sem  </a:t>
            </a:r>
            <a:r>
              <a:rPr lang="pt-BR" sz="2800" spc="-5" dirty="0">
                <a:latin typeface="Arial" panose="020B0604020202020204" pitchFamily="34" charset="0"/>
                <a:cs typeface="Arial" panose="020B0604020202020204" pitchFamily="34" charset="0"/>
              </a:rPr>
              <a:t>comprovação científica), que 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vem </a:t>
            </a:r>
            <a:r>
              <a:rPr lang="pt-BR" sz="2800" spc="-10" dirty="0">
                <a:latin typeface="Arial" panose="020B0604020202020204" pitchFamily="34" charset="0"/>
                <a:cs typeface="Arial" panose="020B0604020202020204" pitchFamily="34" charset="0"/>
              </a:rPr>
              <a:t>da experiência  </a:t>
            </a:r>
            <a:r>
              <a:rPr lang="pt-BR" sz="2800" spc="-5" dirty="0">
                <a:latin typeface="Arial" panose="020B0604020202020204" pitchFamily="34" charset="0"/>
                <a:cs typeface="Arial" panose="020B0604020202020204" pitchFamily="34" charset="0"/>
              </a:rPr>
              <a:t>cotidiana</a:t>
            </a:r>
            <a:r>
              <a:rPr lang="pt-BR" sz="28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spc="-5" dirty="0">
                <a:latin typeface="Arial" panose="020B0604020202020204" pitchFamily="34" charset="0"/>
                <a:cs typeface="Arial" panose="020B0604020202020204" pitchFamily="34" charset="0"/>
              </a:rPr>
              <a:t>continuada.</a:t>
            </a:r>
          </a:p>
          <a:p>
            <a:pPr marL="0" marR="57150" indent="0">
              <a:lnSpc>
                <a:spcPts val="2590"/>
              </a:lnSpc>
              <a:spcBef>
                <a:spcPts val="425"/>
              </a:spcBef>
              <a:buNone/>
            </a:pP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5080" indent="-342900">
              <a:lnSpc>
                <a:spcPts val="2590"/>
              </a:lnSpc>
              <a:spcBef>
                <a:spcPts val="910"/>
              </a:spcBef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sz="2800" b="1" spc="-5" dirty="0">
                <a:latin typeface="Arial" panose="020B0604020202020204" pitchFamily="34" charset="0"/>
                <a:cs typeface="Arial" panose="020B0604020202020204" pitchFamily="34" charset="0"/>
              </a:rPr>
              <a:t>conhecimento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heurístico 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lang="pt-BR" sz="2800" spc="-5" dirty="0">
                <a:latin typeface="Arial" panose="020B0604020202020204" pitchFamily="34" charset="0"/>
                <a:cs typeface="Arial" panose="020B0604020202020204" pitchFamily="34" charset="0"/>
              </a:rPr>
              <a:t>constrói 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ao </a:t>
            </a:r>
            <a:r>
              <a:rPr lang="pt-BR" sz="2800" spc="-5" dirty="0">
                <a:latin typeface="Arial" panose="020B0604020202020204" pitchFamily="34" charset="0"/>
                <a:cs typeface="Arial" panose="020B0604020202020204" pitchFamily="34" charset="0"/>
              </a:rPr>
              <a:t>longo 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BR" sz="2800" spc="-10" dirty="0">
                <a:latin typeface="Arial" panose="020B0604020202020204" pitchFamily="34" charset="0"/>
                <a:cs typeface="Arial" panose="020B0604020202020204" pitchFamily="34" charset="0"/>
              </a:rPr>
              <a:t>anos  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BR" sz="2800" spc="-5" dirty="0">
                <a:latin typeface="Arial" panose="020B0604020202020204" pitchFamily="34" charset="0"/>
                <a:cs typeface="Arial" panose="020B0604020202020204" pitchFamily="34" charset="0"/>
              </a:rPr>
              <a:t>prática, como uma compilação ‘do 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que </a:t>
            </a:r>
            <a:r>
              <a:rPr lang="pt-BR" sz="2800" spc="-5" dirty="0">
                <a:latin typeface="Arial" panose="020B0604020202020204" pitchFamily="34" charset="0"/>
                <a:cs typeface="Arial" panose="020B0604020202020204" pitchFamily="34" charset="0"/>
              </a:rPr>
              <a:t>funciona’ 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pt-BR" sz="2800" spc="-10" dirty="0">
                <a:latin typeface="Arial" panose="020B0604020202020204" pitchFamily="34" charset="0"/>
                <a:cs typeface="Arial" panose="020B0604020202020204" pitchFamily="34" charset="0"/>
              </a:rPr>
              <a:t>‘do  </a:t>
            </a:r>
            <a:r>
              <a:rPr lang="pt-BR" sz="2800" spc="-5" dirty="0">
                <a:latin typeface="Arial" panose="020B0604020202020204" pitchFamily="34" charset="0"/>
                <a:cs typeface="Arial" panose="020B0604020202020204" pitchFamily="34" charset="0"/>
              </a:rPr>
              <a:t>que não</a:t>
            </a:r>
            <a:r>
              <a:rPr lang="pt-BR" sz="28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spc="-5" dirty="0">
                <a:latin typeface="Arial" panose="020B0604020202020204" pitchFamily="34" charset="0"/>
                <a:cs typeface="Arial" panose="020B0604020202020204" pitchFamily="34" charset="0"/>
              </a:rPr>
              <a:t>funciona’.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186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Nielsen 1993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As top 10!!!!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50" y="5334000"/>
            <a:ext cx="28575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8200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8085" y="636455"/>
            <a:ext cx="38252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Heurísticas </a:t>
            </a:r>
            <a:r>
              <a:rPr spc="-5" dirty="0"/>
              <a:t>de</a:t>
            </a:r>
            <a:r>
              <a:rPr spc="-40" dirty="0"/>
              <a:t> </a:t>
            </a:r>
            <a:r>
              <a:rPr spc="-5" dirty="0"/>
              <a:t>Nielsen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8927" y="3480251"/>
            <a:ext cx="1955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7E7E7E"/>
                </a:solidFill>
                <a:latin typeface="Arial"/>
                <a:cs typeface="Arial"/>
              </a:rPr>
              <a:t>5</a:t>
            </a:r>
            <a:r>
              <a:rPr sz="1600" b="1" spc="-5" dirty="0">
                <a:solidFill>
                  <a:srgbClr val="7E7E7E"/>
                </a:solidFill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8927" y="5613848"/>
            <a:ext cx="1955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7E7E7E"/>
                </a:solidFill>
                <a:latin typeface="Arial"/>
                <a:cs typeface="Arial"/>
              </a:rPr>
              <a:t>9</a:t>
            </a:r>
            <a:r>
              <a:rPr sz="1600" b="1" spc="-5" dirty="0">
                <a:solidFill>
                  <a:srgbClr val="7E7E7E"/>
                </a:solidFill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8927" y="1485936"/>
            <a:ext cx="7284720" cy="4863383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240"/>
              </a:spcBef>
              <a:buClr>
                <a:srgbClr val="7E7E7E"/>
              </a:buClr>
              <a:buSzPct val="80000"/>
              <a:buAutoNum type="arabicPeriod"/>
              <a:tabLst>
                <a:tab pos="469265" algn="l"/>
                <a:tab pos="470534" algn="l"/>
              </a:tabLst>
            </a:pPr>
            <a:r>
              <a:rPr lang="pt-BR" sz="2000" b="1" spc="-5" dirty="0">
                <a:solidFill>
                  <a:srgbClr val="3F3F3F"/>
                </a:solidFill>
                <a:latin typeface="Arial"/>
                <a:cs typeface="Arial"/>
              </a:rPr>
              <a:t>V</a:t>
            </a:r>
            <a:r>
              <a:rPr sz="2000" b="1" spc="-5" dirty="0" err="1">
                <a:solidFill>
                  <a:srgbClr val="3F3F3F"/>
                </a:solidFill>
                <a:latin typeface="Arial"/>
                <a:cs typeface="Arial"/>
              </a:rPr>
              <a:t>isibilidade</a:t>
            </a:r>
            <a:r>
              <a:rPr sz="2000" b="1" spc="-5" dirty="0">
                <a:solidFill>
                  <a:srgbClr val="3F3F3F"/>
                </a:solidFill>
                <a:latin typeface="Arial"/>
                <a:cs typeface="Arial"/>
              </a:rPr>
              <a:t> do estado do</a:t>
            </a:r>
            <a:r>
              <a:rPr sz="2000" b="1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3F3F3F"/>
                </a:solidFill>
                <a:latin typeface="Arial"/>
                <a:cs typeface="Arial"/>
              </a:rPr>
              <a:t>sistema</a:t>
            </a:r>
            <a:endParaRPr sz="2000" dirty="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1140"/>
              </a:spcBef>
              <a:buClr>
                <a:srgbClr val="7E7E7E"/>
              </a:buClr>
              <a:buSzPct val="80000"/>
              <a:buAutoNum type="arabicPeriod"/>
              <a:tabLst>
                <a:tab pos="469265" algn="l"/>
                <a:tab pos="470534" algn="l"/>
              </a:tabLst>
            </a:pPr>
            <a:r>
              <a:rPr lang="pt-BR" sz="2000" b="1" spc="-5" dirty="0">
                <a:solidFill>
                  <a:srgbClr val="3F3F3F"/>
                </a:solidFill>
                <a:latin typeface="Arial"/>
                <a:cs typeface="Arial"/>
              </a:rPr>
              <a:t>C</a:t>
            </a:r>
            <a:r>
              <a:rPr sz="2000" b="1" spc="-5" dirty="0" err="1">
                <a:solidFill>
                  <a:srgbClr val="3F3F3F"/>
                </a:solidFill>
                <a:latin typeface="Arial"/>
                <a:cs typeface="Arial"/>
              </a:rPr>
              <a:t>orrespondência</a:t>
            </a:r>
            <a:r>
              <a:rPr sz="2000" b="1" spc="-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3F3F3F"/>
                </a:solidFill>
                <a:latin typeface="Arial"/>
                <a:cs typeface="Arial"/>
              </a:rPr>
              <a:t>entre o sistema e o </a:t>
            </a:r>
            <a:r>
              <a:rPr sz="2000" b="1" spc="-5" dirty="0">
                <a:solidFill>
                  <a:srgbClr val="3F3F3F"/>
                </a:solidFill>
                <a:latin typeface="Arial"/>
                <a:cs typeface="Arial"/>
              </a:rPr>
              <a:t>mundo</a:t>
            </a:r>
            <a:r>
              <a:rPr sz="2000" b="1" spc="-13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3F3F3F"/>
                </a:solidFill>
                <a:latin typeface="Arial"/>
                <a:cs typeface="Arial"/>
              </a:rPr>
              <a:t>real</a:t>
            </a:r>
            <a:endParaRPr sz="2000" dirty="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1140"/>
              </a:spcBef>
              <a:buClr>
                <a:srgbClr val="7E7E7E"/>
              </a:buClr>
              <a:buSzPct val="80000"/>
              <a:buAutoNum type="arabicPeriod"/>
              <a:tabLst>
                <a:tab pos="469265" algn="l"/>
                <a:tab pos="470534" algn="l"/>
              </a:tabLst>
            </a:pPr>
            <a:r>
              <a:rPr lang="pt-BR" sz="2000" b="1" spc="-5" dirty="0">
                <a:solidFill>
                  <a:srgbClr val="3F3F3F"/>
                </a:solidFill>
                <a:latin typeface="Arial"/>
                <a:cs typeface="Arial"/>
              </a:rPr>
              <a:t>C</a:t>
            </a:r>
            <a:r>
              <a:rPr sz="2000" b="1" spc="-5" dirty="0" err="1">
                <a:solidFill>
                  <a:srgbClr val="3F3F3F"/>
                </a:solidFill>
                <a:latin typeface="Arial"/>
                <a:cs typeface="Arial"/>
              </a:rPr>
              <a:t>ontrole</a:t>
            </a:r>
            <a:r>
              <a:rPr sz="2000" b="1" spc="-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3F3F3F"/>
                </a:solidFill>
                <a:latin typeface="Arial"/>
                <a:cs typeface="Arial"/>
              </a:rPr>
              <a:t>e </a:t>
            </a:r>
            <a:r>
              <a:rPr sz="2000" b="1" spc="-5" dirty="0">
                <a:solidFill>
                  <a:srgbClr val="3F3F3F"/>
                </a:solidFill>
                <a:latin typeface="Arial"/>
                <a:cs typeface="Arial"/>
              </a:rPr>
              <a:t>liberdade do</a:t>
            </a:r>
            <a:r>
              <a:rPr sz="2000" b="1" spc="-6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3F3F3F"/>
                </a:solidFill>
                <a:latin typeface="Arial"/>
                <a:cs typeface="Arial"/>
              </a:rPr>
              <a:t>usuário</a:t>
            </a:r>
            <a:endParaRPr sz="2000" dirty="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1140"/>
              </a:spcBef>
              <a:buClr>
                <a:srgbClr val="7E7E7E"/>
              </a:buClr>
              <a:buSzPct val="80000"/>
              <a:buAutoNum type="arabicPeriod"/>
              <a:tabLst>
                <a:tab pos="469265" algn="l"/>
                <a:tab pos="470534" algn="l"/>
              </a:tabLst>
            </a:pPr>
            <a:r>
              <a:rPr lang="pt-BR" sz="2000" b="1" spc="-5" dirty="0">
                <a:solidFill>
                  <a:srgbClr val="3F3F3F"/>
                </a:solidFill>
                <a:latin typeface="Arial"/>
                <a:cs typeface="Arial"/>
              </a:rPr>
              <a:t>C</a:t>
            </a:r>
            <a:r>
              <a:rPr sz="2000" b="1" spc="-5" dirty="0" err="1">
                <a:solidFill>
                  <a:srgbClr val="3F3F3F"/>
                </a:solidFill>
                <a:latin typeface="Arial"/>
                <a:cs typeface="Arial"/>
              </a:rPr>
              <a:t>onsistência</a:t>
            </a:r>
            <a:r>
              <a:rPr sz="2000" b="1" spc="-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3F3F3F"/>
                </a:solidFill>
                <a:latin typeface="Arial"/>
                <a:cs typeface="Arial"/>
              </a:rPr>
              <a:t>e</a:t>
            </a:r>
            <a:r>
              <a:rPr sz="2000" b="1" spc="-4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3F3F3F"/>
                </a:solidFill>
                <a:latin typeface="Arial"/>
                <a:cs typeface="Arial"/>
              </a:rPr>
              <a:t>padronização</a:t>
            </a:r>
            <a:endParaRPr sz="2000" dirty="0">
              <a:latin typeface="Arial"/>
              <a:cs typeface="Arial"/>
            </a:endParaRPr>
          </a:p>
          <a:p>
            <a:pPr marL="469900" marR="5080">
              <a:lnSpc>
                <a:spcPct val="110000"/>
              </a:lnSpc>
              <a:spcBef>
                <a:spcPts val="900"/>
              </a:spcBef>
            </a:pPr>
            <a:r>
              <a:rPr lang="pt-BR" sz="2000" b="1" spc="-5" dirty="0">
                <a:solidFill>
                  <a:srgbClr val="3F3F3F"/>
                </a:solidFill>
                <a:latin typeface="Arial"/>
                <a:cs typeface="Arial"/>
              </a:rPr>
              <a:t>A</a:t>
            </a:r>
            <a:r>
              <a:rPr sz="2000" b="1" spc="-5" dirty="0" err="1">
                <a:solidFill>
                  <a:srgbClr val="3F3F3F"/>
                </a:solidFill>
                <a:latin typeface="Arial"/>
                <a:cs typeface="Arial"/>
              </a:rPr>
              <a:t>poio</a:t>
            </a:r>
            <a:r>
              <a:rPr sz="2000" b="1" spc="-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3F3F3F"/>
                </a:solidFill>
                <a:latin typeface="Arial"/>
                <a:cs typeface="Arial"/>
              </a:rPr>
              <a:t>ao </a:t>
            </a:r>
            <a:r>
              <a:rPr sz="2000" b="1" spc="-5" dirty="0">
                <a:solidFill>
                  <a:srgbClr val="3F3F3F"/>
                </a:solidFill>
                <a:latin typeface="Arial"/>
                <a:cs typeface="Arial"/>
              </a:rPr>
              <a:t>reconhecimento, diagnóstico </a:t>
            </a:r>
            <a:r>
              <a:rPr sz="2000" b="1" dirty="0">
                <a:solidFill>
                  <a:srgbClr val="3F3F3F"/>
                </a:solidFill>
                <a:latin typeface="Arial"/>
                <a:cs typeface="Arial"/>
              </a:rPr>
              <a:t>e recuperação </a:t>
            </a:r>
            <a:r>
              <a:rPr sz="2000" b="1" spc="-5" dirty="0">
                <a:solidFill>
                  <a:srgbClr val="3F3F3F"/>
                </a:solidFill>
                <a:latin typeface="Arial"/>
                <a:cs typeface="Arial"/>
              </a:rPr>
              <a:t>de  </a:t>
            </a:r>
            <a:r>
              <a:rPr sz="2000" b="1" dirty="0">
                <a:solidFill>
                  <a:srgbClr val="3F3F3F"/>
                </a:solidFill>
                <a:latin typeface="Arial"/>
                <a:cs typeface="Arial"/>
              </a:rPr>
              <a:t>erros</a:t>
            </a:r>
            <a:endParaRPr sz="2000" dirty="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1140"/>
              </a:spcBef>
              <a:buClr>
                <a:srgbClr val="7E7E7E"/>
              </a:buClr>
              <a:buSzPct val="80000"/>
              <a:buAutoNum type="arabicPeriod" startAt="6"/>
              <a:tabLst>
                <a:tab pos="469265" algn="l"/>
                <a:tab pos="470534" algn="l"/>
              </a:tabLst>
            </a:pPr>
            <a:r>
              <a:rPr lang="pt-BR" sz="2000" b="1" spc="-5" dirty="0">
                <a:solidFill>
                  <a:srgbClr val="3F3F3F"/>
                </a:solidFill>
                <a:latin typeface="Arial"/>
                <a:cs typeface="Arial"/>
              </a:rPr>
              <a:t>P</a:t>
            </a:r>
            <a:r>
              <a:rPr sz="2000" b="1" spc="-5" dirty="0" err="1">
                <a:solidFill>
                  <a:srgbClr val="3F3F3F"/>
                </a:solidFill>
                <a:latin typeface="Arial"/>
                <a:cs typeface="Arial"/>
              </a:rPr>
              <a:t>revenção</a:t>
            </a:r>
            <a:r>
              <a:rPr sz="2000" b="1" spc="-5" dirty="0">
                <a:solidFill>
                  <a:srgbClr val="3F3F3F"/>
                </a:solidFill>
                <a:latin typeface="Arial"/>
                <a:cs typeface="Arial"/>
              </a:rPr>
              <a:t> de</a:t>
            </a:r>
            <a:r>
              <a:rPr sz="2000" b="1" spc="-1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3F3F3F"/>
                </a:solidFill>
                <a:latin typeface="Arial"/>
                <a:cs typeface="Arial"/>
              </a:rPr>
              <a:t>erros</a:t>
            </a:r>
            <a:endParaRPr sz="2000" dirty="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1140"/>
              </a:spcBef>
              <a:buClr>
                <a:srgbClr val="7E7E7E"/>
              </a:buClr>
              <a:buSzPct val="80000"/>
              <a:buAutoNum type="arabicPeriod" startAt="6"/>
              <a:tabLst>
                <a:tab pos="469265" algn="l"/>
                <a:tab pos="470534" algn="l"/>
              </a:tabLst>
            </a:pPr>
            <a:r>
              <a:rPr lang="pt-BR" sz="2000" b="1" spc="-5" dirty="0">
                <a:solidFill>
                  <a:srgbClr val="3F3F3F"/>
                </a:solidFill>
                <a:latin typeface="Arial"/>
                <a:cs typeface="Arial"/>
              </a:rPr>
              <a:t>R</a:t>
            </a:r>
            <a:r>
              <a:rPr sz="2000" b="1" spc="-5" dirty="0" err="1">
                <a:solidFill>
                  <a:srgbClr val="3F3F3F"/>
                </a:solidFill>
                <a:latin typeface="Arial"/>
                <a:cs typeface="Arial"/>
              </a:rPr>
              <a:t>econhecimento</a:t>
            </a:r>
            <a:r>
              <a:rPr sz="2000" b="1" spc="-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b="1" spc="5" dirty="0">
                <a:solidFill>
                  <a:srgbClr val="3F3F3F"/>
                </a:solidFill>
                <a:latin typeface="Arial"/>
                <a:cs typeface="Arial"/>
              </a:rPr>
              <a:t>em </a:t>
            </a:r>
            <a:r>
              <a:rPr sz="2000" b="1" spc="-10" dirty="0">
                <a:solidFill>
                  <a:srgbClr val="3F3F3F"/>
                </a:solidFill>
                <a:latin typeface="Arial"/>
                <a:cs typeface="Arial"/>
              </a:rPr>
              <a:t>vez </a:t>
            </a:r>
            <a:r>
              <a:rPr sz="2000" b="1" spc="-5" dirty="0">
                <a:solidFill>
                  <a:srgbClr val="3F3F3F"/>
                </a:solidFill>
                <a:latin typeface="Arial"/>
                <a:cs typeface="Arial"/>
              </a:rPr>
              <a:t>de</a:t>
            </a:r>
            <a:r>
              <a:rPr sz="2000" b="1" spc="-5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3F3F3F"/>
                </a:solidFill>
                <a:latin typeface="Arial"/>
                <a:cs typeface="Arial"/>
              </a:rPr>
              <a:t>memorização</a:t>
            </a:r>
            <a:endParaRPr sz="2000" dirty="0">
              <a:latin typeface="Arial"/>
              <a:cs typeface="Arial"/>
            </a:endParaRPr>
          </a:p>
          <a:p>
            <a:pPr marL="469900" marR="3014345" indent="-457834">
              <a:lnSpc>
                <a:spcPct val="147500"/>
              </a:lnSpc>
              <a:buClr>
                <a:srgbClr val="7E7E7E"/>
              </a:buClr>
              <a:buSzPct val="80000"/>
              <a:buAutoNum type="arabicPeriod" startAt="6"/>
              <a:tabLst>
                <a:tab pos="469265" algn="l"/>
                <a:tab pos="470534" algn="l"/>
              </a:tabLst>
            </a:pPr>
            <a:r>
              <a:rPr lang="pt-BR" sz="2000" b="1" spc="-5" dirty="0" err="1">
                <a:solidFill>
                  <a:srgbClr val="3F3F3F"/>
                </a:solidFill>
                <a:latin typeface="Arial"/>
                <a:cs typeface="Arial"/>
              </a:rPr>
              <a:t>Fl</a:t>
            </a:r>
            <a:r>
              <a:rPr sz="2000" b="1" spc="-5" dirty="0" err="1">
                <a:solidFill>
                  <a:srgbClr val="3F3F3F"/>
                </a:solidFill>
                <a:latin typeface="Arial"/>
                <a:cs typeface="Arial"/>
              </a:rPr>
              <a:t>exibilidade</a:t>
            </a:r>
            <a:r>
              <a:rPr sz="2000" b="1" spc="-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3F3F3F"/>
                </a:solidFill>
                <a:latin typeface="Arial"/>
                <a:cs typeface="Arial"/>
              </a:rPr>
              <a:t>e </a:t>
            </a:r>
            <a:r>
              <a:rPr sz="2000" b="1" spc="-5" dirty="0" err="1">
                <a:solidFill>
                  <a:srgbClr val="3F3F3F"/>
                </a:solidFill>
                <a:latin typeface="Arial"/>
                <a:cs typeface="Arial"/>
              </a:rPr>
              <a:t>eficiência</a:t>
            </a:r>
            <a:r>
              <a:rPr sz="2000" b="1" spc="-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b="1" spc="-5" dirty="0" err="1">
                <a:solidFill>
                  <a:srgbClr val="3F3F3F"/>
                </a:solidFill>
                <a:latin typeface="Arial"/>
                <a:cs typeface="Arial"/>
              </a:rPr>
              <a:t>de</a:t>
            </a:r>
            <a:r>
              <a:rPr sz="2000" b="1" dirty="0" err="1">
                <a:solidFill>
                  <a:srgbClr val="3F3F3F"/>
                </a:solidFill>
                <a:latin typeface="Arial"/>
                <a:cs typeface="Arial"/>
              </a:rPr>
              <a:t>uso</a:t>
            </a:r>
            <a:r>
              <a:rPr sz="2000" b="1" dirty="0">
                <a:solidFill>
                  <a:srgbClr val="3F3F3F"/>
                </a:solidFill>
                <a:latin typeface="Arial"/>
                <a:cs typeface="Arial"/>
              </a:rPr>
              <a:t>  </a:t>
            </a:r>
            <a:r>
              <a:rPr lang="pt-BR" sz="2000" b="1" spc="-5" dirty="0">
                <a:solidFill>
                  <a:srgbClr val="3F3F3F"/>
                </a:solidFill>
                <a:latin typeface="Arial"/>
                <a:cs typeface="Arial"/>
              </a:rPr>
              <a:t>Design </a:t>
            </a:r>
            <a:r>
              <a:rPr sz="2000" b="1" dirty="0" err="1">
                <a:solidFill>
                  <a:srgbClr val="3F3F3F"/>
                </a:solidFill>
                <a:latin typeface="Arial"/>
                <a:cs typeface="Arial"/>
              </a:rPr>
              <a:t>estético</a:t>
            </a:r>
            <a:r>
              <a:rPr sz="2000" b="1" dirty="0">
                <a:solidFill>
                  <a:srgbClr val="3F3F3F"/>
                </a:solidFill>
                <a:latin typeface="Arial"/>
                <a:cs typeface="Arial"/>
              </a:rPr>
              <a:t> e</a:t>
            </a:r>
            <a:r>
              <a:rPr sz="2000" b="1" spc="-10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3F3F3F"/>
                </a:solidFill>
                <a:latin typeface="Arial"/>
                <a:cs typeface="Arial"/>
              </a:rPr>
              <a:t>minimalista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  <a:tabLst>
                <a:tab pos="469265" algn="l"/>
              </a:tabLst>
            </a:pPr>
            <a:r>
              <a:rPr sz="1600" b="1" spc="-5" dirty="0">
                <a:solidFill>
                  <a:srgbClr val="7E7E7E"/>
                </a:solidFill>
                <a:latin typeface="Arial"/>
                <a:cs typeface="Arial"/>
              </a:rPr>
              <a:t>10.	</a:t>
            </a:r>
            <a:r>
              <a:rPr lang="pt-BR" sz="2000" b="1" spc="-5" dirty="0">
                <a:solidFill>
                  <a:srgbClr val="3F3F3F"/>
                </a:solidFill>
                <a:latin typeface="Arial"/>
                <a:cs typeface="Arial"/>
              </a:rPr>
              <a:t>A</a:t>
            </a:r>
            <a:r>
              <a:rPr sz="2000" b="1" spc="-5" dirty="0" err="1">
                <a:solidFill>
                  <a:srgbClr val="3F3F3F"/>
                </a:solidFill>
                <a:latin typeface="Arial"/>
                <a:cs typeface="Arial"/>
              </a:rPr>
              <a:t>juda</a:t>
            </a:r>
            <a:r>
              <a:rPr sz="2000" b="1" spc="-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3F3F3F"/>
                </a:solidFill>
                <a:latin typeface="Arial"/>
                <a:cs typeface="Arial"/>
              </a:rPr>
              <a:t>e</a:t>
            </a:r>
            <a:r>
              <a:rPr sz="2000" b="1" spc="-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3F3F3F"/>
                </a:solidFill>
                <a:latin typeface="Arial"/>
                <a:cs typeface="Arial"/>
              </a:rPr>
              <a:t>documentação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pt-BR"/>
              <a:t>1ª Visibilidade do Sistema</a:t>
            </a:r>
          </a:p>
        </p:txBody>
      </p:sp>
      <p:sp>
        <p:nvSpPr>
          <p:cNvPr id="14339" name="Espaço Reservado para Conteúdo 2"/>
          <p:cNvSpPr>
            <a:spLocks noGrp="1"/>
          </p:cNvSpPr>
          <p:nvPr>
            <p:ph idx="1"/>
          </p:nvPr>
        </p:nvSpPr>
        <p:spPr>
          <a:xfrm>
            <a:off x="502920" y="2549420"/>
            <a:ext cx="5029200" cy="487754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pt-BR" altLang="pt-BR" sz="2900" dirty="0"/>
              <a:t>O sistema deve informar aos usuários sobre o que está acontecendo, por meio de mensagens ou de elementos de interface.</a:t>
            </a:r>
          </a:p>
          <a:p>
            <a:pPr eaLnBrk="1" hangingPunct="1">
              <a:spcBef>
                <a:spcPct val="0"/>
              </a:spcBef>
            </a:pPr>
            <a:r>
              <a:rPr lang="pt-BR" altLang="pt-BR" sz="2900" dirty="0"/>
              <a:t>Exemplo: É sempre importante mostrar a quantidade de passos (1/3) (2/3)...</a:t>
            </a:r>
            <a:endParaRPr lang="en-US" altLang="pt-BR" sz="2900" dirty="0"/>
          </a:p>
          <a:p>
            <a:pPr marL="122031" indent="0" eaLnBrk="1" hangingPunct="1">
              <a:buNone/>
            </a:pPr>
            <a:endParaRPr lang="en-US" altLang="pt-BR" sz="22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B3D91312-01FD-F9E9-9370-DF6ED467D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3205" y="1727200"/>
            <a:ext cx="4365195" cy="3394180"/>
          </a:xfrm>
          <a:prstGeom prst="rect">
            <a:avLst/>
          </a:prstGeom>
        </p:spPr>
      </p:pic>
      <p:pic>
        <p:nvPicPr>
          <p:cNvPr id="4" name="Imagem 3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B4540BD1-A21D-DEB5-6C5F-12D47934B4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6320" y="4984485"/>
            <a:ext cx="3589160" cy="269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745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300" dirty="0">
                <a:solidFill>
                  <a:srgbClr val="3F3F3F"/>
                </a:solidFill>
                <a:latin typeface="Arial"/>
                <a:cs typeface="Arial"/>
              </a:rPr>
              <a:t>Visibilidade do estado </a:t>
            </a:r>
            <a:r>
              <a:rPr lang="pt-BR" sz="4300" spc="-15" dirty="0">
                <a:solidFill>
                  <a:srgbClr val="3F3F3F"/>
                </a:solidFill>
                <a:latin typeface="Arial"/>
                <a:cs typeface="Arial"/>
              </a:rPr>
              <a:t>do</a:t>
            </a:r>
            <a:r>
              <a:rPr lang="pt-BR" sz="4300" spc="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lang="pt-BR" sz="4300" dirty="0">
                <a:solidFill>
                  <a:srgbClr val="3F3F3F"/>
                </a:solidFill>
                <a:latin typeface="Arial"/>
                <a:cs typeface="Arial"/>
              </a:rPr>
              <a:t>sistema</a:t>
            </a:r>
            <a:endParaRPr lang="pt-BR" sz="43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02920" y="1524001"/>
            <a:ext cx="9052560" cy="5927142"/>
          </a:xfrm>
        </p:spPr>
        <p:txBody>
          <a:bodyPr/>
          <a:lstStyle/>
          <a:p>
            <a:pPr marL="350520" marR="5080">
              <a:lnSpc>
                <a:spcPct val="110000"/>
              </a:lnSpc>
              <a:spcBef>
                <a:spcPts val="950"/>
              </a:spcBef>
            </a:pPr>
            <a:r>
              <a:rPr lang="pt-BR" altLang="pt-BR" sz="2700" dirty="0">
                <a:latin typeface="Arial" panose="020B0604020202020204" pitchFamily="34" charset="0"/>
                <a:cs typeface="Arial" panose="020B0604020202020204" pitchFamily="34" charset="0"/>
              </a:rPr>
              <a:t>Os  usuários  são  informados  sobre  o  progresso  do  sistema?</a:t>
            </a:r>
            <a:endParaRPr lang="en-US" altLang="pt-BR" sz="2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0520" marR="5080">
              <a:lnSpc>
                <a:spcPct val="110000"/>
              </a:lnSpc>
              <a:spcBef>
                <a:spcPts val="950"/>
              </a:spcBef>
            </a:pPr>
            <a:r>
              <a:rPr lang="pt-BR" sz="2700" dirty="0">
                <a:latin typeface="Arial" panose="020B0604020202020204" pitchFamily="34" charset="0"/>
                <a:cs typeface="Arial" panose="020B0604020202020204" pitchFamily="34" charset="0"/>
              </a:rPr>
              <a:t>Os </a:t>
            </a:r>
            <a:r>
              <a:rPr lang="pt-BR" sz="2700" spc="-5" dirty="0">
                <a:latin typeface="Arial" panose="020B0604020202020204" pitchFamily="34" charset="0"/>
                <a:cs typeface="Arial" panose="020B0604020202020204" pitchFamily="34" charset="0"/>
              </a:rPr>
              <a:t>usuários </a:t>
            </a:r>
            <a:r>
              <a:rPr lang="pt-BR" sz="2700" dirty="0">
                <a:latin typeface="Arial" panose="020B0604020202020204" pitchFamily="34" charset="0"/>
                <a:cs typeface="Arial" panose="020B0604020202020204" pitchFamily="34" charset="0"/>
              </a:rPr>
              <a:t>são </a:t>
            </a:r>
            <a:r>
              <a:rPr lang="pt-BR" sz="2700" spc="-5" dirty="0">
                <a:latin typeface="Arial" panose="020B0604020202020204" pitchFamily="34" charset="0"/>
                <a:cs typeface="Arial" panose="020B0604020202020204" pitchFamily="34" charset="0"/>
              </a:rPr>
              <a:t>mantidos informados </a:t>
            </a:r>
            <a:r>
              <a:rPr lang="pt-BR" sz="2700" dirty="0">
                <a:latin typeface="Arial" panose="020B0604020202020204" pitchFamily="34" charset="0"/>
                <a:cs typeface="Arial" panose="020B0604020202020204" pitchFamily="34" charset="0"/>
              </a:rPr>
              <a:t>sobre o </a:t>
            </a:r>
            <a:r>
              <a:rPr lang="pt-BR" sz="2700" spc="-5" dirty="0">
                <a:latin typeface="Arial" panose="020B0604020202020204" pitchFamily="34" charset="0"/>
                <a:cs typeface="Arial" panose="020B0604020202020204" pitchFamily="34" charset="0"/>
              </a:rPr>
              <a:t>que </a:t>
            </a:r>
            <a:r>
              <a:rPr lang="pt-BR" sz="2700" dirty="0">
                <a:latin typeface="Arial" panose="020B0604020202020204" pitchFamily="34" charset="0"/>
                <a:cs typeface="Arial" panose="020B0604020202020204" pitchFamily="34" charset="0"/>
              </a:rPr>
              <a:t>está  </a:t>
            </a:r>
            <a:r>
              <a:rPr lang="pt-BR" sz="2700" spc="-5" dirty="0">
                <a:latin typeface="Arial" panose="020B0604020202020204" pitchFamily="34" charset="0"/>
                <a:cs typeface="Arial" panose="020B0604020202020204" pitchFamily="34" charset="0"/>
              </a:rPr>
              <a:t>acontecendo?</a:t>
            </a:r>
            <a:endParaRPr lang="pt-BR" sz="2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0520" marR="5080">
              <a:lnSpc>
                <a:spcPct val="110000"/>
              </a:lnSpc>
              <a:spcBef>
                <a:spcPts val="950"/>
              </a:spcBef>
            </a:pPr>
            <a:r>
              <a:rPr lang="pt-BR" sz="2700" dirty="0">
                <a:latin typeface="Arial" panose="020B0604020202020204" pitchFamily="34" charset="0"/>
                <a:cs typeface="Arial" panose="020B0604020202020204" pitchFamily="34" charset="0"/>
              </a:rPr>
              <a:t>É </a:t>
            </a:r>
            <a:r>
              <a:rPr lang="pt-BR" sz="2700" spc="-5" dirty="0">
                <a:latin typeface="Arial" panose="020B0604020202020204" pitchFamily="34" charset="0"/>
                <a:cs typeface="Arial" panose="020B0604020202020204" pitchFamily="34" charset="0"/>
              </a:rPr>
              <a:t>fornecido </a:t>
            </a:r>
            <a:r>
              <a:rPr lang="pt-BR" sz="2700" i="1" spc="-5" dirty="0">
                <a:latin typeface="Arial" panose="020B0604020202020204" pitchFamily="34" charset="0"/>
                <a:cs typeface="Arial" panose="020B0604020202020204" pitchFamily="34" charset="0"/>
              </a:rPr>
              <a:t>feedback </a:t>
            </a:r>
            <a:r>
              <a:rPr lang="pt-BR" sz="2700" spc="-5" dirty="0">
                <a:latin typeface="Arial" panose="020B0604020202020204" pitchFamily="34" charset="0"/>
                <a:cs typeface="Arial" panose="020B0604020202020204" pitchFamily="34" charset="0"/>
              </a:rPr>
              <a:t>adequado </a:t>
            </a:r>
            <a:r>
              <a:rPr lang="pt-BR" sz="2700" dirty="0">
                <a:latin typeface="Arial" panose="020B0604020202020204" pitchFamily="34" charset="0"/>
                <a:cs typeface="Arial" panose="020B0604020202020204" pitchFamily="34" charset="0"/>
              </a:rPr>
              <a:t>e em </a:t>
            </a:r>
            <a:r>
              <a:rPr lang="pt-BR" sz="2700" spc="-5" dirty="0">
                <a:latin typeface="Arial" panose="020B0604020202020204" pitchFamily="34" charset="0"/>
                <a:cs typeface="Arial" panose="020B0604020202020204" pitchFamily="34" charset="0"/>
              </a:rPr>
              <a:t>tempo razoável  sobre </a:t>
            </a:r>
            <a:r>
              <a:rPr lang="pt-BR" sz="2700" dirty="0">
                <a:latin typeface="Arial" panose="020B0604020202020204" pitchFamily="34" charset="0"/>
                <a:cs typeface="Arial" panose="020B0604020202020204" pitchFamily="34" charset="0"/>
              </a:rPr>
              <a:t>a ação do</a:t>
            </a:r>
            <a:r>
              <a:rPr lang="pt-BR" sz="2700" spc="-5" dirty="0">
                <a:latin typeface="Arial" panose="020B0604020202020204" pitchFamily="34" charset="0"/>
                <a:cs typeface="Arial" panose="020B0604020202020204" pitchFamily="34" charset="0"/>
              </a:rPr>
              <a:t> usuário?</a:t>
            </a:r>
            <a:endParaRPr lang="pt-BR" sz="2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dirty="0"/>
          </a:p>
        </p:txBody>
      </p:sp>
      <p:sp>
        <p:nvSpPr>
          <p:cNvPr id="4" name="object 5"/>
          <p:cNvSpPr/>
          <p:nvPr/>
        </p:nvSpPr>
        <p:spPr>
          <a:xfrm>
            <a:off x="1104900" y="5181600"/>
            <a:ext cx="7239000" cy="19476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8"/>
          <p:cNvSpPr txBox="1"/>
          <p:nvPr/>
        </p:nvSpPr>
        <p:spPr>
          <a:xfrm>
            <a:off x="4724400" y="7451158"/>
            <a:ext cx="263842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"/>
                <a:cs typeface="Arial"/>
              </a:rPr>
              <a:t>Heurística é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respeitada</a:t>
            </a:r>
          </a:p>
        </p:txBody>
      </p:sp>
      <p:cxnSp>
        <p:nvCxnSpPr>
          <p:cNvPr id="7" name="Conector de seta reta 6"/>
          <p:cNvCxnSpPr/>
          <p:nvPr/>
        </p:nvCxnSpPr>
        <p:spPr>
          <a:xfrm flipV="1">
            <a:off x="6054673" y="6403435"/>
            <a:ext cx="76200" cy="10477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730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pt-BR" dirty="0"/>
              <a:t>2ª Correspondência entre o sistema e o mundo real</a:t>
            </a:r>
            <a:endParaRPr lang="en-US" dirty="0"/>
          </a:p>
        </p:txBody>
      </p:sp>
      <p:sp>
        <p:nvSpPr>
          <p:cNvPr id="1536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z="2700" dirty="0">
                <a:latin typeface="Arial" panose="020B0604020202020204" pitchFamily="34" charset="0"/>
                <a:cs typeface="Arial" panose="020B0604020202020204" pitchFamily="34" charset="0"/>
              </a:rPr>
              <a:t>O sistema  deve manter uma correspondência – metáfora da realidade. </a:t>
            </a:r>
          </a:p>
          <a:p>
            <a:r>
              <a:rPr lang="pt-BR" sz="2700" dirty="0">
                <a:latin typeface="Arial" panose="020B0604020202020204" pitchFamily="34" charset="0"/>
                <a:cs typeface="Arial" panose="020B0604020202020204" pitchFamily="34" charset="0"/>
              </a:rPr>
              <a:t>Em Design, metáfora é uma </a:t>
            </a:r>
            <a:r>
              <a:rPr lang="pt-BR" sz="2700" b="1" dirty="0">
                <a:latin typeface="Arial" panose="020B0604020202020204" pitchFamily="34" charset="0"/>
                <a:cs typeface="Arial" panose="020B0604020202020204" pitchFamily="34" charset="0"/>
              </a:rPr>
              <a:t>representação</a:t>
            </a:r>
            <a:r>
              <a:rPr lang="pt-BR" sz="2700" dirty="0">
                <a:latin typeface="Arial" panose="020B0604020202020204" pitchFamily="34" charset="0"/>
                <a:cs typeface="Arial" panose="020B0604020202020204" pitchFamily="34" charset="0"/>
              </a:rPr>
              <a:t> que se apropria de valores e culturas pertinentes ao </a:t>
            </a:r>
            <a:r>
              <a:rPr lang="pt-BR" sz="2700" b="1" dirty="0">
                <a:latin typeface="Arial" panose="020B0604020202020204" pitchFamily="34" charset="0"/>
                <a:cs typeface="Arial" panose="020B0604020202020204" pitchFamily="34" charset="0"/>
              </a:rPr>
              <a:t>universo do usuário</a:t>
            </a:r>
            <a:r>
              <a:rPr lang="pt-BR" sz="2700" dirty="0">
                <a:latin typeface="Arial" panose="020B0604020202020204" pitchFamily="34" charset="0"/>
                <a:cs typeface="Arial" panose="020B0604020202020204" pitchFamily="34" charset="0"/>
              </a:rPr>
              <a:t> para criar familiaridade e compreensão sobre uma interface.</a:t>
            </a:r>
          </a:p>
          <a:p>
            <a:pPr algn="ctr">
              <a:buNone/>
            </a:pPr>
            <a:r>
              <a:rPr lang="pt-BR" altLang="pt-BR" sz="2200" dirty="0"/>
              <a:t> </a:t>
            </a:r>
          </a:p>
          <a:p>
            <a:pPr algn="ctr">
              <a:buNone/>
            </a:pPr>
            <a:endParaRPr lang="pt-BR" altLang="pt-BR" sz="2200" dirty="0"/>
          </a:p>
        </p:txBody>
      </p:sp>
      <p:sp>
        <p:nvSpPr>
          <p:cNvPr id="15365" name="CaixaDeTexto 2"/>
          <p:cNvSpPr txBox="1">
            <a:spLocks noChangeArrowheads="1"/>
          </p:cNvSpPr>
          <p:nvPr/>
        </p:nvSpPr>
        <p:spPr bwMode="auto">
          <a:xfrm>
            <a:off x="4495800" y="5367178"/>
            <a:ext cx="4501802" cy="1487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882" tIns="50941" rIns="101882" bIns="5094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 altLang="pt-BR" dirty="0"/>
              <a:t>É comum encontrarmos sistemas web </a:t>
            </a:r>
          </a:p>
          <a:p>
            <a:pPr eaLnBrk="1" hangingPunct="1"/>
            <a:r>
              <a:rPr lang="pt-BR" altLang="pt-BR" dirty="0"/>
              <a:t>para vender produtos, em que a interface </a:t>
            </a:r>
          </a:p>
          <a:p>
            <a:pPr eaLnBrk="1" hangingPunct="1"/>
            <a:r>
              <a:rPr lang="pt-BR" altLang="pt-BR" dirty="0"/>
              <a:t>exibe o código do produto no carrinho </a:t>
            </a:r>
          </a:p>
          <a:p>
            <a:pPr eaLnBrk="1" hangingPunct="1"/>
            <a:r>
              <a:rPr lang="pt-BR" altLang="pt-BR" dirty="0"/>
              <a:t>de compras.</a:t>
            </a:r>
            <a:endParaRPr lang="en-US" altLang="pt-BR" dirty="0"/>
          </a:p>
          <a:p>
            <a:pPr eaLnBrk="1" hangingPunct="1"/>
            <a:endParaRPr lang="pt-BR" alt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599" y="4767103"/>
            <a:ext cx="80962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767103"/>
            <a:ext cx="6953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561920"/>
            <a:ext cx="2602264" cy="931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1224" y="6855049"/>
            <a:ext cx="1155669" cy="706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m 9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0832" y="4181315"/>
            <a:ext cx="2752725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6472318"/>
            <a:ext cx="1285875" cy="1111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5363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>
                <a:solidFill>
                  <a:srgbClr val="3F3F3F"/>
                </a:solidFill>
                <a:latin typeface="Arial"/>
                <a:cs typeface="Arial"/>
              </a:rPr>
              <a:t>Correspondência entre </a:t>
            </a:r>
            <a:r>
              <a:rPr lang="pt-BR" sz="4800" spc="-5" dirty="0">
                <a:solidFill>
                  <a:srgbClr val="3F3F3F"/>
                </a:solidFill>
                <a:latin typeface="Arial"/>
                <a:cs typeface="Arial"/>
              </a:rPr>
              <a:t>o sistema e o </a:t>
            </a:r>
            <a:r>
              <a:rPr lang="pt-BR" sz="4800" dirty="0">
                <a:solidFill>
                  <a:srgbClr val="3F3F3F"/>
                </a:solidFill>
                <a:latin typeface="Arial"/>
                <a:cs typeface="Arial"/>
              </a:rPr>
              <a:t>mundo</a:t>
            </a:r>
            <a:r>
              <a:rPr lang="pt-BR" sz="4800" spc="5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lang="pt-BR" sz="4800" dirty="0">
                <a:solidFill>
                  <a:srgbClr val="3F3F3F"/>
                </a:solidFill>
                <a:latin typeface="Arial"/>
                <a:cs typeface="Arial"/>
              </a:rPr>
              <a:t>real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pt-BR" sz="3200" spc="-10" dirty="0">
                <a:latin typeface="Arial" panose="020B0604020202020204" pitchFamily="34" charset="0"/>
                <a:cs typeface="Arial" panose="020B0604020202020204" pitchFamily="34" charset="0"/>
              </a:rPr>
              <a:t>linguagem </a:t>
            </a:r>
            <a:r>
              <a:rPr lang="pt-BR" sz="3200" spc="-5" dirty="0">
                <a:latin typeface="Arial" panose="020B0604020202020204" pitchFamily="34" charset="0"/>
                <a:cs typeface="Arial" panose="020B0604020202020204" pitchFamily="34" charset="0"/>
              </a:rPr>
              <a:t>utilizada </a:t>
            </a:r>
            <a:r>
              <a:rPr lang="pt-BR" sz="3200" spc="-10" dirty="0">
                <a:latin typeface="Arial" panose="020B0604020202020204" pitchFamily="34" charset="0"/>
                <a:cs typeface="Arial" panose="020B0604020202020204" pitchFamily="34" charset="0"/>
              </a:rPr>
              <a:t>na </a:t>
            </a:r>
            <a:r>
              <a:rPr lang="pt-BR" sz="3200" spc="-5" dirty="0">
                <a:latin typeface="Arial" panose="020B0604020202020204" pitchFamily="34" charset="0"/>
                <a:cs typeface="Arial" panose="020B0604020202020204" pitchFamily="34" charset="0"/>
              </a:rPr>
              <a:t>interface (palavras,  expressões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pt-BR" sz="3200" spc="-5" dirty="0">
                <a:latin typeface="Arial" panose="020B0604020202020204" pitchFamily="34" charset="0"/>
                <a:cs typeface="Arial" panose="020B0604020202020204" pitchFamily="34" charset="0"/>
              </a:rPr>
              <a:t>conceitos utilizados)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é </a:t>
            </a:r>
            <a:r>
              <a:rPr lang="pt-BR" sz="3200" spc="-5" dirty="0">
                <a:latin typeface="Arial" panose="020B0604020202020204" pitchFamily="34" charset="0"/>
                <a:cs typeface="Arial" panose="020B0604020202020204" pitchFamily="34" charset="0"/>
              </a:rPr>
              <a:t>familiar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ao  </a:t>
            </a:r>
            <a:r>
              <a:rPr lang="pt-BR" sz="3200" spc="-5" dirty="0">
                <a:latin typeface="Arial" panose="020B0604020202020204" pitchFamily="34" charset="0"/>
                <a:cs typeface="Arial" panose="020B0604020202020204" pitchFamily="34" charset="0"/>
              </a:rPr>
              <a:t>usuário? </a:t>
            </a:r>
          </a:p>
          <a:p>
            <a:r>
              <a:rPr lang="pt-BR" sz="3200" spc="-10" dirty="0">
                <a:latin typeface="Arial" panose="020B0604020202020204" pitchFamily="34" charset="0"/>
                <a:cs typeface="Arial" panose="020B0604020202020204" pitchFamily="34" charset="0"/>
              </a:rPr>
              <a:t>Ele </a:t>
            </a:r>
            <a:r>
              <a:rPr lang="pt-BR" sz="3200" spc="-5" dirty="0">
                <a:latin typeface="Arial" panose="020B0604020202020204" pitchFamily="34" charset="0"/>
                <a:cs typeface="Arial" panose="020B0604020202020204" pitchFamily="34" charset="0"/>
              </a:rPr>
              <a:t>consegue entendê-la com</a:t>
            </a:r>
            <a:r>
              <a:rPr lang="pt-BR" sz="3200" spc="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spc="-5" dirty="0">
                <a:latin typeface="Arial" panose="020B0604020202020204" pitchFamily="34" charset="0"/>
                <a:cs typeface="Arial" panose="020B0604020202020204" pitchFamily="34" charset="0"/>
              </a:rPr>
              <a:t>facilidade?</a:t>
            </a:r>
          </a:p>
          <a:p>
            <a:r>
              <a:rPr lang="pt-BR" altLang="pt-BR" sz="3200" dirty="0">
                <a:latin typeface="Arial" panose="020B0604020202020204" pitchFamily="34" charset="0"/>
                <a:cs typeface="Arial" panose="020B0604020202020204" pitchFamily="34" charset="0"/>
              </a:rPr>
              <a:t>Apresenta as informações de maneira natural e em ordem lógica?</a:t>
            </a:r>
            <a:endParaRPr lang="en-US" alt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3200" dirty="0">
              <a:latin typeface="Arial"/>
              <a:cs typeface="Arial"/>
            </a:endParaRPr>
          </a:p>
          <a:p>
            <a:endParaRPr lang="pt-BR" dirty="0"/>
          </a:p>
        </p:txBody>
      </p:sp>
      <p:sp>
        <p:nvSpPr>
          <p:cNvPr id="5" name="object 4"/>
          <p:cNvSpPr/>
          <p:nvPr/>
        </p:nvSpPr>
        <p:spPr>
          <a:xfrm>
            <a:off x="2743199" y="5562600"/>
            <a:ext cx="3962399" cy="19766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Elipse 5"/>
          <p:cNvSpPr/>
          <p:nvPr/>
        </p:nvSpPr>
        <p:spPr>
          <a:xfrm>
            <a:off x="3657600" y="6550914"/>
            <a:ext cx="1973826" cy="71872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01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3ª Controle e liberdade do usuário</a:t>
            </a:r>
            <a:endParaRPr lang="en-US" altLang="pt-BR"/>
          </a:p>
        </p:txBody>
      </p:sp>
      <p:sp>
        <p:nvSpPr>
          <p:cNvPr id="16387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z="2400" dirty="0"/>
              <a:t>Os usuários podem fazer o que querem quando desejam.</a:t>
            </a:r>
          </a:p>
          <a:p>
            <a:r>
              <a:rPr lang="pt-BR" altLang="pt-BR" sz="2400" dirty="0"/>
              <a:t>Frequentemente, os usuários escolhem  funções do sistema por  tentativa-erro, então a interface  deve deixar as saídas claramente  marcadas ou dar suporte a desfazer ou refazer.</a:t>
            </a:r>
          </a:p>
          <a:p>
            <a:endParaRPr lang="pt-BR" altLang="pt-BR" sz="2400" dirty="0"/>
          </a:p>
          <a:p>
            <a:r>
              <a:rPr lang="pt-BR" altLang="pt-BR" sz="2400" dirty="0"/>
              <a:t>Opções para </a:t>
            </a:r>
            <a:r>
              <a:rPr lang="pt-BR" altLang="pt-BR" sz="2400" b="1" dirty="0"/>
              <a:t>avançar</a:t>
            </a:r>
            <a:r>
              <a:rPr lang="pt-BR" altLang="pt-BR" sz="2400" dirty="0"/>
              <a:t>, </a:t>
            </a:r>
            <a:r>
              <a:rPr lang="pt-BR" altLang="pt-BR" sz="2400" b="1" dirty="0"/>
              <a:t>voltar</a:t>
            </a:r>
            <a:r>
              <a:rPr lang="pt-BR" altLang="pt-BR" sz="2400" dirty="0"/>
              <a:t>, </a:t>
            </a:r>
            <a:r>
              <a:rPr lang="pt-BR" altLang="pt-BR" sz="2400" b="1" dirty="0"/>
              <a:t>parar</a:t>
            </a:r>
            <a:endParaRPr lang="en-US" altLang="pt-BR" sz="2200" dirty="0"/>
          </a:p>
        </p:txBody>
      </p:sp>
      <p:pic>
        <p:nvPicPr>
          <p:cNvPr id="1638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4546600"/>
            <a:ext cx="3496362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951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2920" y="516839"/>
            <a:ext cx="9052560" cy="1209040"/>
          </a:xfrm>
        </p:spPr>
        <p:txBody>
          <a:bodyPr/>
          <a:lstStyle/>
          <a:p>
            <a:r>
              <a:rPr lang="pt-BR" sz="4800" spc="-5" dirty="0">
                <a:solidFill>
                  <a:srgbClr val="3F3F3F"/>
                </a:solidFill>
                <a:latin typeface="Arial"/>
                <a:cs typeface="Arial"/>
              </a:rPr>
              <a:t>Controle </a:t>
            </a:r>
            <a:r>
              <a:rPr lang="pt-BR" sz="4800" dirty="0">
                <a:solidFill>
                  <a:srgbClr val="3F3F3F"/>
                </a:solidFill>
                <a:latin typeface="Arial"/>
                <a:cs typeface="Arial"/>
              </a:rPr>
              <a:t>e </a:t>
            </a:r>
            <a:r>
              <a:rPr lang="pt-BR" sz="4800" spc="-5" dirty="0">
                <a:solidFill>
                  <a:srgbClr val="3F3F3F"/>
                </a:solidFill>
                <a:latin typeface="Arial"/>
                <a:cs typeface="Arial"/>
              </a:rPr>
              <a:t>liberdade </a:t>
            </a:r>
            <a:r>
              <a:rPr lang="pt-BR" sz="4800" dirty="0">
                <a:solidFill>
                  <a:srgbClr val="3F3F3F"/>
                </a:solidFill>
                <a:latin typeface="Arial"/>
                <a:cs typeface="Arial"/>
              </a:rPr>
              <a:t>do</a:t>
            </a:r>
            <a:r>
              <a:rPr lang="pt-BR" sz="4800" spc="2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lang="pt-BR" sz="4800" spc="-5" dirty="0">
                <a:solidFill>
                  <a:srgbClr val="3F3F3F"/>
                </a:solidFill>
                <a:latin typeface="Arial"/>
                <a:cs typeface="Arial"/>
              </a:rPr>
              <a:t>usuário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0520" marR="5080">
              <a:lnSpc>
                <a:spcPct val="110000"/>
              </a:lnSpc>
              <a:spcBef>
                <a:spcPts val="955"/>
              </a:spcBef>
            </a:pPr>
            <a:r>
              <a:rPr lang="pt-BR" sz="2600" spc="-5" dirty="0">
                <a:latin typeface="Arial"/>
                <a:cs typeface="Arial"/>
              </a:rPr>
              <a:t>Existem </a:t>
            </a:r>
            <a:r>
              <a:rPr lang="pt-BR" sz="2600" dirty="0">
                <a:latin typeface="Arial"/>
                <a:cs typeface="Arial"/>
              </a:rPr>
              <a:t>sempre </a:t>
            </a:r>
            <a:r>
              <a:rPr lang="pt-BR" sz="2600" spc="-5" dirty="0">
                <a:latin typeface="Arial"/>
                <a:cs typeface="Arial"/>
              </a:rPr>
              <a:t>formas </a:t>
            </a:r>
            <a:r>
              <a:rPr lang="pt-BR" sz="2600" dirty="0">
                <a:latin typeface="Arial"/>
                <a:cs typeface="Arial"/>
              </a:rPr>
              <a:t>de </a:t>
            </a:r>
            <a:r>
              <a:rPr lang="pt-BR" sz="2600" spc="-5" dirty="0">
                <a:latin typeface="Arial"/>
                <a:cs typeface="Arial"/>
              </a:rPr>
              <a:t>permitir </a:t>
            </a:r>
            <a:r>
              <a:rPr lang="pt-BR" sz="2600" spc="5" dirty="0">
                <a:latin typeface="Arial"/>
                <a:cs typeface="Arial"/>
              </a:rPr>
              <a:t>que </a:t>
            </a:r>
            <a:r>
              <a:rPr lang="pt-BR" sz="2600" dirty="0">
                <a:latin typeface="Arial"/>
                <a:cs typeface="Arial"/>
              </a:rPr>
              <a:t>os usuários</a:t>
            </a:r>
            <a:r>
              <a:rPr lang="pt-BR" sz="2600" spc="-175" dirty="0">
                <a:latin typeface="Arial"/>
                <a:cs typeface="Arial"/>
              </a:rPr>
              <a:t> </a:t>
            </a:r>
            <a:r>
              <a:rPr lang="pt-BR" sz="2600" spc="5" dirty="0">
                <a:latin typeface="Arial"/>
                <a:cs typeface="Arial"/>
              </a:rPr>
              <a:t>escapem  </a:t>
            </a:r>
            <a:r>
              <a:rPr lang="pt-BR" sz="2600" spc="-5" dirty="0">
                <a:latin typeface="Arial"/>
                <a:cs typeface="Arial"/>
              </a:rPr>
              <a:t>facilmente </a:t>
            </a:r>
            <a:r>
              <a:rPr lang="pt-BR" sz="2600" dirty="0">
                <a:latin typeface="Arial"/>
                <a:cs typeface="Arial"/>
              </a:rPr>
              <a:t>de locais inesperados </a:t>
            </a:r>
            <a:r>
              <a:rPr lang="pt-BR" sz="2600" spc="5" dirty="0">
                <a:latin typeface="Arial"/>
                <a:cs typeface="Arial"/>
              </a:rPr>
              <a:t>onde </a:t>
            </a:r>
            <a:r>
              <a:rPr lang="pt-BR" sz="2600" dirty="0">
                <a:latin typeface="Arial"/>
                <a:cs typeface="Arial"/>
              </a:rPr>
              <a:t>se</a:t>
            </a:r>
            <a:r>
              <a:rPr lang="pt-BR" sz="2600" spc="-155" dirty="0">
                <a:latin typeface="Arial"/>
                <a:cs typeface="Arial"/>
              </a:rPr>
              <a:t> </a:t>
            </a:r>
            <a:r>
              <a:rPr lang="pt-BR" sz="2600" dirty="0">
                <a:latin typeface="Arial"/>
                <a:cs typeface="Arial"/>
              </a:rPr>
              <a:t>encontrem?</a:t>
            </a:r>
          </a:p>
          <a:p>
            <a:pPr marL="350520">
              <a:lnSpc>
                <a:spcPct val="100000"/>
              </a:lnSpc>
              <a:spcBef>
                <a:spcPts val="1140"/>
              </a:spcBef>
            </a:pPr>
            <a:r>
              <a:rPr lang="pt-BR" sz="2600" spc="-10" dirty="0">
                <a:latin typeface="Arial"/>
                <a:cs typeface="Arial"/>
              </a:rPr>
              <a:t>As </a:t>
            </a:r>
            <a:r>
              <a:rPr lang="pt-BR" sz="2600" dirty="0">
                <a:latin typeface="Arial"/>
                <a:cs typeface="Arial"/>
              </a:rPr>
              <a:t>“saídas de emergência” </a:t>
            </a:r>
          </a:p>
          <a:p>
            <a:pPr marL="65777" indent="0">
              <a:lnSpc>
                <a:spcPct val="100000"/>
              </a:lnSpc>
              <a:spcBef>
                <a:spcPts val="1140"/>
              </a:spcBef>
              <a:buNone/>
            </a:pPr>
            <a:r>
              <a:rPr lang="pt-BR" sz="2600" dirty="0">
                <a:latin typeface="Arial"/>
                <a:cs typeface="Arial"/>
              </a:rPr>
              <a:t>são claramente</a:t>
            </a:r>
            <a:r>
              <a:rPr lang="pt-BR" sz="2600" spc="-190" dirty="0">
                <a:latin typeface="Arial"/>
                <a:cs typeface="Arial"/>
              </a:rPr>
              <a:t> </a:t>
            </a:r>
            <a:r>
              <a:rPr lang="pt-BR" sz="2600" dirty="0">
                <a:latin typeface="Arial"/>
                <a:cs typeface="Arial"/>
              </a:rPr>
              <a:t>identificadas?</a:t>
            </a:r>
          </a:p>
          <a:p>
            <a:endParaRPr lang="pt-BR" dirty="0"/>
          </a:p>
        </p:txBody>
      </p:sp>
      <p:sp>
        <p:nvSpPr>
          <p:cNvPr id="4" name="object 5"/>
          <p:cNvSpPr/>
          <p:nvPr/>
        </p:nvSpPr>
        <p:spPr>
          <a:xfrm>
            <a:off x="2286000" y="4648200"/>
            <a:ext cx="2505455" cy="2628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/>
          <p:cNvSpPr/>
          <p:nvPr/>
        </p:nvSpPr>
        <p:spPr>
          <a:xfrm>
            <a:off x="5181600" y="3380233"/>
            <a:ext cx="4876800" cy="43921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CaixaDeTexto 5"/>
          <p:cNvSpPr txBox="1"/>
          <p:nvPr/>
        </p:nvSpPr>
        <p:spPr>
          <a:xfrm>
            <a:off x="5334000" y="3010901"/>
            <a:ext cx="4881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Violação da heurística não posso fechar, sair...</a:t>
            </a:r>
          </a:p>
        </p:txBody>
      </p:sp>
      <p:sp>
        <p:nvSpPr>
          <p:cNvPr id="8" name="Chave esquerda 7"/>
          <p:cNvSpPr/>
          <p:nvPr/>
        </p:nvSpPr>
        <p:spPr>
          <a:xfrm>
            <a:off x="1736214" y="4640826"/>
            <a:ext cx="381000" cy="26289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/>
          <p:cNvSpPr txBox="1"/>
          <p:nvPr/>
        </p:nvSpPr>
        <p:spPr>
          <a:xfrm>
            <a:off x="108358" y="5777984"/>
            <a:ext cx="1688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Qual é a certa?</a:t>
            </a:r>
          </a:p>
        </p:txBody>
      </p:sp>
    </p:spTree>
    <p:extLst>
      <p:ext uri="{BB962C8B-B14F-4D97-AF65-F5344CB8AC3E}">
        <p14:creationId xmlns:p14="http://schemas.microsoft.com/office/powerpoint/2010/main" val="946288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pt-BR"/>
              <a:t>4ª Consistência e padronização</a:t>
            </a:r>
          </a:p>
        </p:txBody>
      </p:sp>
      <p:sp>
        <p:nvSpPr>
          <p:cNvPr id="17411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sz="2200" dirty="0"/>
              <a:t>Os elementos de design, como os objetos e as ações devem ter o mesmo significado ou efeito.</a:t>
            </a:r>
            <a:endParaRPr lang="en-US" altLang="pt-BR" sz="2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934469"/>
            <a:ext cx="4452938" cy="3695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have direita 1"/>
          <p:cNvSpPr/>
          <p:nvPr/>
        </p:nvSpPr>
        <p:spPr>
          <a:xfrm>
            <a:off x="4837625" y="2934469"/>
            <a:ext cx="838200" cy="369575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/>
          <p:cNvSpPr txBox="1"/>
          <p:nvPr/>
        </p:nvSpPr>
        <p:spPr>
          <a:xfrm>
            <a:off x="5486400" y="3774288"/>
            <a:ext cx="41729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Os rótulos de seção são destacados, </a:t>
            </a:r>
          </a:p>
          <a:p>
            <a:r>
              <a:rPr lang="pt-BR" dirty="0"/>
              <a:t>usando uma aparência de relevo que</a:t>
            </a:r>
          </a:p>
          <a:p>
            <a:r>
              <a:rPr lang="pt-BR" dirty="0"/>
              <a:t>os tornam, em forma, semelhantes aos </a:t>
            </a:r>
          </a:p>
          <a:p>
            <a:r>
              <a:rPr lang="pt-BR" dirty="0"/>
              <a:t>botões!</a:t>
            </a:r>
          </a:p>
        </p:txBody>
      </p:sp>
    </p:spTree>
    <p:extLst>
      <p:ext uri="{BB962C8B-B14F-4D97-AF65-F5344CB8AC3E}">
        <p14:creationId xmlns:p14="http://schemas.microsoft.com/office/powerpoint/2010/main" val="206335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>
                <a:solidFill>
                  <a:srgbClr val="3F3F3F"/>
                </a:solidFill>
                <a:latin typeface="Arial"/>
                <a:cs typeface="Arial"/>
              </a:rPr>
              <a:t>Consistência </a:t>
            </a:r>
            <a:r>
              <a:rPr lang="pt-BR" sz="4800" spc="-5" dirty="0">
                <a:solidFill>
                  <a:srgbClr val="3F3F3F"/>
                </a:solidFill>
                <a:latin typeface="Arial"/>
                <a:cs typeface="Arial"/>
              </a:rPr>
              <a:t>e padronização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1954" y="1524001"/>
            <a:ext cx="10483646" cy="4648200"/>
          </a:xfrm>
        </p:spPr>
        <p:txBody>
          <a:bodyPr/>
          <a:lstStyle/>
          <a:p>
            <a:pPr marL="350520" marR="838200">
              <a:lnSpc>
                <a:spcPct val="110000"/>
              </a:lnSpc>
              <a:spcBef>
                <a:spcPts val="950"/>
              </a:spcBef>
            </a:pPr>
            <a:r>
              <a:rPr lang="pt-BR" sz="3600" dirty="0">
                <a:latin typeface="Arial"/>
                <a:cs typeface="Arial"/>
              </a:rPr>
              <a:t>As </a:t>
            </a:r>
            <a:r>
              <a:rPr lang="pt-BR" sz="3600" spc="-5" dirty="0">
                <a:latin typeface="Arial"/>
                <a:cs typeface="Arial"/>
              </a:rPr>
              <a:t>maneiras </a:t>
            </a:r>
            <a:r>
              <a:rPr lang="pt-BR" sz="3600" dirty="0">
                <a:latin typeface="Arial"/>
                <a:cs typeface="Arial"/>
              </a:rPr>
              <a:t>de </a:t>
            </a:r>
            <a:r>
              <a:rPr lang="pt-BR" sz="3600" spc="-5" dirty="0">
                <a:latin typeface="Arial"/>
                <a:cs typeface="Arial"/>
              </a:rPr>
              <a:t>realizar ações semelhantes </a:t>
            </a:r>
            <a:r>
              <a:rPr lang="pt-BR" sz="3600" dirty="0">
                <a:latin typeface="Arial"/>
                <a:cs typeface="Arial"/>
              </a:rPr>
              <a:t>são  </a:t>
            </a:r>
            <a:r>
              <a:rPr lang="pt-BR" sz="3600" spc="-5" dirty="0">
                <a:latin typeface="Arial"/>
                <a:cs typeface="Arial"/>
              </a:rPr>
              <a:t>consistentes?</a:t>
            </a:r>
            <a:endParaRPr lang="pt-BR" sz="3600" dirty="0">
              <a:latin typeface="Arial"/>
              <a:cs typeface="Arial"/>
            </a:endParaRPr>
          </a:p>
          <a:p>
            <a:pPr marL="350520" marR="838200">
              <a:lnSpc>
                <a:spcPct val="110000"/>
              </a:lnSpc>
              <a:spcBef>
                <a:spcPts val="950"/>
              </a:spcBef>
            </a:pPr>
            <a:r>
              <a:rPr lang="pt-BR" sz="3200" dirty="0">
                <a:latin typeface="Arial"/>
                <a:cs typeface="Arial"/>
              </a:rPr>
              <a:t>Palavras, situações e </a:t>
            </a:r>
            <a:r>
              <a:rPr lang="pt-BR" sz="3200" spc="5" dirty="0">
                <a:latin typeface="Arial"/>
                <a:cs typeface="Arial"/>
              </a:rPr>
              <a:t>ações </a:t>
            </a:r>
            <a:r>
              <a:rPr lang="pt-BR" sz="3200" dirty="0">
                <a:latin typeface="Arial"/>
                <a:cs typeface="Arial"/>
              </a:rPr>
              <a:t>semelhantes significam</a:t>
            </a:r>
            <a:r>
              <a:rPr lang="pt-BR" sz="3200" spc="-235" dirty="0">
                <a:latin typeface="Arial"/>
                <a:cs typeface="Arial"/>
              </a:rPr>
              <a:t> </a:t>
            </a:r>
            <a:r>
              <a:rPr lang="pt-BR" sz="3200" dirty="0">
                <a:latin typeface="Arial"/>
                <a:cs typeface="Arial"/>
              </a:rPr>
              <a:t>conceitos  ou operações</a:t>
            </a:r>
            <a:r>
              <a:rPr lang="pt-BR" sz="3200" spc="-70" dirty="0">
                <a:latin typeface="Arial"/>
                <a:cs typeface="Arial"/>
              </a:rPr>
              <a:t> </a:t>
            </a:r>
            <a:r>
              <a:rPr lang="pt-BR" sz="3200" dirty="0">
                <a:latin typeface="Arial"/>
                <a:cs typeface="Arial"/>
              </a:rPr>
              <a:t>semelhantes?</a:t>
            </a:r>
          </a:p>
          <a:p>
            <a:pPr marL="350520" marR="838200">
              <a:lnSpc>
                <a:spcPct val="110000"/>
              </a:lnSpc>
              <a:spcBef>
                <a:spcPts val="950"/>
              </a:spcBef>
            </a:pPr>
            <a:r>
              <a:rPr lang="pt-BR" sz="3200" dirty="0">
                <a:latin typeface="Arial"/>
                <a:cs typeface="Arial"/>
              </a:rPr>
              <a:t>Foram obedecidas as convenções para o ambiente</a:t>
            </a:r>
            <a:r>
              <a:rPr lang="pt-BR" sz="3200" spc="-220" dirty="0">
                <a:latin typeface="Arial"/>
                <a:cs typeface="Arial"/>
              </a:rPr>
              <a:t> </a:t>
            </a:r>
            <a:r>
              <a:rPr lang="pt-BR" sz="3200" spc="-10" dirty="0">
                <a:latin typeface="Arial"/>
                <a:cs typeface="Arial"/>
              </a:rPr>
              <a:t>ou  </a:t>
            </a:r>
            <a:r>
              <a:rPr lang="pt-BR" sz="3200" spc="-5" dirty="0">
                <a:latin typeface="Arial"/>
                <a:cs typeface="Arial"/>
              </a:rPr>
              <a:t>plataforma </a:t>
            </a:r>
            <a:r>
              <a:rPr lang="pt-BR" sz="3200" dirty="0">
                <a:latin typeface="Arial"/>
                <a:cs typeface="Arial"/>
              </a:rPr>
              <a:t>escolhido, </a:t>
            </a:r>
            <a:r>
              <a:rPr lang="pt-BR" sz="3200" spc="10" dirty="0">
                <a:latin typeface="Arial"/>
                <a:cs typeface="Arial"/>
              </a:rPr>
              <a:t>se</a:t>
            </a:r>
            <a:r>
              <a:rPr lang="pt-BR" sz="3200" spc="-135" dirty="0">
                <a:latin typeface="Arial"/>
                <a:cs typeface="Arial"/>
              </a:rPr>
              <a:t> </a:t>
            </a:r>
            <a:r>
              <a:rPr lang="pt-BR" sz="3200" dirty="0">
                <a:latin typeface="Arial"/>
                <a:cs typeface="Arial"/>
              </a:rPr>
              <a:t>houver?</a:t>
            </a:r>
          </a:p>
          <a:p>
            <a:pPr marL="122031" indent="0">
              <a:buNone/>
            </a:pPr>
            <a:endParaRPr lang="pt-B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221838"/>
            <a:ext cx="6257925" cy="2414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9979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Exemplo: </a:t>
            </a:r>
            <a:r>
              <a:rPr lang="pt-BR" sz="4800" dirty="0">
                <a:solidFill>
                  <a:srgbClr val="3F3F3F"/>
                </a:solidFill>
                <a:latin typeface="Arial"/>
                <a:cs typeface="Arial"/>
              </a:rPr>
              <a:t>Consistência e</a:t>
            </a:r>
            <a:r>
              <a:rPr lang="pt-BR" sz="4800" spc="-10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lang="pt-BR" sz="4800" spc="-5" dirty="0">
                <a:solidFill>
                  <a:srgbClr val="3F3F3F"/>
                </a:solidFill>
                <a:latin typeface="Arial"/>
                <a:cs typeface="Arial"/>
              </a:rPr>
              <a:t>padronização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 marR="789305">
              <a:lnSpc>
                <a:spcPct val="100000"/>
              </a:lnSpc>
              <a:spcBef>
                <a:spcPts val="100"/>
              </a:spcBef>
            </a:pPr>
            <a:r>
              <a:rPr lang="pt-BR" sz="2800" spc="-5" dirty="0">
                <a:latin typeface="Arial"/>
                <a:cs typeface="Arial"/>
              </a:rPr>
              <a:t>Heurística</a:t>
            </a:r>
            <a:r>
              <a:rPr lang="pt-BR" sz="2800" spc="-65" dirty="0">
                <a:latin typeface="Arial"/>
                <a:cs typeface="Arial"/>
              </a:rPr>
              <a:t> </a:t>
            </a:r>
            <a:r>
              <a:rPr lang="pt-BR" sz="2800" dirty="0">
                <a:latin typeface="Arial"/>
                <a:cs typeface="Arial"/>
              </a:rPr>
              <a:t>é  </a:t>
            </a:r>
            <a:r>
              <a:rPr lang="pt-BR" sz="2800" spc="-10" dirty="0">
                <a:latin typeface="Arial"/>
                <a:cs typeface="Arial"/>
              </a:rPr>
              <a:t>violada.</a:t>
            </a:r>
            <a:endParaRPr lang="pt-BR" sz="2800" dirty="0">
              <a:latin typeface="Arial"/>
              <a:cs typeface="Arial"/>
            </a:endParaRPr>
          </a:p>
          <a:p>
            <a:pPr marL="12700" marR="192405">
              <a:lnSpc>
                <a:spcPct val="100000"/>
              </a:lnSpc>
              <a:spcBef>
                <a:spcPts val="1100"/>
              </a:spcBef>
            </a:pPr>
            <a:r>
              <a:rPr lang="pt-BR" sz="2800" spc="-5" dirty="0" err="1">
                <a:latin typeface="Arial"/>
                <a:cs typeface="Arial"/>
              </a:rPr>
              <a:t>Save</a:t>
            </a:r>
            <a:r>
              <a:rPr lang="pt-BR" sz="2800" spc="-5" dirty="0">
                <a:latin typeface="Arial"/>
                <a:cs typeface="Arial"/>
              </a:rPr>
              <a:t> </a:t>
            </a:r>
            <a:r>
              <a:rPr lang="pt-BR" sz="2800" dirty="0">
                <a:latin typeface="Arial"/>
                <a:cs typeface="Arial"/>
              </a:rPr>
              <a:t>As: </a:t>
            </a:r>
            <a:r>
              <a:rPr lang="pt-BR" sz="2800" spc="-5" dirty="0">
                <a:latin typeface="Arial"/>
                <a:cs typeface="Arial"/>
              </a:rPr>
              <a:t>permite  que </a:t>
            </a:r>
            <a:r>
              <a:rPr lang="pt-BR" sz="2800" dirty="0">
                <a:latin typeface="Arial"/>
                <a:cs typeface="Arial"/>
              </a:rPr>
              <a:t>o </a:t>
            </a:r>
            <a:r>
              <a:rPr lang="pt-BR" sz="2800" spc="-10" dirty="0">
                <a:latin typeface="Arial"/>
                <a:cs typeface="Arial"/>
              </a:rPr>
              <a:t>usuário </a:t>
            </a:r>
            <a:r>
              <a:rPr lang="pt-BR" sz="2800" dirty="0">
                <a:latin typeface="Arial"/>
                <a:cs typeface="Arial"/>
              </a:rPr>
              <a:t>crie  </a:t>
            </a:r>
            <a:r>
              <a:rPr lang="pt-BR" sz="2800" spc="-5" dirty="0">
                <a:latin typeface="Arial"/>
                <a:cs typeface="Arial"/>
              </a:rPr>
              <a:t>uma</a:t>
            </a:r>
            <a:r>
              <a:rPr lang="pt-BR" sz="2800" spc="-20" dirty="0">
                <a:latin typeface="Arial"/>
                <a:cs typeface="Arial"/>
              </a:rPr>
              <a:t> </a:t>
            </a:r>
            <a:r>
              <a:rPr lang="pt-BR" sz="2800" spc="-5" dirty="0">
                <a:latin typeface="Arial"/>
                <a:cs typeface="Arial"/>
              </a:rPr>
              <a:t>pasta.</a:t>
            </a:r>
            <a:endParaRPr lang="pt-BR" sz="28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95"/>
              </a:spcBef>
            </a:pPr>
            <a:r>
              <a:rPr lang="pt-BR" sz="2800" spc="-5" dirty="0" err="1">
                <a:latin typeface="Arial"/>
                <a:cs typeface="Arial"/>
              </a:rPr>
              <a:t>Cancel</a:t>
            </a:r>
            <a:r>
              <a:rPr lang="pt-BR" sz="2800" spc="-5" dirty="0">
                <a:latin typeface="Arial"/>
                <a:cs typeface="Arial"/>
              </a:rPr>
              <a:t>: </a:t>
            </a:r>
            <a:r>
              <a:rPr lang="pt-BR" sz="2800" spc="-10" dirty="0">
                <a:latin typeface="Arial"/>
                <a:cs typeface="Arial"/>
              </a:rPr>
              <a:t>destacado  </a:t>
            </a:r>
            <a:r>
              <a:rPr lang="pt-BR" sz="2800" spc="-5" dirty="0">
                <a:latin typeface="Arial"/>
                <a:cs typeface="Arial"/>
              </a:rPr>
              <a:t>não cancela </a:t>
            </a:r>
            <a:r>
              <a:rPr lang="pt-BR" sz="2800" spc="-10" dirty="0">
                <a:latin typeface="Arial"/>
                <a:cs typeface="Arial"/>
              </a:rPr>
              <a:t>toda </a:t>
            </a:r>
            <a:r>
              <a:rPr lang="pt-BR" sz="2800" dirty="0">
                <a:latin typeface="Arial"/>
                <a:cs typeface="Arial"/>
              </a:rPr>
              <a:t>a  </a:t>
            </a:r>
            <a:r>
              <a:rPr lang="pt-BR" sz="2800" spc="-10" dirty="0">
                <a:latin typeface="Arial"/>
                <a:cs typeface="Arial"/>
              </a:rPr>
              <a:t>operação realizada.  </a:t>
            </a:r>
            <a:r>
              <a:rPr lang="pt-BR" sz="2800" dirty="0">
                <a:latin typeface="Arial"/>
                <a:cs typeface="Arial"/>
              </a:rPr>
              <a:t>A </a:t>
            </a:r>
            <a:r>
              <a:rPr lang="pt-BR" sz="2800" spc="-10" dirty="0">
                <a:latin typeface="Arial"/>
                <a:cs typeface="Arial"/>
              </a:rPr>
              <a:t>pasta </a:t>
            </a:r>
            <a:r>
              <a:rPr lang="pt-BR" sz="2800" dirty="0">
                <a:latin typeface="Arial"/>
                <a:cs typeface="Arial"/>
              </a:rPr>
              <a:t> </a:t>
            </a:r>
            <a:r>
              <a:rPr lang="pt-BR" sz="2800" spc="-5" dirty="0">
                <a:latin typeface="Arial"/>
                <a:cs typeface="Arial"/>
              </a:rPr>
              <a:t>recém criada não </a:t>
            </a:r>
            <a:r>
              <a:rPr lang="pt-BR" sz="2800" dirty="0">
                <a:latin typeface="Arial"/>
                <a:cs typeface="Arial"/>
              </a:rPr>
              <a:t>é  </a:t>
            </a:r>
            <a:r>
              <a:rPr lang="pt-BR" sz="2800" spc="-5" dirty="0">
                <a:latin typeface="Arial"/>
                <a:cs typeface="Arial"/>
              </a:rPr>
              <a:t>removida.</a:t>
            </a:r>
            <a:endParaRPr lang="pt-BR" sz="2800" dirty="0">
              <a:latin typeface="Arial"/>
              <a:cs typeface="Arial"/>
            </a:endParaRPr>
          </a:p>
          <a:p>
            <a:endParaRPr lang="pt-BR" sz="2800" dirty="0">
              <a:latin typeface="Arial"/>
              <a:cs typeface="Arial"/>
            </a:endParaRPr>
          </a:p>
          <a:p>
            <a:endParaRPr lang="pt-BR" dirty="0"/>
          </a:p>
        </p:txBody>
      </p:sp>
      <p:sp>
        <p:nvSpPr>
          <p:cNvPr id="4" name="object 6"/>
          <p:cNvSpPr/>
          <p:nvPr/>
        </p:nvSpPr>
        <p:spPr>
          <a:xfrm>
            <a:off x="2057400" y="4295074"/>
            <a:ext cx="5352287" cy="34945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95670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pt-BR" dirty="0"/>
              <a:t>5ª </a:t>
            </a:r>
            <a:r>
              <a:rPr lang="en-US" altLang="pt-BR" dirty="0" err="1"/>
              <a:t>Prevenção</a:t>
            </a:r>
            <a:r>
              <a:rPr lang="en-US" altLang="pt-BR" dirty="0"/>
              <a:t> de </a:t>
            </a:r>
            <a:r>
              <a:rPr lang="en-US" altLang="pt-BR" dirty="0" err="1"/>
              <a:t>erros</a:t>
            </a:r>
            <a:endParaRPr lang="en-US" alt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Este </a:t>
            </a:r>
            <a:r>
              <a:rPr lang="en-US" dirty="0" err="1"/>
              <a:t>exemplo</a:t>
            </a:r>
            <a:r>
              <a:rPr lang="en-US" dirty="0"/>
              <a:t> </a:t>
            </a:r>
            <a:r>
              <a:rPr lang="en-US" dirty="0" err="1"/>
              <a:t>aplica</a:t>
            </a:r>
            <a:r>
              <a:rPr lang="en-US" dirty="0"/>
              <a:t> a </a:t>
            </a:r>
            <a:r>
              <a:rPr lang="en-US" dirty="0" err="1"/>
              <a:t>recomendação</a:t>
            </a:r>
            <a:endParaRPr lang="pt-B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5943600"/>
            <a:ext cx="4732338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3369" y="2819400"/>
            <a:ext cx="356235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72677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>
                <a:solidFill>
                  <a:srgbClr val="3F3F3F"/>
                </a:solidFill>
                <a:latin typeface="Arial"/>
                <a:cs typeface="Arial"/>
              </a:rPr>
              <a:t>Prevenção </a:t>
            </a:r>
            <a:r>
              <a:rPr lang="pt-BR" sz="4800" spc="-15" dirty="0">
                <a:solidFill>
                  <a:srgbClr val="3F3F3F"/>
                </a:solidFill>
                <a:latin typeface="Arial"/>
                <a:cs typeface="Arial"/>
              </a:rPr>
              <a:t>de</a:t>
            </a:r>
            <a:r>
              <a:rPr lang="pt-BR" sz="4800" spc="2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lang="pt-BR" sz="4800" dirty="0">
                <a:solidFill>
                  <a:srgbClr val="3F3F3F"/>
                </a:solidFill>
                <a:latin typeface="Arial"/>
                <a:cs typeface="Arial"/>
              </a:rPr>
              <a:t>erro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0520" marR="5080">
              <a:lnSpc>
                <a:spcPct val="110000"/>
              </a:lnSpc>
              <a:spcBef>
                <a:spcPts val="950"/>
              </a:spcBef>
            </a:pPr>
            <a:r>
              <a:rPr lang="pt-BR" sz="2600" dirty="0">
                <a:latin typeface="Arial"/>
                <a:cs typeface="Arial"/>
              </a:rPr>
              <a:t>As </a:t>
            </a:r>
            <a:r>
              <a:rPr lang="pt-BR" sz="2600" spc="-5" dirty="0">
                <a:latin typeface="Arial"/>
                <a:cs typeface="Arial"/>
              </a:rPr>
              <a:t>instruções ajudam </a:t>
            </a:r>
            <a:r>
              <a:rPr lang="pt-BR" sz="2600" dirty="0">
                <a:latin typeface="Arial"/>
                <a:cs typeface="Arial"/>
              </a:rPr>
              <a:t>o usuário a </a:t>
            </a:r>
            <a:r>
              <a:rPr lang="pt-BR" sz="2600" spc="-5" dirty="0">
                <a:latin typeface="Arial"/>
                <a:cs typeface="Arial"/>
              </a:rPr>
              <a:t>realizar </a:t>
            </a:r>
            <a:r>
              <a:rPr lang="pt-BR" sz="2600" dirty="0">
                <a:latin typeface="Arial"/>
                <a:cs typeface="Arial"/>
              </a:rPr>
              <a:t>sua tarefa  </a:t>
            </a:r>
            <a:r>
              <a:rPr lang="pt-BR" sz="2600" spc="-5" dirty="0">
                <a:latin typeface="Arial"/>
                <a:cs typeface="Arial"/>
              </a:rPr>
              <a:t>sem</a:t>
            </a:r>
            <a:r>
              <a:rPr lang="pt-BR" sz="2600" spc="15" dirty="0">
                <a:latin typeface="Arial"/>
                <a:cs typeface="Arial"/>
              </a:rPr>
              <a:t> </a:t>
            </a:r>
            <a:r>
              <a:rPr lang="pt-BR" sz="2600" spc="-5" dirty="0">
                <a:latin typeface="Arial"/>
                <a:cs typeface="Arial"/>
              </a:rPr>
              <a:t>problemas?</a:t>
            </a:r>
            <a:endParaRPr lang="pt-BR" sz="2600" dirty="0">
              <a:latin typeface="Arial"/>
              <a:cs typeface="Arial"/>
            </a:endParaRPr>
          </a:p>
          <a:p>
            <a:pPr marL="350520" marR="44450">
              <a:lnSpc>
                <a:spcPct val="110000"/>
              </a:lnSpc>
              <a:spcBef>
                <a:spcPts val="900"/>
              </a:spcBef>
            </a:pPr>
            <a:r>
              <a:rPr lang="pt-BR" sz="2600" dirty="0">
                <a:latin typeface="Arial"/>
                <a:cs typeface="Arial"/>
              </a:rPr>
              <a:t>Os </a:t>
            </a:r>
            <a:r>
              <a:rPr lang="pt-BR" sz="2600" spc="-5" dirty="0">
                <a:latin typeface="Arial"/>
                <a:cs typeface="Arial"/>
              </a:rPr>
              <a:t>erros que podem ser evitados, </a:t>
            </a:r>
            <a:r>
              <a:rPr lang="pt-BR" sz="2600" dirty="0">
                <a:latin typeface="Arial"/>
                <a:cs typeface="Arial"/>
              </a:rPr>
              <a:t>são </a:t>
            </a:r>
            <a:r>
              <a:rPr lang="pt-BR" sz="2600" spc="-5" dirty="0">
                <a:latin typeface="Arial"/>
                <a:cs typeface="Arial"/>
              </a:rPr>
              <a:t>efetivamente  evitados? De maneira</a:t>
            </a:r>
            <a:r>
              <a:rPr lang="pt-BR" sz="2600" spc="55" dirty="0">
                <a:latin typeface="Arial"/>
                <a:cs typeface="Arial"/>
              </a:rPr>
              <a:t> </a:t>
            </a:r>
            <a:r>
              <a:rPr lang="pt-BR" sz="2600" spc="-5" dirty="0">
                <a:latin typeface="Arial"/>
                <a:cs typeface="Arial"/>
              </a:rPr>
              <a:t>adequada?</a:t>
            </a:r>
            <a:endParaRPr lang="pt-BR" sz="2600" dirty="0">
              <a:latin typeface="Arial"/>
              <a:cs typeface="Arial"/>
            </a:endParaRPr>
          </a:p>
          <a:p>
            <a:endParaRPr lang="pt-BR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267200"/>
            <a:ext cx="504825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5670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>
                <a:solidFill>
                  <a:srgbClr val="3F3F3F"/>
                </a:solidFill>
                <a:latin typeface="Arial"/>
                <a:cs typeface="Arial"/>
              </a:rPr>
              <a:t>Prevenção </a:t>
            </a:r>
            <a:r>
              <a:rPr lang="pt-BR" sz="4800" spc="-15" dirty="0">
                <a:solidFill>
                  <a:srgbClr val="3F3F3F"/>
                </a:solidFill>
                <a:latin typeface="Arial"/>
                <a:cs typeface="Arial"/>
              </a:rPr>
              <a:t>de</a:t>
            </a:r>
            <a:r>
              <a:rPr lang="pt-BR" sz="4800" spc="2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lang="pt-BR" sz="4800" dirty="0">
                <a:solidFill>
                  <a:srgbClr val="3F3F3F"/>
                </a:solidFill>
                <a:latin typeface="Arial"/>
                <a:cs typeface="Arial"/>
              </a:rPr>
              <a:t>erro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0520" marR="5080">
              <a:lnSpc>
                <a:spcPct val="110000"/>
              </a:lnSpc>
              <a:spcBef>
                <a:spcPts val="950"/>
              </a:spcBef>
            </a:pPr>
            <a:r>
              <a:rPr lang="pt-BR" sz="2600" dirty="0">
                <a:latin typeface="Arial"/>
                <a:cs typeface="Arial"/>
              </a:rPr>
              <a:t>As </a:t>
            </a:r>
            <a:r>
              <a:rPr lang="pt-BR" sz="2600" spc="-5" dirty="0">
                <a:latin typeface="Arial"/>
                <a:cs typeface="Arial"/>
              </a:rPr>
              <a:t>instruções ajudam </a:t>
            </a:r>
            <a:r>
              <a:rPr lang="pt-BR" sz="2600" dirty="0">
                <a:latin typeface="Arial"/>
                <a:cs typeface="Arial"/>
              </a:rPr>
              <a:t>o usuário a </a:t>
            </a:r>
            <a:r>
              <a:rPr lang="pt-BR" sz="2600" spc="-5" dirty="0">
                <a:latin typeface="Arial"/>
                <a:cs typeface="Arial"/>
              </a:rPr>
              <a:t>realizar </a:t>
            </a:r>
            <a:r>
              <a:rPr lang="pt-BR" sz="2600" dirty="0">
                <a:latin typeface="Arial"/>
                <a:cs typeface="Arial"/>
              </a:rPr>
              <a:t>sua tarefa  </a:t>
            </a:r>
            <a:r>
              <a:rPr lang="pt-BR" sz="2600" spc="-5" dirty="0">
                <a:latin typeface="Arial"/>
                <a:cs typeface="Arial"/>
              </a:rPr>
              <a:t>sem</a:t>
            </a:r>
            <a:r>
              <a:rPr lang="pt-BR" sz="2600" spc="15" dirty="0">
                <a:latin typeface="Arial"/>
                <a:cs typeface="Arial"/>
              </a:rPr>
              <a:t> </a:t>
            </a:r>
            <a:r>
              <a:rPr lang="pt-BR" sz="2600" spc="-5" dirty="0">
                <a:latin typeface="Arial"/>
                <a:cs typeface="Arial"/>
              </a:rPr>
              <a:t>problemas?</a:t>
            </a:r>
            <a:endParaRPr lang="pt-BR" sz="2600" dirty="0">
              <a:latin typeface="Arial"/>
              <a:cs typeface="Arial"/>
            </a:endParaRPr>
          </a:p>
          <a:p>
            <a:pPr marL="350520" marR="44450">
              <a:lnSpc>
                <a:spcPct val="110000"/>
              </a:lnSpc>
              <a:spcBef>
                <a:spcPts val="900"/>
              </a:spcBef>
            </a:pPr>
            <a:r>
              <a:rPr lang="pt-BR" sz="2600" dirty="0">
                <a:latin typeface="Arial"/>
                <a:cs typeface="Arial"/>
              </a:rPr>
              <a:t>Os </a:t>
            </a:r>
            <a:r>
              <a:rPr lang="pt-BR" sz="2600" spc="-5" dirty="0">
                <a:latin typeface="Arial"/>
                <a:cs typeface="Arial"/>
              </a:rPr>
              <a:t>erros que podem ser evitados, </a:t>
            </a:r>
            <a:r>
              <a:rPr lang="pt-BR" sz="2600" dirty="0">
                <a:latin typeface="Arial"/>
                <a:cs typeface="Arial"/>
              </a:rPr>
              <a:t>são </a:t>
            </a:r>
            <a:r>
              <a:rPr lang="pt-BR" sz="2600" spc="-5" dirty="0">
                <a:latin typeface="Arial"/>
                <a:cs typeface="Arial"/>
              </a:rPr>
              <a:t>efetivamente  evitados? De maneira</a:t>
            </a:r>
            <a:r>
              <a:rPr lang="pt-BR" sz="2600" spc="55" dirty="0">
                <a:latin typeface="Arial"/>
                <a:cs typeface="Arial"/>
              </a:rPr>
              <a:t> </a:t>
            </a:r>
            <a:r>
              <a:rPr lang="pt-BR" sz="2600" spc="-5" dirty="0">
                <a:latin typeface="Arial"/>
                <a:cs typeface="Arial"/>
              </a:rPr>
              <a:t>adequada?</a:t>
            </a:r>
            <a:endParaRPr lang="pt-BR" sz="2600" dirty="0">
              <a:latin typeface="Arial"/>
              <a:cs typeface="Arial"/>
            </a:endParaRPr>
          </a:p>
          <a:p>
            <a:endParaRPr lang="pt-BR" dirty="0"/>
          </a:p>
        </p:txBody>
      </p:sp>
      <p:sp>
        <p:nvSpPr>
          <p:cNvPr id="4" name="object 4"/>
          <p:cNvSpPr/>
          <p:nvPr/>
        </p:nvSpPr>
        <p:spPr>
          <a:xfrm>
            <a:off x="1263395" y="4229100"/>
            <a:ext cx="7997951" cy="15681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72023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300"/>
              <a:t>6ª Ajuda aos usuários para reconhecerem, diagnosticarem e se recuperarem de erros</a:t>
            </a:r>
            <a:endParaRPr lang="en-US" altLang="pt-BR" sz="330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7040" y="3436085"/>
            <a:ext cx="4011560" cy="2355115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400" dirty="0"/>
              <a:t>As mensagens “Você realizou uma operação  ilegal”, não são bons exemplos, ou seja, não descrevem exatamente o problema.</a:t>
            </a:r>
            <a:endParaRPr lang="en-US" altLang="pt-BR" sz="2400" dirty="0"/>
          </a:p>
          <a:p>
            <a:endParaRPr lang="pt-BR" altLang="pt-BR" sz="2400" dirty="0"/>
          </a:p>
          <a:p>
            <a:pPr marL="407530" indent="-285271" algn="ctr" fontAlgn="auto">
              <a:spcAft>
                <a:spcPts val="0"/>
              </a:spcAft>
              <a:buClr>
                <a:schemeClr val="accent3"/>
              </a:buClr>
              <a:buNone/>
              <a:defRPr/>
            </a:pPr>
            <a:endParaRPr lang="en-US" sz="2100" spc="67" dirty="0"/>
          </a:p>
        </p:txBody>
      </p:sp>
      <p:sp>
        <p:nvSpPr>
          <p:cNvPr id="19461" name="CaixaDeTexto 1"/>
          <p:cNvSpPr txBox="1">
            <a:spLocks noChangeArrowheads="1"/>
          </p:cNvSpPr>
          <p:nvPr/>
        </p:nvSpPr>
        <p:spPr bwMode="auto">
          <a:xfrm>
            <a:off x="228599" y="1747832"/>
            <a:ext cx="9496425" cy="1441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1882" tIns="50941" rIns="101882" bIns="5094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pt-BR" altLang="pt-BR" sz="2900" dirty="0"/>
              <a:t>Mensagens de erros devem ser expressas descrevendo o problema, sugerindo soluções e sem linguagem técnica.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18802"/>
            <a:ext cx="4191000" cy="73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8374" y="3276599"/>
            <a:ext cx="5692103" cy="4419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85569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2920" y="431800"/>
            <a:ext cx="9052560" cy="1295400"/>
          </a:xfrm>
        </p:spPr>
        <p:txBody>
          <a:bodyPr wrap="square" anchor="ctr">
            <a:normAutofit/>
          </a:bodyPr>
          <a:lstStyle/>
          <a:p>
            <a:r>
              <a:rPr lang="pt-BR"/>
              <a:t>Ajuda aos usuários 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502920" y="2549350"/>
            <a:ext cx="4442460" cy="5129425"/>
          </a:xfrm>
        </p:spPr>
        <p:txBody>
          <a:bodyPr wrap="square" anchor="t">
            <a:normAutofit/>
          </a:bodyPr>
          <a:lstStyle/>
          <a:p>
            <a:pPr marL="350520" marR="114300">
              <a:spcBef>
                <a:spcPts val="950"/>
              </a:spcBef>
              <a:tabLst>
                <a:tab pos="6266815" algn="l"/>
              </a:tabLst>
            </a:pPr>
            <a:r>
              <a:rPr lang="pt-BR"/>
              <a:t>As </a:t>
            </a:r>
            <a:r>
              <a:rPr lang="pt-BR" spc="-5"/>
              <a:t>mensagens </a:t>
            </a:r>
            <a:r>
              <a:rPr lang="pt-BR" spc="-10"/>
              <a:t>de </a:t>
            </a:r>
            <a:r>
              <a:rPr lang="pt-BR" spc="-5"/>
              <a:t>erro ajudam </a:t>
            </a:r>
            <a:r>
              <a:rPr lang="pt-BR"/>
              <a:t>o</a:t>
            </a:r>
            <a:r>
              <a:rPr lang="pt-BR" spc="90"/>
              <a:t> </a:t>
            </a:r>
            <a:r>
              <a:rPr lang="pt-BR" spc="-5"/>
              <a:t>usuário</a:t>
            </a:r>
            <a:r>
              <a:rPr lang="pt-BR" spc="20"/>
              <a:t> </a:t>
            </a:r>
            <a:r>
              <a:rPr lang="pt-BR"/>
              <a:t>a </a:t>
            </a:r>
            <a:r>
              <a:rPr lang="pt-BR" spc="-5"/>
              <a:t>entender</a:t>
            </a:r>
            <a:r>
              <a:rPr lang="pt-BR" spc="-60"/>
              <a:t> </a:t>
            </a:r>
            <a:r>
              <a:rPr lang="pt-BR"/>
              <a:t>o  </a:t>
            </a:r>
            <a:r>
              <a:rPr lang="pt-BR" spc="-5"/>
              <a:t>que houve? </a:t>
            </a:r>
            <a:r>
              <a:rPr lang="pt-BR"/>
              <a:t>E a </a:t>
            </a:r>
            <a:r>
              <a:rPr lang="pt-BR" spc="-10"/>
              <a:t>resolver </a:t>
            </a:r>
            <a:r>
              <a:rPr lang="pt-BR"/>
              <a:t>o</a:t>
            </a:r>
            <a:r>
              <a:rPr lang="pt-BR" spc="70"/>
              <a:t> </a:t>
            </a:r>
            <a:r>
              <a:rPr lang="pt-BR" spc="-5"/>
              <a:t>problema?</a:t>
            </a:r>
            <a:endParaRPr lang="pt-BR"/>
          </a:p>
          <a:p>
            <a:pPr marL="661670" marR="5080">
              <a:spcBef>
                <a:spcPts val="955"/>
              </a:spcBef>
            </a:pPr>
            <a:r>
              <a:rPr lang="pt-BR" spc="-5"/>
              <a:t>Utilizam </a:t>
            </a:r>
            <a:r>
              <a:rPr lang="pt-BR"/>
              <a:t>linguagem simples?</a:t>
            </a:r>
          </a:p>
          <a:p>
            <a:pPr marL="661670" marR="5080">
              <a:spcBef>
                <a:spcPts val="955"/>
              </a:spcBef>
            </a:pPr>
            <a:r>
              <a:rPr lang="pt-BR"/>
              <a:t>Descrevem claramente a</a:t>
            </a:r>
            <a:r>
              <a:rPr lang="pt-BR" spc="-155"/>
              <a:t> </a:t>
            </a:r>
            <a:r>
              <a:rPr lang="pt-BR"/>
              <a:t>natureza  do problema? </a:t>
            </a:r>
            <a:r>
              <a:rPr lang="pt-BR" spc="-5"/>
              <a:t>Sugerem </a:t>
            </a:r>
            <a:r>
              <a:rPr lang="pt-BR"/>
              <a:t>uma </a:t>
            </a:r>
            <a:r>
              <a:rPr lang="pt-BR" spc="-5"/>
              <a:t>forma </a:t>
            </a:r>
            <a:r>
              <a:rPr lang="pt-BR"/>
              <a:t>de resolvê-lo? </a:t>
            </a:r>
          </a:p>
          <a:p>
            <a:pPr marL="661670" marR="5080">
              <a:spcBef>
                <a:spcPts val="955"/>
              </a:spcBef>
            </a:pPr>
            <a:r>
              <a:rPr lang="pt-BR"/>
              <a:t>Já o  encaminham para a</a:t>
            </a:r>
            <a:r>
              <a:rPr lang="pt-BR" spc="-90"/>
              <a:t> </a:t>
            </a:r>
            <a:r>
              <a:rPr lang="pt-BR"/>
              <a:t>solução?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8C4E72B-5B60-224C-4F09-469A9B7D7C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13982"/>
          <a:stretch>
            <a:fillRect/>
          </a:stretch>
        </p:blipFill>
        <p:spPr>
          <a:xfrm>
            <a:off x="5113020" y="2549350"/>
            <a:ext cx="4442460" cy="5129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381160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pt-BR" dirty="0"/>
              <a:t>7ª Reconhecimento em vez de memorização</a:t>
            </a:r>
            <a:endParaRPr lang="en-US" dirty="0"/>
          </a:p>
        </p:txBody>
      </p:sp>
      <p:sp>
        <p:nvSpPr>
          <p:cNvPr id="20485" name="CaixaDeTexto 2"/>
          <p:cNvSpPr txBox="1">
            <a:spLocks noChangeArrowheads="1"/>
          </p:cNvSpPr>
          <p:nvPr/>
        </p:nvSpPr>
        <p:spPr bwMode="auto">
          <a:xfrm>
            <a:off x="533400" y="1948610"/>
            <a:ext cx="9022080" cy="376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1882" tIns="50941" rIns="101882" bIns="5094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altLang="pt-BR" sz="2900" dirty="0"/>
              <a:t>A interface deve ter os seus elementos de interface visíveis. O usuário </a:t>
            </a:r>
            <a:r>
              <a:rPr lang="pt-BR" altLang="pt-BR" sz="2900" dirty="0">
                <a:solidFill>
                  <a:srgbClr val="C00000"/>
                </a:solidFill>
              </a:rPr>
              <a:t>não tem que se  lembrar </a:t>
            </a:r>
            <a:r>
              <a:rPr lang="pt-BR" altLang="pt-BR" sz="2900" dirty="0"/>
              <a:t>de  informações de uma parte para outra das  interfaces do software.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altLang="pt-BR" sz="2900" dirty="0"/>
              <a:t>É mais fácil lembra nomes do que códigos.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altLang="pt-BR" sz="2900" dirty="0"/>
              <a:t>Que cor é esta? </a:t>
            </a:r>
            <a:r>
              <a:rPr lang="pt-BR" sz="3200" dirty="0"/>
              <a:t>#000080</a:t>
            </a:r>
          </a:p>
          <a:p>
            <a:pPr marL="1028700" lvl="1" eaLnBrk="1" hangingPunct="1">
              <a:buFont typeface="Arial" panose="020B0604020202020204" pitchFamily="34" charset="0"/>
              <a:buChar char="•"/>
            </a:pPr>
            <a:endParaRPr lang="pt-BR" altLang="pt-BR" sz="3200" dirty="0"/>
          </a:p>
          <a:p>
            <a:pPr marL="1028700" lvl="1" eaLnBrk="1" hangingPunct="1">
              <a:buFont typeface="Arial" panose="020B0604020202020204" pitchFamily="34" charset="0"/>
              <a:buChar char="•"/>
            </a:pPr>
            <a:endParaRPr lang="pt-BR" altLang="pt-BR" sz="29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4400395"/>
            <a:ext cx="423862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5181600"/>
            <a:ext cx="561975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aixaDeTexto 2"/>
          <p:cNvSpPr txBox="1"/>
          <p:nvPr/>
        </p:nvSpPr>
        <p:spPr>
          <a:xfrm>
            <a:off x="6324600" y="6144696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Google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304800" y="5257800"/>
            <a:ext cx="5627124" cy="22955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17329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>
                <a:solidFill>
                  <a:srgbClr val="3F3F3F"/>
                </a:solidFill>
                <a:latin typeface="Arial"/>
                <a:cs typeface="Arial"/>
              </a:rPr>
              <a:t>Reconhecimento em </a:t>
            </a:r>
            <a:r>
              <a:rPr lang="pt-BR" sz="4800" spc="-5" dirty="0">
                <a:solidFill>
                  <a:srgbClr val="3F3F3F"/>
                </a:solidFill>
                <a:latin typeface="Arial"/>
                <a:cs typeface="Arial"/>
              </a:rPr>
              <a:t>vez </a:t>
            </a:r>
            <a:r>
              <a:rPr lang="pt-BR" sz="4800" dirty="0">
                <a:solidFill>
                  <a:srgbClr val="3F3F3F"/>
                </a:solidFill>
                <a:latin typeface="Arial"/>
                <a:cs typeface="Arial"/>
              </a:rPr>
              <a:t>de</a:t>
            </a:r>
            <a:r>
              <a:rPr lang="pt-BR" sz="4800" spc="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lang="pt-BR" sz="4800" dirty="0">
                <a:solidFill>
                  <a:srgbClr val="3F3F3F"/>
                </a:solidFill>
                <a:latin typeface="Arial"/>
                <a:cs typeface="Arial"/>
              </a:rPr>
              <a:t>memorização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0520" marR="5080">
              <a:lnSpc>
                <a:spcPct val="110000"/>
              </a:lnSpc>
              <a:spcBef>
                <a:spcPts val="950"/>
              </a:spcBef>
            </a:pPr>
            <a:r>
              <a:rPr lang="pt-BR" sz="3200" dirty="0">
                <a:latin typeface="Arial"/>
                <a:cs typeface="Arial"/>
              </a:rPr>
              <a:t>Os </a:t>
            </a:r>
            <a:r>
              <a:rPr lang="pt-BR" sz="3200" spc="-5" dirty="0">
                <a:latin typeface="Arial"/>
                <a:cs typeface="Arial"/>
              </a:rPr>
              <a:t>objetos, ações </a:t>
            </a:r>
            <a:r>
              <a:rPr lang="pt-BR" sz="3200" dirty="0">
                <a:latin typeface="Arial"/>
                <a:cs typeface="Arial"/>
              </a:rPr>
              <a:t>e </a:t>
            </a:r>
            <a:r>
              <a:rPr lang="pt-BR" sz="3200" spc="-5" dirty="0">
                <a:latin typeface="Arial"/>
                <a:cs typeface="Arial"/>
              </a:rPr>
              <a:t>opções estão </a:t>
            </a:r>
            <a:r>
              <a:rPr lang="pt-BR" sz="3200" dirty="0">
                <a:latin typeface="Arial"/>
                <a:cs typeface="Arial"/>
              </a:rPr>
              <a:t>sempre </a:t>
            </a:r>
            <a:r>
              <a:rPr lang="pt-BR" sz="3200" spc="-5" dirty="0">
                <a:latin typeface="Arial"/>
                <a:cs typeface="Arial"/>
              </a:rPr>
              <a:t>visíveis </a:t>
            </a:r>
            <a:r>
              <a:rPr lang="pt-BR" sz="3200" spc="-10" dirty="0">
                <a:latin typeface="Arial"/>
                <a:cs typeface="Arial"/>
              </a:rPr>
              <a:t>ao  </a:t>
            </a:r>
            <a:r>
              <a:rPr lang="pt-BR" sz="3200" spc="-5" dirty="0">
                <a:latin typeface="Arial"/>
                <a:cs typeface="Arial"/>
              </a:rPr>
              <a:t>usuário?</a:t>
            </a:r>
            <a:endParaRPr lang="pt-BR" sz="3200" dirty="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1195"/>
              </a:spcBef>
            </a:pPr>
            <a:r>
              <a:rPr lang="pt-BR" sz="2800" dirty="0">
                <a:latin typeface="Arial"/>
                <a:cs typeface="Arial"/>
              </a:rPr>
              <a:t>(principalmente </a:t>
            </a:r>
            <a:r>
              <a:rPr lang="pt-BR" sz="2800" spc="-5" dirty="0">
                <a:latin typeface="Arial"/>
                <a:cs typeface="Arial"/>
              </a:rPr>
              <a:t>quando ele </a:t>
            </a:r>
            <a:r>
              <a:rPr lang="pt-BR" sz="2800" dirty="0">
                <a:latin typeface="Arial"/>
                <a:cs typeface="Arial"/>
              </a:rPr>
              <a:t>precisa</a:t>
            </a:r>
            <a:r>
              <a:rPr lang="pt-BR" sz="2800" spc="-95" dirty="0">
                <a:latin typeface="Arial"/>
                <a:cs typeface="Arial"/>
              </a:rPr>
              <a:t> </a:t>
            </a:r>
            <a:r>
              <a:rPr lang="pt-BR" sz="2800" dirty="0">
                <a:latin typeface="Arial"/>
                <a:cs typeface="Arial"/>
              </a:rPr>
              <a:t>deles)</a:t>
            </a:r>
          </a:p>
          <a:p>
            <a:pPr marL="350520">
              <a:lnSpc>
                <a:spcPct val="100000"/>
              </a:lnSpc>
              <a:spcBef>
                <a:spcPts val="1135"/>
              </a:spcBef>
            </a:pPr>
            <a:r>
              <a:rPr lang="pt-BR" sz="3200" spc="-5" dirty="0">
                <a:latin typeface="Arial"/>
                <a:cs typeface="Arial"/>
              </a:rPr>
              <a:t>São facilmente</a:t>
            </a:r>
            <a:r>
              <a:rPr lang="pt-BR" sz="3200" spc="25" dirty="0">
                <a:latin typeface="Arial"/>
                <a:cs typeface="Arial"/>
              </a:rPr>
              <a:t> </a:t>
            </a:r>
            <a:r>
              <a:rPr lang="pt-BR" sz="3200" spc="-5" dirty="0">
                <a:latin typeface="Arial"/>
                <a:cs typeface="Arial"/>
              </a:rPr>
              <a:t>reconhecidos?</a:t>
            </a:r>
            <a:endParaRPr lang="pt-BR" sz="3200" dirty="0">
              <a:latin typeface="Arial"/>
              <a:cs typeface="Arial"/>
            </a:endParaRPr>
          </a:p>
          <a:p>
            <a:pPr marL="122031" indent="0">
              <a:buNone/>
            </a:pPr>
            <a:endParaRPr lang="pt-BR" dirty="0"/>
          </a:p>
        </p:txBody>
      </p:sp>
      <p:sp>
        <p:nvSpPr>
          <p:cNvPr id="4" name="object 6"/>
          <p:cNvSpPr/>
          <p:nvPr/>
        </p:nvSpPr>
        <p:spPr>
          <a:xfrm>
            <a:off x="685800" y="4724400"/>
            <a:ext cx="4843271" cy="27599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7"/>
          <p:cNvSpPr txBox="1"/>
          <p:nvPr/>
        </p:nvSpPr>
        <p:spPr>
          <a:xfrm>
            <a:off x="6111805" y="6104381"/>
            <a:ext cx="21577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Ordenar </a:t>
            </a:r>
            <a:r>
              <a:rPr sz="1800" spc="-10" dirty="0">
                <a:latin typeface="Arial"/>
                <a:cs typeface="Arial"/>
              </a:rPr>
              <a:t>uma </a:t>
            </a:r>
            <a:r>
              <a:rPr sz="1800" spc="-5" dirty="0">
                <a:latin typeface="Arial"/>
                <a:cs typeface="Arial"/>
              </a:rPr>
              <a:t>lista </a:t>
            </a:r>
            <a:r>
              <a:rPr sz="1800" spc="-10" dirty="0">
                <a:latin typeface="Arial"/>
                <a:cs typeface="Arial"/>
              </a:rPr>
              <a:t>no  </a:t>
            </a:r>
            <a:r>
              <a:rPr sz="1800" spc="-5" dirty="0">
                <a:latin typeface="Arial"/>
                <a:cs typeface="Arial"/>
              </a:rPr>
              <a:t>menu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30" dirty="0">
                <a:latin typeface="Arial"/>
                <a:cs typeface="Arial"/>
              </a:rPr>
              <a:t>Table?!?!</a:t>
            </a:r>
            <a:endParaRPr sz="1800" dirty="0">
              <a:latin typeface="Arial"/>
              <a:cs typeface="Arial"/>
            </a:endParaRPr>
          </a:p>
        </p:txBody>
      </p:sp>
      <p:cxnSp>
        <p:nvCxnSpPr>
          <p:cNvPr id="8" name="Conector de seta reta 7"/>
          <p:cNvCxnSpPr>
            <a:stCxn id="6" idx="1"/>
          </p:cNvCxnSpPr>
          <p:nvPr/>
        </p:nvCxnSpPr>
        <p:spPr>
          <a:xfrm flipH="1">
            <a:off x="5029200" y="6391401"/>
            <a:ext cx="1082605" cy="3903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9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ítulo 1"/>
          <p:cNvSpPr>
            <a:spLocks noGrp="1"/>
          </p:cNvSpPr>
          <p:nvPr>
            <p:ph type="title"/>
          </p:nvPr>
        </p:nvSpPr>
        <p:spPr>
          <a:xfrm>
            <a:off x="502920" y="518160"/>
            <a:ext cx="9387840" cy="1234440"/>
          </a:xfrm>
        </p:spPr>
        <p:txBody>
          <a:bodyPr/>
          <a:lstStyle/>
          <a:p>
            <a:pPr eaLnBrk="1" hangingPunct="1"/>
            <a:r>
              <a:rPr lang="pt-BR" altLang="pt-BR" dirty="0"/>
              <a:t>8ª Flexibilidade e eficiência de uso</a:t>
            </a:r>
            <a:endParaRPr lang="en-US" altLang="pt-BR" dirty="0"/>
          </a:p>
        </p:txBody>
      </p:sp>
      <p:sp>
        <p:nvSpPr>
          <p:cNvPr id="21507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sz="2900" dirty="0"/>
              <a:t>O sistema precisa ser fácil para usuários leigos, mas flexível o bastante para se tornar ágil à usuários avançados</a:t>
            </a:r>
            <a:r>
              <a:rPr lang="pt-BR" sz="2200" dirty="0"/>
              <a:t>.</a:t>
            </a:r>
          </a:p>
          <a:p>
            <a:pPr eaLnBrk="1" hangingPunct="1"/>
            <a:endParaRPr lang="pt-BR" altLang="pt-BR" sz="2200" dirty="0"/>
          </a:p>
          <a:p>
            <a:pPr eaLnBrk="1" hangingPunct="1"/>
            <a:endParaRPr lang="pt-BR" altLang="pt-BR" sz="2200" dirty="0"/>
          </a:p>
          <a:p>
            <a:pPr eaLnBrk="1" hangingPunct="1"/>
            <a:endParaRPr lang="pt-BR" altLang="pt-BR" sz="2200" dirty="0"/>
          </a:p>
          <a:p>
            <a:pPr eaLnBrk="1" hangingPunct="1"/>
            <a:endParaRPr lang="pt-BR" altLang="pt-BR" sz="2200" dirty="0"/>
          </a:p>
          <a:p>
            <a:pPr eaLnBrk="1" hangingPunct="1"/>
            <a:endParaRPr lang="pt-BR" altLang="pt-BR" sz="2200" dirty="0"/>
          </a:p>
          <a:p>
            <a:pPr eaLnBrk="1" hangingPunct="1"/>
            <a:endParaRPr lang="pt-BR" altLang="pt-BR" sz="2200" dirty="0"/>
          </a:p>
          <a:p>
            <a:pPr>
              <a:spcBef>
                <a:spcPts val="1800"/>
              </a:spcBef>
            </a:pPr>
            <a:r>
              <a:rPr lang="pt-BR" sz="2400" dirty="0">
                <a:solidFill>
                  <a:srgbClr val="000000"/>
                </a:solidFill>
                <a:latin typeface="Source Serif Pro Variable"/>
              </a:rPr>
              <a:t>Forneça </a:t>
            </a:r>
            <a:r>
              <a:rPr lang="pt-BR" sz="2400" dirty="0">
                <a:latin typeface="Source Serif Pro Variable"/>
              </a:rPr>
              <a:t>aceleradores</a:t>
            </a:r>
            <a:r>
              <a:rPr lang="pt-BR" sz="2400" dirty="0">
                <a:solidFill>
                  <a:srgbClr val="000000"/>
                </a:solidFill>
                <a:latin typeface="Source Serif Pro Variable"/>
              </a:rPr>
              <a:t> como atalhos de teclado e gestos de toque.</a:t>
            </a:r>
          </a:p>
          <a:p>
            <a:pPr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latin typeface="Source Serif Pro Variable"/>
              </a:rPr>
              <a:t>Ofereça </a:t>
            </a:r>
            <a:r>
              <a:rPr lang="pt-BR" sz="2400" dirty="0">
                <a:latin typeface="Source Serif Pro Variable"/>
              </a:rPr>
              <a:t>personalização</a:t>
            </a:r>
            <a:r>
              <a:rPr lang="pt-BR" sz="2400" dirty="0">
                <a:solidFill>
                  <a:srgbClr val="000000"/>
                </a:solidFill>
                <a:latin typeface="Source Serif Pro Variable"/>
              </a:rPr>
              <a:t> adaptando o conteúdo e a funcionalidade</a:t>
            </a:r>
          </a:p>
          <a:p>
            <a:pPr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latin typeface="Source Serif Pro Variable"/>
              </a:rPr>
              <a:t>Permita a </a:t>
            </a:r>
            <a:r>
              <a:rPr lang="pt-BR" sz="2400" dirty="0">
                <a:latin typeface="Source Serif Pro Variable"/>
              </a:rPr>
              <a:t>personalização</a:t>
            </a:r>
            <a:r>
              <a:rPr lang="pt-BR" sz="2400" dirty="0">
                <a:solidFill>
                  <a:srgbClr val="000000"/>
                </a:solidFill>
                <a:latin typeface="Source Serif Pro Variable"/>
              </a:rPr>
              <a:t> para que os usuários possam fazer seleções sobre como desejam que o produto funcione.</a:t>
            </a:r>
          </a:p>
          <a:p>
            <a:pPr marL="122031" indent="0" eaLnBrk="1" hangingPunct="1">
              <a:buNone/>
            </a:pPr>
            <a:endParaRPr lang="en-US" altLang="pt-BR" sz="2200" dirty="0"/>
          </a:p>
        </p:txBody>
      </p:sp>
      <p:pic>
        <p:nvPicPr>
          <p:cNvPr id="2" name="Picture 2" descr="Interações de gestos de deslizar no teclado do iOS para digitação">
            <a:extLst>
              <a:ext uri="{FF2B5EF4-FFF2-40B4-BE49-F238E27FC236}">
                <a16:creationId xmlns:a16="http://schemas.microsoft.com/office/drawing/2014/main" id="{06CE371D-60B6-BC9B-42A6-691A220D5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6321" y="3276600"/>
            <a:ext cx="1050519" cy="2279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0048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>
                <a:solidFill>
                  <a:srgbClr val="3F3F3F"/>
                </a:solidFill>
                <a:latin typeface="Arial"/>
                <a:cs typeface="Arial"/>
              </a:rPr>
              <a:t>Flexibilidade </a:t>
            </a:r>
            <a:r>
              <a:rPr lang="pt-BR" sz="4800" spc="-5" dirty="0">
                <a:solidFill>
                  <a:srgbClr val="3F3F3F"/>
                </a:solidFill>
                <a:latin typeface="Arial"/>
                <a:cs typeface="Arial"/>
              </a:rPr>
              <a:t>e </a:t>
            </a:r>
            <a:r>
              <a:rPr lang="pt-BR" sz="4800" dirty="0">
                <a:solidFill>
                  <a:srgbClr val="3F3F3F"/>
                </a:solidFill>
                <a:latin typeface="Arial"/>
                <a:cs typeface="Arial"/>
              </a:rPr>
              <a:t>eficiência de</a:t>
            </a:r>
            <a:r>
              <a:rPr lang="pt-BR" sz="4800" spc="-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lang="pt-BR" sz="4800" dirty="0">
                <a:solidFill>
                  <a:srgbClr val="3F3F3F"/>
                </a:solidFill>
                <a:latin typeface="Arial"/>
                <a:cs typeface="Arial"/>
              </a:rPr>
              <a:t>uso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600" spc="-5" dirty="0">
                <a:latin typeface="Arial"/>
                <a:cs typeface="Arial"/>
              </a:rPr>
              <a:t>Há aceleradores (i.e. atalhos) </a:t>
            </a:r>
            <a:r>
              <a:rPr lang="pt-BR" sz="2600" dirty="0">
                <a:latin typeface="Arial"/>
                <a:cs typeface="Arial"/>
              </a:rPr>
              <a:t>para </a:t>
            </a:r>
            <a:r>
              <a:rPr lang="pt-BR" sz="2600" spc="-5" dirty="0">
                <a:latin typeface="Arial"/>
                <a:cs typeface="Arial"/>
              </a:rPr>
              <a:t>permitir que  usuários experientes realizem </a:t>
            </a:r>
            <a:r>
              <a:rPr lang="pt-BR" sz="2600" spc="-10" dirty="0">
                <a:latin typeface="Arial"/>
                <a:cs typeface="Arial"/>
              </a:rPr>
              <a:t>as </a:t>
            </a:r>
            <a:r>
              <a:rPr lang="pt-BR" sz="2600" spc="-5" dirty="0">
                <a:latin typeface="Arial"/>
                <a:cs typeface="Arial"/>
              </a:rPr>
              <a:t>tarefas </a:t>
            </a:r>
            <a:r>
              <a:rPr lang="pt-BR" sz="2600" spc="-10" dirty="0">
                <a:latin typeface="Arial"/>
                <a:cs typeface="Arial"/>
              </a:rPr>
              <a:t>mais  </a:t>
            </a:r>
            <a:r>
              <a:rPr lang="pt-BR" sz="2600" spc="-5" dirty="0">
                <a:latin typeface="Arial"/>
                <a:cs typeface="Arial"/>
              </a:rPr>
              <a:t>rapidamente?</a:t>
            </a:r>
          </a:p>
          <a:p>
            <a:r>
              <a:rPr lang="pt-BR" sz="2600" dirty="0">
                <a:latin typeface="Arial"/>
                <a:cs typeface="Arial"/>
              </a:rPr>
              <a:t>É </a:t>
            </a:r>
            <a:r>
              <a:rPr lang="pt-BR" sz="2600" spc="-5" dirty="0">
                <a:latin typeface="Arial"/>
                <a:cs typeface="Arial"/>
              </a:rPr>
              <a:t>fornecido apoio </a:t>
            </a:r>
            <a:r>
              <a:rPr lang="pt-BR" sz="2600" dirty="0">
                <a:latin typeface="Arial"/>
                <a:cs typeface="Arial"/>
              </a:rPr>
              <a:t>a </a:t>
            </a:r>
            <a:r>
              <a:rPr lang="pt-BR" sz="2600" spc="-5" dirty="0">
                <a:latin typeface="Arial"/>
                <a:cs typeface="Arial"/>
              </a:rPr>
              <a:t>diferentes estratégias </a:t>
            </a:r>
            <a:r>
              <a:rPr lang="pt-BR" sz="2600" spc="-10" dirty="0">
                <a:latin typeface="Arial"/>
                <a:cs typeface="Arial"/>
              </a:rPr>
              <a:t>de</a:t>
            </a:r>
            <a:r>
              <a:rPr lang="pt-BR" sz="2600" spc="60" dirty="0">
                <a:latin typeface="Arial"/>
                <a:cs typeface="Arial"/>
              </a:rPr>
              <a:t> </a:t>
            </a:r>
            <a:r>
              <a:rPr lang="pt-BR" sz="2600" spc="-5" dirty="0">
                <a:latin typeface="Arial"/>
                <a:cs typeface="Arial"/>
              </a:rPr>
              <a:t>realização </a:t>
            </a:r>
            <a:r>
              <a:rPr lang="pt-BR" sz="2600" spc="-10" dirty="0">
                <a:latin typeface="Arial"/>
                <a:cs typeface="Arial"/>
              </a:rPr>
              <a:t>de </a:t>
            </a:r>
            <a:r>
              <a:rPr lang="pt-BR" sz="2600" dirty="0">
                <a:latin typeface="Arial"/>
                <a:cs typeface="Arial"/>
              </a:rPr>
              <a:t>uma mesma</a:t>
            </a:r>
            <a:r>
              <a:rPr lang="pt-BR" sz="2600" spc="-50" dirty="0">
                <a:latin typeface="Arial"/>
                <a:cs typeface="Arial"/>
              </a:rPr>
              <a:t> </a:t>
            </a:r>
            <a:r>
              <a:rPr lang="pt-BR" sz="2600" spc="-5" dirty="0">
                <a:latin typeface="Arial"/>
                <a:cs typeface="Arial"/>
              </a:rPr>
              <a:t>tarefa?</a:t>
            </a:r>
            <a:endParaRPr lang="pt-BR" sz="2600" dirty="0">
              <a:latin typeface="Arial"/>
              <a:cs typeface="Arial"/>
            </a:endParaRPr>
          </a:p>
          <a:p>
            <a:endParaRPr lang="pt-BR" sz="3200" dirty="0">
              <a:latin typeface="Arial"/>
              <a:cs typeface="Arial"/>
            </a:endParaRPr>
          </a:p>
          <a:p>
            <a:endParaRPr lang="pt-BR" sz="3200" dirty="0">
              <a:latin typeface="Arial"/>
              <a:cs typeface="Arial"/>
            </a:endParaRPr>
          </a:p>
          <a:p>
            <a:endParaRPr lang="pt-BR" dirty="0"/>
          </a:p>
        </p:txBody>
      </p:sp>
      <p:sp>
        <p:nvSpPr>
          <p:cNvPr id="5" name="object 7"/>
          <p:cNvSpPr/>
          <p:nvPr/>
        </p:nvSpPr>
        <p:spPr>
          <a:xfrm>
            <a:off x="1447800" y="4857703"/>
            <a:ext cx="4495800" cy="18562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8"/>
          <p:cNvSpPr txBox="1"/>
          <p:nvPr/>
        </p:nvSpPr>
        <p:spPr>
          <a:xfrm>
            <a:off x="6250901" y="3728673"/>
            <a:ext cx="2765425" cy="1129030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1800" spc="-5" dirty="0">
                <a:latin typeface="Arial"/>
                <a:cs typeface="Arial"/>
              </a:rPr>
              <a:t>Heurística </a:t>
            </a:r>
            <a:r>
              <a:rPr sz="1800" dirty="0">
                <a:latin typeface="Arial"/>
                <a:cs typeface="Arial"/>
              </a:rPr>
              <a:t>é </a:t>
            </a:r>
            <a:r>
              <a:rPr sz="1800" spc="-10" dirty="0">
                <a:solidFill>
                  <a:srgbClr val="CC3300"/>
                </a:solidFill>
                <a:latin typeface="Arial"/>
                <a:cs typeface="Arial"/>
              </a:rPr>
              <a:t>violada</a:t>
            </a:r>
            <a:r>
              <a:rPr sz="1800" spc="-10" dirty="0">
                <a:solidFill>
                  <a:srgbClr val="696464"/>
                </a:solidFill>
                <a:latin typeface="Arial"/>
                <a:cs typeface="Arial"/>
              </a:rPr>
              <a:t>.</a:t>
            </a:r>
            <a:endParaRPr sz="18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100"/>
              </a:spcBef>
            </a:pPr>
            <a:r>
              <a:rPr sz="1800" spc="-5" dirty="0">
                <a:latin typeface="Arial"/>
                <a:cs typeface="Arial"/>
              </a:rPr>
              <a:t>Único acesso </a:t>
            </a:r>
            <a:r>
              <a:rPr sz="1800" spc="-10" dirty="0">
                <a:latin typeface="Arial"/>
                <a:cs typeface="Arial"/>
              </a:rPr>
              <a:t>às  </a:t>
            </a:r>
            <a:r>
              <a:rPr sz="1800" spc="-5" dirty="0">
                <a:latin typeface="Arial"/>
                <a:cs typeface="Arial"/>
              </a:rPr>
              <a:t>categorias </a:t>
            </a:r>
            <a:r>
              <a:rPr sz="1800" dirty="0">
                <a:latin typeface="Arial"/>
                <a:cs typeface="Arial"/>
              </a:rPr>
              <a:t>é </a:t>
            </a:r>
            <a:r>
              <a:rPr sz="1800" spc="-5" dirty="0">
                <a:latin typeface="Arial"/>
                <a:cs typeface="Arial"/>
              </a:rPr>
              <a:t>com </a:t>
            </a:r>
            <a:r>
              <a:rPr sz="1800" dirty="0">
                <a:latin typeface="Arial"/>
                <a:cs typeface="Arial"/>
              </a:rPr>
              <a:t>o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mouse</a:t>
            </a:r>
            <a:r>
              <a:rPr sz="1800" spc="-10" dirty="0">
                <a:latin typeface="Arial"/>
                <a:cs typeface="Arial"/>
              </a:rPr>
              <a:t>.</a:t>
            </a:r>
            <a:endParaRPr sz="1800" dirty="0">
              <a:latin typeface="Arial"/>
              <a:cs typeface="Arial"/>
            </a:endParaRPr>
          </a:p>
        </p:txBody>
      </p:sp>
      <p:cxnSp>
        <p:nvCxnSpPr>
          <p:cNvPr id="8" name="Conector de seta reta 7"/>
          <p:cNvCxnSpPr/>
          <p:nvPr/>
        </p:nvCxnSpPr>
        <p:spPr>
          <a:xfrm flipH="1">
            <a:off x="5257800" y="4038600"/>
            <a:ext cx="993101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9394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pt-BR" dirty="0"/>
              <a:t>9ª Design </a:t>
            </a:r>
            <a:r>
              <a:rPr lang="en-US" altLang="pt-BR" dirty="0" err="1"/>
              <a:t>estético</a:t>
            </a:r>
            <a:r>
              <a:rPr lang="en-US" altLang="pt-BR" dirty="0"/>
              <a:t> e </a:t>
            </a:r>
            <a:r>
              <a:rPr lang="en-US" altLang="pt-BR" dirty="0" err="1"/>
              <a:t>minimalista</a:t>
            </a:r>
            <a:r>
              <a:rPr lang="en-US" altLang="pt-BR" dirty="0"/>
              <a:t> </a:t>
            </a:r>
          </a:p>
        </p:txBody>
      </p:sp>
      <p:sp>
        <p:nvSpPr>
          <p:cNvPr id="22531" name="Espaço Reservado para Conteúdo 2"/>
          <p:cNvSpPr>
            <a:spLocks noGrp="1"/>
          </p:cNvSpPr>
          <p:nvPr>
            <p:ph idx="1"/>
          </p:nvPr>
        </p:nvSpPr>
        <p:spPr>
          <a:xfrm>
            <a:off x="228600" y="1676401"/>
            <a:ext cx="9326880" cy="5774742"/>
          </a:xfrm>
        </p:spPr>
        <p:txBody>
          <a:bodyPr/>
          <a:lstStyle/>
          <a:p>
            <a:pPr eaLnBrk="1" hangingPunct="1"/>
            <a:r>
              <a:rPr lang="pt-BR" dirty="0"/>
              <a:t>Quanto maior a quantidade de informação maior será o que deverá ser  analisado e decisões que o usuário precisará tomar.</a:t>
            </a:r>
          </a:p>
          <a:p>
            <a:pPr eaLnBrk="1" hangingPunct="1"/>
            <a:r>
              <a:rPr lang="pt-BR" dirty="0"/>
              <a:t>Manter informações  necessárias, as secundárias podem ser deixadas em segundo plano (menus, abas, etc.) </a:t>
            </a:r>
            <a:r>
              <a:rPr lang="pt-BR" dirty="0">
                <a:solidFill>
                  <a:srgbClr val="C00000"/>
                </a:solidFill>
              </a:rPr>
              <a:t>assim a aplicação se torna eficiente </a:t>
            </a:r>
            <a:r>
              <a:rPr lang="pt-BR" dirty="0"/>
              <a:t>no quesito </a:t>
            </a:r>
          </a:p>
          <a:p>
            <a:pPr marL="122031" indent="0" eaLnBrk="1" hangingPunct="1">
              <a:buNone/>
            </a:pPr>
            <a:r>
              <a:rPr lang="pt-BR" dirty="0"/>
              <a:t>   transmitir </a:t>
            </a:r>
          </a:p>
          <a:p>
            <a:pPr marL="122031" indent="0" eaLnBrk="1" hangingPunct="1">
              <a:buNone/>
            </a:pPr>
            <a:r>
              <a:rPr lang="pt-BR" dirty="0"/>
              <a:t>   informação </a:t>
            </a:r>
          </a:p>
          <a:p>
            <a:pPr marL="122031" indent="0" eaLnBrk="1" hangingPunct="1">
              <a:buNone/>
            </a:pPr>
            <a:r>
              <a:rPr lang="pt-BR" dirty="0"/>
              <a:t>  aos usuários.</a:t>
            </a:r>
            <a:endParaRPr lang="en-US" altLang="pt-BR" dirty="0"/>
          </a:p>
        </p:txBody>
      </p:sp>
      <p:sp>
        <p:nvSpPr>
          <p:cNvPr id="2" name="Retângulo 1"/>
          <p:cNvSpPr/>
          <p:nvPr/>
        </p:nvSpPr>
        <p:spPr>
          <a:xfrm>
            <a:off x="3124200" y="4679848"/>
            <a:ext cx="6219825" cy="309255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199" y="4694596"/>
            <a:ext cx="6209993" cy="30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tângulo 3"/>
          <p:cNvSpPr/>
          <p:nvPr/>
        </p:nvSpPr>
        <p:spPr>
          <a:xfrm>
            <a:off x="3124200" y="4679848"/>
            <a:ext cx="6219825" cy="309255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42621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pt-BR" sz="4800" dirty="0"/>
              <a:t>Design </a:t>
            </a:r>
            <a:r>
              <a:rPr lang="en-US" altLang="pt-BR" sz="4800" dirty="0" err="1"/>
              <a:t>estético</a:t>
            </a:r>
            <a:r>
              <a:rPr lang="en-US" altLang="pt-BR" sz="4800" dirty="0"/>
              <a:t> e </a:t>
            </a:r>
            <a:r>
              <a:rPr lang="en-US" altLang="pt-BR" sz="4800" dirty="0" err="1"/>
              <a:t>minimalista</a:t>
            </a:r>
            <a:r>
              <a:rPr lang="en-US" altLang="pt-BR" sz="4800" dirty="0"/>
              <a:t>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04800" y="1741315"/>
            <a:ext cx="9052560" cy="5551221"/>
          </a:xfrm>
        </p:spPr>
        <p:txBody>
          <a:bodyPr/>
          <a:lstStyle/>
          <a:p>
            <a:pPr marL="350520" marR="1450975">
              <a:lnSpc>
                <a:spcPct val="110000"/>
              </a:lnSpc>
              <a:spcBef>
                <a:spcPts val="950"/>
              </a:spcBef>
            </a:pPr>
            <a:r>
              <a:rPr lang="pt-BR" sz="3600" spc="-5" dirty="0">
                <a:latin typeface="Arial"/>
                <a:cs typeface="Arial"/>
              </a:rPr>
              <a:t>São fornecidas informações </a:t>
            </a:r>
            <a:r>
              <a:rPr lang="pt-BR" sz="3600" spc="-5" dirty="0" err="1">
                <a:latin typeface="Arial"/>
                <a:cs typeface="Arial"/>
              </a:rPr>
              <a:t>desnecesárias</a:t>
            </a:r>
            <a:r>
              <a:rPr lang="pt-BR" sz="3600" spc="-5" dirty="0">
                <a:latin typeface="Arial"/>
                <a:cs typeface="Arial"/>
              </a:rPr>
              <a:t> </a:t>
            </a:r>
            <a:r>
              <a:rPr lang="pt-BR" sz="3600" dirty="0">
                <a:latin typeface="Arial"/>
                <a:cs typeface="Arial"/>
              </a:rPr>
              <a:t>e  </a:t>
            </a:r>
            <a:r>
              <a:rPr lang="pt-BR" sz="3600" spc="-5" dirty="0">
                <a:latin typeface="Arial"/>
                <a:cs typeface="Arial"/>
              </a:rPr>
              <a:t>irrelevantes?</a:t>
            </a:r>
            <a:endParaRPr lang="pt-BR" sz="3600" dirty="0">
              <a:latin typeface="Arial"/>
              <a:cs typeface="Arial"/>
            </a:endParaRPr>
          </a:p>
          <a:p>
            <a:pPr marL="350520" marR="1450975">
              <a:lnSpc>
                <a:spcPct val="110000"/>
              </a:lnSpc>
              <a:spcBef>
                <a:spcPts val="950"/>
              </a:spcBef>
            </a:pPr>
            <a:r>
              <a:rPr lang="pt-BR" sz="3200" dirty="0">
                <a:latin typeface="Arial"/>
                <a:cs typeface="Arial"/>
              </a:rPr>
              <a:t>Cada unidade extra de </a:t>
            </a:r>
            <a:r>
              <a:rPr lang="pt-BR" sz="3200" spc="-5" dirty="0">
                <a:latin typeface="Arial"/>
                <a:cs typeface="Arial"/>
              </a:rPr>
              <a:t>informação </a:t>
            </a:r>
            <a:r>
              <a:rPr lang="pt-BR" sz="3200" spc="5" dirty="0">
                <a:latin typeface="Arial"/>
                <a:cs typeface="Arial"/>
              </a:rPr>
              <a:t>em um </a:t>
            </a:r>
            <a:r>
              <a:rPr lang="pt-BR" sz="3200" dirty="0">
                <a:latin typeface="Arial"/>
                <a:cs typeface="Arial"/>
              </a:rPr>
              <a:t>diálogo compete</a:t>
            </a:r>
            <a:r>
              <a:rPr lang="pt-BR" sz="3200" spc="-245" dirty="0">
                <a:latin typeface="Arial"/>
                <a:cs typeface="Arial"/>
              </a:rPr>
              <a:t> </a:t>
            </a:r>
            <a:r>
              <a:rPr lang="pt-BR" sz="3200" dirty="0">
                <a:latin typeface="Arial"/>
                <a:cs typeface="Arial"/>
              </a:rPr>
              <a:t>com  as unidades de informação relevantes e </a:t>
            </a:r>
            <a:r>
              <a:rPr lang="pt-BR" sz="3200" spc="-5" dirty="0">
                <a:latin typeface="Arial"/>
                <a:cs typeface="Arial"/>
              </a:rPr>
              <a:t>reduz </a:t>
            </a:r>
            <a:r>
              <a:rPr lang="pt-BR" sz="3200" dirty="0">
                <a:latin typeface="Arial"/>
                <a:cs typeface="Arial"/>
              </a:rPr>
              <a:t>sua</a:t>
            </a:r>
            <a:r>
              <a:rPr lang="pt-BR" sz="3200" spc="-204" dirty="0">
                <a:latin typeface="Arial"/>
                <a:cs typeface="Arial"/>
              </a:rPr>
              <a:t> </a:t>
            </a:r>
            <a:r>
              <a:rPr lang="pt-BR" sz="3200" dirty="0">
                <a:latin typeface="Arial"/>
                <a:cs typeface="Arial"/>
              </a:rPr>
              <a:t>visibilidade.</a:t>
            </a:r>
          </a:p>
          <a:p>
            <a:endParaRPr lang="pt-BR" dirty="0"/>
          </a:p>
        </p:txBody>
      </p:sp>
      <p:sp>
        <p:nvSpPr>
          <p:cNvPr id="4" name="object 5"/>
          <p:cNvSpPr/>
          <p:nvPr/>
        </p:nvSpPr>
        <p:spPr>
          <a:xfrm>
            <a:off x="152400" y="5587181"/>
            <a:ext cx="5045964" cy="17053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Imagem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7150" y="4589165"/>
            <a:ext cx="2381250" cy="31635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10777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pt-BR" dirty="0"/>
              <a:t>10ª </a:t>
            </a:r>
            <a:r>
              <a:rPr lang="en-US" altLang="pt-BR" dirty="0" err="1"/>
              <a:t>Ajuda</a:t>
            </a:r>
            <a:r>
              <a:rPr lang="en-US" altLang="pt-BR" dirty="0"/>
              <a:t> e </a:t>
            </a:r>
            <a:r>
              <a:rPr lang="en-US" altLang="pt-BR" dirty="0" err="1"/>
              <a:t>documentação</a:t>
            </a:r>
            <a:endParaRPr lang="en-US" altLang="pt-BR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81200" y="2971800"/>
            <a:ext cx="5467350" cy="3167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tângulo 2"/>
          <p:cNvSpPr/>
          <p:nvPr/>
        </p:nvSpPr>
        <p:spPr>
          <a:xfrm>
            <a:off x="533400" y="1828800"/>
            <a:ext cx="8915400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900" dirty="0">
                <a:latin typeface="Arial" panose="020B0604020202020204" pitchFamily="34" charset="0"/>
                <a:cs typeface="Arial" panose="020B0604020202020204" pitchFamily="34" charset="0"/>
              </a:rPr>
              <a:t>O melhor é que um sistema que seja tão fácil de usar que não necessite de ajuda ou documentação.</a:t>
            </a:r>
          </a:p>
        </p:txBody>
      </p:sp>
      <p:sp>
        <p:nvSpPr>
          <p:cNvPr id="4" name="AutoShape 4" descr="Quem criou o Clippy? A história por trás de 4 elementos de interfac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0" y="6008585"/>
            <a:ext cx="3133725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6477930"/>
            <a:ext cx="8458200" cy="91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09721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8164" y="571812"/>
            <a:ext cx="9500235" cy="1209040"/>
          </a:xfrm>
        </p:spPr>
        <p:txBody>
          <a:bodyPr/>
          <a:lstStyle/>
          <a:p>
            <a:r>
              <a:rPr lang="pt-BR" sz="4800" dirty="0">
                <a:solidFill>
                  <a:srgbClr val="3F3F3F"/>
                </a:solidFill>
                <a:latin typeface="Arial"/>
                <a:cs typeface="Arial"/>
              </a:rPr>
              <a:t>Exemplos: Ajuda </a:t>
            </a:r>
            <a:r>
              <a:rPr lang="pt-BR" sz="4800" spc="-5" dirty="0">
                <a:solidFill>
                  <a:srgbClr val="3F3F3F"/>
                </a:solidFill>
                <a:latin typeface="Arial"/>
                <a:cs typeface="Arial"/>
              </a:rPr>
              <a:t>e </a:t>
            </a:r>
            <a:r>
              <a:rPr lang="pt-BR" sz="4800" dirty="0">
                <a:solidFill>
                  <a:srgbClr val="3F3F3F"/>
                </a:solidFill>
                <a:latin typeface="Arial"/>
                <a:cs typeface="Arial"/>
              </a:rPr>
              <a:t>documentação</a:t>
            </a:r>
            <a:endParaRPr lang="pt-BR" dirty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6425" y="2590800"/>
            <a:ext cx="3819525" cy="1018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6425" y="1828800"/>
            <a:ext cx="628648" cy="551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63" y="5351052"/>
            <a:ext cx="4790153" cy="2255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9313" y="5410200"/>
            <a:ext cx="3886200" cy="168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952452"/>
            <a:ext cx="2936772" cy="2982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6425" y="4168264"/>
            <a:ext cx="437197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61395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800" dirty="0">
                <a:solidFill>
                  <a:srgbClr val="3F3F3F"/>
                </a:solidFill>
                <a:latin typeface="Arial"/>
                <a:cs typeface="Arial"/>
              </a:rPr>
              <a:t>Ajuda </a:t>
            </a:r>
            <a:r>
              <a:rPr lang="pt-BR" sz="4800" spc="-5" dirty="0">
                <a:solidFill>
                  <a:srgbClr val="3F3F3F"/>
                </a:solidFill>
                <a:latin typeface="Arial"/>
                <a:cs typeface="Arial"/>
              </a:rPr>
              <a:t>e </a:t>
            </a:r>
            <a:r>
              <a:rPr lang="pt-BR" sz="4800" dirty="0">
                <a:solidFill>
                  <a:srgbClr val="3F3F3F"/>
                </a:solidFill>
                <a:latin typeface="Arial"/>
                <a:cs typeface="Arial"/>
              </a:rPr>
              <a:t>documentação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0520">
              <a:lnSpc>
                <a:spcPct val="100000"/>
              </a:lnSpc>
              <a:spcBef>
                <a:spcPts val="1240"/>
              </a:spcBef>
            </a:pPr>
            <a:r>
              <a:rPr lang="pt-BR" sz="3200" spc="-5" dirty="0">
                <a:latin typeface="Arial"/>
                <a:cs typeface="Arial"/>
              </a:rPr>
              <a:t>São fornecidas informações </a:t>
            </a:r>
            <a:r>
              <a:rPr lang="pt-BR" sz="3200" spc="-10" dirty="0">
                <a:latin typeface="Arial"/>
                <a:cs typeface="Arial"/>
              </a:rPr>
              <a:t>de</a:t>
            </a:r>
            <a:r>
              <a:rPr lang="pt-BR" sz="3200" spc="40" dirty="0">
                <a:latin typeface="Arial"/>
                <a:cs typeface="Arial"/>
              </a:rPr>
              <a:t> </a:t>
            </a:r>
            <a:r>
              <a:rPr lang="pt-BR" sz="3200" spc="-5" dirty="0">
                <a:latin typeface="Arial"/>
                <a:cs typeface="Arial"/>
              </a:rPr>
              <a:t>ajuda?</a:t>
            </a:r>
            <a:endParaRPr lang="pt-BR" sz="3200" dirty="0">
              <a:latin typeface="Arial"/>
              <a:cs typeface="Arial"/>
            </a:endParaRPr>
          </a:p>
          <a:p>
            <a:pPr marL="350520" marR="396875">
              <a:lnSpc>
                <a:spcPct val="110000"/>
              </a:lnSpc>
              <a:spcBef>
                <a:spcPts val="900"/>
              </a:spcBef>
            </a:pPr>
            <a:r>
              <a:rPr lang="pt-BR" sz="3200" spc="-5" dirty="0">
                <a:latin typeface="Arial"/>
                <a:cs typeface="Arial"/>
              </a:rPr>
              <a:t>São facilmente encontradas? </a:t>
            </a:r>
          </a:p>
          <a:p>
            <a:pPr marL="350520" marR="396875">
              <a:lnSpc>
                <a:spcPct val="110000"/>
              </a:lnSpc>
              <a:spcBef>
                <a:spcPts val="900"/>
              </a:spcBef>
            </a:pPr>
            <a:r>
              <a:rPr lang="pt-BR" sz="3200" spc="-5" dirty="0">
                <a:latin typeface="Arial"/>
                <a:cs typeface="Arial"/>
              </a:rPr>
              <a:t>Apresentam passos  concretos </a:t>
            </a:r>
            <a:r>
              <a:rPr lang="pt-BR" sz="3200" dirty="0">
                <a:latin typeface="Arial"/>
                <a:cs typeface="Arial"/>
              </a:rPr>
              <a:t>que são </a:t>
            </a:r>
            <a:r>
              <a:rPr lang="pt-BR" sz="3200" spc="-5" dirty="0">
                <a:latin typeface="Arial"/>
                <a:cs typeface="Arial"/>
              </a:rPr>
              <a:t>facilmente</a:t>
            </a:r>
            <a:r>
              <a:rPr lang="pt-BR" sz="3200" spc="-10" dirty="0">
                <a:latin typeface="Arial"/>
                <a:cs typeface="Arial"/>
              </a:rPr>
              <a:t> </a:t>
            </a:r>
            <a:r>
              <a:rPr lang="pt-BR" sz="3200" spc="-5" dirty="0">
                <a:latin typeface="Arial"/>
                <a:cs typeface="Arial"/>
              </a:rPr>
              <a:t>seguidos?</a:t>
            </a:r>
            <a:endParaRPr lang="pt-BR" sz="3200" dirty="0">
              <a:latin typeface="Arial"/>
              <a:cs typeface="Arial"/>
            </a:endParaRPr>
          </a:p>
          <a:p>
            <a:pPr marL="350520" marR="5080">
              <a:lnSpc>
                <a:spcPct val="110000"/>
              </a:lnSpc>
              <a:spcBef>
                <a:spcPts val="900"/>
              </a:spcBef>
            </a:pPr>
            <a:r>
              <a:rPr lang="pt-BR" sz="3200" spc="-5" dirty="0">
                <a:latin typeface="Arial"/>
                <a:cs typeface="Arial"/>
              </a:rPr>
              <a:t>São focadas </a:t>
            </a:r>
            <a:r>
              <a:rPr lang="pt-BR" sz="3200" dirty="0">
                <a:latin typeface="Arial"/>
                <a:cs typeface="Arial"/>
              </a:rPr>
              <a:t>no </a:t>
            </a:r>
            <a:r>
              <a:rPr lang="pt-BR" sz="3200" spc="-5" dirty="0">
                <a:latin typeface="Arial"/>
                <a:cs typeface="Arial"/>
              </a:rPr>
              <a:t>domínio </a:t>
            </a:r>
            <a:r>
              <a:rPr lang="pt-BR" sz="3200" dirty="0">
                <a:latin typeface="Arial"/>
                <a:cs typeface="Arial"/>
              </a:rPr>
              <a:t>e </a:t>
            </a:r>
            <a:r>
              <a:rPr lang="pt-BR" sz="3200" spc="-5" dirty="0">
                <a:latin typeface="Arial"/>
                <a:cs typeface="Arial"/>
              </a:rPr>
              <a:t>nos objetivos </a:t>
            </a:r>
            <a:r>
              <a:rPr lang="pt-BR" sz="3200" dirty="0">
                <a:latin typeface="Arial"/>
                <a:cs typeface="Arial"/>
              </a:rPr>
              <a:t>e tarefas do  </a:t>
            </a:r>
            <a:r>
              <a:rPr lang="pt-BR" sz="3200" spc="-5" dirty="0">
                <a:latin typeface="Arial"/>
                <a:cs typeface="Arial"/>
              </a:rPr>
              <a:t>usuário?</a:t>
            </a:r>
            <a:endParaRPr lang="pt-BR" sz="3200" dirty="0">
              <a:latin typeface="Arial"/>
              <a:cs typeface="Arial"/>
            </a:endParaRPr>
          </a:p>
          <a:p>
            <a:pPr marL="122031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402876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8084" y="640980"/>
            <a:ext cx="650951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5" dirty="0" err="1">
                <a:solidFill>
                  <a:schemeClr val="tx1"/>
                </a:solidFill>
              </a:rPr>
              <a:t>H</a:t>
            </a:r>
            <a:r>
              <a:rPr spc="-5" dirty="0" err="1">
                <a:solidFill>
                  <a:schemeClr val="tx1"/>
                </a:solidFill>
              </a:rPr>
              <a:t>eurísticas</a:t>
            </a:r>
            <a:r>
              <a:rPr spc="-5" dirty="0">
                <a:solidFill>
                  <a:schemeClr val="tx1"/>
                </a:solidFill>
              </a:rPr>
              <a:t> </a:t>
            </a:r>
            <a:r>
              <a:rPr spc="-20" dirty="0">
                <a:solidFill>
                  <a:schemeClr val="tx1"/>
                </a:solidFill>
              </a:rPr>
              <a:t>de </a:t>
            </a:r>
            <a:r>
              <a:rPr spc="-5" dirty="0">
                <a:solidFill>
                  <a:schemeClr val="tx1"/>
                </a:solidFill>
              </a:rPr>
              <a:t>Nielsen &gt;</a:t>
            </a:r>
            <a:r>
              <a:rPr spc="65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sumário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marR="5080" indent="-515620">
              <a:lnSpc>
                <a:spcPct val="110000"/>
              </a:lnSpc>
              <a:spcBef>
                <a:spcPts val="100"/>
              </a:spcBef>
              <a:buClr>
                <a:srgbClr val="7E7E7E"/>
              </a:buClr>
              <a:buSzPct val="79166"/>
              <a:buAutoNum type="arabicPeriod"/>
              <a:tabLst>
                <a:tab pos="527685" algn="l"/>
                <a:tab pos="528320" algn="l"/>
              </a:tabLst>
            </a:pPr>
            <a:r>
              <a:rPr spc="-5" dirty="0"/>
              <a:t>visibilidade </a:t>
            </a:r>
            <a:r>
              <a:rPr spc="-10" dirty="0"/>
              <a:t>do </a:t>
            </a:r>
            <a:r>
              <a:rPr spc="-5" dirty="0"/>
              <a:t>estado </a:t>
            </a:r>
            <a:r>
              <a:rPr dirty="0"/>
              <a:t>do  </a:t>
            </a:r>
            <a:r>
              <a:rPr spc="-5" dirty="0"/>
              <a:t>sistema</a:t>
            </a:r>
          </a:p>
          <a:p>
            <a:pPr marL="527685" marR="56515" indent="-515620">
              <a:lnSpc>
                <a:spcPct val="110000"/>
              </a:lnSpc>
              <a:spcBef>
                <a:spcPts val="900"/>
              </a:spcBef>
              <a:buClr>
                <a:srgbClr val="7E7E7E"/>
              </a:buClr>
              <a:buSzPct val="79166"/>
              <a:buAutoNum type="arabicPeriod"/>
              <a:tabLst>
                <a:tab pos="527685" algn="l"/>
                <a:tab pos="528320" algn="l"/>
              </a:tabLst>
            </a:pPr>
            <a:r>
              <a:rPr spc="-5" dirty="0"/>
              <a:t>correspondência entre </a:t>
            </a:r>
            <a:r>
              <a:rPr dirty="0"/>
              <a:t>o  </a:t>
            </a:r>
            <a:r>
              <a:rPr spc="-5" dirty="0"/>
              <a:t>sistema </a:t>
            </a:r>
            <a:r>
              <a:rPr dirty="0"/>
              <a:t>e o </a:t>
            </a:r>
            <a:r>
              <a:rPr spc="-5" dirty="0"/>
              <a:t>mundo</a:t>
            </a:r>
            <a:r>
              <a:rPr spc="-40" dirty="0"/>
              <a:t> </a:t>
            </a:r>
            <a:r>
              <a:rPr spc="-5" dirty="0"/>
              <a:t>real</a:t>
            </a:r>
          </a:p>
          <a:p>
            <a:pPr marL="527685" marR="242570" indent="-515620">
              <a:lnSpc>
                <a:spcPct val="110000"/>
              </a:lnSpc>
              <a:spcBef>
                <a:spcPts val="900"/>
              </a:spcBef>
              <a:buClr>
                <a:srgbClr val="7E7E7E"/>
              </a:buClr>
              <a:buSzPct val="79166"/>
              <a:buAutoNum type="arabicPeriod"/>
              <a:tabLst>
                <a:tab pos="527685" algn="l"/>
                <a:tab pos="528320" algn="l"/>
              </a:tabLst>
            </a:pPr>
            <a:r>
              <a:rPr spc="-5" dirty="0"/>
              <a:t>controle </a:t>
            </a:r>
            <a:r>
              <a:rPr dirty="0"/>
              <a:t>e </a:t>
            </a:r>
            <a:r>
              <a:rPr spc="-5" dirty="0"/>
              <a:t>liberdade </a:t>
            </a:r>
            <a:r>
              <a:rPr spc="-10" dirty="0"/>
              <a:t>do  </a:t>
            </a:r>
            <a:r>
              <a:rPr spc="-5" dirty="0"/>
              <a:t>usuário</a:t>
            </a:r>
          </a:p>
          <a:p>
            <a:pPr marL="527685" marR="1412875" indent="-515620">
              <a:lnSpc>
                <a:spcPct val="110000"/>
              </a:lnSpc>
              <a:spcBef>
                <a:spcPts val="900"/>
              </a:spcBef>
              <a:buClr>
                <a:srgbClr val="7E7E7E"/>
              </a:buClr>
              <a:buSzPct val="79166"/>
              <a:buAutoNum type="arabicPeriod"/>
              <a:tabLst>
                <a:tab pos="527685" algn="l"/>
                <a:tab pos="528320" algn="l"/>
              </a:tabLst>
            </a:pPr>
            <a:r>
              <a:rPr spc="-5" dirty="0"/>
              <a:t>consistência</a:t>
            </a:r>
            <a:r>
              <a:rPr spc="-40" dirty="0"/>
              <a:t> </a:t>
            </a:r>
            <a:r>
              <a:rPr dirty="0"/>
              <a:t>e  </a:t>
            </a:r>
            <a:r>
              <a:rPr spc="-5" dirty="0"/>
              <a:t>padronização</a:t>
            </a:r>
          </a:p>
          <a:p>
            <a:pPr marL="527685" marR="90170" indent="-515620">
              <a:lnSpc>
                <a:spcPct val="110000"/>
              </a:lnSpc>
              <a:spcBef>
                <a:spcPts val="900"/>
              </a:spcBef>
              <a:buClr>
                <a:srgbClr val="7E7E7E"/>
              </a:buClr>
              <a:buSzPct val="79166"/>
              <a:buAutoNum type="arabicPeriod"/>
              <a:tabLst>
                <a:tab pos="527685" algn="l"/>
                <a:tab pos="528320" algn="l"/>
              </a:tabLst>
            </a:pPr>
            <a:r>
              <a:rPr spc="-5" dirty="0"/>
              <a:t>ajuda aos usuários </a:t>
            </a:r>
            <a:r>
              <a:rPr dirty="0"/>
              <a:t>para  </a:t>
            </a:r>
            <a:r>
              <a:rPr spc="-5" dirty="0"/>
              <a:t>reconhecerem,  diagnosticarem </a:t>
            </a:r>
            <a:r>
              <a:rPr dirty="0"/>
              <a:t>e</a:t>
            </a:r>
            <a:r>
              <a:rPr spc="20" dirty="0"/>
              <a:t> </a:t>
            </a:r>
            <a:r>
              <a:rPr dirty="0"/>
              <a:t>se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25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4960064" y="1250722"/>
            <a:ext cx="3780790" cy="4332605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527685">
              <a:lnSpc>
                <a:spcPct val="100000"/>
              </a:lnSpc>
              <a:spcBef>
                <a:spcPts val="1285"/>
              </a:spcBef>
            </a:pPr>
            <a:r>
              <a:rPr sz="2400" spc="-5" dirty="0">
                <a:solidFill>
                  <a:srgbClr val="3F3F3F"/>
                </a:solidFill>
                <a:latin typeface="Arial"/>
                <a:cs typeface="Arial"/>
              </a:rPr>
              <a:t>recuperarem </a:t>
            </a:r>
            <a:r>
              <a:rPr sz="2400" spc="-10" dirty="0">
                <a:solidFill>
                  <a:srgbClr val="3F3F3F"/>
                </a:solidFill>
                <a:latin typeface="Arial"/>
                <a:cs typeface="Arial"/>
              </a:rPr>
              <a:t>de</a:t>
            </a:r>
            <a:r>
              <a:rPr sz="2400" spc="3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Arial"/>
                <a:cs typeface="Arial"/>
              </a:rPr>
              <a:t>erros</a:t>
            </a:r>
            <a:endParaRPr sz="2400">
              <a:latin typeface="Arial"/>
              <a:cs typeface="Arial"/>
            </a:endParaRPr>
          </a:p>
          <a:p>
            <a:pPr marL="527685" indent="-515620">
              <a:lnSpc>
                <a:spcPct val="100000"/>
              </a:lnSpc>
              <a:spcBef>
                <a:spcPts val="1190"/>
              </a:spcBef>
              <a:buClr>
                <a:srgbClr val="7E7E7E"/>
              </a:buClr>
              <a:buSzPct val="79166"/>
              <a:buAutoNum type="arabicPeriod" startAt="6"/>
              <a:tabLst>
                <a:tab pos="527685" algn="l"/>
                <a:tab pos="528320" algn="l"/>
              </a:tabLst>
            </a:pPr>
            <a:r>
              <a:rPr sz="2400" spc="-5" dirty="0">
                <a:solidFill>
                  <a:srgbClr val="3F3F3F"/>
                </a:solidFill>
                <a:latin typeface="Arial"/>
                <a:cs typeface="Arial"/>
              </a:rPr>
              <a:t>prevenção </a:t>
            </a:r>
            <a:r>
              <a:rPr sz="2400" spc="-10" dirty="0">
                <a:solidFill>
                  <a:srgbClr val="3F3F3F"/>
                </a:solidFill>
                <a:latin typeface="Arial"/>
                <a:cs typeface="Arial"/>
              </a:rPr>
              <a:t>de</a:t>
            </a:r>
            <a:r>
              <a:rPr sz="2400" spc="3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Arial"/>
                <a:cs typeface="Arial"/>
              </a:rPr>
              <a:t>erro</a:t>
            </a:r>
            <a:endParaRPr sz="2400">
              <a:latin typeface="Arial"/>
              <a:cs typeface="Arial"/>
            </a:endParaRPr>
          </a:p>
          <a:p>
            <a:pPr marL="527685" marR="5080" indent="-515620">
              <a:lnSpc>
                <a:spcPct val="110000"/>
              </a:lnSpc>
              <a:spcBef>
                <a:spcPts val="900"/>
              </a:spcBef>
              <a:buClr>
                <a:srgbClr val="7E7E7E"/>
              </a:buClr>
              <a:buSzPct val="79166"/>
              <a:buAutoNum type="arabicPeriod" startAt="6"/>
              <a:tabLst>
                <a:tab pos="527685" algn="l"/>
                <a:tab pos="528320" algn="l"/>
              </a:tabLst>
            </a:pPr>
            <a:r>
              <a:rPr sz="2400" spc="-5" dirty="0">
                <a:solidFill>
                  <a:srgbClr val="3F3F3F"/>
                </a:solidFill>
                <a:latin typeface="Arial"/>
                <a:cs typeface="Arial"/>
              </a:rPr>
              <a:t>reconhecimento </a:t>
            </a:r>
            <a:r>
              <a:rPr sz="2400" dirty="0">
                <a:solidFill>
                  <a:srgbClr val="3F3F3F"/>
                </a:solidFill>
                <a:latin typeface="Arial"/>
                <a:cs typeface="Arial"/>
              </a:rPr>
              <a:t>em vez  de</a:t>
            </a:r>
            <a:r>
              <a:rPr sz="24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Arial"/>
                <a:cs typeface="Arial"/>
              </a:rPr>
              <a:t>memorização</a:t>
            </a:r>
            <a:endParaRPr sz="2400">
              <a:latin typeface="Arial"/>
              <a:cs typeface="Arial"/>
            </a:endParaRPr>
          </a:p>
          <a:p>
            <a:pPr marL="527685" marR="39370" indent="-515620">
              <a:lnSpc>
                <a:spcPct val="110000"/>
              </a:lnSpc>
              <a:spcBef>
                <a:spcPts val="900"/>
              </a:spcBef>
              <a:buClr>
                <a:srgbClr val="7E7E7E"/>
              </a:buClr>
              <a:buSzPct val="79166"/>
              <a:buAutoNum type="arabicPeriod" startAt="6"/>
              <a:tabLst>
                <a:tab pos="527685" algn="l"/>
                <a:tab pos="528320" algn="l"/>
              </a:tabLst>
            </a:pPr>
            <a:r>
              <a:rPr sz="2400" spc="-5" dirty="0">
                <a:solidFill>
                  <a:srgbClr val="3F3F3F"/>
                </a:solidFill>
                <a:latin typeface="Arial"/>
                <a:cs typeface="Arial"/>
              </a:rPr>
              <a:t>flexibilidade </a:t>
            </a:r>
            <a:r>
              <a:rPr sz="2400" dirty="0">
                <a:solidFill>
                  <a:srgbClr val="3F3F3F"/>
                </a:solidFill>
                <a:latin typeface="Arial"/>
                <a:cs typeface="Arial"/>
              </a:rPr>
              <a:t>e </a:t>
            </a:r>
            <a:r>
              <a:rPr sz="2400" spc="-5" dirty="0">
                <a:solidFill>
                  <a:srgbClr val="3F3F3F"/>
                </a:solidFill>
                <a:latin typeface="Arial"/>
                <a:cs typeface="Arial"/>
              </a:rPr>
              <a:t>eficiência  </a:t>
            </a:r>
            <a:r>
              <a:rPr sz="2400" dirty="0">
                <a:solidFill>
                  <a:srgbClr val="3F3F3F"/>
                </a:solidFill>
                <a:latin typeface="Arial"/>
                <a:cs typeface="Arial"/>
              </a:rPr>
              <a:t>de</a:t>
            </a:r>
            <a:r>
              <a:rPr sz="24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F3F3F"/>
                </a:solidFill>
                <a:latin typeface="Arial"/>
                <a:cs typeface="Arial"/>
              </a:rPr>
              <a:t>uso</a:t>
            </a:r>
            <a:endParaRPr sz="2400">
              <a:latin typeface="Arial"/>
              <a:cs typeface="Arial"/>
            </a:endParaRPr>
          </a:p>
          <a:p>
            <a:pPr marL="527685" marR="960119" indent="-515620">
              <a:lnSpc>
                <a:spcPct val="110000"/>
              </a:lnSpc>
              <a:spcBef>
                <a:spcPts val="900"/>
              </a:spcBef>
              <a:buClr>
                <a:srgbClr val="7E7E7E"/>
              </a:buClr>
              <a:buSzPct val="79166"/>
              <a:buAutoNum type="arabicPeriod" startAt="6"/>
              <a:tabLst>
                <a:tab pos="527685" algn="l"/>
                <a:tab pos="528320" algn="l"/>
              </a:tabLst>
            </a:pPr>
            <a:r>
              <a:rPr sz="2400" spc="-5" dirty="0">
                <a:solidFill>
                  <a:srgbClr val="3F3F3F"/>
                </a:solidFill>
                <a:latin typeface="Arial"/>
                <a:cs typeface="Arial"/>
              </a:rPr>
              <a:t>estética </a:t>
            </a:r>
            <a:r>
              <a:rPr sz="2400" dirty="0">
                <a:solidFill>
                  <a:srgbClr val="3F3F3F"/>
                </a:solidFill>
                <a:latin typeface="Arial"/>
                <a:cs typeface="Arial"/>
              </a:rPr>
              <a:t>e</a:t>
            </a:r>
            <a:r>
              <a:rPr sz="2400" spc="-4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Arial"/>
                <a:cs typeface="Arial"/>
              </a:rPr>
              <a:t>design  </a:t>
            </a:r>
            <a:r>
              <a:rPr sz="2400" spc="-5" dirty="0">
                <a:solidFill>
                  <a:srgbClr val="3F3F3F"/>
                </a:solidFill>
                <a:latin typeface="Arial"/>
                <a:cs typeface="Arial"/>
              </a:rPr>
              <a:t>minimalista</a:t>
            </a:r>
            <a:endParaRPr sz="2400">
              <a:latin typeface="Arial"/>
              <a:cs typeface="Arial"/>
            </a:endParaRPr>
          </a:p>
          <a:p>
            <a:pPr marL="527685" indent="-515620">
              <a:lnSpc>
                <a:spcPct val="100000"/>
              </a:lnSpc>
              <a:spcBef>
                <a:spcPts val="1185"/>
              </a:spcBef>
              <a:buClr>
                <a:srgbClr val="7E7E7E"/>
              </a:buClr>
              <a:buSzPct val="79166"/>
              <a:buAutoNum type="arabicPeriod" startAt="6"/>
              <a:tabLst>
                <a:tab pos="527685" algn="l"/>
                <a:tab pos="528320" algn="l"/>
              </a:tabLst>
            </a:pPr>
            <a:r>
              <a:rPr sz="2400" spc="-5" dirty="0">
                <a:solidFill>
                  <a:srgbClr val="3F3F3F"/>
                </a:solidFill>
                <a:latin typeface="Arial"/>
                <a:cs typeface="Arial"/>
              </a:rPr>
              <a:t>ajuda </a:t>
            </a:r>
            <a:r>
              <a:rPr sz="2400" dirty="0">
                <a:solidFill>
                  <a:srgbClr val="3F3F3F"/>
                </a:solidFill>
                <a:latin typeface="Arial"/>
                <a:cs typeface="Arial"/>
              </a:rPr>
              <a:t>e</a:t>
            </a:r>
            <a:r>
              <a:rPr sz="2400" spc="-2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Arial"/>
                <a:cs typeface="Arial"/>
              </a:rPr>
              <a:t>documentação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261348" y="7293102"/>
            <a:ext cx="340360" cy="0"/>
          </a:xfrm>
          <a:custGeom>
            <a:avLst/>
            <a:gdLst/>
            <a:ahLst/>
            <a:cxnLst/>
            <a:rect l="l" t="t" r="r" b="b"/>
            <a:pathLst>
              <a:path w="340359">
                <a:moveTo>
                  <a:pt x="0" y="0"/>
                </a:moveTo>
                <a:lnTo>
                  <a:pt x="339851" y="0"/>
                </a:lnTo>
              </a:path>
            </a:pathLst>
          </a:custGeom>
          <a:ln w="44196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FSP">
  <a:themeElements>
    <a:clrScheme name="Personalizar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ersonalizar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ersonalizar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IFSP</Template>
  <TotalTime>381</TotalTime>
  <Words>1367</Words>
  <Application>Microsoft Office PowerPoint</Application>
  <PresentationFormat>Personalizar</PresentationFormat>
  <Paragraphs>185</Paragraphs>
  <Slides>30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30</vt:i4>
      </vt:variant>
    </vt:vector>
  </HeadingPairs>
  <TitlesOfParts>
    <vt:vector size="40" baseType="lpstr">
      <vt:lpstr>Arial</vt:lpstr>
      <vt:lpstr>Calibri</vt:lpstr>
      <vt:lpstr>Comic Sans MS</vt:lpstr>
      <vt:lpstr>Georgia</vt:lpstr>
      <vt:lpstr>Source Serif Pro Variable</vt:lpstr>
      <vt:lpstr>Trebuchet MS</vt:lpstr>
      <vt:lpstr>Trebuchet MS (Títulos)</vt:lpstr>
      <vt:lpstr>Wingdings 2</vt:lpstr>
      <vt:lpstr>IFSP</vt:lpstr>
      <vt:lpstr>Urbano</vt:lpstr>
      <vt:lpstr>Heurísticas de Nielsen</vt:lpstr>
      <vt:lpstr>Design de IHC</vt:lpstr>
      <vt:lpstr>Design</vt:lpstr>
      <vt:lpstr>Que é Heurística</vt:lpstr>
      <vt:lpstr>Nielsen 1993</vt:lpstr>
      <vt:lpstr>Heurísticas de Nielsen</vt:lpstr>
      <vt:lpstr>1ª Visibilidade do Sistema</vt:lpstr>
      <vt:lpstr>Visibilidade do estado do sistema</vt:lpstr>
      <vt:lpstr>2ª Correspondência entre o sistema e o mundo real</vt:lpstr>
      <vt:lpstr>Correspondência entre o sistema e o mundo real</vt:lpstr>
      <vt:lpstr>3ª Controle e liberdade do usuário</vt:lpstr>
      <vt:lpstr>Controle e liberdade do usuário</vt:lpstr>
      <vt:lpstr>4ª Consistência e padronização</vt:lpstr>
      <vt:lpstr>Consistência e padronização</vt:lpstr>
      <vt:lpstr>Exemplo: Consistência e padronização</vt:lpstr>
      <vt:lpstr>5ª Prevenção de erros</vt:lpstr>
      <vt:lpstr>Prevenção de erro</vt:lpstr>
      <vt:lpstr>Prevenção de erro</vt:lpstr>
      <vt:lpstr>6ª Ajuda aos usuários para reconhecerem, diagnosticarem e se recuperarem de erros</vt:lpstr>
      <vt:lpstr>Ajuda aos usuários  </vt:lpstr>
      <vt:lpstr>7ª Reconhecimento em vez de memorização</vt:lpstr>
      <vt:lpstr>Reconhecimento em vez de memorização</vt:lpstr>
      <vt:lpstr>8ª Flexibilidade e eficiência de uso</vt:lpstr>
      <vt:lpstr>Flexibilidade e eficiência de uso</vt:lpstr>
      <vt:lpstr>9ª Design estético e minimalista </vt:lpstr>
      <vt:lpstr>Design estético e minimalista </vt:lpstr>
      <vt:lpstr>10ª Ajuda e documentação</vt:lpstr>
      <vt:lpstr>Exemplos: Ajuda e documentação</vt:lpstr>
      <vt:lpstr>Ajuda e documentação</vt:lpstr>
      <vt:lpstr>Heurísticas de Nielsen &gt; sumário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INF1403_07_avaliacao_heuristica</dc:title>
  <dc:creator>abraposo</dc:creator>
  <cp:lastModifiedBy>CECILIA SOSA ARIAS PEIXOTO</cp:lastModifiedBy>
  <cp:revision>61</cp:revision>
  <dcterms:created xsi:type="dcterms:W3CDTF">2019-10-03T20:32:11Z</dcterms:created>
  <dcterms:modified xsi:type="dcterms:W3CDTF">2025-10-08T21:51:40Z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2018-04-02T00:00:00Z</vt:filetime>
  </property>
  <property fmtid="{D5CDD505-2E9C-101B-9397-08002B2CF9AE}" pid="3" name="LastSaved">
    <vt:filetime>2019-10-03T00:00:00Z</vt:filetime>
  </property>
</Properties>
</file>