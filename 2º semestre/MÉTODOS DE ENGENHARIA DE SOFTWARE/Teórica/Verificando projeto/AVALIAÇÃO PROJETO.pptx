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94" r:id="rId23"/>
    <p:sldId id="295" r:id="rId24"/>
    <p:sldId id="280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281" r:id="rId39"/>
    <p:sldId id="283" r:id="rId40"/>
    <p:sldId id="309" r:id="rId41"/>
    <p:sldId id="310" r:id="rId42"/>
    <p:sldId id="284" r:id="rId43"/>
    <p:sldId id="285" r:id="rId44"/>
    <p:sldId id="286" r:id="rId45"/>
    <p:sldId id="311" r:id="rId46"/>
    <p:sldId id="312" r:id="rId47"/>
    <p:sldId id="287" r:id="rId48"/>
    <p:sldId id="288" r:id="rId49"/>
    <p:sldId id="289" r:id="rId50"/>
    <p:sldId id="290" r:id="rId51"/>
    <p:sldId id="291" r:id="rId52"/>
    <p:sldId id="313" r:id="rId53"/>
    <p:sldId id="292" r:id="rId54"/>
    <p:sldId id="314" r:id="rId55"/>
    <p:sldId id="315" r:id="rId56"/>
    <p:sldId id="293" r:id="rId57"/>
    <p:sldId id="316" r:id="rId5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88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5005" y="255778"/>
            <a:ext cx="7307834" cy="1840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106423"/>
            <a:ext cx="4427220" cy="4036060"/>
          </a:xfrm>
          <a:custGeom>
            <a:avLst/>
            <a:gdLst/>
            <a:ahLst/>
            <a:cxnLst/>
            <a:rect l="l" t="t" r="r" b="b"/>
            <a:pathLst>
              <a:path w="4427220" h="4036060">
                <a:moveTo>
                  <a:pt x="4427220" y="0"/>
                </a:moveTo>
                <a:lnTo>
                  <a:pt x="0" y="0"/>
                </a:lnTo>
                <a:lnTo>
                  <a:pt x="0" y="4035552"/>
                </a:lnTo>
                <a:lnTo>
                  <a:pt x="4427220" y="4035552"/>
                </a:lnTo>
                <a:lnTo>
                  <a:pt x="4427220" y="0"/>
                </a:lnTo>
                <a:close/>
              </a:path>
            </a:pathLst>
          </a:custGeom>
          <a:solidFill>
            <a:srgbClr val="FAE4D5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106423"/>
            <a:ext cx="4427220" cy="4036060"/>
          </a:xfrm>
          <a:custGeom>
            <a:avLst/>
            <a:gdLst/>
            <a:ahLst/>
            <a:cxnLst/>
            <a:rect l="l" t="t" r="r" b="b"/>
            <a:pathLst>
              <a:path w="4427220" h="4036060">
                <a:moveTo>
                  <a:pt x="0" y="4035552"/>
                </a:moveTo>
                <a:lnTo>
                  <a:pt x="4427220" y="4035552"/>
                </a:lnTo>
                <a:lnTo>
                  <a:pt x="4427220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716779" y="1101852"/>
            <a:ext cx="4427220" cy="4041775"/>
          </a:xfrm>
          <a:custGeom>
            <a:avLst/>
            <a:gdLst/>
            <a:ahLst/>
            <a:cxnLst/>
            <a:rect l="l" t="t" r="r" b="b"/>
            <a:pathLst>
              <a:path w="4427220" h="4041775">
                <a:moveTo>
                  <a:pt x="4427220" y="0"/>
                </a:moveTo>
                <a:lnTo>
                  <a:pt x="0" y="0"/>
                </a:lnTo>
                <a:lnTo>
                  <a:pt x="0" y="4041648"/>
                </a:lnTo>
                <a:lnTo>
                  <a:pt x="4427220" y="4041648"/>
                </a:lnTo>
                <a:lnTo>
                  <a:pt x="4427220" y="0"/>
                </a:lnTo>
                <a:close/>
              </a:path>
            </a:pathLst>
          </a:custGeom>
          <a:solidFill>
            <a:srgbClr val="FAE4D5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716779" y="1101852"/>
            <a:ext cx="4427220" cy="4041775"/>
          </a:xfrm>
          <a:custGeom>
            <a:avLst/>
            <a:gdLst/>
            <a:ahLst/>
            <a:cxnLst/>
            <a:rect l="l" t="t" r="r" b="b"/>
            <a:pathLst>
              <a:path w="4427220" h="4041775">
                <a:moveTo>
                  <a:pt x="4427220" y="0"/>
                </a:moveTo>
                <a:lnTo>
                  <a:pt x="0" y="0"/>
                </a:lnTo>
                <a:lnTo>
                  <a:pt x="0" y="4041648"/>
                </a:lnTo>
              </a:path>
            </a:pathLst>
          </a:custGeom>
          <a:ln w="12699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96392" y="1206830"/>
            <a:ext cx="4023995" cy="3426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953380" y="1203401"/>
            <a:ext cx="3942715" cy="3176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1599" y="336245"/>
            <a:ext cx="8340801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968" y="1403832"/>
            <a:ext cx="8339455" cy="2973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ngroup.com/topic/heuristic-evaluation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nngroup.com/articles/banner-blindness-old-and-new-findings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3825" y="2932938"/>
            <a:ext cx="1940560" cy="0"/>
          </a:xfrm>
          <a:custGeom>
            <a:avLst/>
            <a:gdLst/>
            <a:ahLst/>
            <a:cxnLst/>
            <a:rect l="l" t="t" r="r" b="b"/>
            <a:pathLst>
              <a:path w="1940560">
                <a:moveTo>
                  <a:pt x="0" y="0"/>
                </a:moveTo>
                <a:lnTo>
                  <a:pt x="1940052" y="0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-6350" y="2390901"/>
            <a:ext cx="9156700" cy="58419"/>
            <a:chOff x="-6350" y="2390901"/>
            <a:chExt cx="9156700" cy="58419"/>
          </a:xfrm>
        </p:grpSpPr>
        <p:sp>
          <p:nvSpPr>
            <p:cNvPr id="7" name="object 7"/>
            <p:cNvSpPr/>
            <p:nvPr/>
          </p:nvSpPr>
          <p:spPr>
            <a:xfrm>
              <a:off x="0" y="2397251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19">
                  <a:moveTo>
                    <a:pt x="914400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9144000" y="4571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2397251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19">
                  <a:moveTo>
                    <a:pt x="0" y="45719"/>
                  </a:moveTo>
                  <a:lnTo>
                    <a:pt x="9144000" y="4571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ítulo 9">
            <a:extLst>
              <a:ext uri="{FF2B5EF4-FFF2-40B4-BE49-F238E27FC236}">
                <a16:creationId xmlns:a16="http://schemas.microsoft.com/office/drawing/2014/main" id="{A8955FDA-4D46-0A4A-F3A8-6E092A04D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433148"/>
            <a:ext cx="8340801" cy="615553"/>
          </a:xfrm>
        </p:spPr>
        <p:txBody>
          <a:bodyPr/>
          <a:lstStyle/>
          <a:p>
            <a:r>
              <a:rPr lang="pt-BR" dirty="0"/>
              <a:t>Avaliação do Projeto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3497" y="245109"/>
            <a:ext cx="1551940" cy="1344930"/>
            <a:chOff x="4873497" y="245109"/>
            <a:chExt cx="1551940" cy="1344930"/>
          </a:xfrm>
        </p:grpSpPr>
        <p:sp>
          <p:nvSpPr>
            <p:cNvPr id="3" name="object 3"/>
            <p:cNvSpPr/>
            <p:nvPr/>
          </p:nvSpPr>
          <p:spPr>
            <a:xfrm>
              <a:off x="4879847" y="251459"/>
              <a:ext cx="1539240" cy="1332230"/>
            </a:xfrm>
            <a:custGeom>
              <a:avLst/>
              <a:gdLst/>
              <a:ahLst/>
              <a:cxnLst/>
              <a:rect l="l" t="t" r="r" b="b"/>
              <a:pathLst>
                <a:path w="1539239" h="1332230">
                  <a:moveTo>
                    <a:pt x="1317243" y="0"/>
                  </a:moveTo>
                  <a:lnTo>
                    <a:pt x="221996" y="0"/>
                  </a:lnTo>
                  <a:lnTo>
                    <a:pt x="177270" y="4512"/>
                  </a:lnTo>
                  <a:lnTo>
                    <a:pt x="135606" y="17452"/>
                  </a:lnTo>
                  <a:lnTo>
                    <a:pt x="97897" y="37926"/>
                  </a:lnTo>
                  <a:lnTo>
                    <a:pt x="65039" y="65039"/>
                  </a:lnTo>
                  <a:lnTo>
                    <a:pt x="37926" y="97897"/>
                  </a:lnTo>
                  <a:lnTo>
                    <a:pt x="17452" y="135606"/>
                  </a:lnTo>
                  <a:lnTo>
                    <a:pt x="4512" y="177270"/>
                  </a:lnTo>
                  <a:lnTo>
                    <a:pt x="0" y="221995"/>
                  </a:lnTo>
                  <a:lnTo>
                    <a:pt x="0" y="1109979"/>
                  </a:lnTo>
                  <a:lnTo>
                    <a:pt x="4512" y="1154705"/>
                  </a:lnTo>
                  <a:lnTo>
                    <a:pt x="17452" y="1196369"/>
                  </a:lnTo>
                  <a:lnTo>
                    <a:pt x="37926" y="1234078"/>
                  </a:lnTo>
                  <a:lnTo>
                    <a:pt x="65039" y="1266936"/>
                  </a:lnTo>
                  <a:lnTo>
                    <a:pt x="97897" y="1294049"/>
                  </a:lnTo>
                  <a:lnTo>
                    <a:pt x="135606" y="1314523"/>
                  </a:lnTo>
                  <a:lnTo>
                    <a:pt x="177270" y="1327463"/>
                  </a:lnTo>
                  <a:lnTo>
                    <a:pt x="221996" y="1331976"/>
                  </a:lnTo>
                  <a:lnTo>
                    <a:pt x="1317243" y="1331976"/>
                  </a:lnTo>
                  <a:lnTo>
                    <a:pt x="1361969" y="1327463"/>
                  </a:lnTo>
                  <a:lnTo>
                    <a:pt x="1403633" y="1314523"/>
                  </a:lnTo>
                  <a:lnTo>
                    <a:pt x="1441342" y="1294049"/>
                  </a:lnTo>
                  <a:lnTo>
                    <a:pt x="1474200" y="1266936"/>
                  </a:lnTo>
                  <a:lnTo>
                    <a:pt x="1501313" y="1234078"/>
                  </a:lnTo>
                  <a:lnTo>
                    <a:pt x="1521787" y="1196369"/>
                  </a:lnTo>
                  <a:lnTo>
                    <a:pt x="1534727" y="1154705"/>
                  </a:lnTo>
                  <a:lnTo>
                    <a:pt x="1539239" y="1109979"/>
                  </a:lnTo>
                  <a:lnTo>
                    <a:pt x="1539239" y="221995"/>
                  </a:lnTo>
                  <a:lnTo>
                    <a:pt x="1534727" y="177270"/>
                  </a:lnTo>
                  <a:lnTo>
                    <a:pt x="1521787" y="135606"/>
                  </a:lnTo>
                  <a:lnTo>
                    <a:pt x="1501313" y="97897"/>
                  </a:lnTo>
                  <a:lnTo>
                    <a:pt x="1474200" y="65039"/>
                  </a:lnTo>
                  <a:lnTo>
                    <a:pt x="1441342" y="37926"/>
                  </a:lnTo>
                  <a:lnTo>
                    <a:pt x="1403633" y="17452"/>
                  </a:lnTo>
                  <a:lnTo>
                    <a:pt x="1361969" y="4512"/>
                  </a:lnTo>
                  <a:lnTo>
                    <a:pt x="131724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79847" y="251459"/>
              <a:ext cx="1539240" cy="1332230"/>
            </a:xfrm>
            <a:custGeom>
              <a:avLst/>
              <a:gdLst/>
              <a:ahLst/>
              <a:cxnLst/>
              <a:rect l="l" t="t" r="r" b="b"/>
              <a:pathLst>
                <a:path w="1539239" h="1332230">
                  <a:moveTo>
                    <a:pt x="0" y="221995"/>
                  </a:moveTo>
                  <a:lnTo>
                    <a:pt x="4512" y="177270"/>
                  </a:lnTo>
                  <a:lnTo>
                    <a:pt x="17452" y="135606"/>
                  </a:lnTo>
                  <a:lnTo>
                    <a:pt x="37926" y="97897"/>
                  </a:lnTo>
                  <a:lnTo>
                    <a:pt x="65039" y="65039"/>
                  </a:lnTo>
                  <a:lnTo>
                    <a:pt x="97897" y="37926"/>
                  </a:lnTo>
                  <a:lnTo>
                    <a:pt x="135606" y="17452"/>
                  </a:lnTo>
                  <a:lnTo>
                    <a:pt x="177270" y="4512"/>
                  </a:lnTo>
                  <a:lnTo>
                    <a:pt x="221996" y="0"/>
                  </a:lnTo>
                  <a:lnTo>
                    <a:pt x="1317243" y="0"/>
                  </a:lnTo>
                  <a:lnTo>
                    <a:pt x="1361969" y="4512"/>
                  </a:lnTo>
                  <a:lnTo>
                    <a:pt x="1403633" y="17452"/>
                  </a:lnTo>
                  <a:lnTo>
                    <a:pt x="1441342" y="37926"/>
                  </a:lnTo>
                  <a:lnTo>
                    <a:pt x="1474200" y="65039"/>
                  </a:lnTo>
                  <a:lnTo>
                    <a:pt x="1501313" y="97897"/>
                  </a:lnTo>
                  <a:lnTo>
                    <a:pt x="1521787" y="135606"/>
                  </a:lnTo>
                  <a:lnTo>
                    <a:pt x="1534727" y="177270"/>
                  </a:lnTo>
                  <a:lnTo>
                    <a:pt x="1539239" y="221995"/>
                  </a:lnTo>
                  <a:lnTo>
                    <a:pt x="1539239" y="1109979"/>
                  </a:lnTo>
                  <a:lnTo>
                    <a:pt x="1534727" y="1154705"/>
                  </a:lnTo>
                  <a:lnTo>
                    <a:pt x="1521787" y="1196369"/>
                  </a:lnTo>
                  <a:lnTo>
                    <a:pt x="1501313" y="1234078"/>
                  </a:lnTo>
                  <a:lnTo>
                    <a:pt x="1474200" y="1266936"/>
                  </a:lnTo>
                  <a:lnTo>
                    <a:pt x="1441342" y="1294049"/>
                  </a:lnTo>
                  <a:lnTo>
                    <a:pt x="1403633" y="1314523"/>
                  </a:lnTo>
                  <a:lnTo>
                    <a:pt x="1361969" y="1327463"/>
                  </a:lnTo>
                  <a:lnTo>
                    <a:pt x="1317243" y="1331976"/>
                  </a:lnTo>
                  <a:lnTo>
                    <a:pt x="221996" y="1331976"/>
                  </a:lnTo>
                  <a:lnTo>
                    <a:pt x="177270" y="1327463"/>
                  </a:lnTo>
                  <a:lnTo>
                    <a:pt x="135606" y="1314523"/>
                  </a:lnTo>
                  <a:lnTo>
                    <a:pt x="97897" y="1294049"/>
                  </a:lnTo>
                  <a:lnTo>
                    <a:pt x="65039" y="1266936"/>
                  </a:lnTo>
                  <a:lnTo>
                    <a:pt x="37926" y="1234078"/>
                  </a:lnTo>
                  <a:lnTo>
                    <a:pt x="17452" y="1196369"/>
                  </a:lnTo>
                  <a:lnTo>
                    <a:pt x="4512" y="1154705"/>
                  </a:lnTo>
                  <a:lnTo>
                    <a:pt x="0" y="1109979"/>
                  </a:lnTo>
                  <a:lnTo>
                    <a:pt x="0" y="2219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050028" y="582295"/>
            <a:ext cx="1200150" cy="6299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065" marR="5080" indent="-1905" algn="ctr">
              <a:lnSpc>
                <a:spcPts val="1540"/>
              </a:lnSpc>
              <a:spcBef>
                <a:spcPts val="27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Compreender</a:t>
            </a:r>
            <a:r>
              <a:rPr sz="1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e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especificar</a:t>
            </a:r>
            <a:r>
              <a:rPr sz="14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o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contexto</a:t>
            </a:r>
            <a:r>
              <a:rPr sz="1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uso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01586" y="1216405"/>
            <a:ext cx="461009" cy="495934"/>
          </a:xfrm>
          <a:custGeom>
            <a:avLst/>
            <a:gdLst/>
            <a:ahLst/>
            <a:cxnLst/>
            <a:rect l="l" t="t" r="r" b="b"/>
            <a:pathLst>
              <a:path w="461009" h="495935">
                <a:moveTo>
                  <a:pt x="375920" y="436626"/>
                </a:moveTo>
                <a:lnTo>
                  <a:pt x="372110" y="437769"/>
                </a:lnTo>
                <a:lnTo>
                  <a:pt x="370459" y="440944"/>
                </a:lnTo>
                <a:lnTo>
                  <a:pt x="368808" y="443992"/>
                </a:lnTo>
                <a:lnTo>
                  <a:pt x="370078" y="447929"/>
                </a:lnTo>
                <a:lnTo>
                  <a:pt x="373126" y="449453"/>
                </a:lnTo>
                <a:lnTo>
                  <a:pt x="460883" y="495427"/>
                </a:lnTo>
                <a:lnTo>
                  <a:pt x="460650" y="488188"/>
                </a:lnTo>
                <a:lnTo>
                  <a:pt x="448818" y="488188"/>
                </a:lnTo>
                <a:lnTo>
                  <a:pt x="436343" y="468268"/>
                </a:lnTo>
                <a:lnTo>
                  <a:pt x="378968" y="438277"/>
                </a:lnTo>
                <a:lnTo>
                  <a:pt x="375920" y="436626"/>
                </a:lnTo>
                <a:close/>
              </a:path>
              <a:path w="461009" h="495935">
                <a:moveTo>
                  <a:pt x="436343" y="468268"/>
                </a:moveTo>
                <a:lnTo>
                  <a:pt x="448818" y="488188"/>
                </a:lnTo>
                <a:lnTo>
                  <a:pt x="453909" y="485013"/>
                </a:lnTo>
                <a:lnTo>
                  <a:pt x="447929" y="485013"/>
                </a:lnTo>
                <a:lnTo>
                  <a:pt x="447568" y="474136"/>
                </a:lnTo>
                <a:lnTo>
                  <a:pt x="436343" y="468268"/>
                </a:lnTo>
                <a:close/>
              </a:path>
              <a:path w="461009" h="495935">
                <a:moveTo>
                  <a:pt x="454925" y="390398"/>
                </a:moveTo>
                <a:lnTo>
                  <a:pt x="447675" y="390398"/>
                </a:lnTo>
                <a:lnTo>
                  <a:pt x="444881" y="393319"/>
                </a:lnTo>
                <a:lnTo>
                  <a:pt x="447153" y="461621"/>
                </a:lnTo>
                <a:lnTo>
                  <a:pt x="459613" y="481457"/>
                </a:lnTo>
                <a:lnTo>
                  <a:pt x="448818" y="488188"/>
                </a:lnTo>
                <a:lnTo>
                  <a:pt x="460650" y="488188"/>
                </a:lnTo>
                <a:lnTo>
                  <a:pt x="457724" y="396875"/>
                </a:lnTo>
                <a:lnTo>
                  <a:pt x="457600" y="393463"/>
                </a:lnTo>
                <a:lnTo>
                  <a:pt x="457581" y="392938"/>
                </a:lnTo>
                <a:lnTo>
                  <a:pt x="454925" y="390398"/>
                </a:lnTo>
                <a:close/>
              </a:path>
              <a:path w="461009" h="495935">
                <a:moveTo>
                  <a:pt x="447568" y="474136"/>
                </a:moveTo>
                <a:lnTo>
                  <a:pt x="447735" y="479171"/>
                </a:lnTo>
                <a:lnTo>
                  <a:pt x="447811" y="481457"/>
                </a:lnTo>
                <a:lnTo>
                  <a:pt x="447929" y="485013"/>
                </a:lnTo>
                <a:lnTo>
                  <a:pt x="457200" y="479171"/>
                </a:lnTo>
                <a:lnTo>
                  <a:pt x="447568" y="474136"/>
                </a:lnTo>
                <a:close/>
              </a:path>
              <a:path w="461009" h="495935">
                <a:moveTo>
                  <a:pt x="447153" y="461621"/>
                </a:moveTo>
                <a:lnTo>
                  <a:pt x="447568" y="474136"/>
                </a:lnTo>
                <a:lnTo>
                  <a:pt x="457200" y="479171"/>
                </a:lnTo>
                <a:lnTo>
                  <a:pt x="447929" y="485013"/>
                </a:lnTo>
                <a:lnTo>
                  <a:pt x="453909" y="485013"/>
                </a:lnTo>
                <a:lnTo>
                  <a:pt x="459613" y="481457"/>
                </a:lnTo>
                <a:lnTo>
                  <a:pt x="447153" y="461621"/>
                </a:lnTo>
                <a:close/>
              </a:path>
              <a:path w="461009" h="495935">
                <a:moveTo>
                  <a:pt x="7493" y="0"/>
                </a:moveTo>
                <a:lnTo>
                  <a:pt x="0" y="10287"/>
                </a:lnTo>
                <a:lnTo>
                  <a:pt x="34036" y="35052"/>
                </a:lnTo>
                <a:lnTo>
                  <a:pt x="67437" y="60706"/>
                </a:lnTo>
                <a:lnTo>
                  <a:pt x="100203" y="87122"/>
                </a:lnTo>
                <a:lnTo>
                  <a:pt x="132207" y="114427"/>
                </a:lnTo>
                <a:lnTo>
                  <a:pt x="163322" y="142494"/>
                </a:lnTo>
                <a:lnTo>
                  <a:pt x="193929" y="171323"/>
                </a:lnTo>
                <a:lnTo>
                  <a:pt x="223772" y="200787"/>
                </a:lnTo>
                <a:lnTo>
                  <a:pt x="252730" y="231140"/>
                </a:lnTo>
                <a:lnTo>
                  <a:pt x="280918" y="262249"/>
                </a:lnTo>
                <a:lnTo>
                  <a:pt x="308356" y="294005"/>
                </a:lnTo>
                <a:lnTo>
                  <a:pt x="334472" y="325842"/>
                </a:lnTo>
                <a:lnTo>
                  <a:pt x="362592" y="361960"/>
                </a:lnTo>
                <a:lnTo>
                  <a:pt x="385451" y="392938"/>
                </a:lnTo>
                <a:lnTo>
                  <a:pt x="385699" y="393319"/>
                </a:lnTo>
                <a:lnTo>
                  <a:pt x="409829" y="427863"/>
                </a:lnTo>
                <a:lnTo>
                  <a:pt x="433070" y="463042"/>
                </a:lnTo>
                <a:lnTo>
                  <a:pt x="436343" y="468268"/>
                </a:lnTo>
                <a:lnTo>
                  <a:pt x="447568" y="474136"/>
                </a:lnTo>
                <a:lnTo>
                  <a:pt x="420370" y="420751"/>
                </a:lnTo>
                <a:lnTo>
                  <a:pt x="396113" y="385953"/>
                </a:lnTo>
                <a:lnTo>
                  <a:pt x="370967" y="351917"/>
                </a:lnTo>
                <a:lnTo>
                  <a:pt x="344932" y="318643"/>
                </a:lnTo>
                <a:lnTo>
                  <a:pt x="318135" y="285877"/>
                </a:lnTo>
                <a:lnTo>
                  <a:pt x="290449" y="253873"/>
                </a:lnTo>
                <a:lnTo>
                  <a:pt x="262001" y="222631"/>
                </a:lnTo>
                <a:lnTo>
                  <a:pt x="232791" y="192024"/>
                </a:lnTo>
                <a:lnTo>
                  <a:pt x="202819" y="162306"/>
                </a:lnTo>
                <a:lnTo>
                  <a:pt x="172085" y="133223"/>
                </a:lnTo>
                <a:lnTo>
                  <a:pt x="140589" y="104902"/>
                </a:lnTo>
                <a:lnTo>
                  <a:pt x="108331" y="77470"/>
                </a:lnTo>
                <a:lnTo>
                  <a:pt x="75311" y="50800"/>
                </a:lnTo>
                <a:lnTo>
                  <a:pt x="41656" y="24892"/>
                </a:lnTo>
                <a:lnTo>
                  <a:pt x="749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527038" y="1898650"/>
            <a:ext cx="1551940" cy="1346200"/>
            <a:chOff x="6527038" y="1898650"/>
            <a:chExt cx="1551940" cy="1346200"/>
          </a:xfrm>
        </p:grpSpPr>
        <p:sp>
          <p:nvSpPr>
            <p:cNvPr id="8" name="object 8"/>
            <p:cNvSpPr/>
            <p:nvPr/>
          </p:nvSpPr>
          <p:spPr>
            <a:xfrm>
              <a:off x="6533388" y="1905000"/>
              <a:ext cx="1539240" cy="1333500"/>
            </a:xfrm>
            <a:custGeom>
              <a:avLst/>
              <a:gdLst/>
              <a:ahLst/>
              <a:cxnLst/>
              <a:rect l="l" t="t" r="r" b="b"/>
              <a:pathLst>
                <a:path w="1539240" h="1333500">
                  <a:moveTo>
                    <a:pt x="1316989" y="0"/>
                  </a:moveTo>
                  <a:lnTo>
                    <a:pt x="222250" y="0"/>
                  </a:lnTo>
                  <a:lnTo>
                    <a:pt x="177477" y="4517"/>
                  </a:lnTo>
                  <a:lnTo>
                    <a:pt x="135766" y="17474"/>
                  </a:lnTo>
                  <a:lnTo>
                    <a:pt x="98015" y="37973"/>
                  </a:lnTo>
                  <a:lnTo>
                    <a:pt x="65119" y="65119"/>
                  </a:lnTo>
                  <a:lnTo>
                    <a:pt x="37973" y="98015"/>
                  </a:lnTo>
                  <a:lnTo>
                    <a:pt x="17474" y="135766"/>
                  </a:lnTo>
                  <a:lnTo>
                    <a:pt x="4517" y="177477"/>
                  </a:lnTo>
                  <a:lnTo>
                    <a:pt x="0" y="222250"/>
                  </a:lnTo>
                  <a:lnTo>
                    <a:pt x="0" y="1111250"/>
                  </a:lnTo>
                  <a:lnTo>
                    <a:pt x="4517" y="1156022"/>
                  </a:lnTo>
                  <a:lnTo>
                    <a:pt x="17474" y="1197733"/>
                  </a:lnTo>
                  <a:lnTo>
                    <a:pt x="37973" y="1235484"/>
                  </a:lnTo>
                  <a:lnTo>
                    <a:pt x="65119" y="1268380"/>
                  </a:lnTo>
                  <a:lnTo>
                    <a:pt x="98015" y="1295526"/>
                  </a:lnTo>
                  <a:lnTo>
                    <a:pt x="135766" y="1316025"/>
                  </a:lnTo>
                  <a:lnTo>
                    <a:pt x="177477" y="1328982"/>
                  </a:lnTo>
                  <a:lnTo>
                    <a:pt x="222250" y="1333500"/>
                  </a:lnTo>
                  <a:lnTo>
                    <a:pt x="1316989" y="1333500"/>
                  </a:lnTo>
                  <a:lnTo>
                    <a:pt x="1361762" y="1328982"/>
                  </a:lnTo>
                  <a:lnTo>
                    <a:pt x="1403473" y="1316025"/>
                  </a:lnTo>
                  <a:lnTo>
                    <a:pt x="1441224" y="1295526"/>
                  </a:lnTo>
                  <a:lnTo>
                    <a:pt x="1474120" y="1268380"/>
                  </a:lnTo>
                  <a:lnTo>
                    <a:pt x="1501266" y="1235484"/>
                  </a:lnTo>
                  <a:lnTo>
                    <a:pt x="1521765" y="1197733"/>
                  </a:lnTo>
                  <a:lnTo>
                    <a:pt x="1534722" y="1156022"/>
                  </a:lnTo>
                  <a:lnTo>
                    <a:pt x="1539239" y="1111250"/>
                  </a:lnTo>
                  <a:lnTo>
                    <a:pt x="1539239" y="222250"/>
                  </a:lnTo>
                  <a:lnTo>
                    <a:pt x="1534722" y="177477"/>
                  </a:lnTo>
                  <a:lnTo>
                    <a:pt x="1521765" y="135766"/>
                  </a:lnTo>
                  <a:lnTo>
                    <a:pt x="1501266" y="98015"/>
                  </a:lnTo>
                  <a:lnTo>
                    <a:pt x="1474120" y="65119"/>
                  </a:lnTo>
                  <a:lnTo>
                    <a:pt x="1441224" y="37973"/>
                  </a:lnTo>
                  <a:lnTo>
                    <a:pt x="1403473" y="17474"/>
                  </a:lnTo>
                  <a:lnTo>
                    <a:pt x="1361762" y="4517"/>
                  </a:lnTo>
                  <a:lnTo>
                    <a:pt x="131698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33388" y="1905000"/>
              <a:ext cx="1539240" cy="1333500"/>
            </a:xfrm>
            <a:custGeom>
              <a:avLst/>
              <a:gdLst/>
              <a:ahLst/>
              <a:cxnLst/>
              <a:rect l="l" t="t" r="r" b="b"/>
              <a:pathLst>
                <a:path w="1539240" h="1333500">
                  <a:moveTo>
                    <a:pt x="0" y="222250"/>
                  </a:moveTo>
                  <a:lnTo>
                    <a:pt x="4517" y="177477"/>
                  </a:lnTo>
                  <a:lnTo>
                    <a:pt x="17474" y="135766"/>
                  </a:lnTo>
                  <a:lnTo>
                    <a:pt x="37973" y="98015"/>
                  </a:lnTo>
                  <a:lnTo>
                    <a:pt x="65119" y="65119"/>
                  </a:lnTo>
                  <a:lnTo>
                    <a:pt x="98015" y="37973"/>
                  </a:lnTo>
                  <a:lnTo>
                    <a:pt x="135766" y="17474"/>
                  </a:lnTo>
                  <a:lnTo>
                    <a:pt x="177477" y="4517"/>
                  </a:lnTo>
                  <a:lnTo>
                    <a:pt x="222250" y="0"/>
                  </a:lnTo>
                  <a:lnTo>
                    <a:pt x="1316989" y="0"/>
                  </a:lnTo>
                  <a:lnTo>
                    <a:pt x="1361762" y="4517"/>
                  </a:lnTo>
                  <a:lnTo>
                    <a:pt x="1403473" y="17474"/>
                  </a:lnTo>
                  <a:lnTo>
                    <a:pt x="1441224" y="37973"/>
                  </a:lnTo>
                  <a:lnTo>
                    <a:pt x="1474120" y="65119"/>
                  </a:lnTo>
                  <a:lnTo>
                    <a:pt x="1501266" y="98015"/>
                  </a:lnTo>
                  <a:lnTo>
                    <a:pt x="1521765" y="135766"/>
                  </a:lnTo>
                  <a:lnTo>
                    <a:pt x="1534722" y="177477"/>
                  </a:lnTo>
                  <a:lnTo>
                    <a:pt x="1539239" y="222250"/>
                  </a:lnTo>
                  <a:lnTo>
                    <a:pt x="1539239" y="1111250"/>
                  </a:lnTo>
                  <a:lnTo>
                    <a:pt x="1534722" y="1156022"/>
                  </a:lnTo>
                  <a:lnTo>
                    <a:pt x="1521765" y="1197733"/>
                  </a:lnTo>
                  <a:lnTo>
                    <a:pt x="1501266" y="1235484"/>
                  </a:lnTo>
                  <a:lnTo>
                    <a:pt x="1474120" y="1268380"/>
                  </a:lnTo>
                  <a:lnTo>
                    <a:pt x="1441224" y="1295526"/>
                  </a:lnTo>
                  <a:lnTo>
                    <a:pt x="1403473" y="1316025"/>
                  </a:lnTo>
                  <a:lnTo>
                    <a:pt x="1361762" y="1328982"/>
                  </a:lnTo>
                  <a:lnTo>
                    <a:pt x="1316989" y="1333500"/>
                  </a:lnTo>
                  <a:lnTo>
                    <a:pt x="222250" y="1333500"/>
                  </a:lnTo>
                  <a:lnTo>
                    <a:pt x="177477" y="1328982"/>
                  </a:lnTo>
                  <a:lnTo>
                    <a:pt x="135766" y="1316025"/>
                  </a:lnTo>
                  <a:lnTo>
                    <a:pt x="98015" y="1295526"/>
                  </a:lnTo>
                  <a:lnTo>
                    <a:pt x="65119" y="1268380"/>
                  </a:lnTo>
                  <a:lnTo>
                    <a:pt x="37973" y="1235484"/>
                  </a:lnTo>
                  <a:lnTo>
                    <a:pt x="17474" y="1197733"/>
                  </a:lnTo>
                  <a:lnTo>
                    <a:pt x="4517" y="1156022"/>
                  </a:lnTo>
                  <a:lnTo>
                    <a:pt x="0" y="1111250"/>
                  </a:lnTo>
                  <a:lnTo>
                    <a:pt x="0" y="2222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9320" y="2213864"/>
            <a:ext cx="1087120" cy="6718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algn="ctr">
              <a:lnSpc>
                <a:spcPts val="1639"/>
              </a:lnSpc>
              <a:spcBef>
                <a:spcPts val="285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Especificar</a:t>
            </a:r>
            <a:r>
              <a:rPr sz="15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os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requisitos</a:t>
            </a:r>
            <a:r>
              <a:rPr sz="15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usuário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05269" y="3427095"/>
            <a:ext cx="462915" cy="494030"/>
          </a:xfrm>
          <a:custGeom>
            <a:avLst/>
            <a:gdLst/>
            <a:ahLst/>
            <a:cxnLst/>
            <a:rect l="l" t="t" r="r" b="b"/>
            <a:pathLst>
              <a:path w="462915" h="494029">
                <a:moveTo>
                  <a:pt x="45084" y="398144"/>
                </a:moveTo>
                <a:lnTo>
                  <a:pt x="41275" y="399668"/>
                </a:lnTo>
                <a:lnTo>
                  <a:pt x="0" y="493598"/>
                </a:lnTo>
                <a:lnTo>
                  <a:pt x="22529" y="491324"/>
                </a:lnTo>
                <a:lnTo>
                  <a:pt x="13970" y="491324"/>
                </a:lnTo>
                <a:lnTo>
                  <a:pt x="6476" y="481050"/>
                </a:lnTo>
                <a:lnTo>
                  <a:pt x="25466" y="467235"/>
                </a:lnTo>
                <a:lnTo>
                  <a:pt x="52958" y="404748"/>
                </a:lnTo>
                <a:lnTo>
                  <a:pt x="51434" y="401065"/>
                </a:lnTo>
                <a:lnTo>
                  <a:pt x="48259" y="399668"/>
                </a:lnTo>
                <a:lnTo>
                  <a:pt x="45084" y="398144"/>
                </a:lnTo>
                <a:close/>
              </a:path>
              <a:path w="462915" h="494029">
                <a:moveTo>
                  <a:pt x="25466" y="467235"/>
                </a:moveTo>
                <a:lnTo>
                  <a:pt x="6476" y="481050"/>
                </a:lnTo>
                <a:lnTo>
                  <a:pt x="13970" y="491324"/>
                </a:lnTo>
                <a:lnTo>
                  <a:pt x="17503" y="488746"/>
                </a:lnTo>
                <a:lnTo>
                  <a:pt x="16001" y="488746"/>
                </a:lnTo>
                <a:lnTo>
                  <a:pt x="9525" y="479869"/>
                </a:lnTo>
                <a:lnTo>
                  <a:pt x="20389" y="478773"/>
                </a:lnTo>
                <a:lnTo>
                  <a:pt x="25466" y="467235"/>
                </a:lnTo>
                <a:close/>
              </a:path>
              <a:path w="462915" h="494029">
                <a:moveTo>
                  <a:pt x="100837" y="470661"/>
                </a:moveTo>
                <a:lnTo>
                  <a:pt x="32900" y="477512"/>
                </a:lnTo>
                <a:lnTo>
                  <a:pt x="13970" y="491324"/>
                </a:lnTo>
                <a:lnTo>
                  <a:pt x="22529" y="491324"/>
                </a:lnTo>
                <a:lnTo>
                  <a:pt x="102107" y="483298"/>
                </a:lnTo>
                <a:lnTo>
                  <a:pt x="104648" y="480186"/>
                </a:lnTo>
                <a:lnTo>
                  <a:pt x="103952" y="473811"/>
                </a:lnTo>
                <a:lnTo>
                  <a:pt x="103885" y="473201"/>
                </a:lnTo>
                <a:lnTo>
                  <a:pt x="100837" y="470661"/>
                </a:lnTo>
                <a:close/>
              </a:path>
              <a:path w="462915" h="494029">
                <a:moveTo>
                  <a:pt x="20389" y="478773"/>
                </a:moveTo>
                <a:lnTo>
                  <a:pt x="9525" y="479869"/>
                </a:lnTo>
                <a:lnTo>
                  <a:pt x="16001" y="488746"/>
                </a:lnTo>
                <a:lnTo>
                  <a:pt x="20389" y="478773"/>
                </a:lnTo>
                <a:close/>
              </a:path>
              <a:path w="462915" h="494029">
                <a:moveTo>
                  <a:pt x="32900" y="477512"/>
                </a:moveTo>
                <a:lnTo>
                  <a:pt x="20389" y="478773"/>
                </a:lnTo>
                <a:lnTo>
                  <a:pt x="16001" y="488746"/>
                </a:lnTo>
                <a:lnTo>
                  <a:pt x="17503" y="488746"/>
                </a:lnTo>
                <a:lnTo>
                  <a:pt x="32900" y="477512"/>
                </a:lnTo>
                <a:close/>
              </a:path>
              <a:path w="462915" h="494029">
                <a:moveTo>
                  <a:pt x="451865" y="0"/>
                </a:moveTo>
                <a:lnTo>
                  <a:pt x="429513" y="35686"/>
                </a:lnTo>
                <a:lnTo>
                  <a:pt x="406273" y="70865"/>
                </a:lnTo>
                <a:lnTo>
                  <a:pt x="381356" y="106344"/>
                </a:lnTo>
                <a:lnTo>
                  <a:pt x="330813" y="172984"/>
                </a:lnTo>
                <a:lnTo>
                  <a:pt x="304350" y="205244"/>
                </a:lnTo>
                <a:lnTo>
                  <a:pt x="277023" y="236850"/>
                </a:lnTo>
                <a:lnTo>
                  <a:pt x="220211" y="297814"/>
                </a:lnTo>
                <a:lnTo>
                  <a:pt x="190374" y="327405"/>
                </a:lnTo>
                <a:lnTo>
                  <a:pt x="159765" y="356234"/>
                </a:lnTo>
                <a:lnTo>
                  <a:pt x="128883" y="384105"/>
                </a:lnTo>
                <a:lnTo>
                  <a:pt x="97127" y="411091"/>
                </a:lnTo>
                <a:lnTo>
                  <a:pt x="63880" y="438022"/>
                </a:lnTo>
                <a:lnTo>
                  <a:pt x="30479" y="463588"/>
                </a:lnTo>
                <a:lnTo>
                  <a:pt x="25466" y="467235"/>
                </a:lnTo>
                <a:lnTo>
                  <a:pt x="20389" y="478773"/>
                </a:lnTo>
                <a:lnTo>
                  <a:pt x="71627" y="447992"/>
                </a:lnTo>
                <a:lnTo>
                  <a:pt x="104648" y="421258"/>
                </a:lnTo>
                <a:lnTo>
                  <a:pt x="136905" y="393826"/>
                </a:lnTo>
                <a:lnTo>
                  <a:pt x="168401" y="365632"/>
                </a:lnTo>
                <a:lnTo>
                  <a:pt x="199135" y="336549"/>
                </a:lnTo>
                <a:lnTo>
                  <a:pt x="229107" y="306704"/>
                </a:lnTo>
                <a:lnTo>
                  <a:pt x="258318" y="276224"/>
                </a:lnTo>
                <a:lnTo>
                  <a:pt x="286765" y="244855"/>
                </a:lnTo>
                <a:lnTo>
                  <a:pt x="314451" y="212978"/>
                </a:lnTo>
                <a:lnTo>
                  <a:pt x="341249" y="180212"/>
                </a:lnTo>
                <a:lnTo>
                  <a:pt x="367283" y="146811"/>
                </a:lnTo>
                <a:lnTo>
                  <a:pt x="392429" y="112775"/>
                </a:lnTo>
                <a:lnTo>
                  <a:pt x="416686" y="78104"/>
                </a:lnTo>
                <a:lnTo>
                  <a:pt x="440054" y="42671"/>
                </a:lnTo>
                <a:lnTo>
                  <a:pt x="462660" y="6730"/>
                </a:lnTo>
                <a:lnTo>
                  <a:pt x="45186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4873497" y="3553714"/>
            <a:ext cx="1551940" cy="1344930"/>
            <a:chOff x="4873497" y="3553714"/>
            <a:chExt cx="1551940" cy="1344930"/>
          </a:xfrm>
        </p:grpSpPr>
        <p:sp>
          <p:nvSpPr>
            <p:cNvPr id="13" name="object 13"/>
            <p:cNvSpPr/>
            <p:nvPr/>
          </p:nvSpPr>
          <p:spPr>
            <a:xfrm>
              <a:off x="4879847" y="3560064"/>
              <a:ext cx="1539240" cy="1332230"/>
            </a:xfrm>
            <a:custGeom>
              <a:avLst/>
              <a:gdLst/>
              <a:ahLst/>
              <a:cxnLst/>
              <a:rect l="l" t="t" r="r" b="b"/>
              <a:pathLst>
                <a:path w="1539239" h="1332229">
                  <a:moveTo>
                    <a:pt x="1317243" y="0"/>
                  </a:moveTo>
                  <a:lnTo>
                    <a:pt x="221996" y="0"/>
                  </a:lnTo>
                  <a:lnTo>
                    <a:pt x="177270" y="4512"/>
                  </a:lnTo>
                  <a:lnTo>
                    <a:pt x="135606" y="17452"/>
                  </a:lnTo>
                  <a:lnTo>
                    <a:pt x="97897" y="37926"/>
                  </a:lnTo>
                  <a:lnTo>
                    <a:pt x="65039" y="65039"/>
                  </a:lnTo>
                  <a:lnTo>
                    <a:pt x="37926" y="97897"/>
                  </a:lnTo>
                  <a:lnTo>
                    <a:pt x="17452" y="135606"/>
                  </a:lnTo>
                  <a:lnTo>
                    <a:pt x="4512" y="177270"/>
                  </a:lnTo>
                  <a:lnTo>
                    <a:pt x="0" y="221996"/>
                  </a:lnTo>
                  <a:lnTo>
                    <a:pt x="0" y="1109980"/>
                  </a:lnTo>
                  <a:lnTo>
                    <a:pt x="4512" y="1154720"/>
                  </a:lnTo>
                  <a:lnTo>
                    <a:pt x="17452" y="1196391"/>
                  </a:lnTo>
                  <a:lnTo>
                    <a:pt x="37926" y="1234100"/>
                  </a:lnTo>
                  <a:lnTo>
                    <a:pt x="65039" y="1266955"/>
                  </a:lnTo>
                  <a:lnTo>
                    <a:pt x="97897" y="1294062"/>
                  </a:lnTo>
                  <a:lnTo>
                    <a:pt x="135606" y="1314530"/>
                  </a:lnTo>
                  <a:lnTo>
                    <a:pt x="177270" y="1327465"/>
                  </a:lnTo>
                  <a:lnTo>
                    <a:pt x="221996" y="1331976"/>
                  </a:lnTo>
                  <a:lnTo>
                    <a:pt x="1317243" y="1331976"/>
                  </a:lnTo>
                  <a:lnTo>
                    <a:pt x="1361969" y="1327465"/>
                  </a:lnTo>
                  <a:lnTo>
                    <a:pt x="1403633" y="1314530"/>
                  </a:lnTo>
                  <a:lnTo>
                    <a:pt x="1441342" y="1294062"/>
                  </a:lnTo>
                  <a:lnTo>
                    <a:pt x="1474200" y="1266955"/>
                  </a:lnTo>
                  <a:lnTo>
                    <a:pt x="1501313" y="1234100"/>
                  </a:lnTo>
                  <a:lnTo>
                    <a:pt x="1521787" y="1196391"/>
                  </a:lnTo>
                  <a:lnTo>
                    <a:pt x="1534727" y="1154720"/>
                  </a:lnTo>
                  <a:lnTo>
                    <a:pt x="1539239" y="1109980"/>
                  </a:lnTo>
                  <a:lnTo>
                    <a:pt x="1539239" y="221996"/>
                  </a:lnTo>
                  <a:lnTo>
                    <a:pt x="1534727" y="177270"/>
                  </a:lnTo>
                  <a:lnTo>
                    <a:pt x="1521787" y="135606"/>
                  </a:lnTo>
                  <a:lnTo>
                    <a:pt x="1501313" y="97897"/>
                  </a:lnTo>
                  <a:lnTo>
                    <a:pt x="1474200" y="65039"/>
                  </a:lnTo>
                  <a:lnTo>
                    <a:pt x="1441342" y="37926"/>
                  </a:lnTo>
                  <a:lnTo>
                    <a:pt x="1403633" y="17452"/>
                  </a:lnTo>
                  <a:lnTo>
                    <a:pt x="1361969" y="4512"/>
                  </a:lnTo>
                  <a:lnTo>
                    <a:pt x="131724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79847" y="3560064"/>
              <a:ext cx="1539240" cy="1332230"/>
            </a:xfrm>
            <a:custGeom>
              <a:avLst/>
              <a:gdLst/>
              <a:ahLst/>
              <a:cxnLst/>
              <a:rect l="l" t="t" r="r" b="b"/>
              <a:pathLst>
                <a:path w="1539239" h="1332229">
                  <a:moveTo>
                    <a:pt x="0" y="221996"/>
                  </a:moveTo>
                  <a:lnTo>
                    <a:pt x="4512" y="177270"/>
                  </a:lnTo>
                  <a:lnTo>
                    <a:pt x="17452" y="135606"/>
                  </a:lnTo>
                  <a:lnTo>
                    <a:pt x="37926" y="97897"/>
                  </a:lnTo>
                  <a:lnTo>
                    <a:pt x="65039" y="65039"/>
                  </a:lnTo>
                  <a:lnTo>
                    <a:pt x="97897" y="37926"/>
                  </a:lnTo>
                  <a:lnTo>
                    <a:pt x="135606" y="17452"/>
                  </a:lnTo>
                  <a:lnTo>
                    <a:pt x="177270" y="4512"/>
                  </a:lnTo>
                  <a:lnTo>
                    <a:pt x="221996" y="0"/>
                  </a:lnTo>
                  <a:lnTo>
                    <a:pt x="1317243" y="0"/>
                  </a:lnTo>
                  <a:lnTo>
                    <a:pt x="1361969" y="4512"/>
                  </a:lnTo>
                  <a:lnTo>
                    <a:pt x="1403633" y="17452"/>
                  </a:lnTo>
                  <a:lnTo>
                    <a:pt x="1441342" y="37926"/>
                  </a:lnTo>
                  <a:lnTo>
                    <a:pt x="1474200" y="65039"/>
                  </a:lnTo>
                  <a:lnTo>
                    <a:pt x="1501313" y="97897"/>
                  </a:lnTo>
                  <a:lnTo>
                    <a:pt x="1521787" y="135606"/>
                  </a:lnTo>
                  <a:lnTo>
                    <a:pt x="1534727" y="177270"/>
                  </a:lnTo>
                  <a:lnTo>
                    <a:pt x="1539239" y="221996"/>
                  </a:lnTo>
                  <a:lnTo>
                    <a:pt x="1539239" y="1109980"/>
                  </a:lnTo>
                  <a:lnTo>
                    <a:pt x="1534727" y="1154720"/>
                  </a:lnTo>
                  <a:lnTo>
                    <a:pt x="1521787" y="1196391"/>
                  </a:lnTo>
                  <a:lnTo>
                    <a:pt x="1501313" y="1234100"/>
                  </a:lnTo>
                  <a:lnTo>
                    <a:pt x="1474200" y="1266955"/>
                  </a:lnTo>
                  <a:lnTo>
                    <a:pt x="1441342" y="1294062"/>
                  </a:lnTo>
                  <a:lnTo>
                    <a:pt x="1403633" y="1314530"/>
                  </a:lnTo>
                  <a:lnTo>
                    <a:pt x="1361969" y="1327465"/>
                  </a:lnTo>
                  <a:lnTo>
                    <a:pt x="1317243" y="1331976"/>
                  </a:lnTo>
                  <a:lnTo>
                    <a:pt x="221996" y="1331976"/>
                  </a:lnTo>
                  <a:lnTo>
                    <a:pt x="177270" y="1327465"/>
                  </a:lnTo>
                  <a:lnTo>
                    <a:pt x="135606" y="1314530"/>
                  </a:lnTo>
                  <a:lnTo>
                    <a:pt x="97897" y="1294062"/>
                  </a:lnTo>
                  <a:lnTo>
                    <a:pt x="65039" y="1266955"/>
                  </a:lnTo>
                  <a:lnTo>
                    <a:pt x="37926" y="1234100"/>
                  </a:lnTo>
                  <a:lnTo>
                    <a:pt x="17452" y="1196391"/>
                  </a:lnTo>
                  <a:lnTo>
                    <a:pt x="4512" y="1154720"/>
                  </a:lnTo>
                  <a:lnTo>
                    <a:pt x="0" y="1109980"/>
                  </a:lnTo>
                  <a:lnTo>
                    <a:pt x="0" y="22199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987544" y="3694582"/>
            <a:ext cx="1322705" cy="10223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24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Produzir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soluções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projeto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atendam</a:t>
            </a:r>
            <a:r>
              <a:rPr sz="14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aos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requisitos</a:t>
            </a:r>
            <a:r>
              <a:rPr sz="1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do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usuário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36846" y="3430396"/>
            <a:ext cx="461009" cy="495934"/>
          </a:xfrm>
          <a:custGeom>
            <a:avLst/>
            <a:gdLst/>
            <a:ahLst/>
            <a:cxnLst/>
            <a:rect l="l" t="t" r="r" b="b"/>
            <a:pathLst>
              <a:path w="461010" h="495935">
                <a:moveTo>
                  <a:pt x="13295" y="21304"/>
                </a:moveTo>
                <a:lnTo>
                  <a:pt x="13650" y="32511"/>
                </a:lnTo>
                <a:lnTo>
                  <a:pt x="13693" y="33875"/>
                </a:lnTo>
                <a:lnTo>
                  <a:pt x="17144" y="39369"/>
                </a:lnTo>
                <a:lnTo>
                  <a:pt x="40386" y="74802"/>
                </a:lnTo>
                <a:lnTo>
                  <a:pt x="64769" y="109473"/>
                </a:lnTo>
                <a:lnTo>
                  <a:pt x="89915" y="143509"/>
                </a:lnTo>
                <a:lnTo>
                  <a:pt x="115824" y="176910"/>
                </a:lnTo>
                <a:lnTo>
                  <a:pt x="142748" y="209676"/>
                </a:lnTo>
                <a:lnTo>
                  <a:pt x="170433" y="241553"/>
                </a:lnTo>
                <a:lnTo>
                  <a:pt x="198754" y="272922"/>
                </a:lnTo>
                <a:lnTo>
                  <a:pt x="228091" y="303402"/>
                </a:lnTo>
                <a:lnTo>
                  <a:pt x="257937" y="333247"/>
                </a:lnTo>
                <a:lnTo>
                  <a:pt x="288798" y="362330"/>
                </a:lnTo>
                <a:lnTo>
                  <a:pt x="320293" y="390524"/>
                </a:lnTo>
                <a:lnTo>
                  <a:pt x="352551" y="417956"/>
                </a:lnTo>
                <a:lnTo>
                  <a:pt x="385572" y="444690"/>
                </a:lnTo>
                <a:lnTo>
                  <a:pt x="419226" y="470509"/>
                </a:lnTo>
                <a:lnTo>
                  <a:pt x="453389" y="495414"/>
                </a:lnTo>
                <a:lnTo>
                  <a:pt x="460882" y="485152"/>
                </a:lnTo>
                <a:lnTo>
                  <a:pt x="426859" y="460387"/>
                </a:lnTo>
                <a:lnTo>
                  <a:pt x="393445" y="434720"/>
                </a:lnTo>
                <a:lnTo>
                  <a:pt x="360107" y="407818"/>
                </a:lnTo>
                <a:lnTo>
                  <a:pt x="328313" y="380799"/>
                </a:lnTo>
                <a:lnTo>
                  <a:pt x="297433" y="352932"/>
                </a:lnTo>
                <a:lnTo>
                  <a:pt x="266699" y="324103"/>
                </a:lnTo>
                <a:lnTo>
                  <a:pt x="234488" y="291892"/>
                </a:lnTo>
                <a:lnTo>
                  <a:pt x="179963" y="233304"/>
                </a:lnTo>
                <a:lnTo>
                  <a:pt x="152533" y="201557"/>
                </a:lnTo>
                <a:lnTo>
                  <a:pt x="126213" y="169623"/>
                </a:lnTo>
                <a:lnTo>
                  <a:pt x="100695" y="136725"/>
                </a:lnTo>
                <a:lnTo>
                  <a:pt x="75035" y="102123"/>
                </a:lnTo>
                <a:lnTo>
                  <a:pt x="74955" y="101963"/>
                </a:lnTo>
                <a:lnTo>
                  <a:pt x="50926" y="67690"/>
                </a:lnTo>
                <a:lnTo>
                  <a:pt x="27812" y="32511"/>
                </a:lnTo>
                <a:lnTo>
                  <a:pt x="24469" y="27173"/>
                </a:lnTo>
                <a:lnTo>
                  <a:pt x="13295" y="21304"/>
                </a:lnTo>
                <a:close/>
              </a:path>
              <a:path w="461010" h="495935">
                <a:moveTo>
                  <a:pt x="0" y="0"/>
                </a:moveTo>
                <a:lnTo>
                  <a:pt x="3036" y="98678"/>
                </a:lnTo>
                <a:lnTo>
                  <a:pt x="3048" y="99059"/>
                </a:lnTo>
                <a:lnTo>
                  <a:pt x="3175" y="102615"/>
                </a:lnTo>
                <a:lnTo>
                  <a:pt x="6095" y="105282"/>
                </a:lnTo>
                <a:lnTo>
                  <a:pt x="9651" y="105155"/>
                </a:lnTo>
                <a:lnTo>
                  <a:pt x="13080" y="105155"/>
                </a:lnTo>
                <a:lnTo>
                  <a:pt x="15860" y="102123"/>
                </a:lnTo>
                <a:lnTo>
                  <a:pt x="13693" y="33875"/>
                </a:lnTo>
                <a:lnTo>
                  <a:pt x="1269" y="14096"/>
                </a:lnTo>
                <a:lnTo>
                  <a:pt x="12064" y="7365"/>
                </a:lnTo>
                <a:lnTo>
                  <a:pt x="14021" y="7365"/>
                </a:lnTo>
                <a:lnTo>
                  <a:pt x="0" y="0"/>
                </a:lnTo>
                <a:close/>
              </a:path>
              <a:path w="461010" h="495935">
                <a:moveTo>
                  <a:pt x="14021" y="7365"/>
                </a:moveTo>
                <a:lnTo>
                  <a:pt x="12064" y="7365"/>
                </a:lnTo>
                <a:lnTo>
                  <a:pt x="24469" y="27173"/>
                </a:lnTo>
                <a:lnTo>
                  <a:pt x="84962" y="58927"/>
                </a:lnTo>
                <a:lnTo>
                  <a:pt x="88773" y="57784"/>
                </a:lnTo>
                <a:lnTo>
                  <a:pt x="90424" y="54609"/>
                </a:lnTo>
                <a:lnTo>
                  <a:pt x="91948" y="51561"/>
                </a:lnTo>
                <a:lnTo>
                  <a:pt x="90804" y="47751"/>
                </a:lnTo>
                <a:lnTo>
                  <a:pt x="87756" y="46100"/>
                </a:lnTo>
                <a:lnTo>
                  <a:pt x="14021" y="7365"/>
                </a:lnTo>
                <a:close/>
              </a:path>
              <a:path w="461010" h="495935">
                <a:moveTo>
                  <a:pt x="12064" y="7365"/>
                </a:moveTo>
                <a:lnTo>
                  <a:pt x="1269" y="14096"/>
                </a:lnTo>
                <a:lnTo>
                  <a:pt x="13693" y="33875"/>
                </a:lnTo>
                <a:lnTo>
                  <a:pt x="13295" y="21304"/>
                </a:lnTo>
                <a:lnTo>
                  <a:pt x="3682" y="16255"/>
                </a:lnTo>
                <a:lnTo>
                  <a:pt x="12953" y="10540"/>
                </a:lnTo>
                <a:lnTo>
                  <a:pt x="14053" y="10540"/>
                </a:lnTo>
                <a:lnTo>
                  <a:pt x="12064" y="7365"/>
                </a:lnTo>
                <a:close/>
              </a:path>
              <a:path w="461010" h="495935">
                <a:moveTo>
                  <a:pt x="14053" y="10540"/>
                </a:moveTo>
                <a:lnTo>
                  <a:pt x="12953" y="10540"/>
                </a:lnTo>
                <a:lnTo>
                  <a:pt x="13295" y="21304"/>
                </a:lnTo>
                <a:lnTo>
                  <a:pt x="24469" y="27173"/>
                </a:lnTo>
                <a:lnTo>
                  <a:pt x="14053" y="10540"/>
                </a:lnTo>
                <a:close/>
              </a:path>
              <a:path w="461010" h="495935">
                <a:moveTo>
                  <a:pt x="12953" y="10540"/>
                </a:moveTo>
                <a:lnTo>
                  <a:pt x="3682" y="16255"/>
                </a:lnTo>
                <a:lnTo>
                  <a:pt x="13295" y="21304"/>
                </a:lnTo>
                <a:lnTo>
                  <a:pt x="13135" y="16255"/>
                </a:lnTo>
                <a:lnTo>
                  <a:pt x="13066" y="14096"/>
                </a:lnTo>
                <a:lnTo>
                  <a:pt x="12953" y="1054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3223132" y="1901825"/>
            <a:ext cx="1545590" cy="1339850"/>
            <a:chOff x="3223132" y="1901825"/>
            <a:chExt cx="1545590" cy="133985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6307" y="1905000"/>
              <a:ext cx="1539240" cy="13335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26307" y="1905000"/>
              <a:ext cx="1539240" cy="1333500"/>
            </a:xfrm>
            <a:custGeom>
              <a:avLst/>
              <a:gdLst/>
              <a:ahLst/>
              <a:cxnLst/>
              <a:rect l="l" t="t" r="r" b="b"/>
              <a:pathLst>
                <a:path w="1539239" h="1333500">
                  <a:moveTo>
                    <a:pt x="0" y="222250"/>
                  </a:moveTo>
                  <a:lnTo>
                    <a:pt x="4517" y="177477"/>
                  </a:lnTo>
                  <a:lnTo>
                    <a:pt x="17474" y="135766"/>
                  </a:lnTo>
                  <a:lnTo>
                    <a:pt x="37973" y="98015"/>
                  </a:lnTo>
                  <a:lnTo>
                    <a:pt x="65119" y="65119"/>
                  </a:lnTo>
                  <a:lnTo>
                    <a:pt x="98015" y="37973"/>
                  </a:lnTo>
                  <a:lnTo>
                    <a:pt x="135766" y="17474"/>
                  </a:lnTo>
                  <a:lnTo>
                    <a:pt x="177477" y="4517"/>
                  </a:lnTo>
                  <a:lnTo>
                    <a:pt x="222250" y="0"/>
                  </a:lnTo>
                  <a:lnTo>
                    <a:pt x="1316990" y="0"/>
                  </a:lnTo>
                  <a:lnTo>
                    <a:pt x="1361762" y="4517"/>
                  </a:lnTo>
                  <a:lnTo>
                    <a:pt x="1403473" y="17474"/>
                  </a:lnTo>
                  <a:lnTo>
                    <a:pt x="1441224" y="37973"/>
                  </a:lnTo>
                  <a:lnTo>
                    <a:pt x="1474120" y="65119"/>
                  </a:lnTo>
                  <a:lnTo>
                    <a:pt x="1501266" y="98015"/>
                  </a:lnTo>
                  <a:lnTo>
                    <a:pt x="1521765" y="135766"/>
                  </a:lnTo>
                  <a:lnTo>
                    <a:pt x="1534722" y="177477"/>
                  </a:lnTo>
                  <a:lnTo>
                    <a:pt x="1539240" y="222250"/>
                  </a:lnTo>
                  <a:lnTo>
                    <a:pt x="1539240" y="1111250"/>
                  </a:lnTo>
                  <a:lnTo>
                    <a:pt x="1534722" y="1156022"/>
                  </a:lnTo>
                  <a:lnTo>
                    <a:pt x="1521765" y="1197733"/>
                  </a:lnTo>
                  <a:lnTo>
                    <a:pt x="1501266" y="1235484"/>
                  </a:lnTo>
                  <a:lnTo>
                    <a:pt x="1474120" y="1268380"/>
                  </a:lnTo>
                  <a:lnTo>
                    <a:pt x="1441224" y="1295526"/>
                  </a:lnTo>
                  <a:lnTo>
                    <a:pt x="1403473" y="1316025"/>
                  </a:lnTo>
                  <a:lnTo>
                    <a:pt x="1361762" y="1328982"/>
                  </a:lnTo>
                  <a:lnTo>
                    <a:pt x="1316990" y="1333500"/>
                  </a:lnTo>
                  <a:lnTo>
                    <a:pt x="222250" y="1333500"/>
                  </a:lnTo>
                  <a:lnTo>
                    <a:pt x="177477" y="1328982"/>
                  </a:lnTo>
                  <a:lnTo>
                    <a:pt x="135766" y="1316025"/>
                  </a:lnTo>
                  <a:lnTo>
                    <a:pt x="98015" y="1295526"/>
                  </a:lnTo>
                  <a:lnTo>
                    <a:pt x="65119" y="1268380"/>
                  </a:lnTo>
                  <a:lnTo>
                    <a:pt x="37973" y="1235484"/>
                  </a:lnTo>
                  <a:lnTo>
                    <a:pt x="17474" y="1197733"/>
                  </a:lnTo>
                  <a:lnTo>
                    <a:pt x="4517" y="1156022"/>
                  </a:lnTo>
                  <a:lnTo>
                    <a:pt x="0" y="1111250"/>
                  </a:lnTo>
                  <a:lnTo>
                    <a:pt x="0" y="222250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552825" y="2040458"/>
            <a:ext cx="885190" cy="10223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 indent="635" algn="ctr">
              <a:lnSpc>
                <a:spcPct val="91600"/>
              </a:lnSpc>
              <a:spcBef>
                <a:spcPts val="245"/>
              </a:spcBef>
            </a:pPr>
            <a:r>
              <a:rPr sz="1400" b="1" spc="-10" dirty="0">
                <a:latin typeface="Calibri"/>
                <a:cs typeface="Calibri"/>
              </a:rPr>
              <a:t>Avaliar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as </a:t>
            </a:r>
            <a:r>
              <a:rPr sz="1400" b="1" dirty="0">
                <a:latin typeface="Calibri"/>
                <a:cs typeface="Calibri"/>
              </a:rPr>
              <a:t>soluções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de </a:t>
            </a:r>
            <a:r>
              <a:rPr sz="1400" b="1" dirty="0">
                <a:latin typeface="Calibri"/>
                <a:cs typeface="Calibri"/>
              </a:rPr>
              <a:t>projeto</a:t>
            </a:r>
            <a:r>
              <a:rPr sz="1400" b="1" spc="-7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em </a:t>
            </a:r>
            <a:r>
              <a:rPr sz="1400" b="1" dirty="0">
                <a:latin typeface="Calibri"/>
                <a:cs typeface="Calibri"/>
              </a:rPr>
              <a:t>relação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aos </a:t>
            </a:r>
            <a:r>
              <a:rPr sz="1400" b="1" spc="-10" dirty="0">
                <a:latin typeface="Calibri"/>
                <a:cs typeface="Calibri"/>
              </a:rPr>
              <a:t>requisitos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31385" y="1221613"/>
            <a:ext cx="462915" cy="494030"/>
          </a:xfrm>
          <a:custGeom>
            <a:avLst/>
            <a:gdLst/>
            <a:ahLst/>
            <a:cxnLst/>
            <a:rect l="l" t="t" r="r" b="b"/>
            <a:pathLst>
              <a:path w="462914" h="494030">
                <a:moveTo>
                  <a:pt x="442267" y="14801"/>
                </a:moveTo>
                <a:lnTo>
                  <a:pt x="391033" y="45592"/>
                </a:lnTo>
                <a:lnTo>
                  <a:pt x="358013" y="72262"/>
                </a:lnTo>
                <a:lnTo>
                  <a:pt x="325754" y="99695"/>
                </a:lnTo>
                <a:lnTo>
                  <a:pt x="294259" y="128015"/>
                </a:lnTo>
                <a:lnTo>
                  <a:pt x="263398" y="157099"/>
                </a:lnTo>
                <a:lnTo>
                  <a:pt x="233552" y="186816"/>
                </a:lnTo>
                <a:lnTo>
                  <a:pt x="204215" y="217424"/>
                </a:lnTo>
                <a:lnTo>
                  <a:pt x="175894" y="248665"/>
                </a:lnTo>
                <a:lnTo>
                  <a:pt x="148209" y="280670"/>
                </a:lnTo>
                <a:lnTo>
                  <a:pt x="121285" y="313436"/>
                </a:lnTo>
                <a:lnTo>
                  <a:pt x="95376" y="346710"/>
                </a:lnTo>
                <a:lnTo>
                  <a:pt x="70230" y="380746"/>
                </a:lnTo>
                <a:lnTo>
                  <a:pt x="45847" y="415544"/>
                </a:lnTo>
                <a:lnTo>
                  <a:pt x="22605" y="450976"/>
                </a:lnTo>
                <a:lnTo>
                  <a:pt x="0" y="486790"/>
                </a:lnTo>
                <a:lnTo>
                  <a:pt x="10794" y="493649"/>
                </a:lnTo>
                <a:lnTo>
                  <a:pt x="33147" y="457962"/>
                </a:lnTo>
                <a:lnTo>
                  <a:pt x="56387" y="422783"/>
                </a:lnTo>
                <a:lnTo>
                  <a:pt x="80390" y="388238"/>
                </a:lnTo>
                <a:lnTo>
                  <a:pt x="106115" y="353550"/>
                </a:lnTo>
                <a:lnTo>
                  <a:pt x="131190" y="321310"/>
                </a:lnTo>
                <a:lnTo>
                  <a:pt x="157861" y="288925"/>
                </a:lnTo>
                <a:lnTo>
                  <a:pt x="185292" y="257175"/>
                </a:lnTo>
                <a:lnTo>
                  <a:pt x="213487" y="226060"/>
                </a:lnTo>
                <a:lnTo>
                  <a:pt x="242448" y="195707"/>
                </a:lnTo>
                <a:lnTo>
                  <a:pt x="272161" y="166242"/>
                </a:lnTo>
                <a:lnTo>
                  <a:pt x="302767" y="137413"/>
                </a:lnTo>
                <a:lnTo>
                  <a:pt x="334010" y="109347"/>
                </a:lnTo>
                <a:lnTo>
                  <a:pt x="366013" y="82041"/>
                </a:lnTo>
                <a:lnTo>
                  <a:pt x="398779" y="55625"/>
                </a:lnTo>
                <a:lnTo>
                  <a:pt x="431424" y="30524"/>
                </a:lnTo>
                <a:lnTo>
                  <a:pt x="437172" y="26305"/>
                </a:lnTo>
                <a:lnTo>
                  <a:pt x="438719" y="22860"/>
                </a:lnTo>
                <a:lnTo>
                  <a:pt x="442267" y="14801"/>
                </a:lnTo>
                <a:close/>
              </a:path>
              <a:path w="462914" h="494030">
                <a:moveTo>
                  <a:pt x="461655" y="2286"/>
                </a:moveTo>
                <a:lnTo>
                  <a:pt x="448690" y="2286"/>
                </a:lnTo>
                <a:lnTo>
                  <a:pt x="456184" y="12446"/>
                </a:lnTo>
                <a:lnTo>
                  <a:pt x="437202" y="26305"/>
                </a:lnTo>
                <a:lnTo>
                  <a:pt x="409701" y="88773"/>
                </a:lnTo>
                <a:lnTo>
                  <a:pt x="411225" y="92583"/>
                </a:lnTo>
                <a:lnTo>
                  <a:pt x="417575" y="95376"/>
                </a:lnTo>
                <a:lnTo>
                  <a:pt x="421386" y="93852"/>
                </a:lnTo>
                <a:lnTo>
                  <a:pt x="461655" y="2286"/>
                </a:lnTo>
                <a:close/>
              </a:path>
              <a:path w="462914" h="494030">
                <a:moveTo>
                  <a:pt x="450564" y="4825"/>
                </a:moveTo>
                <a:lnTo>
                  <a:pt x="446659" y="4825"/>
                </a:lnTo>
                <a:lnTo>
                  <a:pt x="453136" y="13715"/>
                </a:lnTo>
                <a:lnTo>
                  <a:pt x="442267" y="14801"/>
                </a:lnTo>
                <a:lnTo>
                  <a:pt x="437202" y="26305"/>
                </a:lnTo>
                <a:lnTo>
                  <a:pt x="456184" y="12446"/>
                </a:lnTo>
                <a:lnTo>
                  <a:pt x="450564" y="4825"/>
                </a:lnTo>
                <a:close/>
              </a:path>
              <a:path w="462914" h="494030">
                <a:moveTo>
                  <a:pt x="462661" y="0"/>
                </a:moveTo>
                <a:lnTo>
                  <a:pt x="360552" y="10287"/>
                </a:lnTo>
                <a:lnTo>
                  <a:pt x="358013" y="13335"/>
                </a:lnTo>
                <a:lnTo>
                  <a:pt x="358705" y="19685"/>
                </a:lnTo>
                <a:lnTo>
                  <a:pt x="358775" y="20320"/>
                </a:lnTo>
                <a:lnTo>
                  <a:pt x="361823" y="22860"/>
                </a:lnTo>
                <a:lnTo>
                  <a:pt x="429693" y="16056"/>
                </a:lnTo>
                <a:lnTo>
                  <a:pt x="448690" y="2286"/>
                </a:lnTo>
                <a:lnTo>
                  <a:pt x="461655" y="2286"/>
                </a:lnTo>
                <a:lnTo>
                  <a:pt x="462661" y="0"/>
                </a:lnTo>
                <a:close/>
              </a:path>
              <a:path w="462914" h="494030">
                <a:moveTo>
                  <a:pt x="448690" y="2286"/>
                </a:moveTo>
                <a:lnTo>
                  <a:pt x="429693" y="16056"/>
                </a:lnTo>
                <a:lnTo>
                  <a:pt x="442267" y="14801"/>
                </a:lnTo>
                <a:lnTo>
                  <a:pt x="446659" y="4825"/>
                </a:lnTo>
                <a:lnTo>
                  <a:pt x="450564" y="4825"/>
                </a:lnTo>
                <a:lnTo>
                  <a:pt x="448690" y="2286"/>
                </a:lnTo>
                <a:close/>
              </a:path>
              <a:path w="462914" h="494030">
                <a:moveTo>
                  <a:pt x="446659" y="4825"/>
                </a:moveTo>
                <a:lnTo>
                  <a:pt x="442267" y="14801"/>
                </a:lnTo>
                <a:lnTo>
                  <a:pt x="453136" y="13715"/>
                </a:lnTo>
                <a:lnTo>
                  <a:pt x="446659" y="48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420369" y="306070"/>
            <a:ext cx="2176780" cy="1009650"/>
            <a:chOff x="420369" y="306070"/>
            <a:chExt cx="2176780" cy="1009650"/>
          </a:xfrm>
        </p:grpSpPr>
        <p:sp>
          <p:nvSpPr>
            <p:cNvPr id="23" name="object 23"/>
            <p:cNvSpPr/>
            <p:nvPr/>
          </p:nvSpPr>
          <p:spPr>
            <a:xfrm>
              <a:off x="426719" y="312420"/>
              <a:ext cx="2164080" cy="996950"/>
            </a:xfrm>
            <a:custGeom>
              <a:avLst/>
              <a:gdLst/>
              <a:ahLst/>
              <a:cxnLst/>
              <a:rect l="l" t="t" r="r" b="b"/>
              <a:pathLst>
                <a:path w="2164080" h="996950">
                  <a:moveTo>
                    <a:pt x="1997964" y="0"/>
                  </a:moveTo>
                  <a:lnTo>
                    <a:pt x="166115" y="0"/>
                  </a:lnTo>
                  <a:lnTo>
                    <a:pt x="121955" y="5937"/>
                  </a:lnTo>
                  <a:lnTo>
                    <a:pt x="82273" y="22690"/>
                  </a:lnTo>
                  <a:lnTo>
                    <a:pt x="48653" y="48672"/>
                  </a:lnTo>
                  <a:lnTo>
                    <a:pt x="22679" y="82295"/>
                  </a:lnTo>
                  <a:lnTo>
                    <a:pt x="5933" y="121972"/>
                  </a:lnTo>
                  <a:lnTo>
                    <a:pt x="0" y="166115"/>
                  </a:lnTo>
                  <a:lnTo>
                    <a:pt x="0" y="830579"/>
                  </a:lnTo>
                  <a:lnTo>
                    <a:pt x="5933" y="874723"/>
                  </a:lnTo>
                  <a:lnTo>
                    <a:pt x="22679" y="914400"/>
                  </a:lnTo>
                  <a:lnTo>
                    <a:pt x="48653" y="948023"/>
                  </a:lnTo>
                  <a:lnTo>
                    <a:pt x="82273" y="974005"/>
                  </a:lnTo>
                  <a:lnTo>
                    <a:pt x="121955" y="990758"/>
                  </a:lnTo>
                  <a:lnTo>
                    <a:pt x="166115" y="996695"/>
                  </a:lnTo>
                  <a:lnTo>
                    <a:pt x="1997964" y="996695"/>
                  </a:lnTo>
                  <a:lnTo>
                    <a:pt x="2042107" y="990758"/>
                  </a:lnTo>
                  <a:lnTo>
                    <a:pt x="2081783" y="974005"/>
                  </a:lnTo>
                  <a:lnTo>
                    <a:pt x="2115407" y="948023"/>
                  </a:lnTo>
                  <a:lnTo>
                    <a:pt x="2141389" y="914400"/>
                  </a:lnTo>
                  <a:lnTo>
                    <a:pt x="2158142" y="874723"/>
                  </a:lnTo>
                  <a:lnTo>
                    <a:pt x="2164080" y="830579"/>
                  </a:lnTo>
                  <a:lnTo>
                    <a:pt x="2164080" y="166115"/>
                  </a:lnTo>
                  <a:lnTo>
                    <a:pt x="2158142" y="121972"/>
                  </a:lnTo>
                  <a:lnTo>
                    <a:pt x="2141389" y="82295"/>
                  </a:lnTo>
                  <a:lnTo>
                    <a:pt x="2115407" y="48672"/>
                  </a:lnTo>
                  <a:lnTo>
                    <a:pt x="2081783" y="22690"/>
                  </a:lnTo>
                  <a:lnTo>
                    <a:pt x="2042107" y="5937"/>
                  </a:lnTo>
                  <a:lnTo>
                    <a:pt x="199796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6719" y="312420"/>
              <a:ext cx="2164080" cy="996950"/>
            </a:xfrm>
            <a:custGeom>
              <a:avLst/>
              <a:gdLst/>
              <a:ahLst/>
              <a:cxnLst/>
              <a:rect l="l" t="t" r="r" b="b"/>
              <a:pathLst>
                <a:path w="2164080" h="996950">
                  <a:moveTo>
                    <a:pt x="0" y="166115"/>
                  </a:moveTo>
                  <a:lnTo>
                    <a:pt x="5933" y="121972"/>
                  </a:lnTo>
                  <a:lnTo>
                    <a:pt x="22679" y="82295"/>
                  </a:lnTo>
                  <a:lnTo>
                    <a:pt x="48653" y="48672"/>
                  </a:lnTo>
                  <a:lnTo>
                    <a:pt x="82273" y="22690"/>
                  </a:lnTo>
                  <a:lnTo>
                    <a:pt x="121955" y="5937"/>
                  </a:lnTo>
                  <a:lnTo>
                    <a:pt x="166115" y="0"/>
                  </a:lnTo>
                  <a:lnTo>
                    <a:pt x="1997964" y="0"/>
                  </a:lnTo>
                  <a:lnTo>
                    <a:pt x="2042107" y="5937"/>
                  </a:lnTo>
                  <a:lnTo>
                    <a:pt x="2081783" y="22690"/>
                  </a:lnTo>
                  <a:lnTo>
                    <a:pt x="2115407" y="48672"/>
                  </a:lnTo>
                  <a:lnTo>
                    <a:pt x="2141389" y="82295"/>
                  </a:lnTo>
                  <a:lnTo>
                    <a:pt x="2158142" y="121972"/>
                  </a:lnTo>
                  <a:lnTo>
                    <a:pt x="2164080" y="166115"/>
                  </a:lnTo>
                  <a:lnTo>
                    <a:pt x="2164080" y="830579"/>
                  </a:lnTo>
                  <a:lnTo>
                    <a:pt x="2158142" y="874723"/>
                  </a:lnTo>
                  <a:lnTo>
                    <a:pt x="2141389" y="914400"/>
                  </a:lnTo>
                  <a:lnTo>
                    <a:pt x="2115407" y="948023"/>
                  </a:lnTo>
                  <a:lnTo>
                    <a:pt x="2081783" y="974005"/>
                  </a:lnTo>
                  <a:lnTo>
                    <a:pt x="2042107" y="990758"/>
                  </a:lnTo>
                  <a:lnTo>
                    <a:pt x="1997964" y="996695"/>
                  </a:lnTo>
                  <a:lnTo>
                    <a:pt x="166115" y="996695"/>
                  </a:lnTo>
                  <a:lnTo>
                    <a:pt x="121955" y="990758"/>
                  </a:lnTo>
                  <a:lnTo>
                    <a:pt x="82273" y="974005"/>
                  </a:lnTo>
                  <a:lnTo>
                    <a:pt x="48653" y="948023"/>
                  </a:lnTo>
                  <a:lnTo>
                    <a:pt x="22679" y="914400"/>
                  </a:lnTo>
                  <a:lnTo>
                    <a:pt x="5933" y="874723"/>
                  </a:lnTo>
                  <a:lnTo>
                    <a:pt x="0" y="830579"/>
                  </a:lnTo>
                  <a:lnTo>
                    <a:pt x="0" y="1661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546303" y="432257"/>
            <a:ext cx="1925955" cy="70866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065" marR="5080" algn="ctr">
              <a:lnSpc>
                <a:spcPct val="90100"/>
              </a:lnSpc>
              <a:spcBef>
                <a:spcPts val="285"/>
              </a:spcBef>
            </a:pPr>
            <a:r>
              <a:rPr sz="1600" dirty="0">
                <a:latin typeface="Calibri"/>
                <a:cs typeface="Calibri"/>
              </a:rPr>
              <a:t>Planejar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processo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projeto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centrado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no </a:t>
            </a:r>
            <a:r>
              <a:rPr sz="1600" spc="-10" dirty="0">
                <a:latin typeface="Calibri"/>
                <a:cs typeface="Calibri"/>
              </a:rPr>
              <a:t>humano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41122" y="3312921"/>
            <a:ext cx="2513965" cy="1210945"/>
            <a:chOff x="341122" y="3312921"/>
            <a:chExt cx="2513965" cy="1210945"/>
          </a:xfrm>
        </p:grpSpPr>
        <p:sp>
          <p:nvSpPr>
            <p:cNvPr id="27" name="object 27"/>
            <p:cNvSpPr/>
            <p:nvPr/>
          </p:nvSpPr>
          <p:spPr>
            <a:xfrm>
              <a:off x="347472" y="3319271"/>
              <a:ext cx="2501265" cy="1198245"/>
            </a:xfrm>
            <a:custGeom>
              <a:avLst/>
              <a:gdLst/>
              <a:ahLst/>
              <a:cxnLst/>
              <a:rect l="l" t="t" r="r" b="b"/>
              <a:pathLst>
                <a:path w="2501265" h="1198245">
                  <a:moveTo>
                    <a:pt x="1250442" y="0"/>
                  </a:moveTo>
                  <a:lnTo>
                    <a:pt x="1186094" y="779"/>
                  </a:lnTo>
                  <a:lnTo>
                    <a:pt x="1122591" y="3091"/>
                  </a:lnTo>
                  <a:lnTo>
                    <a:pt x="1060011" y="6899"/>
                  </a:lnTo>
                  <a:lnTo>
                    <a:pt x="998434" y="12165"/>
                  </a:lnTo>
                  <a:lnTo>
                    <a:pt x="937936" y="18852"/>
                  </a:lnTo>
                  <a:lnTo>
                    <a:pt x="878598" y="26922"/>
                  </a:lnTo>
                  <a:lnTo>
                    <a:pt x="820497" y="36336"/>
                  </a:lnTo>
                  <a:lnTo>
                    <a:pt x="763713" y="47059"/>
                  </a:lnTo>
                  <a:lnTo>
                    <a:pt x="708323" y="59051"/>
                  </a:lnTo>
                  <a:lnTo>
                    <a:pt x="654406" y="72276"/>
                  </a:lnTo>
                  <a:lnTo>
                    <a:pt x="602042" y="86696"/>
                  </a:lnTo>
                  <a:lnTo>
                    <a:pt x="551307" y="102273"/>
                  </a:lnTo>
                  <a:lnTo>
                    <a:pt x="502282" y="118970"/>
                  </a:lnTo>
                  <a:lnTo>
                    <a:pt x="455044" y="136749"/>
                  </a:lnTo>
                  <a:lnTo>
                    <a:pt x="409672" y="155572"/>
                  </a:lnTo>
                  <a:lnTo>
                    <a:pt x="366245" y="175402"/>
                  </a:lnTo>
                  <a:lnTo>
                    <a:pt x="324841" y="196202"/>
                  </a:lnTo>
                  <a:lnTo>
                    <a:pt x="285539" y="217933"/>
                  </a:lnTo>
                  <a:lnTo>
                    <a:pt x="248418" y="240558"/>
                  </a:lnTo>
                  <a:lnTo>
                    <a:pt x="213555" y="264039"/>
                  </a:lnTo>
                  <a:lnTo>
                    <a:pt x="181030" y="288339"/>
                  </a:lnTo>
                  <a:lnTo>
                    <a:pt x="150921" y="313421"/>
                  </a:lnTo>
                  <a:lnTo>
                    <a:pt x="98265" y="365777"/>
                  </a:lnTo>
                  <a:lnTo>
                    <a:pt x="56217" y="420807"/>
                  </a:lnTo>
                  <a:lnTo>
                    <a:pt x="25404" y="478210"/>
                  </a:lnTo>
                  <a:lnTo>
                    <a:pt x="6455" y="537685"/>
                  </a:lnTo>
                  <a:lnTo>
                    <a:pt x="0" y="598931"/>
                  </a:lnTo>
                  <a:lnTo>
                    <a:pt x="1627" y="629753"/>
                  </a:lnTo>
                  <a:lnTo>
                    <a:pt x="14407" y="690144"/>
                  </a:lnTo>
                  <a:lnTo>
                    <a:pt x="39367" y="748615"/>
                  </a:lnTo>
                  <a:lnTo>
                    <a:pt x="75876" y="804866"/>
                  </a:lnTo>
                  <a:lnTo>
                    <a:pt x="123307" y="858595"/>
                  </a:lnTo>
                  <a:lnTo>
                    <a:pt x="181030" y="909501"/>
                  </a:lnTo>
                  <a:lnTo>
                    <a:pt x="213555" y="933801"/>
                  </a:lnTo>
                  <a:lnTo>
                    <a:pt x="248418" y="957283"/>
                  </a:lnTo>
                  <a:lnTo>
                    <a:pt x="285539" y="979909"/>
                  </a:lnTo>
                  <a:lnTo>
                    <a:pt x="324841" y="1001641"/>
                  </a:lnTo>
                  <a:lnTo>
                    <a:pt x="366245" y="1022442"/>
                  </a:lnTo>
                  <a:lnTo>
                    <a:pt x="409672" y="1042273"/>
                  </a:lnTo>
                  <a:lnTo>
                    <a:pt x="455044" y="1061098"/>
                  </a:lnTo>
                  <a:lnTo>
                    <a:pt x="502282" y="1078878"/>
                  </a:lnTo>
                  <a:lnTo>
                    <a:pt x="551307" y="1095576"/>
                  </a:lnTo>
                  <a:lnTo>
                    <a:pt x="602042" y="1111155"/>
                  </a:lnTo>
                  <a:lnTo>
                    <a:pt x="654406" y="1125576"/>
                  </a:lnTo>
                  <a:lnTo>
                    <a:pt x="708323" y="1138803"/>
                  </a:lnTo>
                  <a:lnTo>
                    <a:pt x="763713" y="1150797"/>
                  </a:lnTo>
                  <a:lnTo>
                    <a:pt x="820497" y="1161521"/>
                  </a:lnTo>
                  <a:lnTo>
                    <a:pt x="878598" y="1170937"/>
                  </a:lnTo>
                  <a:lnTo>
                    <a:pt x="937936" y="1179008"/>
                  </a:lnTo>
                  <a:lnTo>
                    <a:pt x="998434" y="1185695"/>
                  </a:lnTo>
                  <a:lnTo>
                    <a:pt x="1060011" y="1190963"/>
                  </a:lnTo>
                  <a:lnTo>
                    <a:pt x="1122591" y="1194771"/>
                  </a:lnTo>
                  <a:lnTo>
                    <a:pt x="1186094" y="1197084"/>
                  </a:lnTo>
                  <a:lnTo>
                    <a:pt x="1250442" y="1197864"/>
                  </a:lnTo>
                  <a:lnTo>
                    <a:pt x="1314791" y="1197084"/>
                  </a:lnTo>
                  <a:lnTo>
                    <a:pt x="1378296" y="1194771"/>
                  </a:lnTo>
                  <a:lnTo>
                    <a:pt x="1440877" y="1190963"/>
                  </a:lnTo>
                  <a:lnTo>
                    <a:pt x="1502457" y="1185695"/>
                  </a:lnTo>
                  <a:lnTo>
                    <a:pt x="1562955" y="1179008"/>
                  </a:lnTo>
                  <a:lnTo>
                    <a:pt x="1622294" y="1170937"/>
                  </a:lnTo>
                  <a:lnTo>
                    <a:pt x="1680396" y="1161521"/>
                  </a:lnTo>
                  <a:lnTo>
                    <a:pt x="1737181" y="1150797"/>
                  </a:lnTo>
                  <a:lnTo>
                    <a:pt x="1792571" y="1138803"/>
                  </a:lnTo>
                  <a:lnTo>
                    <a:pt x="1846488" y="1125576"/>
                  </a:lnTo>
                  <a:lnTo>
                    <a:pt x="1898853" y="1111155"/>
                  </a:lnTo>
                  <a:lnTo>
                    <a:pt x="1949587" y="1095576"/>
                  </a:lnTo>
                  <a:lnTo>
                    <a:pt x="1998612" y="1078878"/>
                  </a:lnTo>
                  <a:lnTo>
                    <a:pt x="2045850" y="1061098"/>
                  </a:lnTo>
                  <a:lnTo>
                    <a:pt x="2091221" y="1042273"/>
                  </a:lnTo>
                  <a:lnTo>
                    <a:pt x="2134647" y="1022442"/>
                  </a:lnTo>
                  <a:lnTo>
                    <a:pt x="2176050" y="1001641"/>
                  </a:lnTo>
                  <a:lnTo>
                    <a:pt x="2215352" y="979909"/>
                  </a:lnTo>
                  <a:lnTo>
                    <a:pt x="2252473" y="957283"/>
                  </a:lnTo>
                  <a:lnTo>
                    <a:pt x="2287334" y="933801"/>
                  </a:lnTo>
                  <a:lnTo>
                    <a:pt x="2319859" y="909501"/>
                  </a:lnTo>
                  <a:lnTo>
                    <a:pt x="2349967" y="884419"/>
                  </a:lnTo>
                  <a:lnTo>
                    <a:pt x="2402621" y="832064"/>
                  </a:lnTo>
                  <a:lnTo>
                    <a:pt x="2444668" y="777037"/>
                  </a:lnTo>
                  <a:lnTo>
                    <a:pt x="2475480" y="719638"/>
                  </a:lnTo>
                  <a:lnTo>
                    <a:pt x="2494428" y="660169"/>
                  </a:lnTo>
                  <a:lnTo>
                    <a:pt x="2500884" y="598931"/>
                  </a:lnTo>
                  <a:lnTo>
                    <a:pt x="2499257" y="568106"/>
                  </a:lnTo>
                  <a:lnTo>
                    <a:pt x="2486476" y="507708"/>
                  </a:lnTo>
                  <a:lnTo>
                    <a:pt x="2461518" y="449231"/>
                  </a:lnTo>
                  <a:lnTo>
                    <a:pt x="2425010" y="392977"/>
                  </a:lnTo>
                  <a:lnTo>
                    <a:pt x="2377581" y="339246"/>
                  </a:lnTo>
                  <a:lnTo>
                    <a:pt x="2319859" y="288339"/>
                  </a:lnTo>
                  <a:lnTo>
                    <a:pt x="2287334" y="264039"/>
                  </a:lnTo>
                  <a:lnTo>
                    <a:pt x="2252473" y="240558"/>
                  </a:lnTo>
                  <a:lnTo>
                    <a:pt x="2215352" y="217933"/>
                  </a:lnTo>
                  <a:lnTo>
                    <a:pt x="2176050" y="196202"/>
                  </a:lnTo>
                  <a:lnTo>
                    <a:pt x="2134647" y="175402"/>
                  </a:lnTo>
                  <a:lnTo>
                    <a:pt x="2091221" y="155572"/>
                  </a:lnTo>
                  <a:lnTo>
                    <a:pt x="2045850" y="136749"/>
                  </a:lnTo>
                  <a:lnTo>
                    <a:pt x="1998612" y="118970"/>
                  </a:lnTo>
                  <a:lnTo>
                    <a:pt x="1949587" y="102273"/>
                  </a:lnTo>
                  <a:lnTo>
                    <a:pt x="1898853" y="86696"/>
                  </a:lnTo>
                  <a:lnTo>
                    <a:pt x="1846488" y="72276"/>
                  </a:lnTo>
                  <a:lnTo>
                    <a:pt x="1792571" y="59051"/>
                  </a:lnTo>
                  <a:lnTo>
                    <a:pt x="1737181" y="47059"/>
                  </a:lnTo>
                  <a:lnTo>
                    <a:pt x="1680396" y="36336"/>
                  </a:lnTo>
                  <a:lnTo>
                    <a:pt x="1622294" y="26922"/>
                  </a:lnTo>
                  <a:lnTo>
                    <a:pt x="1562955" y="18852"/>
                  </a:lnTo>
                  <a:lnTo>
                    <a:pt x="1502457" y="12165"/>
                  </a:lnTo>
                  <a:lnTo>
                    <a:pt x="1440877" y="6899"/>
                  </a:lnTo>
                  <a:lnTo>
                    <a:pt x="1378296" y="3091"/>
                  </a:lnTo>
                  <a:lnTo>
                    <a:pt x="1314791" y="779"/>
                  </a:lnTo>
                  <a:lnTo>
                    <a:pt x="125044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47472" y="3319271"/>
              <a:ext cx="2501265" cy="1198245"/>
            </a:xfrm>
            <a:custGeom>
              <a:avLst/>
              <a:gdLst/>
              <a:ahLst/>
              <a:cxnLst/>
              <a:rect l="l" t="t" r="r" b="b"/>
              <a:pathLst>
                <a:path w="2501265" h="1198245">
                  <a:moveTo>
                    <a:pt x="0" y="598931"/>
                  </a:moveTo>
                  <a:lnTo>
                    <a:pt x="6455" y="537685"/>
                  </a:lnTo>
                  <a:lnTo>
                    <a:pt x="25404" y="478210"/>
                  </a:lnTo>
                  <a:lnTo>
                    <a:pt x="56217" y="420807"/>
                  </a:lnTo>
                  <a:lnTo>
                    <a:pt x="98265" y="365777"/>
                  </a:lnTo>
                  <a:lnTo>
                    <a:pt x="150921" y="313421"/>
                  </a:lnTo>
                  <a:lnTo>
                    <a:pt x="181030" y="288339"/>
                  </a:lnTo>
                  <a:lnTo>
                    <a:pt x="213555" y="264039"/>
                  </a:lnTo>
                  <a:lnTo>
                    <a:pt x="248418" y="240558"/>
                  </a:lnTo>
                  <a:lnTo>
                    <a:pt x="285539" y="217933"/>
                  </a:lnTo>
                  <a:lnTo>
                    <a:pt x="324841" y="196202"/>
                  </a:lnTo>
                  <a:lnTo>
                    <a:pt x="366245" y="175402"/>
                  </a:lnTo>
                  <a:lnTo>
                    <a:pt x="409672" y="155572"/>
                  </a:lnTo>
                  <a:lnTo>
                    <a:pt x="455044" y="136749"/>
                  </a:lnTo>
                  <a:lnTo>
                    <a:pt x="502282" y="118970"/>
                  </a:lnTo>
                  <a:lnTo>
                    <a:pt x="551307" y="102273"/>
                  </a:lnTo>
                  <a:lnTo>
                    <a:pt x="602042" y="86696"/>
                  </a:lnTo>
                  <a:lnTo>
                    <a:pt x="654406" y="72276"/>
                  </a:lnTo>
                  <a:lnTo>
                    <a:pt x="708323" y="59051"/>
                  </a:lnTo>
                  <a:lnTo>
                    <a:pt x="763713" y="47059"/>
                  </a:lnTo>
                  <a:lnTo>
                    <a:pt x="820497" y="36336"/>
                  </a:lnTo>
                  <a:lnTo>
                    <a:pt x="878598" y="26922"/>
                  </a:lnTo>
                  <a:lnTo>
                    <a:pt x="937936" y="18852"/>
                  </a:lnTo>
                  <a:lnTo>
                    <a:pt x="998434" y="12165"/>
                  </a:lnTo>
                  <a:lnTo>
                    <a:pt x="1060011" y="6899"/>
                  </a:lnTo>
                  <a:lnTo>
                    <a:pt x="1122591" y="3091"/>
                  </a:lnTo>
                  <a:lnTo>
                    <a:pt x="1186094" y="779"/>
                  </a:lnTo>
                  <a:lnTo>
                    <a:pt x="1250442" y="0"/>
                  </a:lnTo>
                  <a:lnTo>
                    <a:pt x="1314791" y="779"/>
                  </a:lnTo>
                  <a:lnTo>
                    <a:pt x="1378296" y="3091"/>
                  </a:lnTo>
                  <a:lnTo>
                    <a:pt x="1440877" y="6899"/>
                  </a:lnTo>
                  <a:lnTo>
                    <a:pt x="1502457" y="12165"/>
                  </a:lnTo>
                  <a:lnTo>
                    <a:pt x="1562955" y="18852"/>
                  </a:lnTo>
                  <a:lnTo>
                    <a:pt x="1622294" y="26922"/>
                  </a:lnTo>
                  <a:lnTo>
                    <a:pt x="1680396" y="36336"/>
                  </a:lnTo>
                  <a:lnTo>
                    <a:pt x="1737181" y="47059"/>
                  </a:lnTo>
                  <a:lnTo>
                    <a:pt x="1792571" y="59051"/>
                  </a:lnTo>
                  <a:lnTo>
                    <a:pt x="1846488" y="72276"/>
                  </a:lnTo>
                  <a:lnTo>
                    <a:pt x="1898853" y="86696"/>
                  </a:lnTo>
                  <a:lnTo>
                    <a:pt x="1949587" y="102273"/>
                  </a:lnTo>
                  <a:lnTo>
                    <a:pt x="1998612" y="118970"/>
                  </a:lnTo>
                  <a:lnTo>
                    <a:pt x="2045850" y="136749"/>
                  </a:lnTo>
                  <a:lnTo>
                    <a:pt x="2091221" y="155572"/>
                  </a:lnTo>
                  <a:lnTo>
                    <a:pt x="2134647" y="175402"/>
                  </a:lnTo>
                  <a:lnTo>
                    <a:pt x="2176050" y="196202"/>
                  </a:lnTo>
                  <a:lnTo>
                    <a:pt x="2215352" y="217933"/>
                  </a:lnTo>
                  <a:lnTo>
                    <a:pt x="2252473" y="240558"/>
                  </a:lnTo>
                  <a:lnTo>
                    <a:pt x="2287334" y="264039"/>
                  </a:lnTo>
                  <a:lnTo>
                    <a:pt x="2319859" y="288339"/>
                  </a:lnTo>
                  <a:lnTo>
                    <a:pt x="2349967" y="313421"/>
                  </a:lnTo>
                  <a:lnTo>
                    <a:pt x="2402621" y="365777"/>
                  </a:lnTo>
                  <a:lnTo>
                    <a:pt x="2444668" y="420807"/>
                  </a:lnTo>
                  <a:lnTo>
                    <a:pt x="2475480" y="478210"/>
                  </a:lnTo>
                  <a:lnTo>
                    <a:pt x="2494428" y="537685"/>
                  </a:lnTo>
                  <a:lnTo>
                    <a:pt x="2500884" y="598931"/>
                  </a:lnTo>
                  <a:lnTo>
                    <a:pt x="2499257" y="629753"/>
                  </a:lnTo>
                  <a:lnTo>
                    <a:pt x="2486476" y="690144"/>
                  </a:lnTo>
                  <a:lnTo>
                    <a:pt x="2461518" y="748615"/>
                  </a:lnTo>
                  <a:lnTo>
                    <a:pt x="2425010" y="804866"/>
                  </a:lnTo>
                  <a:lnTo>
                    <a:pt x="2377581" y="858595"/>
                  </a:lnTo>
                  <a:lnTo>
                    <a:pt x="2319859" y="909501"/>
                  </a:lnTo>
                  <a:lnTo>
                    <a:pt x="2287334" y="933801"/>
                  </a:lnTo>
                  <a:lnTo>
                    <a:pt x="2252473" y="957283"/>
                  </a:lnTo>
                  <a:lnTo>
                    <a:pt x="2215352" y="979909"/>
                  </a:lnTo>
                  <a:lnTo>
                    <a:pt x="2176050" y="1001641"/>
                  </a:lnTo>
                  <a:lnTo>
                    <a:pt x="2134647" y="1022442"/>
                  </a:lnTo>
                  <a:lnTo>
                    <a:pt x="2091221" y="1042273"/>
                  </a:lnTo>
                  <a:lnTo>
                    <a:pt x="2045850" y="1061098"/>
                  </a:lnTo>
                  <a:lnTo>
                    <a:pt x="1998612" y="1078878"/>
                  </a:lnTo>
                  <a:lnTo>
                    <a:pt x="1949587" y="1095576"/>
                  </a:lnTo>
                  <a:lnTo>
                    <a:pt x="1898853" y="1111155"/>
                  </a:lnTo>
                  <a:lnTo>
                    <a:pt x="1846488" y="1125576"/>
                  </a:lnTo>
                  <a:lnTo>
                    <a:pt x="1792571" y="1138803"/>
                  </a:lnTo>
                  <a:lnTo>
                    <a:pt x="1737181" y="1150797"/>
                  </a:lnTo>
                  <a:lnTo>
                    <a:pt x="1680396" y="1161521"/>
                  </a:lnTo>
                  <a:lnTo>
                    <a:pt x="1622294" y="1170937"/>
                  </a:lnTo>
                  <a:lnTo>
                    <a:pt x="1562955" y="1179008"/>
                  </a:lnTo>
                  <a:lnTo>
                    <a:pt x="1502457" y="1185695"/>
                  </a:lnTo>
                  <a:lnTo>
                    <a:pt x="1440877" y="1190963"/>
                  </a:lnTo>
                  <a:lnTo>
                    <a:pt x="1378296" y="1194771"/>
                  </a:lnTo>
                  <a:lnTo>
                    <a:pt x="1314791" y="1197084"/>
                  </a:lnTo>
                  <a:lnTo>
                    <a:pt x="1250442" y="1197864"/>
                  </a:lnTo>
                  <a:lnTo>
                    <a:pt x="1186094" y="1197084"/>
                  </a:lnTo>
                  <a:lnTo>
                    <a:pt x="1122591" y="1194771"/>
                  </a:lnTo>
                  <a:lnTo>
                    <a:pt x="1060011" y="1190963"/>
                  </a:lnTo>
                  <a:lnTo>
                    <a:pt x="998434" y="1185695"/>
                  </a:lnTo>
                  <a:lnTo>
                    <a:pt x="937936" y="1179008"/>
                  </a:lnTo>
                  <a:lnTo>
                    <a:pt x="878598" y="1170937"/>
                  </a:lnTo>
                  <a:lnTo>
                    <a:pt x="820497" y="1161521"/>
                  </a:lnTo>
                  <a:lnTo>
                    <a:pt x="763713" y="1150797"/>
                  </a:lnTo>
                  <a:lnTo>
                    <a:pt x="708323" y="1138803"/>
                  </a:lnTo>
                  <a:lnTo>
                    <a:pt x="654406" y="1125576"/>
                  </a:lnTo>
                  <a:lnTo>
                    <a:pt x="602042" y="1111155"/>
                  </a:lnTo>
                  <a:lnTo>
                    <a:pt x="551307" y="1095576"/>
                  </a:lnTo>
                  <a:lnTo>
                    <a:pt x="502282" y="1078878"/>
                  </a:lnTo>
                  <a:lnTo>
                    <a:pt x="455044" y="1061098"/>
                  </a:lnTo>
                  <a:lnTo>
                    <a:pt x="409672" y="1042273"/>
                  </a:lnTo>
                  <a:lnTo>
                    <a:pt x="366245" y="1022442"/>
                  </a:lnTo>
                  <a:lnTo>
                    <a:pt x="324841" y="1001641"/>
                  </a:lnTo>
                  <a:lnTo>
                    <a:pt x="285539" y="979909"/>
                  </a:lnTo>
                  <a:lnTo>
                    <a:pt x="248418" y="957283"/>
                  </a:lnTo>
                  <a:lnTo>
                    <a:pt x="213555" y="933801"/>
                  </a:lnTo>
                  <a:lnTo>
                    <a:pt x="181030" y="909501"/>
                  </a:lnTo>
                  <a:lnTo>
                    <a:pt x="150921" y="884419"/>
                  </a:lnTo>
                  <a:lnTo>
                    <a:pt x="98265" y="832064"/>
                  </a:lnTo>
                  <a:lnTo>
                    <a:pt x="56217" y="777037"/>
                  </a:lnTo>
                  <a:lnTo>
                    <a:pt x="25404" y="719638"/>
                  </a:lnTo>
                  <a:lnTo>
                    <a:pt x="6455" y="660169"/>
                  </a:lnTo>
                  <a:lnTo>
                    <a:pt x="0" y="59893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58113" y="3446145"/>
            <a:ext cx="1477645" cy="92710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-1270" algn="ctr">
              <a:lnSpc>
                <a:spcPts val="1730"/>
              </a:lnSpc>
              <a:spcBef>
                <a:spcPts val="31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 solução projetada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atende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aos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 requisitos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do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usuário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848355" y="772668"/>
            <a:ext cx="1516380" cy="76200"/>
          </a:xfrm>
          <a:custGeom>
            <a:avLst/>
            <a:gdLst/>
            <a:ahLst/>
            <a:cxnLst/>
            <a:rect l="l" t="t" r="r" b="b"/>
            <a:pathLst>
              <a:path w="1516379" h="76200">
                <a:moveTo>
                  <a:pt x="1440180" y="0"/>
                </a:moveTo>
                <a:lnTo>
                  <a:pt x="1440180" y="76200"/>
                </a:lnTo>
                <a:lnTo>
                  <a:pt x="1503680" y="44450"/>
                </a:lnTo>
                <a:lnTo>
                  <a:pt x="1452880" y="44450"/>
                </a:lnTo>
                <a:lnTo>
                  <a:pt x="1452880" y="31750"/>
                </a:lnTo>
                <a:lnTo>
                  <a:pt x="1503680" y="31750"/>
                </a:lnTo>
                <a:lnTo>
                  <a:pt x="1440180" y="0"/>
                </a:lnTo>
                <a:close/>
              </a:path>
              <a:path w="1516379" h="76200">
                <a:moveTo>
                  <a:pt x="144018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40180" y="44450"/>
                </a:lnTo>
                <a:lnTo>
                  <a:pt x="1440180" y="31750"/>
                </a:lnTo>
                <a:close/>
              </a:path>
              <a:path w="1516379" h="76200">
                <a:moveTo>
                  <a:pt x="1503680" y="31750"/>
                </a:moveTo>
                <a:lnTo>
                  <a:pt x="1452880" y="31750"/>
                </a:lnTo>
                <a:lnTo>
                  <a:pt x="1452880" y="44450"/>
                </a:lnTo>
                <a:lnTo>
                  <a:pt x="1503680" y="44450"/>
                </a:lnTo>
                <a:lnTo>
                  <a:pt x="1516380" y="38100"/>
                </a:lnTo>
                <a:lnTo>
                  <a:pt x="1503680" y="3175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109723" y="2186685"/>
            <a:ext cx="676275" cy="801370"/>
          </a:xfrm>
          <a:custGeom>
            <a:avLst/>
            <a:gdLst/>
            <a:ahLst/>
            <a:cxnLst/>
            <a:rect l="l" t="t" r="r" b="b"/>
            <a:pathLst>
              <a:path w="676275" h="801369">
                <a:moveTo>
                  <a:pt x="9778" y="695451"/>
                </a:moveTo>
                <a:lnTo>
                  <a:pt x="4445" y="695832"/>
                </a:lnTo>
                <a:lnTo>
                  <a:pt x="2667" y="695832"/>
                </a:lnTo>
                <a:lnTo>
                  <a:pt x="0" y="698881"/>
                </a:lnTo>
                <a:lnTo>
                  <a:pt x="199" y="701675"/>
                </a:lnTo>
                <a:lnTo>
                  <a:pt x="253" y="702437"/>
                </a:lnTo>
                <a:lnTo>
                  <a:pt x="5587" y="801369"/>
                </a:lnTo>
                <a:lnTo>
                  <a:pt x="18668" y="792988"/>
                </a:lnTo>
                <a:lnTo>
                  <a:pt x="17018" y="792988"/>
                </a:lnTo>
                <a:lnTo>
                  <a:pt x="5714" y="787272"/>
                </a:lnTo>
                <a:lnTo>
                  <a:pt x="16404" y="766397"/>
                </a:lnTo>
                <a:lnTo>
                  <a:pt x="12994" y="702437"/>
                </a:lnTo>
                <a:lnTo>
                  <a:pt x="12747" y="698881"/>
                </a:lnTo>
                <a:lnTo>
                  <a:pt x="12700" y="698245"/>
                </a:lnTo>
                <a:lnTo>
                  <a:pt x="9778" y="695451"/>
                </a:lnTo>
                <a:close/>
              </a:path>
              <a:path w="676275" h="801369">
                <a:moveTo>
                  <a:pt x="16404" y="766397"/>
                </a:moveTo>
                <a:lnTo>
                  <a:pt x="5714" y="787272"/>
                </a:lnTo>
                <a:lnTo>
                  <a:pt x="17018" y="792988"/>
                </a:lnTo>
                <a:lnTo>
                  <a:pt x="18648" y="789813"/>
                </a:lnTo>
                <a:lnTo>
                  <a:pt x="17652" y="789813"/>
                </a:lnTo>
                <a:lnTo>
                  <a:pt x="7874" y="784732"/>
                </a:lnTo>
                <a:lnTo>
                  <a:pt x="17069" y="778864"/>
                </a:lnTo>
                <a:lnTo>
                  <a:pt x="16404" y="766397"/>
                </a:lnTo>
                <a:close/>
              </a:path>
              <a:path w="676275" h="801369">
                <a:moveTo>
                  <a:pt x="85217" y="735330"/>
                </a:moveTo>
                <a:lnTo>
                  <a:pt x="82295" y="737234"/>
                </a:lnTo>
                <a:lnTo>
                  <a:pt x="27779" y="772028"/>
                </a:lnTo>
                <a:lnTo>
                  <a:pt x="17018" y="792988"/>
                </a:lnTo>
                <a:lnTo>
                  <a:pt x="18668" y="792988"/>
                </a:lnTo>
                <a:lnTo>
                  <a:pt x="89026" y="747902"/>
                </a:lnTo>
                <a:lnTo>
                  <a:pt x="92075" y="746125"/>
                </a:lnTo>
                <a:lnTo>
                  <a:pt x="92837" y="742188"/>
                </a:lnTo>
                <a:lnTo>
                  <a:pt x="91058" y="739139"/>
                </a:lnTo>
                <a:lnTo>
                  <a:pt x="89153" y="736219"/>
                </a:lnTo>
                <a:lnTo>
                  <a:pt x="85217" y="735330"/>
                </a:lnTo>
                <a:close/>
              </a:path>
              <a:path w="676275" h="801369">
                <a:moveTo>
                  <a:pt x="17069" y="778864"/>
                </a:moveTo>
                <a:lnTo>
                  <a:pt x="7874" y="784732"/>
                </a:lnTo>
                <a:lnTo>
                  <a:pt x="17652" y="789813"/>
                </a:lnTo>
                <a:lnTo>
                  <a:pt x="17069" y="778864"/>
                </a:lnTo>
                <a:close/>
              </a:path>
              <a:path w="676275" h="801369">
                <a:moveTo>
                  <a:pt x="27779" y="772028"/>
                </a:moveTo>
                <a:lnTo>
                  <a:pt x="17069" y="778864"/>
                </a:lnTo>
                <a:lnTo>
                  <a:pt x="17652" y="789813"/>
                </a:lnTo>
                <a:lnTo>
                  <a:pt x="18648" y="789813"/>
                </a:lnTo>
                <a:lnTo>
                  <a:pt x="27779" y="772028"/>
                </a:lnTo>
                <a:close/>
              </a:path>
              <a:path w="676275" h="801369">
                <a:moveTo>
                  <a:pt x="668146" y="0"/>
                </a:moveTo>
                <a:lnTo>
                  <a:pt x="615823" y="39877"/>
                </a:lnTo>
                <a:lnTo>
                  <a:pt x="564642" y="81406"/>
                </a:lnTo>
                <a:lnTo>
                  <a:pt x="514857" y="124332"/>
                </a:lnTo>
                <a:lnTo>
                  <a:pt x="466344" y="168656"/>
                </a:lnTo>
                <a:lnTo>
                  <a:pt x="419226" y="214375"/>
                </a:lnTo>
                <a:lnTo>
                  <a:pt x="373506" y="261365"/>
                </a:lnTo>
                <a:lnTo>
                  <a:pt x="329311" y="309752"/>
                </a:lnTo>
                <a:lnTo>
                  <a:pt x="286512" y="359409"/>
                </a:lnTo>
                <a:lnTo>
                  <a:pt x="245109" y="410337"/>
                </a:lnTo>
                <a:lnTo>
                  <a:pt x="205231" y="462280"/>
                </a:lnTo>
                <a:lnTo>
                  <a:pt x="167005" y="515619"/>
                </a:lnTo>
                <a:lnTo>
                  <a:pt x="130428" y="569976"/>
                </a:lnTo>
                <a:lnTo>
                  <a:pt x="95250" y="625601"/>
                </a:lnTo>
                <a:lnTo>
                  <a:pt x="61849" y="682116"/>
                </a:lnTo>
                <a:lnTo>
                  <a:pt x="29971" y="739901"/>
                </a:lnTo>
                <a:lnTo>
                  <a:pt x="16404" y="766397"/>
                </a:lnTo>
                <a:lnTo>
                  <a:pt x="17069" y="778864"/>
                </a:lnTo>
                <a:lnTo>
                  <a:pt x="27779" y="772028"/>
                </a:lnTo>
                <a:lnTo>
                  <a:pt x="41275" y="745744"/>
                </a:lnTo>
                <a:lnTo>
                  <a:pt x="72814" y="688491"/>
                </a:lnTo>
                <a:lnTo>
                  <a:pt x="72857" y="688325"/>
                </a:lnTo>
                <a:lnTo>
                  <a:pt x="106027" y="632322"/>
                </a:lnTo>
                <a:lnTo>
                  <a:pt x="106153" y="632152"/>
                </a:lnTo>
                <a:lnTo>
                  <a:pt x="141681" y="575909"/>
                </a:lnTo>
                <a:lnTo>
                  <a:pt x="178142" y="521975"/>
                </a:lnTo>
                <a:lnTo>
                  <a:pt x="214541" y="471140"/>
                </a:lnTo>
                <a:lnTo>
                  <a:pt x="255528" y="417579"/>
                </a:lnTo>
                <a:lnTo>
                  <a:pt x="296290" y="367411"/>
                </a:lnTo>
                <a:lnTo>
                  <a:pt x="339027" y="317913"/>
                </a:lnTo>
                <a:lnTo>
                  <a:pt x="382777" y="270001"/>
                </a:lnTo>
                <a:lnTo>
                  <a:pt x="428120" y="223393"/>
                </a:lnTo>
                <a:lnTo>
                  <a:pt x="475106" y="177926"/>
                </a:lnTo>
                <a:lnTo>
                  <a:pt x="523013" y="134180"/>
                </a:lnTo>
                <a:lnTo>
                  <a:pt x="572689" y="91238"/>
                </a:lnTo>
                <a:lnTo>
                  <a:pt x="572836" y="91040"/>
                </a:lnTo>
                <a:lnTo>
                  <a:pt x="623696" y="49911"/>
                </a:lnTo>
                <a:lnTo>
                  <a:pt x="675894" y="10159"/>
                </a:lnTo>
                <a:lnTo>
                  <a:pt x="66814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58825" rIns="0" bIns="0" rtlCol="0">
            <a:spAutoFit/>
          </a:bodyPr>
          <a:lstStyle/>
          <a:p>
            <a:pPr marL="196850" marR="5080">
              <a:lnSpc>
                <a:spcPts val="4620"/>
              </a:lnSpc>
              <a:spcBef>
                <a:spcPts val="810"/>
              </a:spcBef>
            </a:pPr>
            <a:r>
              <a:rPr sz="4400" dirty="0"/>
              <a:t>Avaliações</a:t>
            </a:r>
            <a:r>
              <a:rPr sz="4400" spc="-55" dirty="0"/>
              <a:t> </a:t>
            </a:r>
            <a:r>
              <a:rPr sz="4400" dirty="0"/>
              <a:t>de</a:t>
            </a:r>
            <a:r>
              <a:rPr sz="4400" spc="-50" dirty="0"/>
              <a:t> </a:t>
            </a:r>
            <a:r>
              <a:rPr sz="4400" dirty="0"/>
              <a:t>IHC</a:t>
            </a:r>
            <a:r>
              <a:rPr sz="4400" spc="-50" dirty="0"/>
              <a:t> </a:t>
            </a:r>
            <a:r>
              <a:rPr sz="4400" dirty="0"/>
              <a:t>não</a:t>
            </a:r>
            <a:r>
              <a:rPr sz="4400" spc="-65" dirty="0"/>
              <a:t> </a:t>
            </a:r>
            <a:r>
              <a:rPr sz="4400" spc="-25" dirty="0"/>
              <a:t>são </a:t>
            </a:r>
            <a:r>
              <a:rPr sz="4400" dirty="0"/>
              <a:t>testes</a:t>
            </a:r>
            <a:r>
              <a:rPr sz="4400" spc="-15" dirty="0"/>
              <a:t> </a:t>
            </a:r>
            <a:r>
              <a:rPr sz="4400" dirty="0"/>
              <a:t>de</a:t>
            </a:r>
            <a:r>
              <a:rPr sz="4400" spc="-10" dirty="0"/>
              <a:t> software!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35000" y="2623566"/>
            <a:ext cx="7061834" cy="16579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5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Servem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verificar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00"/>
                </a:solidFill>
                <a:latin typeface="Arial MT"/>
                <a:cs typeface="Arial MT"/>
              </a:rPr>
              <a:t>sistema </a:t>
            </a:r>
            <a:r>
              <a:rPr sz="3600" dirty="0">
                <a:solidFill>
                  <a:srgbClr val="FFFF00"/>
                </a:solidFill>
                <a:latin typeface="Arial MT"/>
                <a:cs typeface="Arial MT"/>
              </a:rPr>
              <a:t>apoia</a:t>
            </a:r>
            <a:r>
              <a:rPr sz="3600" spc="-1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00"/>
                </a:solidFill>
                <a:latin typeface="Arial MT"/>
                <a:cs typeface="Arial MT"/>
              </a:rPr>
              <a:t>o</a:t>
            </a:r>
            <a:r>
              <a:rPr sz="3600" spc="-2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00"/>
                </a:solidFill>
                <a:latin typeface="Arial MT"/>
                <a:cs typeface="Arial MT"/>
              </a:rPr>
              <a:t>usuário</a:t>
            </a:r>
            <a:r>
              <a:rPr sz="3600" spc="-3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00"/>
                </a:solidFill>
                <a:latin typeface="Arial MT"/>
                <a:cs typeface="Arial MT"/>
              </a:rPr>
              <a:t>a</a:t>
            </a:r>
            <a:r>
              <a:rPr sz="3600" spc="-1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00"/>
                </a:solidFill>
                <a:latin typeface="Arial MT"/>
                <a:cs typeface="Arial MT"/>
              </a:rPr>
              <a:t>atingir</a:t>
            </a:r>
            <a:r>
              <a:rPr sz="3600" spc="-2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FFFF00"/>
                </a:solidFill>
                <a:latin typeface="Arial MT"/>
                <a:cs typeface="Arial MT"/>
              </a:rPr>
              <a:t>seus </a:t>
            </a:r>
            <a:r>
              <a:rPr sz="3600" spc="-10" dirty="0">
                <a:solidFill>
                  <a:srgbClr val="FFFF00"/>
                </a:solidFill>
                <a:latin typeface="Arial MT"/>
                <a:cs typeface="Arial MT"/>
              </a:rPr>
              <a:t>objetivos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Por</a:t>
            </a:r>
            <a:r>
              <a:rPr sz="4400" spc="-15" dirty="0"/>
              <a:t> </a:t>
            </a:r>
            <a:r>
              <a:rPr sz="4400" dirty="0"/>
              <a:t>que</a:t>
            </a:r>
            <a:r>
              <a:rPr sz="4400" spc="-20" dirty="0"/>
              <a:t> </a:t>
            </a:r>
            <a:r>
              <a:rPr sz="4400" spc="-10" dirty="0"/>
              <a:t>avaliar?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16839" y="1547022"/>
            <a:ext cx="8776335" cy="238442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905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Saber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como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00"/>
                </a:solidFill>
                <a:latin typeface="Arial MT"/>
                <a:cs typeface="Arial MT"/>
              </a:rPr>
              <a:t>pessoas</a:t>
            </a:r>
            <a:r>
              <a:rPr sz="3200" spc="-6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00"/>
                </a:solidFill>
                <a:latin typeface="Arial MT"/>
                <a:cs typeface="Arial MT"/>
              </a:rPr>
              <a:t>entendem</a:t>
            </a:r>
            <a:r>
              <a:rPr sz="3200" spc="-3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00"/>
                </a:solidFill>
                <a:latin typeface="Arial MT"/>
                <a:cs typeface="Arial MT"/>
              </a:rPr>
              <a:t>o</a:t>
            </a:r>
            <a:r>
              <a:rPr sz="3200" spc="-4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00"/>
                </a:solidFill>
                <a:latin typeface="Arial MT"/>
                <a:cs typeface="Arial MT"/>
              </a:rPr>
              <a:t>conceito</a:t>
            </a:r>
            <a:endParaRPr sz="320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Ensaiar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00"/>
                </a:solidFill>
                <a:latin typeface="Arial MT"/>
                <a:cs typeface="Arial MT"/>
              </a:rPr>
              <a:t>alternativas</a:t>
            </a:r>
            <a:r>
              <a:rPr sz="3200" spc="-4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design</a:t>
            </a:r>
            <a:endParaRPr sz="320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527685" algn="l"/>
              </a:tabLst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Verificar</a:t>
            </a: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00"/>
                </a:solidFill>
                <a:latin typeface="Arial MT"/>
                <a:cs typeface="Arial MT"/>
              </a:rPr>
              <a:t>conformidade</a:t>
            </a:r>
            <a:r>
              <a:rPr sz="3200" spc="-9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2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padrões</a:t>
            </a:r>
            <a:endParaRPr sz="320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52768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Identificar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00"/>
                </a:solidFill>
                <a:latin typeface="Arial MT"/>
                <a:cs typeface="Arial MT"/>
              </a:rPr>
              <a:t>problemas</a:t>
            </a:r>
            <a:r>
              <a:rPr sz="3200" spc="-5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interação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25768" y="3753611"/>
            <a:ext cx="722630" cy="722630"/>
          </a:xfrm>
          <a:custGeom>
            <a:avLst/>
            <a:gdLst/>
            <a:ahLst/>
            <a:cxnLst/>
            <a:rect l="l" t="t" r="r" b="b"/>
            <a:pathLst>
              <a:path w="722629" h="722629">
                <a:moveTo>
                  <a:pt x="361187" y="0"/>
                </a:moveTo>
                <a:lnTo>
                  <a:pt x="312168" y="3297"/>
                </a:lnTo>
                <a:lnTo>
                  <a:pt x="265156" y="12901"/>
                </a:lnTo>
                <a:lnTo>
                  <a:pt x="220581" y="28383"/>
                </a:lnTo>
                <a:lnTo>
                  <a:pt x="178872" y="49312"/>
                </a:lnTo>
                <a:lnTo>
                  <a:pt x="140460" y="75257"/>
                </a:lnTo>
                <a:lnTo>
                  <a:pt x="105775" y="105789"/>
                </a:lnTo>
                <a:lnTo>
                  <a:pt x="75246" y="140476"/>
                </a:lnTo>
                <a:lnTo>
                  <a:pt x="49304" y="178889"/>
                </a:lnTo>
                <a:lnTo>
                  <a:pt x="28378" y="220597"/>
                </a:lnTo>
                <a:lnTo>
                  <a:pt x="12899" y="265169"/>
                </a:lnTo>
                <a:lnTo>
                  <a:pt x="3296" y="312176"/>
                </a:lnTo>
                <a:lnTo>
                  <a:pt x="0" y="361188"/>
                </a:lnTo>
                <a:lnTo>
                  <a:pt x="3296" y="410199"/>
                </a:lnTo>
                <a:lnTo>
                  <a:pt x="12899" y="457206"/>
                </a:lnTo>
                <a:lnTo>
                  <a:pt x="28378" y="501778"/>
                </a:lnTo>
                <a:lnTo>
                  <a:pt x="49304" y="543486"/>
                </a:lnTo>
                <a:lnTo>
                  <a:pt x="75246" y="581899"/>
                </a:lnTo>
                <a:lnTo>
                  <a:pt x="105775" y="616586"/>
                </a:lnTo>
                <a:lnTo>
                  <a:pt x="140460" y="647118"/>
                </a:lnTo>
                <a:lnTo>
                  <a:pt x="178872" y="673063"/>
                </a:lnTo>
                <a:lnTo>
                  <a:pt x="220581" y="693992"/>
                </a:lnTo>
                <a:lnTo>
                  <a:pt x="265156" y="709474"/>
                </a:lnTo>
                <a:lnTo>
                  <a:pt x="312168" y="719078"/>
                </a:lnTo>
                <a:lnTo>
                  <a:pt x="361187" y="722376"/>
                </a:lnTo>
                <a:lnTo>
                  <a:pt x="410207" y="719078"/>
                </a:lnTo>
                <a:lnTo>
                  <a:pt x="457219" y="709474"/>
                </a:lnTo>
                <a:lnTo>
                  <a:pt x="501794" y="693992"/>
                </a:lnTo>
                <a:lnTo>
                  <a:pt x="543503" y="673063"/>
                </a:lnTo>
                <a:lnTo>
                  <a:pt x="581915" y="647118"/>
                </a:lnTo>
                <a:lnTo>
                  <a:pt x="616600" y="616586"/>
                </a:lnTo>
                <a:lnTo>
                  <a:pt x="647129" y="581899"/>
                </a:lnTo>
                <a:lnTo>
                  <a:pt x="673071" y="543486"/>
                </a:lnTo>
                <a:lnTo>
                  <a:pt x="693997" y="501778"/>
                </a:lnTo>
                <a:lnTo>
                  <a:pt x="709476" y="457206"/>
                </a:lnTo>
                <a:lnTo>
                  <a:pt x="719079" y="410199"/>
                </a:lnTo>
                <a:lnTo>
                  <a:pt x="722376" y="361188"/>
                </a:lnTo>
                <a:lnTo>
                  <a:pt x="719079" y="312176"/>
                </a:lnTo>
                <a:lnTo>
                  <a:pt x="709476" y="265169"/>
                </a:lnTo>
                <a:lnTo>
                  <a:pt x="693997" y="220597"/>
                </a:lnTo>
                <a:lnTo>
                  <a:pt x="673071" y="178889"/>
                </a:lnTo>
                <a:lnTo>
                  <a:pt x="647129" y="140476"/>
                </a:lnTo>
                <a:lnTo>
                  <a:pt x="616600" y="105789"/>
                </a:lnTo>
                <a:lnTo>
                  <a:pt x="581915" y="75257"/>
                </a:lnTo>
                <a:lnTo>
                  <a:pt x="543503" y="49312"/>
                </a:lnTo>
                <a:lnTo>
                  <a:pt x="501794" y="28383"/>
                </a:lnTo>
                <a:lnTo>
                  <a:pt x="457219" y="12901"/>
                </a:lnTo>
                <a:lnTo>
                  <a:pt x="410207" y="3297"/>
                </a:lnTo>
                <a:lnTo>
                  <a:pt x="361187" y="0"/>
                </a:lnTo>
                <a:close/>
              </a:path>
            </a:pathLst>
          </a:custGeom>
          <a:solidFill>
            <a:srgbClr val="73524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7076" y="3649979"/>
            <a:ext cx="220979" cy="2194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4525" y="1543557"/>
            <a:ext cx="436943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0000"/>
                </a:solidFill>
                <a:latin typeface="Arial MT"/>
                <a:cs typeface="Arial MT"/>
              </a:rPr>
              <a:t>Avaliações</a:t>
            </a:r>
            <a:r>
              <a:rPr sz="36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0000"/>
                </a:solidFill>
                <a:latin typeface="Arial MT"/>
                <a:cs typeface="Arial MT"/>
              </a:rPr>
              <a:t>são</a:t>
            </a:r>
            <a:r>
              <a:rPr sz="36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0000"/>
                </a:solidFill>
                <a:latin typeface="Arial MT"/>
                <a:cs typeface="Arial MT"/>
              </a:rPr>
              <a:t>feitas </a:t>
            </a:r>
            <a:r>
              <a:rPr sz="3600" spc="-10" dirty="0">
                <a:solidFill>
                  <a:schemeClr val="tx1"/>
                </a:solidFill>
                <a:latin typeface="Arial MT"/>
                <a:cs typeface="Arial MT"/>
              </a:rPr>
              <a:t>repetidamente </a:t>
            </a:r>
            <a:r>
              <a:rPr sz="3600" dirty="0">
                <a:solidFill>
                  <a:srgbClr val="FF0000"/>
                </a:solidFill>
                <a:latin typeface="Arial MT"/>
                <a:cs typeface="Arial MT"/>
              </a:rPr>
              <a:t>durante</a:t>
            </a:r>
            <a:r>
              <a:rPr sz="36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0000"/>
                </a:solidFill>
                <a:latin typeface="Arial MT"/>
                <a:cs typeface="Arial MT"/>
              </a:rPr>
              <a:t>o</a:t>
            </a:r>
            <a:r>
              <a:rPr sz="36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0000"/>
                </a:solidFill>
                <a:latin typeface="Arial MT"/>
                <a:cs typeface="Arial MT"/>
              </a:rPr>
              <a:t>ciclo</a:t>
            </a:r>
            <a:r>
              <a:rPr sz="36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0000"/>
                </a:solidFill>
                <a:latin typeface="Arial MT"/>
                <a:cs typeface="Arial MT"/>
              </a:rPr>
              <a:t>e</a:t>
            </a:r>
            <a:r>
              <a:rPr sz="36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600" spc="-25" dirty="0">
                <a:solidFill>
                  <a:srgbClr val="FF0000"/>
                </a:solidFill>
                <a:latin typeface="Arial MT"/>
                <a:cs typeface="Arial MT"/>
              </a:rPr>
              <a:t>com </a:t>
            </a:r>
            <a:r>
              <a:rPr sz="3600" dirty="0">
                <a:solidFill>
                  <a:srgbClr val="FF0000"/>
                </a:solidFill>
                <a:latin typeface="Arial MT"/>
                <a:cs typeface="Arial MT"/>
              </a:rPr>
              <a:t>diferentes</a:t>
            </a:r>
            <a:r>
              <a:rPr sz="36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0000"/>
                </a:solidFill>
                <a:latin typeface="Arial MT"/>
                <a:cs typeface="Arial MT"/>
              </a:rPr>
              <a:t>técnicas</a:t>
            </a:r>
            <a:endParaRPr sz="36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9364" y="8310"/>
            <a:ext cx="3564636" cy="3365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8580" algn="ctr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Formativa</a:t>
            </a:r>
          </a:p>
          <a:p>
            <a:pPr algn="ctr">
              <a:lnSpc>
                <a:spcPts val="2735"/>
              </a:lnSpc>
              <a:spcBef>
                <a:spcPts val="2055"/>
              </a:spcBef>
            </a:pPr>
            <a:r>
              <a:rPr sz="2400" b="0" dirty="0">
                <a:latin typeface="Arial MT"/>
                <a:cs typeface="Arial MT"/>
              </a:rPr>
              <a:t>Avalia</a:t>
            </a:r>
            <a:r>
              <a:rPr sz="2400" b="0" spc="-7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a</a:t>
            </a:r>
            <a:r>
              <a:rPr sz="2400" b="0" spc="-80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compreensão</a:t>
            </a:r>
            <a:r>
              <a:rPr sz="2400" b="0" spc="-60" dirty="0">
                <a:latin typeface="Arial MT"/>
                <a:cs typeface="Arial MT"/>
              </a:rPr>
              <a:t> </a:t>
            </a:r>
            <a:r>
              <a:rPr sz="2400" b="0" spc="-25" dirty="0">
                <a:latin typeface="Arial MT"/>
                <a:cs typeface="Arial MT"/>
              </a:rPr>
              <a:t>das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ts val="2735"/>
              </a:lnSpc>
            </a:pPr>
            <a:r>
              <a:rPr sz="2400" b="0" spc="-10" dirty="0">
                <a:latin typeface="Arial MT"/>
                <a:cs typeface="Arial MT"/>
              </a:rPr>
              <a:t>necessidades</a:t>
            </a:r>
            <a:r>
              <a:rPr sz="2400" b="0" spc="-3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dos</a:t>
            </a:r>
            <a:r>
              <a:rPr sz="2400" b="0" spc="-55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usuários</a:t>
            </a:r>
            <a:endParaRPr sz="2400">
              <a:latin typeface="Arial MT"/>
              <a:cs typeface="Arial MT"/>
            </a:endParaRPr>
          </a:p>
          <a:p>
            <a:pPr marL="349250" marR="343535" algn="ctr">
              <a:lnSpc>
                <a:spcPts val="2590"/>
              </a:lnSpc>
              <a:spcBef>
                <a:spcPts val="2020"/>
              </a:spcBef>
            </a:pPr>
            <a:r>
              <a:rPr sz="2400" b="0" dirty="0">
                <a:latin typeface="Arial MT"/>
                <a:cs typeface="Arial MT"/>
              </a:rPr>
              <a:t>Compara</a:t>
            </a:r>
            <a:r>
              <a:rPr sz="2400" b="0" spc="-10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alternativas</a:t>
            </a:r>
            <a:r>
              <a:rPr sz="2400" b="0" spc="-114" dirty="0">
                <a:latin typeface="Arial MT"/>
                <a:cs typeface="Arial MT"/>
              </a:rPr>
              <a:t> </a:t>
            </a:r>
            <a:r>
              <a:rPr sz="2400" b="0" spc="-25" dirty="0">
                <a:latin typeface="Arial MT"/>
                <a:cs typeface="Arial MT"/>
              </a:rPr>
              <a:t>de </a:t>
            </a:r>
            <a:r>
              <a:rPr sz="2400" b="0" spc="-10" dirty="0">
                <a:latin typeface="Arial MT"/>
                <a:cs typeface="Arial MT"/>
              </a:rPr>
              <a:t>design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b="0" dirty="0">
                <a:latin typeface="Arial MT"/>
                <a:cs typeface="Arial MT"/>
              </a:rPr>
              <a:t>Protótipos</a:t>
            </a:r>
            <a:r>
              <a:rPr sz="2400" b="0" spc="-7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de</a:t>
            </a:r>
            <a:r>
              <a:rPr sz="2400" b="0" spc="-7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baixa</a:t>
            </a:r>
            <a:r>
              <a:rPr sz="2400" b="0" spc="-30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fidelidade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064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Somativa</a:t>
            </a:r>
          </a:p>
          <a:p>
            <a:pPr marL="12700" marR="5080" indent="1270" algn="ctr">
              <a:lnSpc>
                <a:spcPct val="90100"/>
              </a:lnSpc>
              <a:spcBef>
                <a:spcPts val="2370"/>
              </a:spcBef>
            </a:pPr>
            <a:r>
              <a:rPr sz="2400" b="0" dirty="0">
                <a:latin typeface="Arial MT"/>
                <a:cs typeface="Arial MT"/>
              </a:rPr>
              <a:t>Avalia</a:t>
            </a:r>
            <a:r>
              <a:rPr sz="2400" b="0" spc="-7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o</a:t>
            </a:r>
            <a:r>
              <a:rPr sz="2400" b="0" spc="-9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atingimento</a:t>
            </a:r>
            <a:r>
              <a:rPr sz="2400" b="0" spc="-70" dirty="0">
                <a:latin typeface="Arial MT"/>
                <a:cs typeface="Arial MT"/>
              </a:rPr>
              <a:t> </a:t>
            </a:r>
            <a:r>
              <a:rPr sz="2400" b="0" spc="-25" dirty="0">
                <a:latin typeface="Arial MT"/>
                <a:cs typeface="Arial MT"/>
              </a:rPr>
              <a:t>das </a:t>
            </a:r>
            <a:r>
              <a:rPr sz="2400" b="0" dirty="0">
                <a:latin typeface="Arial MT"/>
                <a:cs typeface="Arial MT"/>
              </a:rPr>
              <a:t>metas</a:t>
            </a:r>
            <a:r>
              <a:rPr sz="2400" b="0" spc="-7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de</a:t>
            </a:r>
            <a:r>
              <a:rPr sz="2400" b="0" spc="-7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qualidade</a:t>
            </a:r>
            <a:r>
              <a:rPr sz="2400" b="0" spc="-2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de</a:t>
            </a:r>
            <a:r>
              <a:rPr sz="2400" b="0" spc="-7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uso</a:t>
            </a:r>
            <a:r>
              <a:rPr sz="2400" b="0" spc="-65" dirty="0">
                <a:latin typeface="Arial MT"/>
                <a:cs typeface="Arial MT"/>
              </a:rPr>
              <a:t> </a:t>
            </a:r>
            <a:r>
              <a:rPr sz="2400" b="0" spc="-50" dirty="0">
                <a:latin typeface="Arial MT"/>
                <a:cs typeface="Arial MT"/>
              </a:rPr>
              <a:t>e </a:t>
            </a:r>
            <a:r>
              <a:rPr sz="2400" b="0" dirty="0">
                <a:latin typeface="Arial MT"/>
                <a:cs typeface="Arial MT"/>
              </a:rPr>
              <a:t>de</a:t>
            </a:r>
            <a:r>
              <a:rPr sz="2400" b="0" spc="-35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usabilidade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2400">
              <a:latin typeface="Arial MT"/>
              <a:cs typeface="Arial MT"/>
            </a:endParaRPr>
          </a:p>
          <a:p>
            <a:pPr marL="91440" marR="78740" algn="ctr">
              <a:lnSpc>
                <a:spcPts val="2590"/>
              </a:lnSpc>
            </a:pPr>
            <a:r>
              <a:rPr sz="2400" b="0" dirty="0">
                <a:latin typeface="Arial MT"/>
                <a:cs typeface="Arial MT"/>
              </a:rPr>
              <a:t>Protótipos</a:t>
            </a:r>
            <a:r>
              <a:rPr sz="2400" b="0" spc="-5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de</a:t>
            </a:r>
            <a:r>
              <a:rPr sz="2400" b="0" spc="-4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alta</a:t>
            </a:r>
            <a:r>
              <a:rPr sz="2400" b="0" spc="-35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fidelidade </a:t>
            </a:r>
            <a:r>
              <a:rPr sz="2400" b="0" dirty="0">
                <a:latin typeface="Arial MT"/>
                <a:cs typeface="Arial MT"/>
              </a:rPr>
              <a:t>ou</a:t>
            </a:r>
            <a:r>
              <a:rPr sz="2400" b="0" spc="-7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sistema</a:t>
            </a:r>
            <a:r>
              <a:rPr sz="2400" b="0" spc="-70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funcional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14650" y="153111"/>
            <a:ext cx="26181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Avaliação</a:t>
            </a:r>
            <a:endParaRPr sz="4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2736" y="2698191"/>
            <a:ext cx="58083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Técnicas</a:t>
            </a:r>
            <a:r>
              <a:rPr sz="4400" spc="-25" dirty="0"/>
              <a:t> </a:t>
            </a:r>
            <a:r>
              <a:rPr sz="4400" dirty="0"/>
              <a:t>de</a:t>
            </a:r>
            <a:r>
              <a:rPr sz="4400" spc="-15" dirty="0"/>
              <a:t> </a:t>
            </a:r>
            <a:r>
              <a:rPr sz="4400" spc="-10" dirty="0"/>
              <a:t>inspeção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036314" y="3501390"/>
            <a:ext cx="144780" cy="1905"/>
          </a:xfrm>
          <a:custGeom>
            <a:avLst/>
            <a:gdLst/>
            <a:ahLst/>
            <a:cxnLst/>
            <a:rect l="l" t="t" r="r" b="b"/>
            <a:pathLst>
              <a:path w="144779" h="1904">
                <a:moveTo>
                  <a:pt x="0" y="1524"/>
                </a:moveTo>
                <a:lnTo>
                  <a:pt x="20447" y="1016"/>
                </a:lnTo>
                <a:lnTo>
                  <a:pt x="40259" y="635"/>
                </a:lnTo>
                <a:lnTo>
                  <a:pt x="74930" y="254"/>
                </a:lnTo>
                <a:lnTo>
                  <a:pt x="106299" y="127"/>
                </a:lnTo>
                <a:lnTo>
                  <a:pt x="136016" y="0"/>
                </a:lnTo>
                <a:lnTo>
                  <a:pt x="144780" y="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3144" y="53339"/>
            <a:ext cx="3710939" cy="2980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9615" y="1850425"/>
            <a:ext cx="5349875" cy="277177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5"/>
              </a:spcBef>
              <a:buChar char="•"/>
              <a:tabLst>
                <a:tab pos="24066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Avaliação</a:t>
            </a:r>
            <a:r>
              <a:rPr sz="32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por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00"/>
                </a:solidFill>
                <a:latin typeface="Arial MT"/>
                <a:cs typeface="Arial MT"/>
              </a:rPr>
              <a:t>especialistas</a:t>
            </a:r>
            <a:endParaRPr sz="3200">
              <a:latin typeface="Arial MT"/>
              <a:cs typeface="Arial MT"/>
            </a:endParaRPr>
          </a:p>
          <a:p>
            <a:pPr marL="184785" marR="315595" indent="-172720">
              <a:lnSpc>
                <a:spcPct val="100000"/>
              </a:lnSpc>
              <a:spcBef>
                <a:spcPts val="810"/>
              </a:spcBef>
              <a:buChar char="•"/>
              <a:tabLst>
                <a:tab pos="184785" algn="l"/>
                <a:tab pos="23939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Não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envolvem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os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usuários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finais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diretamente</a:t>
            </a:r>
            <a:endParaRPr sz="3200">
              <a:latin typeface="Arial MT"/>
              <a:cs typeface="Arial MT"/>
            </a:endParaRPr>
          </a:p>
          <a:p>
            <a:pPr marL="184785" marR="5080" indent="-172720">
              <a:lnSpc>
                <a:spcPct val="100000"/>
              </a:lnSpc>
              <a:spcBef>
                <a:spcPts val="805"/>
              </a:spcBef>
              <a:buChar char="•"/>
              <a:tabLst>
                <a:tab pos="184785" algn="l"/>
                <a:tab pos="23939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Fortemente</a:t>
            </a:r>
            <a:r>
              <a:rPr sz="32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dependentes</a:t>
            </a:r>
            <a:r>
              <a:rPr sz="32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da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qualidade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dos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inspetores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9307" y="210438"/>
            <a:ext cx="3228340" cy="13004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402590" marR="5080" indent="-390525">
              <a:lnSpc>
                <a:spcPts val="4750"/>
              </a:lnSpc>
              <a:spcBef>
                <a:spcPts val="705"/>
              </a:spcBef>
            </a:pPr>
            <a:r>
              <a:rPr sz="4400" dirty="0">
                <a:solidFill>
                  <a:srgbClr val="FFFF00"/>
                </a:solidFill>
              </a:rPr>
              <a:t>Técnicas</a:t>
            </a:r>
            <a:r>
              <a:rPr sz="4400" spc="-35" dirty="0">
                <a:solidFill>
                  <a:srgbClr val="FFFF00"/>
                </a:solidFill>
              </a:rPr>
              <a:t> </a:t>
            </a:r>
            <a:r>
              <a:rPr sz="4400" spc="-25" dirty="0">
                <a:solidFill>
                  <a:srgbClr val="FFFF00"/>
                </a:solidFill>
              </a:rPr>
              <a:t>de </a:t>
            </a:r>
            <a:r>
              <a:rPr sz="4400" spc="-10" dirty="0">
                <a:solidFill>
                  <a:srgbClr val="FFFF00"/>
                </a:solidFill>
              </a:rPr>
              <a:t>inspeção</a:t>
            </a:r>
            <a:endParaRPr sz="4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00"/>
                </a:solidFill>
              </a:rPr>
              <a:t>Algumas</a:t>
            </a:r>
            <a:r>
              <a:rPr sz="4400" spc="-25" dirty="0">
                <a:solidFill>
                  <a:srgbClr val="FFFF00"/>
                </a:solidFill>
              </a:rPr>
              <a:t> </a:t>
            </a:r>
            <a:r>
              <a:rPr sz="4400" dirty="0">
                <a:solidFill>
                  <a:srgbClr val="FFFF00"/>
                </a:solidFill>
              </a:rPr>
              <a:t>técnicas</a:t>
            </a:r>
            <a:r>
              <a:rPr sz="4400" spc="-25" dirty="0">
                <a:solidFill>
                  <a:srgbClr val="FFFF00"/>
                </a:solidFill>
              </a:rPr>
              <a:t> </a:t>
            </a:r>
            <a:r>
              <a:rPr sz="4400" dirty="0">
                <a:solidFill>
                  <a:srgbClr val="FFFF00"/>
                </a:solidFill>
              </a:rPr>
              <a:t>de</a:t>
            </a:r>
            <a:r>
              <a:rPr sz="4400" spc="-25" dirty="0">
                <a:solidFill>
                  <a:srgbClr val="FFFF00"/>
                </a:solidFill>
              </a:rPr>
              <a:t> </a:t>
            </a:r>
            <a:r>
              <a:rPr sz="4400" spc="-10" dirty="0">
                <a:solidFill>
                  <a:srgbClr val="FFFF00"/>
                </a:solidFill>
              </a:rPr>
              <a:t>inspeção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900"/>
              </a:spcBef>
              <a:buChar char="•"/>
              <a:tabLst>
                <a:tab pos="245110" algn="l"/>
              </a:tabLst>
            </a:pPr>
            <a:r>
              <a:rPr dirty="0">
                <a:solidFill>
                  <a:srgbClr val="FFFFFF"/>
                </a:solidFill>
              </a:rPr>
              <a:t>Avaliação</a:t>
            </a:r>
            <a:r>
              <a:rPr spc="-10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heurística</a:t>
            </a:r>
            <a:r>
              <a:rPr spc="-13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(Nielsen)</a:t>
            </a:r>
          </a:p>
          <a:p>
            <a:pPr marL="268605" indent="-255904">
              <a:lnSpc>
                <a:spcPct val="100000"/>
              </a:lnSpc>
              <a:spcBef>
                <a:spcPts val="805"/>
              </a:spcBef>
              <a:buChar char="•"/>
              <a:tabLst>
                <a:tab pos="268605" algn="l"/>
              </a:tabLst>
            </a:pPr>
            <a:r>
              <a:rPr dirty="0">
                <a:solidFill>
                  <a:srgbClr val="FFFFFF"/>
                </a:solidFill>
              </a:rPr>
              <a:t>Inspeções</a:t>
            </a:r>
            <a:r>
              <a:rPr spc="-9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de</a:t>
            </a:r>
            <a:r>
              <a:rPr spc="-5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conformidade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ao</a:t>
            </a:r>
            <a:r>
              <a:rPr spc="-5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padrão</a:t>
            </a:r>
          </a:p>
          <a:p>
            <a:pPr marL="267970" indent="-255270">
              <a:lnSpc>
                <a:spcPct val="100000"/>
              </a:lnSpc>
              <a:spcBef>
                <a:spcPts val="805"/>
              </a:spcBef>
              <a:buChar char="•"/>
              <a:tabLst>
                <a:tab pos="267970" algn="l"/>
              </a:tabLst>
            </a:pPr>
            <a:r>
              <a:rPr dirty="0">
                <a:solidFill>
                  <a:srgbClr val="FFFFFF"/>
                </a:solidFill>
              </a:rPr>
              <a:t>Percurso</a:t>
            </a:r>
            <a:r>
              <a:rPr spc="-8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cognitivo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(Wharton)</a:t>
            </a:r>
          </a:p>
          <a:p>
            <a:pPr marL="268605" indent="-255904">
              <a:lnSpc>
                <a:spcPct val="100000"/>
              </a:lnSpc>
              <a:spcBef>
                <a:spcPts val="790"/>
              </a:spcBef>
              <a:buChar char="•"/>
              <a:tabLst>
                <a:tab pos="268605" algn="l"/>
              </a:tabLst>
            </a:pPr>
            <a:r>
              <a:rPr dirty="0">
                <a:solidFill>
                  <a:srgbClr val="FFFFFF"/>
                </a:solidFill>
              </a:rPr>
              <a:t>MIS: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Método</a:t>
            </a:r>
            <a:r>
              <a:rPr spc="-6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de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Inspeção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Semiótica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(SERG)</a:t>
            </a:r>
          </a:p>
          <a:p>
            <a:pPr marL="267970" indent="-25527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67970" algn="l"/>
              </a:tabLst>
            </a:pPr>
            <a:r>
              <a:rPr i="1" dirty="0">
                <a:solidFill>
                  <a:srgbClr val="FFFFFF"/>
                </a:solidFill>
                <a:latin typeface="Arial"/>
                <a:cs typeface="Arial"/>
              </a:rPr>
              <a:t>Recoverability</a:t>
            </a:r>
            <a:r>
              <a:rPr i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FFFFFF"/>
                </a:solidFill>
                <a:latin typeface="Arial"/>
                <a:cs typeface="Arial"/>
              </a:rPr>
              <a:t>walkthrough</a:t>
            </a:r>
            <a:r>
              <a:rPr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</a:rPr>
              <a:t>(Grupo</a:t>
            </a:r>
            <a:r>
              <a:rPr spc="-100" dirty="0">
                <a:solidFill>
                  <a:srgbClr val="FFFFFF"/>
                </a:solidFill>
              </a:rPr>
              <a:t> </a:t>
            </a:r>
            <a:r>
              <a:rPr b="1" spc="-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pc="-25" dirty="0">
                <a:solidFill>
                  <a:srgbClr val="FFFFFF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900"/>
              </a:spcBef>
              <a:buClr>
                <a:srgbClr val="FFFFFF"/>
              </a:buClr>
              <a:buChar char="•"/>
              <a:tabLst>
                <a:tab pos="245110" algn="l"/>
              </a:tabLst>
            </a:pPr>
            <a:r>
              <a:rPr dirty="0">
                <a:solidFill>
                  <a:srgbClr val="FFFF00"/>
                </a:solidFill>
              </a:rPr>
              <a:t>Avaliação</a:t>
            </a:r>
            <a:r>
              <a:rPr spc="-100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heurística</a:t>
            </a:r>
            <a:r>
              <a:rPr spc="-130" dirty="0">
                <a:solidFill>
                  <a:srgbClr val="FFFF00"/>
                </a:solidFill>
              </a:rPr>
              <a:t> </a:t>
            </a:r>
            <a:r>
              <a:rPr spc="-10" dirty="0">
                <a:solidFill>
                  <a:srgbClr val="FFFF00"/>
                </a:solidFill>
              </a:rPr>
              <a:t>(Nielsen)</a:t>
            </a:r>
          </a:p>
          <a:p>
            <a:pPr marL="268605" indent="-255904">
              <a:lnSpc>
                <a:spcPct val="100000"/>
              </a:lnSpc>
              <a:spcBef>
                <a:spcPts val="805"/>
              </a:spcBef>
              <a:buChar char="•"/>
              <a:tabLst>
                <a:tab pos="268605" algn="l"/>
              </a:tabLst>
            </a:pPr>
            <a:r>
              <a:rPr dirty="0">
                <a:solidFill>
                  <a:srgbClr val="FFFFFF"/>
                </a:solidFill>
              </a:rPr>
              <a:t>Inspeções</a:t>
            </a:r>
            <a:r>
              <a:rPr spc="-9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de</a:t>
            </a:r>
            <a:r>
              <a:rPr spc="-5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conformidade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ao</a:t>
            </a:r>
            <a:r>
              <a:rPr spc="-5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padrão</a:t>
            </a:r>
          </a:p>
          <a:p>
            <a:pPr marL="267970" indent="-255270">
              <a:lnSpc>
                <a:spcPct val="100000"/>
              </a:lnSpc>
              <a:spcBef>
                <a:spcPts val="805"/>
              </a:spcBef>
              <a:buChar char="•"/>
              <a:tabLst>
                <a:tab pos="267970" algn="l"/>
              </a:tabLst>
            </a:pPr>
            <a:r>
              <a:rPr dirty="0">
                <a:solidFill>
                  <a:srgbClr val="FFFFFF"/>
                </a:solidFill>
              </a:rPr>
              <a:t>Percurso</a:t>
            </a:r>
            <a:r>
              <a:rPr spc="-8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cognitivo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(Wharton)</a:t>
            </a:r>
          </a:p>
          <a:p>
            <a:pPr marL="268605" indent="-255904">
              <a:lnSpc>
                <a:spcPct val="100000"/>
              </a:lnSpc>
              <a:spcBef>
                <a:spcPts val="790"/>
              </a:spcBef>
              <a:buChar char="•"/>
              <a:tabLst>
                <a:tab pos="268605" algn="l"/>
              </a:tabLst>
            </a:pPr>
            <a:r>
              <a:rPr dirty="0">
                <a:solidFill>
                  <a:srgbClr val="FFFFFF"/>
                </a:solidFill>
              </a:rPr>
              <a:t>MIS: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Método</a:t>
            </a:r>
            <a:r>
              <a:rPr spc="-6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de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Inspeção</a:t>
            </a:r>
            <a:r>
              <a:rPr spc="-6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Semiótica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(SERG)</a:t>
            </a:r>
          </a:p>
          <a:p>
            <a:pPr marL="267970" indent="-25527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67970" algn="l"/>
              </a:tabLst>
            </a:pPr>
            <a:r>
              <a:rPr i="1" dirty="0">
                <a:solidFill>
                  <a:srgbClr val="FFFFFF"/>
                </a:solidFill>
                <a:latin typeface="Arial"/>
                <a:cs typeface="Arial"/>
              </a:rPr>
              <a:t>Recoverability</a:t>
            </a:r>
            <a:r>
              <a:rPr i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FFFFFF"/>
                </a:solidFill>
                <a:latin typeface="Arial"/>
                <a:cs typeface="Arial"/>
              </a:rPr>
              <a:t>walkthrough</a:t>
            </a:r>
            <a:r>
              <a:rPr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FFFF"/>
                </a:solidFill>
              </a:rPr>
              <a:t>(Grupo</a:t>
            </a:r>
            <a:r>
              <a:rPr spc="-100" dirty="0">
                <a:solidFill>
                  <a:srgbClr val="FFFFFF"/>
                </a:solidFill>
              </a:rPr>
              <a:t> </a:t>
            </a:r>
            <a:r>
              <a:rPr b="1" spc="-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pc="-25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00"/>
                </a:solidFill>
              </a:rPr>
              <a:t>Algumas</a:t>
            </a:r>
            <a:r>
              <a:rPr sz="4400" spc="-25" dirty="0">
                <a:solidFill>
                  <a:srgbClr val="FFFF00"/>
                </a:solidFill>
              </a:rPr>
              <a:t> </a:t>
            </a:r>
            <a:r>
              <a:rPr sz="4400" dirty="0">
                <a:solidFill>
                  <a:srgbClr val="FFFF00"/>
                </a:solidFill>
              </a:rPr>
              <a:t>técnicas</a:t>
            </a:r>
            <a:r>
              <a:rPr sz="4400" spc="-25" dirty="0">
                <a:solidFill>
                  <a:srgbClr val="FFFF00"/>
                </a:solidFill>
              </a:rPr>
              <a:t> </a:t>
            </a:r>
            <a:r>
              <a:rPr sz="4400" dirty="0">
                <a:solidFill>
                  <a:srgbClr val="FFFF00"/>
                </a:solidFill>
              </a:rPr>
              <a:t>de</a:t>
            </a:r>
            <a:r>
              <a:rPr sz="4400" spc="-25" dirty="0">
                <a:solidFill>
                  <a:srgbClr val="FFFF00"/>
                </a:solidFill>
              </a:rPr>
              <a:t> </a:t>
            </a:r>
            <a:r>
              <a:rPr sz="4400" spc="-10" dirty="0">
                <a:solidFill>
                  <a:srgbClr val="FFFF00"/>
                </a:solidFill>
              </a:rPr>
              <a:t>inspeção</a:t>
            </a:r>
            <a:endParaRPr sz="4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2736" y="2698191"/>
            <a:ext cx="5414010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 err="1"/>
              <a:t>Avaliação</a:t>
            </a:r>
            <a:r>
              <a:rPr sz="4400" spc="-195" dirty="0"/>
              <a:t> </a:t>
            </a:r>
            <a:r>
              <a:rPr sz="4400" spc="-10" dirty="0" err="1"/>
              <a:t>heurística</a:t>
            </a:r>
            <a:br>
              <a:rPr lang="pt-BR" sz="4400" spc="-10" dirty="0"/>
            </a:br>
            <a:r>
              <a:rPr lang="pt-BR" sz="4400" spc="-10" dirty="0"/>
              <a:t>avaliação através </a:t>
            </a:r>
            <a:r>
              <a:rPr lang="pt-BR" sz="4400" spc="-10"/>
              <a:t>da inspeção</a:t>
            </a:r>
            <a:endParaRPr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587" y="488060"/>
            <a:ext cx="782574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b="0" dirty="0">
                <a:latin typeface="Arial MT"/>
                <a:cs typeface="Arial MT"/>
              </a:rPr>
              <a:t>Proposta</a:t>
            </a:r>
            <a:r>
              <a:rPr sz="3600" b="0" spc="-40" dirty="0">
                <a:latin typeface="Arial MT"/>
                <a:cs typeface="Arial MT"/>
              </a:rPr>
              <a:t> </a:t>
            </a:r>
            <a:r>
              <a:rPr sz="3600" b="0" dirty="0">
                <a:latin typeface="Arial MT"/>
                <a:cs typeface="Arial MT"/>
              </a:rPr>
              <a:t>por</a:t>
            </a:r>
            <a:r>
              <a:rPr sz="3600" b="0" spc="-25" dirty="0">
                <a:latin typeface="Arial MT"/>
                <a:cs typeface="Arial MT"/>
              </a:rPr>
              <a:t> </a:t>
            </a:r>
            <a:r>
              <a:rPr sz="3600" b="0" dirty="0">
                <a:solidFill>
                  <a:srgbClr val="FFFF00"/>
                </a:solidFill>
                <a:latin typeface="Arial MT"/>
                <a:cs typeface="Arial MT"/>
              </a:rPr>
              <a:t>Nielsen</a:t>
            </a:r>
            <a:r>
              <a:rPr sz="3600" b="0" spc="-3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3600" b="0" dirty="0">
                <a:latin typeface="Arial MT"/>
                <a:cs typeface="Arial MT"/>
              </a:rPr>
              <a:t>como</a:t>
            </a:r>
            <a:r>
              <a:rPr sz="3600" b="0" spc="-15" dirty="0">
                <a:latin typeface="Arial MT"/>
                <a:cs typeface="Arial MT"/>
              </a:rPr>
              <a:t> </a:t>
            </a:r>
            <a:r>
              <a:rPr sz="3600" b="0" dirty="0">
                <a:latin typeface="Arial MT"/>
                <a:cs typeface="Arial MT"/>
              </a:rPr>
              <a:t>método</a:t>
            </a:r>
            <a:r>
              <a:rPr sz="3600" b="0" spc="-25" dirty="0">
                <a:latin typeface="Arial MT"/>
                <a:cs typeface="Arial MT"/>
              </a:rPr>
              <a:t> de </a:t>
            </a:r>
            <a:r>
              <a:rPr sz="3600" b="0" dirty="0">
                <a:latin typeface="Arial MT"/>
                <a:cs typeface="Arial MT"/>
              </a:rPr>
              <a:t>avaliação</a:t>
            </a:r>
            <a:r>
              <a:rPr sz="3600" b="0" spc="-70" dirty="0">
                <a:latin typeface="Arial MT"/>
                <a:cs typeface="Arial MT"/>
              </a:rPr>
              <a:t> </a:t>
            </a:r>
            <a:r>
              <a:rPr sz="3600" b="0" dirty="0">
                <a:latin typeface="Arial MT"/>
                <a:cs typeface="Arial MT"/>
              </a:rPr>
              <a:t>“descontado”</a:t>
            </a:r>
            <a:r>
              <a:rPr sz="3600" b="0" spc="-85" dirty="0">
                <a:latin typeface="Arial MT"/>
                <a:cs typeface="Arial MT"/>
              </a:rPr>
              <a:t> </a:t>
            </a:r>
            <a:r>
              <a:rPr sz="3600" b="0" spc="-10" dirty="0">
                <a:latin typeface="Arial MT"/>
                <a:cs typeface="Arial MT"/>
              </a:rPr>
              <a:t>(econômico)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9955" y="1905232"/>
            <a:ext cx="3583940" cy="1812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1905" algn="ctr">
              <a:lnSpc>
                <a:spcPct val="108500"/>
              </a:lnSpc>
              <a:spcBef>
                <a:spcPts val="105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Fácil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ensinar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Rápida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aplicar Produtiva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2738" y="4248708"/>
            <a:ext cx="6818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  <a:hlinkClick r:id="rId2"/>
              </a:rPr>
              <a:t>http://www.nngroup.com/topic/heuristic-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  <a:hlinkClick r:id="rId2"/>
              </a:rPr>
              <a:t>evaluation/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289" y="1994661"/>
            <a:ext cx="1908810" cy="1978660"/>
            <a:chOff x="161289" y="1994661"/>
            <a:chExt cx="1908810" cy="1978660"/>
          </a:xfrm>
        </p:grpSpPr>
        <p:sp>
          <p:nvSpPr>
            <p:cNvPr id="3" name="object 3"/>
            <p:cNvSpPr/>
            <p:nvPr/>
          </p:nvSpPr>
          <p:spPr>
            <a:xfrm>
              <a:off x="167639" y="2001011"/>
              <a:ext cx="1896110" cy="1965960"/>
            </a:xfrm>
            <a:custGeom>
              <a:avLst/>
              <a:gdLst/>
              <a:ahLst/>
              <a:cxnLst/>
              <a:rect l="l" t="t" r="r" b="b"/>
              <a:pathLst>
                <a:path w="1896110" h="1965960">
                  <a:moveTo>
                    <a:pt x="947928" y="0"/>
                  </a:moveTo>
                  <a:lnTo>
                    <a:pt x="900616" y="1202"/>
                  </a:lnTo>
                  <a:lnTo>
                    <a:pt x="853905" y="4774"/>
                  </a:lnTo>
                  <a:lnTo>
                    <a:pt x="807848" y="10657"/>
                  </a:lnTo>
                  <a:lnTo>
                    <a:pt x="762501" y="18795"/>
                  </a:lnTo>
                  <a:lnTo>
                    <a:pt x="717917" y="29133"/>
                  </a:lnTo>
                  <a:lnTo>
                    <a:pt x="674151" y="41615"/>
                  </a:lnTo>
                  <a:lnTo>
                    <a:pt x="631257" y="56183"/>
                  </a:lnTo>
                  <a:lnTo>
                    <a:pt x="589289" y="72781"/>
                  </a:lnTo>
                  <a:lnTo>
                    <a:pt x="548302" y="91354"/>
                  </a:lnTo>
                  <a:lnTo>
                    <a:pt x="508350" y="111844"/>
                  </a:lnTo>
                  <a:lnTo>
                    <a:pt x="469487" y="134196"/>
                  </a:lnTo>
                  <a:lnTo>
                    <a:pt x="431768" y="158354"/>
                  </a:lnTo>
                  <a:lnTo>
                    <a:pt x="395247" y="184260"/>
                  </a:lnTo>
                  <a:lnTo>
                    <a:pt x="359977" y="211859"/>
                  </a:lnTo>
                  <a:lnTo>
                    <a:pt x="326015" y="241094"/>
                  </a:lnTo>
                  <a:lnTo>
                    <a:pt x="293413" y="271910"/>
                  </a:lnTo>
                  <a:lnTo>
                    <a:pt x="262226" y="304249"/>
                  </a:lnTo>
                  <a:lnTo>
                    <a:pt x="232508" y="338056"/>
                  </a:lnTo>
                  <a:lnTo>
                    <a:pt x="204314" y="373274"/>
                  </a:lnTo>
                  <a:lnTo>
                    <a:pt x="177699" y="409847"/>
                  </a:lnTo>
                  <a:lnTo>
                    <a:pt x="152715" y="447719"/>
                  </a:lnTo>
                  <a:lnTo>
                    <a:pt x="129418" y="486833"/>
                  </a:lnTo>
                  <a:lnTo>
                    <a:pt x="107862" y="527133"/>
                  </a:lnTo>
                  <a:lnTo>
                    <a:pt x="88101" y="568563"/>
                  </a:lnTo>
                  <a:lnTo>
                    <a:pt x="70190" y="611066"/>
                  </a:lnTo>
                  <a:lnTo>
                    <a:pt x="54183" y="654586"/>
                  </a:lnTo>
                  <a:lnTo>
                    <a:pt x="40133" y="699067"/>
                  </a:lnTo>
                  <a:lnTo>
                    <a:pt x="28097" y="744453"/>
                  </a:lnTo>
                  <a:lnTo>
                    <a:pt x="18126" y="790687"/>
                  </a:lnTo>
                  <a:lnTo>
                    <a:pt x="10277" y="837713"/>
                  </a:lnTo>
                  <a:lnTo>
                    <a:pt x="4604" y="885474"/>
                  </a:lnTo>
                  <a:lnTo>
                    <a:pt x="1160" y="933915"/>
                  </a:lnTo>
                  <a:lnTo>
                    <a:pt x="0" y="982980"/>
                  </a:lnTo>
                  <a:lnTo>
                    <a:pt x="1160" y="1032044"/>
                  </a:lnTo>
                  <a:lnTo>
                    <a:pt x="4604" y="1080485"/>
                  </a:lnTo>
                  <a:lnTo>
                    <a:pt x="10277" y="1128246"/>
                  </a:lnTo>
                  <a:lnTo>
                    <a:pt x="18126" y="1175272"/>
                  </a:lnTo>
                  <a:lnTo>
                    <a:pt x="28097" y="1221506"/>
                  </a:lnTo>
                  <a:lnTo>
                    <a:pt x="40133" y="1266892"/>
                  </a:lnTo>
                  <a:lnTo>
                    <a:pt x="54183" y="1311373"/>
                  </a:lnTo>
                  <a:lnTo>
                    <a:pt x="70190" y="1354893"/>
                  </a:lnTo>
                  <a:lnTo>
                    <a:pt x="88101" y="1397396"/>
                  </a:lnTo>
                  <a:lnTo>
                    <a:pt x="107862" y="1438826"/>
                  </a:lnTo>
                  <a:lnTo>
                    <a:pt x="129418" y="1479126"/>
                  </a:lnTo>
                  <a:lnTo>
                    <a:pt x="152715" y="1518240"/>
                  </a:lnTo>
                  <a:lnTo>
                    <a:pt x="177699" y="1556112"/>
                  </a:lnTo>
                  <a:lnTo>
                    <a:pt x="204314" y="1592685"/>
                  </a:lnTo>
                  <a:lnTo>
                    <a:pt x="232508" y="1627903"/>
                  </a:lnTo>
                  <a:lnTo>
                    <a:pt x="262226" y="1661710"/>
                  </a:lnTo>
                  <a:lnTo>
                    <a:pt x="293413" y="1694049"/>
                  </a:lnTo>
                  <a:lnTo>
                    <a:pt x="326015" y="1724865"/>
                  </a:lnTo>
                  <a:lnTo>
                    <a:pt x="359977" y="1754100"/>
                  </a:lnTo>
                  <a:lnTo>
                    <a:pt x="395247" y="1781699"/>
                  </a:lnTo>
                  <a:lnTo>
                    <a:pt x="431768" y="1807605"/>
                  </a:lnTo>
                  <a:lnTo>
                    <a:pt x="469487" y="1831763"/>
                  </a:lnTo>
                  <a:lnTo>
                    <a:pt x="508350" y="1854115"/>
                  </a:lnTo>
                  <a:lnTo>
                    <a:pt x="548302" y="1874605"/>
                  </a:lnTo>
                  <a:lnTo>
                    <a:pt x="589289" y="1893178"/>
                  </a:lnTo>
                  <a:lnTo>
                    <a:pt x="631257" y="1909776"/>
                  </a:lnTo>
                  <a:lnTo>
                    <a:pt x="674151" y="1924344"/>
                  </a:lnTo>
                  <a:lnTo>
                    <a:pt x="717917" y="1936826"/>
                  </a:lnTo>
                  <a:lnTo>
                    <a:pt x="762501" y="1947164"/>
                  </a:lnTo>
                  <a:lnTo>
                    <a:pt x="807848" y="1955302"/>
                  </a:lnTo>
                  <a:lnTo>
                    <a:pt x="853905" y="1961185"/>
                  </a:lnTo>
                  <a:lnTo>
                    <a:pt x="900616" y="1964757"/>
                  </a:lnTo>
                  <a:lnTo>
                    <a:pt x="947928" y="1965960"/>
                  </a:lnTo>
                  <a:lnTo>
                    <a:pt x="995236" y="1964757"/>
                  </a:lnTo>
                  <a:lnTo>
                    <a:pt x="1041944" y="1961185"/>
                  </a:lnTo>
                  <a:lnTo>
                    <a:pt x="1087998" y="1955302"/>
                  </a:lnTo>
                  <a:lnTo>
                    <a:pt x="1133343" y="1947164"/>
                  </a:lnTo>
                  <a:lnTo>
                    <a:pt x="1177925" y="1936826"/>
                  </a:lnTo>
                  <a:lnTo>
                    <a:pt x="1221690" y="1924344"/>
                  </a:lnTo>
                  <a:lnTo>
                    <a:pt x="1264583" y="1909776"/>
                  </a:lnTo>
                  <a:lnTo>
                    <a:pt x="1306550" y="1893178"/>
                  </a:lnTo>
                  <a:lnTo>
                    <a:pt x="1347536" y="1874605"/>
                  </a:lnTo>
                  <a:lnTo>
                    <a:pt x="1387488" y="1854115"/>
                  </a:lnTo>
                  <a:lnTo>
                    <a:pt x="1426351" y="1831763"/>
                  </a:lnTo>
                  <a:lnTo>
                    <a:pt x="1464070" y="1807605"/>
                  </a:lnTo>
                  <a:lnTo>
                    <a:pt x="1500592" y="1781699"/>
                  </a:lnTo>
                  <a:lnTo>
                    <a:pt x="1535861" y="1754100"/>
                  </a:lnTo>
                  <a:lnTo>
                    <a:pt x="1569825" y="1724865"/>
                  </a:lnTo>
                  <a:lnTo>
                    <a:pt x="1602428" y="1694049"/>
                  </a:lnTo>
                  <a:lnTo>
                    <a:pt x="1633615" y="1661710"/>
                  </a:lnTo>
                  <a:lnTo>
                    <a:pt x="1663334" y="1627903"/>
                  </a:lnTo>
                  <a:lnTo>
                    <a:pt x="1691529" y="1592685"/>
                  </a:lnTo>
                  <a:lnTo>
                    <a:pt x="1718146" y="1556112"/>
                  </a:lnTo>
                  <a:lnTo>
                    <a:pt x="1743130" y="1518240"/>
                  </a:lnTo>
                  <a:lnTo>
                    <a:pt x="1766428" y="1479126"/>
                  </a:lnTo>
                  <a:lnTo>
                    <a:pt x="1787986" y="1438826"/>
                  </a:lnTo>
                  <a:lnTo>
                    <a:pt x="1807747" y="1397396"/>
                  </a:lnTo>
                  <a:lnTo>
                    <a:pt x="1825660" y="1354893"/>
                  </a:lnTo>
                  <a:lnTo>
                    <a:pt x="1841668" y="1311373"/>
                  </a:lnTo>
                  <a:lnTo>
                    <a:pt x="1855719" y="1266892"/>
                  </a:lnTo>
                  <a:lnTo>
                    <a:pt x="1867756" y="1221506"/>
                  </a:lnTo>
                  <a:lnTo>
                    <a:pt x="1877727" y="1175272"/>
                  </a:lnTo>
                  <a:lnTo>
                    <a:pt x="1885577" y="1128246"/>
                  </a:lnTo>
                  <a:lnTo>
                    <a:pt x="1891251" y="1080485"/>
                  </a:lnTo>
                  <a:lnTo>
                    <a:pt x="1894695" y="1032044"/>
                  </a:lnTo>
                  <a:lnTo>
                    <a:pt x="1895856" y="982980"/>
                  </a:lnTo>
                  <a:lnTo>
                    <a:pt x="1894695" y="933915"/>
                  </a:lnTo>
                  <a:lnTo>
                    <a:pt x="1891251" y="885474"/>
                  </a:lnTo>
                  <a:lnTo>
                    <a:pt x="1885577" y="837713"/>
                  </a:lnTo>
                  <a:lnTo>
                    <a:pt x="1877727" y="790687"/>
                  </a:lnTo>
                  <a:lnTo>
                    <a:pt x="1867756" y="744453"/>
                  </a:lnTo>
                  <a:lnTo>
                    <a:pt x="1855719" y="699067"/>
                  </a:lnTo>
                  <a:lnTo>
                    <a:pt x="1841668" y="654586"/>
                  </a:lnTo>
                  <a:lnTo>
                    <a:pt x="1825660" y="611066"/>
                  </a:lnTo>
                  <a:lnTo>
                    <a:pt x="1807747" y="568563"/>
                  </a:lnTo>
                  <a:lnTo>
                    <a:pt x="1787986" y="527133"/>
                  </a:lnTo>
                  <a:lnTo>
                    <a:pt x="1766428" y="486833"/>
                  </a:lnTo>
                  <a:lnTo>
                    <a:pt x="1743130" y="447719"/>
                  </a:lnTo>
                  <a:lnTo>
                    <a:pt x="1718146" y="409847"/>
                  </a:lnTo>
                  <a:lnTo>
                    <a:pt x="1691529" y="373274"/>
                  </a:lnTo>
                  <a:lnTo>
                    <a:pt x="1663334" y="338056"/>
                  </a:lnTo>
                  <a:lnTo>
                    <a:pt x="1633615" y="304249"/>
                  </a:lnTo>
                  <a:lnTo>
                    <a:pt x="1602428" y="271910"/>
                  </a:lnTo>
                  <a:lnTo>
                    <a:pt x="1569825" y="241094"/>
                  </a:lnTo>
                  <a:lnTo>
                    <a:pt x="1535861" y="211859"/>
                  </a:lnTo>
                  <a:lnTo>
                    <a:pt x="1500592" y="184260"/>
                  </a:lnTo>
                  <a:lnTo>
                    <a:pt x="1464070" y="158354"/>
                  </a:lnTo>
                  <a:lnTo>
                    <a:pt x="1426351" y="134196"/>
                  </a:lnTo>
                  <a:lnTo>
                    <a:pt x="1387488" y="111844"/>
                  </a:lnTo>
                  <a:lnTo>
                    <a:pt x="1347536" y="91354"/>
                  </a:lnTo>
                  <a:lnTo>
                    <a:pt x="1306550" y="72781"/>
                  </a:lnTo>
                  <a:lnTo>
                    <a:pt x="1264583" y="56183"/>
                  </a:lnTo>
                  <a:lnTo>
                    <a:pt x="1221690" y="41615"/>
                  </a:lnTo>
                  <a:lnTo>
                    <a:pt x="1177925" y="29133"/>
                  </a:lnTo>
                  <a:lnTo>
                    <a:pt x="1133343" y="18795"/>
                  </a:lnTo>
                  <a:lnTo>
                    <a:pt x="1087998" y="10657"/>
                  </a:lnTo>
                  <a:lnTo>
                    <a:pt x="1041944" y="4774"/>
                  </a:lnTo>
                  <a:lnTo>
                    <a:pt x="995236" y="1202"/>
                  </a:lnTo>
                  <a:lnTo>
                    <a:pt x="94792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7639" y="2001011"/>
              <a:ext cx="1896110" cy="1965960"/>
            </a:xfrm>
            <a:custGeom>
              <a:avLst/>
              <a:gdLst/>
              <a:ahLst/>
              <a:cxnLst/>
              <a:rect l="l" t="t" r="r" b="b"/>
              <a:pathLst>
                <a:path w="1896110" h="1965960">
                  <a:moveTo>
                    <a:pt x="0" y="982980"/>
                  </a:moveTo>
                  <a:lnTo>
                    <a:pt x="1160" y="933915"/>
                  </a:lnTo>
                  <a:lnTo>
                    <a:pt x="4604" y="885474"/>
                  </a:lnTo>
                  <a:lnTo>
                    <a:pt x="10277" y="837713"/>
                  </a:lnTo>
                  <a:lnTo>
                    <a:pt x="18126" y="790687"/>
                  </a:lnTo>
                  <a:lnTo>
                    <a:pt x="28097" y="744453"/>
                  </a:lnTo>
                  <a:lnTo>
                    <a:pt x="40133" y="699067"/>
                  </a:lnTo>
                  <a:lnTo>
                    <a:pt x="54183" y="654586"/>
                  </a:lnTo>
                  <a:lnTo>
                    <a:pt x="70190" y="611066"/>
                  </a:lnTo>
                  <a:lnTo>
                    <a:pt x="88101" y="568563"/>
                  </a:lnTo>
                  <a:lnTo>
                    <a:pt x="107862" y="527133"/>
                  </a:lnTo>
                  <a:lnTo>
                    <a:pt x="129418" y="486833"/>
                  </a:lnTo>
                  <a:lnTo>
                    <a:pt x="152715" y="447719"/>
                  </a:lnTo>
                  <a:lnTo>
                    <a:pt x="177699" y="409847"/>
                  </a:lnTo>
                  <a:lnTo>
                    <a:pt x="204314" y="373274"/>
                  </a:lnTo>
                  <a:lnTo>
                    <a:pt x="232508" y="338056"/>
                  </a:lnTo>
                  <a:lnTo>
                    <a:pt x="262226" y="304249"/>
                  </a:lnTo>
                  <a:lnTo>
                    <a:pt x="293413" y="271910"/>
                  </a:lnTo>
                  <a:lnTo>
                    <a:pt x="326015" y="241094"/>
                  </a:lnTo>
                  <a:lnTo>
                    <a:pt x="359977" y="211859"/>
                  </a:lnTo>
                  <a:lnTo>
                    <a:pt x="395247" y="184260"/>
                  </a:lnTo>
                  <a:lnTo>
                    <a:pt x="431768" y="158354"/>
                  </a:lnTo>
                  <a:lnTo>
                    <a:pt x="469487" y="134196"/>
                  </a:lnTo>
                  <a:lnTo>
                    <a:pt x="508350" y="111844"/>
                  </a:lnTo>
                  <a:lnTo>
                    <a:pt x="548302" y="91354"/>
                  </a:lnTo>
                  <a:lnTo>
                    <a:pt x="589289" y="72781"/>
                  </a:lnTo>
                  <a:lnTo>
                    <a:pt x="631257" y="56183"/>
                  </a:lnTo>
                  <a:lnTo>
                    <a:pt x="674151" y="41615"/>
                  </a:lnTo>
                  <a:lnTo>
                    <a:pt x="717917" y="29133"/>
                  </a:lnTo>
                  <a:lnTo>
                    <a:pt x="762501" y="18795"/>
                  </a:lnTo>
                  <a:lnTo>
                    <a:pt x="807848" y="10657"/>
                  </a:lnTo>
                  <a:lnTo>
                    <a:pt x="853905" y="4774"/>
                  </a:lnTo>
                  <a:lnTo>
                    <a:pt x="900616" y="1202"/>
                  </a:lnTo>
                  <a:lnTo>
                    <a:pt x="947928" y="0"/>
                  </a:lnTo>
                  <a:lnTo>
                    <a:pt x="995236" y="1202"/>
                  </a:lnTo>
                  <a:lnTo>
                    <a:pt x="1041944" y="4774"/>
                  </a:lnTo>
                  <a:lnTo>
                    <a:pt x="1087998" y="10657"/>
                  </a:lnTo>
                  <a:lnTo>
                    <a:pt x="1133343" y="18795"/>
                  </a:lnTo>
                  <a:lnTo>
                    <a:pt x="1177925" y="29133"/>
                  </a:lnTo>
                  <a:lnTo>
                    <a:pt x="1221690" y="41615"/>
                  </a:lnTo>
                  <a:lnTo>
                    <a:pt x="1264583" y="56183"/>
                  </a:lnTo>
                  <a:lnTo>
                    <a:pt x="1306550" y="72781"/>
                  </a:lnTo>
                  <a:lnTo>
                    <a:pt x="1347536" y="91354"/>
                  </a:lnTo>
                  <a:lnTo>
                    <a:pt x="1387488" y="111844"/>
                  </a:lnTo>
                  <a:lnTo>
                    <a:pt x="1426351" y="134196"/>
                  </a:lnTo>
                  <a:lnTo>
                    <a:pt x="1464070" y="158354"/>
                  </a:lnTo>
                  <a:lnTo>
                    <a:pt x="1500592" y="184260"/>
                  </a:lnTo>
                  <a:lnTo>
                    <a:pt x="1535861" y="211859"/>
                  </a:lnTo>
                  <a:lnTo>
                    <a:pt x="1569825" y="241094"/>
                  </a:lnTo>
                  <a:lnTo>
                    <a:pt x="1602428" y="271910"/>
                  </a:lnTo>
                  <a:lnTo>
                    <a:pt x="1633615" y="304249"/>
                  </a:lnTo>
                  <a:lnTo>
                    <a:pt x="1663334" y="338056"/>
                  </a:lnTo>
                  <a:lnTo>
                    <a:pt x="1691529" y="373274"/>
                  </a:lnTo>
                  <a:lnTo>
                    <a:pt x="1718146" y="409847"/>
                  </a:lnTo>
                  <a:lnTo>
                    <a:pt x="1743130" y="447719"/>
                  </a:lnTo>
                  <a:lnTo>
                    <a:pt x="1766428" y="486833"/>
                  </a:lnTo>
                  <a:lnTo>
                    <a:pt x="1787986" y="527133"/>
                  </a:lnTo>
                  <a:lnTo>
                    <a:pt x="1807747" y="568563"/>
                  </a:lnTo>
                  <a:lnTo>
                    <a:pt x="1825660" y="611066"/>
                  </a:lnTo>
                  <a:lnTo>
                    <a:pt x="1841668" y="654586"/>
                  </a:lnTo>
                  <a:lnTo>
                    <a:pt x="1855719" y="699067"/>
                  </a:lnTo>
                  <a:lnTo>
                    <a:pt x="1867756" y="744453"/>
                  </a:lnTo>
                  <a:lnTo>
                    <a:pt x="1877727" y="790687"/>
                  </a:lnTo>
                  <a:lnTo>
                    <a:pt x="1885577" y="837713"/>
                  </a:lnTo>
                  <a:lnTo>
                    <a:pt x="1891251" y="885474"/>
                  </a:lnTo>
                  <a:lnTo>
                    <a:pt x="1894695" y="933915"/>
                  </a:lnTo>
                  <a:lnTo>
                    <a:pt x="1895856" y="982980"/>
                  </a:lnTo>
                  <a:lnTo>
                    <a:pt x="1894695" y="1032044"/>
                  </a:lnTo>
                  <a:lnTo>
                    <a:pt x="1891251" y="1080485"/>
                  </a:lnTo>
                  <a:lnTo>
                    <a:pt x="1885577" y="1128246"/>
                  </a:lnTo>
                  <a:lnTo>
                    <a:pt x="1877727" y="1175272"/>
                  </a:lnTo>
                  <a:lnTo>
                    <a:pt x="1867756" y="1221506"/>
                  </a:lnTo>
                  <a:lnTo>
                    <a:pt x="1855719" y="1266892"/>
                  </a:lnTo>
                  <a:lnTo>
                    <a:pt x="1841668" y="1311373"/>
                  </a:lnTo>
                  <a:lnTo>
                    <a:pt x="1825660" y="1354893"/>
                  </a:lnTo>
                  <a:lnTo>
                    <a:pt x="1807747" y="1397396"/>
                  </a:lnTo>
                  <a:lnTo>
                    <a:pt x="1787986" y="1438826"/>
                  </a:lnTo>
                  <a:lnTo>
                    <a:pt x="1766428" y="1479126"/>
                  </a:lnTo>
                  <a:lnTo>
                    <a:pt x="1743130" y="1518240"/>
                  </a:lnTo>
                  <a:lnTo>
                    <a:pt x="1718146" y="1556112"/>
                  </a:lnTo>
                  <a:lnTo>
                    <a:pt x="1691529" y="1592685"/>
                  </a:lnTo>
                  <a:lnTo>
                    <a:pt x="1663334" y="1627903"/>
                  </a:lnTo>
                  <a:lnTo>
                    <a:pt x="1633615" y="1661710"/>
                  </a:lnTo>
                  <a:lnTo>
                    <a:pt x="1602428" y="1694049"/>
                  </a:lnTo>
                  <a:lnTo>
                    <a:pt x="1569825" y="1724865"/>
                  </a:lnTo>
                  <a:lnTo>
                    <a:pt x="1535861" y="1754100"/>
                  </a:lnTo>
                  <a:lnTo>
                    <a:pt x="1500592" y="1781699"/>
                  </a:lnTo>
                  <a:lnTo>
                    <a:pt x="1464070" y="1807605"/>
                  </a:lnTo>
                  <a:lnTo>
                    <a:pt x="1426351" y="1831763"/>
                  </a:lnTo>
                  <a:lnTo>
                    <a:pt x="1387488" y="1854115"/>
                  </a:lnTo>
                  <a:lnTo>
                    <a:pt x="1347536" y="1874605"/>
                  </a:lnTo>
                  <a:lnTo>
                    <a:pt x="1306550" y="1893178"/>
                  </a:lnTo>
                  <a:lnTo>
                    <a:pt x="1264583" y="1909776"/>
                  </a:lnTo>
                  <a:lnTo>
                    <a:pt x="1221690" y="1924344"/>
                  </a:lnTo>
                  <a:lnTo>
                    <a:pt x="1177925" y="1936826"/>
                  </a:lnTo>
                  <a:lnTo>
                    <a:pt x="1133343" y="1947164"/>
                  </a:lnTo>
                  <a:lnTo>
                    <a:pt x="1087998" y="1955302"/>
                  </a:lnTo>
                  <a:lnTo>
                    <a:pt x="1041944" y="1961185"/>
                  </a:lnTo>
                  <a:lnTo>
                    <a:pt x="995236" y="1964757"/>
                  </a:lnTo>
                  <a:lnTo>
                    <a:pt x="947928" y="1965960"/>
                  </a:lnTo>
                  <a:lnTo>
                    <a:pt x="900616" y="1964757"/>
                  </a:lnTo>
                  <a:lnTo>
                    <a:pt x="853905" y="1961185"/>
                  </a:lnTo>
                  <a:lnTo>
                    <a:pt x="807848" y="1955302"/>
                  </a:lnTo>
                  <a:lnTo>
                    <a:pt x="762501" y="1947164"/>
                  </a:lnTo>
                  <a:lnTo>
                    <a:pt x="717917" y="1936826"/>
                  </a:lnTo>
                  <a:lnTo>
                    <a:pt x="674151" y="1924344"/>
                  </a:lnTo>
                  <a:lnTo>
                    <a:pt x="631257" y="1909776"/>
                  </a:lnTo>
                  <a:lnTo>
                    <a:pt x="589289" y="1893178"/>
                  </a:lnTo>
                  <a:lnTo>
                    <a:pt x="548302" y="1874605"/>
                  </a:lnTo>
                  <a:lnTo>
                    <a:pt x="508350" y="1854115"/>
                  </a:lnTo>
                  <a:lnTo>
                    <a:pt x="469487" y="1831763"/>
                  </a:lnTo>
                  <a:lnTo>
                    <a:pt x="431768" y="1807605"/>
                  </a:lnTo>
                  <a:lnTo>
                    <a:pt x="395247" y="1781699"/>
                  </a:lnTo>
                  <a:lnTo>
                    <a:pt x="359977" y="1754100"/>
                  </a:lnTo>
                  <a:lnTo>
                    <a:pt x="326015" y="1724865"/>
                  </a:lnTo>
                  <a:lnTo>
                    <a:pt x="293413" y="1694049"/>
                  </a:lnTo>
                  <a:lnTo>
                    <a:pt x="262226" y="1661710"/>
                  </a:lnTo>
                  <a:lnTo>
                    <a:pt x="232508" y="1627903"/>
                  </a:lnTo>
                  <a:lnTo>
                    <a:pt x="204314" y="1592685"/>
                  </a:lnTo>
                  <a:lnTo>
                    <a:pt x="177699" y="1556112"/>
                  </a:lnTo>
                  <a:lnTo>
                    <a:pt x="152715" y="1518240"/>
                  </a:lnTo>
                  <a:lnTo>
                    <a:pt x="129418" y="1479126"/>
                  </a:lnTo>
                  <a:lnTo>
                    <a:pt x="107862" y="1438826"/>
                  </a:lnTo>
                  <a:lnTo>
                    <a:pt x="88101" y="1397396"/>
                  </a:lnTo>
                  <a:lnTo>
                    <a:pt x="70190" y="1354893"/>
                  </a:lnTo>
                  <a:lnTo>
                    <a:pt x="54183" y="1311373"/>
                  </a:lnTo>
                  <a:lnTo>
                    <a:pt x="40133" y="1266892"/>
                  </a:lnTo>
                  <a:lnTo>
                    <a:pt x="28097" y="1221506"/>
                  </a:lnTo>
                  <a:lnTo>
                    <a:pt x="18126" y="1175272"/>
                  </a:lnTo>
                  <a:lnTo>
                    <a:pt x="10277" y="1128246"/>
                  </a:lnTo>
                  <a:lnTo>
                    <a:pt x="4604" y="1080485"/>
                  </a:lnTo>
                  <a:lnTo>
                    <a:pt x="1160" y="1032044"/>
                  </a:lnTo>
                  <a:lnTo>
                    <a:pt x="0" y="98298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43559" y="2779217"/>
            <a:ext cx="114554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Calibri"/>
                <a:cs typeface="Calibri"/>
              </a:rPr>
              <a:t>Instruções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66005" y="1994661"/>
            <a:ext cx="2643505" cy="1978660"/>
            <a:chOff x="4366005" y="1994661"/>
            <a:chExt cx="2643505" cy="1978660"/>
          </a:xfrm>
        </p:grpSpPr>
        <p:sp>
          <p:nvSpPr>
            <p:cNvPr id="7" name="object 7"/>
            <p:cNvSpPr/>
            <p:nvPr/>
          </p:nvSpPr>
          <p:spPr>
            <a:xfrm>
              <a:off x="4577968" y="2488056"/>
              <a:ext cx="472440" cy="434975"/>
            </a:xfrm>
            <a:custGeom>
              <a:avLst/>
              <a:gdLst/>
              <a:ahLst/>
              <a:cxnLst/>
              <a:rect l="l" t="t" r="r" b="b"/>
              <a:pathLst>
                <a:path w="472439" h="434975">
                  <a:moveTo>
                    <a:pt x="472313" y="43484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CA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72355" y="2496311"/>
              <a:ext cx="222885" cy="0"/>
            </a:xfrm>
            <a:custGeom>
              <a:avLst/>
              <a:gdLst/>
              <a:ahLst/>
              <a:cxnLst/>
              <a:rect l="l" t="t" r="r" b="b"/>
              <a:pathLst>
                <a:path w="222885">
                  <a:moveTo>
                    <a:pt x="0" y="0"/>
                  </a:moveTo>
                  <a:lnTo>
                    <a:pt x="222504" y="0"/>
                  </a:lnTo>
                </a:path>
              </a:pathLst>
            </a:custGeom>
            <a:ln w="12700">
              <a:solidFill>
                <a:srgbClr val="CA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7968" y="3045713"/>
              <a:ext cx="472440" cy="434975"/>
            </a:xfrm>
            <a:custGeom>
              <a:avLst/>
              <a:gdLst/>
              <a:ahLst/>
              <a:cxnLst/>
              <a:rect l="l" t="t" r="r" b="b"/>
              <a:pathLst>
                <a:path w="472439" h="434975">
                  <a:moveTo>
                    <a:pt x="472313" y="0"/>
                  </a:moveTo>
                  <a:lnTo>
                    <a:pt x="0" y="434975"/>
                  </a:lnTo>
                </a:path>
              </a:pathLst>
            </a:custGeom>
            <a:ln w="12700">
              <a:solidFill>
                <a:srgbClr val="CA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72355" y="3473195"/>
              <a:ext cx="222885" cy="0"/>
            </a:xfrm>
            <a:custGeom>
              <a:avLst/>
              <a:gdLst/>
              <a:ahLst/>
              <a:cxnLst/>
              <a:rect l="l" t="t" r="r" b="b"/>
              <a:pathLst>
                <a:path w="222885">
                  <a:moveTo>
                    <a:pt x="0" y="0"/>
                  </a:moveTo>
                  <a:lnTo>
                    <a:pt x="222504" y="0"/>
                  </a:lnTo>
                </a:path>
              </a:pathLst>
            </a:custGeom>
            <a:ln w="12700">
              <a:solidFill>
                <a:srgbClr val="CA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06923" y="2001011"/>
              <a:ext cx="1896110" cy="1965960"/>
            </a:xfrm>
            <a:custGeom>
              <a:avLst/>
              <a:gdLst/>
              <a:ahLst/>
              <a:cxnLst/>
              <a:rect l="l" t="t" r="r" b="b"/>
              <a:pathLst>
                <a:path w="1896109" h="1965960">
                  <a:moveTo>
                    <a:pt x="947927" y="0"/>
                  </a:moveTo>
                  <a:lnTo>
                    <a:pt x="900619" y="1202"/>
                  </a:lnTo>
                  <a:lnTo>
                    <a:pt x="853911" y="4774"/>
                  </a:lnTo>
                  <a:lnTo>
                    <a:pt x="807857" y="10657"/>
                  </a:lnTo>
                  <a:lnTo>
                    <a:pt x="762512" y="18795"/>
                  </a:lnTo>
                  <a:lnTo>
                    <a:pt x="717930" y="29133"/>
                  </a:lnTo>
                  <a:lnTo>
                    <a:pt x="674165" y="41615"/>
                  </a:lnTo>
                  <a:lnTo>
                    <a:pt x="631272" y="56183"/>
                  </a:lnTo>
                  <a:lnTo>
                    <a:pt x="589305" y="72781"/>
                  </a:lnTo>
                  <a:lnTo>
                    <a:pt x="548319" y="91354"/>
                  </a:lnTo>
                  <a:lnTo>
                    <a:pt x="508367" y="111844"/>
                  </a:lnTo>
                  <a:lnTo>
                    <a:pt x="469504" y="134196"/>
                  </a:lnTo>
                  <a:lnTo>
                    <a:pt x="431785" y="158354"/>
                  </a:lnTo>
                  <a:lnTo>
                    <a:pt x="395263" y="184260"/>
                  </a:lnTo>
                  <a:lnTo>
                    <a:pt x="359994" y="211859"/>
                  </a:lnTo>
                  <a:lnTo>
                    <a:pt x="326030" y="241094"/>
                  </a:lnTo>
                  <a:lnTo>
                    <a:pt x="293427" y="271910"/>
                  </a:lnTo>
                  <a:lnTo>
                    <a:pt x="262240" y="304249"/>
                  </a:lnTo>
                  <a:lnTo>
                    <a:pt x="232521" y="338056"/>
                  </a:lnTo>
                  <a:lnTo>
                    <a:pt x="204326" y="373274"/>
                  </a:lnTo>
                  <a:lnTo>
                    <a:pt x="177709" y="409847"/>
                  </a:lnTo>
                  <a:lnTo>
                    <a:pt x="152725" y="447719"/>
                  </a:lnTo>
                  <a:lnTo>
                    <a:pt x="129427" y="486833"/>
                  </a:lnTo>
                  <a:lnTo>
                    <a:pt x="107869" y="527133"/>
                  </a:lnTo>
                  <a:lnTo>
                    <a:pt x="88108" y="568563"/>
                  </a:lnTo>
                  <a:lnTo>
                    <a:pt x="70195" y="611066"/>
                  </a:lnTo>
                  <a:lnTo>
                    <a:pt x="54187" y="654586"/>
                  </a:lnTo>
                  <a:lnTo>
                    <a:pt x="40136" y="699067"/>
                  </a:lnTo>
                  <a:lnTo>
                    <a:pt x="28099" y="744453"/>
                  </a:lnTo>
                  <a:lnTo>
                    <a:pt x="18128" y="790687"/>
                  </a:lnTo>
                  <a:lnTo>
                    <a:pt x="10278" y="837713"/>
                  </a:lnTo>
                  <a:lnTo>
                    <a:pt x="4604" y="885474"/>
                  </a:lnTo>
                  <a:lnTo>
                    <a:pt x="1160" y="933915"/>
                  </a:lnTo>
                  <a:lnTo>
                    <a:pt x="0" y="982980"/>
                  </a:lnTo>
                  <a:lnTo>
                    <a:pt x="1160" y="1032044"/>
                  </a:lnTo>
                  <a:lnTo>
                    <a:pt x="4604" y="1080485"/>
                  </a:lnTo>
                  <a:lnTo>
                    <a:pt x="10278" y="1128246"/>
                  </a:lnTo>
                  <a:lnTo>
                    <a:pt x="18128" y="1175272"/>
                  </a:lnTo>
                  <a:lnTo>
                    <a:pt x="28099" y="1221506"/>
                  </a:lnTo>
                  <a:lnTo>
                    <a:pt x="40136" y="1266892"/>
                  </a:lnTo>
                  <a:lnTo>
                    <a:pt x="54187" y="1311373"/>
                  </a:lnTo>
                  <a:lnTo>
                    <a:pt x="70195" y="1354893"/>
                  </a:lnTo>
                  <a:lnTo>
                    <a:pt x="88108" y="1397396"/>
                  </a:lnTo>
                  <a:lnTo>
                    <a:pt x="107869" y="1438826"/>
                  </a:lnTo>
                  <a:lnTo>
                    <a:pt x="129427" y="1479126"/>
                  </a:lnTo>
                  <a:lnTo>
                    <a:pt x="152725" y="1518240"/>
                  </a:lnTo>
                  <a:lnTo>
                    <a:pt x="177709" y="1556112"/>
                  </a:lnTo>
                  <a:lnTo>
                    <a:pt x="204326" y="1592685"/>
                  </a:lnTo>
                  <a:lnTo>
                    <a:pt x="232521" y="1627903"/>
                  </a:lnTo>
                  <a:lnTo>
                    <a:pt x="262240" y="1661710"/>
                  </a:lnTo>
                  <a:lnTo>
                    <a:pt x="293427" y="1694049"/>
                  </a:lnTo>
                  <a:lnTo>
                    <a:pt x="326030" y="1724865"/>
                  </a:lnTo>
                  <a:lnTo>
                    <a:pt x="359994" y="1754100"/>
                  </a:lnTo>
                  <a:lnTo>
                    <a:pt x="395263" y="1781699"/>
                  </a:lnTo>
                  <a:lnTo>
                    <a:pt x="431785" y="1807605"/>
                  </a:lnTo>
                  <a:lnTo>
                    <a:pt x="469504" y="1831763"/>
                  </a:lnTo>
                  <a:lnTo>
                    <a:pt x="508367" y="1854115"/>
                  </a:lnTo>
                  <a:lnTo>
                    <a:pt x="548319" y="1874605"/>
                  </a:lnTo>
                  <a:lnTo>
                    <a:pt x="589305" y="1893178"/>
                  </a:lnTo>
                  <a:lnTo>
                    <a:pt x="631272" y="1909776"/>
                  </a:lnTo>
                  <a:lnTo>
                    <a:pt x="674165" y="1924344"/>
                  </a:lnTo>
                  <a:lnTo>
                    <a:pt x="717930" y="1936826"/>
                  </a:lnTo>
                  <a:lnTo>
                    <a:pt x="762512" y="1947164"/>
                  </a:lnTo>
                  <a:lnTo>
                    <a:pt x="807857" y="1955302"/>
                  </a:lnTo>
                  <a:lnTo>
                    <a:pt x="853911" y="1961185"/>
                  </a:lnTo>
                  <a:lnTo>
                    <a:pt x="900619" y="1964757"/>
                  </a:lnTo>
                  <a:lnTo>
                    <a:pt x="947927" y="1965960"/>
                  </a:lnTo>
                  <a:lnTo>
                    <a:pt x="995236" y="1964757"/>
                  </a:lnTo>
                  <a:lnTo>
                    <a:pt x="1041944" y="1961185"/>
                  </a:lnTo>
                  <a:lnTo>
                    <a:pt x="1087998" y="1955302"/>
                  </a:lnTo>
                  <a:lnTo>
                    <a:pt x="1133343" y="1947164"/>
                  </a:lnTo>
                  <a:lnTo>
                    <a:pt x="1177925" y="1936826"/>
                  </a:lnTo>
                  <a:lnTo>
                    <a:pt x="1221690" y="1924344"/>
                  </a:lnTo>
                  <a:lnTo>
                    <a:pt x="1264583" y="1909776"/>
                  </a:lnTo>
                  <a:lnTo>
                    <a:pt x="1306550" y="1893178"/>
                  </a:lnTo>
                  <a:lnTo>
                    <a:pt x="1347536" y="1874605"/>
                  </a:lnTo>
                  <a:lnTo>
                    <a:pt x="1387488" y="1854115"/>
                  </a:lnTo>
                  <a:lnTo>
                    <a:pt x="1426351" y="1831763"/>
                  </a:lnTo>
                  <a:lnTo>
                    <a:pt x="1464070" y="1807605"/>
                  </a:lnTo>
                  <a:lnTo>
                    <a:pt x="1500592" y="1781699"/>
                  </a:lnTo>
                  <a:lnTo>
                    <a:pt x="1535861" y="1754100"/>
                  </a:lnTo>
                  <a:lnTo>
                    <a:pt x="1569825" y="1724865"/>
                  </a:lnTo>
                  <a:lnTo>
                    <a:pt x="1602428" y="1694049"/>
                  </a:lnTo>
                  <a:lnTo>
                    <a:pt x="1633615" y="1661710"/>
                  </a:lnTo>
                  <a:lnTo>
                    <a:pt x="1663334" y="1627903"/>
                  </a:lnTo>
                  <a:lnTo>
                    <a:pt x="1691529" y="1592685"/>
                  </a:lnTo>
                  <a:lnTo>
                    <a:pt x="1718146" y="1556112"/>
                  </a:lnTo>
                  <a:lnTo>
                    <a:pt x="1743130" y="1518240"/>
                  </a:lnTo>
                  <a:lnTo>
                    <a:pt x="1766428" y="1479126"/>
                  </a:lnTo>
                  <a:lnTo>
                    <a:pt x="1787986" y="1438826"/>
                  </a:lnTo>
                  <a:lnTo>
                    <a:pt x="1807747" y="1397396"/>
                  </a:lnTo>
                  <a:lnTo>
                    <a:pt x="1825660" y="1354893"/>
                  </a:lnTo>
                  <a:lnTo>
                    <a:pt x="1841668" y="1311373"/>
                  </a:lnTo>
                  <a:lnTo>
                    <a:pt x="1855719" y="1266892"/>
                  </a:lnTo>
                  <a:lnTo>
                    <a:pt x="1867756" y="1221506"/>
                  </a:lnTo>
                  <a:lnTo>
                    <a:pt x="1877727" y="1175272"/>
                  </a:lnTo>
                  <a:lnTo>
                    <a:pt x="1885577" y="1128246"/>
                  </a:lnTo>
                  <a:lnTo>
                    <a:pt x="1891251" y="1080485"/>
                  </a:lnTo>
                  <a:lnTo>
                    <a:pt x="1894695" y="1032044"/>
                  </a:lnTo>
                  <a:lnTo>
                    <a:pt x="1895855" y="982980"/>
                  </a:lnTo>
                  <a:lnTo>
                    <a:pt x="1894695" y="933915"/>
                  </a:lnTo>
                  <a:lnTo>
                    <a:pt x="1891251" y="885474"/>
                  </a:lnTo>
                  <a:lnTo>
                    <a:pt x="1885577" y="837713"/>
                  </a:lnTo>
                  <a:lnTo>
                    <a:pt x="1877727" y="790687"/>
                  </a:lnTo>
                  <a:lnTo>
                    <a:pt x="1867756" y="744453"/>
                  </a:lnTo>
                  <a:lnTo>
                    <a:pt x="1855719" y="699067"/>
                  </a:lnTo>
                  <a:lnTo>
                    <a:pt x="1841668" y="654586"/>
                  </a:lnTo>
                  <a:lnTo>
                    <a:pt x="1825660" y="611066"/>
                  </a:lnTo>
                  <a:lnTo>
                    <a:pt x="1807747" y="568563"/>
                  </a:lnTo>
                  <a:lnTo>
                    <a:pt x="1787986" y="527133"/>
                  </a:lnTo>
                  <a:lnTo>
                    <a:pt x="1766428" y="486833"/>
                  </a:lnTo>
                  <a:lnTo>
                    <a:pt x="1743130" y="447719"/>
                  </a:lnTo>
                  <a:lnTo>
                    <a:pt x="1718146" y="409847"/>
                  </a:lnTo>
                  <a:lnTo>
                    <a:pt x="1691529" y="373274"/>
                  </a:lnTo>
                  <a:lnTo>
                    <a:pt x="1663334" y="338056"/>
                  </a:lnTo>
                  <a:lnTo>
                    <a:pt x="1633615" y="304249"/>
                  </a:lnTo>
                  <a:lnTo>
                    <a:pt x="1602428" y="271910"/>
                  </a:lnTo>
                  <a:lnTo>
                    <a:pt x="1569825" y="241094"/>
                  </a:lnTo>
                  <a:lnTo>
                    <a:pt x="1535861" y="211859"/>
                  </a:lnTo>
                  <a:lnTo>
                    <a:pt x="1500592" y="184260"/>
                  </a:lnTo>
                  <a:lnTo>
                    <a:pt x="1464070" y="158354"/>
                  </a:lnTo>
                  <a:lnTo>
                    <a:pt x="1426351" y="134196"/>
                  </a:lnTo>
                  <a:lnTo>
                    <a:pt x="1387488" y="111844"/>
                  </a:lnTo>
                  <a:lnTo>
                    <a:pt x="1347536" y="91354"/>
                  </a:lnTo>
                  <a:lnTo>
                    <a:pt x="1306550" y="72781"/>
                  </a:lnTo>
                  <a:lnTo>
                    <a:pt x="1264583" y="56183"/>
                  </a:lnTo>
                  <a:lnTo>
                    <a:pt x="1221690" y="41615"/>
                  </a:lnTo>
                  <a:lnTo>
                    <a:pt x="1177925" y="29133"/>
                  </a:lnTo>
                  <a:lnTo>
                    <a:pt x="1133343" y="18795"/>
                  </a:lnTo>
                  <a:lnTo>
                    <a:pt x="1087998" y="10657"/>
                  </a:lnTo>
                  <a:lnTo>
                    <a:pt x="1041944" y="4774"/>
                  </a:lnTo>
                  <a:lnTo>
                    <a:pt x="995236" y="1202"/>
                  </a:lnTo>
                  <a:lnTo>
                    <a:pt x="9479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06923" y="2001011"/>
              <a:ext cx="1896110" cy="1965960"/>
            </a:xfrm>
            <a:custGeom>
              <a:avLst/>
              <a:gdLst/>
              <a:ahLst/>
              <a:cxnLst/>
              <a:rect l="l" t="t" r="r" b="b"/>
              <a:pathLst>
                <a:path w="1896109" h="1965960">
                  <a:moveTo>
                    <a:pt x="0" y="982980"/>
                  </a:moveTo>
                  <a:lnTo>
                    <a:pt x="1160" y="933915"/>
                  </a:lnTo>
                  <a:lnTo>
                    <a:pt x="4604" y="885474"/>
                  </a:lnTo>
                  <a:lnTo>
                    <a:pt x="10278" y="837713"/>
                  </a:lnTo>
                  <a:lnTo>
                    <a:pt x="18128" y="790687"/>
                  </a:lnTo>
                  <a:lnTo>
                    <a:pt x="28099" y="744453"/>
                  </a:lnTo>
                  <a:lnTo>
                    <a:pt x="40136" y="699067"/>
                  </a:lnTo>
                  <a:lnTo>
                    <a:pt x="54187" y="654586"/>
                  </a:lnTo>
                  <a:lnTo>
                    <a:pt x="70195" y="611066"/>
                  </a:lnTo>
                  <a:lnTo>
                    <a:pt x="88108" y="568563"/>
                  </a:lnTo>
                  <a:lnTo>
                    <a:pt x="107869" y="527133"/>
                  </a:lnTo>
                  <a:lnTo>
                    <a:pt x="129427" y="486833"/>
                  </a:lnTo>
                  <a:lnTo>
                    <a:pt x="152725" y="447719"/>
                  </a:lnTo>
                  <a:lnTo>
                    <a:pt x="177709" y="409847"/>
                  </a:lnTo>
                  <a:lnTo>
                    <a:pt x="204326" y="373274"/>
                  </a:lnTo>
                  <a:lnTo>
                    <a:pt x="232521" y="338056"/>
                  </a:lnTo>
                  <a:lnTo>
                    <a:pt x="262240" y="304249"/>
                  </a:lnTo>
                  <a:lnTo>
                    <a:pt x="293427" y="271910"/>
                  </a:lnTo>
                  <a:lnTo>
                    <a:pt x="326030" y="241094"/>
                  </a:lnTo>
                  <a:lnTo>
                    <a:pt x="359994" y="211859"/>
                  </a:lnTo>
                  <a:lnTo>
                    <a:pt x="395263" y="184260"/>
                  </a:lnTo>
                  <a:lnTo>
                    <a:pt x="431785" y="158354"/>
                  </a:lnTo>
                  <a:lnTo>
                    <a:pt x="469504" y="134196"/>
                  </a:lnTo>
                  <a:lnTo>
                    <a:pt x="508367" y="111844"/>
                  </a:lnTo>
                  <a:lnTo>
                    <a:pt x="548319" y="91354"/>
                  </a:lnTo>
                  <a:lnTo>
                    <a:pt x="589305" y="72781"/>
                  </a:lnTo>
                  <a:lnTo>
                    <a:pt x="631272" y="56183"/>
                  </a:lnTo>
                  <a:lnTo>
                    <a:pt x="674165" y="41615"/>
                  </a:lnTo>
                  <a:lnTo>
                    <a:pt x="717930" y="29133"/>
                  </a:lnTo>
                  <a:lnTo>
                    <a:pt x="762512" y="18795"/>
                  </a:lnTo>
                  <a:lnTo>
                    <a:pt x="807857" y="10657"/>
                  </a:lnTo>
                  <a:lnTo>
                    <a:pt x="853911" y="4774"/>
                  </a:lnTo>
                  <a:lnTo>
                    <a:pt x="900619" y="1202"/>
                  </a:lnTo>
                  <a:lnTo>
                    <a:pt x="947927" y="0"/>
                  </a:lnTo>
                  <a:lnTo>
                    <a:pt x="995236" y="1202"/>
                  </a:lnTo>
                  <a:lnTo>
                    <a:pt x="1041944" y="4774"/>
                  </a:lnTo>
                  <a:lnTo>
                    <a:pt x="1087998" y="10657"/>
                  </a:lnTo>
                  <a:lnTo>
                    <a:pt x="1133343" y="18795"/>
                  </a:lnTo>
                  <a:lnTo>
                    <a:pt x="1177925" y="29133"/>
                  </a:lnTo>
                  <a:lnTo>
                    <a:pt x="1221690" y="41615"/>
                  </a:lnTo>
                  <a:lnTo>
                    <a:pt x="1264583" y="56183"/>
                  </a:lnTo>
                  <a:lnTo>
                    <a:pt x="1306550" y="72781"/>
                  </a:lnTo>
                  <a:lnTo>
                    <a:pt x="1347536" y="91354"/>
                  </a:lnTo>
                  <a:lnTo>
                    <a:pt x="1387488" y="111844"/>
                  </a:lnTo>
                  <a:lnTo>
                    <a:pt x="1426351" y="134196"/>
                  </a:lnTo>
                  <a:lnTo>
                    <a:pt x="1464070" y="158354"/>
                  </a:lnTo>
                  <a:lnTo>
                    <a:pt x="1500592" y="184260"/>
                  </a:lnTo>
                  <a:lnTo>
                    <a:pt x="1535861" y="211859"/>
                  </a:lnTo>
                  <a:lnTo>
                    <a:pt x="1569825" y="241094"/>
                  </a:lnTo>
                  <a:lnTo>
                    <a:pt x="1602428" y="271910"/>
                  </a:lnTo>
                  <a:lnTo>
                    <a:pt x="1633615" y="304249"/>
                  </a:lnTo>
                  <a:lnTo>
                    <a:pt x="1663334" y="338056"/>
                  </a:lnTo>
                  <a:lnTo>
                    <a:pt x="1691529" y="373274"/>
                  </a:lnTo>
                  <a:lnTo>
                    <a:pt x="1718146" y="409847"/>
                  </a:lnTo>
                  <a:lnTo>
                    <a:pt x="1743130" y="447719"/>
                  </a:lnTo>
                  <a:lnTo>
                    <a:pt x="1766428" y="486833"/>
                  </a:lnTo>
                  <a:lnTo>
                    <a:pt x="1787986" y="527133"/>
                  </a:lnTo>
                  <a:lnTo>
                    <a:pt x="1807747" y="568563"/>
                  </a:lnTo>
                  <a:lnTo>
                    <a:pt x="1825660" y="611066"/>
                  </a:lnTo>
                  <a:lnTo>
                    <a:pt x="1841668" y="654586"/>
                  </a:lnTo>
                  <a:lnTo>
                    <a:pt x="1855719" y="699067"/>
                  </a:lnTo>
                  <a:lnTo>
                    <a:pt x="1867756" y="744453"/>
                  </a:lnTo>
                  <a:lnTo>
                    <a:pt x="1877727" y="790687"/>
                  </a:lnTo>
                  <a:lnTo>
                    <a:pt x="1885577" y="837713"/>
                  </a:lnTo>
                  <a:lnTo>
                    <a:pt x="1891251" y="885474"/>
                  </a:lnTo>
                  <a:lnTo>
                    <a:pt x="1894695" y="933915"/>
                  </a:lnTo>
                  <a:lnTo>
                    <a:pt x="1895855" y="982980"/>
                  </a:lnTo>
                  <a:lnTo>
                    <a:pt x="1894695" y="1032044"/>
                  </a:lnTo>
                  <a:lnTo>
                    <a:pt x="1891251" y="1080485"/>
                  </a:lnTo>
                  <a:lnTo>
                    <a:pt x="1885577" y="1128246"/>
                  </a:lnTo>
                  <a:lnTo>
                    <a:pt x="1877727" y="1175272"/>
                  </a:lnTo>
                  <a:lnTo>
                    <a:pt x="1867756" y="1221506"/>
                  </a:lnTo>
                  <a:lnTo>
                    <a:pt x="1855719" y="1266892"/>
                  </a:lnTo>
                  <a:lnTo>
                    <a:pt x="1841668" y="1311373"/>
                  </a:lnTo>
                  <a:lnTo>
                    <a:pt x="1825660" y="1354893"/>
                  </a:lnTo>
                  <a:lnTo>
                    <a:pt x="1807747" y="1397396"/>
                  </a:lnTo>
                  <a:lnTo>
                    <a:pt x="1787986" y="1438826"/>
                  </a:lnTo>
                  <a:lnTo>
                    <a:pt x="1766428" y="1479126"/>
                  </a:lnTo>
                  <a:lnTo>
                    <a:pt x="1743130" y="1518240"/>
                  </a:lnTo>
                  <a:lnTo>
                    <a:pt x="1718146" y="1556112"/>
                  </a:lnTo>
                  <a:lnTo>
                    <a:pt x="1691529" y="1592685"/>
                  </a:lnTo>
                  <a:lnTo>
                    <a:pt x="1663334" y="1627903"/>
                  </a:lnTo>
                  <a:lnTo>
                    <a:pt x="1633615" y="1661710"/>
                  </a:lnTo>
                  <a:lnTo>
                    <a:pt x="1602428" y="1694049"/>
                  </a:lnTo>
                  <a:lnTo>
                    <a:pt x="1569825" y="1724865"/>
                  </a:lnTo>
                  <a:lnTo>
                    <a:pt x="1535861" y="1754100"/>
                  </a:lnTo>
                  <a:lnTo>
                    <a:pt x="1500592" y="1781699"/>
                  </a:lnTo>
                  <a:lnTo>
                    <a:pt x="1464070" y="1807605"/>
                  </a:lnTo>
                  <a:lnTo>
                    <a:pt x="1426351" y="1831763"/>
                  </a:lnTo>
                  <a:lnTo>
                    <a:pt x="1387488" y="1854115"/>
                  </a:lnTo>
                  <a:lnTo>
                    <a:pt x="1347536" y="1874605"/>
                  </a:lnTo>
                  <a:lnTo>
                    <a:pt x="1306550" y="1893178"/>
                  </a:lnTo>
                  <a:lnTo>
                    <a:pt x="1264583" y="1909776"/>
                  </a:lnTo>
                  <a:lnTo>
                    <a:pt x="1221690" y="1924344"/>
                  </a:lnTo>
                  <a:lnTo>
                    <a:pt x="1177925" y="1936826"/>
                  </a:lnTo>
                  <a:lnTo>
                    <a:pt x="1133343" y="1947164"/>
                  </a:lnTo>
                  <a:lnTo>
                    <a:pt x="1087998" y="1955302"/>
                  </a:lnTo>
                  <a:lnTo>
                    <a:pt x="1041944" y="1961185"/>
                  </a:lnTo>
                  <a:lnTo>
                    <a:pt x="995236" y="1964757"/>
                  </a:lnTo>
                  <a:lnTo>
                    <a:pt x="947927" y="1965960"/>
                  </a:lnTo>
                  <a:lnTo>
                    <a:pt x="900619" y="1964757"/>
                  </a:lnTo>
                  <a:lnTo>
                    <a:pt x="853911" y="1961185"/>
                  </a:lnTo>
                  <a:lnTo>
                    <a:pt x="807857" y="1955302"/>
                  </a:lnTo>
                  <a:lnTo>
                    <a:pt x="762512" y="1947164"/>
                  </a:lnTo>
                  <a:lnTo>
                    <a:pt x="717930" y="1936826"/>
                  </a:lnTo>
                  <a:lnTo>
                    <a:pt x="674165" y="1924344"/>
                  </a:lnTo>
                  <a:lnTo>
                    <a:pt x="631272" y="1909776"/>
                  </a:lnTo>
                  <a:lnTo>
                    <a:pt x="589305" y="1893178"/>
                  </a:lnTo>
                  <a:lnTo>
                    <a:pt x="548319" y="1874605"/>
                  </a:lnTo>
                  <a:lnTo>
                    <a:pt x="508367" y="1854115"/>
                  </a:lnTo>
                  <a:lnTo>
                    <a:pt x="469504" y="1831763"/>
                  </a:lnTo>
                  <a:lnTo>
                    <a:pt x="431785" y="1807605"/>
                  </a:lnTo>
                  <a:lnTo>
                    <a:pt x="395263" y="1781699"/>
                  </a:lnTo>
                  <a:lnTo>
                    <a:pt x="359994" y="1754100"/>
                  </a:lnTo>
                  <a:lnTo>
                    <a:pt x="326030" y="1724865"/>
                  </a:lnTo>
                  <a:lnTo>
                    <a:pt x="293427" y="1694049"/>
                  </a:lnTo>
                  <a:lnTo>
                    <a:pt x="262240" y="1661710"/>
                  </a:lnTo>
                  <a:lnTo>
                    <a:pt x="232521" y="1627903"/>
                  </a:lnTo>
                  <a:lnTo>
                    <a:pt x="204326" y="1592685"/>
                  </a:lnTo>
                  <a:lnTo>
                    <a:pt x="177709" y="1556112"/>
                  </a:lnTo>
                  <a:lnTo>
                    <a:pt x="152725" y="1518240"/>
                  </a:lnTo>
                  <a:lnTo>
                    <a:pt x="129427" y="1479126"/>
                  </a:lnTo>
                  <a:lnTo>
                    <a:pt x="107869" y="1438826"/>
                  </a:lnTo>
                  <a:lnTo>
                    <a:pt x="88108" y="1397396"/>
                  </a:lnTo>
                  <a:lnTo>
                    <a:pt x="70195" y="1354893"/>
                  </a:lnTo>
                  <a:lnTo>
                    <a:pt x="54187" y="1311373"/>
                  </a:lnTo>
                  <a:lnTo>
                    <a:pt x="40136" y="1266892"/>
                  </a:lnTo>
                  <a:lnTo>
                    <a:pt x="28099" y="1221506"/>
                  </a:lnTo>
                  <a:lnTo>
                    <a:pt x="18128" y="1175272"/>
                  </a:lnTo>
                  <a:lnTo>
                    <a:pt x="10278" y="1128246"/>
                  </a:lnTo>
                  <a:lnTo>
                    <a:pt x="4604" y="1080485"/>
                  </a:lnTo>
                  <a:lnTo>
                    <a:pt x="1160" y="1032044"/>
                  </a:lnTo>
                  <a:lnTo>
                    <a:pt x="0" y="98298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105405" y="1276858"/>
            <a:ext cx="1252220" cy="3180080"/>
            <a:chOff x="2105405" y="1276858"/>
            <a:chExt cx="1252220" cy="3180080"/>
          </a:xfrm>
        </p:grpSpPr>
        <p:sp>
          <p:nvSpPr>
            <p:cNvPr id="14" name="object 14"/>
            <p:cNvSpPr/>
            <p:nvPr/>
          </p:nvSpPr>
          <p:spPr>
            <a:xfrm>
              <a:off x="2111755" y="1518412"/>
              <a:ext cx="476884" cy="1304925"/>
            </a:xfrm>
            <a:custGeom>
              <a:avLst/>
              <a:gdLst/>
              <a:ahLst/>
              <a:cxnLst/>
              <a:rect l="l" t="t" r="r" b="b"/>
              <a:pathLst>
                <a:path w="476885" h="1304925">
                  <a:moveTo>
                    <a:pt x="0" y="1304670"/>
                  </a:moveTo>
                  <a:lnTo>
                    <a:pt x="476504" y="0"/>
                  </a:lnTo>
                </a:path>
              </a:pathLst>
            </a:custGeom>
            <a:ln w="12700">
              <a:solidFill>
                <a:srgbClr val="CA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80131" y="1517904"/>
              <a:ext cx="220979" cy="0"/>
            </a:xfrm>
            <a:custGeom>
              <a:avLst/>
              <a:gdLst/>
              <a:ahLst/>
              <a:cxnLst/>
              <a:rect l="l" t="t" r="r" b="b"/>
              <a:pathLst>
                <a:path w="220980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ln w="12700">
              <a:solidFill>
                <a:srgbClr val="CA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20137" y="2488057"/>
              <a:ext cx="476884" cy="434975"/>
            </a:xfrm>
            <a:custGeom>
              <a:avLst/>
              <a:gdLst/>
              <a:ahLst/>
              <a:cxnLst/>
              <a:rect l="l" t="t" r="r" b="b"/>
              <a:pathLst>
                <a:path w="476885" h="434975">
                  <a:moveTo>
                    <a:pt x="0" y="434848"/>
                  </a:moveTo>
                  <a:lnTo>
                    <a:pt x="476504" y="0"/>
                  </a:lnTo>
                </a:path>
              </a:pathLst>
            </a:custGeom>
            <a:ln w="12700">
              <a:solidFill>
                <a:srgbClr val="CA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80131" y="2496311"/>
              <a:ext cx="220979" cy="0"/>
            </a:xfrm>
            <a:custGeom>
              <a:avLst/>
              <a:gdLst/>
              <a:ahLst/>
              <a:cxnLst/>
              <a:rect l="l" t="t" r="r" b="b"/>
              <a:pathLst>
                <a:path w="220980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ln w="12700">
              <a:solidFill>
                <a:srgbClr val="CA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20137" y="3045713"/>
              <a:ext cx="476884" cy="434975"/>
            </a:xfrm>
            <a:custGeom>
              <a:avLst/>
              <a:gdLst/>
              <a:ahLst/>
              <a:cxnLst/>
              <a:rect l="l" t="t" r="r" b="b"/>
              <a:pathLst>
                <a:path w="476885" h="434975">
                  <a:moveTo>
                    <a:pt x="0" y="0"/>
                  </a:moveTo>
                  <a:lnTo>
                    <a:pt x="476504" y="434975"/>
                  </a:lnTo>
                </a:path>
              </a:pathLst>
            </a:custGeom>
            <a:ln w="12700">
              <a:solidFill>
                <a:srgbClr val="CA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80131" y="3473196"/>
              <a:ext cx="220979" cy="0"/>
            </a:xfrm>
            <a:custGeom>
              <a:avLst/>
              <a:gdLst/>
              <a:ahLst/>
              <a:cxnLst/>
              <a:rect l="l" t="t" r="r" b="b"/>
              <a:pathLst>
                <a:path w="220980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ln w="12700">
              <a:solidFill>
                <a:srgbClr val="CA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11755" y="3145662"/>
              <a:ext cx="476884" cy="1304925"/>
            </a:xfrm>
            <a:custGeom>
              <a:avLst/>
              <a:gdLst/>
              <a:ahLst/>
              <a:cxnLst/>
              <a:rect l="l" t="t" r="r" b="b"/>
              <a:pathLst>
                <a:path w="476885" h="1304925">
                  <a:moveTo>
                    <a:pt x="0" y="0"/>
                  </a:moveTo>
                  <a:lnTo>
                    <a:pt x="476504" y="1304658"/>
                  </a:lnTo>
                </a:path>
              </a:pathLst>
            </a:custGeom>
            <a:ln w="12700">
              <a:solidFill>
                <a:srgbClr val="CA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80131" y="4450080"/>
              <a:ext cx="220979" cy="0"/>
            </a:xfrm>
            <a:custGeom>
              <a:avLst/>
              <a:gdLst/>
              <a:ahLst/>
              <a:cxnLst/>
              <a:rect l="l" t="t" r="r" b="b"/>
              <a:pathLst>
                <a:path w="220980">
                  <a:moveTo>
                    <a:pt x="0" y="0"/>
                  </a:moveTo>
                  <a:lnTo>
                    <a:pt x="220980" y="0"/>
                  </a:lnTo>
                </a:path>
              </a:pathLst>
            </a:custGeom>
            <a:ln w="12700">
              <a:solidFill>
                <a:srgbClr val="CA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01111" y="1283208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5" h="550544">
                  <a:moveTo>
                    <a:pt x="275081" y="0"/>
                  </a:moveTo>
                  <a:lnTo>
                    <a:pt x="225643" y="4432"/>
                  </a:lnTo>
                  <a:lnTo>
                    <a:pt x="179109" y="17213"/>
                  </a:lnTo>
                  <a:lnTo>
                    <a:pt x="136256" y="37563"/>
                  </a:lnTo>
                  <a:lnTo>
                    <a:pt x="97863" y="64706"/>
                  </a:lnTo>
                  <a:lnTo>
                    <a:pt x="64706" y="97863"/>
                  </a:lnTo>
                  <a:lnTo>
                    <a:pt x="37563" y="136256"/>
                  </a:lnTo>
                  <a:lnTo>
                    <a:pt x="17213" y="179109"/>
                  </a:lnTo>
                  <a:lnTo>
                    <a:pt x="4432" y="225643"/>
                  </a:lnTo>
                  <a:lnTo>
                    <a:pt x="0" y="275081"/>
                  </a:lnTo>
                  <a:lnTo>
                    <a:pt x="4432" y="324520"/>
                  </a:lnTo>
                  <a:lnTo>
                    <a:pt x="17213" y="371054"/>
                  </a:lnTo>
                  <a:lnTo>
                    <a:pt x="37563" y="413907"/>
                  </a:lnTo>
                  <a:lnTo>
                    <a:pt x="64706" y="452300"/>
                  </a:lnTo>
                  <a:lnTo>
                    <a:pt x="97863" y="485457"/>
                  </a:lnTo>
                  <a:lnTo>
                    <a:pt x="136256" y="512600"/>
                  </a:lnTo>
                  <a:lnTo>
                    <a:pt x="179109" y="532950"/>
                  </a:lnTo>
                  <a:lnTo>
                    <a:pt x="225643" y="545731"/>
                  </a:lnTo>
                  <a:lnTo>
                    <a:pt x="275081" y="550163"/>
                  </a:lnTo>
                  <a:lnTo>
                    <a:pt x="324520" y="545731"/>
                  </a:lnTo>
                  <a:lnTo>
                    <a:pt x="371054" y="532950"/>
                  </a:lnTo>
                  <a:lnTo>
                    <a:pt x="413907" y="512600"/>
                  </a:lnTo>
                  <a:lnTo>
                    <a:pt x="452300" y="485457"/>
                  </a:lnTo>
                  <a:lnTo>
                    <a:pt x="485457" y="452300"/>
                  </a:lnTo>
                  <a:lnTo>
                    <a:pt x="512600" y="413907"/>
                  </a:lnTo>
                  <a:lnTo>
                    <a:pt x="532950" y="371054"/>
                  </a:lnTo>
                  <a:lnTo>
                    <a:pt x="545731" y="324520"/>
                  </a:lnTo>
                  <a:lnTo>
                    <a:pt x="550163" y="275081"/>
                  </a:lnTo>
                  <a:lnTo>
                    <a:pt x="545731" y="225643"/>
                  </a:lnTo>
                  <a:lnTo>
                    <a:pt x="532950" y="179109"/>
                  </a:lnTo>
                  <a:lnTo>
                    <a:pt x="512600" y="136256"/>
                  </a:lnTo>
                  <a:lnTo>
                    <a:pt x="485457" y="97863"/>
                  </a:lnTo>
                  <a:lnTo>
                    <a:pt x="452300" y="64706"/>
                  </a:lnTo>
                  <a:lnTo>
                    <a:pt x="413907" y="37563"/>
                  </a:lnTo>
                  <a:lnTo>
                    <a:pt x="371054" y="17213"/>
                  </a:lnTo>
                  <a:lnTo>
                    <a:pt x="324520" y="4432"/>
                  </a:lnTo>
                  <a:lnTo>
                    <a:pt x="275081" y="0"/>
                  </a:lnTo>
                  <a:close/>
                </a:path>
              </a:pathLst>
            </a:custGeom>
            <a:solidFill>
              <a:srgbClr val="BB8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01111" y="1283208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5" h="550544">
                  <a:moveTo>
                    <a:pt x="0" y="275081"/>
                  </a:moveTo>
                  <a:lnTo>
                    <a:pt x="4432" y="225643"/>
                  </a:lnTo>
                  <a:lnTo>
                    <a:pt x="17213" y="179109"/>
                  </a:lnTo>
                  <a:lnTo>
                    <a:pt x="37563" y="136256"/>
                  </a:lnTo>
                  <a:lnTo>
                    <a:pt x="64706" y="97863"/>
                  </a:lnTo>
                  <a:lnTo>
                    <a:pt x="97863" y="64706"/>
                  </a:lnTo>
                  <a:lnTo>
                    <a:pt x="136256" y="37563"/>
                  </a:lnTo>
                  <a:lnTo>
                    <a:pt x="179109" y="17213"/>
                  </a:lnTo>
                  <a:lnTo>
                    <a:pt x="225643" y="4432"/>
                  </a:lnTo>
                  <a:lnTo>
                    <a:pt x="275081" y="0"/>
                  </a:lnTo>
                  <a:lnTo>
                    <a:pt x="324520" y="4432"/>
                  </a:lnTo>
                  <a:lnTo>
                    <a:pt x="371054" y="17213"/>
                  </a:lnTo>
                  <a:lnTo>
                    <a:pt x="413907" y="37563"/>
                  </a:lnTo>
                  <a:lnTo>
                    <a:pt x="452300" y="64706"/>
                  </a:lnTo>
                  <a:lnTo>
                    <a:pt x="485457" y="97863"/>
                  </a:lnTo>
                  <a:lnTo>
                    <a:pt x="512600" y="136256"/>
                  </a:lnTo>
                  <a:lnTo>
                    <a:pt x="532950" y="179109"/>
                  </a:lnTo>
                  <a:lnTo>
                    <a:pt x="545731" y="225643"/>
                  </a:lnTo>
                  <a:lnTo>
                    <a:pt x="550163" y="275081"/>
                  </a:lnTo>
                  <a:lnTo>
                    <a:pt x="545731" y="324520"/>
                  </a:lnTo>
                  <a:lnTo>
                    <a:pt x="532950" y="371054"/>
                  </a:lnTo>
                  <a:lnTo>
                    <a:pt x="512600" y="413907"/>
                  </a:lnTo>
                  <a:lnTo>
                    <a:pt x="485457" y="452300"/>
                  </a:lnTo>
                  <a:lnTo>
                    <a:pt x="452300" y="485457"/>
                  </a:lnTo>
                  <a:lnTo>
                    <a:pt x="413907" y="512600"/>
                  </a:lnTo>
                  <a:lnTo>
                    <a:pt x="371054" y="532950"/>
                  </a:lnTo>
                  <a:lnTo>
                    <a:pt x="324520" y="545731"/>
                  </a:lnTo>
                  <a:lnTo>
                    <a:pt x="275081" y="550163"/>
                  </a:lnTo>
                  <a:lnTo>
                    <a:pt x="225643" y="545731"/>
                  </a:lnTo>
                  <a:lnTo>
                    <a:pt x="179109" y="532950"/>
                  </a:lnTo>
                  <a:lnTo>
                    <a:pt x="136256" y="512600"/>
                  </a:lnTo>
                  <a:lnTo>
                    <a:pt x="97863" y="485457"/>
                  </a:lnTo>
                  <a:lnTo>
                    <a:pt x="64706" y="452300"/>
                  </a:lnTo>
                  <a:lnTo>
                    <a:pt x="37563" y="413907"/>
                  </a:lnTo>
                  <a:lnTo>
                    <a:pt x="17213" y="371054"/>
                  </a:lnTo>
                  <a:lnTo>
                    <a:pt x="4432" y="324520"/>
                  </a:lnTo>
                  <a:lnTo>
                    <a:pt x="0" y="27508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93816" y="2513838"/>
            <a:ext cx="1323975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algn="ctr">
              <a:lnSpc>
                <a:spcPts val="2160"/>
              </a:lnSpc>
              <a:spcBef>
                <a:spcPts val="375"/>
              </a:spcBef>
            </a:pPr>
            <a:r>
              <a:rPr sz="2000" spc="-10" dirty="0">
                <a:latin typeface="Calibri"/>
                <a:cs typeface="Calibri"/>
              </a:rPr>
              <a:t>Classificação </a:t>
            </a:r>
            <a:r>
              <a:rPr sz="2000" spc="-25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severidade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996430" y="1994661"/>
            <a:ext cx="1908810" cy="1978660"/>
            <a:chOff x="6996430" y="1994661"/>
            <a:chExt cx="1908810" cy="1978660"/>
          </a:xfrm>
        </p:grpSpPr>
        <p:sp>
          <p:nvSpPr>
            <p:cNvPr id="26" name="object 26"/>
            <p:cNvSpPr/>
            <p:nvPr/>
          </p:nvSpPr>
          <p:spPr>
            <a:xfrm>
              <a:off x="7002780" y="2001011"/>
              <a:ext cx="1896110" cy="1965960"/>
            </a:xfrm>
            <a:custGeom>
              <a:avLst/>
              <a:gdLst/>
              <a:ahLst/>
              <a:cxnLst/>
              <a:rect l="l" t="t" r="r" b="b"/>
              <a:pathLst>
                <a:path w="1896109" h="1965960">
                  <a:moveTo>
                    <a:pt x="947927" y="0"/>
                  </a:moveTo>
                  <a:lnTo>
                    <a:pt x="900619" y="1202"/>
                  </a:lnTo>
                  <a:lnTo>
                    <a:pt x="853911" y="4774"/>
                  </a:lnTo>
                  <a:lnTo>
                    <a:pt x="807857" y="10657"/>
                  </a:lnTo>
                  <a:lnTo>
                    <a:pt x="762512" y="18795"/>
                  </a:lnTo>
                  <a:lnTo>
                    <a:pt x="717930" y="29133"/>
                  </a:lnTo>
                  <a:lnTo>
                    <a:pt x="674165" y="41615"/>
                  </a:lnTo>
                  <a:lnTo>
                    <a:pt x="631272" y="56183"/>
                  </a:lnTo>
                  <a:lnTo>
                    <a:pt x="589305" y="72781"/>
                  </a:lnTo>
                  <a:lnTo>
                    <a:pt x="548319" y="91354"/>
                  </a:lnTo>
                  <a:lnTo>
                    <a:pt x="508367" y="111844"/>
                  </a:lnTo>
                  <a:lnTo>
                    <a:pt x="469504" y="134196"/>
                  </a:lnTo>
                  <a:lnTo>
                    <a:pt x="431785" y="158354"/>
                  </a:lnTo>
                  <a:lnTo>
                    <a:pt x="395263" y="184260"/>
                  </a:lnTo>
                  <a:lnTo>
                    <a:pt x="359994" y="211859"/>
                  </a:lnTo>
                  <a:lnTo>
                    <a:pt x="326030" y="241094"/>
                  </a:lnTo>
                  <a:lnTo>
                    <a:pt x="293427" y="271910"/>
                  </a:lnTo>
                  <a:lnTo>
                    <a:pt x="262240" y="304249"/>
                  </a:lnTo>
                  <a:lnTo>
                    <a:pt x="232521" y="338056"/>
                  </a:lnTo>
                  <a:lnTo>
                    <a:pt x="204326" y="373274"/>
                  </a:lnTo>
                  <a:lnTo>
                    <a:pt x="177709" y="409847"/>
                  </a:lnTo>
                  <a:lnTo>
                    <a:pt x="152725" y="447719"/>
                  </a:lnTo>
                  <a:lnTo>
                    <a:pt x="129427" y="486833"/>
                  </a:lnTo>
                  <a:lnTo>
                    <a:pt x="107869" y="527133"/>
                  </a:lnTo>
                  <a:lnTo>
                    <a:pt x="88108" y="568563"/>
                  </a:lnTo>
                  <a:lnTo>
                    <a:pt x="70195" y="611066"/>
                  </a:lnTo>
                  <a:lnTo>
                    <a:pt x="54187" y="654586"/>
                  </a:lnTo>
                  <a:lnTo>
                    <a:pt x="40136" y="699067"/>
                  </a:lnTo>
                  <a:lnTo>
                    <a:pt x="28099" y="744453"/>
                  </a:lnTo>
                  <a:lnTo>
                    <a:pt x="18128" y="790687"/>
                  </a:lnTo>
                  <a:lnTo>
                    <a:pt x="10278" y="837713"/>
                  </a:lnTo>
                  <a:lnTo>
                    <a:pt x="4604" y="885474"/>
                  </a:lnTo>
                  <a:lnTo>
                    <a:pt x="1160" y="933915"/>
                  </a:lnTo>
                  <a:lnTo>
                    <a:pt x="0" y="982980"/>
                  </a:lnTo>
                  <a:lnTo>
                    <a:pt x="1160" y="1032044"/>
                  </a:lnTo>
                  <a:lnTo>
                    <a:pt x="4604" y="1080485"/>
                  </a:lnTo>
                  <a:lnTo>
                    <a:pt x="10278" y="1128246"/>
                  </a:lnTo>
                  <a:lnTo>
                    <a:pt x="18128" y="1175272"/>
                  </a:lnTo>
                  <a:lnTo>
                    <a:pt x="28099" y="1221506"/>
                  </a:lnTo>
                  <a:lnTo>
                    <a:pt x="40136" y="1266892"/>
                  </a:lnTo>
                  <a:lnTo>
                    <a:pt x="54187" y="1311373"/>
                  </a:lnTo>
                  <a:lnTo>
                    <a:pt x="70195" y="1354893"/>
                  </a:lnTo>
                  <a:lnTo>
                    <a:pt x="88108" y="1397396"/>
                  </a:lnTo>
                  <a:lnTo>
                    <a:pt x="107869" y="1438826"/>
                  </a:lnTo>
                  <a:lnTo>
                    <a:pt x="129427" y="1479126"/>
                  </a:lnTo>
                  <a:lnTo>
                    <a:pt x="152725" y="1518240"/>
                  </a:lnTo>
                  <a:lnTo>
                    <a:pt x="177709" y="1556112"/>
                  </a:lnTo>
                  <a:lnTo>
                    <a:pt x="204326" y="1592685"/>
                  </a:lnTo>
                  <a:lnTo>
                    <a:pt x="232521" y="1627903"/>
                  </a:lnTo>
                  <a:lnTo>
                    <a:pt x="262240" y="1661710"/>
                  </a:lnTo>
                  <a:lnTo>
                    <a:pt x="293427" y="1694049"/>
                  </a:lnTo>
                  <a:lnTo>
                    <a:pt x="326030" y="1724865"/>
                  </a:lnTo>
                  <a:lnTo>
                    <a:pt x="359994" y="1754100"/>
                  </a:lnTo>
                  <a:lnTo>
                    <a:pt x="395263" y="1781699"/>
                  </a:lnTo>
                  <a:lnTo>
                    <a:pt x="431785" y="1807605"/>
                  </a:lnTo>
                  <a:lnTo>
                    <a:pt x="469504" y="1831763"/>
                  </a:lnTo>
                  <a:lnTo>
                    <a:pt x="508367" y="1854115"/>
                  </a:lnTo>
                  <a:lnTo>
                    <a:pt x="548319" y="1874605"/>
                  </a:lnTo>
                  <a:lnTo>
                    <a:pt x="589305" y="1893178"/>
                  </a:lnTo>
                  <a:lnTo>
                    <a:pt x="631272" y="1909776"/>
                  </a:lnTo>
                  <a:lnTo>
                    <a:pt x="674165" y="1924344"/>
                  </a:lnTo>
                  <a:lnTo>
                    <a:pt x="717930" y="1936826"/>
                  </a:lnTo>
                  <a:lnTo>
                    <a:pt x="762512" y="1947164"/>
                  </a:lnTo>
                  <a:lnTo>
                    <a:pt x="807857" y="1955302"/>
                  </a:lnTo>
                  <a:lnTo>
                    <a:pt x="853911" y="1961185"/>
                  </a:lnTo>
                  <a:lnTo>
                    <a:pt x="900619" y="1964757"/>
                  </a:lnTo>
                  <a:lnTo>
                    <a:pt x="947927" y="1965960"/>
                  </a:lnTo>
                  <a:lnTo>
                    <a:pt x="995236" y="1964757"/>
                  </a:lnTo>
                  <a:lnTo>
                    <a:pt x="1041944" y="1961185"/>
                  </a:lnTo>
                  <a:lnTo>
                    <a:pt x="1087998" y="1955302"/>
                  </a:lnTo>
                  <a:lnTo>
                    <a:pt x="1133343" y="1947164"/>
                  </a:lnTo>
                  <a:lnTo>
                    <a:pt x="1177925" y="1936826"/>
                  </a:lnTo>
                  <a:lnTo>
                    <a:pt x="1221690" y="1924344"/>
                  </a:lnTo>
                  <a:lnTo>
                    <a:pt x="1264583" y="1909776"/>
                  </a:lnTo>
                  <a:lnTo>
                    <a:pt x="1306550" y="1893178"/>
                  </a:lnTo>
                  <a:lnTo>
                    <a:pt x="1347536" y="1874605"/>
                  </a:lnTo>
                  <a:lnTo>
                    <a:pt x="1387488" y="1854115"/>
                  </a:lnTo>
                  <a:lnTo>
                    <a:pt x="1426351" y="1831763"/>
                  </a:lnTo>
                  <a:lnTo>
                    <a:pt x="1464070" y="1807605"/>
                  </a:lnTo>
                  <a:lnTo>
                    <a:pt x="1500592" y="1781699"/>
                  </a:lnTo>
                  <a:lnTo>
                    <a:pt x="1535861" y="1754100"/>
                  </a:lnTo>
                  <a:lnTo>
                    <a:pt x="1569825" y="1724865"/>
                  </a:lnTo>
                  <a:lnTo>
                    <a:pt x="1602428" y="1694049"/>
                  </a:lnTo>
                  <a:lnTo>
                    <a:pt x="1633615" y="1661710"/>
                  </a:lnTo>
                  <a:lnTo>
                    <a:pt x="1663334" y="1627903"/>
                  </a:lnTo>
                  <a:lnTo>
                    <a:pt x="1691529" y="1592685"/>
                  </a:lnTo>
                  <a:lnTo>
                    <a:pt x="1718146" y="1556112"/>
                  </a:lnTo>
                  <a:lnTo>
                    <a:pt x="1743130" y="1518240"/>
                  </a:lnTo>
                  <a:lnTo>
                    <a:pt x="1766428" y="1479126"/>
                  </a:lnTo>
                  <a:lnTo>
                    <a:pt x="1787986" y="1438826"/>
                  </a:lnTo>
                  <a:lnTo>
                    <a:pt x="1807747" y="1397396"/>
                  </a:lnTo>
                  <a:lnTo>
                    <a:pt x="1825660" y="1354893"/>
                  </a:lnTo>
                  <a:lnTo>
                    <a:pt x="1841668" y="1311373"/>
                  </a:lnTo>
                  <a:lnTo>
                    <a:pt x="1855719" y="1266892"/>
                  </a:lnTo>
                  <a:lnTo>
                    <a:pt x="1867756" y="1221506"/>
                  </a:lnTo>
                  <a:lnTo>
                    <a:pt x="1877727" y="1175272"/>
                  </a:lnTo>
                  <a:lnTo>
                    <a:pt x="1885577" y="1128246"/>
                  </a:lnTo>
                  <a:lnTo>
                    <a:pt x="1891251" y="1080485"/>
                  </a:lnTo>
                  <a:lnTo>
                    <a:pt x="1894695" y="1032044"/>
                  </a:lnTo>
                  <a:lnTo>
                    <a:pt x="1895855" y="982980"/>
                  </a:lnTo>
                  <a:lnTo>
                    <a:pt x="1894695" y="933915"/>
                  </a:lnTo>
                  <a:lnTo>
                    <a:pt x="1891251" y="885474"/>
                  </a:lnTo>
                  <a:lnTo>
                    <a:pt x="1885577" y="837713"/>
                  </a:lnTo>
                  <a:lnTo>
                    <a:pt x="1877727" y="790687"/>
                  </a:lnTo>
                  <a:lnTo>
                    <a:pt x="1867756" y="744453"/>
                  </a:lnTo>
                  <a:lnTo>
                    <a:pt x="1855719" y="699067"/>
                  </a:lnTo>
                  <a:lnTo>
                    <a:pt x="1841668" y="654586"/>
                  </a:lnTo>
                  <a:lnTo>
                    <a:pt x="1825660" y="611066"/>
                  </a:lnTo>
                  <a:lnTo>
                    <a:pt x="1807747" y="568563"/>
                  </a:lnTo>
                  <a:lnTo>
                    <a:pt x="1787986" y="527133"/>
                  </a:lnTo>
                  <a:lnTo>
                    <a:pt x="1766428" y="486833"/>
                  </a:lnTo>
                  <a:lnTo>
                    <a:pt x="1743130" y="447719"/>
                  </a:lnTo>
                  <a:lnTo>
                    <a:pt x="1718146" y="409847"/>
                  </a:lnTo>
                  <a:lnTo>
                    <a:pt x="1691529" y="373274"/>
                  </a:lnTo>
                  <a:lnTo>
                    <a:pt x="1663334" y="338056"/>
                  </a:lnTo>
                  <a:lnTo>
                    <a:pt x="1633615" y="304249"/>
                  </a:lnTo>
                  <a:lnTo>
                    <a:pt x="1602428" y="271910"/>
                  </a:lnTo>
                  <a:lnTo>
                    <a:pt x="1569825" y="241094"/>
                  </a:lnTo>
                  <a:lnTo>
                    <a:pt x="1535861" y="211859"/>
                  </a:lnTo>
                  <a:lnTo>
                    <a:pt x="1500592" y="184260"/>
                  </a:lnTo>
                  <a:lnTo>
                    <a:pt x="1464070" y="158354"/>
                  </a:lnTo>
                  <a:lnTo>
                    <a:pt x="1426351" y="134196"/>
                  </a:lnTo>
                  <a:lnTo>
                    <a:pt x="1387488" y="111844"/>
                  </a:lnTo>
                  <a:lnTo>
                    <a:pt x="1347536" y="91354"/>
                  </a:lnTo>
                  <a:lnTo>
                    <a:pt x="1306550" y="72781"/>
                  </a:lnTo>
                  <a:lnTo>
                    <a:pt x="1264583" y="56183"/>
                  </a:lnTo>
                  <a:lnTo>
                    <a:pt x="1221690" y="41615"/>
                  </a:lnTo>
                  <a:lnTo>
                    <a:pt x="1177925" y="29133"/>
                  </a:lnTo>
                  <a:lnTo>
                    <a:pt x="1133343" y="18795"/>
                  </a:lnTo>
                  <a:lnTo>
                    <a:pt x="1087998" y="10657"/>
                  </a:lnTo>
                  <a:lnTo>
                    <a:pt x="1041944" y="4774"/>
                  </a:lnTo>
                  <a:lnTo>
                    <a:pt x="995236" y="1202"/>
                  </a:lnTo>
                  <a:lnTo>
                    <a:pt x="9479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02780" y="2001011"/>
              <a:ext cx="1896110" cy="1965960"/>
            </a:xfrm>
            <a:custGeom>
              <a:avLst/>
              <a:gdLst/>
              <a:ahLst/>
              <a:cxnLst/>
              <a:rect l="l" t="t" r="r" b="b"/>
              <a:pathLst>
                <a:path w="1896109" h="1965960">
                  <a:moveTo>
                    <a:pt x="0" y="982980"/>
                  </a:moveTo>
                  <a:lnTo>
                    <a:pt x="1160" y="933915"/>
                  </a:lnTo>
                  <a:lnTo>
                    <a:pt x="4604" y="885474"/>
                  </a:lnTo>
                  <a:lnTo>
                    <a:pt x="10278" y="837713"/>
                  </a:lnTo>
                  <a:lnTo>
                    <a:pt x="18128" y="790687"/>
                  </a:lnTo>
                  <a:lnTo>
                    <a:pt x="28099" y="744453"/>
                  </a:lnTo>
                  <a:lnTo>
                    <a:pt x="40136" y="699067"/>
                  </a:lnTo>
                  <a:lnTo>
                    <a:pt x="54187" y="654586"/>
                  </a:lnTo>
                  <a:lnTo>
                    <a:pt x="70195" y="611066"/>
                  </a:lnTo>
                  <a:lnTo>
                    <a:pt x="88108" y="568563"/>
                  </a:lnTo>
                  <a:lnTo>
                    <a:pt x="107869" y="527133"/>
                  </a:lnTo>
                  <a:lnTo>
                    <a:pt x="129427" y="486833"/>
                  </a:lnTo>
                  <a:lnTo>
                    <a:pt x="152725" y="447719"/>
                  </a:lnTo>
                  <a:lnTo>
                    <a:pt x="177709" y="409847"/>
                  </a:lnTo>
                  <a:lnTo>
                    <a:pt x="204326" y="373274"/>
                  </a:lnTo>
                  <a:lnTo>
                    <a:pt x="232521" y="338056"/>
                  </a:lnTo>
                  <a:lnTo>
                    <a:pt x="262240" y="304249"/>
                  </a:lnTo>
                  <a:lnTo>
                    <a:pt x="293427" y="271910"/>
                  </a:lnTo>
                  <a:lnTo>
                    <a:pt x="326030" y="241094"/>
                  </a:lnTo>
                  <a:lnTo>
                    <a:pt x="359994" y="211859"/>
                  </a:lnTo>
                  <a:lnTo>
                    <a:pt x="395263" y="184260"/>
                  </a:lnTo>
                  <a:lnTo>
                    <a:pt x="431785" y="158354"/>
                  </a:lnTo>
                  <a:lnTo>
                    <a:pt x="469504" y="134196"/>
                  </a:lnTo>
                  <a:lnTo>
                    <a:pt x="508367" y="111844"/>
                  </a:lnTo>
                  <a:lnTo>
                    <a:pt x="548319" y="91354"/>
                  </a:lnTo>
                  <a:lnTo>
                    <a:pt x="589305" y="72781"/>
                  </a:lnTo>
                  <a:lnTo>
                    <a:pt x="631272" y="56183"/>
                  </a:lnTo>
                  <a:lnTo>
                    <a:pt x="674165" y="41615"/>
                  </a:lnTo>
                  <a:lnTo>
                    <a:pt x="717930" y="29133"/>
                  </a:lnTo>
                  <a:lnTo>
                    <a:pt x="762512" y="18795"/>
                  </a:lnTo>
                  <a:lnTo>
                    <a:pt x="807857" y="10657"/>
                  </a:lnTo>
                  <a:lnTo>
                    <a:pt x="853911" y="4774"/>
                  </a:lnTo>
                  <a:lnTo>
                    <a:pt x="900619" y="1202"/>
                  </a:lnTo>
                  <a:lnTo>
                    <a:pt x="947927" y="0"/>
                  </a:lnTo>
                  <a:lnTo>
                    <a:pt x="995236" y="1202"/>
                  </a:lnTo>
                  <a:lnTo>
                    <a:pt x="1041944" y="4774"/>
                  </a:lnTo>
                  <a:lnTo>
                    <a:pt x="1087998" y="10657"/>
                  </a:lnTo>
                  <a:lnTo>
                    <a:pt x="1133343" y="18795"/>
                  </a:lnTo>
                  <a:lnTo>
                    <a:pt x="1177925" y="29133"/>
                  </a:lnTo>
                  <a:lnTo>
                    <a:pt x="1221690" y="41615"/>
                  </a:lnTo>
                  <a:lnTo>
                    <a:pt x="1264583" y="56183"/>
                  </a:lnTo>
                  <a:lnTo>
                    <a:pt x="1306550" y="72781"/>
                  </a:lnTo>
                  <a:lnTo>
                    <a:pt x="1347536" y="91354"/>
                  </a:lnTo>
                  <a:lnTo>
                    <a:pt x="1387488" y="111844"/>
                  </a:lnTo>
                  <a:lnTo>
                    <a:pt x="1426351" y="134196"/>
                  </a:lnTo>
                  <a:lnTo>
                    <a:pt x="1464070" y="158354"/>
                  </a:lnTo>
                  <a:lnTo>
                    <a:pt x="1500592" y="184260"/>
                  </a:lnTo>
                  <a:lnTo>
                    <a:pt x="1535861" y="211859"/>
                  </a:lnTo>
                  <a:lnTo>
                    <a:pt x="1569825" y="241094"/>
                  </a:lnTo>
                  <a:lnTo>
                    <a:pt x="1602428" y="271910"/>
                  </a:lnTo>
                  <a:lnTo>
                    <a:pt x="1633615" y="304249"/>
                  </a:lnTo>
                  <a:lnTo>
                    <a:pt x="1663334" y="338056"/>
                  </a:lnTo>
                  <a:lnTo>
                    <a:pt x="1691529" y="373274"/>
                  </a:lnTo>
                  <a:lnTo>
                    <a:pt x="1718146" y="409847"/>
                  </a:lnTo>
                  <a:lnTo>
                    <a:pt x="1743130" y="447719"/>
                  </a:lnTo>
                  <a:lnTo>
                    <a:pt x="1766428" y="486833"/>
                  </a:lnTo>
                  <a:lnTo>
                    <a:pt x="1787986" y="527133"/>
                  </a:lnTo>
                  <a:lnTo>
                    <a:pt x="1807747" y="568563"/>
                  </a:lnTo>
                  <a:lnTo>
                    <a:pt x="1825660" y="611066"/>
                  </a:lnTo>
                  <a:lnTo>
                    <a:pt x="1841668" y="654586"/>
                  </a:lnTo>
                  <a:lnTo>
                    <a:pt x="1855719" y="699067"/>
                  </a:lnTo>
                  <a:lnTo>
                    <a:pt x="1867756" y="744453"/>
                  </a:lnTo>
                  <a:lnTo>
                    <a:pt x="1877727" y="790687"/>
                  </a:lnTo>
                  <a:lnTo>
                    <a:pt x="1885577" y="837713"/>
                  </a:lnTo>
                  <a:lnTo>
                    <a:pt x="1891251" y="885474"/>
                  </a:lnTo>
                  <a:lnTo>
                    <a:pt x="1894695" y="933915"/>
                  </a:lnTo>
                  <a:lnTo>
                    <a:pt x="1895855" y="982980"/>
                  </a:lnTo>
                  <a:lnTo>
                    <a:pt x="1894695" y="1032044"/>
                  </a:lnTo>
                  <a:lnTo>
                    <a:pt x="1891251" y="1080485"/>
                  </a:lnTo>
                  <a:lnTo>
                    <a:pt x="1885577" y="1128246"/>
                  </a:lnTo>
                  <a:lnTo>
                    <a:pt x="1877727" y="1175272"/>
                  </a:lnTo>
                  <a:lnTo>
                    <a:pt x="1867756" y="1221506"/>
                  </a:lnTo>
                  <a:lnTo>
                    <a:pt x="1855719" y="1266892"/>
                  </a:lnTo>
                  <a:lnTo>
                    <a:pt x="1841668" y="1311373"/>
                  </a:lnTo>
                  <a:lnTo>
                    <a:pt x="1825660" y="1354893"/>
                  </a:lnTo>
                  <a:lnTo>
                    <a:pt x="1807747" y="1397396"/>
                  </a:lnTo>
                  <a:lnTo>
                    <a:pt x="1787986" y="1438826"/>
                  </a:lnTo>
                  <a:lnTo>
                    <a:pt x="1766428" y="1479126"/>
                  </a:lnTo>
                  <a:lnTo>
                    <a:pt x="1743130" y="1518240"/>
                  </a:lnTo>
                  <a:lnTo>
                    <a:pt x="1718146" y="1556112"/>
                  </a:lnTo>
                  <a:lnTo>
                    <a:pt x="1691529" y="1592685"/>
                  </a:lnTo>
                  <a:lnTo>
                    <a:pt x="1663334" y="1627903"/>
                  </a:lnTo>
                  <a:lnTo>
                    <a:pt x="1633615" y="1661710"/>
                  </a:lnTo>
                  <a:lnTo>
                    <a:pt x="1602428" y="1694049"/>
                  </a:lnTo>
                  <a:lnTo>
                    <a:pt x="1569825" y="1724865"/>
                  </a:lnTo>
                  <a:lnTo>
                    <a:pt x="1535861" y="1754100"/>
                  </a:lnTo>
                  <a:lnTo>
                    <a:pt x="1500592" y="1781699"/>
                  </a:lnTo>
                  <a:lnTo>
                    <a:pt x="1464070" y="1807605"/>
                  </a:lnTo>
                  <a:lnTo>
                    <a:pt x="1426351" y="1831763"/>
                  </a:lnTo>
                  <a:lnTo>
                    <a:pt x="1387488" y="1854115"/>
                  </a:lnTo>
                  <a:lnTo>
                    <a:pt x="1347536" y="1874605"/>
                  </a:lnTo>
                  <a:lnTo>
                    <a:pt x="1306550" y="1893178"/>
                  </a:lnTo>
                  <a:lnTo>
                    <a:pt x="1264583" y="1909776"/>
                  </a:lnTo>
                  <a:lnTo>
                    <a:pt x="1221690" y="1924344"/>
                  </a:lnTo>
                  <a:lnTo>
                    <a:pt x="1177925" y="1936826"/>
                  </a:lnTo>
                  <a:lnTo>
                    <a:pt x="1133343" y="1947164"/>
                  </a:lnTo>
                  <a:lnTo>
                    <a:pt x="1087998" y="1955302"/>
                  </a:lnTo>
                  <a:lnTo>
                    <a:pt x="1041944" y="1961185"/>
                  </a:lnTo>
                  <a:lnTo>
                    <a:pt x="995236" y="1964757"/>
                  </a:lnTo>
                  <a:lnTo>
                    <a:pt x="947927" y="1965960"/>
                  </a:lnTo>
                  <a:lnTo>
                    <a:pt x="900619" y="1964757"/>
                  </a:lnTo>
                  <a:lnTo>
                    <a:pt x="853911" y="1961185"/>
                  </a:lnTo>
                  <a:lnTo>
                    <a:pt x="807857" y="1955302"/>
                  </a:lnTo>
                  <a:lnTo>
                    <a:pt x="762512" y="1947164"/>
                  </a:lnTo>
                  <a:lnTo>
                    <a:pt x="717930" y="1936826"/>
                  </a:lnTo>
                  <a:lnTo>
                    <a:pt x="674165" y="1924344"/>
                  </a:lnTo>
                  <a:lnTo>
                    <a:pt x="631272" y="1909776"/>
                  </a:lnTo>
                  <a:lnTo>
                    <a:pt x="589305" y="1893178"/>
                  </a:lnTo>
                  <a:lnTo>
                    <a:pt x="548319" y="1874605"/>
                  </a:lnTo>
                  <a:lnTo>
                    <a:pt x="508367" y="1854115"/>
                  </a:lnTo>
                  <a:lnTo>
                    <a:pt x="469504" y="1831763"/>
                  </a:lnTo>
                  <a:lnTo>
                    <a:pt x="431785" y="1807605"/>
                  </a:lnTo>
                  <a:lnTo>
                    <a:pt x="395263" y="1781699"/>
                  </a:lnTo>
                  <a:lnTo>
                    <a:pt x="359994" y="1754100"/>
                  </a:lnTo>
                  <a:lnTo>
                    <a:pt x="326030" y="1724865"/>
                  </a:lnTo>
                  <a:lnTo>
                    <a:pt x="293427" y="1694049"/>
                  </a:lnTo>
                  <a:lnTo>
                    <a:pt x="262240" y="1661710"/>
                  </a:lnTo>
                  <a:lnTo>
                    <a:pt x="232521" y="1627903"/>
                  </a:lnTo>
                  <a:lnTo>
                    <a:pt x="204326" y="1592685"/>
                  </a:lnTo>
                  <a:lnTo>
                    <a:pt x="177709" y="1556112"/>
                  </a:lnTo>
                  <a:lnTo>
                    <a:pt x="152725" y="1518240"/>
                  </a:lnTo>
                  <a:lnTo>
                    <a:pt x="129427" y="1479126"/>
                  </a:lnTo>
                  <a:lnTo>
                    <a:pt x="107869" y="1438826"/>
                  </a:lnTo>
                  <a:lnTo>
                    <a:pt x="88108" y="1397396"/>
                  </a:lnTo>
                  <a:lnTo>
                    <a:pt x="70195" y="1354893"/>
                  </a:lnTo>
                  <a:lnTo>
                    <a:pt x="54187" y="1311373"/>
                  </a:lnTo>
                  <a:lnTo>
                    <a:pt x="40136" y="1266892"/>
                  </a:lnTo>
                  <a:lnTo>
                    <a:pt x="28099" y="1221506"/>
                  </a:lnTo>
                  <a:lnTo>
                    <a:pt x="18128" y="1175272"/>
                  </a:lnTo>
                  <a:lnTo>
                    <a:pt x="10278" y="1128246"/>
                  </a:lnTo>
                  <a:lnTo>
                    <a:pt x="4604" y="1080485"/>
                  </a:lnTo>
                  <a:lnTo>
                    <a:pt x="1160" y="1032044"/>
                  </a:lnTo>
                  <a:lnTo>
                    <a:pt x="0" y="98298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349743" y="2635757"/>
            <a:ext cx="1202690" cy="63373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50190" marR="5080" indent="-238125">
              <a:lnSpc>
                <a:spcPts val="2270"/>
              </a:lnSpc>
              <a:spcBef>
                <a:spcPts val="384"/>
              </a:spcBef>
            </a:pPr>
            <a:r>
              <a:rPr sz="2100" dirty="0">
                <a:latin typeface="Calibri"/>
                <a:cs typeface="Calibri"/>
              </a:rPr>
              <a:t>Decisão</a:t>
            </a:r>
            <a:r>
              <a:rPr sz="2100" spc="-9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de </a:t>
            </a:r>
            <a:r>
              <a:rPr sz="2100" spc="-10" dirty="0">
                <a:latin typeface="Calibri"/>
                <a:cs typeface="Calibri"/>
              </a:rPr>
              <a:t>design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356412" y="305816"/>
            <a:ext cx="39008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Processo</a:t>
            </a:r>
            <a:r>
              <a:rPr spc="-105" dirty="0"/>
              <a:t> </a:t>
            </a:r>
            <a:r>
              <a:rPr dirty="0"/>
              <a:t>da</a:t>
            </a:r>
            <a:r>
              <a:rPr spc="-235" dirty="0"/>
              <a:t> </a:t>
            </a:r>
            <a:r>
              <a:rPr spc="-25" dirty="0"/>
              <a:t>AH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904489" y="1400683"/>
            <a:ext cx="3429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Calibri"/>
                <a:cs typeface="Calibri"/>
              </a:rPr>
              <a:t>Av1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794761" y="1920239"/>
            <a:ext cx="563245" cy="878205"/>
            <a:chOff x="2794761" y="1920239"/>
            <a:chExt cx="563245" cy="878205"/>
          </a:xfrm>
        </p:grpSpPr>
        <p:sp>
          <p:nvSpPr>
            <p:cNvPr id="32" name="object 32"/>
            <p:cNvSpPr/>
            <p:nvPr/>
          </p:nvSpPr>
          <p:spPr>
            <a:xfrm>
              <a:off x="2957830" y="1920239"/>
              <a:ext cx="235585" cy="234950"/>
            </a:xfrm>
            <a:custGeom>
              <a:avLst/>
              <a:gdLst/>
              <a:ahLst/>
              <a:cxnLst/>
              <a:rect l="l" t="t" r="r" b="b"/>
              <a:pathLst>
                <a:path w="235585" h="234950">
                  <a:moveTo>
                    <a:pt x="235204" y="80010"/>
                  </a:moveTo>
                  <a:lnTo>
                    <a:pt x="155194" y="80010"/>
                  </a:lnTo>
                  <a:lnTo>
                    <a:pt x="155194" y="0"/>
                  </a:lnTo>
                  <a:lnTo>
                    <a:pt x="80010" y="0"/>
                  </a:lnTo>
                  <a:lnTo>
                    <a:pt x="80010" y="80010"/>
                  </a:lnTo>
                  <a:lnTo>
                    <a:pt x="0" y="80010"/>
                  </a:lnTo>
                  <a:lnTo>
                    <a:pt x="0" y="154940"/>
                  </a:lnTo>
                  <a:lnTo>
                    <a:pt x="80010" y="154940"/>
                  </a:lnTo>
                  <a:lnTo>
                    <a:pt x="80010" y="234950"/>
                  </a:lnTo>
                  <a:lnTo>
                    <a:pt x="155194" y="234950"/>
                  </a:lnTo>
                  <a:lnTo>
                    <a:pt x="155194" y="154940"/>
                  </a:lnTo>
                  <a:lnTo>
                    <a:pt x="235204" y="154940"/>
                  </a:lnTo>
                  <a:lnTo>
                    <a:pt x="235204" y="80010"/>
                  </a:lnTo>
                  <a:close/>
                </a:path>
              </a:pathLst>
            </a:custGeom>
            <a:solidFill>
              <a:srgbClr val="F3B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01111" y="2241803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5" h="550544">
                  <a:moveTo>
                    <a:pt x="275081" y="0"/>
                  </a:moveTo>
                  <a:lnTo>
                    <a:pt x="225643" y="4432"/>
                  </a:lnTo>
                  <a:lnTo>
                    <a:pt x="179109" y="17213"/>
                  </a:lnTo>
                  <a:lnTo>
                    <a:pt x="136256" y="37563"/>
                  </a:lnTo>
                  <a:lnTo>
                    <a:pt x="97863" y="64706"/>
                  </a:lnTo>
                  <a:lnTo>
                    <a:pt x="64706" y="97863"/>
                  </a:lnTo>
                  <a:lnTo>
                    <a:pt x="37563" y="136256"/>
                  </a:lnTo>
                  <a:lnTo>
                    <a:pt x="17213" y="179109"/>
                  </a:lnTo>
                  <a:lnTo>
                    <a:pt x="4432" y="225643"/>
                  </a:lnTo>
                  <a:lnTo>
                    <a:pt x="0" y="275081"/>
                  </a:lnTo>
                  <a:lnTo>
                    <a:pt x="4432" y="324520"/>
                  </a:lnTo>
                  <a:lnTo>
                    <a:pt x="17213" y="371054"/>
                  </a:lnTo>
                  <a:lnTo>
                    <a:pt x="37563" y="413907"/>
                  </a:lnTo>
                  <a:lnTo>
                    <a:pt x="64706" y="452300"/>
                  </a:lnTo>
                  <a:lnTo>
                    <a:pt x="97863" y="485457"/>
                  </a:lnTo>
                  <a:lnTo>
                    <a:pt x="136256" y="512600"/>
                  </a:lnTo>
                  <a:lnTo>
                    <a:pt x="179109" y="532950"/>
                  </a:lnTo>
                  <a:lnTo>
                    <a:pt x="225643" y="545731"/>
                  </a:lnTo>
                  <a:lnTo>
                    <a:pt x="275081" y="550163"/>
                  </a:lnTo>
                  <a:lnTo>
                    <a:pt x="324520" y="545731"/>
                  </a:lnTo>
                  <a:lnTo>
                    <a:pt x="371054" y="532950"/>
                  </a:lnTo>
                  <a:lnTo>
                    <a:pt x="413907" y="512600"/>
                  </a:lnTo>
                  <a:lnTo>
                    <a:pt x="452300" y="485457"/>
                  </a:lnTo>
                  <a:lnTo>
                    <a:pt x="485457" y="452300"/>
                  </a:lnTo>
                  <a:lnTo>
                    <a:pt x="512600" y="413907"/>
                  </a:lnTo>
                  <a:lnTo>
                    <a:pt x="532950" y="371054"/>
                  </a:lnTo>
                  <a:lnTo>
                    <a:pt x="545731" y="324520"/>
                  </a:lnTo>
                  <a:lnTo>
                    <a:pt x="550163" y="275081"/>
                  </a:lnTo>
                  <a:lnTo>
                    <a:pt x="545731" y="225643"/>
                  </a:lnTo>
                  <a:lnTo>
                    <a:pt x="532950" y="179109"/>
                  </a:lnTo>
                  <a:lnTo>
                    <a:pt x="512600" y="136256"/>
                  </a:lnTo>
                  <a:lnTo>
                    <a:pt x="485457" y="97863"/>
                  </a:lnTo>
                  <a:lnTo>
                    <a:pt x="452300" y="64706"/>
                  </a:lnTo>
                  <a:lnTo>
                    <a:pt x="413907" y="37563"/>
                  </a:lnTo>
                  <a:lnTo>
                    <a:pt x="371054" y="17213"/>
                  </a:lnTo>
                  <a:lnTo>
                    <a:pt x="324520" y="4432"/>
                  </a:lnTo>
                  <a:lnTo>
                    <a:pt x="275081" y="0"/>
                  </a:lnTo>
                  <a:close/>
                </a:path>
              </a:pathLst>
            </a:custGeom>
            <a:solidFill>
              <a:srgbClr val="FFB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01111" y="2241803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5" h="550544">
                  <a:moveTo>
                    <a:pt x="0" y="275081"/>
                  </a:moveTo>
                  <a:lnTo>
                    <a:pt x="4432" y="225643"/>
                  </a:lnTo>
                  <a:lnTo>
                    <a:pt x="17213" y="179109"/>
                  </a:lnTo>
                  <a:lnTo>
                    <a:pt x="37563" y="136256"/>
                  </a:lnTo>
                  <a:lnTo>
                    <a:pt x="64706" y="97863"/>
                  </a:lnTo>
                  <a:lnTo>
                    <a:pt x="97863" y="64706"/>
                  </a:lnTo>
                  <a:lnTo>
                    <a:pt x="136256" y="37563"/>
                  </a:lnTo>
                  <a:lnTo>
                    <a:pt x="179109" y="17213"/>
                  </a:lnTo>
                  <a:lnTo>
                    <a:pt x="225643" y="4432"/>
                  </a:lnTo>
                  <a:lnTo>
                    <a:pt x="275081" y="0"/>
                  </a:lnTo>
                  <a:lnTo>
                    <a:pt x="324520" y="4432"/>
                  </a:lnTo>
                  <a:lnTo>
                    <a:pt x="371054" y="17213"/>
                  </a:lnTo>
                  <a:lnTo>
                    <a:pt x="413907" y="37563"/>
                  </a:lnTo>
                  <a:lnTo>
                    <a:pt x="452300" y="64706"/>
                  </a:lnTo>
                  <a:lnTo>
                    <a:pt x="485457" y="97863"/>
                  </a:lnTo>
                  <a:lnTo>
                    <a:pt x="512600" y="136256"/>
                  </a:lnTo>
                  <a:lnTo>
                    <a:pt x="532950" y="179109"/>
                  </a:lnTo>
                  <a:lnTo>
                    <a:pt x="545731" y="225643"/>
                  </a:lnTo>
                  <a:lnTo>
                    <a:pt x="550163" y="275081"/>
                  </a:lnTo>
                  <a:lnTo>
                    <a:pt x="545731" y="324520"/>
                  </a:lnTo>
                  <a:lnTo>
                    <a:pt x="532950" y="371054"/>
                  </a:lnTo>
                  <a:lnTo>
                    <a:pt x="512600" y="413907"/>
                  </a:lnTo>
                  <a:lnTo>
                    <a:pt x="485457" y="452300"/>
                  </a:lnTo>
                  <a:lnTo>
                    <a:pt x="452300" y="485457"/>
                  </a:lnTo>
                  <a:lnTo>
                    <a:pt x="413907" y="512600"/>
                  </a:lnTo>
                  <a:lnTo>
                    <a:pt x="371054" y="532950"/>
                  </a:lnTo>
                  <a:lnTo>
                    <a:pt x="324520" y="545731"/>
                  </a:lnTo>
                  <a:lnTo>
                    <a:pt x="275081" y="550163"/>
                  </a:lnTo>
                  <a:lnTo>
                    <a:pt x="225643" y="545731"/>
                  </a:lnTo>
                  <a:lnTo>
                    <a:pt x="179109" y="532950"/>
                  </a:lnTo>
                  <a:lnTo>
                    <a:pt x="136256" y="512600"/>
                  </a:lnTo>
                  <a:lnTo>
                    <a:pt x="97863" y="485457"/>
                  </a:lnTo>
                  <a:lnTo>
                    <a:pt x="64706" y="452300"/>
                  </a:lnTo>
                  <a:lnTo>
                    <a:pt x="37563" y="413907"/>
                  </a:lnTo>
                  <a:lnTo>
                    <a:pt x="17213" y="371054"/>
                  </a:lnTo>
                  <a:lnTo>
                    <a:pt x="4432" y="324520"/>
                  </a:lnTo>
                  <a:lnTo>
                    <a:pt x="0" y="27508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904489" y="2360167"/>
            <a:ext cx="3429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Calibri"/>
                <a:cs typeface="Calibri"/>
              </a:rPr>
              <a:t>Av2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794761" y="2880360"/>
            <a:ext cx="563245" cy="878205"/>
            <a:chOff x="2794761" y="2880360"/>
            <a:chExt cx="563245" cy="878205"/>
          </a:xfrm>
        </p:grpSpPr>
        <p:sp>
          <p:nvSpPr>
            <p:cNvPr id="37" name="object 37"/>
            <p:cNvSpPr/>
            <p:nvPr/>
          </p:nvSpPr>
          <p:spPr>
            <a:xfrm>
              <a:off x="2957830" y="2880359"/>
              <a:ext cx="235585" cy="233679"/>
            </a:xfrm>
            <a:custGeom>
              <a:avLst/>
              <a:gdLst/>
              <a:ahLst/>
              <a:cxnLst/>
              <a:rect l="l" t="t" r="r" b="b"/>
              <a:pathLst>
                <a:path w="235585" h="233680">
                  <a:moveTo>
                    <a:pt x="235204" y="78740"/>
                  </a:moveTo>
                  <a:lnTo>
                    <a:pt x="155067" y="78740"/>
                  </a:lnTo>
                  <a:lnTo>
                    <a:pt x="155067" y="0"/>
                  </a:lnTo>
                  <a:lnTo>
                    <a:pt x="80137" y="0"/>
                  </a:lnTo>
                  <a:lnTo>
                    <a:pt x="80137" y="78740"/>
                  </a:lnTo>
                  <a:lnTo>
                    <a:pt x="0" y="78740"/>
                  </a:lnTo>
                  <a:lnTo>
                    <a:pt x="0" y="153670"/>
                  </a:lnTo>
                  <a:lnTo>
                    <a:pt x="80137" y="153670"/>
                  </a:lnTo>
                  <a:lnTo>
                    <a:pt x="80137" y="233680"/>
                  </a:lnTo>
                  <a:lnTo>
                    <a:pt x="155067" y="233680"/>
                  </a:lnTo>
                  <a:lnTo>
                    <a:pt x="155067" y="153670"/>
                  </a:lnTo>
                  <a:lnTo>
                    <a:pt x="235204" y="153670"/>
                  </a:lnTo>
                  <a:lnTo>
                    <a:pt x="235204" y="78740"/>
                  </a:lnTo>
                  <a:close/>
                </a:path>
              </a:pathLst>
            </a:custGeom>
            <a:solidFill>
              <a:srgbClr val="FFC6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01111" y="3200400"/>
              <a:ext cx="550545" cy="551815"/>
            </a:xfrm>
            <a:custGeom>
              <a:avLst/>
              <a:gdLst/>
              <a:ahLst/>
              <a:cxnLst/>
              <a:rect l="l" t="t" r="r" b="b"/>
              <a:pathLst>
                <a:path w="550545" h="551814">
                  <a:moveTo>
                    <a:pt x="275081" y="0"/>
                  </a:moveTo>
                  <a:lnTo>
                    <a:pt x="225643" y="4442"/>
                  </a:lnTo>
                  <a:lnTo>
                    <a:pt x="179109" y="17251"/>
                  </a:lnTo>
                  <a:lnTo>
                    <a:pt x="136256" y="37648"/>
                  </a:lnTo>
                  <a:lnTo>
                    <a:pt x="97863" y="64856"/>
                  </a:lnTo>
                  <a:lnTo>
                    <a:pt x="64706" y="98098"/>
                  </a:lnTo>
                  <a:lnTo>
                    <a:pt x="37563" y="136595"/>
                  </a:lnTo>
                  <a:lnTo>
                    <a:pt x="17213" y="179570"/>
                  </a:lnTo>
                  <a:lnTo>
                    <a:pt x="4432" y="226246"/>
                  </a:lnTo>
                  <a:lnTo>
                    <a:pt x="0" y="275844"/>
                  </a:lnTo>
                  <a:lnTo>
                    <a:pt x="4432" y="325441"/>
                  </a:lnTo>
                  <a:lnTo>
                    <a:pt x="17213" y="372117"/>
                  </a:lnTo>
                  <a:lnTo>
                    <a:pt x="37563" y="415092"/>
                  </a:lnTo>
                  <a:lnTo>
                    <a:pt x="64706" y="453589"/>
                  </a:lnTo>
                  <a:lnTo>
                    <a:pt x="97863" y="486831"/>
                  </a:lnTo>
                  <a:lnTo>
                    <a:pt x="136256" y="514039"/>
                  </a:lnTo>
                  <a:lnTo>
                    <a:pt x="179109" y="534436"/>
                  </a:lnTo>
                  <a:lnTo>
                    <a:pt x="225643" y="547245"/>
                  </a:lnTo>
                  <a:lnTo>
                    <a:pt x="275081" y="551688"/>
                  </a:lnTo>
                  <a:lnTo>
                    <a:pt x="324520" y="547245"/>
                  </a:lnTo>
                  <a:lnTo>
                    <a:pt x="371054" y="534436"/>
                  </a:lnTo>
                  <a:lnTo>
                    <a:pt x="413907" y="514039"/>
                  </a:lnTo>
                  <a:lnTo>
                    <a:pt x="452300" y="486831"/>
                  </a:lnTo>
                  <a:lnTo>
                    <a:pt x="485457" y="453589"/>
                  </a:lnTo>
                  <a:lnTo>
                    <a:pt x="512600" y="415092"/>
                  </a:lnTo>
                  <a:lnTo>
                    <a:pt x="532950" y="372117"/>
                  </a:lnTo>
                  <a:lnTo>
                    <a:pt x="545731" y="325441"/>
                  </a:lnTo>
                  <a:lnTo>
                    <a:pt x="550163" y="275844"/>
                  </a:lnTo>
                  <a:lnTo>
                    <a:pt x="545731" y="226246"/>
                  </a:lnTo>
                  <a:lnTo>
                    <a:pt x="532950" y="179570"/>
                  </a:lnTo>
                  <a:lnTo>
                    <a:pt x="512600" y="136595"/>
                  </a:lnTo>
                  <a:lnTo>
                    <a:pt x="485457" y="98098"/>
                  </a:lnTo>
                  <a:lnTo>
                    <a:pt x="452300" y="64856"/>
                  </a:lnTo>
                  <a:lnTo>
                    <a:pt x="413907" y="37648"/>
                  </a:lnTo>
                  <a:lnTo>
                    <a:pt x="371054" y="17251"/>
                  </a:lnTo>
                  <a:lnTo>
                    <a:pt x="324520" y="4442"/>
                  </a:lnTo>
                  <a:lnTo>
                    <a:pt x="275081" y="0"/>
                  </a:lnTo>
                  <a:close/>
                </a:path>
              </a:pathLst>
            </a:custGeom>
            <a:solidFill>
              <a:srgbClr val="FFC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01111" y="3200400"/>
              <a:ext cx="550545" cy="551815"/>
            </a:xfrm>
            <a:custGeom>
              <a:avLst/>
              <a:gdLst/>
              <a:ahLst/>
              <a:cxnLst/>
              <a:rect l="l" t="t" r="r" b="b"/>
              <a:pathLst>
                <a:path w="550545" h="551814">
                  <a:moveTo>
                    <a:pt x="0" y="275844"/>
                  </a:moveTo>
                  <a:lnTo>
                    <a:pt x="4432" y="226246"/>
                  </a:lnTo>
                  <a:lnTo>
                    <a:pt x="17213" y="179570"/>
                  </a:lnTo>
                  <a:lnTo>
                    <a:pt x="37563" y="136595"/>
                  </a:lnTo>
                  <a:lnTo>
                    <a:pt x="64706" y="98098"/>
                  </a:lnTo>
                  <a:lnTo>
                    <a:pt x="97863" y="64856"/>
                  </a:lnTo>
                  <a:lnTo>
                    <a:pt x="136256" y="37648"/>
                  </a:lnTo>
                  <a:lnTo>
                    <a:pt x="179109" y="17251"/>
                  </a:lnTo>
                  <a:lnTo>
                    <a:pt x="225643" y="4442"/>
                  </a:lnTo>
                  <a:lnTo>
                    <a:pt x="275081" y="0"/>
                  </a:lnTo>
                  <a:lnTo>
                    <a:pt x="324520" y="4442"/>
                  </a:lnTo>
                  <a:lnTo>
                    <a:pt x="371054" y="17251"/>
                  </a:lnTo>
                  <a:lnTo>
                    <a:pt x="413907" y="37648"/>
                  </a:lnTo>
                  <a:lnTo>
                    <a:pt x="452300" y="64856"/>
                  </a:lnTo>
                  <a:lnTo>
                    <a:pt x="485457" y="98098"/>
                  </a:lnTo>
                  <a:lnTo>
                    <a:pt x="512600" y="136595"/>
                  </a:lnTo>
                  <a:lnTo>
                    <a:pt x="532950" y="179570"/>
                  </a:lnTo>
                  <a:lnTo>
                    <a:pt x="545731" y="226246"/>
                  </a:lnTo>
                  <a:lnTo>
                    <a:pt x="550163" y="275844"/>
                  </a:lnTo>
                  <a:lnTo>
                    <a:pt x="545731" y="325441"/>
                  </a:lnTo>
                  <a:lnTo>
                    <a:pt x="532950" y="372117"/>
                  </a:lnTo>
                  <a:lnTo>
                    <a:pt x="512600" y="415092"/>
                  </a:lnTo>
                  <a:lnTo>
                    <a:pt x="485457" y="453589"/>
                  </a:lnTo>
                  <a:lnTo>
                    <a:pt x="452300" y="486831"/>
                  </a:lnTo>
                  <a:lnTo>
                    <a:pt x="413907" y="514039"/>
                  </a:lnTo>
                  <a:lnTo>
                    <a:pt x="371054" y="534436"/>
                  </a:lnTo>
                  <a:lnTo>
                    <a:pt x="324520" y="547245"/>
                  </a:lnTo>
                  <a:lnTo>
                    <a:pt x="275081" y="551688"/>
                  </a:lnTo>
                  <a:lnTo>
                    <a:pt x="225643" y="547245"/>
                  </a:lnTo>
                  <a:lnTo>
                    <a:pt x="179109" y="534436"/>
                  </a:lnTo>
                  <a:lnTo>
                    <a:pt x="136256" y="514039"/>
                  </a:lnTo>
                  <a:lnTo>
                    <a:pt x="97863" y="486831"/>
                  </a:lnTo>
                  <a:lnTo>
                    <a:pt x="64706" y="453589"/>
                  </a:lnTo>
                  <a:lnTo>
                    <a:pt x="37563" y="415092"/>
                  </a:lnTo>
                  <a:lnTo>
                    <a:pt x="17213" y="372117"/>
                  </a:lnTo>
                  <a:lnTo>
                    <a:pt x="4432" y="325441"/>
                  </a:lnTo>
                  <a:lnTo>
                    <a:pt x="0" y="27584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904489" y="3319652"/>
            <a:ext cx="3429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Calibri"/>
                <a:cs typeface="Calibri"/>
              </a:rPr>
              <a:t>Av3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794761" y="3839209"/>
            <a:ext cx="563245" cy="878205"/>
            <a:chOff x="2794761" y="3839209"/>
            <a:chExt cx="563245" cy="878205"/>
          </a:xfrm>
        </p:grpSpPr>
        <p:sp>
          <p:nvSpPr>
            <p:cNvPr id="42" name="object 42"/>
            <p:cNvSpPr/>
            <p:nvPr/>
          </p:nvSpPr>
          <p:spPr>
            <a:xfrm>
              <a:off x="2957830" y="3839209"/>
              <a:ext cx="235585" cy="234950"/>
            </a:xfrm>
            <a:custGeom>
              <a:avLst/>
              <a:gdLst/>
              <a:ahLst/>
              <a:cxnLst/>
              <a:rect l="l" t="t" r="r" b="b"/>
              <a:pathLst>
                <a:path w="235585" h="234950">
                  <a:moveTo>
                    <a:pt x="235204" y="80010"/>
                  </a:moveTo>
                  <a:lnTo>
                    <a:pt x="155194" y="80010"/>
                  </a:lnTo>
                  <a:lnTo>
                    <a:pt x="155194" y="0"/>
                  </a:lnTo>
                  <a:lnTo>
                    <a:pt x="80010" y="0"/>
                  </a:lnTo>
                  <a:lnTo>
                    <a:pt x="80010" y="80010"/>
                  </a:lnTo>
                  <a:lnTo>
                    <a:pt x="0" y="80010"/>
                  </a:lnTo>
                  <a:lnTo>
                    <a:pt x="0" y="154940"/>
                  </a:lnTo>
                  <a:lnTo>
                    <a:pt x="80010" y="154940"/>
                  </a:lnTo>
                  <a:lnTo>
                    <a:pt x="80010" y="234950"/>
                  </a:lnTo>
                  <a:lnTo>
                    <a:pt x="155194" y="234950"/>
                  </a:lnTo>
                  <a:lnTo>
                    <a:pt x="155194" y="154940"/>
                  </a:lnTo>
                  <a:lnTo>
                    <a:pt x="235204" y="154940"/>
                  </a:lnTo>
                  <a:lnTo>
                    <a:pt x="235204" y="80010"/>
                  </a:lnTo>
                  <a:close/>
                </a:path>
              </a:pathLst>
            </a:custGeom>
            <a:solidFill>
              <a:srgbClr val="FFE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01111" y="4160519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5" h="550545">
                  <a:moveTo>
                    <a:pt x="275081" y="0"/>
                  </a:moveTo>
                  <a:lnTo>
                    <a:pt x="225643" y="4431"/>
                  </a:lnTo>
                  <a:lnTo>
                    <a:pt x="179109" y="17209"/>
                  </a:lnTo>
                  <a:lnTo>
                    <a:pt x="136256" y="37555"/>
                  </a:lnTo>
                  <a:lnTo>
                    <a:pt x="97863" y="64693"/>
                  </a:lnTo>
                  <a:lnTo>
                    <a:pt x="64706" y="97847"/>
                  </a:lnTo>
                  <a:lnTo>
                    <a:pt x="37563" y="136239"/>
                  </a:lnTo>
                  <a:lnTo>
                    <a:pt x="17213" y="179094"/>
                  </a:lnTo>
                  <a:lnTo>
                    <a:pt x="4432" y="225633"/>
                  </a:lnTo>
                  <a:lnTo>
                    <a:pt x="0" y="275081"/>
                  </a:lnTo>
                  <a:lnTo>
                    <a:pt x="4432" y="324526"/>
                  </a:lnTo>
                  <a:lnTo>
                    <a:pt x="17213" y="371064"/>
                  </a:lnTo>
                  <a:lnTo>
                    <a:pt x="37563" y="413918"/>
                  </a:lnTo>
                  <a:lnTo>
                    <a:pt x="64706" y="452311"/>
                  </a:lnTo>
                  <a:lnTo>
                    <a:pt x="97863" y="485466"/>
                  </a:lnTo>
                  <a:lnTo>
                    <a:pt x="136256" y="512605"/>
                  </a:lnTo>
                  <a:lnTo>
                    <a:pt x="179109" y="532953"/>
                  </a:lnTo>
                  <a:lnTo>
                    <a:pt x="225643" y="545731"/>
                  </a:lnTo>
                  <a:lnTo>
                    <a:pt x="275081" y="550163"/>
                  </a:lnTo>
                  <a:lnTo>
                    <a:pt x="324520" y="545731"/>
                  </a:lnTo>
                  <a:lnTo>
                    <a:pt x="371054" y="532953"/>
                  </a:lnTo>
                  <a:lnTo>
                    <a:pt x="413907" y="512605"/>
                  </a:lnTo>
                  <a:lnTo>
                    <a:pt x="452300" y="485466"/>
                  </a:lnTo>
                  <a:lnTo>
                    <a:pt x="485457" y="452311"/>
                  </a:lnTo>
                  <a:lnTo>
                    <a:pt x="512600" y="413918"/>
                  </a:lnTo>
                  <a:lnTo>
                    <a:pt x="532950" y="371064"/>
                  </a:lnTo>
                  <a:lnTo>
                    <a:pt x="545731" y="324526"/>
                  </a:lnTo>
                  <a:lnTo>
                    <a:pt x="550163" y="275081"/>
                  </a:lnTo>
                  <a:lnTo>
                    <a:pt x="545731" y="225633"/>
                  </a:lnTo>
                  <a:lnTo>
                    <a:pt x="532950" y="179094"/>
                  </a:lnTo>
                  <a:lnTo>
                    <a:pt x="512600" y="136239"/>
                  </a:lnTo>
                  <a:lnTo>
                    <a:pt x="485457" y="97847"/>
                  </a:lnTo>
                  <a:lnTo>
                    <a:pt x="452300" y="64693"/>
                  </a:lnTo>
                  <a:lnTo>
                    <a:pt x="413907" y="37555"/>
                  </a:lnTo>
                  <a:lnTo>
                    <a:pt x="371054" y="17209"/>
                  </a:lnTo>
                  <a:lnTo>
                    <a:pt x="324520" y="4431"/>
                  </a:lnTo>
                  <a:lnTo>
                    <a:pt x="275081" y="0"/>
                  </a:lnTo>
                  <a:close/>
                </a:path>
              </a:pathLst>
            </a:custGeom>
            <a:solidFill>
              <a:srgbClr val="FFC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801111" y="4160519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5" h="550545">
                  <a:moveTo>
                    <a:pt x="0" y="275081"/>
                  </a:moveTo>
                  <a:lnTo>
                    <a:pt x="4432" y="225633"/>
                  </a:lnTo>
                  <a:lnTo>
                    <a:pt x="17213" y="179094"/>
                  </a:lnTo>
                  <a:lnTo>
                    <a:pt x="37563" y="136239"/>
                  </a:lnTo>
                  <a:lnTo>
                    <a:pt x="64706" y="97847"/>
                  </a:lnTo>
                  <a:lnTo>
                    <a:pt x="97863" y="64693"/>
                  </a:lnTo>
                  <a:lnTo>
                    <a:pt x="136256" y="37555"/>
                  </a:lnTo>
                  <a:lnTo>
                    <a:pt x="179109" y="17209"/>
                  </a:lnTo>
                  <a:lnTo>
                    <a:pt x="225643" y="4431"/>
                  </a:lnTo>
                  <a:lnTo>
                    <a:pt x="275081" y="0"/>
                  </a:lnTo>
                  <a:lnTo>
                    <a:pt x="324520" y="4431"/>
                  </a:lnTo>
                  <a:lnTo>
                    <a:pt x="371054" y="17209"/>
                  </a:lnTo>
                  <a:lnTo>
                    <a:pt x="413907" y="37555"/>
                  </a:lnTo>
                  <a:lnTo>
                    <a:pt x="452300" y="64693"/>
                  </a:lnTo>
                  <a:lnTo>
                    <a:pt x="485457" y="97847"/>
                  </a:lnTo>
                  <a:lnTo>
                    <a:pt x="512600" y="136239"/>
                  </a:lnTo>
                  <a:lnTo>
                    <a:pt x="532950" y="179094"/>
                  </a:lnTo>
                  <a:lnTo>
                    <a:pt x="545731" y="225633"/>
                  </a:lnTo>
                  <a:lnTo>
                    <a:pt x="550163" y="275081"/>
                  </a:lnTo>
                  <a:lnTo>
                    <a:pt x="545731" y="324526"/>
                  </a:lnTo>
                  <a:lnTo>
                    <a:pt x="532950" y="371064"/>
                  </a:lnTo>
                  <a:lnTo>
                    <a:pt x="512600" y="413918"/>
                  </a:lnTo>
                  <a:lnTo>
                    <a:pt x="485457" y="452311"/>
                  </a:lnTo>
                  <a:lnTo>
                    <a:pt x="452300" y="485466"/>
                  </a:lnTo>
                  <a:lnTo>
                    <a:pt x="413907" y="512605"/>
                  </a:lnTo>
                  <a:lnTo>
                    <a:pt x="371054" y="532953"/>
                  </a:lnTo>
                  <a:lnTo>
                    <a:pt x="324520" y="545731"/>
                  </a:lnTo>
                  <a:lnTo>
                    <a:pt x="275081" y="550163"/>
                  </a:lnTo>
                  <a:lnTo>
                    <a:pt x="225643" y="545731"/>
                  </a:lnTo>
                  <a:lnTo>
                    <a:pt x="179109" y="532953"/>
                  </a:lnTo>
                  <a:lnTo>
                    <a:pt x="136256" y="512605"/>
                  </a:lnTo>
                  <a:lnTo>
                    <a:pt x="97863" y="485466"/>
                  </a:lnTo>
                  <a:lnTo>
                    <a:pt x="64706" y="452311"/>
                  </a:lnTo>
                  <a:lnTo>
                    <a:pt x="37563" y="413918"/>
                  </a:lnTo>
                  <a:lnTo>
                    <a:pt x="17213" y="371064"/>
                  </a:lnTo>
                  <a:lnTo>
                    <a:pt x="4432" y="324526"/>
                  </a:lnTo>
                  <a:lnTo>
                    <a:pt x="0" y="27508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889250" y="4278579"/>
            <a:ext cx="3746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Calibri"/>
                <a:cs typeface="Calibri"/>
              </a:rPr>
              <a:t>AvN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2141" y="2889630"/>
            <a:ext cx="152908" cy="204724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3631438" y="2427477"/>
            <a:ext cx="1115060" cy="1113155"/>
            <a:chOff x="3631438" y="2427477"/>
            <a:chExt cx="1115060" cy="1113155"/>
          </a:xfrm>
        </p:grpSpPr>
        <p:sp>
          <p:nvSpPr>
            <p:cNvPr id="48" name="object 48"/>
            <p:cNvSpPr/>
            <p:nvPr/>
          </p:nvSpPr>
          <p:spPr>
            <a:xfrm>
              <a:off x="3637788" y="2433827"/>
              <a:ext cx="1102360" cy="1100455"/>
            </a:xfrm>
            <a:custGeom>
              <a:avLst/>
              <a:gdLst/>
              <a:ahLst/>
              <a:cxnLst/>
              <a:rect l="l" t="t" r="r" b="b"/>
              <a:pathLst>
                <a:path w="1102360" h="1100454">
                  <a:moveTo>
                    <a:pt x="550926" y="0"/>
                  </a:moveTo>
                  <a:lnTo>
                    <a:pt x="503386" y="2018"/>
                  </a:lnTo>
                  <a:lnTo>
                    <a:pt x="456970" y="7965"/>
                  </a:lnTo>
                  <a:lnTo>
                    <a:pt x="411843" y="17675"/>
                  </a:lnTo>
                  <a:lnTo>
                    <a:pt x="368171" y="30983"/>
                  </a:lnTo>
                  <a:lnTo>
                    <a:pt x="326118" y="47723"/>
                  </a:lnTo>
                  <a:lnTo>
                    <a:pt x="285849" y="67732"/>
                  </a:lnTo>
                  <a:lnTo>
                    <a:pt x="247531" y="90843"/>
                  </a:lnTo>
                  <a:lnTo>
                    <a:pt x="211329" y="116893"/>
                  </a:lnTo>
                  <a:lnTo>
                    <a:pt x="177407" y="145715"/>
                  </a:lnTo>
                  <a:lnTo>
                    <a:pt x="145931" y="177146"/>
                  </a:lnTo>
                  <a:lnTo>
                    <a:pt x="117067" y="211020"/>
                  </a:lnTo>
                  <a:lnTo>
                    <a:pt x="90979" y="247171"/>
                  </a:lnTo>
                  <a:lnTo>
                    <a:pt x="67834" y="285436"/>
                  </a:lnTo>
                  <a:lnTo>
                    <a:pt x="47795" y="325650"/>
                  </a:lnTo>
                  <a:lnTo>
                    <a:pt x="31030" y="367646"/>
                  </a:lnTo>
                  <a:lnTo>
                    <a:pt x="17702" y="411260"/>
                  </a:lnTo>
                  <a:lnTo>
                    <a:pt x="7977" y="456328"/>
                  </a:lnTo>
                  <a:lnTo>
                    <a:pt x="2022" y="502684"/>
                  </a:lnTo>
                  <a:lnTo>
                    <a:pt x="0" y="550164"/>
                  </a:lnTo>
                  <a:lnTo>
                    <a:pt x="2022" y="597625"/>
                  </a:lnTo>
                  <a:lnTo>
                    <a:pt x="7977" y="643967"/>
                  </a:lnTo>
                  <a:lnTo>
                    <a:pt x="17702" y="689024"/>
                  </a:lnTo>
                  <a:lnTo>
                    <a:pt x="31030" y="732631"/>
                  </a:lnTo>
                  <a:lnTo>
                    <a:pt x="47795" y="774623"/>
                  </a:lnTo>
                  <a:lnTo>
                    <a:pt x="67834" y="814834"/>
                  </a:lnTo>
                  <a:lnTo>
                    <a:pt x="90979" y="853100"/>
                  </a:lnTo>
                  <a:lnTo>
                    <a:pt x="117067" y="889254"/>
                  </a:lnTo>
                  <a:lnTo>
                    <a:pt x="145931" y="923131"/>
                  </a:lnTo>
                  <a:lnTo>
                    <a:pt x="177407" y="954567"/>
                  </a:lnTo>
                  <a:lnTo>
                    <a:pt x="211329" y="983395"/>
                  </a:lnTo>
                  <a:lnTo>
                    <a:pt x="247531" y="1009451"/>
                  </a:lnTo>
                  <a:lnTo>
                    <a:pt x="285849" y="1032569"/>
                  </a:lnTo>
                  <a:lnTo>
                    <a:pt x="326118" y="1052584"/>
                  </a:lnTo>
                  <a:lnTo>
                    <a:pt x="368171" y="1069331"/>
                  </a:lnTo>
                  <a:lnTo>
                    <a:pt x="411843" y="1082644"/>
                  </a:lnTo>
                  <a:lnTo>
                    <a:pt x="456970" y="1092358"/>
                  </a:lnTo>
                  <a:lnTo>
                    <a:pt x="503386" y="1098308"/>
                  </a:lnTo>
                  <a:lnTo>
                    <a:pt x="550926" y="1100328"/>
                  </a:lnTo>
                  <a:lnTo>
                    <a:pt x="598465" y="1098308"/>
                  </a:lnTo>
                  <a:lnTo>
                    <a:pt x="644881" y="1092358"/>
                  </a:lnTo>
                  <a:lnTo>
                    <a:pt x="690008" y="1082644"/>
                  </a:lnTo>
                  <a:lnTo>
                    <a:pt x="733680" y="1069331"/>
                  </a:lnTo>
                  <a:lnTo>
                    <a:pt x="775733" y="1052584"/>
                  </a:lnTo>
                  <a:lnTo>
                    <a:pt x="816002" y="1032569"/>
                  </a:lnTo>
                  <a:lnTo>
                    <a:pt x="854320" y="1009451"/>
                  </a:lnTo>
                  <a:lnTo>
                    <a:pt x="890522" y="983395"/>
                  </a:lnTo>
                  <a:lnTo>
                    <a:pt x="924444" y="954567"/>
                  </a:lnTo>
                  <a:lnTo>
                    <a:pt x="955920" y="923131"/>
                  </a:lnTo>
                  <a:lnTo>
                    <a:pt x="984784" y="889254"/>
                  </a:lnTo>
                  <a:lnTo>
                    <a:pt x="1010872" y="853100"/>
                  </a:lnTo>
                  <a:lnTo>
                    <a:pt x="1034017" y="814834"/>
                  </a:lnTo>
                  <a:lnTo>
                    <a:pt x="1054056" y="774623"/>
                  </a:lnTo>
                  <a:lnTo>
                    <a:pt x="1070821" y="732631"/>
                  </a:lnTo>
                  <a:lnTo>
                    <a:pt x="1084149" y="689024"/>
                  </a:lnTo>
                  <a:lnTo>
                    <a:pt x="1093874" y="643967"/>
                  </a:lnTo>
                  <a:lnTo>
                    <a:pt x="1099829" y="597625"/>
                  </a:lnTo>
                  <a:lnTo>
                    <a:pt x="1101852" y="550164"/>
                  </a:lnTo>
                  <a:lnTo>
                    <a:pt x="1099829" y="502684"/>
                  </a:lnTo>
                  <a:lnTo>
                    <a:pt x="1093874" y="456328"/>
                  </a:lnTo>
                  <a:lnTo>
                    <a:pt x="1084149" y="411260"/>
                  </a:lnTo>
                  <a:lnTo>
                    <a:pt x="1070821" y="367646"/>
                  </a:lnTo>
                  <a:lnTo>
                    <a:pt x="1054056" y="325650"/>
                  </a:lnTo>
                  <a:lnTo>
                    <a:pt x="1034017" y="285436"/>
                  </a:lnTo>
                  <a:lnTo>
                    <a:pt x="1010872" y="247171"/>
                  </a:lnTo>
                  <a:lnTo>
                    <a:pt x="984784" y="211020"/>
                  </a:lnTo>
                  <a:lnTo>
                    <a:pt x="955920" y="177146"/>
                  </a:lnTo>
                  <a:lnTo>
                    <a:pt x="924444" y="145715"/>
                  </a:lnTo>
                  <a:lnTo>
                    <a:pt x="890522" y="116893"/>
                  </a:lnTo>
                  <a:lnTo>
                    <a:pt x="854320" y="90843"/>
                  </a:lnTo>
                  <a:lnTo>
                    <a:pt x="816002" y="67732"/>
                  </a:lnTo>
                  <a:lnTo>
                    <a:pt x="775733" y="47723"/>
                  </a:lnTo>
                  <a:lnTo>
                    <a:pt x="733680" y="30983"/>
                  </a:lnTo>
                  <a:lnTo>
                    <a:pt x="690008" y="17675"/>
                  </a:lnTo>
                  <a:lnTo>
                    <a:pt x="644881" y="7965"/>
                  </a:lnTo>
                  <a:lnTo>
                    <a:pt x="598465" y="2018"/>
                  </a:lnTo>
                  <a:lnTo>
                    <a:pt x="550926" y="0"/>
                  </a:lnTo>
                  <a:close/>
                </a:path>
              </a:pathLst>
            </a:custGeom>
            <a:solidFill>
              <a:srgbClr val="FFB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7788" y="2433827"/>
              <a:ext cx="1102360" cy="1100455"/>
            </a:xfrm>
            <a:custGeom>
              <a:avLst/>
              <a:gdLst/>
              <a:ahLst/>
              <a:cxnLst/>
              <a:rect l="l" t="t" r="r" b="b"/>
              <a:pathLst>
                <a:path w="1102360" h="1100454">
                  <a:moveTo>
                    <a:pt x="0" y="550164"/>
                  </a:moveTo>
                  <a:lnTo>
                    <a:pt x="2022" y="502684"/>
                  </a:lnTo>
                  <a:lnTo>
                    <a:pt x="7977" y="456328"/>
                  </a:lnTo>
                  <a:lnTo>
                    <a:pt x="17702" y="411260"/>
                  </a:lnTo>
                  <a:lnTo>
                    <a:pt x="31030" y="367646"/>
                  </a:lnTo>
                  <a:lnTo>
                    <a:pt x="47795" y="325650"/>
                  </a:lnTo>
                  <a:lnTo>
                    <a:pt x="67834" y="285436"/>
                  </a:lnTo>
                  <a:lnTo>
                    <a:pt x="90979" y="247171"/>
                  </a:lnTo>
                  <a:lnTo>
                    <a:pt x="117067" y="211020"/>
                  </a:lnTo>
                  <a:lnTo>
                    <a:pt x="145931" y="177146"/>
                  </a:lnTo>
                  <a:lnTo>
                    <a:pt x="177407" y="145715"/>
                  </a:lnTo>
                  <a:lnTo>
                    <a:pt x="211329" y="116893"/>
                  </a:lnTo>
                  <a:lnTo>
                    <a:pt x="247531" y="90843"/>
                  </a:lnTo>
                  <a:lnTo>
                    <a:pt x="285849" y="67732"/>
                  </a:lnTo>
                  <a:lnTo>
                    <a:pt x="326118" y="47723"/>
                  </a:lnTo>
                  <a:lnTo>
                    <a:pt x="368171" y="30983"/>
                  </a:lnTo>
                  <a:lnTo>
                    <a:pt x="411843" y="17675"/>
                  </a:lnTo>
                  <a:lnTo>
                    <a:pt x="456970" y="7965"/>
                  </a:lnTo>
                  <a:lnTo>
                    <a:pt x="503386" y="2018"/>
                  </a:lnTo>
                  <a:lnTo>
                    <a:pt x="550926" y="0"/>
                  </a:lnTo>
                  <a:lnTo>
                    <a:pt x="598465" y="2018"/>
                  </a:lnTo>
                  <a:lnTo>
                    <a:pt x="644881" y="7965"/>
                  </a:lnTo>
                  <a:lnTo>
                    <a:pt x="690008" y="17675"/>
                  </a:lnTo>
                  <a:lnTo>
                    <a:pt x="733680" y="30983"/>
                  </a:lnTo>
                  <a:lnTo>
                    <a:pt x="775733" y="47723"/>
                  </a:lnTo>
                  <a:lnTo>
                    <a:pt x="816002" y="67732"/>
                  </a:lnTo>
                  <a:lnTo>
                    <a:pt x="854320" y="90843"/>
                  </a:lnTo>
                  <a:lnTo>
                    <a:pt x="890522" y="116893"/>
                  </a:lnTo>
                  <a:lnTo>
                    <a:pt x="924444" y="145715"/>
                  </a:lnTo>
                  <a:lnTo>
                    <a:pt x="955920" y="177146"/>
                  </a:lnTo>
                  <a:lnTo>
                    <a:pt x="984784" y="211020"/>
                  </a:lnTo>
                  <a:lnTo>
                    <a:pt x="1010872" y="247171"/>
                  </a:lnTo>
                  <a:lnTo>
                    <a:pt x="1034017" y="285436"/>
                  </a:lnTo>
                  <a:lnTo>
                    <a:pt x="1054056" y="325650"/>
                  </a:lnTo>
                  <a:lnTo>
                    <a:pt x="1070821" y="367646"/>
                  </a:lnTo>
                  <a:lnTo>
                    <a:pt x="1084149" y="411260"/>
                  </a:lnTo>
                  <a:lnTo>
                    <a:pt x="1093874" y="456328"/>
                  </a:lnTo>
                  <a:lnTo>
                    <a:pt x="1099829" y="502684"/>
                  </a:lnTo>
                  <a:lnTo>
                    <a:pt x="1101852" y="550164"/>
                  </a:lnTo>
                  <a:lnTo>
                    <a:pt x="1099829" y="597625"/>
                  </a:lnTo>
                  <a:lnTo>
                    <a:pt x="1093874" y="643967"/>
                  </a:lnTo>
                  <a:lnTo>
                    <a:pt x="1084149" y="689024"/>
                  </a:lnTo>
                  <a:lnTo>
                    <a:pt x="1070821" y="732631"/>
                  </a:lnTo>
                  <a:lnTo>
                    <a:pt x="1054056" y="774623"/>
                  </a:lnTo>
                  <a:lnTo>
                    <a:pt x="1034017" y="814834"/>
                  </a:lnTo>
                  <a:lnTo>
                    <a:pt x="1010872" y="853100"/>
                  </a:lnTo>
                  <a:lnTo>
                    <a:pt x="984784" y="889254"/>
                  </a:lnTo>
                  <a:lnTo>
                    <a:pt x="955920" y="923131"/>
                  </a:lnTo>
                  <a:lnTo>
                    <a:pt x="924444" y="954567"/>
                  </a:lnTo>
                  <a:lnTo>
                    <a:pt x="890522" y="983395"/>
                  </a:lnTo>
                  <a:lnTo>
                    <a:pt x="854320" y="1009451"/>
                  </a:lnTo>
                  <a:lnTo>
                    <a:pt x="816002" y="1032569"/>
                  </a:lnTo>
                  <a:lnTo>
                    <a:pt x="775733" y="1052584"/>
                  </a:lnTo>
                  <a:lnTo>
                    <a:pt x="733680" y="1069331"/>
                  </a:lnTo>
                  <a:lnTo>
                    <a:pt x="690008" y="1082644"/>
                  </a:lnTo>
                  <a:lnTo>
                    <a:pt x="644881" y="1092358"/>
                  </a:lnTo>
                  <a:lnTo>
                    <a:pt x="598465" y="1098308"/>
                  </a:lnTo>
                  <a:lnTo>
                    <a:pt x="550926" y="1100328"/>
                  </a:lnTo>
                  <a:lnTo>
                    <a:pt x="503386" y="1098308"/>
                  </a:lnTo>
                  <a:lnTo>
                    <a:pt x="456970" y="1092358"/>
                  </a:lnTo>
                  <a:lnTo>
                    <a:pt x="411843" y="1082644"/>
                  </a:lnTo>
                  <a:lnTo>
                    <a:pt x="368171" y="1069331"/>
                  </a:lnTo>
                  <a:lnTo>
                    <a:pt x="326118" y="1052584"/>
                  </a:lnTo>
                  <a:lnTo>
                    <a:pt x="285849" y="1032569"/>
                  </a:lnTo>
                  <a:lnTo>
                    <a:pt x="247531" y="1009451"/>
                  </a:lnTo>
                  <a:lnTo>
                    <a:pt x="211329" y="983395"/>
                  </a:lnTo>
                  <a:lnTo>
                    <a:pt x="177407" y="954567"/>
                  </a:lnTo>
                  <a:lnTo>
                    <a:pt x="145931" y="923131"/>
                  </a:lnTo>
                  <a:lnTo>
                    <a:pt x="117067" y="889254"/>
                  </a:lnTo>
                  <a:lnTo>
                    <a:pt x="90979" y="853100"/>
                  </a:lnTo>
                  <a:lnTo>
                    <a:pt x="67834" y="814834"/>
                  </a:lnTo>
                  <a:lnTo>
                    <a:pt x="47795" y="774623"/>
                  </a:lnTo>
                  <a:lnTo>
                    <a:pt x="31030" y="732631"/>
                  </a:lnTo>
                  <a:lnTo>
                    <a:pt x="17702" y="689024"/>
                  </a:lnTo>
                  <a:lnTo>
                    <a:pt x="7977" y="643967"/>
                  </a:lnTo>
                  <a:lnTo>
                    <a:pt x="2022" y="597625"/>
                  </a:lnTo>
                  <a:lnTo>
                    <a:pt x="0" y="55016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807333" y="2862833"/>
            <a:ext cx="763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Compilação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95"/>
              </a:spcBef>
            </a:pPr>
            <a:r>
              <a:rPr dirty="0"/>
              <a:t>Recrutamento</a:t>
            </a:r>
            <a:r>
              <a:rPr spc="-110" dirty="0"/>
              <a:t> </a:t>
            </a:r>
            <a:r>
              <a:rPr dirty="0"/>
              <a:t>de</a:t>
            </a:r>
            <a:r>
              <a:rPr spc="-135" dirty="0"/>
              <a:t> </a:t>
            </a:r>
            <a:r>
              <a:rPr spc="-10" dirty="0"/>
              <a:t>avaliadores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386" y="1270073"/>
            <a:ext cx="8428990" cy="306895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10"/>
              </a:spcBef>
              <a:buChar char="•"/>
              <a:tabLst>
                <a:tab pos="183515" algn="l"/>
              </a:tabLst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Conhecimento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domínio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da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aplicação</a:t>
            </a:r>
            <a:endParaRPr sz="2800">
              <a:latin typeface="Arial MT"/>
              <a:cs typeface="Arial MT"/>
            </a:endParaRPr>
          </a:p>
          <a:p>
            <a:pPr marL="183515" indent="-170815">
              <a:lnSpc>
                <a:spcPct val="100000"/>
              </a:lnSpc>
              <a:spcBef>
                <a:spcPts val="805"/>
              </a:spcBef>
              <a:buChar char="•"/>
              <a:tabLst>
                <a:tab pos="183515" algn="l"/>
              </a:tabLst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Conhecimento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sobre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usuário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suas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reações</a:t>
            </a:r>
            <a:endParaRPr sz="2800">
              <a:latin typeface="Arial MT"/>
              <a:cs typeface="Arial MT"/>
            </a:endParaRPr>
          </a:p>
          <a:p>
            <a:pPr marL="183515" indent="-170815">
              <a:lnSpc>
                <a:spcPct val="100000"/>
              </a:lnSpc>
              <a:spcBef>
                <a:spcPts val="795"/>
              </a:spcBef>
              <a:buChar char="•"/>
              <a:tabLst>
                <a:tab pos="183515" algn="l"/>
              </a:tabLst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Conhecimento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sobre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heurísticas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usabilidade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75"/>
              </a:spcBef>
              <a:buClr>
                <a:srgbClr val="FFFFFF"/>
              </a:buClr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183515" indent="-170815">
              <a:lnSpc>
                <a:spcPct val="100000"/>
              </a:lnSpc>
              <a:buChar char="•"/>
              <a:tabLst>
                <a:tab pos="183515" algn="l"/>
              </a:tabLst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Pessoas</a:t>
            </a:r>
            <a:r>
              <a:rPr sz="28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diferentes</a:t>
            </a: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encontram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problemas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diferentes</a:t>
            </a:r>
            <a:endParaRPr sz="2800">
              <a:latin typeface="Arial MT"/>
              <a:cs typeface="Arial MT"/>
            </a:endParaRPr>
          </a:p>
          <a:p>
            <a:pPr marL="183515" indent="-170815">
              <a:lnSpc>
                <a:spcPct val="100000"/>
              </a:lnSpc>
              <a:spcBef>
                <a:spcPts val="455"/>
              </a:spcBef>
              <a:buChar char="•"/>
              <a:tabLst>
                <a:tab pos="183515" algn="l"/>
              </a:tabLst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Número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avaliadores?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963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35" dirty="0"/>
              <a:t> </a:t>
            </a:r>
            <a:r>
              <a:rPr spc="-10" dirty="0"/>
              <a:t>Instruções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3062" y="1266189"/>
            <a:ext cx="7899400" cy="819150"/>
            <a:chOff x="623062" y="1266189"/>
            <a:chExt cx="7899400" cy="819150"/>
          </a:xfrm>
        </p:grpSpPr>
        <p:sp>
          <p:nvSpPr>
            <p:cNvPr id="4" name="object 4"/>
            <p:cNvSpPr/>
            <p:nvPr/>
          </p:nvSpPr>
          <p:spPr>
            <a:xfrm>
              <a:off x="629412" y="1272539"/>
              <a:ext cx="7886700" cy="806450"/>
            </a:xfrm>
            <a:custGeom>
              <a:avLst/>
              <a:gdLst/>
              <a:ahLst/>
              <a:cxnLst/>
              <a:rect l="l" t="t" r="r" b="b"/>
              <a:pathLst>
                <a:path w="7886700" h="806450">
                  <a:moveTo>
                    <a:pt x="7752334" y="0"/>
                  </a:moveTo>
                  <a:lnTo>
                    <a:pt x="134365" y="0"/>
                  </a:lnTo>
                  <a:lnTo>
                    <a:pt x="91896" y="6853"/>
                  </a:lnTo>
                  <a:lnTo>
                    <a:pt x="55012" y="25936"/>
                  </a:lnTo>
                  <a:lnTo>
                    <a:pt x="25925" y="55028"/>
                  </a:lnTo>
                  <a:lnTo>
                    <a:pt x="6850" y="91911"/>
                  </a:lnTo>
                  <a:lnTo>
                    <a:pt x="0" y="134365"/>
                  </a:lnTo>
                  <a:lnTo>
                    <a:pt x="0" y="671830"/>
                  </a:lnTo>
                  <a:lnTo>
                    <a:pt x="6850" y="714284"/>
                  </a:lnTo>
                  <a:lnTo>
                    <a:pt x="25925" y="751167"/>
                  </a:lnTo>
                  <a:lnTo>
                    <a:pt x="55012" y="780259"/>
                  </a:lnTo>
                  <a:lnTo>
                    <a:pt x="91896" y="799342"/>
                  </a:lnTo>
                  <a:lnTo>
                    <a:pt x="134365" y="806196"/>
                  </a:lnTo>
                  <a:lnTo>
                    <a:pt x="7752334" y="806196"/>
                  </a:lnTo>
                  <a:lnTo>
                    <a:pt x="7794788" y="799342"/>
                  </a:lnTo>
                  <a:lnTo>
                    <a:pt x="7831671" y="780259"/>
                  </a:lnTo>
                  <a:lnTo>
                    <a:pt x="7860763" y="751167"/>
                  </a:lnTo>
                  <a:lnTo>
                    <a:pt x="7879846" y="714284"/>
                  </a:lnTo>
                  <a:lnTo>
                    <a:pt x="7886700" y="671830"/>
                  </a:lnTo>
                  <a:lnTo>
                    <a:pt x="7886700" y="134365"/>
                  </a:lnTo>
                  <a:lnTo>
                    <a:pt x="7879846" y="91911"/>
                  </a:lnTo>
                  <a:lnTo>
                    <a:pt x="7860763" y="55028"/>
                  </a:lnTo>
                  <a:lnTo>
                    <a:pt x="7831671" y="25936"/>
                  </a:lnTo>
                  <a:lnTo>
                    <a:pt x="7794788" y="6853"/>
                  </a:lnTo>
                  <a:lnTo>
                    <a:pt x="775233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412" y="1272539"/>
              <a:ext cx="7886700" cy="806450"/>
            </a:xfrm>
            <a:custGeom>
              <a:avLst/>
              <a:gdLst/>
              <a:ahLst/>
              <a:cxnLst/>
              <a:rect l="l" t="t" r="r" b="b"/>
              <a:pathLst>
                <a:path w="7886700" h="806450">
                  <a:moveTo>
                    <a:pt x="0" y="134365"/>
                  </a:moveTo>
                  <a:lnTo>
                    <a:pt x="6850" y="91911"/>
                  </a:lnTo>
                  <a:lnTo>
                    <a:pt x="25925" y="55028"/>
                  </a:lnTo>
                  <a:lnTo>
                    <a:pt x="55012" y="25936"/>
                  </a:lnTo>
                  <a:lnTo>
                    <a:pt x="91896" y="6853"/>
                  </a:lnTo>
                  <a:lnTo>
                    <a:pt x="134365" y="0"/>
                  </a:lnTo>
                  <a:lnTo>
                    <a:pt x="7752334" y="0"/>
                  </a:lnTo>
                  <a:lnTo>
                    <a:pt x="7794788" y="6853"/>
                  </a:lnTo>
                  <a:lnTo>
                    <a:pt x="7831671" y="25936"/>
                  </a:lnTo>
                  <a:lnTo>
                    <a:pt x="7860763" y="55028"/>
                  </a:lnTo>
                  <a:lnTo>
                    <a:pt x="7879846" y="91911"/>
                  </a:lnTo>
                  <a:lnTo>
                    <a:pt x="7886700" y="134365"/>
                  </a:lnTo>
                  <a:lnTo>
                    <a:pt x="7886700" y="671830"/>
                  </a:lnTo>
                  <a:lnTo>
                    <a:pt x="7879846" y="714284"/>
                  </a:lnTo>
                  <a:lnTo>
                    <a:pt x="7860763" y="751167"/>
                  </a:lnTo>
                  <a:lnTo>
                    <a:pt x="7831671" y="780259"/>
                  </a:lnTo>
                  <a:lnTo>
                    <a:pt x="7794788" y="799342"/>
                  </a:lnTo>
                  <a:lnTo>
                    <a:pt x="7752334" y="806196"/>
                  </a:lnTo>
                  <a:lnTo>
                    <a:pt x="134365" y="806196"/>
                  </a:lnTo>
                  <a:lnTo>
                    <a:pt x="91896" y="799342"/>
                  </a:lnTo>
                  <a:lnTo>
                    <a:pt x="55012" y="780259"/>
                  </a:lnTo>
                  <a:lnTo>
                    <a:pt x="25925" y="751167"/>
                  </a:lnTo>
                  <a:lnTo>
                    <a:pt x="6850" y="714284"/>
                  </a:lnTo>
                  <a:lnTo>
                    <a:pt x="0" y="671830"/>
                  </a:lnTo>
                  <a:lnTo>
                    <a:pt x="0" y="13436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23062" y="2195829"/>
            <a:ext cx="7899400" cy="817880"/>
            <a:chOff x="623062" y="2195829"/>
            <a:chExt cx="7899400" cy="817880"/>
          </a:xfrm>
        </p:grpSpPr>
        <p:sp>
          <p:nvSpPr>
            <p:cNvPr id="7" name="object 7"/>
            <p:cNvSpPr/>
            <p:nvPr/>
          </p:nvSpPr>
          <p:spPr>
            <a:xfrm>
              <a:off x="629412" y="2202179"/>
              <a:ext cx="7886700" cy="805180"/>
            </a:xfrm>
            <a:custGeom>
              <a:avLst/>
              <a:gdLst/>
              <a:ahLst/>
              <a:cxnLst/>
              <a:rect l="l" t="t" r="r" b="b"/>
              <a:pathLst>
                <a:path w="7886700" h="805180">
                  <a:moveTo>
                    <a:pt x="7752588" y="0"/>
                  </a:moveTo>
                  <a:lnTo>
                    <a:pt x="134111" y="0"/>
                  </a:lnTo>
                  <a:lnTo>
                    <a:pt x="91722" y="6839"/>
                  </a:lnTo>
                  <a:lnTo>
                    <a:pt x="54907" y="25883"/>
                  </a:lnTo>
                  <a:lnTo>
                    <a:pt x="25876" y="54918"/>
                  </a:lnTo>
                  <a:lnTo>
                    <a:pt x="6837" y="91732"/>
                  </a:lnTo>
                  <a:lnTo>
                    <a:pt x="0" y="134112"/>
                  </a:lnTo>
                  <a:lnTo>
                    <a:pt x="0" y="670559"/>
                  </a:lnTo>
                  <a:lnTo>
                    <a:pt x="6837" y="712939"/>
                  </a:lnTo>
                  <a:lnTo>
                    <a:pt x="25876" y="749753"/>
                  </a:lnTo>
                  <a:lnTo>
                    <a:pt x="54907" y="778788"/>
                  </a:lnTo>
                  <a:lnTo>
                    <a:pt x="91722" y="797832"/>
                  </a:lnTo>
                  <a:lnTo>
                    <a:pt x="134111" y="804671"/>
                  </a:lnTo>
                  <a:lnTo>
                    <a:pt x="7752588" y="804671"/>
                  </a:lnTo>
                  <a:lnTo>
                    <a:pt x="7794967" y="797832"/>
                  </a:lnTo>
                  <a:lnTo>
                    <a:pt x="7831781" y="778788"/>
                  </a:lnTo>
                  <a:lnTo>
                    <a:pt x="7860816" y="749753"/>
                  </a:lnTo>
                  <a:lnTo>
                    <a:pt x="7879860" y="712939"/>
                  </a:lnTo>
                  <a:lnTo>
                    <a:pt x="7886700" y="670559"/>
                  </a:lnTo>
                  <a:lnTo>
                    <a:pt x="7886700" y="134112"/>
                  </a:lnTo>
                  <a:lnTo>
                    <a:pt x="7879860" y="91732"/>
                  </a:lnTo>
                  <a:lnTo>
                    <a:pt x="7860816" y="54918"/>
                  </a:lnTo>
                  <a:lnTo>
                    <a:pt x="7831781" y="25883"/>
                  </a:lnTo>
                  <a:lnTo>
                    <a:pt x="7794967" y="6839"/>
                  </a:lnTo>
                  <a:lnTo>
                    <a:pt x="775258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9412" y="2202179"/>
              <a:ext cx="7886700" cy="805180"/>
            </a:xfrm>
            <a:custGeom>
              <a:avLst/>
              <a:gdLst/>
              <a:ahLst/>
              <a:cxnLst/>
              <a:rect l="l" t="t" r="r" b="b"/>
              <a:pathLst>
                <a:path w="7886700" h="805180">
                  <a:moveTo>
                    <a:pt x="0" y="134112"/>
                  </a:moveTo>
                  <a:lnTo>
                    <a:pt x="6837" y="91732"/>
                  </a:lnTo>
                  <a:lnTo>
                    <a:pt x="25876" y="54918"/>
                  </a:lnTo>
                  <a:lnTo>
                    <a:pt x="54907" y="25883"/>
                  </a:lnTo>
                  <a:lnTo>
                    <a:pt x="91722" y="6839"/>
                  </a:lnTo>
                  <a:lnTo>
                    <a:pt x="134111" y="0"/>
                  </a:lnTo>
                  <a:lnTo>
                    <a:pt x="7752588" y="0"/>
                  </a:lnTo>
                  <a:lnTo>
                    <a:pt x="7794967" y="6839"/>
                  </a:lnTo>
                  <a:lnTo>
                    <a:pt x="7831781" y="25883"/>
                  </a:lnTo>
                  <a:lnTo>
                    <a:pt x="7860816" y="54918"/>
                  </a:lnTo>
                  <a:lnTo>
                    <a:pt x="7879860" y="91732"/>
                  </a:lnTo>
                  <a:lnTo>
                    <a:pt x="7886700" y="134112"/>
                  </a:lnTo>
                  <a:lnTo>
                    <a:pt x="7886700" y="670559"/>
                  </a:lnTo>
                  <a:lnTo>
                    <a:pt x="7879860" y="712939"/>
                  </a:lnTo>
                  <a:lnTo>
                    <a:pt x="7860816" y="749753"/>
                  </a:lnTo>
                  <a:lnTo>
                    <a:pt x="7831781" y="778788"/>
                  </a:lnTo>
                  <a:lnTo>
                    <a:pt x="7794967" y="797832"/>
                  </a:lnTo>
                  <a:lnTo>
                    <a:pt x="7752588" y="804671"/>
                  </a:lnTo>
                  <a:lnTo>
                    <a:pt x="134111" y="804671"/>
                  </a:lnTo>
                  <a:lnTo>
                    <a:pt x="91722" y="797832"/>
                  </a:lnTo>
                  <a:lnTo>
                    <a:pt x="54907" y="778788"/>
                  </a:lnTo>
                  <a:lnTo>
                    <a:pt x="25876" y="749753"/>
                  </a:lnTo>
                  <a:lnTo>
                    <a:pt x="6837" y="712939"/>
                  </a:lnTo>
                  <a:lnTo>
                    <a:pt x="0" y="670559"/>
                  </a:lnTo>
                  <a:lnTo>
                    <a:pt x="0" y="1341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23062" y="3123945"/>
            <a:ext cx="7899400" cy="817880"/>
            <a:chOff x="623062" y="3123945"/>
            <a:chExt cx="7899400" cy="817880"/>
          </a:xfrm>
        </p:grpSpPr>
        <p:sp>
          <p:nvSpPr>
            <p:cNvPr id="10" name="object 10"/>
            <p:cNvSpPr/>
            <p:nvPr/>
          </p:nvSpPr>
          <p:spPr>
            <a:xfrm>
              <a:off x="629412" y="3130295"/>
              <a:ext cx="7886700" cy="805180"/>
            </a:xfrm>
            <a:custGeom>
              <a:avLst/>
              <a:gdLst/>
              <a:ahLst/>
              <a:cxnLst/>
              <a:rect l="l" t="t" r="r" b="b"/>
              <a:pathLst>
                <a:path w="7886700" h="805179">
                  <a:moveTo>
                    <a:pt x="7752588" y="0"/>
                  </a:moveTo>
                  <a:lnTo>
                    <a:pt x="134111" y="0"/>
                  </a:lnTo>
                  <a:lnTo>
                    <a:pt x="91722" y="6839"/>
                  </a:lnTo>
                  <a:lnTo>
                    <a:pt x="54907" y="25883"/>
                  </a:lnTo>
                  <a:lnTo>
                    <a:pt x="25876" y="54918"/>
                  </a:lnTo>
                  <a:lnTo>
                    <a:pt x="6837" y="91732"/>
                  </a:lnTo>
                  <a:lnTo>
                    <a:pt x="0" y="134112"/>
                  </a:lnTo>
                  <a:lnTo>
                    <a:pt x="0" y="670560"/>
                  </a:lnTo>
                  <a:lnTo>
                    <a:pt x="6837" y="712949"/>
                  </a:lnTo>
                  <a:lnTo>
                    <a:pt x="25876" y="749764"/>
                  </a:lnTo>
                  <a:lnTo>
                    <a:pt x="54907" y="778795"/>
                  </a:lnTo>
                  <a:lnTo>
                    <a:pt x="91722" y="797834"/>
                  </a:lnTo>
                  <a:lnTo>
                    <a:pt x="134111" y="804672"/>
                  </a:lnTo>
                  <a:lnTo>
                    <a:pt x="7752588" y="804672"/>
                  </a:lnTo>
                  <a:lnTo>
                    <a:pt x="7794967" y="797834"/>
                  </a:lnTo>
                  <a:lnTo>
                    <a:pt x="7831781" y="778795"/>
                  </a:lnTo>
                  <a:lnTo>
                    <a:pt x="7860816" y="749764"/>
                  </a:lnTo>
                  <a:lnTo>
                    <a:pt x="7879860" y="712949"/>
                  </a:lnTo>
                  <a:lnTo>
                    <a:pt x="7886700" y="670560"/>
                  </a:lnTo>
                  <a:lnTo>
                    <a:pt x="7886700" y="134112"/>
                  </a:lnTo>
                  <a:lnTo>
                    <a:pt x="7879860" y="91732"/>
                  </a:lnTo>
                  <a:lnTo>
                    <a:pt x="7860816" y="54918"/>
                  </a:lnTo>
                  <a:lnTo>
                    <a:pt x="7831781" y="25883"/>
                  </a:lnTo>
                  <a:lnTo>
                    <a:pt x="7794967" y="6839"/>
                  </a:lnTo>
                  <a:lnTo>
                    <a:pt x="775258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9412" y="3130295"/>
              <a:ext cx="7886700" cy="805180"/>
            </a:xfrm>
            <a:custGeom>
              <a:avLst/>
              <a:gdLst/>
              <a:ahLst/>
              <a:cxnLst/>
              <a:rect l="l" t="t" r="r" b="b"/>
              <a:pathLst>
                <a:path w="7886700" h="805179">
                  <a:moveTo>
                    <a:pt x="0" y="134112"/>
                  </a:moveTo>
                  <a:lnTo>
                    <a:pt x="6837" y="91732"/>
                  </a:lnTo>
                  <a:lnTo>
                    <a:pt x="25876" y="54918"/>
                  </a:lnTo>
                  <a:lnTo>
                    <a:pt x="54907" y="25883"/>
                  </a:lnTo>
                  <a:lnTo>
                    <a:pt x="91722" y="6839"/>
                  </a:lnTo>
                  <a:lnTo>
                    <a:pt x="134111" y="0"/>
                  </a:lnTo>
                  <a:lnTo>
                    <a:pt x="7752588" y="0"/>
                  </a:lnTo>
                  <a:lnTo>
                    <a:pt x="7794967" y="6839"/>
                  </a:lnTo>
                  <a:lnTo>
                    <a:pt x="7831781" y="25883"/>
                  </a:lnTo>
                  <a:lnTo>
                    <a:pt x="7860816" y="54918"/>
                  </a:lnTo>
                  <a:lnTo>
                    <a:pt x="7879860" y="91732"/>
                  </a:lnTo>
                  <a:lnTo>
                    <a:pt x="7886700" y="134112"/>
                  </a:lnTo>
                  <a:lnTo>
                    <a:pt x="7886700" y="670560"/>
                  </a:lnTo>
                  <a:lnTo>
                    <a:pt x="7879860" y="712949"/>
                  </a:lnTo>
                  <a:lnTo>
                    <a:pt x="7860816" y="749764"/>
                  </a:lnTo>
                  <a:lnTo>
                    <a:pt x="7831781" y="778795"/>
                  </a:lnTo>
                  <a:lnTo>
                    <a:pt x="7794967" y="797834"/>
                  </a:lnTo>
                  <a:lnTo>
                    <a:pt x="7752588" y="804672"/>
                  </a:lnTo>
                  <a:lnTo>
                    <a:pt x="134111" y="804672"/>
                  </a:lnTo>
                  <a:lnTo>
                    <a:pt x="91722" y="797834"/>
                  </a:lnTo>
                  <a:lnTo>
                    <a:pt x="54907" y="778795"/>
                  </a:lnTo>
                  <a:lnTo>
                    <a:pt x="25876" y="749764"/>
                  </a:lnTo>
                  <a:lnTo>
                    <a:pt x="6837" y="712949"/>
                  </a:lnTo>
                  <a:lnTo>
                    <a:pt x="0" y="670560"/>
                  </a:lnTo>
                  <a:lnTo>
                    <a:pt x="0" y="13411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23062" y="4021582"/>
            <a:ext cx="7899400" cy="819150"/>
            <a:chOff x="623062" y="4021582"/>
            <a:chExt cx="7899400" cy="819150"/>
          </a:xfrm>
        </p:grpSpPr>
        <p:sp>
          <p:nvSpPr>
            <p:cNvPr id="13" name="object 13"/>
            <p:cNvSpPr/>
            <p:nvPr/>
          </p:nvSpPr>
          <p:spPr>
            <a:xfrm>
              <a:off x="629412" y="4027932"/>
              <a:ext cx="7886700" cy="806450"/>
            </a:xfrm>
            <a:custGeom>
              <a:avLst/>
              <a:gdLst/>
              <a:ahLst/>
              <a:cxnLst/>
              <a:rect l="l" t="t" r="r" b="b"/>
              <a:pathLst>
                <a:path w="7886700" h="806450">
                  <a:moveTo>
                    <a:pt x="7752334" y="0"/>
                  </a:moveTo>
                  <a:lnTo>
                    <a:pt x="134365" y="0"/>
                  </a:lnTo>
                  <a:lnTo>
                    <a:pt x="91896" y="6850"/>
                  </a:lnTo>
                  <a:lnTo>
                    <a:pt x="55012" y="25925"/>
                  </a:lnTo>
                  <a:lnTo>
                    <a:pt x="25925" y="55012"/>
                  </a:lnTo>
                  <a:lnTo>
                    <a:pt x="6850" y="91896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0" y="714299"/>
                  </a:lnTo>
                  <a:lnTo>
                    <a:pt x="25925" y="751183"/>
                  </a:lnTo>
                  <a:lnTo>
                    <a:pt x="55012" y="780270"/>
                  </a:lnTo>
                  <a:lnTo>
                    <a:pt x="91896" y="799345"/>
                  </a:lnTo>
                  <a:lnTo>
                    <a:pt x="134365" y="806196"/>
                  </a:lnTo>
                  <a:lnTo>
                    <a:pt x="7752334" y="806196"/>
                  </a:lnTo>
                  <a:lnTo>
                    <a:pt x="7794788" y="799345"/>
                  </a:lnTo>
                  <a:lnTo>
                    <a:pt x="7831671" y="780270"/>
                  </a:lnTo>
                  <a:lnTo>
                    <a:pt x="7860763" y="751183"/>
                  </a:lnTo>
                  <a:lnTo>
                    <a:pt x="7879846" y="714299"/>
                  </a:lnTo>
                  <a:lnTo>
                    <a:pt x="7886700" y="671830"/>
                  </a:lnTo>
                  <a:lnTo>
                    <a:pt x="7886700" y="134366"/>
                  </a:lnTo>
                  <a:lnTo>
                    <a:pt x="7879846" y="91896"/>
                  </a:lnTo>
                  <a:lnTo>
                    <a:pt x="7860763" y="55012"/>
                  </a:lnTo>
                  <a:lnTo>
                    <a:pt x="7831671" y="25925"/>
                  </a:lnTo>
                  <a:lnTo>
                    <a:pt x="7794788" y="6850"/>
                  </a:lnTo>
                  <a:lnTo>
                    <a:pt x="775233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9412" y="4027932"/>
              <a:ext cx="7886700" cy="806450"/>
            </a:xfrm>
            <a:custGeom>
              <a:avLst/>
              <a:gdLst/>
              <a:ahLst/>
              <a:cxnLst/>
              <a:rect l="l" t="t" r="r" b="b"/>
              <a:pathLst>
                <a:path w="7886700" h="806450">
                  <a:moveTo>
                    <a:pt x="0" y="134366"/>
                  </a:moveTo>
                  <a:lnTo>
                    <a:pt x="6850" y="91896"/>
                  </a:lnTo>
                  <a:lnTo>
                    <a:pt x="25925" y="55012"/>
                  </a:lnTo>
                  <a:lnTo>
                    <a:pt x="55012" y="25925"/>
                  </a:lnTo>
                  <a:lnTo>
                    <a:pt x="91896" y="6850"/>
                  </a:lnTo>
                  <a:lnTo>
                    <a:pt x="134365" y="0"/>
                  </a:lnTo>
                  <a:lnTo>
                    <a:pt x="7752334" y="0"/>
                  </a:lnTo>
                  <a:lnTo>
                    <a:pt x="7794788" y="6850"/>
                  </a:lnTo>
                  <a:lnTo>
                    <a:pt x="7831671" y="25925"/>
                  </a:lnTo>
                  <a:lnTo>
                    <a:pt x="7860763" y="55012"/>
                  </a:lnTo>
                  <a:lnTo>
                    <a:pt x="7879846" y="91896"/>
                  </a:lnTo>
                  <a:lnTo>
                    <a:pt x="7886700" y="134366"/>
                  </a:lnTo>
                  <a:lnTo>
                    <a:pt x="7886700" y="671830"/>
                  </a:lnTo>
                  <a:lnTo>
                    <a:pt x="7879846" y="714299"/>
                  </a:lnTo>
                  <a:lnTo>
                    <a:pt x="7860763" y="751183"/>
                  </a:lnTo>
                  <a:lnTo>
                    <a:pt x="7831671" y="780270"/>
                  </a:lnTo>
                  <a:lnTo>
                    <a:pt x="7794788" y="799345"/>
                  </a:lnTo>
                  <a:lnTo>
                    <a:pt x="7752334" y="806196"/>
                  </a:lnTo>
                  <a:lnTo>
                    <a:pt x="134365" y="806196"/>
                  </a:lnTo>
                  <a:lnTo>
                    <a:pt x="91896" y="799345"/>
                  </a:lnTo>
                  <a:lnTo>
                    <a:pt x="55012" y="780270"/>
                  </a:lnTo>
                  <a:lnTo>
                    <a:pt x="25925" y="751183"/>
                  </a:lnTo>
                  <a:lnTo>
                    <a:pt x="6850" y="714299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62101" y="1416507"/>
            <a:ext cx="5677535" cy="3208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Arial MT"/>
                <a:cs typeface="Arial MT"/>
              </a:rPr>
              <a:t>Treinamento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processo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de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AH</a:t>
            </a: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ct val="214100"/>
              </a:lnSpc>
              <a:spcBef>
                <a:spcPts val="125"/>
              </a:spcBef>
            </a:pPr>
            <a:r>
              <a:rPr sz="2800" spc="-10" dirty="0">
                <a:latin typeface="Arial MT"/>
                <a:cs typeface="Arial MT"/>
              </a:rPr>
              <a:t>Apresentação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domínio Apresentação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contexto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uso </a:t>
            </a:r>
            <a:r>
              <a:rPr sz="2800" spc="-10" dirty="0">
                <a:latin typeface="Arial MT"/>
                <a:cs typeface="Arial MT"/>
              </a:rPr>
              <a:t>Apresentação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cenário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específico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02785" y="4744973"/>
            <a:ext cx="62865" cy="5080"/>
          </a:xfrm>
          <a:custGeom>
            <a:avLst/>
            <a:gdLst/>
            <a:ahLst/>
            <a:cxnLst/>
            <a:rect l="l" t="t" r="r" b="b"/>
            <a:pathLst>
              <a:path w="62864" h="5079">
                <a:moveTo>
                  <a:pt x="0" y="0"/>
                </a:moveTo>
                <a:lnTo>
                  <a:pt x="26797" y="1752"/>
                </a:lnTo>
                <a:lnTo>
                  <a:pt x="59816" y="4470"/>
                </a:lnTo>
                <a:lnTo>
                  <a:pt x="62484" y="4571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963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95"/>
              </a:spcBef>
            </a:pPr>
            <a:r>
              <a:rPr dirty="0"/>
              <a:t>2</a:t>
            </a:r>
            <a:r>
              <a:rPr b="0" dirty="0">
                <a:latin typeface="Arial MT"/>
                <a:cs typeface="Arial MT"/>
              </a:rPr>
              <a:t>.</a:t>
            </a:r>
            <a:r>
              <a:rPr b="0" spc="-2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Avaliação</a:t>
            </a:r>
            <a:r>
              <a:rPr b="0" spc="-204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(cada</a:t>
            </a:r>
            <a:r>
              <a:rPr b="0" spc="-14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avaliador)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3062" y="1366774"/>
            <a:ext cx="7899400" cy="985519"/>
            <a:chOff x="623062" y="1366774"/>
            <a:chExt cx="7899400" cy="985519"/>
          </a:xfrm>
        </p:grpSpPr>
        <p:sp>
          <p:nvSpPr>
            <p:cNvPr id="4" name="object 4"/>
            <p:cNvSpPr/>
            <p:nvPr/>
          </p:nvSpPr>
          <p:spPr>
            <a:xfrm>
              <a:off x="629412" y="1373124"/>
              <a:ext cx="7886700" cy="972819"/>
            </a:xfrm>
            <a:custGeom>
              <a:avLst/>
              <a:gdLst/>
              <a:ahLst/>
              <a:cxnLst/>
              <a:rect l="l" t="t" r="r" b="b"/>
              <a:pathLst>
                <a:path w="7886700" h="972819">
                  <a:moveTo>
                    <a:pt x="7724648" y="0"/>
                  </a:moveTo>
                  <a:lnTo>
                    <a:pt x="162051" y="0"/>
                  </a:lnTo>
                  <a:lnTo>
                    <a:pt x="118972" y="5786"/>
                  </a:lnTo>
                  <a:lnTo>
                    <a:pt x="80262" y="22116"/>
                  </a:lnTo>
                  <a:lnTo>
                    <a:pt x="47464" y="47450"/>
                  </a:lnTo>
                  <a:lnTo>
                    <a:pt x="22125" y="80245"/>
                  </a:lnTo>
                  <a:lnTo>
                    <a:pt x="5788" y="118959"/>
                  </a:lnTo>
                  <a:lnTo>
                    <a:pt x="0" y="162051"/>
                  </a:lnTo>
                  <a:lnTo>
                    <a:pt x="0" y="810259"/>
                  </a:lnTo>
                  <a:lnTo>
                    <a:pt x="5788" y="853352"/>
                  </a:lnTo>
                  <a:lnTo>
                    <a:pt x="22125" y="892066"/>
                  </a:lnTo>
                  <a:lnTo>
                    <a:pt x="47464" y="924861"/>
                  </a:lnTo>
                  <a:lnTo>
                    <a:pt x="80262" y="950195"/>
                  </a:lnTo>
                  <a:lnTo>
                    <a:pt x="118972" y="966525"/>
                  </a:lnTo>
                  <a:lnTo>
                    <a:pt x="162051" y="972312"/>
                  </a:lnTo>
                  <a:lnTo>
                    <a:pt x="7724648" y="972312"/>
                  </a:lnTo>
                  <a:lnTo>
                    <a:pt x="7767740" y="966525"/>
                  </a:lnTo>
                  <a:lnTo>
                    <a:pt x="7806454" y="950195"/>
                  </a:lnTo>
                  <a:lnTo>
                    <a:pt x="7839249" y="924861"/>
                  </a:lnTo>
                  <a:lnTo>
                    <a:pt x="7864583" y="892066"/>
                  </a:lnTo>
                  <a:lnTo>
                    <a:pt x="7880913" y="853352"/>
                  </a:lnTo>
                  <a:lnTo>
                    <a:pt x="7886700" y="810259"/>
                  </a:lnTo>
                  <a:lnTo>
                    <a:pt x="7886700" y="162051"/>
                  </a:lnTo>
                  <a:lnTo>
                    <a:pt x="7880913" y="118959"/>
                  </a:lnTo>
                  <a:lnTo>
                    <a:pt x="7864583" y="80245"/>
                  </a:lnTo>
                  <a:lnTo>
                    <a:pt x="7839249" y="47450"/>
                  </a:lnTo>
                  <a:lnTo>
                    <a:pt x="7806454" y="22116"/>
                  </a:lnTo>
                  <a:lnTo>
                    <a:pt x="7767740" y="5786"/>
                  </a:lnTo>
                  <a:lnTo>
                    <a:pt x="772464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412" y="1373124"/>
              <a:ext cx="7886700" cy="972819"/>
            </a:xfrm>
            <a:custGeom>
              <a:avLst/>
              <a:gdLst/>
              <a:ahLst/>
              <a:cxnLst/>
              <a:rect l="l" t="t" r="r" b="b"/>
              <a:pathLst>
                <a:path w="7886700" h="972819">
                  <a:moveTo>
                    <a:pt x="0" y="162051"/>
                  </a:moveTo>
                  <a:lnTo>
                    <a:pt x="5788" y="118959"/>
                  </a:lnTo>
                  <a:lnTo>
                    <a:pt x="22125" y="80245"/>
                  </a:lnTo>
                  <a:lnTo>
                    <a:pt x="47464" y="47450"/>
                  </a:lnTo>
                  <a:lnTo>
                    <a:pt x="80262" y="22116"/>
                  </a:lnTo>
                  <a:lnTo>
                    <a:pt x="118972" y="5786"/>
                  </a:lnTo>
                  <a:lnTo>
                    <a:pt x="162051" y="0"/>
                  </a:lnTo>
                  <a:lnTo>
                    <a:pt x="7724648" y="0"/>
                  </a:lnTo>
                  <a:lnTo>
                    <a:pt x="7767740" y="5786"/>
                  </a:lnTo>
                  <a:lnTo>
                    <a:pt x="7806454" y="22116"/>
                  </a:lnTo>
                  <a:lnTo>
                    <a:pt x="7839249" y="47450"/>
                  </a:lnTo>
                  <a:lnTo>
                    <a:pt x="7864583" y="80245"/>
                  </a:lnTo>
                  <a:lnTo>
                    <a:pt x="7880913" y="118959"/>
                  </a:lnTo>
                  <a:lnTo>
                    <a:pt x="7886700" y="162051"/>
                  </a:lnTo>
                  <a:lnTo>
                    <a:pt x="7886700" y="810259"/>
                  </a:lnTo>
                  <a:lnTo>
                    <a:pt x="7880913" y="853352"/>
                  </a:lnTo>
                  <a:lnTo>
                    <a:pt x="7864583" y="892066"/>
                  </a:lnTo>
                  <a:lnTo>
                    <a:pt x="7839249" y="924861"/>
                  </a:lnTo>
                  <a:lnTo>
                    <a:pt x="7806454" y="950195"/>
                  </a:lnTo>
                  <a:lnTo>
                    <a:pt x="7767740" y="966525"/>
                  </a:lnTo>
                  <a:lnTo>
                    <a:pt x="7724648" y="972312"/>
                  </a:lnTo>
                  <a:lnTo>
                    <a:pt x="162051" y="972312"/>
                  </a:lnTo>
                  <a:lnTo>
                    <a:pt x="118972" y="966525"/>
                  </a:lnTo>
                  <a:lnTo>
                    <a:pt x="80262" y="950195"/>
                  </a:lnTo>
                  <a:lnTo>
                    <a:pt x="47464" y="924861"/>
                  </a:lnTo>
                  <a:lnTo>
                    <a:pt x="22125" y="892066"/>
                  </a:lnTo>
                  <a:lnTo>
                    <a:pt x="5788" y="853352"/>
                  </a:lnTo>
                  <a:lnTo>
                    <a:pt x="0" y="810259"/>
                  </a:lnTo>
                  <a:lnTo>
                    <a:pt x="0" y="162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23062" y="2499105"/>
            <a:ext cx="7899400" cy="985519"/>
            <a:chOff x="623062" y="2499105"/>
            <a:chExt cx="7899400" cy="985519"/>
          </a:xfrm>
        </p:grpSpPr>
        <p:sp>
          <p:nvSpPr>
            <p:cNvPr id="7" name="object 7"/>
            <p:cNvSpPr/>
            <p:nvPr/>
          </p:nvSpPr>
          <p:spPr>
            <a:xfrm>
              <a:off x="629412" y="2505455"/>
              <a:ext cx="7886700" cy="972819"/>
            </a:xfrm>
            <a:custGeom>
              <a:avLst/>
              <a:gdLst/>
              <a:ahLst/>
              <a:cxnLst/>
              <a:rect l="l" t="t" r="r" b="b"/>
              <a:pathLst>
                <a:path w="7886700" h="972820">
                  <a:moveTo>
                    <a:pt x="7724648" y="0"/>
                  </a:moveTo>
                  <a:lnTo>
                    <a:pt x="162051" y="0"/>
                  </a:lnTo>
                  <a:lnTo>
                    <a:pt x="118972" y="5786"/>
                  </a:lnTo>
                  <a:lnTo>
                    <a:pt x="80262" y="22116"/>
                  </a:lnTo>
                  <a:lnTo>
                    <a:pt x="47464" y="47450"/>
                  </a:lnTo>
                  <a:lnTo>
                    <a:pt x="22125" y="80245"/>
                  </a:lnTo>
                  <a:lnTo>
                    <a:pt x="5788" y="118959"/>
                  </a:lnTo>
                  <a:lnTo>
                    <a:pt x="0" y="162051"/>
                  </a:lnTo>
                  <a:lnTo>
                    <a:pt x="0" y="810260"/>
                  </a:lnTo>
                  <a:lnTo>
                    <a:pt x="5788" y="853352"/>
                  </a:lnTo>
                  <a:lnTo>
                    <a:pt x="22125" y="892066"/>
                  </a:lnTo>
                  <a:lnTo>
                    <a:pt x="47464" y="924861"/>
                  </a:lnTo>
                  <a:lnTo>
                    <a:pt x="80262" y="950195"/>
                  </a:lnTo>
                  <a:lnTo>
                    <a:pt x="118972" y="966525"/>
                  </a:lnTo>
                  <a:lnTo>
                    <a:pt x="162051" y="972312"/>
                  </a:lnTo>
                  <a:lnTo>
                    <a:pt x="7724648" y="972312"/>
                  </a:lnTo>
                  <a:lnTo>
                    <a:pt x="7767740" y="966525"/>
                  </a:lnTo>
                  <a:lnTo>
                    <a:pt x="7806454" y="950195"/>
                  </a:lnTo>
                  <a:lnTo>
                    <a:pt x="7839249" y="924861"/>
                  </a:lnTo>
                  <a:lnTo>
                    <a:pt x="7864583" y="892066"/>
                  </a:lnTo>
                  <a:lnTo>
                    <a:pt x="7880913" y="853352"/>
                  </a:lnTo>
                  <a:lnTo>
                    <a:pt x="7886700" y="810260"/>
                  </a:lnTo>
                  <a:lnTo>
                    <a:pt x="7886700" y="162051"/>
                  </a:lnTo>
                  <a:lnTo>
                    <a:pt x="7880913" y="118959"/>
                  </a:lnTo>
                  <a:lnTo>
                    <a:pt x="7864583" y="80245"/>
                  </a:lnTo>
                  <a:lnTo>
                    <a:pt x="7839249" y="47450"/>
                  </a:lnTo>
                  <a:lnTo>
                    <a:pt x="7806454" y="22116"/>
                  </a:lnTo>
                  <a:lnTo>
                    <a:pt x="7767740" y="5786"/>
                  </a:lnTo>
                  <a:lnTo>
                    <a:pt x="772464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9412" y="2505455"/>
              <a:ext cx="7886700" cy="972819"/>
            </a:xfrm>
            <a:custGeom>
              <a:avLst/>
              <a:gdLst/>
              <a:ahLst/>
              <a:cxnLst/>
              <a:rect l="l" t="t" r="r" b="b"/>
              <a:pathLst>
                <a:path w="7886700" h="972820">
                  <a:moveTo>
                    <a:pt x="0" y="162051"/>
                  </a:moveTo>
                  <a:lnTo>
                    <a:pt x="5788" y="118959"/>
                  </a:lnTo>
                  <a:lnTo>
                    <a:pt x="22125" y="80245"/>
                  </a:lnTo>
                  <a:lnTo>
                    <a:pt x="47464" y="47450"/>
                  </a:lnTo>
                  <a:lnTo>
                    <a:pt x="80262" y="22116"/>
                  </a:lnTo>
                  <a:lnTo>
                    <a:pt x="118972" y="5786"/>
                  </a:lnTo>
                  <a:lnTo>
                    <a:pt x="162051" y="0"/>
                  </a:lnTo>
                  <a:lnTo>
                    <a:pt x="7724648" y="0"/>
                  </a:lnTo>
                  <a:lnTo>
                    <a:pt x="7767740" y="5786"/>
                  </a:lnTo>
                  <a:lnTo>
                    <a:pt x="7806454" y="22116"/>
                  </a:lnTo>
                  <a:lnTo>
                    <a:pt x="7839249" y="47450"/>
                  </a:lnTo>
                  <a:lnTo>
                    <a:pt x="7864583" y="80245"/>
                  </a:lnTo>
                  <a:lnTo>
                    <a:pt x="7880913" y="118959"/>
                  </a:lnTo>
                  <a:lnTo>
                    <a:pt x="7886700" y="162051"/>
                  </a:lnTo>
                  <a:lnTo>
                    <a:pt x="7886700" y="810260"/>
                  </a:lnTo>
                  <a:lnTo>
                    <a:pt x="7880913" y="853352"/>
                  </a:lnTo>
                  <a:lnTo>
                    <a:pt x="7864583" y="892066"/>
                  </a:lnTo>
                  <a:lnTo>
                    <a:pt x="7839249" y="924861"/>
                  </a:lnTo>
                  <a:lnTo>
                    <a:pt x="7806454" y="950195"/>
                  </a:lnTo>
                  <a:lnTo>
                    <a:pt x="7767740" y="966525"/>
                  </a:lnTo>
                  <a:lnTo>
                    <a:pt x="7724648" y="972312"/>
                  </a:lnTo>
                  <a:lnTo>
                    <a:pt x="162051" y="972312"/>
                  </a:lnTo>
                  <a:lnTo>
                    <a:pt x="118972" y="966525"/>
                  </a:lnTo>
                  <a:lnTo>
                    <a:pt x="80262" y="950195"/>
                  </a:lnTo>
                  <a:lnTo>
                    <a:pt x="47464" y="924861"/>
                  </a:lnTo>
                  <a:lnTo>
                    <a:pt x="22125" y="892066"/>
                  </a:lnTo>
                  <a:lnTo>
                    <a:pt x="5788" y="853352"/>
                  </a:lnTo>
                  <a:lnTo>
                    <a:pt x="0" y="810260"/>
                  </a:lnTo>
                  <a:lnTo>
                    <a:pt x="0" y="162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23062" y="3622294"/>
            <a:ext cx="7899400" cy="985519"/>
            <a:chOff x="623062" y="3622294"/>
            <a:chExt cx="7899400" cy="985519"/>
          </a:xfrm>
        </p:grpSpPr>
        <p:sp>
          <p:nvSpPr>
            <p:cNvPr id="10" name="object 10"/>
            <p:cNvSpPr/>
            <p:nvPr/>
          </p:nvSpPr>
          <p:spPr>
            <a:xfrm>
              <a:off x="629412" y="3628644"/>
              <a:ext cx="7886700" cy="972819"/>
            </a:xfrm>
            <a:custGeom>
              <a:avLst/>
              <a:gdLst/>
              <a:ahLst/>
              <a:cxnLst/>
              <a:rect l="l" t="t" r="r" b="b"/>
              <a:pathLst>
                <a:path w="7886700" h="972820">
                  <a:moveTo>
                    <a:pt x="7724648" y="0"/>
                  </a:moveTo>
                  <a:lnTo>
                    <a:pt x="162051" y="0"/>
                  </a:lnTo>
                  <a:lnTo>
                    <a:pt x="118972" y="5786"/>
                  </a:lnTo>
                  <a:lnTo>
                    <a:pt x="80262" y="22116"/>
                  </a:lnTo>
                  <a:lnTo>
                    <a:pt x="47464" y="47450"/>
                  </a:lnTo>
                  <a:lnTo>
                    <a:pt x="22125" y="80245"/>
                  </a:lnTo>
                  <a:lnTo>
                    <a:pt x="5788" y="118959"/>
                  </a:lnTo>
                  <a:lnTo>
                    <a:pt x="0" y="162051"/>
                  </a:lnTo>
                  <a:lnTo>
                    <a:pt x="0" y="810259"/>
                  </a:lnTo>
                  <a:lnTo>
                    <a:pt x="5788" y="853339"/>
                  </a:lnTo>
                  <a:lnTo>
                    <a:pt x="22125" y="892049"/>
                  </a:lnTo>
                  <a:lnTo>
                    <a:pt x="47464" y="924847"/>
                  </a:lnTo>
                  <a:lnTo>
                    <a:pt x="80262" y="950186"/>
                  </a:lnTo>
                  <a:lnTo>
                    <a:pt x="118972" y="966523"/>
                  </a:lnTo>
                  <a:lnTo>
                    <a:pt x="162051" y="972311"/>
                  </a:lnTo>
                  <a:lnTo>
                    <a:pt x="7724648" y="972311"/>
                  </a:lnTo>
                  <a:lnTo>
                    <a:pt x="7767740" y="966523"/>
                  </a:lnTo>
                  <a:lnTo>
                    <a:pt x="7806454" y="950186"/>
                  </a:lnTo>
                  <a:lnTo>
                    <a:pt x="7839249" y="924847"/>
                  </a:lnTo>
                  <a:lnTo>
                    <a:pt x="7864583" y="892049"/>
                  </a:lnTo>
                  <a:lnTo>
                    <a:pt x="7880913" y="853339"/>
                  </a:lnTo>
                  <a:lnTo>
                    <a:pt x="7886700" y="810259"/>
                  </a:lnTo>
                  <a:lnTo>
                    <a:pt x="7886700" y="162051"/>
                  </a:lnTo>
                  <a:lnTo>
                    <a:pt x="7880913" y="118959"/>
                  </a:lnTo>
                  <a:lnTo>
                    <a:pt x="7864583" y="80245"/>
                  </a:lnTo>
                  <a:lnTo>
                    <a:pt x="7839249" y="47450"/>
                  </a:lnTo>
                  <a:lnTo>
                    <a:pt x="7806454" y="22116"/>
                  </a:lnTo>
                  <a:lnTo>
                    <a:pt x="7767740" y="5786"/>
                  </a:lnTo>
                  <a:lnTo>
                    <a:pt x="772464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9412" y="3628644"/>
              <a:ext cx="7886700" cy="972819"/>
            </a:xfrm>
            <a:custGeom>
              <a:avLst/>
              <a:gdLst/>
              <a:ahLst/>
              <a:cxnLst/>
              <a:rect l="l" t="t" r="r" b="b"/>
              <a:pathLst>
                <a:path w="7886700" h="972820">
                  <a:moveTo>
                    <a:pt x="0" y="162051"/>
                  </a:moveTo>
                  <a:lnTo>
                    <a:pt x="5788" y="118959"/>
                  </a:lnTo>
                  <a:lnTo>
                    <a:pt x="22125" y="80245"/>
                  </a:lnTo>
                  <a:lnTo>
                    <a:pt x="47464" y="47450"/>
                  </a:lnTo>
                  <a:lnTo>
                    <a:pt x="80262" y="22116"/>
                  </a:lnTo>
                  <a:lnTo>
                    <a:pt x="118972" y="5786"/>
                  </a:lnTo>
                  <a:lnTo>
                    <a:pt x="162051" y="0"/>
                  </a:lnTo>
                  <a:lnTo>
                    <a:pt x="7724648" y="0"/>
                  </a:lnTo>
                  <a:lnTo>
                    <a:pt x="7767740" y="5786"/>
                  </a:lnTo>
                  <a:lnTo>
                    <a:pt x="7806454" y="22116"/>
                  </a:lnTo>
                  <a:lnTo>
                    <a:pt x="7839249" y="47450"/>
                  </a:lnTo>
                  <a:lnTo>
                    <a:pt x="7864583" y="80245"/>
                  </a:lnTo>
                  <a:lnTo>
                    <a:pt x="7880913" y="118959"/>
                  </a:lnTo>
                  <a:lnTo>
                    <a:pt x="7886700" y="162051"/>
                  </a:lnTo>
                  <a:lnTo>
                    <a:pt x="7886700" y="810259"/>
                  </a:lnTo>
                  <a:lnTo>
                    <a:pt x="7880913" y="853339"/>
                  </a:lnTo>
                  <a:lnTo>
                    <a:pt x="7864583" y="892049"/>
                  </a:lnTo>
                  <a:lnTo>
                    <a:pt x="7839249" y="924847"/>
                  </a:lnTo>
                  <a:lnTo>
                    <a:pt x="7806454" y="950186"/>
                  </a:lnTo>
                  <a:lnTo>
                    <a:pt x="7767740" y="966523"/>
                  </a:lnTo>
                  <a:lnTo>
                    <a:pt x="7724648" y="972311"/>
                  </a:lnTo>
                  <a:lnTo>
                    <a:pt x="162051" y="972311"/>
                  </a:lnTo>
                  <a:lnTo>
                    <a:pt x="118972" y="966523"/>
                  </a:lnTo>
                  <a:lnTo>
                    <a:pt x="80262" y="950186"/>
                  </a:lnTo>
                  <a:lnTo>
                    <a:pt x="47464" y="924847"/>
                  </a:lnTo>
                  <a:lnTo>
                    <a:pt x="22125" y="892049"/>
                  </a:lnTo>
                  <a:lnTo>
                    <a:pt x="5788" y="853339"/>
                  </a:lnTo>
                  <a:lnTo>
                    <a:pt x="0" y="810259"/>
                  </a:lnTo>
                  <a:lnTo>
                    <a:pt x="0" y="162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5571" y="1564005"/>
            <a:ext cx="553783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MT"/>
                <a:cs typeface="Arial MT"/>
              </a:rPr>
              <a:t>Passo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1: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reconhecer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interação</a:t>
            </a:r>
            <a:endParaRPr sz="3200">
              <a:latin typeface="Arial MT"/>
              <a:cs typeface="Arial MT"/>
            </a:endParaRPr>
          </a:p>
          <a:p>
            <a:pPr marL="12700" marR="479425">
              <a:lnSpc>
                <a:spcPct val="230399"/>
              </a:lnSpc>
              <a:spcBef>
                <a:spcPts val="65"/>
              </a:spcBef>
            </a:pPr>
            <a:r>
              <a:rPr sz="3200" dirty="0">
                <a:latin typeface="Arial MT"/>
                <a:cs typeface="Arial MT"/>
              </a:rPr>
              <a:t>Passo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2: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foco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na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interface </a:t>
            </a:r>
            <a:r>
              <a:rPr sz="3200" dirty="0">
                <a:latin typeface="Arial MT"/>
                <a:cs typeface="Arial MT"/>
              </a:rPr>
              <a:t>Identificar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heurística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violada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963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35" dirty="0"/>
              <a:t> </a:t>
            </a:r>
            <a:r>
              <a:rPr spc="-10" dirty="0"/>
              <a:t>Compilação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3062" y="1404874"/>
            <a:ext cx="7899400" cy="738505"/>
            <a:chOff x="623062" y="1404874"/>
            <a:chExt cx="7899400" cy="738505"/>
          </a:xfrm>
        </p:grpSpPr>
        <p:sp>
          <p:nvSpPr>
            <p:cNvPr id="4" name="object 4"/>
            <p:cNvSpPr/>
            <p:nvPr/>
          </p:nvSpPr>
          <p:spPr>
            <a:xfrm>
              <a:off x="629412" y="1411224"/>
              <a:ext cx="7886700" cy="725805"/>
            </a:xfrm>
            <a:custGeom>
              <a:avLst/>
              <a:gdLst/>
              <a:ahLst/>
              <a:cxnLst/>
              <a:rect l="l" t="t" r="r" b="b"/>
              <a:pathLst>
                <a:path w="7886700" h="725805">
                  <a:moveTo>
                    <a:pt x="7765796" y="0"/>
                  </a:moveTo>
                  <a:lnTo>
                    <a:pt x="120903" y="0"/>
                  </a:lnTo>
                  <a:lnTo>
                    <a:pt x="73841" y="9497"/>
                  </a:lnTo>
                  <a:lnTo>
                    <a:pt x="35410" y="35401"/>
                  </a:lnTo>
                  <a:lnTo>
                    <a:pt x="9500" y="73830"/>
                  </a:lnTo>
                  <a:lnTo>
                    <a:pt x="0" y="120903"/>
                  </a:lnTo>
                  <a:lnTo>
                    <a:pt x="0" y="604519"/>
                  </a:lnTo>
                  <a:lnTo>
                    <a:pt x="9500" y="651593"/>
                  </a:lnTo>
                  <a:lnTo>
                    <a:pt x="35410" y="690022"/>
                  </a:lnTo>
                  <a:lnTo>
                    <a:pt x="73841" y="715926"/>
                  </a:lnTo>
                  <a:lnTo>
                    <a:pt x="120903" y="725424"/>
                  </a:lnTo>
                  <a:lnTo>
                    <a:pt x="7765796" y="725424"/>
                  </a:lnTo>
                  <a:lnTo>
                    <a:pt x="7812869" y="715926"/>
                  </a:lnTo>
                  <a:lnTo>
                    <a:pt x="7851298" y="690022"/>
                  </a:lnTo>
                  <a:lnTo>
                    <a:pt x="7877202" y="651593"/>
                  </a:lnTo>
                  <a:lnTo>
                    <a:pt x="7886700" y="604519"/>
                  </a:lnTo>
                  <a:lnTo>
                    <a:pt x="7886700" y="120903"/>
                  </a:lnTo>
                  <a:lnTo>
                    <a:pt x="7877202" y="73830"/>
                  </a:lnTo>
                  <a:lnTo>
                    <a:pt x="7851298" y="35401"/>
                  </a:lnTo>
                  <a:lnTo>
                    <a:pt x="7812869" y="9497"/>
                  </a:lnTo>
                  <a:lnTo>
                    <a:pt x="776579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412" y="1411224"/>
              <a:ext cx="7886700" cy="725805"/>
            </a:xfrm>
            <a:custGeom>
              <a:avLst/>
              <a:gdLst/>
              <a:ahLst/>
              <a:cxnLst/>
              <a:rect l="l" t="t" r="r" b="b"/>
              <a:pathLst>
                <a:path w="7886700" h="725805">
                  <a:moveTo>
                    <a:pt x="0" y="120903"/>
                  </a:moveTo>
                  <a:lnTo>
                    <a:pt x="9500" y="73830"/>
                  </a:lnTo>
                  <a:lnTo>
                    <a:pt x="35410" y="35401"/>
                  </a:lnTo>
                  <a:lnTo>
                    <a:pt x="73841" y="9497"/>
                  </a:lnTo>
                  <a:lnTo>
                    <a:pt x="120903" y="0"/>
                  </a:lnTo>
                  <a:lnTo>
                    <a:pt x="7765796" y="0"/>
                  </a:lnTo>
                  <a:lnTo>
                    <a:pt x="7812869" y="9497"/>
                  </a:lnTo>
                  <a:lnTo>
                    <a:pt x="7851298" y="35401"/>
                  </a:lnTo>
                  <a:lnTo>
                    <a:pt x="7877202" y="73830"/>
                  </a:lnTo>
                  <a:lnTo>
                    <a:pt x="7886700" y="120903"/>
                  </a:lnTo>
                  <a:lnTo>
                    <a:pt x="7886700" y="604519"/>
                  </a:lnTo>
                  <a:lnTo>
                    <a:pt x="7877202" y="651593"/>
                  </a:lnTo>
                  <a:lnTo>
                    <a:pt x="7851298" y="690022"/>
                  </a:lnTo>
                  <a:lnTo>
                    <a:pt x="7812869" y="715926"/>
                  </a:lnTo>
                  <a:lnTo>
                    <a:pt x="7765796" y="725424"/>
                  </a:lnTo>
                  <a:lnTo>
                    <a:pt x="120903" y="725424"/>
                  </a:lnTo>
                  <a:lnTo>
                    <a:pt x="73841" y="715926"/>
                  </a:lnTo>
                  <a:lnTo>
                    <a:pt x="35410" y="690022"/>
                  </a:lnTo>
                  <a:lnTo>
                    <a:pt x="9500" y="651593"/>
                  </a:lnTo>
                  <a:lnTo>
                    <a:pt x="0" y="604519"/>
                  </a:lnTo>
                  <a:lnTo>
                    <a:pt x="0" y="1209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23062" y="2224785"/>
            <a:ext cx="7899400" cy="738505"/>
            <a:chOff x="623062" y="2224785"/>
            <a:chExt cx="7899400" cy="738505"/>
          </a:xfrm>
        </p:grpSpPr>
        <p:sp>
          <p:nvSpPr>
            <p:cNvPr id="7" name="object 7"/>
            <p:cNvSpPr/>
            <p:nvPr/>
          </p:nvSpPr>
          <p:spPr>
            <a:xfrm>
              <a:off x="629412" y="2231135"/>
              <a:ext cx="7886700" cy="725805"/>
            </a:xfrm>
            <a:custGeom>
              <a:avLst/>
              <a:gdLst/>
              <a:ahLst/>
              <a:cxnLst/>
              <a:rect l="l" t="t" r="r" b="b"/>
              <a:pathLst>
                <a:path w="7886700" h="725805">
                  <a:moveTo>
                    <a:pt x="7765796" y="0"/>
                  </a:moveTo>
                  <a:lnTo>
                    <a:pt x="120903" y="0"/>
                  </a:lnTo>
                  <a:lnTo>
                    <a:pt x="73841" y="9497"/>
                  </a:lnTo>
                  <a:lnTo>
                    <a:pt x="35410" y="35401"/>
                  </a:lnTo>
                  <a:lnTo>
                    <a:pt x="9500" y="73830"/>
                  </a:lnTo>
                  <a:lnTo>
                    <a:pt x="0" y="120903"/>
                  </a:lnTo>
                  <a:lnTo>
                    <a:pt x="0" y="604519"/>
                  </a:lnTo>
                  <a:lnTo>
                    <a:pt x="9500" y="651593"/>
                  </a:lnTo>
                  <a:lnTo>
                    <a:pt x="35410" y="690022"/>
                  </a:lnTo>
                  <a:lnTo>
                    <a:pt x="73841" y="715926"/>
                  </a:lnTo>
                  <a:lnTo>
                    <a:pt x="120903" y="725424"/>
                  </a:lnTo>
                  <a:lnTo>
                    <a:pt x="7765796" y="725424"/>
                  </a:lnTo>
                  <a:lnTo>
                    <a:pt x="7812869" y="715926"/>
                  </a:lnTo>
                  <a:lnTo>
                    <a:pt x="7851298" y="690022"/>
                  </a:lnTo>
                  <a:lnTo>
                    <a:pt x="7877202" y="651593"/>
                  </a:lnTo>
                  <a:lnTo>
                    <a:pt x="7886700" y="604519"/>
                  </a:lnTo>
                  <a:lnTo>
                    <a:pt x="7886700" y="120903"/>
                  </a:lnTo>
                  <a:lnTo>
                    <a:pt x="7877202" y="73830"/>
                  </a:lnTo>
                  <a:lnTo>
                    <a:pt x="7851298" y="35401"/>
                  </a:lnTo>
                  <a:lnTo>
                    <a:pt x="7812869" y="9497"/>
                  </a:lnTo>
                  <a:lnTo>
                    <a:pt x="776579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9412" y="2231135"/>
              <a:ext cx="7886700" cy="725805"/>
            </a:xfrm>
            <a:custGeom>
              <a:avLst/>
              <a:gdLst/>
              <a:ahLst/>
              <a:cxnLst/>
              <a:rect l="l" t="t" r="r" b="b"/>
              <a:pathLst>
                <a:path w="7886700" h="725805">
                  <a:moveTo>
                    <a:pt x="0" y="120903"/>
                  </a:moveTo>
                  <a:lnTo>
                    <a:pt x="9500" y="73830"/>
                  </a:lnTo>
                  <a:lnTo>
                    <a:pt x="35410" y="35401"/>
                  </a:lnTo>
                  <a:lnTo>
                    <a:pt x="73841" y="9497"/>
                  </a:lnTo>
                  <a:lnTo>
                    <a:pt x="120903" y="0"/>
                  </a:lnTo>
                  <a:lnTo>
                    <a:pt x="7765796" y="0"/>
                  </a:lnTo>
                  <a:lnTo>
                    <a:pt x="7812869" y="9497"/>
                  </a:lnTo>
                  <a:lnTo>
                    <a:pt x="7851298" y="35401"/>
                  </a:lnTo>
                  <a:lnTo>
                    <a:pt x="7877202" y="73830"/>
                  </a:lnTo>
                  <a:lnTo>
                    <a:pt x="7886700" y="120903"/>
                  </a:lnTo>
                  <a:lnTo>
                    <a:pt x="7886700" y="604519"/>
                  </a:lnTo>
                  <a:lnTo>
                    <a:pt x="7877202" y="651593"/>
                  </a:lnTo>
                  <a:lnTo>
                    <a:pt x="7851298" y="690022"/>
                  </a:lnTo>
                  <a:lnTo>
                    <a:pt x="7812869" y="715926"/>
                  </a:lnTo>
                  <a:lnTo>
                    <a:pt x="7765796" y="725424"/>
                  </a:lnTo>
                  <a:lnTo>
                    <a:pt x="120903" y="725424"/>
                  </a:lnTo>
                  <a:lnTo>
                    <a:pt x="73841" y="715926"/>
                  </a:lnTo>
                  <a:lnTo>
                    <a:pt x="35410" y="690022"/>
                  </a:lnTo>
                  <a:lnTo>
                    <a:pt x="9500" y="651593"/>
                  </a:lnTo>
                  <a:lnTo>
                    <a:pt x="0" y="604519"/>
                  </a:lnTo>
                  <a:lnTo>
                    <a:pt x="0" y="1209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23062" y="3021838"/>
            <a:ext cx="7899400" cy="738505"/>
            <a:chOff x="623062" y="3021838"/>
            <a:chExt cx="7899400" cy="738505"/>
          </a:xfrm>
        </p:grpSpPr>
        <p:sp>
          <p:nvSpPr>
            <p:cNvPr id="10" name="object 10"/>
            <p:cNvSpPr/>
            <p:nvPr/>
          </p:nvSpPr>
          <p:spPr>
            <a:xfrm>
              <a:off x="629412" y="3028188"/>
              <a:ext cx="7886700" cy="725805"/>
            </a:xfrm>
            <a:custGeom>
              <a:avLst/>
              <a:gdLst/>
              <a:ahLst/>
              <a:cxnLst/>
              <a:rect l="l" t="t" r="r" b="b"/>
              <a:pathLst>
                <a:path w="7886700" h="725804">
                  <a:moveTo>
                    <a:pt x="7765796" y="0"/>
                  </a:moveTo>
                  <a:lnTo>
                    <a:pt x="120903" y="0"/>
                  </a:lnTo>
                  <a:lnTo>
                    <a:pt x="73841" y="9497"/>
                  </a:lnTo>
                  <a:lnTo>
                    <a:pt x="35410" y="35401"/>
                  </a:lnTo>
                  <a:lnTo>
                    <a:pt x="9500" y="73830"/>
                  </a:lnTo>
                  <a:lnTo>
                    <a:pt x="0" y="120904"/>
                  </a:lnTo>
                  <a:lnTo>
                    <a:pt x="0" y="604520"/>
                  </a:lnTo>
                  <a:lnTo>
                    <a:pt x="9500" y="651593"/>
                  </a:lnTo>
                  <a:lnTo>
                    <a:pt x="35410" y="690022"/>
                  </a:lnTo>
                  <a:lnTo>
                    <a:pt x="73841" y="715926"/>
                  </a:lnTo>
                  <a:lnTo>
                    <a:pt x="120903" y="725424"/>
                  </a:lnTo>
                  <a:lnTo>
                    <a:pt x="7765796" y="725424"/>
                  </a:lnTo>
                  <a:lnTo>
                    <a:pt x="7812869" y="715926"/>
                  </a:lnTo>
                  <a:lnTo>
                    <a:pt x="7851298" y="690022"/>
                  </a:lnTo>
                  <a:lnTo>
                    <a:pt x="7877202" y="651593"/>
                  </a:lnTo>
                  <a:lnTo>
                    <a:pt x="7886700" y="604520"/>
                  </a:lnTo>
                  <a:lnTo>
                    <a:pt x="7886700" y="120904"/>
                  </a:lnTo>
                  <a:lnTo>
                    <a:pt x="7877202" y="73830"/>
                  </a:lnTo>
                  <a:lnTo>
                    <a:pt x="7851298" y="35401"/>
                  </a:lnTo>
                  <a:lnTo>
                    <a:pt x="7812869" y="9497"/>
                  </a:lnTo>
                  <a:lnTo>
                    <a:pt x="776579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9412" y="3028188"/>
              <a:ext cx="7886700" cy="725805"/>
            </a:xfrm>
            <a:custGeom>
              <a:avLst/>
              <a:gdLst/>
              <a:ahLst/>
              <a:cxnLst/>
              <a:rect l="l" t="t" r="r" b="b"/>
              <a:pathLst>
                <a:path w="7886700" h="725804">
                  <a:moveTo>
                    <a:pt x="0" y="120904"/>
                  </a:moveTo>
                  <a:lnTo>
                    <a:pt x="9500" y="73830"/>
                  </a:lnTo>
                  <a:lnTo>
                    <a:pt x="35410" y="35401"/>
                  </a:lnTo>
                  <a:lnTo>
                    <a:pt x="73841" y="9497"/>
                  </a:lnTo>
                  <a:lnTo>
                    <a:pt x="120903" y="0"/>
                  </a:lnTo>
                  <a:lnTo>
                    <a:pt x="7765796" y="0"/>
                  </a:lnTo>
                  <a:lnTo>
                    <a:pt x="7812869" y="9497"/>
                  </a:lnTo>
                  <a:lnTo>
                    <a:pt x="7851298" y="35401"/>
                  </a:lnTo>
                  <a:lnTo>
                    <a:pt x="7877202" y="73830"/>
                  </a:lnTo>
                  <a:lnTo>
                    <a:pt x="7886700" y="120904"/>
                  </a:lnTo>
                  <a:lnTo>
                    <a:pt x="7886700" y="604520"/>
                  </a:lnTo>
                  <a:lnTo>
                    <a:pt x="7877202" y="651593"/>
                  </a:lnTo>
                  <a:lnTo>
                    <a:pt x="7851298" y="690022"/>
                  </a:lnTo>
                  <a:lnTo>
                    <a:pt x="7812869" y="715926"/>
                  </a:lnTo>
                  <a:lnTo>
                    <a:pt x="7765796" y="725424"/>
                  </a:lnTo>
                  <a:lnTo>
                    <a:pt x="120903" y="725424"/>
                  </a:lnTo>
                  <a:lnTo>
                    <a:pt x="73841" y="715926"/>
                  </a:lnTo>
                  <a:lnTo>
                    <a:pt x="35410" y="690022"/>
                  </a:lnTo>
                  <a:lnTo>
                    <a:pt x="9500" y="651593"/>
                  </a:lnTo>
                  <a:lnTo>
                    <a:pt x="0" y="604520"/>
                  </a:lnTo>
                  <a:lnTo>
                    <a:pt x="0" y="12090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23062" y="3853941"/>
            <a:ext cx="7899400" cy="738505"/>
            <a:chOff x="623062" y="3853941"/>
            <a:chExt cx="7899400" cy="738505"/>
          </a:xfrm>
        </p:grpSpPr>
        <p:sp>
          <p:nvSpPr>
            <p:cNvPr id="13" name="object 13"/>
            <p:cNvSpPr/>
            <p:nvPr/>
          </p:nvSpPr>
          <p:spPr>
            <a:xfrm>
              <a:off x="629412" y="3860291"/>
              <a:ext cx="7886700" cy="725805"/>
            </a:xfrm>
            <a:custGeom>
              <a:avLst/>
              <a:gdLst/>
              <a:ahLst/>
              <a:cxnLst/>
              <a:rect l="l" t="t" r="r" b="b"/>
              <a:pathLst>
                <a:path w="7886700" h="725804">
                  <a:moveTo>
                    <a:pt x="7765796" y="0"/>
                  </a:moveTo>
                  <a:lnTo>
                    <a:pt x="120903" y="0"/>
                  </a:lnTo>
                  <a:lnTo>
                    <a:pt x="73841" y="9500"/>
                  </a:lnTo>
                  <a:lnTo>
                    <a:pt x="35410" y="35410"/>
                  </a:lnTo>
                  <a:lnTo>
                    <a:pt x="9500" y="73841"/>
                  </a:lnTo>
                  <a:lnTo>
                    <a:pt x="0" y="120904"/>
                  </a:lnTo>
                  <a:lnTo>
                    <a:pt x="0" y="604520"/>
                  </a:lnTo>
                  <a:lnTo>
                    <a:pt x="9500" y="651582"/>
                  </a:lnTo>
                  <a:lnTo>
                    <a:pt x="35410" y="690013"/>
                  </a:lnTo>
                  <a:lnTo>
                    <a:pt x="73841" y="715923"/>
                  </a:lnTo>
                  <a:lnTo>
                    <a:pt x="120903" y="725424"/>
                  </a:lnTo>
                  <a:lnTo>
                    <a:pt x="7765796" y="725424"/>
                  </a:lnTo>
                  <a:lnTo>
                    <a:pt x="7812869" y="715923"/>
                  </a:lnTo>
                  <a:lnTo>
                    <a:pt x="7851298" y="690013"/>
                  </a:lnTo>
                  <a:lnTo>
                    <a:pt x="7877202" y="651582"/>
                  </a:lnTo>
                  <a:lnTo>
                    <a:pt x="7886700" y="604520"/>
                  </a:lnTo>
                  <a:lnTo>
                    <a:pt x="7886700" y="120904"/>
                  </a:lnTo>
                  <a:lnTo>
                    <a:pt x="7877202" y="73841"/>
                  </a:lnTo>
                  <a:lnTo>
                    <a:pt x="7851298" y="35410"/>
                  </a:lnTo>
                  <a:lnTo>
                    <a:pt x="7812869" y="9500"/>
                  </a:lnTo>
                  <a:lnTo>
                    <a:pt x="776579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9412" y="3860291"/>
              <a:ext cx="7886700" cy="725805"/>
            </a:xfrm>
            <a:custGeom>
              <a:avLst/>
              <a:gdLst/>
              <a:ahLst/>
              <a:cxnLst/>
              <a:rect l="l" t="t" r="r" b="b"/>
              <a:pathLst>
                <a:path w="7886700" h="725804">
                  <a:moveTo>
                    <a:pt x="0" y="120904"/>
                  </a:moveTo>
                  <a:lnTo>
                    <a:pt x="9500" y="73841"/>
                  </a:lnTo>
                  <a:lnTo>
                    <a:pt x="35410" y="35410"/>
                  </a:lnTo>
                  <a:lnTo>
                    <a:pt x="73841" y="9500"/>
                  </a:lnTo>
                  <a:lnTo>
                    <a:pt x="120903" y="0"/>
                  </a:lnTo>
                  <a:lnTo>
                    <a:pt x="7765796" y="0"/>
                  </a:lnTo>
                  <a:lnTo>
                    <a:pt x="7812869" y="9500"/>
                  </a:lnTo>
                  <a:lnTo>
                    <a:pt x="7851298" y="35410"/>
                  </a:lnTo>
                  <a:lnTo>
                    <a:pt x="7877202" y="73841"/>
                  </a:lnTo>
                  <a:lnTo>
                    <a:pt x="7886700" y="120904"/>
                  </a:lnTo>
                  <a:lnTo>
                    <a:pt x="7886700" y="604520"/>
                  </a:lnTo>
                  <a:lnTo>
                    <a:pt x="7877202" y="651582"/>
                  </a:lnTo>
                  <a:lnTo>
                    <a:pt x="7851298" y="690013"/>
                  </a:lnTo>
                  <a:lnTo>
                    <a:pt x="7812869" y="715923"/>
                  </a:lnTo>
                  <a:lnTo>
                    <a:pt x="7765796" y="725424"/>
                  </a:lnTo>
                  <a:lnTo>
                    <a:pt x="120903" y="725424"/>
                  </a:lnTo>
                  <a:lnTo>
                    <a:pt x="73841" y="715923"/>
                  </a:lnTo>
                  <a:lnTo>
                    <a:pt x="35410" y="690013"/>
                  </a:lnTo>
                  <a:lnTo>
                    <a:pt x="9500" y="651582"/>
                  </a:lnTo>
                  <a:lnTo>
                    <a:pt x="0" y="604520"/>
                  </a:lnTo>
                  <a:lnTo>
                    <a:pt x="0" y="12090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69721" y="1489328"/>
            <a:ext cx="6561455" cy="294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dirty="0">
                <a:latin typeface="Arial MT"/>
                <a:cs typeface="Arial MT"/>
              </a:rPr>
              <a:t>Identificar</a:t>
            </a:r>
            <a:r>
              <a:rPr sz="3100" spc="-15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problemas</a:t>
            </a:r>
            <a:r>
              <a:rPr sz="3100" spc="-14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repetidos</a:t>
            </a:r>
            <a:endParaRPr sz="3100">
              <a:latin typeface="Arial MT"/>
              <a:cs typeface="Arial MT"/>
            </a:endParaRPr>
          </a:p>
          <a:p>
            <a:pPr marL="12700" marR="5080">
              <a:lnSpc>
                <a:spcPct val="168700"/>
              </a:lnSpc>
              <a:spcBef>
                <a:spcPts val="185"/>
              </a:spcBef>
            </a:pPr>
            <a:r>
              <a:rPr sz="3100" dirty="0">
                <a:latin typeface="Arial MT"/>
                <a:cs typeface="Arial MT"/>
              </a:rPr>
              <a:t>Classificar</a:t>
            </a:r>
            <a:r>
              <a:rPr sz="3100" spc="-1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visibilidade</a:t>
            </a:r>
            <a:r>
              <a:rPr sz="3100" spc="-10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dos</a:t>
            </a:r>
            <a:r>
              <a:rPr sz="3100" spc="-12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problemas </a:t>
            </a:r>
            <a:r>
              <a:rPr sz="3100" dirty="0">
                <a:latin typeface="Arial MT"/>
                <a:cs typeface="Arial MT"/>
              </a:rPr>
              <a:t>Não</a:t>
            </a:r>
            <a:r>
              <a:rPr sz="3100" spc="-9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rebater</a:t>
            </a:r>
            <a:r>
              <a:rPr sz="3100" spc="-9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problemas</a:t>
            </a:r>
            <a:endParaRPr sz="3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35"/>
              </a:spcBef>
            </a:pPr>
            <a:r>
              <a:rPr sz="3100" dirty="0">
                <a:latin typeface="Arial MT"/>
                <a:cs typeface="Arial MT"/>
              </a:rPr>
              <a:t>Compilar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resultados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963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70" dirty="0"/>
              <a:t> </a:t>
            </a:r>
            <a:r>
              <a:rPr spc="-10" dirty="0"/>
              <a:t>Classificação</a:t>
            </a:r>
            <a:r>
              <a:rPr spc="-50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spc="-10" dirty="0"/>
              <a:t>severidade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3062" y="1554225"/>
            <a:ext cx="7899400" cy="855980"/>
            <a:chOff x="623062" y="1554225"/>
            <a:chExt cx="7899400" cy="855980"/>
          </a:xfrm>
        </p:grpSpPr>
        <p:sp>
          <p:nvSpPr>
            <p:cNvPr id="4" name="object 4"/>
            <p:cNvSpPr/>
            <p:nvPr/>
          </p:nvSpPr>
          <p:spPr>
            <a:xfrm>
              <a:off x="629412" y="1560575"/>
              <a:ext cx="7886700" cy="843280"/>
            </a:xfrm>
            <a:custGeom>
              <a:avLst/>
              <a:gdLst/>
              <a:ahLst/>
              <a:cxnLst/>
              <a:rect l="l" t="t" r="r" b="b"/>
              <a:pathLst>
                <a:path w="7886700" h="843280">
                  <a:moveTo>
                    <a:pt x="7746238" y="0"/>
                  </a:moveTo>
                  <a:lnTo>
                    <a:pt x="140461" y="0"/>
                  </a:lnTo>
                  <a:lnTo>
                    <a:pt x="96066" y="7158"/>
                  </a:lnTo>
                  <a:lnTo>
                    <a:pt x="57508" y="27094"/>
                  </a:lnTo>
                  <a:lnTo>
                    <a:pt x="27102" y="57497"/>
                  </a:lnTo>
                  <a:lnTo>
                    <a:pt x="7161" y="96056"/>
                  </a:lnTo>
                  <a:lnTo>
                    <a:pt x="0" y="140462"/>
                  </a:lnTo>
                  <a:lnTo>
                    <a:pt x="0" y="702310"/>
                  </a:lnTo>
                  <a:lnTo>
                    <a:pt x="7161" y="746715"/>
                  </a:lnTo>
                  <a:lnTo>
                    <a:pt x="27102" y="785274"/>
                  </a:lnTo>
                  <a:lnTo>
                    <a:pt x="57508" y="815677"/>
                  </a:lnTo>
                  <a:lnTo>
                    <a:pt x="96066" y="835613"/>
                  </a:lnTo>
                  <a:lnTo>
                    <a:pt x="140461" y="842772"/>
                  </a:lnTo>
                  <a:lnTo>
                    <a:pt x="7746238" y="842772"/>
                  </a:lnTo>
                  <a:lnTo>
                    <a:pt x="7790643" y="835613"/>
                  </a:lnTo>
                  <a:lnTo>
                    <a:pt x="7829202" y="815677"/>
                  </a:lnTo>
                  <a:lnTo>
                    <a:pt x="7859605" y="785274"/>
                  </a:lnTo>
                  <a:lnTo>
                    <a:pt x="7879541" y="746715"/>
                  </a:lnTo>
                  <a:lnTo>
                    <a:pt x="7886700" y="702310"/>
                  </a:lnTo>
                  <a:lnTo>
                    <a:pt x="7886700" y="140462"/>
                  </a:lnTo>
                  <a:lnTo>
                    <a:pt x="7879541" y="96056"/>
                  </a:lnTo>
                  <a:lnTo>
                    <a:pt x="7859605" y="57497"/>
                  </a:lnTo>
                  <a:lnTo>
                    <a:pt x="7829202" y="27094"/>
                  </a:lnTo>
                  <a:lnTo>
                    <a:pt x="7790643" y="7158"/>
                  </a:lnTo>
                  <a:lnTo>
                    <a:pt x="774623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412" y="1560575"/>
              <a:ext cx="7886700" cy="843280"/>
            </a:xfrm>
            <a:custGeom>
              <a:avLst/>
              <a:gdLst/>
              <a:ahLst/>
              <a:cxnLst/>
              <a:rect l="l" t="t" r="r" b="b"/>
              <a:pathLst>
                <a:path w="7886700" h="843280">
                  <a:moveTo>
                    <a:pt x="0" y="140462"/>
                  </a:moveTo>
                  <a:lnTo>
                    <a:pt x="7161" y="96056"/>
                  </a:lnTo>
                  <a:lnTo>
                    <a:pt x="27102" y="57497"/>
                  </a:lnTo>
                  <a:lnTo>
                    <a:pt x="57508" y="27094"/>
                  </a:lnTo>
                  <a:lnTo>
                    <a:pt x="96066" y="7158"/>
                  </a:lnTo>
                  <a:lnTo>
                    <a:pt x="140461" y="0"/>
                  </a:lnTo>
                  <a:lnTo>
                    <a:pt x="7746238" y="0"/>
                  </a:lnTo>
                  <a:lnTo>
                    <a:pt x="7790643" y="7158"/>
                  </a:lnTo>
                  <a:lnTo>
                    <a:pt x="7829202" y="27094"/>
                  </a:lnTo>
                  <a:lnTo>
                    <a:pt x="7859605" y="57497"/>
                  </a:lnTo>
                  <a:lnTo>
                    <a:pt x="7879541" y="96056"/>
                  </a:lnTo>
                  <a:lnTo>
                    <a:pt x="7886700" y="140462"/>
                  </a:lnTo>
                  <a:lnTo>
                    <a:pt x="7886700" y="702310"/>
                  </a:lnTo>
                  <a:lnTo>
                    <a:pt x="7879541" y="746715"/>
                  </a:lnTo>
                  <a:lnTo>
                    <a:pt x="7859605" y="785274"/>
                  </a:lnTo>
                  <a:lnTo>
                    <a:pt x="7829202" y="815677"/>
                  </a:lnTo>
                  <a:lnTo>
                    <a:pt x="7790643" y="835613"/>
                  </a:lnTo>
                  <a:lnTo>
                    <a:pt x="7746238" y="842772"/>
                  </a:lnTo>
                  <a:lnTo>
                    <a:pt x="140461" y="842772"/>
                  </a:lnTo>
                  <a:lnTo>
                    <a:pt x="96066" y="835613"/>
                  </a:lnTo>
                  <a:lnTo>
                    <a:pt x="57508" y="815677"/>
                  </a:lnTo>
                  <a:lnTo>
                    <a:pt x="27102" y="785274"/>
                  </a:lnTo>
                  <a:lnTo>
                    <a:pt x="7161" y="746715"/>
                  </a:lnTo>
                  <a:lnTo>
                    <a:pt x="0" y="702310"/>
                  </a:lnTo>
                  <a:lnTo>
                    <a:pt x="0" y="1404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23062" y="2526538"/>
            <a:ext cx="7899400" cy="855980"/>
            <a:chOff x="623062" y="2526538"/>
            <a:chExt cx="7899400" cy="855980"/>
          </a:xfrm>
        </p:grpSpPr>
        <p:sp>
          <p:nvSpPr>
            <p:cNvPr id="7" name="object 7"/>
            <p:cNvSpPr/>
            <p:nvPr/>
          </p:nvSpPr>
          <p:spPr>
            <a:xfrm>
              <a:off x="629412" y="2532888"/>
              <a:ext cx="7886700" cy="843280"/>
            </a:xfrm>
            <a:custGeom>
              <a:avLst/>
              <a:gdLst/>
              <a:ahLst/>
              <a:cxnLst/>
              <a:rect l="l" t="t" r="r" b="b"/>
              <a:pathLst>
                <a:path w="7886700" h="843279">
                  <a:moveTo>
                    <a:pt x="7746238" y="0"/>
                  </a:moveTo>
                  <a:lnTo>
                    <a:pt x="140461" y="0"/>
                  </a:lnTo>
                  <a:lnTo>
                    <a:pt x="96066" y="7158"/>
                  </a:lnTo>
                  <a:lnTo>
                    <a:pt x="57508" y="27094"/>
                  </a:lnTo>
                  <a:lnTo>
                    <a:pt x="27102" y="57497"/>
                  </a:lnTo>
                  <a:lnTo>
                    <a:pt x="7161" y="96056"/>
                  </a:lnTo>
                  <a:lnTo>
                    <a:pt x="0" y="140462"/>
                  </a:lnTo>
                  <a:lnTo>
                    <a:pt x="0" y="702310"/>
                  </a:lnTo>
                  <a:lnTo>
                    <a:pt x="7161" y="746715"/>
                  </a:lnTo>
                  <a:lnTo>
                    <a:pt x="27102" y="785274"/>
                  </a:lnTo>
                  <a:lnTo>
                    <a:pt x="57508" y="815677"/>
                  </a:lnTo>
                  <a:lnTo>
                    <a:pt x="96066" y="835613"/>
                  </a:lnTo>
                  <a:lnTo>
                    <a:pt x="140461" y="842772"/>
                  </a:lnTo>
                  <a:lnTo>
                    <a:pt x="7746238" y="842772"/>
                  </a:lnTo>
                  <a:lnTo>
                    <a:pt x="7790643" y="835613"/>
                  </a:lnTo>
                  <a:lnTo>
                    <a:pt x="7829202" y="815677"/>
                  </a:lnTo>
                  <a:lnTo>
                    <a:pt x="7859605" y="785274"/>
                  </a:lnTo>
                  <a:lnTo>
                    <a:pt x="7879541" y="746715"/>
                  </a:lnTo>
                  <a:lnTo>
                    <a:pt x="7886700" y="702310"/>
                  </a:lnTo>
                  <a:lnTo>
                    <a:pt x="7886700" y="140462"/>
                  </a:lnTo>
                  <a:lnTo>
                    <a:pt x="7879541" y="96056"/>
                  </a:lnTo>
                  <a:lnTo>
                    <a:pt x="7859605" y="57497"/>
                  </a:lnTo>
                  <a:lnTo>
                    <a:pt x="7829202" y="27094"/>
                  </a:lnTo>
                  <a:lnTo>
                    <a:pt x="7790643" y="7158"/>
                  </a:lnTo>
                  <a:lnTo>
                    <a:pt x="774623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9412" y="2532888"/>
              <a:ext cx="7886700" cy="843280"/>
            </a:xfrm>
            <a:custGeom>
              <a:avLst/>
              <a:gdLst/>
              <a:ahLst/>
              <a:cxnLst/>
              <a:rect l="l" t="t" r="r" b="b"/>
              <a:pathLst>
                <a:path w="7886700" h="843279">
                  <a:moveTo>
                    <a:pt x="0" y="140462"/>
                  </a:moveTo>
                  <a:lnTo>
                    <a:pt x="7161" y="96056"/>
                  </a:lnTo>
                  <a:lnTo>
                    <a:pt x="27102" y="57497"/>
                  </a:lnTo>
                  <a:lnTo>
                    <a:pt x="57508" y="27094"/>
                  </a:lnTo>
                  <a:lnTo>
                    <a:pt x="96066" y="7158"/>
                  </a:lnTo>
                  <a:lnTo>
                    <a:pt x="140461" y="0"/>
                  </a:lnTo>
                  <a:lnTo>
                    <a:pt x="7746238" y="0"/>
                  </a:lnTo>
                  <a:lnTo>
                    <a:pt x="7790643" y="7158"/>
                  </a:lnTo>
                  <a:lnTo>
                    <a:pt x="7829202" y="27094"/>
                  </a:lnTo>
                  <a:lnTo>
                    <a:pt x="7859605" y="57497"/>
                  </a:lnTo>
                  <a:lnTo>
                    <a:pt x="7879541" y="96056"/>
                  </a:lnTo>
                  <a:lnTo>
                    <a:pt x="7886700" y="140462"/>
                  </a:lnTo>
                  <a:lnTo>
                    <a:pt x="7886700" y="702310"/>
                  </a:lnTo>
                  <a:lnTo>
                    <a:pt x="7879541" y="746715"/>
                  </a:lnTo>
                  <a:lnTo>
                    <a:pt x="7859605" y="785274"/>
                  </a:lnTo>
                  <a:lnTo>
                    <a:pt x="7829202" y="815677"/>
                  </a:lnTo>
                  <a:lnTo>
                    <a:pt x="7790643" y="835613"/>
                  </a:lnTo>
                  <a:lnTo>
                    <a:pt x="7746238" y="842772"/>
                  </a:lnTo>
                  <a:lnTo>
                    <a:pt x="140461" y="842772"/>
                  </a:lnTo>
                  <a:lnTo>
                    <a:pt x="96066" y="835613"/>
                  </a:lnTo>
                  <a:lnTo>
                    <a:pt x="57508" y="815677"/>
                  </a:lnTo>
                  <a:lnTo>
                    <a:pt x="27102" y="785274"/>
                  </a:lnTo>
                  <a:lnTo>
                    <a:pt x="7161" y="746715"/>
                  </a:lnTo>
                  <a:lnTo>
                    <a:pt x="0" y="702310"/>
                  </a:lnTo>
                  <a:lnTo>
                    <a:pt x="0" y="1404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23062" y="3500373"/>
            <a:ext cx="7899400" cy="855980"/>
            <a:chOff x="623062" y="3500373"/>
            <a:chExt cx="7899400" cy="855980"/>
          </a:xfrm>
        </p:grpSpPr>
        <p:sp>
          <p:nvSpPr>
            <p:cNvPr id="10" name="object 10"/>
            <p:cNvSpPr/>
            <p:nvPr/>
          </p:nvSpPr>
          <p:spPr>
            <a:xfrm>
              <a:off x="629412" y="3506723"/>
              <a:ext cx="7886700" cy="843280"/>
            </a:xfrm>
            <a:custGeom>
              <a:avLst/>
              <a:gdLst/>
              <a:ahLst/>
              <a:cxnLst/>
              <a:rect l="l" t="t" r="r" b="b"/>
              <a:pathLst>
                <a:path w="7886700" h="843279">
                  <a:moveTo>
                    <a:pt x="7746238" y="0"/>
                  </a:moveTo>
                  <a:lnTo>
                    <a:pt x="140461" y="0"/>
                  </a:lnTo>
                  <a:lnTo>
                    <a:pt x="96066" y="7158"/>
                  </a:lnTo>
                  <a:lnTo>
                    <a:pt x="57508" y="27094"/>
                  </a:lnTo>
                  <a:lnTo>
                    <a:pt x="27102" y="57497"/>
                  </a:lnTo>
                  <a:lnTo>
                    <a:pt x="7161" y="96056"/>
                  </a:lnTo>
                  <a:lnTo>
                    <a:pt x="0" y="140462"/>
                  </a:lnTo>
                  <a:lnTo>
                    <a:pt x="0" y="702297"/>
                  </a:lnTo>
                  <a:lnTo>
                    <a:pt x="7161" y="746699"/>
                  </a:lnTo>
                  <a:lnTo>
                    <a:pt x="27102" y="785260"/>
                  </a:lnTo>
                  <a:lnTo>
                    <a:pt x="57508" y="815669"/>
                  </a:lnTo>
                  <a:lnTo>
                    <a:pt x="96066" y="835610"/>
                  </a:lnTo>
                  <a:lnTo>
                    <a:pt x="140461" y="842771"/>
                  </a:lnTo>
                  <a:lnTo>
                    <a:pt x="7746238" y="842771"/>
                  </a:lnTo>
                  <a:lnTo>
                    <a:pt x="7790643" y="835610"/>
                  </a:lnTo>
                  <a:lnTo>
                    <a:pt x="7829202" y="815669"/>
                  </a:lnTo>
                  <a:lnTo>
                    <a:pt x="7859605" y="785260"/>
                  </a:lnTo>
                  <a:lnTo>
                    <a:pt x="7879541" y="746699"/>
                  </a:lnTo>
                  <a:lnTo>
                    <a:pt x="7886700" y="702297"/>
                  </a:lnTo>
                  <a:lnTo>
                    <a:pt x="7886700" y="140462"/>
                  </a:lnTo>
                  <a:lnTo>
                    <a:pt x="7879541" y="96056"/>
                  </a:lnTo>
                  <a:lnTo>
                    <a:pt x="7859605" y="57497"/>
                  </a:lnTo>
                  <a:lnTo>
                    <a:pt x="7829202" y="27094"/>
                  </a:lnTo>
                  <a:lnTo>
                    <a:pt x="7790643" y="7158"/>
                  </a:lnTo>
                  <a:lnTo>
                    <a:pt x="774623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9412" y="3506723"/>
              <a:ext cx="7886700" cy="843280"/>
            </a:xfrm>
            <a:custGeom>
              <a:avLst/>
              <a:gdLst/>
              <a:ahLst/>
              <a:cxnLst/>
              <a:rect l="l" t="t" r="r" b="b"/>
              <a:pathLst>
                <a:path w="7886700" h="843279">
                  <a:moveTo>
                    <a:pt x="0" y="140462"/>
                  </a:moveTo>
                  <a:lnTo>
                    <a:pt x="7161" y="96056"/>
                  </a:lnTo>
                  <a:lnTo>
                    <a:pt x="27102" y="57497"/>
                  </a:lnTo>
                  <a:lnTo>
                    <a:pt x="57508" y="27094"/>
                  </a:lnTo>
                  <a:lnTo>
                    <a:pt x="96066" y="7158"/>
                  </a:lnTo>
                  <a:lnTo>
                    <a:pt x="140461" y="0"/>
                  </a:lnTo>
                  <a:lnTo>
                    <a:pt x="7746238" y="0"/>
                  </a:lnTo>
                  <a:lnTo>
                    <a:pt x="7790643" y="7158"/>
                  </a:lnTo>
                  <a:lnTo>
                    <a:pt x="7829202" y="27094"/>
                  </a:lnTo>
                  <a:lnTo>
                    <a:pt x="7859605" y="57497"/>
                  </a:lnTo>
                  <a:lnTo>
                    <a:pt x="7879541" y="96056"/>
                  </a:lnTo>
                  <a:lnTo>
                    <a:pt x="7886700" y="140462"/>
                  </a:lnTo>
                  <a:lnTo>
                    <a:pt x="7886700" y="702297"/>
                  </a:lnTo>
                  <a:lnTo>
                    <a:pt x="7879541" y="746699"/>
                  </a:lnTo>
                  <a:lnTo>
                    <a:pt x="7859605" y="785260"/>
                  </a:lnTo>
                  <a:lnTo>
                    <a:pt x="7829202" y="815669"/>
                  </a:lnTo>
                  <a:lnTo>
                    <a:pt x="7790643" y="835610"/>
                  </a:lnTo>
                  <a:lnTo>
                    <a:pt x="7746238" y="842771"/>
                  </a:lnTo>
                  <a:lnTo>
                    <a:pt x="140461" y="842771"/>
                  </a:lnTo>
                  <a:lnTo>
                    <a:pt x="96066" y="835610"/>
                  </a:lnTo>
                  <a:lnTo>
                    <a:pt x="57508" y="815669"/>
                  </a:lnTo>
                  <a:lnTo>
                    <a:pt x="27102" y="785260"/>
                  </a:lnTo>
                  <a:lnTo>
                    <a:pt x="7161" y="746699"/>
                  </a:lnTo>
                  <a:lnTo>
                    <a:pt x="0" y="702297"/>
                  </a:lnTo>
                  <a:lnTo>
                    <a:pt x="0" y="1404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79170" y="1686814"/>
            <a:ext cx="2241550" cy="2459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Arial MT"/>
                <a:cs typeface="Arial MT"/>
              </a:rPr>
              <a:t>Frequência</a:t>
            </a:r>
            <a:endParaRPr sz="3200">
              <a:latin typeface="Arial MT"/>
              <a:cs typeface="Arial MT"/>
            </a:endParaRPr>
          </a:p>
          <a:p>
            <a:pPr marL="12700" marR="5080">
              <a:lnSpc>
                <a:spcPts val="7670"/>
              </a:lnSpc>
              <a:spcBef>
                <a:spcPts val="675"/>
              </a:spcBef>
            </a:pPr>
            <a:r>
              <a:rPr sz="3200" spc="-10" dirty="0">
                <a:latin typeface="Arial MT"/>
                <a:cs typeface="Arial MT"/>
              </a:rPr>
              <a:t>Impacto Persistência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963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95"/>
              </a:spcBef>
            </a:pPr>
            <a:r>
              <a:rPr dirty="0"/>
              <a:t>5.</a:t>
            </a:r>
            <a:r>
              <a:rPr spc="-45" dirty="0"/>
              <a:t> </a:t>
            </a:r>
            <a:r>
              <a:rPr dirty="0"/>
              <a:t>Decisão</a:t>
            </a:r>
            <a:r>
              <a:rPr spc="-3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design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3062" y="1958085"/>
            <a:ext cx="7899400" cy="817880"/>
            <a:chOff x="623062" y="1958085"/>
            <a:chExt cx="7899400" cy="817880"/>
          </a:xfrm>
        </p:grpSpPr>
        <p:sp>
          <p:nvSpPr>
            <p:cNvPr id="4" name="object 4"/>
            <p:cNvSpPr/>
            <p:nvPr/>
          </p:nvSpPr>
          <p:spPr>
            <a:xfrm>
              <a:off x="629412" y="1964435"/>
              <a:ext cx="7886700" cy="805180"/>
            </a:xfrm>
            <a:custGeom>
              <a:avLst/>
              <a:gdLst/>
              <a:ahLst/>
              <a:cxnLst/>
              <a:rect l="l" t="t" r="r" b="b"/>
              <a:pathLst>
                <a:path w="7886700" h="805180">
                  <a:moveTo>
                    <a:pt x="7752588" y="0"/>
                  </a:moveTo>
                  <a:lnTo>
                    <a:pt x="134111" y="0"/>
                  </a:lnTo>
                  <a:lnTo>
                    <a:pt x="91722" y="6839"/>
                  </a:lnTo>
                  <a:lnTo>
                    <a:pt x="54907" y="25883"/>
                  </a:lnTo>
                  <a:lnTo>
                    <a:pt x="25876" y="54918"/>
                  </a:lnTo>
                  <a:lnTo>
                    <a:pt x="6837" y="91732"/>
                  </a:lnTo>
                  <a:lnTo>
                    <a:pt x="0" y="134112"/>
                  </a:lnTo>
                  <a:lnTo>
                    <a:pt x="0" y="670559"/>
                  </a:lnTo>
                  <a:lnTo>
                    <a:pt x="6837" y="712939"/>
                  </a:lnTo>
                  <a:lnTo>
                    <a:pt x="25876" y="749753"/>
                  </a:lnTo>
                  <a:lnTo>
                    <a:pt x="54907" y="778788"/>
                  </a:lnTo>
                  <a:lnTo>
                    <a:pt x="91722" y="797832"/>
                  </a:lnTo>
                  <a:lnTo>
                    <a:pt x="134111" y="804671"/>
                  </a:lnTo>
                  <a:lnTo>
                    <a:pt x="7752588" y="804671"/>
                  </a:lnTo>
                  <a:lnTo>
                    <a:pt x="7794967" y="797832"/>
                  </a:lnTo>
                  <a:lnTo>
                    <a:pt x="7831781" y="778788"/>
                  </a:lnTo>
                  <a:lnTo>
                    <a:pt x="7860816" y="749753"/>
                  </a:lnTo>
                  <a:lnTo>
                    <a:pt x="7879860" y="712939"/>
                  </a:lnTo>
                  <a:lnTo>
                    <a:pt x="7886700" y="670559"/>
                  </a:lnTo>
                  <a:lnTo>
                    <a:pt x="7886700" y="134112"/>
                  </a:lnTo>
                  <a:lnTo>
                    <a:pt x="7879860" y="91732"/>
                  </a:lnTo>
                  <a:lnTo>
                    <a:pt x="7860816" y="54918"/>
                  </a:lnTo>
                  <a:lnTo>
                    <a:pt x="7831781" y="25883"/>
                  </a:lnTo>
                  <a:lnTo>
                    <a:pt x="7794967" y="6839"/>
                  </a:lnTo>
                  <a:lnTo>
                    <a:pt x="775258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412" y="1964435"/>
              <a:ext cx="7886700" cy="805180"/>
            </a:xfrm>
            <a:custGeom>
              <a:avLst/>
              <a:gdLst/>
              <a:ahLst/>
              <a:cxnLst/>
              <a:rect l="l" t="t" r="r" b="b"/>
              <a:pathLst>
                <a:path w="7886700" h="805180">
                  <a:moveTo>
                    <a:pt x="0" y="134112"/>
                  </a:moveTo>
                  <a:lnTo>
                    <a:pt x="6837" y="91732"/>
                  </a:lnTo>
                  <a:lnTo>
                    <a:pt x="25876" y="54918"/>
                  </a:lnTo>
                  <a:lnTo>
                    <a:pt x="54907" y="25883"/>
                  </a:lnTo>
                  <a:lnTo>
                    <a:pt x="91722" y="6839"/>
                  </a:lnTo>
                  <a:lnTo>
                    <a:pt x="134111" y="0"/>
                  </a:lnTo>
                  <a:lnTo>
                    <a:pt x="7752588" y="0"/>
                  </a:lnTo>
                  <a:lnTo>
                    <a:pt x="7794967" y="6839"/>
                  </a:lnTo>
                  <a:lnTo>
                    <a:pt x="7831781" y="25883"/>
                  </a:lnTo>
                  <a:lnTo>
                    <a:pt x="7860816" y="54918"/>
                  </a:lnTo>
                  <a:lnTo>
                    <a:pt x="7879860" y="91732"/>
                  </a:lnTo>
                  <a:lnTo>
                    <a:pt x="7886700" y="134112"/>
                  </a:lnTo>
                  <a:lnTo>
                    <a:pt x="7886700" y="670559"/>
                  </a:lnTo>
                  <a:lnTo>
                    <a:pt x="7879860" y="712939"/>
                  </a:lnTo>
                  <a:lnTo>
                    <a:pt x="7860816" y="749753"/>
                  </a:lnTo>
                  <a:lnTo>
                    <a:pt x="7831781" y="778788"/>
                  </a:lnTo>
                  <a:lnTo>
                    <a:pt x="7794967" y="797832"/>
                  </a:lnTo>
                  <a:lnTo>
                    <a:pt x="7752588" y="804671"/>
                  </a:lnTo>
                  <a:lnTo>
                    <a:pt x="134111" y="804671"/>
                  </a:lnTo>
                  <a:lnTo>
                    <a:pt x="91722" y="797832"/>
                  </a:lnTo>
                  <a:lnTo>
                    <a:pt x="54907" y="778788"/>
                  </a:lnTo>
                  <a:lnTo>
                    <a:pt x="25876" y="749753"/>
                  </a:lnTo>
                  <a:lnTo>
                    <a:pt x="6837" y="712939"/>
                  </a:lnTo>
                  <a:lnTo>
                    <a:pt x="0" y="670559"/>
                  </a:lnTo>
                  <a:lnTo>
                    <a:pt x="0" y="1341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23062" y="2887726"/>
            <a:ext cx="7899400" cy="817880"/>
            <a:chOff x="623062" y="2887726"/>
            <a:chExt cx="7899400" cy="817880"/>
          </a:xfrm>
        </p:grpSpPr>
        <p:sp>
          <p:nvSpPr>
            <p:cNvPr id="7" name="object 7"/>
            <p:cNvSpPr/>
            <p:nvPr/>
          </p:nvSpPr>
          <p:spPr>
            <a:xfrm>
              <a:off x="629412" y="2894076"/>
              <a:ext cx="7886700" cy="805180"/>
            </a:xfrm>
            <a:custGeom>
              <a:avLst/>
              <a:gdLst/>
              <a:ahLst/>
              <a:cxnLst/>
              <a:rect l="l" t="t" r="r" b="b"/>
              <a:pathLst>
                <a:path w="7886700" h="805179">
                  <a:moveTo>
                    <a:pt x="7752588" y="0"/>
                  </a:moveTo>
                  <a:lnTo>
                    <a:pt x="134111" y="0"/>
                  </a:lnTo>
                  <a:lnTo>
                    <a:pt x="91722" y="6839"/>
                  </a:lnTo>
                  <a:lnTo>
                    <a:pt x="54907" y="25883"/>
                  </a:lnTo>
                  <a:lnTo>
                    <a:pt x="25876" y="54918"/>
                  </a:lnTo>
                  <a:lnTo>
                    <a:pt x="6837" y="91732"/>
                  </a:lnTo>
                  <a:lnTo>
                    <a:pt x="0" y="134112"/>
                  </a:lnTo>
                  <a:lnTo>
                    <a:pt x="0" y="670560"/>
                  </a:lnTo>
                  <a:lnTo>
                    <a:pt x="6837" y="712939"/>
                  </a:lnTo>
                  <a:lnTo>
                    <a:pt x="25876" y="749753"/>
                  </a:lnTo>
                  <a:lnTo>
                    <a:pt x="54907" y="778788"/>
                  </a:lnTo>
                  <a:lnTo>
                    <a:pt x="91722" y="797832"/>
                  </a:lnTo>
                  <a:lnTo>
                    <a:pt x="134111" y="804672"/>
                  </a:lnTo>
                  <a:lnTo>
                    <a:pt x="7752588" y="804672"/>
                  </a:lnTo>
                  <a:lnTo>
                    <a:pt x="7794967" y="797832"/>
                  </a:lnTo>
                  <a:lnTo>
                    <a:pt x="7831781" y="778788"/>
                  </a:lnTo>
                  <a:lnTo>
                    <a:pt x="7860816" y="749753"/>
                  </a:lnTo>
                  <a:lnTo>
                    <a:pt x="7879860" y="712939"/>
                  </a:lnTo>
                  <a:lnTo>
                    <a:pt x="7886700" y="670560"/>
                  </a:lnTo>
                  <a:lnTo>
                    <a:pt x="7886700" y="134112"/>
                  </a:lnTo>
                  <a:lnTo>
                    <a:pt x="7879860" y="91732"/>
                  </a:lnTo>
                  <a:lnTo>
                    <a:pt x="7860816" y="54918"/>
                  </a:lnTo>
                  <a:lnTo>
                    <a:pt x="7831781" y="25883"/>
                  </a:lnTo>
                  <a:lnTo>
                    <a:pt x="7794967" y="6839"/>
                  </a:lnTo>
                  <a:lnTo>
                    <a:pt x="775258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9412" y="2894076"/>
              <a:ext cx="7886700" cy="805180"/>
            </a:xfrm>
            <a:custGeom>
              <a:avLst/>
              <a:gdLst/>
              <a:ahLst/>
              <a:cxnLst/>
              <a:rect l="l" t="t" r="r" b="b"/>
              <a:pathLst>
                <a:path w="7886700" h="805179">
                  <a:moveTo>
                    <a:pt x="0" y="134112"/>
                  </a:moveTo>
                  <a:lnTo>
                    <a:pt x="6837" y="91732"/>
                  </a:lnTo>
                  <a:lnTo>
                    <a:pt x="25876" y="54918"/>
                  </a:lnTo>
                  <a:lnTo>
                    <a:pt x="54907" y="25883"/>
                  </a:lnTo>
                  <a:lnTo>
                    <a:pt x="91722" y="6839"/>
                  </a:lnTo>
                  <a:lnTo>
                    <a:pt x="134111" y="0"/>
                  </a:lnTo>
                  <a:lnTo>
                    <a:pt x="7752588" y="0"/>
                  </a:lnTo>
                  <a:lnTo>
                    <a:pt x="7794967" y="6839"/>
                  </a:lnTo>
                  <a:lnTo>
                    <a:pt x="7831781" y="25883"/>
                  </a:lnTo>
                  <a:lnTo>
                    <a:pt x="7860816" y="54918"/>
                  </a:lnTo>
                  <a:lnTo>
                    <a:pt x="7879860" y="91732"/>
                  </a:lnTo>
                  <a:lnTo>
                    <a:pt x="7886700" y="134112"/>
                  </a:lnTo>
                  <a:lnTo>
                    <a:pt x="7886700" y="670560"/>
                  </a:lnTo>
                  <a:lnTo>
                    <a:pt x="7879860" y="712939"/>
                  </a:lnTo>
                  <a:lnTo>
                    <a:pt x="7860816" y="749753"/>
                  </a:lnTo>
                  <a:lnTo>
                    <a:pt x="7831781" y="778788"/>
                  </a:lnTo>
                  <a:lnTo>
                    <a:pt x="7794967" y="797832"/>
                  </a:lnTo>
                  <a:lnTo>
                    <a:pt x="7752588" y="804672"/>
                  </a:lnTo>
                  <a:lnTo>
                    <a:pt x="134111" y="804672"/>
                  </a:lnTo>
                  <a:lnTo>
                    <a:pt x="91722" y="797832"/>
                  </a:lnTo>
                  <a:lnTo>
                    <a:pt x="54907" y="778788"/>
                  </a:lnTo>
                  <a:lnTo>
                    <a:pt x="25876" y="749753"/>
                  </a:lnTo>
                  <a:lnTo>
                    <a:pt x="6837" y="712939"/>
                  </a:lnTo>
                  <a:lnTo>
                    <a:pt x="0" y="670560"/>
                  </a:lnTo>
                  <a:lnTo>
                    <a:pt x="0" y="1341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80745" rIns="0" bIns="0" rtlCol="0">
            <a:spAutoFit/>
          </a:bodyPr>
          <a:lstStyle/>
          <a:p>
            <a:pPr marL="410845">
              <a:lnSpc>
                <a:spcPct val="100000"/>
              </a:lnSpc>
              <a:spcBef>
                <a:spcPts val="100"/>
              </a:spcBef>
            </a:pPr>
            <a:r>
              <a:rPr dirty="0"/>
              <a:t>Alternativas</a:t>
            </a:r>
            <a:r>
              <a:rPr spc="-3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solução</a:t>
            </a:r>
          </a:p>
          <a:p>
            <a:pPr marL="410845">
              <a:lnSpc>
                <a:spcPct val="100000"/>
              </a:lnSpc>
              <a:spcBef>
                <a:spcPts val="3479"/>
              </a:spcBef>
            </a:pPr>
            <a:r>
              <a:rPr dirty="0"/>
              <a:t>Avaliação</a:t>
            </a:r>
            <a:r>
              <a:rPr spc="-75" dirty="0"/>
              <a:t> </a:t>
            </a:r>
            <a:r>
              <a:rPr dirty="0"/>
              <a:t>do</a:t>
            </a:r>
            <a:r>
              <a:rPr spc="-75" dirty="0"/>
              <a:t> </a:t>
            </a:r>
            <a:r>
              <a:rPr spc="-10" dirty="0"/>
              <a:t>custo/benefício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2736" y="2698191"/>
            <a:ext cx="5795645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Testes</a:t>
            </a:r>
            <a:r>
              <a:rPr sz="4400" spc="-165" dirty="0"/>
              <a:t> </a:t>
            </a:r>
            <a:r>
              <a:rPr sz="4400" dirty="0"/>
              <a:t>de</a:t>
            </a:r>
            <a:r>
              <a:rPr sz="4400" spc="-155" dirty="0"/>
              <a:t> </a:t>
            </a:r>
            <a:r>
              <a:rPr sz="4400" spc="-10" dirty="0" err="1"/>
              <a:t>usabilidade</a:t>
            </a:r>
            <a:br>
              <a:rPr lang="pt-BR" sz="4400" spc="-10" dirty="0"/>
            </a:br>
            <a:r>
              <a:rPr lang="pt-BR" sz="4400" spc="-10" dirty="0"/>
              <a:t>avaliação através da observação</a:t>
            </a:r>
            <a:endParaRPr sz="4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667"/>
            <a:ext cx="4750307" cy="513283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96688" y="836168"/>
            <a:ext cx="3928745" cy="358711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84"/>
              </a:spcBef>
            </a:pP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Testes</a:t>
            </a:r>
            <a:r>
              <a:rPr sz="32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2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usabilidade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são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00"/>
                </a:solidFill>
                <a:latin typeface="Arial MT"/>
                <a:cs typeface="Arial MT"/>
              </a:rPr>
              <a:t>experimentos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ensaiar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interação</a:t>
            </a:r>
            <a:r>
              <a:rPr sz="32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sujeitos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representativos</a:t>
            </a: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dos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usuários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o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sistema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ou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seu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protótipo.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617" y="222515"/>
            <a:ext cx="5519648" cy="623615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889">
              <a:spcBef>
                <a:spcPts val="63"/>
              </a:spcBef>
            </a:pPr>
            <a:r>
              <a:rPr spc="-13" dirty="0"/>
              <a:t>Testes</a:t>
            </a:r>
            <a:r>
              <a:rPr spc="-50" dirty="0"/>
              <a:t> </a:t>
            </a:r>
            <a:r>
              <a:rPr dirty="0"/>
              <a:t>de</a:t>
            </a:r>
            <a:r>
              <a:rPr spc="-83" dirty="0"/>
              <a:t> </a:t>
            </a:r>
            <a:r>
              <a:rPr spc="-7" dirty="0"/>
              <a:t>Usabilidade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9739" y="1276350"/>
            <a:ext cx="6039074" cy="289246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617" y="222515"/>
            <a:ext cx="5519648" cy="1239168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889">
              <a:spcBef>
                <a:spcPts val="63"/>
              </a:spcBef>
            </a:pPr>
            <a:r>
              <a:rPr lang="pt-BR" dirty="0"/>
              <a:t>T</a:t>
            </a:r>
            <a:r>
              <a:rPr dirty="0" err="1"/>
              <a:t>estes</a:t>
            </a:r>
            <a:r>
              <a:rPr spc="-53" dirty="0"/>
              <a:t> </a:t>
            </a:r>
            <a:r>
              <a:rPr dirty="0"/>
              <a:t>de</a:t>
            </a:r>
            <a:r>
              <a:rPr spc="-46" dirty="0"/>
              <a:t> </a:t>
            </a:r>
            <a:r>
              <a:rPr dirty="0"/>
              <a:t>usabilidade</a:t>
            </a:r>
            <a:r>
              <a:rPr spc="-43" dirty="0"/>
              <a:t> </a:t>
            </a:r>
            <a:r>
              <a:rPr spc="-7" dirty="0"/>
              <a:t>tradicionais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48786" y="1490989"/>
            <a:ext cx="5180479" cy="3429996"/>
          </a:xfrm>
          <a:prstGeom prst="rect">
            <a:avLst/>
          </a:prstGeom>
        </p:spPr>
        <p:txBody>
          <a:bodyPr vert="horz" wrap="square" lIns="0" tIns="68916" rIns="0" bIns="0" rtlCol="0">
            <a:spAutoFit/>
          </a:bodyPr>
          <a:lstStyle/>
          <a:p>
            <a:pPr marL="8405">
              <a:spcBef>
                <a:spcPts val="542"/>
              </a:spcBef>
            </a:pP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dados</a:t>
            </a:r>
            <a:r>
              <a:rPr sz="1456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7" dirty="0">
                <a:solidFill>
                  <a:schemeClr val="bg1"/>
                </a:solidFill>
                <a:latin typeface="Arial MT"/>
                <a:cs typeface="Arial MT"/>
              </a:rPr>
              <a:t>quantitativos</a:t>
            </a:r>
            <a:endParaRPr sz="1456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31974">
              <a:spcBef>
                <a:spcPts val="443"/>
              </a:spcBef>
            </a:pP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taxa</a:t>
            </a:r>
            <a:r>
              <a:rPr sz="1324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324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sucesso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437893">
              <a:spcBef>
                <a:spcPts val="470"/>
              </a:spcBef>
            </a:pP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número</a:t>
            </a:r>
            <a:r>
              <a:rPr sz="112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25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participantes</a:t>
            </a:r>
            <a:r>
              <a:rPr sz="1125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125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concluiu</a:t>
            </a:r>
            <a:r>
              <a:rPr sz="1125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cada</a:t>
            </a:r>
            <a:r>
              <a:rPr sz="112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spc="-7" dirty="0">
                <a:solidFill>
                  <a:schemeClr val="bg1"/>
                </a:solidFill>
                <a:latin typeface="Arial MT"/>
                <a:cs typeface="Arial MT"/>
              </a:rPr>
              <a:t>tarefa</a:t>
            </a:r>
            <a:endParaRPr sz="1125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437893" marR="182385">
              <a:lnSpc>
                <a:spcPct val="134100"/>
              </a:lnSpc>
            </a:pP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número</a:t>
            </a:r>
            <a:r>
              <a:rPr sz="112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25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erros</a:t>
            </a:r>
            <a:r>
              <a:rPr sz="1125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cometidos,</a:t>
            </a:r>
            <a:r>
              <a:rPr sz="112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por</a:t>
            </a:r>
            <a:r>
              <a:rPr sz="1125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tipo</a:t>
            </a:r>
            <a:r>
              <a:rPr sz="112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2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erro,</a:t>
            </a:r>
            <a:r>
              <a:rPr sz="112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por</a:t>
            </a:r>
            <a:r>
              <a:rPr sz="1125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tarefa,</a:t>
            </a:r>
            <a:r>
              <a:rPr sz="1125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por</a:t>
            </a:r>
            <a:r>
              <a:rPr sz="1125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spc="-7" dirty="0">
                <a:solidFill>
                  <a:schemeClr val="bg1"/>
                </a:solidFill>
                <a:latin typeface="Arial MT"/>
                <a:cs typeface="Arial MT"/>
              </a:rPr>
              <a:t>participante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número</a:t>
            </a:r>
            <a:r>
              <a:rPr sz="112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25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vezes</a:t>
            </a:r>
            <a:r>
              <a:rPr sz="1125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em</a:t>
            </a:r>
            <a:r>
              <a:rPr sz="1125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12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cada</a:t>
            </a:r>
            <a:r>
              <a:rPr sz="112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participante</a:t>
            </a:r>
            <a:r>
              <a:rPr sz="112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consultou</a:t>
            </a:r>
            <a:r>
              <a:rPr sz="112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ajuda,</a:t>
            </a:r>
            <a:r>
              <a:rPr sz="1125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por</a:t>
            </a:r>
            <a:r>
              <a:rPr sz="1125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spc="-7" dirty="0">
                <a:solidFill>
                  <a:schemeClr val="bg1"/>
                </a:solidFill>
                <a:latin typeface="Arial MT"/>
                <a:cs typeface="Arial MT"/>
              </a:rPr>
              <a:t>tarefa</a:t>
            </a:r>
            <a:endParaRPr sz="1125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31974">
              <a:spcBef>
                <a:spcPts val="427"/>
              </a:spcBef>
            </a:pP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desempenho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437893">
              <a:spcBef>
                <a:spcPts val="470"/>
              </a:spcBef>
            </a:pP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tempo</a:t>
            </a:r>
            <a:r>
              <a:rPr sz="112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para</a:t>
            </a:r>
            <a:r>
              <a:rPr sz="112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realização</a:t>
            </a:r>
            <a:r>
              <a:rPr sz="1125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2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cada</a:t>
            </a:r>
            <a:r>
              <a:rPr sz="112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tarefa,</a:t>
            </a:r>
            <a:r>
              <a:rPr sz="1125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por</a:t>
            </a:r>
            <a:r>
              <a:rPr sz="1125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spc="-7" dirty="0">
                <a:solidFill>
                  <a:schemeClr val="bg1"/>
                </a:solidFill>
                <a:latin typeface="Arial MT"/>
                <a:cs typeface="Arial MT"/>
              </a:rPr>
              <a:t>participante</a:t>
            </a:r>
            <a:endParaRPr sz="1125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437893" marR="3362">
              <a:lnSpc>
                <a:spcPts val="1217"/>
              </a:lnSpc>
              <a:spcBef>
                <a:spcPts val="612"/>
              </a:spcBef>
            </a:pP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número</a:t>
            </a:r>
            <a:r>
              <a:rPr sz="112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25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itens</a:t>
            </a:r>
            <a:r>
              <a:rPr sz="1125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2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menu</a:t>
            </a:r>
            <a:r>
              <a:rPr sz="112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12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12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participante</a:t>
            </a:r>
            <a:r>
              <a:rPr sz="112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acessou</a:t>
            </a:r>
            <a:r>
              <a:rPr sz="1125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antes</a:t>
            </a:r>
            <a:r>
              <a:rPr sz="1125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2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dirty="0">
                <a:solidFill>
                  <a:schemeClr val="bg1"/>
                </a:solidFill>
                <a:latin typeface="Arial MT"/>
                <a:cs typeface="Arial MT"/>
              </a:rPr>
              <a:t>encontrar</a:t>
            </a:r>
            <a:r>
              <a:rPr sz="112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25" spc="-33" dirty="0">
                <a:solidFill>
                  <a:schemeClr val="bg1"/>
                </a:solidFill>
                <a:latin typeface="Arial MT"/>
                <a:cs typeface="Arial MT"/>
              </a:rPr>
              <a:t>o </a:t>
            </a:r>
            <a:r>
              <a:rPr sz="1125" spc="-7" dirty="0">
                <a:solidFill>
                  <a:schemeClr val="bg1"/>
                </a:solidFill>
                <a:latin typeface="Arial MT"/>
                <a:cs typeface="Arial MT"/>
              </a:rPr>
              <a:t>“correto”</a:t>
            </a:r>
            <a:endParaRPr sz="1125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31974">
              <a:spcBef>
                <a:spcPts val="407"/>
              </a:spcBef>
            </a:pPr>
            <a:r>
              <a:rPr sz="1324" spc="-33" dirty="0">
                <a:solidFill>
                  <a:schemeClr val="bg1"/>
                </a:solidFill>
                <a:latin typeface="Arial MT"/>
                <a:cs typeface="Arial MT"/>
              </a:rPr>
              <a:t>…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>
              <a:spcBef>
                <a:spcPts val="417"/>
              </a:spcBef>
            </a:pP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dados</a:t>
            </a:r>
            <a:r>
              <a:rPr sz="1456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7" dirty="0">
                <a:solidFill>
                  <a:schemeClr val="bg1"/>
                </a:solidFill>
                <a:latin typeface="Arial MT"/>
                <a:cs typeface="Arial MT"/>
              </a:rPr>
              <a:t>qualitativos</a:t>
            </a:r>
            <a:endParaRPr sz="1456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31974" marR="2084826">
              <a:lnSpc>
                <a:spcPct val="127499"/>
              </a:lnSpc>
              <a:spcBef>
                <a:spcPts val="3"/>
              </a:spcBef>
            </a:pP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pontos</a:t>
            </a:r>
            <a:r>
              <a:rPr sz="1324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positivos</a:t>
            </a:r>
            <a:r>
              <a:rPr sz="1324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324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negativos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expectativas</a:t>
            </a:r>
            <a:r>
              <a:rPr sz="1324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324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quebra</a:t>
            </a:r>
            <a:r>
              <a:rPr sz="1324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324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expectativas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31974">
              <a:spcBef>
                <a:spcPts val="437"/>
              </a:spcBef>
            </a:pPr>
            <a:r>
              <a:rPr sz="1324" spc="-33" dirty="0">
                <a:solidFill>
                  <a:schemeClr val="bg1"/>
                </a:solidFill>
                <a:latin typeface="Arial MT"/>
                <a:cs typeface="Arial MT"/>
              </a:rPr>
              <a:t>…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4212081"/>
            <a:ext cx="9156700" cy="936625"/>
            <a:chOff x="-6350" y="4212081"/>
            <a:chExt cx="9156700" cy="936625"/>
          </a:xfrm>
        </p:grpSpPr>
        <p:sp>
          <p:nvSpPr>
            <p:cNvPr id="3" name="object 3"/>
            <p:cNvSpPr/>
            <p:nvPr/>
          </p:nvSpPr>
          <p:spPr>
            <a:xfrm>
              <a:off x="0" y="4218431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>
                  <a:moveTo>
                    <a:pt x="9144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9144000" y="9235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218431"/>
              <a:ext cx="9144000" cy="923925"/>
            </a:xfrm>
            <a:custGeom>
              <a:avLst/>
              <a:gdLst/>
              <a:ahLst/>
              <a:cxnLst/>
              <a:rect l="l" t="t" r="r" b="b"/>
              <a:pathLst>
                <a:path w="9144000" h="923925">
                  <a:moveTo>
                    <a:pt x="0" y="923544"/>
                  </a:moveTo>
                  <a:lnTo>
                    <a:pt x="9144000" y="92354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2354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617089" y="4385564"/>
            <a:ext cx="39109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Análise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resultados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350" y="2806954"/>
            <a:ext cx="9156700" cy="1431925"/>
            <a:chOff x="-6350" y="2806954"/>
            <a:chExt cx="9156700" cy="1431925"/>
          </a:xfrm>
        </p:grpSpPr>
        <p:sp>
          <p:nvSpPr>
            <p:cNvPr id="7" name="object 7"/>
            <p:cNvSpPr/>
            <p:nvPr/>
          </p:nvSpPr>
          <p:spPr>
            <a:xfrm>
              <a:off x="0" y="2813304"/>
              <a:ext cx="9144000" cy="1419225"/>
            </a:xfrm>
            <a:custGeom>
              <a:avLst/>
              <a:gdLst/>
              <a:ahLst/>
              <a:cxnLst/>
              <a:rect l="l" t="t" r="r" b="b"/>
              <a:pathLst>
                <a:path w="9144000" h="1419225">
                  <a:moveTo>
                    <a:pt x="9144000" y="0"/>
                  </a:moveTo>
                  <a:lnTo>
                    <a:pt x="0" y="0"/>
                  </a:lnTo>
                  <a:lnTo>
                    <a:pt x="0" y="921892"/>
                  </a:lnTo>
                  <a:lnTo>
                    <a:pt x="4394581" y="921892"/>
                  </a:lnTo>
                  <a:lnTo>
                    <a:pt x="4394581" y="1064133"/>
                  </a:lnTo>
                  <a:lnTo>
                    <a:pt x="4217289" y="1064133"/>
                  </a:lnTo>
                  <a:lnTo>
                    <a:pt x="4572000" y="1418843"/>
                  </a:lnTo>
                  <a:lnTo>
                    <a:pt x="4926711" y="1064133"/>
                  </a:lnTo>
                  <a:lnTo>
                    <a:pt x="4749292" y="1064133"/>
                  </a:lnTo>
                  <a:lnTo>
                    <a:pt x="4749292" y="921892"/>
                  </a:lnTo>
                  <a:lnTo>
                    <a:pt x="9144000" y="92189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2813304"/>
              <a:ext cx="9144000" cy="1419225"/>
            </a:xfrm>
            <a:custGeom>
              <a:avLst/>
              <a:gdLst/>
              <a:ahLst/>
              <a:cxnLst/>
              <a:rect l="l" t="t" r="r" b="b"/>
              <a:pathLst>
                <a:path w="9144000" h="1419225">
                  <a:moveTo>
                    <a:pt x="9144000" y="921892"/>
                  </a:moveTo>
                  <a:lnTo>
                    <a:pt x="4749292" y="921892"/>
                  </a:lnTo>
                  <a:lnTo>
                    <a:pt x="4749292" y="1064133"/>
                  </a:lnTo>
                  <a:lnTo>
                    <a:pt x="4926711" y="1064133"/>
                  </a:lnTo>
                  <a:lnTo>
                    <a:pt x="4572000" y="1418843"/>
                  </a:lnTo>
                  <a:lnTo>
                    <a:pt x="4217289" y="1064133"/>
                  </a:lnTo>
                  <a:lnTo>
                    <a:pt x="4394581" y="1064133"/>
                  </a:lnTo>
                  <a:lnTo>
                    <a:pt x="4394581" y="921892"/>
                  </a:lnTo>
                  <a:lnTo>
                    <a:pt x="0" y="921892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92189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698240" y="2777693"/>
            <a:ext cx="175069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10" dirty="0">
                <a:latin typeface="Arial MT"/>
                <a:cs typeface="Arial MT"/>
              </a:rPr>
              <a:t>Execução</a:t>
            </a:r>
            <a:endParaRPr sz="31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-1778" y="3305302"/>
            <a:ext cx="3058160" cy="436880"/>
            <a:chOff x="-1778" y="3305302"/>
            <a:chExt cx="3058160" cy="436880"/>
          </a:xfrm>
        </p:grpSpPr>
        <p:sp>
          <p:nvSpPr>
            <p:cNvPr id="11" name="object 11"/>
            <p:cNvSpPr/>
            <p:nvPr/>
          </p:nvSpPr>
          <p:spPr>
            <a:xfrm>
              <a:off x="4571" y="3311652"/>
              <a:ext cx="3045460" cy="424180"/>
            </a:xfrm>
            <a:custGeom>
              <a:avLst/>
              <a:gdLst/>
              <a:ahLst/>
              <a:cxnLst/>
              <a:rect l="l" t="t" r="r" b="b"/>
              <a:pathLst>
                <a:path w="3045460" h="424179">
                  <a:moveTo>
                    <a:pt x="3044952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3044952" y="423672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FFE8C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1" y="3311652"/>
              <a:ext cx="3045460" cy="424180"/>
            </a:xfrm>
            <a:custGeom>
              <a:avLst/>
              <a:gdLst/>
              <a:ahLst/>
              <a:cxnLst/>
              <a:rect l="l" t="t" r="r" b="b"/>
              <a:pathLst>
                <a:path w="3045460" h="424179">
                  <a:moveTo>
                    <a:pt x="0" y="423672"/>
                  </a:moveTo>
                  <a:lnTo>
                    <a:pt x="3044952" y="423672"/>
                  </a:lnTo>
                  <a:lnTo>
                    <a:pt x="3044952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12700">
              <a:solidFill>
                <a:srgbClr val="FFE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95603" y="3300729"/>
            <a:ext cx="1263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Pré-teste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43173" y="3305302"/>
            <a:ext cx="3058160" cy="436880"/>
            <a:chOff x="3043173" y="3305302"/>
            <a:chExt cx="3058160" cy="436880"/>
          </a:xfrm>
        </p:grpSpPr>
        <p:sp>
          <p:nvSpPr>
            <p:cNvPr id="15" name="object 15"/>
            <p:cNvSpPr/>
            <p:nvPr/>
          </p:nvSpPr>
          <p:spPr>
            <a:xfrm>
              <a:off x="3049523" y="3311652"/>
              <a:ext cx="3045460" cy="424180"/>
            </a:xfrm>
            <a:custGeom>
              <a:avLst/>
              <a:gdLst/>
              <a:ahLst/>
              <a:cxnLst/>
              <a:rect l="l" t="t" r="r" b="b"/>
              <a:pathLst>
                <a:path w="3045460" h="424179">
                  <a:moveTo>
                    <a:pt x="3044952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3044952" y="423672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FFE8C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49523" y="3311652"/>
              <a:ext cx="3045460" cy="424180"/>
            </a:xfrm>
            <a:custGeom>
              <a:avLst/>
              <a:gdLst/>
              <a:ahLst/>
              <a:cxnLst/>
              <a:rect l="l" t="t" r="r" b="b"/>
              <a:pathLst>
                <a:path w="3045460" h="424179">
                  <a:moveTo>
                    <a:pt x="0" y="423672"/>
                  </a:moveTo>
                  <a:lnTo>
                    <a:pt x="3044952" y="423672"/>
                  </a:lnTo>
                  <a:lnTo>
                    <a:pt x="3044952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12700">
              <a:solidFill>
                <a:srgbClr val="FFE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950334" y="3300425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Cenários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88126" y="3305302"/>
            <a:ext cx="3058160" cy="436880"/>
            <a:chOff x="6088126" y="3305302"/>
            <a:chExt cx="3058160" cy="436880"/>
          </a:xfrm>
        </p:grpSpPr>
        <p:sp>
          <p:nvSpPr>
            <p:cNvPr id="19" name="object 19"/>
            <p:cNvSpPr/>
            <p:nvPr/>
          </p:nvSpPr>
          <p:spPr>
            <a:xfrm>
              <a:off x="6094476" y="3311652"/>
              <a:ext cx="3045460" cy="424180"/>
            </a:xfrm>
            <a:custGeom>
              <a:avLst/>
              <a:gdLst/>
              <a:ahLst/>
              <a:cxnLst/>
              <a:rect l="l" t="t" r="r" b="b"/>
              <a:pathLst>
                <a:path w="3045459" h="424179">
                  <a:moveTo>
                    <a:pt x="3044952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3044952" y="423672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FFE8C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4476" y="3311652"/>
              <a:ext cx="3045460" cy="424180"/>
            </a:xfrm>
            <a:custGeom>
              <a:avLst/>
              <a:gdLst/>
              <a:ahLst/>
              <a:cxnLst/>
              <a:rect l="l" t="t" r="r" b="b"/>
              <a:pathLst>
                <a:path w="3045459" h="424179">
                  <a:moveTo>
                    <a:pt x="0" y="423672"/>
                  </a:moveTo>
                  <a:lnTo>
                    <a:pt x="3044952" y="423672"/>
                  </a:lnTo>
                  <a:lnTo>
                    <a:pt x="3044952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12700">
              <a:solidFill>
                <a:srgbClr val="FFE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960869" y="3300729"/>
            <a:ext cx="1313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Pós-teste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-6350" y="1401825"/>
            <a:ext cx="9156700" cy="1431925"/>
            <a:chOff x="-6350" y="1401825"/>
            <a:chExt cx="9156700" cy="1431925"/>
          </a:xfrm>
        </p:grpSpPr>
        <p:sp>
          <p:nvSpPr>
            <p:cNvPr id="23" name="object 23"/>
            <p:cNvSpPr/>
            <p:nvPr/>
          </p:nvSpPr>
          <p:spPr>
            <a:xfrm>
              <a:off x="0" y="1408175"/>
              <a:ext cx="9144000" cy="1419225"/>
            </a:xfrm>
            <a:custGeom>
              <a:avLst/>
              <a:gdLst/>
              <a:ahLst/>
              <a:cxnLst/>
              <a:rect l="l" t="t" r="r" b="b"/>
              <a:pathLst>
                <a:path w="9144000" h="1419225">
                  <a:moveTo>
                    <a:pt x="9144000" y="0"/>
                  </a:moveTo>
                  <a:lnTo>
                    <a:pt x="0" y="0"/>
                  </a:lnTo>
                  <a:lnTo>
                    <a:pt x="0" y="921893"/>
                  </a:lnTo>
                  <a:lnTo>
                    <a:pt x="4394581" y="921893"/>
                  </a:lnTo>
                  <a:lnTo>
                    <a:pt x="4394581" y="1064133"/>
                  </a:lnTo>
                  <a:lnTo>
                    <a:pt x="4217289" y="1064133"/>
                  </a:lnTo>
                  <a:lnTo>
                    <a:pt x="4572000" y="1418844"/>
                  </a:lnTo>
                  <a:lnTo>
                    <a:pt x="4926711" y="1064133"/>
                  </a:lnTo>
                  <a:lnTo>
                    <a:pt x="4749292" y="1064133"/>
                  </a:lnTo>
                  <a:lnTo>
                    <a:pt x="4749292" y="921893"/>
                  </a:lnTo>
                  <a:lnTo>
                    <a:pt x="9144000" y="92189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1408175"/>
              <a:ext cx="9144000" cy="1419225"/>
            </a:xfrm>
            <a:custGeom>
              <a:avLst/>
              <a:gdLst/>
              <a:ahLst/>
              <a:cxnLst/>
              <a:rect l="l" t="t" r="r" b="b"/>
              <a:pathLst>
                <a:path w="9144000" h="1419225">
                  <a:moveTo>
                    <a:pt x="9144000" y="921893"/>
                  </a:moveTo>
                  <a:lnTo>
                    <a:pt x="4749292" y="921893"/>
                  </a:lnTo>
                  <a:lnTo>
                    <a:pt x="4749292" y="1064133"/>
                  </a:lnTo>
                  <a:lnTo>
                    <a:pt x="4926711" y="1064133"/>
                  </a:lnTo>
                  <a:lnTo>
                    <a:pt x="4572000" y="1418844"/>
                  </a:lnTo>
                  <a:lnTo>
                    <a:pt x="4217289" y="1064133"/>
                  </a:lnTo>
                  <a:lnTo>
                    <a:pt x="4394581" y="1064133"/>
                  </a:lnTo>
                  <a:lnTo>
                    <a:pt x="4394581" y="921893"/>
                  </a:lnTo>
                  <a:lnTo>
                    <a:pt x="0" y="921893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92189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359911" y="1371980"/>
            <a:ext cx="242633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10" dirty="0">
                <a:latin typeface="Arial MT"/>
                <a:cs typeface="Arial MT"/>
              </a:rPr>
              <a:t>Planejamento</a:t>
            </a:r>
            <a:endParaRPr sz="31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-4825" y="1898650"/>
            <a:ext cx="1840230" cy="438150"/>
            <a:chOff x="-4825" y="1898650"/>
            <a:chExt cx="1840230" cy="438150"/>
          </a:xfrm>
        </p:grpSpPr>
        <p:sp>
          <p:nvSpPr>
            <p:cNvPr id="27" name="object 27"/>
            <p:cNvSpPr/>
            <p:nvPr/>
          </p:nvSpPr>
          <p:spPr>
            <a:xfrm>
              <a:off x="1524" y="1905000"/>
              <a:ext cx="1827530" cy="425450"/>
            </a:xfrm>
            <a:custGeom>
              <a:avLst/>
              <a:gdLst/>
              <a:ahLst/>
              <a:cxnLst/>
              <a:rect l="l" t="t" r="r" b="b"/>
              <a:pathLst>
                <a:path w="1827530" h="425450">
                  <a:moveTo>
                    <a:pt x="1827276" y="0"/>
                  </a:moveTo>
                  <a:lnTo>
                    <a:pt x="0" y="0"/>
                  </a:lnTo>
                  <a:lnTo>
                    <a:pt x="0" y="425195"/>
                  </a:lnTo>
                  <a:lnTo>
                    <a:pt x="1827276" y="425195"/>
                  </a:lnTo>
                  <a:lnTo>
                    <a:pt x="1827276" y="0"/>
                  </a:lnTo>
                  <a:close/>
                </a:path>
              </a:pathLst>
            </a:custGeom>
            <a:solidFill>
              <a:srgbClr val="FFE8C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24" y="1905000"/>
              <a:ext cx="1827530" cy="425450"/>
            </a:xfrm>
            <a:custGeom>
              <a:avLst/>
              <a:gdLst/>
              <a:ahLst/>
              <a:cxnLst/>
              <a:rect l="l" t="t" r="r" b="b"/>
              <a:pathLst>
                <a:path w="1827530" h="425450">
                  <a:moveTo>
                    <a:pt x="0" y="425195"/>
                  </a:moveTo>
                  <a:lnTo>
                    <a:pt x="1827276" y="425195"/>
                  </a:lnTo>
                  <a:lnTo>
                    <a:pt x="1827276" y="0"/>
                  </a:lnTo>
                  <a:lnTo>
                    <a:pt x="0" y="0"/>
                  </a:lnTo>
                  <a:lnTo>
                    <a:pt x="0" y="425195"/>
                  </a:lnTo>
                  <a:close/>
                </a:path>
              </a:pathLst>
            </a:custGeom>
            <a:ln w="12699">
              <a:solidFill>
                <a:srgbClr val="FFE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60375" y="1894713"/>
            <a:ext cx="1108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Sujeitos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822450" y="1898650"/>
            <a:ext cx="1841500" cy="438150"/>
            <a:chOff x="1822450" y="1898650"/>
            <a:chExt cx="1841500" cy="438150"/>
          </a:xfrm>
        </p:grpSpPr>
        <p:sp>
          <p:nvSpPr>
            <p:cNvPr id="31" name="object 31"/>
            <p:cNvSpPr/>
            <p:nvPr/>
          </p:nvSpPr>
          <p:spPr>
            <a:xfrm>
              <a:off x="1828800" y="1905000"/>
              <a:ext cx="1828800" cy="425450"/>
            </a:xfrm>
            <a:custGeom>
              <a:avLst/>
              <a:gdLst/>
              <a:ahLst/>
              <a:cxnLst/>
              <a:rect l="l" t="t" r="r" b="b"/>
              <a:pathLst>
                <a:path w="1828800" h="425450">
                  <a:moveTo>
                    <a:pt x="1828800" y="0"/>
                  </a:moveTo>
                  <a:lnTo>
                    <a:pt x="0" y="0"/>
                  </a:lnTo>
                  <a:lnTo>
                    <a:pt x="0" y="425195"/>
                  </a:lnTo>
                  <a:lnTo>
                    <a:pt x="1828800" y="425195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E8C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28800" y="1905000"/>
              <a:ext cx="1828800" cy="425450"/>
            </a:xfrm>
            <a:custGeom>
              <a:avLst/>
              <a:gdLst/>
              <a:ahLst/>
              <a:cxnLst/>
              <a:rect l="l" t="t" r="r" b="b"/>
              <a:pathLst>
                <a:path w="1828800" h="425450">
                  <a:moveTo>
                    <a:pt x="0" y="425195"/>
                  </a:moveTo>
                  <a:lnTo>
                    <a:pt x="1828800" y="425195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425195"/>
                  </a:lnTo>
                  <a:close/>
                </a:path>
              </a:pathLst>
            </a:custGeom>
            <a:ln w="12699">
              <a:solidFill>
                <a:srgbClr val="FFE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393442" y="1894713"/>
            <a:ext cx="70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Ética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651250" y="1898650"/>
            <a:ext cx="1841500" cy="438150"/>
            <a:chOff x="3651250" y="1898650"/>
            <a:chExt cx="1841500" cy="438150"/>
          </a:xfrm>
        </p:grpSpPr>
        <p:sp>
          <p:nvSpPr>
            <p:cNvPr id="35" name="object 35"/>
            <p:cNvSpPr/>
            <p:nvPr/>
          </p:nvSpPr>
          <p:spPr>
            <a:xfrm>
              <a:off x="3657600" y="1905000"/>
              <a:ext cx="1828800" cy="425450"/>
            </a:xfrm>
            <a:custGeom>
              <a:avLst/>
              <a:gdLst/>
              <a:ahLst/>
              <a:cxnLst/>
              <a:rect l="l" t="t" r="r" b="b"/>
              <a:pathLst>
                <a:path w="1828800" h="425450">
                  <a:moveTo>
                    <a:pt x="1828800" y="0"/>
                  </a:moveTo>
                  <a:lnTo>
                    <a:pt x="0" y="0"/>
                  </a:lnTo>
                  <a:lnTo>
                    <a:pt x="0" y="425195"/>
                  </a:lnTo>
                  <a:lnTo>
                    <a:pt x="1828800" y="425195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E8C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57600" y="1905000"/>
              <a:ext cx="1828800" cy="425450"/>
            </a:xfrm>
            <a:custGeom>
              <a:avLst/>
              <a:gdLst/>
              <a:ahLst/>
              <a:cxnLst/>
              <a:rect l="l" t="t" r="r" b="b"/>
              <a:pathLst>
                <a:path w="1828800" h="425450">
                  <a:moveTo>
                    <a:pt x="0" y="425195"/>
                  </a:moveTo>
                  <a:lnTo>
                    <a:pt x="1828800" y="425195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425195"/>
                  </a:lnTo>
                  <a:close/>
                </a:path>
              </a:pathLst>
            </a:custGeom>
            <a:ln w="12699">
              <a:solidFill>
                <a:srgbClr val="FFE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950589" y="1894713"/>
            <a:ext cx="1243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Cenários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480050" y="1898650"/>
            <a:ext cx="1841500" cy="438150"/>
            <a:chOff x="5480050" y="1898650"/>
            <a:chExt cx="1841500" cy="438150"/>
          </a:xfrm>
        </p:grpSpPr>
        <p:sp>
          <p:nvSpPr>
            <p:cNvPr id="39" name="object 39"/>
            <p:cNvSpPr/>
            <p:nvPr/>
          </p:nvSpPr>
          <p:spPr>
            <a:xfrm>
              <a:off x="5486400" y="1905000"/>
              <a:ext cx="1828800" cy="425450"/>
            </a:xfrm>
            <a:custGeom>
              <a:avLst/>
              <a:gdLst/>
              <a:ahLst/>
              <a:cxnLst/>
              <a:rect l="l" t="t" r="r" b="b"/>
              <a:pathLst>
                <a:path w="1828800" h="425450">
                  <a:moveTo>
                    <a:pt x="1828800" y="0"/>
                  </a:moveTo>
                  <a:lnTo>
                    <a:pt x="0" y="0"/>
                  </a:lnTo>
                  <a:lnTo>
                    <a:pt x="0" y="425195"/>
                  </a:lnTo>
                  <a:lnTo>
                    <a:pt x="1828800" y="425195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E8C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486400" y="1905000"/>
              <a:ext cx="1828800" cy="425450"/>
            </a:xfrm>
            <a:custGeom>
              <a:avLst/>
              <a:gdLst/>
              <a:ahLst/>
              <a:cxnLst/>
              <a:rect l="l" t="t" r="r" b="b"/>
              <a:pathLst>
                <a:path w="1828800" h="425450">
                  <a:moveTo>
                    <a:pt x="0" y="425195"/>
                  </a:moveTo>
                  <a:lnTo>
                    <a:pt x="1828800" y="425195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425195"/>
                  </a:lnTo>
                  <a:close/>
                </a:path>
              </a:pathLst>
            </a:custGeom>
            <a:ln w="12699">
              <a:solidFill>
                <a:srgbClr val="FFE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745607" y="1894713"/>
            <a:ext cx="1313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Ambiente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308850" y="1898650"/>
            <a:ext cx="1840230" cy="438150"/>
            <a:chOff x="7308850" y="1898650"/>
            <a:chExt cx="1840230" cy="438150"/>
          </a:xfrm>
        </p:grpSpPr>
        <p:sp>
          <p:nvSpPr>
            <p:cNvPr id="43" name="object 43"/>
            <p:cNvSpPr/>
            <p:nvPr/>
          </p:nvSpPr>
          <p:spPr>
            <a:xfrm>
              <a:off x="7315200" y="1905000"/>
              <a:ext cx="1827530" cy="425450"/>
            </a:xfrm>
            <a:custGeom>
              <a:avLst/>
              <a:gdLst/>
              <a:ahLst/>
              <a:cxnLst/>
              <a:rect l="l" t="t" r="r" b="b"/>
              <a:pathLst>
                <a:path w="1827529" h="425450">
                  <a:moveTo>
                    <a:pt x="1827276" y="0"/>
                  </a:moveTo>
                  <a:lnTo>
                    <a:pt x="0" y="0"/>
                  </a:lnTo>
                  <a:lnTo>
                    <a:pt x="0" y="425195"/>
                  </a:lnTo>
                  <a:lnTo>
                    <a:pt x="1827276" y="425195"/>
                  </a:lnTo>
                  <a:lnTo>
                    <a:pt x="1827276" y="0"/>
                  </a:lnTo>
                  <a:close/>
                </a:path>
              </a:pathLst>
            </a:custGeom>
            <a:solidFill>
              <a:srgbClr val="FFE8C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315200" y="1905000"/>
              <a:ext cx="1827530" cy="425450"/>
            </a:xfrm>
            <a:custGeom>
              <a:avLst/>
              <a:gdLst/>
              <a:ahLst/>
              <a:cxnLst/>
              <a:rect l="l" t="t" r="r" b="b"/>
              <a:pathLst>
                <a:path w="1827529" h="425450">
                  <a:moveTo>
                    <a:pt x="0" y="425195"/>
                  </a:moveTo>
                  <a:lnTo>
                    <a:pt x="1827276" y="425195"/>
                  </a:lnTo>
                  <a:lnTo>
                    <a:pt x="1827276" y="0"/>
                  </a:lnTo>
                  <a:lnTo>
                    <a:pt x="0" y="0"/>
                  </a:lnTo>
                  <a:lnTo>
                    <a:pt x="0" y="425195"/>
                  </a:lnTo>
                  <a:close/>
                </a:path>
              </a:pathLst>
            </a:custGeom>
            <a:ln w="12699">
              <a:solidFill>
                <a:srgbClr val="FFE8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836534" y="1894713"/>
            <a:ext cx="785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Piloto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-6350" y="-6350"/>
            <a:ext cx="9156700" cy="1431925"/>
            <a:chOff x="-6350" y="-6350"/>
            <a:chExt cx="9156700" cy="1431925"/>
          </a:xfrm>
        </p:grpSpPr>
        <p:sp>
          <p:nvSpPr>
            <p:cNvPr id="47" name="object 47"/>
            <p:cNvSpPr/>
            <p:nvPr/>
          </p:nvSpPr>
          <p:spPr>
            <a:xfrm>
              <a:off x="0" y="0"/>
              <a:ext cx="9144000" cy="1419225"/>
            </a:xfrm>
            <a:custGeom>
              <a:avLst/>
              <a:gdLst/>
              <a:ahLst/>
              <a:cxnLst/>
              <a:rect l="l" t="t" r="r" b="b"/>
              <a:pathLst>
                <a:path w="9144000" h="1419225">
                  <a:moveTo>
                    <a:pt x="9144000" y="0"/>
                  </a:moveTo>
                  <a:lnTo>
                    <a:pt x="0" y="0"/>
                  </a:lnTo>
                  <a:lnTo>
                    <a:pt x="0" y="921892"/>
                  </a:lnTo>
                  <a:lnTo>
                    <a:pt x="4394581" y="921892"/>
                  </a:lnTo>
                  <a:lnTo>
                    <a:pt x="4394581" y="1064133"/>
                  </a:lnTo>
                  <a:lnTo>
                    <a:pt x="4217289" y="1064133"/>
                  </a:lnTo>
                  <a:lnTo>
                    <a:pt x="4572000" y="1418844"/>
                  </a:lnTo>
                  <a:lnTo>
                    <a:pt x="4926711" y="1064133"/>
                  </a:lnTo>
                  <a:lnTo>
                    <a:pt x="4749292" y="1064133"/>
                  </a:lnTo>
                  <a:lnTo>
                    <a:pt x="4749292" y="921892"/>
                  </a:lnTo>
                  <a:lnTo>
                    <a:pt x="9144000" y="92189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0" y="0"/>
              <a:ext cx="9144000" cy="1419225"/>
            </a:xfrm>
            <a:custGeom>
              <a:avLst/>
              <a:gdLst/>
              <a:ahLst/>
              <a:cxnLst/>
              <a:rect l="l" t="t" r="r" b="b"/>
              <a:pathLst>
                <a:path w="9144000" h="1419225">
                  <a:moveTo>
                    <a:pt x="9144000" y="921892"/>
                  </a:moveTo>
                  <a:lnTo>
                    <a:pt x="4749292" y="921892"/>
                  </a:lnTo>
                  <a:lnTo>
                    <a:pt x="4749292" y="1064133"/>
                  </a:lnTo>
                  <a:lnTo>
                    <a:pt x="4926711" y="1064133"/>
                  </a:lnTo>
                  <a:lnTo>
                    <a:pt x="4572000" y="1418844"/>
                  </a:lnTo>
                  <a:lnTo>
                    <a:pt x="4217289" y="1064133"/>
                  </a:lnTo>
                  <a:lnTo>
                    <a:pt x="4394581" y="1064133"/>
                  </a:lnTo>
                  <a:lnTo>
                    <a:pt x="4394581" y="921892"/>
                  </a:lnTo>
                  <a:lnTo>
                    <a:pt x="0" y="921892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92189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xfrm>
            <a:off x="3813809" y="165353"/>
            <a:ext cx="15170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10" dirty="0">
                <a:solidFill>
                  <a:srgbClr val="000000"/>
                </a:solidFill>
                <a:latin typeface="Arial MT"/>
                <a:cs typeface="Arial MT"/>
              </a:rPr>
              <a:t>Objetivo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0262"/>
            <a:ext cx="1662813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1.</a:t>
            </a:r>
            <a:r>
              <a:rPr sz="1655" spc="-20" dirty="0"/>
              <a:t> </a:t>
            </a:r>
            <a:r>
              <a:rPr sz="1655" dirty="0"/>
              <a:t>plano</a:t>
            </a:r>
            <a:r>
              <a:rPr sz="1655" spc="-7" dirty="0"/>
              <a:t> </a:t>
            </a:r>
            <a:r>
              <a:rPr sz="1655" dirty="0"/>
              <a:t>de</a:t>
            </a:r>
            <a:r>
              <a:rPr sz="1655" spc="-30" dirty="0"/>
              <a:t> </a:t>
            </a:r>
            <a:r>
              <a:rPr sz="1655" spc="-13" dirty="0"/>
              <a:t>teste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8" y="673386"/>
            <a:ext cx="4865734" cy="4207200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2.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recrutamento;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3.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preparação;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6.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BFBFBF"/>
                </a:solidFill>
                <a:latin typeface="Arial"/>
                <a:cs typeface="Arial"/>
              </a:rPr>
              <a:t>relato</a:t>
            </a:r>
            <a:endParaRPr sz="1191" dirty="0">
              <a:latin typeface="Arial"/>
              <a:cs typeface="Arial"/>
            </a:endParaRPr>
          </a:p>
          <a:p>
            <a:pPr>
              <a:spcBef>
                <a:spcPts val="374"/>
              </a:spcBef>
            </a:pPr>
            <a:endParaRPr sz="1191" dirty="0">
              <a:latin typeface="Arial"/>
              <a:cs typeface="Arial"/>
            </a:endParaRPr>
          </a:p>
          <a:p>
            <a:pPr marL="282394" indent="-171450">
              <a:spcBef>
                <a:spcPts val="3"/>
              </a:spcBef>
              <a:buFont typeface="Arial" panose="020B0604020202020204" pitchFamily="34" charset="0"/>
              <a:buChar char="•"/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objetivos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(gerais)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teste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82394" marR="2665181" indent="-171450">
              <a:spcBef>
                <a:spcPts val="993"/>
              </a:spcBef>
              <a:buFont typeface="Arial" panose="020B0604020202020204" pitchFamily="34" charset="0"/>
              <a:buChar char="•"/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perguntas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191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avaliação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visa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responder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82394" marR="3253521" indent="-171450">
              <a:lnSpc>
                <a:spcPct val="169400"/>
              </a:lnSpc>
              <a:buFont typeface="Arial" panose="020B0604020202020204" pitchFamily="34" charset="0"/>
              <a:buChar char="•"/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perfil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usuário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teste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82394" marR="2547093" indent="-171450">
              <a:lnSpc>
                <a:spcPts val="2567"/>
              </a:lnSpc>
              <a:spcBef>
                <a:spcPts val="152"/>
              </a:spcBef>
              <a:buFont typeface="Arial" panose="020B0604020202020204" pitchFamily="34" charset="0"/>
              <a:buChar char="•"/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ambiente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/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equipamento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teste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tarefas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serem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observadas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dados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serão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coletados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82394" indent="-171450">
              <a:spcBef>
                <a:spcPts val="857"/>
              </a:spcBef>
              <a:buFont typeface="Arial" panose="020B0604020202020204" pitchFamily="34" charset="0"/>
              <a:buChar char="•"/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análise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dos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dados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82394" marR="2832858" indent="-171450">
              <a:lnSpc>
                <a:spcPct val="110000"/>
              </a:lnSpc>
              <a:spcBef>
                <a:spcPts val="993"/>
              </a:spcBef>
              <a:buFont typeface="Arial" panose="020B0604020202020204" pitchFamily="34" charset="0"/>
              <a:buChar char="•"/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conteúdo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191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apresentação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do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relatório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0262"/>
            <a:ext cx="1662813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1.</a:t>
            </a:r>
            <a:r>
              <a:rPr sz="1655" spc="-20" dirty="0"/>
              <a:t> </a:t>
            </a:r>
            <a:r>
              <a:rPr sz="1655" dirty="0"/>
              <a:t>plano</a:t>
            </a:r>
            <a:r>
              <a:rPr sz="1655" spc="-7" dirty="0"/>
              <a:t> </a:t>
            </a:r>
            <a:r>
              <a:rPr sz="1655" dirty="0"/>
              <a:t>de</a:t>
            </a:r>
            <a:r>
              <a:rPr sz="1655" spc="-30" dirty="0"/>
              <a:t> </a:t>
            </a:r>
            <a:r>
              <a:rPr sz="1655" spc="-13" dirty="0"/>
              <a:t>teste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8" y="673386"/>
            <a:ext cx="4865734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2.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recrutamento;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3.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preparação;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6.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BFBFBF"/>
                </a:solidFill>
                <a:latin typeface="Arial"/>
                <a:cs typeface="Arial"/>
              </a:rPr>
              <a:t>relato</a:t>
            </a:r>
            <a:endParaRPr sz="119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0764" y="1076772"/>
            <a:ext cx="1890572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objetivos</a:t>
            </a:r>
            <a:r>
              <a:rPr sz="1191" b="1" spc="-23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(gerais)</a:t>
            </a:r>
            <a:r>
              <a:rPr sz="1191" b="1" spc="-36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do</a:t>
            </a:r>
            <a:r>
              <a:rPr sz="1191" b="1" spc="-46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spc="-13" dirty="0">
                <a:solidFill>
                  <a:srgbClr val="FF6D0A"/>
                </a:solidFill>
                <a:latin typeface="Arial"/>
                <a:cs typeface="Arial"/>
              </a:rPr>
              <a:t>teste</a:t>
            </a:r>
            <a:endParaRPr sz="1191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0763" y="1384352"/>
            <a:ext cx="2219185" cy="130589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 marR="121030">
              <a:spcBef>
                <a:spcPts val="66"/>
              </a:spcBef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perguntas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191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avaliação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visa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responder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 marR="709790">
              <a:lnSpc>
                <a:spcPct val="169400"/>
              </a:lnSpc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perfil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usuário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teste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>
              <a:spcBef>
                <a:spcPts val="1016"/>
              </a:spcBef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ambiente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/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equipamento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teste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0763" y="2817515"/>
            <a:ext cx="2402821" cy="136360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tarefas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serem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observadas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 marR="3362">
              <a:lnSpc>
                <a:spcPct val="179400"/>
              </a:lnSpc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dados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serão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coletados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análise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dos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dados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 marR="472773">
              <a:lnSpc>
                <a:spcPct val="110000"/>
              </a:lnSpc>
              <a:spcBef>
                <a:spcPts val="993"/>
              </a:spcBef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conteúdo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191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apresentação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do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relatório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54163" y="1090880"/>
            <a:ext cx="2436019" cy="1888616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 marR="3362">
              <a:spcBef>
                <a:spcPts val="66"/>
              </a:spcBef>
            </a:pP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descobrir</a:t>
            </a:r>
            <a:r>
              <a:rPr sz="1191" b="1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se/quantos</a:t>
            </a:r>
            <a:r>
              <a:rPr sz="1191" b="1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spc="-7" dirty="0">
                <a:solidFill>
                  <a:schemeClr val="bg1"/>
                </a:solidFill>
                <a:latin typeface="Arial MT"/>
                <a:cs typeface="Arial MT"/>
              </a:rPr>
              <a:t>usuários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conseguem</a:t>
            </a:r>
            <a:r>
              <a:rPr sz="1191" b="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realizar</a:t>
            </a:r>
            <a:r>
              <a:rPr sz="1191" b="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as</a:t>
            </a:r>
            <a:r>
              <a:rPr sz="1191" b="1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tarefas,</a:t>
            </a:r>
            <a:r>
              <a:rPr sz="1191" b="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spc="-17" dirty="0">
                <a:solidFill>
                  <a:schemeClr val="bg1"/>
                </a:solidFill>
                <a:latin typeface="Arial MT"/>
                <a:cs typeface="Arial MT"/>
              </a:rPr>
              <a:t>em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quanto</a:t>
            </a:r>
            <a:r>
              <a:rPr sz="1191" b="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tempo</a:t>
            </a:r>
            <a:r>
              <a:rPr sz="1191" b="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191" b="1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cometendo</a:t>
            </a:r>
            <a:r>
              <a:rPr sz="1191" b="1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spc="-7" dirty="0">
                <a:solidFill>
                  <a:schemeClr val="bg1"/>
                </a:solidFill>
                <a:latin typeface="Arial MT"/>
                <a:cs typeface="Arial MT"/>
              </a:rPr>
              <a:t>quantos erros</a:t>
            </a:r>
            <a:endParaRPr sz="1191" b="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 marR="448399">
              <a:spcBef>
                <a:spcPts val="857"/>
              </a:spcBef>
            </a:pP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verificar</a:t>
            </a:r>
            <a:r>
              <a:rPr sz="1191" b="1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se</a:t>
            </a:r>
            <a:r>
              <a:rPr sz="1191" b="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191" b="1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spc="-7" dirty="0">
                <a:solidFill>
                  <a:schemeClr val="bg1"/>
                </a:solidFill>
                <a:latin typeface="Arial MT"/>
                <a:cs typeface="Arial MT"/>
              </a:rPr>
              <a:t>documentação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compensa</a:t>
            </a:r>
            <a:r>
              <a:rPr sz="1191" b="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falhas</a:t>
            </a:r>
            <a:r>
              <a:rPr sz="1191" b="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na</a:t>
            </a:r>
            <a:r>
              <a:rPr sz="1191" b="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spc="-7" dirty="0">
                <a:solidFill>
                  <a:schemeClr val="bg1"/>
                </a:solidFill>
                <a:latin typeface="Arial MT"/>
                <a:cs typeface="Arial MT"/>
              </a:rPr>
              <a:t>interface</a:t>
            </a:r>
            <a:endParaRPr sz="1191" b="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 marR="354685">
              <a:spcBef>
                <a:spcPts val="867"/>
              </a:spcBef>
            </a:pP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avaliar</a:t>
            </a:r>
            <a:r>
              <a:rPr sz="1191" b="1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problemas</a:t>
            </a:r>
            <a:r>
              <a:rPr sz="1191" b="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 MT"/>
                <a:cs typeface="Arial MT"/>
              </a:rPr>
              <a:t>relatados</a:t>
            </a:r>
            <a:r>
              <a:rPr sz="1191" b="1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spc="-17" dirty="0">
                <a:solidFill>
                  <a:schemeClr val="bg1"/>
                </a:solidFill>
                <a:latin typeface="Arial MT"/>
                <a:cs typeface="Arial MT"/>
              </a:rPr>
              <a:t>ao </a:t>
            </a:r>
            <a:r>
              <a:rPr sz="1191" b="1" spc="-7" dirty="0">
                <a:solidFill>
                  <a:schemeClr val="bg1"/>
                </a:solidFill>
                <a:latin typeface="Arial MT"/>
                <a:cs typeface="Arial MT"/>
              </a:rPr>
              <a:t>suporte</a:t>
            </a:r>
            <a:endParaRPr sz="1191" b="1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96596" y="1074083"/>
            <a:ext cx="932890" cy="1396813"/>
            <a:chOff x="3706367" y="1623059"/>
            <a:chExt cx="1409700" cy="2110740"/>
          </a:xfrm>
        </p:grpSpPr>
        <p:sp>
          <p:nvSpPr>
            <p:cNvPr id="9" name="object 9"/>
            <p:cNvSpPr/>
            <p:nvPr/>
          </p:nvSpPr>
          <p:spPr>
            <a:xfrm>
              <a:off x="5096255" y="1623059"/>
              <a:ext cx="20320" cy="2110740"/>
            </a:xfrm>
            <a:custGeom>
              <a:avLst/>
              <a:gdLst/>
              <a:ahLst/>
              <a:cxnLst/>
              <a:rect l="l" t="t" r="r" b="b"/>
              <a:pathLst>
                <a:path w="20320" h="2110740">
                  <a:moveTo>
                    <a:pt x="19812" y="2110740"/>
                  </a:moveTo>
                  <a:lnTo>
                    <a:pt x="0" y="2110740"/>
                  </a:lnTo>
                  <a:lnTo>
                    <a:pt x="0" y="0"/>
                  </a:lnTo>
                  <a:lnTo>
                    <a:pt x="19812" y="0"/>
                  </a:lnTo>
                  <a:lnTo>
                    <a:pt x="19812" y="211074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06367" y="1840229"/>
              <a:ext cx="1399540" cy="0"/>
            </a:xfrm>
            <a:custGeom>
              <a:avLst/>
              <a:gdLst/>
              <a:ahLst/>
              <a:cxnLst/>
              <a:rect l="l" t="t" r="r" b="b"/>
              <a:pathLst>
                <a:path w="1399539">
                  <a:moveTo>
                    <a:pt x="0" y="0"/>
                  </a:moveTo>
                  <a:lnTo>
                    <a:pt x="1399032" y="0"/>
                  </a:lnTo>
                </a:path>
              </a:pathLst>
            </a:custGeom>
            <a:ln w="28956">
              <a:solidFill>
                <a:srgbClr val="A5A5A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0262"/>
            <a:ext cx="1662813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1.</a:t>
            </a:r>
            <a:r>
              <a:rPr sz="1655" spc="-20" dirty="0"/>
              <a:t> </a:t>
            </a:r>
            <a:r>
              <a:rPr sz="1655" dirty="0"/>
              <a:t>plano</a:t>
            </a:r>
            <a:r>
              <a:rPr sz="1655" spc="-7" dirty="0"/>
              <a:t> </a:t>
            </a:r>
            <a:r>
              <a:rPr sz="1655" dirty="0"/>
              <a:t>de</a:t>
            </a:r>
            <a:r>
              <a:rPr sz="1655" spc="-30" dirty="0"/>
              <a:t> </a:t>
            </a:r>
            <a:r>
              <a:rPr sz="1655" spc="-13" dirty="0"/>
              <a:t>teste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8" y="673386"/>
            <a:ext cx="4865734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2.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recrutamento;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3.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preparação;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6.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BFBFBF"/>
                </a:solidFill>
                <a:latin typeface="Arial"/>
                <a:cs typeface="Arial"/>
              </a:rPr>
              <a:t>relato</a:t>
            </a:r>
            <a:endParaRPr sz="119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0763" y="1076771"/>
            <a:ext cx="2241877" cy="126325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objetivos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(gerais)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 marR="3362">
              <a:spcBef>
                <a:spcPts val="993"/>
              </a:spcBef>
            </a:pP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perguntas</a:t>
            </a:r>
            <a:r>
              <a:rPr sz="1191" b="1" spc="-36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que</a:t>
            </a:r>
            <a:r>
              <a:rPr sz="1191" b="1" spc="-36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a</a:t>
            </a:r>
            <a:r>
              <a:rPr sz="1191" b="1" spc="-33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avaliação</a:t>
            </a:r>
            <a:r>
              <a:rPr sz="1191" b="1" spc="3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spc="-13" dirty="0">
                <a:solidFill>
                  <a:srgbClr val="FF6D0A"/>
                </a:solidFill>
                <a:latin typeface="Arial"/>
                <a:cs typeface="Arial"/>
              </a:rPr>
              <a:t>visa </a:t>
            </a:r>
            <a:r>
              <a:rPr sz="1191" b="1" spc="-7" dirty="0">
                <a:solidFill>
                  <a:srgbClr val="FF6D0A"/>
                </a:solidFill>
                <a:latin typeface="Arial"/>
                <a:cs typeface="Arial"/>
              </a:rPr>
              <a:t>responder</a:t>
            </a:r>
            <a:endParaRPr sz="1191">
              <a:latin typeface="Arial"/>
              <a:cs typeface="Arial"/>
            </a:endParaRPr>
          </a:p>
          <a:p>
            <a:pPr marL="8405" marR="732484">
              <a:lnSpc>
                <a:spcPct val="169400"/>
              </a:lnSpc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perfil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usuário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0763" y="2491762"/>
            <a:ext cx="2219185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ambiente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/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equipamento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0763" y="2817515"/>
            <a:ext cx="188847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tarefas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serem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observadas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0763" y="3143267"/>
            <a:ext cx="183090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serão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coletados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0763" y="3469019"/>
            <a:ext cx="240282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análise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dos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0763" y="3776644"/>
            <a:ext cx="1933015" cy="39602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 marR="3362">
              <a:lnSpc>
                <a:spcPct val="110000"/>
              </a:lnSpc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conteúdo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apresentação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do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relatório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54162" y="1077763"/>
            <a:ext cx="2438120" cy="2460400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 marR="3362">
              <a:spcBef>
                <a:spcPts val="63"/>
              </a:spcBef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Os</a:t>
            </a:r>
            <a:r>
              <a:rPr sz="1059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usuários</a:t>
            </a:r>
            <a:r>
              <a:rPr sz="1059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b="1" dirty="0">
                <a:solidFill>
                  <a:schemeClr val="bg1"/>
                </a:solidFill>
                <a:latin typeface="Arial"/>
                <a:cs typeface="Arial"/>
              </a:rPr>
              <a:t>conseguem</a:t>
            </a:r>
            <a:r>
              <a:rPr sz="1059" b="1" spc="-2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59" b="1" dirty="0">
                <a:solidFill>
                  <a:schemeClr val="bg1"/>
                </a:solidFill>
                <a:latin typeface="Arial"/>
                <a:cs typeface="Arial"/>
              </a:rPr>
              <a:t>transitar</a:t>
            </a:r>
            <a:r>
              <a:rPr sz="1059" b="1" spc="-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entre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os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principais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módulos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sistema?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 marR="157591">
              <a:spcBef>
                <a:spcPts val="460"/>
              </a:spcBef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b="1" dirty="0">
                <a:solidFill>
                  <a:schemeClr val="bg1"/>
                </a:solidFill>
                <a:latin typeface="Arial"/>
                <a:cs typeface="Arial"/>
              </a:rPr>
              <a:t>tempo</a:t>
            </a:r>
            <a:r>
              <a:rPr sz="1059" b="1" spc="-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59" b="1" dirty="0">
                <a:solidFill>
                  <a:schemeClr val="bg1"/>
                </a:solidFill>
                <a:latin typeface="Arial"/>
                <a:cs typeface="Arial"/>
              </a:rPr>
              <a:t>de</a:t>
            </a:r>
            <a:r>
              <a:rPr sz="1059" b="1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59" b="1" dirty="0">
                <a:solidFill>
                  <a:schemeClr val="bg1"/>
                </a:solidFill>
                <a:latin typeface="Arial"/>
                <a:cs typeface="Arial"/>
              </a:rPr>
              <a:t>resposta</a:t>
            </a:r>
            <a:r>
              <a:rPr sz="1059" b="1" spc="-1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causa</a:t>
            </a:r>
            <a:r>
              <a:rPr sz="1059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erros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ou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frustração?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>
              <a:spcBef>
                <a:spcPts val="460"/>
              </a:spcBef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As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telas</a:t>
            </a:r>
            <a:r>
              <a:rPr sz="1059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refletem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b="1" dirty="0">
                <a:solidFill>
                  <a:schemeClr val="bg1"/>
                </a:solidFill>
                <a:latin typeface="Arial"/>
                <a:cs typeface="Arial"/>
              </a:rPr>
              <a:t>modelo</a:t>
            </a:r>
            <a:r>
              <a:rPr sz="1059" b="1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59" b="1" spc="-7" dirty="0">
                <a:solidFill>
                  <a:schemeClr val="bg1"/>
                </a:solidFill>
                <a:latin typeface="Arial"/>
                <a:cs typeface="Arial"/>
              </a:rPr>
              <a:t>conceitual</a:t>
            </a:r>
            <a:endParaRPr sz="1059" dirty="0">
              <a:solidFill>
                <a:schemeClr val="bg1"/>
              </a:solidFill>
              <a:latin typeface="Arial"/>
              <a:cs typeface="Arial"/>
            </a:endParaRPr>
          </a:p>
          <a:p>
            <a:pPr marL="8405"/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usuário?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 marR="78165">
              <a:spcBef>
                <a:spcPts val="470"/>
              </a:spcBef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b="1" dirty="0">
                <a:solidFill>
                  <a:schemeClr val="bg1"/>
                </a:solidFill>
                <a:latin typeface="Arial"/>
                <a:cs typeface="Arial"/>
              </a:rPr>
              <a:t>obstáculos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impedem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059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tarefa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X seja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concluída?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 marR="134478">
              <a:spcBef>
                <a:spcPts val="460"/>
              </a:spcBef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Esta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nova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versão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é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b="1" dirty="0">
                <a:solidFill>
                  <a:schemeClr val="bg1"/>
                </a:solidFill>
                <a:latin typeface="Arial"/>
                <a:cs typeface="Arial"/>
              </a:rPr>
              <a:t>mais</a:t>
            </a:r>
            <a:r>
              <a:rPr sz="1059" b="1" spc="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59" b="1" dirty="0">
                <a:solidFill>
                  <a:schemeClr val="bg1"/>
                </a:solidFill>
                <a:latin typeface="Arial"/>
                <a:cs typeface="Arial"/>
              </a:rPr>
              <a:t>fácil</a:t>
            </a:r>
            <a:r>
              <a:rPr sz="1059" b="1" spc="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usar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059" spc="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anterior?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 marR="113045">
              <a:spcBef>
                <a:spcPts val="460"/>
              </a:spcBef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Há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b="1" dirty="0">
                <a:solidFill>
                  <a:schemeClr val="bg1"/>
                </a:solidFill>
                <a:latin typeface="Arial"/>
                <a:cs typeface="Arial"/>
              </a:rPr>
              <a:t>equilíbrio</a:t>
            </a:r>
            <a:r>
              <a:rPr sz="1059" b="1" spc="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entre fácil</a:t>
            </a:r>
            <a:r>
              <a:rPr sz="1059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usar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fácil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aprender?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>
              <a:spcBef>
                <a:spcPts val="73"/>
              </a:spcBef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Quanto</a:t>
            </a:r>
            <a:r>
              <a:rPr sz="1059" spc="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tempo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usuário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leva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para: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54195" y="3477660"/>
            <a:ext cx="2374667" cy="1226196"/>
          </a:xfrm>
          <a:prstGeom prst="rect">
            <a:avLst/>
          </a:prstGeom>
        </p:spPr>
        <p:txBody>
          <a:bodyPr vert="horz" wrap="square" lIns="0" tIns="33618" rIns="0" bIns="0" rtlCol="0">
            <a:spAutoFit/>
          </a:bodyPr>
          <a:lstStyle/>
          <a:p>
            <a:pPr marL="196674" indent="-188269">
              <a:spcBef>
                <a:spcPts val="265"/>
              </a:spcBef>
              <a:buClr>
                <a:srgbClr val="7E7E7E"/>
              </a:buClr>
              <a:buSzPct val="781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encontrar cada</a:t>
            </a:r>
            <a:r>
              <a:rPr sz="1059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produto?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marR="168097" indent="-188689">
              <a:spcBef>
                <a:spcPts val="199"/>
              </a:spcBef>
              <a:buClr>
                <a:srgbClr val="7E7E7E"/>
              </a:buClr>
              <a:buSzPct val="781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finalizar</a:t>
            </a:r>
            <a:r>
              <a:rPr sz="1059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compra,</a:t>
            </a:r>
            <a:r>
              <a:rPr sz="1059" spc="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após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inseridos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todos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os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produtos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no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carrinho?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marR="3362" indent="-188689">
              <a:spcBef>
                <a:spcPts val="199"/>
              </a:spcBef>
              <a:buClr>
                <a:srgbClr val="7E7E7E"/>
              </a:buClr>
              <a:buSzPct val="781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refazer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uma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compra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realizada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anteriormente,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com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exceção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de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alguns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produtos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foram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incluídos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por causa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 um almoço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família?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66882" y="1074083"/>
            <a:ext cx="662687" cy="3623982"/>
            <a:chOff x="4114800" y="1623059"/>
            <a:chExt cx="1001394" cy="5476240"/>
          </a:xfrm>
        </p:grpSpPr>
        <p:sp>
          <p:nvSpPr>
            <p:cNvPr id="13" name="object 13"/>
            <p:cNvSpPr/>
            <p:nvPr/>
          </p:nvSpPr>
          <p:spPr>
            <a:xfrm>
              <a:off x="5096255" y="1623059"/>
              <a:ext cx="20320" cy="5476240"/>
            </a:xfrm>
            <a:custGeom>
              <a:avLst/>
              <a:gdLst/>
              <a:ahLst/>
              <a:cxnLst/>
              <a:rect l="l" t="t" r="r" b="b"/>
              <a:pathLst>
                <a:path w="20320" h="5476240">
                  <a:moveTo>
                    <a:pt x="19812" y="5475732"/>
                  </a:moveTo>
                  <a:lnTo>
                    <a:pt x="0" y="5475732"/>
                  </a:lnTo>
                  <a:lnTo>
                    <a:pt x="0" y="0"/>
                  </a:lnTo>
                  <a:lnTo>
                    <a:pt x="19812" y="0"/>
                  </a:lnTo>
                  <a:lnTo>
                    <a:pt x="19812" y="5475732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14800" y="2286761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ln w="28956">
              <a:solidFill>
                <a:srgbClr val="A5A5A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0262"/>
            <a:ext cx="1662813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1.</a:t>
            </a:r>
            <a:r>
              <a:rPr sz="1655" spc="-20" dirty="0"/>
              <a:t> </a:t>
            </a:r>
            <a:r>
              <a:rPr sz="1655" dirty="0"/>
              <a:t>plano</a:t>
            </a:r>
            <a:r>
              <a:rPr sz="1655" spc="-7" dirty="0"/>
              <a:t> </a:t>
            </a:r>
            <a:r>
              <a:rPr sz="1655" dirty="0"/>
              <a:t>de</a:t>
            </a:r>
            <a:r>
              <a:rPr sz="1655" spc="-30" dirty="0"/>
              <a:t> </a:t>
            </a:r>
            <a:r>
              <a:rPr sz="1655" spc="-13" dirty="0"/>
              <a:t>teste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8" y="673386"/>
            <a:ext cx="4865734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2.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recrutamento;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3.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preparação;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6.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BFBFBF"/>
                </a:solidFill>
                <a:latin typeface="Arial"/>
                <a:cs typeface="Arial"/>
              </a:rPr>
              <a:t>relato</a:t>
            </a:r>
            <a:endParaRPr sz="119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0763" y="1076771"/>
            <a:ext cx="2101103" cy="99798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objetivos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(gerais)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 marR="3362">
              <a:spcBef>
                <a:spcPts val="993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perguntas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avaliação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visa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responder</a:t>
            </a:r>
            <a:endParaRPr sz="1191">
              <a:latin typeface="Arial MT"/>
              <a:cs typeface="Arial MT"/>
            </a:endParaRPr>
          </a:p>
          <a:p>
            <a:pPr marL="8405">
              <a:spcBef>
                <a:spcPts val="993"/>
              </a:spcBef>
            </a:pP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perfil</a:t>
            </a:r>
            <a:r>
              <a:rPr sz="1191" b="1" spc="-26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de</a:t>
            </a:r>
            <a:r>
              <a:rPr sz="1191" b="1" spc="-7" dirty="0">
                <a:solidFill>
                  <a:srgbClr val="FF6D0A"/>
                </a:solidFill>
                <a:latin typeface="Arial"/>
                <a:cs typeface="Arial"/>
              </a:rPr>
              <a:t> usuário</a:t>
            </a:r>
            <a:endParaRPr sz="1191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0763" y="2181079"/>
            <a:ext cx="2219185" cy="50323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>
              <a:spcBef>
                <a:spcPts val="101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ambiente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/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equipamento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0763" y="2817515"/>
            <a:ext cx="188847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tarefas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serem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observadas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0763" y="3143267"/>
            <a:ext cx="183090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serão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coletados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0763" y="3469019"/>
            <a:ext cx="240282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análise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dos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0763" y="3776644"/>
            <a:ext cx="1933015" cy="39602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 marR="3362">
              <a:lnSpc>
                <a:spcPct val="110000"/>
              </a:lnSpc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conteúdo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apresentação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do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relatório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54162" y="4646900"/>
            <a:ext cx="2378449" cy="171055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Obs.:</a:t>
            </a:r>
            <a:r>
              <a:rPr sz="1059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usuário</a:t>
            </a:r>
            <a:r>
              <a:rPr sz="1059" spc="-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Consolas"/>
                <a:cs typeface="Consolas"/>
              </a:rPr>
              <a:t>s</a:t>
            </a:r>
            <a:r>
              <a:rPr sz="1059" spc="-281" dirty="0">
                <a:solidFill>
                  <a:srgbClr val="3F3F3F"/>
                </a:solidFill>
                <a:latin typeface="Consolas"/>
                <a:cs typeface="Consolas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cliente</a:t>
            </a:r>
            <a:r>
              <a:rPr sz="1059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Consolas"/>
                <a:cs typeface="Consolas"/>
              </a:rPr>
              <a:t>s</a:t>
            </a:r>
            <a:r>
              <a:rPr sz="1059" spc="-291" dirty="0">
                <a:solidFill>
                  <a:srgbClr val="3F3F3F"/>
                </a:solidFill>
                <a:latin typeface="Consolas"/>
                <a:cs typeface="Consolas"/>
              </a:rPr>
              <a:t> 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desenvolvedor</a:t>
            </a:r>
            <a:endParaRPr sz="1059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28794" y="1074083"/>
            <a:ext cx="1501028" cy="3623982"/>
            <a:chOff x="2848355" y="1623059"/>
            <a:chExt cx="2268220" cy="5476240"/>
          </a:xfrm>
        </p:grpSpPr>
        <p:sp>
          <p:nvSpPr>
            <p:cNvPr id="14" name="object 14"/>
            <p:cNvSpPr/>
            <p:nvPr/>
          </p:nvSpPr>
          <p:spPr>
            <a:xfrm>
              <a:off x="5096255" y="1623059"/>
              <a:ext cx="20320" cy="5476240"/>
            </a:xfrm>
            <a:custGeom>
              <a:avLst/>
              <a:gdLst/>
              <a:ahLst/>
              <a:cxnLst/>
              <a:rect l="l" t="t" r="r" b="b"/>
              <a:pathLst>
                <a:path w="20320" h="5476240">
                  <a:moveTo>
                    <a:pt x="19812" y="5475732"/>
                  </a:moveTo>
                  <a:lnTo>
                    <a:pt x="0" y="5475732"/>
                  </a:lnTo>
                  <a:lnTo>
                    <a:pt x="0" y="0"/>
                  </a:lnTo>
                  <a:lnTo>
                    <a:pt x="19812" y="0"/>
                  </a:lnTo>
                  <a:lnTo>
                    <a:pt x="19812" y="5475732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48355" y="3048761"/>
              <a:ext cx="2257425" cy="0"/>
            </a:xfrm>
            <a:custGeom>
              <a:avLst/>
              <a:gdLst/>
              <a:ahLst/>
              <a:cxnLst/>
              <a:rect l="l" t="t" r="r" b="b"/>
              <a:pathLst>
                <a:path w="2257425">
                  <a:moveTo>
                    <a:pt x="0" y="0"/>
                  </a:moveTo>
                  <a:lnTo>
                    <a:pt x="2257044" y="0"/>
                  </a:lnTo>
                </a:path>
              </a:pathLst>
            </a:custGeom>
            <a:ln w="28956">
              <a:solidFill>
                <a:srgbClr val="A5A5A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Imagem 17">
            <a:extLst>
              <a:ext uri="{FF2B5EF4-FFF2-40B4-BE49-F238E27FC236}">
                <a16:creationId xmlns:a16="http://schemas.microsoft.com/office/drawing/2014/main" id="{ADF6DA69-7103-02E2-9B4A-28BAC1B8C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120028"/>
            <a:ext cx="5694272" cy="369792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0262"/>
            <a:ext cx="1662813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1.</a:t>
            </a:r>
            <a:r>
              <a:rPr sz="1655" spc="-20" dirty="0"/>
              <a:t> </a:t>
            </a:r>
            <a:r>
              <a:rPr sz="1655" dirty="0"/>
              <a:t>plano</a:t>
            </a:r>
            <a:r>
              <a:rPr sz="1655" spc="-7" dirty="0"/>
              <a:t> </a:t>
            </a:r>
            <a:r>
              <a:rPr sz="1655" dirty="0"/>
              <a:t>de</a:t>
            </a:r>
            <a:r>
              <a:rPr sz="1655" spc="-30" dirty="0"/>
              <a:t> </a:t>
            </a:r>
            <a:r>
              <a:rPr sz="1655" spc="-13" dirty="0"/>
              <a:t>teste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8" y="673386"/>
            <a:ext cx="4865734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2.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recrutamento;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3.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preparação;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6.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BFBFBF"/>
                </a:solidFill>
                <a:latin typeface="Arial"/>
                <a:cs typeface="Arial"/>
              </a:rPr>
              <a:t>relato</a:t>
            </a:r>
            <a:endParaRPr sz="119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0763" y="1076771"/>
            <a:ext cx="2101103" cy="130948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objetivos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(gerais)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 marR="3362">
              <a:spcBef>
                <a:spcPts val="993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perguntas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avaliação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visa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responder</a:t>
            </a:r>
            <a:endParaRPr sz="1191">
              <a:latin typeface="Arial MT"/>
              <a:cs typeface="Arial MT"/>
            </a:endParaRPr>
          </a:p>
          <a:p>
            <a:pPr marL="8405">
              <a:spcBef>
                <a:spcPts val="993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perfil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usuário</a:t>
            </a:r>
            <a:endParaRPr sz="1191">
              <a:latin typeface="Arial MT"/>
              <a:cs typeface="Arial MT"/>
            </a:endParaRPr>
          </a:p>
          <a:p>
            <a:pPr marL="8405">
              <a:spcBef>
                <a:spcPts val="993"/>
              </a:spcBef>
            </a:pP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procedimento</a:t>
            </a:r>
            <a:r>
              <a:rPr sz="1191" b="1" spc="-40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de</a:t>
            </a:r>
            <a:r>
              <a:rPr sz="1191" b="1" spc="-43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spc="-13" dirty="0">
                <a:solidFill>
                  <a:srgbClr val="FF6D0A"/>
                </a:solidFill>
                <a:latin typeface="Arial"/>
                <a:cs typeface="Arial"/>
              </a:rPr>
              <a:t>teste</a:t>
            </a:r>
            <a:endParaRPr sz="1191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0763" y="2491762"/>
            <a:ext cx="2219185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ambiente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/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equipamento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0763" y="2817515"/>
            <a:ext cx="188847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tarefas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serem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observadas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0763" y="3143267"/>
            <a:ext cx="183090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serão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coletados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0763" y="3469019"/>
            <a:ext cx="240282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análise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dos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0763" y="3776644"/>
            <a:ext cx="1933015" cy="39602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 marR="3362">
              <a:lnSpc>
                <a:spcPct val="110000"/>
              </a:lnSpc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conteúdo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apresentação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do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relatório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54163" y="1090881"/>
            <a:ext cx="2430976" cy="3471806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 marR="593803">
              <a:spcBef>
                <a:spcPts val="66"/>
              </a:spcBef>
            </a:pPr>
            <a:r>
              <a:rPr sz="1191" b="1" dirty="0">
                <a:solidFill>
                  <a:schemeClr val="bg1"/>
                </a:solidFill>
                <a:latin typeface="Arial"/>
                <a:cs typeface="Arial"/>
              </a:rPr>
              <a:t>recepção</a:t>
            </a:r>
            <a:r>
              <a:rPr sz="1191" b="1" spc="-2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191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participante</a:t>
            </a:r>
            <a:r>
              <a:rPr sz="1191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33" dirty="0">
                <a:solidFill>
                  <a:schemeClr val="bg1"/>
                </a:solidFill>
                <a:latin typeface="Arial MT"/>
                <a:cs typeface="Arial MT"/>
              </a:rPr>
              <a:t>e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explicações sobre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191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teste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31974">
              <a:spcBef>
                <a:spcPts val="202"/>
              </a:spcBef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questionário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pré-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teste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31974"/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(para</a:t>
            </a:r>
            <a:r>
              <a:rPr sz="1059" spc="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obter</a:t>
            </a:r>
            <a:r>
              <a:rPr sz="1059" spc="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perfil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participante)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31974" marR="353424">
              <a:spcBef>
                <a:spcPts val="199"/>
              </a:spcBef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termo de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consentimento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livre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33" dirty="0">
                <a:solidFill>
                  <a:schemeClr val="bg1"/>
                </a:solidFill>
                <a:latin typeface="Arial MT"/>
                <a:cs typeface="Arial MT"/>
              </a:rPr>
              <a:t>e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esclarecido</a:t>
            </a:r>
            <a:r>
              <a:rPr sz="1059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(TCLE)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>
              <a:spcBef>
                <a:spcPts val="195"/>
              </a:spcBef>
            </a:pPr>
            <a:r>
              <a:rPr sz="1191" b="1" spc="-7" dirty="0">
                <a:solidFill>
                  <a:schemeClr val="bg1"/>
                </a:solidFill>
                <a:latin typeface="Arial"/>
                <a:cs typeface="Arial"/>
              </a:rPr>
              <a:t>orientação</a:t>
            </a:r>
            <a:endParaRPr sz="1191" dirty="0">
              <a:solidFill>
                <a:schemeClr val="bg1"/>
              </a:solidFill>
              <a:latin typeface="Arial"/>
              <a:cs typeface="Arial"/>
            </a:endParaRPr>
          </a:p>
          <a:p>
            <a:pPr marL="231974" marR="196674">
              <a:spcBef>
                <a:spcPts val="202"/>
              </a:spcBef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script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introdução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orientação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para o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teste;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objetivo;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garantia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de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anonimato;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forma de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observação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(registro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áudio/vídeo)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 marR="804345">
              <a:spcBef>
                <a:spcPts val="195"/>
              </a:spcBef>
            </a:pPr>
            <a:r>
              <a:rPr sz="1191" b="1" dirty="0">
                <a:solidFill>
                  <a:schemeClr val="bg1"/>
                </a:solidFill>
                <a:latin typeface="Arial"/>
                <a:cs typeface="Arial"/>
              </a:rPr>
              <a:t>teste</a:t>
            </a:r>
            <a:r>
              <a:rPr sz="1191" b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(de</a:t>
            </a:r>
            <a:r>
              <a:rPr sz="1191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desempenho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33" dirty="0">
                <a:solidFill>
                  <a:schemeClr val="bg1"/>
                </a:solidFill>
                <a:latin typeface="Arial MT"/>
                <a:cs typeface="Arial MT"/>
              </a:rPr>
              <a:t>/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preferências)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31974" marR="1050608">
              <a:lnSpc>
                <a:spcPct val="115599"/>
              </a:lnSpc>
              <a:spcBef>
                <a:spcPts val="3"/>
              </a:spcBef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cenários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tarefas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que será</a:t>
            </a:r>
            <a:r>
              <a:rPr sz="1059" spc="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medido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>
              <a:spcBef>
                <a:spcPts val="195"/>
              </a:spcBef>
            </a:pPr>
            <a:r>
              <a:rPr sz="1191" b="1" i="1" dirty="0">
                <a:solidFill>
                  <a:schemeClr val="bg1"/>
                </a:solidFill>
                <a:latin typeface="Arial"/>
                <a:cs typeface="Arial"/>
              </a:rPr>
              <a:t>debriefing</a:t>
            </a:r>
            <a:r>
              <a:rPr sz="1191" b="1" i="1" spc="-3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participante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31974" marR="3362">
              <a:lnSpc>
                <a:spcPct val="107800"/>
              </a:lnSpc>
              <a:spcBef>
                <a:spcPts val="103"/>
              </a:spcBef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questionário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entrevista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pós-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teste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comentários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gerais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sobre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produto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33" dirty="0">
                <a:solidFill>
                  <a:schemeClr val="bg1"/>
                </a:solidFill>
                <a:latin typeface="Arial MT"/>
                <a:cs typeface="Arial MT"/>
              </a:rPr>
              <a:t>/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preferências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21112" y="1074083"/>
            <a:ext cx="1108542" cy="3313019"/>
            <a:chOff x="3441191" y="1623059"/>
            <a:chExt cx="1675130" cy="5006340"/>
          </a:xfrm>
        </p:grpSpPr>
        <p:sp>
          <p:nvSpPr>
            <p:cNvPr id="12" name="object 12"/>
            <p:cNvSpPr/>
            <p:nvPr/>
          </p:nvSpPr>
          <p:spPr>
            <a:xfrm>
              <a:off x="5096255" y="1623059"/>
              <a:ext cx="20320" cy="5006340"/>
            </a:xfrm>
            <a:custGeom>
              <a:avLst/>
              <a:gdLst/>
              <a:ahLst/>
              <a:cxnLst/>
              <a:rect l="l" t="t" r="r" b="b"/>
              <a:pathLst>
                <a:path w="20320" h="5006340">
                  <a:moveTo>
                    <a:pt x="19812" y="5006340"/>
                  </a:moveTo>
                  <a:lnTo>
                    <a:pt x="0" y="5006340"/>
                  </a:lnTo>
                  <a:lnTo>
                    <a:pt x="0" y="0"/>
                  </a:lnTo>
                  <a:lnTo>
                    <a:pt x="19812" y="0"/>
                  </a:lnTo>
                  <a:lnTo>
                    <a:pt x="19812" y="500634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77767" y="3505962"/>
              <a:ext cx="1628139" cy="0"/>
            </a:xfrm>
            <a:custGeom>
              <a:avLst/>
              <a:gdLst/>
              <a:ahLst/>
              <a:cxnLst/>
              <a:rect l="l" t="t" r="r" b="b"/>
              <a:pathLst>
                <a:path w="1628139">
                  <a:moveTo>
                    <a:pt x="0" y="0"/>
                  </a:moveTo>
                  <a:lnTo>
                    <a:pt x="1627632" y="0"/>
                  </a:lnTo>
                </a:path>
              </a:pathLst>
            </a:custGeom>
            <a:ln w="28956">
              <a:solidFill>
                <a:srgbClr val="A5A5A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41191" y="3491484"/>
              <a:ext cx="7620" cy="29209"/>
            </a:xfrm>
            <a:custGeom>
              <a:avLst/>
              <a:gdLst/>
              <a:ahLst/>
              <a:cxnLst/>
              <a:rect l="l" t="t" r="r" b="b"/>
              <a:pathLst>
                <a:path w="7620" h="29210">
                  <a:moveTo>
                    <a:pt x="7620" y="28956"/>
                  </a:moveTo>
                  <a:lnTo>
                    <a:pt x="0" y="28956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28956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0262"/>
            <a:ext cx="1662813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1.</a:t>
            </a:r>
            <a:r>
              <a:rPr sz="1655" spc="-20" dirty="0"/>
              <a:t> </a:t>
            </a:r>
            <a:r>
              <a:rPr sz="1655" dirty="0"/>
              <a:t>plano</a:t>
            </a:r>
            <a:r>
              <a:rPr sz="1655" spc="-7" dirty="0"/>
              <a:t> </a:t>
            </a:r>
            <a:r>
              <a:rPr sz="1655" dirty="0"/>
              <a:t>de</a:t>
            </a:r>
            <a:r>
              <a:rPr sz="1655" spc="-30" dirty="0"/>
              <a:t> </a:t>
            </a:r>
            <a:r>
              <a:rPr sz="1655" spc="-13" dirty="0"/>
              <a:t>teste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8" y="673386"/>
            <a:ext cx="4865734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2.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recrutamento;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3.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preparação;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6.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BFBFBF"/>
                </a:solidFill>
                <a:latin typeface="Arial"/>
                <a:cs typeface="Arial"/>
              </a:rPr>
              <a:t>relato</a:t>
            </a:r>
            <a:endParaRPr sz="119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0764" y="1076771"/>
            <a:ext cx="2361219" cy="161738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objetivos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(gerais)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 marR="263492">
              <a:spcBef>
                <a:spcPts val="993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perguntas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avaliação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visa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responder</a:t>
            </a:r>
            <a:endParaRPr sz="1191">
              <a:latin typeface="Arial MT"/>
              <a:cs typeface="Arial MT"/>
            </a:endParaRPr>
          </a:p>
          <a:p>
            <a:pPr marL="8405" marR="851833">
              <a:lnSpc>
                <a:spcPct val="169400"/>
              </a:lnSpc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perfil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usuário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>
              <a:spcBef>
                <a:spcPts val="1016"/>
              </a:spcBef>
            </a:pP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ambiente</a:t>
            </a:r>
            <a:r>
              <a:rPr sz="1191" b="1" spc="-30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/</a:t>
            </a:r>
            <a:r>
              <a:rPr sz="1191" b="1" spc="-36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equipamento</a:t>
            </a:r>
            <a:r>
              <a:rPr sz="1191" b="1" spc="-30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de</a:t>
            </a:r>
            <a:r>
              <a:rPr sz="1191" b="1" spc="-20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FF6D0A"/>
                </a:solidFill>
                <a:latin typeface="Arial"/>
                <a:cs typeface="Arial"/>
              </a:rPr>
              <a:t>teste</a:t>
            </a:r>
            <a:endParaRPr sz="1191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0763" y="2817515"/>
            <a:ext cx="188847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tarefas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serem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observadas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0763" y="3143267"/>
            <a:ext cx="183090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serão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coletados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0763" y="3469019"/>
            <a:ext cx="2402821" cy="7075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análise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dos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endParaRPr sz="1191">
              <a:latin typeface="Arial MT"/>
              <a:cs typeface="Arial MT"/>
            </a:endParaRPr>
          </a:p>
          <a:p>
            <a:pPr marL="8405" marR="472773">
              <a:lnSpc>
                <a:spcPct val="110000"/>
              </a:lnSpc>
              <a:spcBef>
                <a:spcPts val="993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conteúdo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apresentação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do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relatório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4188" y="1061169"/>
            <a:ext cx="2414167" cy="2402002"/>
          </a:xfrm>
          <a:prstGeom prst="rect">
            <a:avLst/>
          </a:prstGeom>
        </p:spPr>
        <p:txBody>
          <a:bodyPr vert="horz" wrap="square" lIns="0" tIns="37400" rIns="0" bIns="0" rtlCol="0">
            <a:spAutoFit/>
          </a:bodyPr>
          <a:lstStyle/>
          <a:p>
            <a:pPr marL="8405">
              <a:spcBef>
                <a:spcPts val="295"/>
              </a:spcBef>
            </a:pP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hardware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31974" marR="169357">
              <a:lnSpc>
                <a:spcPct val="113900"/>
              </a:lnSpc>
              <a:spcBef>
                <a:spcPts val="3"/>
              </a:spcBef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PC;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tablet;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smartphone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webcam;</a:t>
            </a:r>
            <a:r>
              <a:rPr sz="1191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filmadora</a:t>
            </a:r>
            <a:r>
              <a:rPr sz="1191" spc="331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microfone;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gravador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91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áudio; eyetracker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405">
              <a:spcBef>
                <a:spcPts val="195"/>
              </a:spcBef>
            </a:pP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software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31974">
              <a:spcBef>
                <a:spcPts val="202"/>
              </a:spcBef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objeto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teste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437893" marR="3362">
              <a:spcBef>
                <a:spcPts val="205"/>
              </a:spcBef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sem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nenhum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dado</a:t>
            </a:r>
            <a:r>
              <a:rPr sz="1059" spc="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teste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anterior que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possa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comprometer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atual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(</a:t>
            </a:r>
            <a:r>
              <a:rPr sz="1059" i="1" dirty="0">
                <a:solidFill>
                  <a:schemeClr val="bg1"/>
                </a:solidFill>
                <a:latin typeface="Arial"/>
                <a:cs typeface="Arial"/>
              </a:rPr>
              <a:t>e.g.,</a:t>
            </a:r>
            <a:r>
              <a:rPr sz="1059" i="1" spc="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após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limpar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“cache”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restaurar</a:t>
            </a:r>
            <a:r>
              <a:rPr sz="1059" spc="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base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dados)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31974">
              <a:spcBef>
                <a:spcPts val="192"/>
              </a:spcBef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para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captura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tela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61528" y="1074083"/>
            <a:ext cx="468126" cy="2556622"/>
            <a:chOff x="4408932" y="1623059"/>
            <a:chExt cx="707390" cy="3863340"/>
          </a:xfrm>
        </p:grpSpPr>
        <p:sp>
          <p:nvSpPr>
            <p:cNvPr id="10" name="object 10"/>
            <p:cNvSpPr/>
            <p:nvPr/>
          </p:nvSpPr>
          <p:spPr>
            <a:xfrm>
              <a:off x="5096255" y="1623059"/>
              <a:ext cx="20320" cy="3863340"/>
            </a:xfrm>
            <a:custGeom>
              <a:avLst/>
              <a:gdLst/>
              <a:ahLst/>
              <a:cxnLst/>
              <a:rect l="l" t="t" r="r" b="b"/>
              <a:pathLst>
                <a:path w="20320" h="3863340">
                  <a:moveTo>
                    <a:pt x="19812" y="3863340"/>
                  </a:moveTo>
                  <a:lnTo>
                    <a:pt x="0" y="3863340"/>
                  </a:lnTo>
                  <a:lnTo>
                    <a:pt x="0" y="0"/>
                  </a:lnTo>
                  <a:lnTo>
                    <a:pt x="19812" y="0"/>
                  </a:lnTo>
                  <a:lnTo>
                    <a:pt x="19812" y="386334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48556" y="3984497"/>
              <a:ext cx="657225" cy="0"/>
            </a:xfrm>
            <a:custGeom>
              <a:avLst/>
              <a:gdLst/>
              <a:ahLst/>
              <a:cxnLst/>
              <a:rect l="l" t="t" r="r" b="b"/>
              <a:pathLst>
                <a:path w="657225">
                  <a:moveTo>
                    <a:pt x="0" y="0"/>
                  </a:moveTo>
                  <a:lnTo>
                    <a:pt x="656844" y="0"/>
                  </a:lnTo>
                </a:path>
              </a:pathLst>
            </a:custGeom>
            <a:ln w="28956">
              <a:solidFill>
                <a:srgbClr val="A5A5A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08932" y="3970019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5" h="29210">
                  <a:moveTo>
                    <a:pt x="10668" y="28956"/>
                  </a:moveTo>
                  <a:lnTo>
                    <a:pt x="0" y="28956"/>
                  </a:lnTo>
                  <a:lnTo>
                    <a:pt x="0" y="0"/>
                  </a:lnTo>
                  <a:lnTo>
                    <a:pt x="10668" y="0"/>
                  </a:lnTo>
                  <a:lnTo>
                    <a:pt x="10668" y="28956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0770" y="420262"/>
            <a:ext cx="5481357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Exemplo</a:t>
            </a:r>
            <a:r>
              <a:rPr sz="1655" spc="-43" dirty="0"/>
              <a:t> </a:t>
            </a:r>
            <a:r>
              <a:rPr sz="1655" dirty="0"/>
              <a:t>de</a:t>
            </a:r>
            <a:r>
              <a:rPr sz="1655" spc="-36" dirty="0"/>
              <a:t> </a:t>
            </a:r>
            <a:r>
              <a:rPr sz="1655" dirty="0"/>
              <a:t>dados</a:t>
            </a:r>
            <a:r>
              <a:rPr sz="1655" spc="-36" dirty="0"/>
              <a:t> </a:t>
            </a:r>
            <a:r>
              <a:rPr sz="1655" dirty="0"/>
              <a:t>coletados</a:t>
            </a:r>
            <a:r>
              <a:rPr sz="1655" spc="-36" dirty="0"/>
              <a:t> </a:t>
            </a:r>
            <a:r>
              <a:rPr sz="1655" dirty="0"/>
              <a:t>com</a:t>
            </a:r>
            <a:r>
              <a:rPr sz="1655" spc="-40" dirty="0"/>
              <a:t> </a:t>
            </a:r>
            <a:r>
              <a:rPr sz="1655" dirty="0"/>
              <a:t>rastreamento</a:t>
            </a:r>
            <a:r>
              <a:rPr sz="1655" spc="-43" dirty="0"/>
              <a:t> </a:t>
            </a:r>
            <a:r>
              <a:rPr sz="1655" spc="-7" dirty="0"/>
              <a:t>ocular</a:t>
            </a:r>
            <a:endParaRPr sz="1655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0676" y="857250"/>
            <a:ext cx="4664449" cy="26544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794509" y="3544981"/>
            <a:ext cx="5556157" cy="639575"/>
            <a:chOff x="832103" y="5356859"/>
            <a:chExt cx="8395970" cy="96646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2103" y="5356859"/>
              <a:ext cx="8395716" cy="9662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2103" y="5356859"/>
              <a:ext cx="8395970" cy="966469"/>
            </a:xfrm>
            <a:custGeom>
              <a:avLst/>
              <a:gdLst/>
              <a:ahLst/>
              <a:cxnLst/>
              <a:rect l="l" t="t" r="r" b="b"/>
              <a:pathLst>
                <a:path w="8395970" h="966470">
                  <a:moveTo>
                    <a:pt x="8392668" y="966216"/>
                  </a:moveTo>
                  <a:lnTo>
                    <a:pt x="3048" y="966216"/>
                  </a:lnTo>
                  <a:lnTo>
                    <a:pt x="0" y="963168"/>
                  </a:lnTo>
                  <a:lnTo>
                    <a:pt x="0" y="1524"/>
                  </a:lnTo>
                  <a:lnTo>
                    <a:pt x="3048" y="0"/>
                  </a:lnTo>
                  <a:lnTo>
                    <a:pt x="8392668" y="0"/>
                  </a:lnTo>
                  <a:lnTo>
                    <a:pt x="8395716" y="1524"/>
                  </a:lnTo>
                  <a:lnTo>
                    <a:pt x="8395716" y="6096"/>
                  </a:lnTo>
                  <a:lnTo>
                    <a:pt x="13716" y="6096"/>
                  </a:lnTo>
                  <a:lnTo>
                    <a:pt x="6096" y="12192"/>
                  </a:lnTo>
                  <a:lnTo>
                    <a:pt x="13716" y="12192"/>
                  </a:lnTo>
                  <a:lnTo>
                    <a:pt x="13716" y="954023"/>
                  </a:lnTo>
                  <a:lnTo>
                    <a:pt x="6096" y="954023"/>
                  </a:lnTo>
                  <a:lnTo>
                    <a:pt x="13716" y="960120"/>
                  </a:lnTo>
                  <a:lnTo>
                    <a:pt x="8395716" y="960120"/>
                  </a:lnTo>
                  <a:lnTo>
                    <a:pt x="8395716" y="963168"/>
                  </a:lnTo>
                  <a:lnTo>
                    <a:pt x="8392668" y="966216"/>
                  </a:lnTo>
                  <a:close/>
                </a:path>
                <a:path w="8395970" h="966470">
                  <a:moveTo>
                    <a:pt x="13716" y="12192"/>
                  </a:moveTo>
                  <a:lnTo>
                    <a:pt x="6096" y="12192"/>
                  </a:lnTo>
                  <a:lnTo>
                    <a:pt x="13716" y="6096"/>
                  </a:lnTo>
                  <a:lnTo>
                    <a:pt x="13716" y="12192"/>
                  </a:lnTo>
                  <a:close/>
                </a:path>
                <a:path w="8395970" h="966470">
                  <a:moveTo>
                    <a:pt x="8382000" y="12192"/>
                  </a:moveTo>
                  <a:lnTo>
                    <a:pt x="13716" y="12192"/>
                  </a:lnTo>
                  <a:lnTo>
                    <a:pt x="13716" y="6096"/>
                  </a:lnTo>
                  <a:lnTo>
                    <a:pt x="8382000" y="6096"/>
                  </a:lnTo>
                  <a:lnTo>
                    <a:pt x="8382000" y="12192"/>
                  </a:lnTo>
                  <a:close/>
                </a:path>
                <a:path w="8395970" h="966470">
                  <a:moveTo>
                    <a:pt x="8382000" y="960120"/>
                  </a:moveTo>
                  <a:lnTo>
                    <a:pt x="8382000" y="6096"/>
                  </a:lnTo>
                  <a:lnTo>
                    <a:pt x="8388096" y="12192"/>
                  </a:lnTo>
                  <a:lnTo>
                    <a:pt x="8395716" y="12192"/>
                  </a:lnTo>
                  <a:lnTo>
                    <a:pt x="8395716" y="954023"/>
                  </a:lnTo>
                  <a:lnTo>
                    <a:pt x="8388096" y="954023"/>
                  </a:lnTo>
                  <a:lnTo>
                    <a:pt x="8382000" y="960120"/>
                  </a:lnTo>
                  <a:close/>
                </a:path>
                <a:path w="8395970" h="966470">
                  <a:moveTo>
                    <a:pt x="8395716" y="12192"/>
                  </a:moveTo>
                  <a:lnTo>
                    <a:pt x="8388096" y="12192"/>
                  </a:lnTo>
                  <a:lnTo>
                    <a:pt x="8382000" y="6096"/>
                  </a:lnTo>
                  <a:lnTo>
                    <a:pt x="8395716" y="6096"/>
                  </a:lnTo>
                  <a:lnTo>
                    <a:pt x="8395716" y="12192"/>
                  </a:lnTo>
                  <a:close/>
                </a:path>
                <a:path w="8395970" h="966470">
                  <a:moveTo>
                    <a:pt x="13716" y="960120"/>
                  </a:moveTo>
                  <a:lnTo>
                    <a:pt x="6096" y="954023"/>
                  </a:lnTo>
                  <a:lnTo>
                    <a:pt x="13716" y="954023"/>
                  </a:lnTo>
                  <a:lnTo>
                    <a:pt x="13716" y="960120"/>
                  </a:lnTo>
                  <a:close/>
                </a:path>
                <a:path w="8395970" h="966470">
                  <a:moveTo>
                    <a:pt x="8382000" y="960120"/>
                  </a:moveTo>
                  <a:lnTo>
                    <a:pt x="13716" y="960120"/>
                  </a:lnTo>
                  <a:lnTo>
                    <a:pt x="13716" y="954023"/>
                  </a:lnTo>
                  <a:lnTo>
                    <a:pt x="8382000" y="954023"/>
                  </a:lnTo>
                  <a:lnTo>
                    <a:pt x="8382000" y="960120"/>
                  </a:lnTo>
                  <a:close/>
                </a:path>
                <a:path w="8395970" h="966470">
                  <a:moveTo>
                    <a:pt x="8395716" y="960120"/>
                  </a:moveTo>
                  <a:lnTo>
                    <a:pt x="8382000" y="960120"/>
                  </a:lnTo>
                  <a:lnTo>
                    <a:pt x="8388096" y="954023"/>
                  </a:lnTo>
                  <a:lnTo>
                    <a:pt x="8395716" y="954023"/>
                  </a:lnTo>
                  <a:lnTo>
                    <a:pt x="8395716" y="960120"/>
                  </a:lnTo>
                  <a:close/>
                </a:path>
              </a:pathLst>
            </a:custGeom>
            <a:solidFill>
              <a:srgbClr val="BCA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51654" y="3568889"/>
            <a:ext cx="5418324" cy="579580"/>
          </a:xfrm>
          <a:prstGeom prst="rect">
            <a:avLst/>
          </a:prstGeom>
        </p:spPr>
        <p:txBody>
          <a:bodyPr vert="horz" wrap="square" lIns="0" tIns="8825" rIns="0" bIns="0" rtlCol="0">
            <a:spAutoFit/>
          </a:bodyPr>
          <a:lstStyle/>
          <a:p>
            <a:pPr marL="8405" marR="3362">
              <a:spcBef>
                <a:spcPts val="69"/>
              </a:spcBef>
            </a:pPr>
            <a:r>
              <a:rPr sz="927" dirty="0">
                <a:latin typeface="Arial MT"/>
                <a:cs typeface="Arial MT"/>
              </a:rPr>
              <a:t>Mapas</a:t>
            </a:r>
            <a:r>
              <a:rPr sz="927" spc="-20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de</a:t>
            </a:r>
            <a:r>
              <a:rPr sz="927" spc="-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estudos</a:t>
            </a:r>
            <a:r>
              <a:rPr sz="927" spc="-36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de</a:t>
            </a:r>
            <a:r>
              <a:rPr sz="927" spc="-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eyetracking:</a:t>
            </a:r>
            <a:r>
              <a:rPr sz="927" spc="-3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as</a:t>
            </a:r>
            <a:r>
              <a:rPr sz="927" spc="-17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áreas</a:t>
            </a:r>
            <a:r>
              <a:rPr sz="927" spc="-7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onde</a:t>
            </a:r>
            <a:r>
              <a:rPr sz="927" spc="-1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os</a:t>
            </a:r>
            <a:r>
              <a:rPr sz="927" spc="-7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usuários</a:t>
            </a:r>
            <a:r>
              <a:rPr sz="927" spc="-26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mais</a:t>
            </a:r>
            <a:r>
              <a:rPr sz="927" spc="-7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olhavam</a:t>
            </a:r>
            <a:r>
              <a:rPr sz="927" spc="-10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estão</a:t>
            </a:r>
            <a:r>
              <a:rPr sz="927" spc="-2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em</a:t>
            </a:r>
            <a:r>
              <a:rPr sz="927" spc="-20" dirty="0">
                <a:latin typeface="Arial MT"/>
                <a:cs typeface="Arial MT"/>
              </a:rPr>
              <a:t> </a:t>
            </a:r>
            <a:r>
              <a:rPr sz="927" spc="-7" dirty="0">
                <a:latin typeface="Arial MT"/>
                <a:cs typeface="Arial MT"/>
              </a:rPr>
              <a:t>vermelho;</a:t>
            </a:r>
            <a:r>
              <a:rPr sz="927" spc="-63" dirty="0">
                <a:latin typeface="Arial MT"/>
                <a:cs typeface="Arial MT"/>
              </a:rPr>
              <a:t> </a:t>
            </a:r>
            <a:r>
              <a:rPr sz="927" spc="-17" dirty="0">
                <a:latin typeface="Arial MT"/>
                <a:cs typeface="Arial MT"/>
              </a:rPr>
              <a:t>As </a:t>
            </a:r>
            <a:r>
              <a:rPr sz="927" dirty="0">
                <a:latin typeface="Arial MT"/>
                <a:cs typeface="Arial MT"/>
              </a:rPr>
              <a:t>áreas</a:t>
            </a:r>
            <a:r>
              <a:rPr sz="927" spc="-2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amarelas</a:t>
            </a:r>
            <a:r>
              <a:rPr sz="927" spc="-30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indicam</a:t>
            </a:r>
            <a:r>
              <a:rPr sz="927" spc="-1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menos</a:t>
            </a:r>
            <a:r>
              <a:rPr sz="927" spc="-10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visões,</a:t>
            </a:r>
            <a:r>
              <a:rPr sz="927" spc="-10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seguidas</a:t>
            </a:r>
            <a:r>
              <a:rPr sz="927" spc="-30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pelas</a:t>
            </a:r>
            <a:r>
              <a:rPr sz="927" spc="-20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áreas</a:t>
            </a:r>
            <a:r>
              <a:rPr sz="927" spc="-20" dirty="0">
                <a:latin typeface="Arial MT"/>
                <a:cs typeface="Arial MT"/>
              </a:rPr>
              <a:t> </a:t>
            </a:r>
            <a:r>
              <a:rPr sz="927" spc="-7" dirty="0">
                <a:latin typeface="Arial MT"/>
                <a:cs typeface="Arial MT"/>
              </a:rPr>
              <a:t>azuis.</a:t>
            </a:r>
            <a:r>
              <a:rPr sz="927" spc="-7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As</a:t>
            </a:r>
            <a:r>
              <a:rPr sz="927" spc="-10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áreas</a:t>
            </a:r>
            <a:r>
              <a:rPr sz="927" spc="-20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cinzentas</a:t>
            </a:r>
            <a:r>
              <a:rPr sz="927" spc="-30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não</a:t>
            </a:r>
            <a:r>
              <a:rPr sz="927" spc="-17" dirty="0">
                <a:latin typeface="Arial MT"/>
                <a:cs typeface="Arial MT"/>
              </a:rPr>
              <a:t> </a:t>
            </a:r>
            <a:r>
              <a:rPr sz="927" spc="-7" dirty="0">
                <a:latin typeface="Arial MT"/>
                <a:cs typeface="Arial MT"/>
              </a:rPr>
              <a:t>atraíram </a:t>
            </a:r>
            <a:r>
              <a:rPr sz="927" dirty="0">
                <a:latin typeface="Arial MT"/>
                <a:cs typeface="Arial MT"/>
              </a:rPr>
              <a:t>nenhuma</a:t>
            </a:r>
            <a:r>
              <a:rPr sz="927" spc="-3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fixação.</a:t>
            </a:r>
            <a:r>
              <a:rPr sz="927" spc="-2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Caixas</a:t>
            </a:r>
            <a:r>
              <a:rPr sz="927" spc="-7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verdes</a:t>
            </a:r>
            <a:r>
              <a:rPr sz="927" spc="-17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foram</a:t>
            </a:r>
            <a:r>
              <a:rPr sz="927" spc="-36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desenhadas</a:t>
            </a:r>
            <a:r>
              <a:rPr sz="927" spc="-2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em</a:t>
            </a:r>
            <a:r>
              <a:rPr sz="927" spc="-26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cima</a:t>
            </a:r>
            <a:r>
              <a:rPr sz="927" spc="-20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das</a:t>
            </a:r>
            <a:r>
              <a:rPr sz="927" spc="-17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imagens</a:t>
            </a:r>
            <a:r>
              <a:rPr sz="927" spc="-1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após</a:t>
            </a:r>
            <a:r>
              <a:rPr sz="927" spc="-1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o</a:t>
            </a:r>
            <a:r>
              <a:rPr sz="927" spc="-23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estudo</a:t>
            </a:r>
            <a:r>
              <a:rPr sz="927" spc="-20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para</a:t>
            </a:r>
            <a:r>
              <a:rPr sz="927" spc="-30" dirty="0">
                <a:latin typeface="Arial MT"/>
                <a:cs typeface="Arial MT"/>
              </a:rPr>
              <a:t> </a:t>
            </a:r>
            <a:r>
              <a:rPr sz="927" spc="-7" dirty="0">
                <a:latin typeface="Arial MT"/>
                <a:cs typeface="Arial MT"/>
              </a:rPr>
              <a:t>destacar </a:t>
            </a:r>
            <a:r>
              <a:rPr sz="927" dirty="0">
                <a:latin typeface="Arial MT"/>
                <a:cs typeface="Arial MT"/>
              </a:rPr>
              <a:t>os</a:t>
            </a:r>
            <a:r>
              <a:rPr sz="927" spc="-13" dirty="0">
                <a:latin typeface="Arial MT"/>
                <a:cs typeface="Arial MT"/>
              </a:rPr>
              <a:t> </a:t>
            </a:r>
            <a:r>
              <a:rPr sz="927" spc="-7" dirty="0">
                <a:latin typeface="Arial MT"/>
                <a:cs typeface="Arial MT"/>
              </a:rPr>
              <a:t>anúncios.</a:t>
            </a:r>
            <a:endParaRPr sz="927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5251" y="4483607"/>
            <a:ext cx="3030631" cy="120930"/>
          </a:xfrm>
          <a:prstGeom prst="rect">
            <a:avLst/>
          </a:prstGeom>
        </p:spPr>
        <p:txBody>
          <a:bodyPr vert="horz" wrap="square" lIns="0" tIns="8825" rIns="0" bIns="0" rtlCol="0">
            <a:spAutoFit/>
          </a:bodyPr>
          <a:lstStyle/>
          <a:p>
            <a:pPr marL="8405">
              <a:spcBef>
                <a:spcPts val="69"/>
              </a:spcBef>
            </a:pPr>
            <a:r>
              <a:rPr sz="728" spc="-7" dirty="0">
                <a:latin typeface="Arial MT"/>
                <a:cs typeface="Arial MT"/>
              </a:rPr>
              <a:t>https://</a:t>
            </a:r>
            <a:r>
              <a:rPr sz="728" spc="-7" dirty="0">
                <a:latin typeface="Arial MT"/>
                <a:cs typeface="Arial MT"/>
                <a:hlinkClick r:id="rId4"/>
              </a:rPr>
              <a:t>www.nngroup.com/articles/banner-blindness-old-and-new-findings/</a:t>
            </a:r>
            <a:endParaRPr sz="728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0262"/>
            <a:ext cx="1662813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1.</a:t>
            </a:r>
            <a:r>
              <a:rPr sz="1655" spc="-20" dirty="0"/>
              <a:t> </a:t>
            </a:r>
            <a:r>
              <a:rPr sz="1655" dirty="0"/>
              <a:t>plano</a:t>
            </a:r>
            <a:r>
              <a:rPr sz="1655" spc="-7" dirty="0"/>
              <a:t> </a:t>
            </a:r>
            <a:r>
              <a:rPr sz="1655" dirty="0"/>
              <a:t>de</a:t>
            </a:r>
            <a:r>
              <a:rPr sz="1655" spc="-30" dirty="0"/>
              <a:t> </a:t>
            </a:r>
            <a:r>
              <a:rPr sz="1655" spc="-13" dirty="0"/>
              <a:t>teste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8" y="673386"/>
            <a:ext cx="4865734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2.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recrutamento;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3.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preparação;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6.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BFBFBF"/>
                </a:solidFill>
                <a:latin typeface="Arial"/>
                <a:cs typeface="Arial"/>
              </a:rPr>
              <a:t>relato</a:t>
            </a:r>
            <a:endParaRPr sz="119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0763" y="1076771"/>
            <a:ext cx="2219185" cy="161738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objetivos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(gerais)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 marR="121030">
              <a:spcBef>
                <a:spcPts val="993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perguntas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avaliação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visa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responder</a:t>
            </a:r>
            <a:endParaRPr sz="1191">
              <a:latin typeface="Arial MT"/>
              <a:cs typeface="Arial MT"/>
            </a:endParaRPr>
          </a:p>
          <a:p>
            <a:pPr marL="8405" marR="709790">
              <a:lnSpc>
                <a:spcPct val="169400"/>
              </a:lnSpc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perfil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usuário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>
              <a:spcBef>
                <a:spcPts val="101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ambiente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/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equipamento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0763" y="2817515"/>
            <a:ext cx="2005713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tarefas</a:t>
            </a:r>
            <a:r>
              <a:rPr sz="1191" b="1" spc="-17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a</a:t>
            </a:r>
            <a:r>
              <a:rPr sz="1191" b="1" spc="-17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serem</a:t>
            </a:r>
            <a:r>
              <a:rPr sz="1191" b="1" spc="-10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FF6D0A"/>
                </a:solidFill>
                <a:latin typeface="Arial"/>
                <a:cs typeface="Arial"/>
              </a:rPr>
              <a:t>observadas</a:t>
            </a:r>
            <a:endParaRPr sz="1191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0763" y="3143267"/>
            <a:ext cx="183090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serão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coletados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0763" y="3469019"/>
            <a:ext cx="240282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análise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dos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0763" y="3776644"/>
            <a:ext cx="1933015" cy="39602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 marR="3362">
              <a:lnSpc>
                <a:spcPct val="110000"/>
              </a:lnSpc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conteúdo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apresentação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do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relatório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8733" y="972076"/>
            <a:ext cx="510988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spc="-7" dirty="0">
                <a:solidFill>
                  <a:srgbClr val="3F3F3F"/>
                </a:solidFill>
                <a:latin typeface="Arial"/>
                <a:cs typeface="Arial"/>
              </a:rPr>
              <a:t>tarefas</a:t>
            </a:r>
            <a:endParaRPr sz="1191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57351" y="1129253"/>
            <a:ext cx="2493589" cy="1200311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196674" marR="304676" indent="-188689">
              <a:spcBef>
                <a:spcPts val="63"/>
              </a:spcBef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quais:</a:t>
            </a:r>
            <a:r>
              <a:rPr sz="1059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priorizadas</a:t>
            </a:r>
            <a:r>
              <a:rPr sz="1059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por</a:t>
            </a:r>
            <a:r>
              <a:rPr sz="1059" spc="-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frequência,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criticidade,</a:t>
            </a:r>
            <a:r>
              <a:rPr sz="1059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vulnerabilidade, disponibilidade</a:t>
            </a:r>
            <a:endParaRPr sz="1059" dirty="0">
              <a:latin typeface="Arial MT"/>
              <a:cs typeface="Arial MT"/>
            </a:endParaRPr>
          </a:p>
          <a:p>
            <a:pPr marL="196674" indent="-188269">
              <a:spcBef>
                <a:spcPts val="199"/>
              </a:spcBef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em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quais</a:t>
            </a:r>
            <a:r>
              <a:rPr sz="1059" spc="-1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módulos/versões</a:t>
            </a:r>
            <a:r>
              <a:rPr sz="1059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do</a:t>
            </a:r>
            <a:r>
              <a:rPr sz="1059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sistema</a:t>
            </a:r>
            <a:endParaRPr sz="1059" dirty="0">
              <a:latin typeface="Arial MT"/>
              <a:cs typeface="Arial MT"/>
            </a:endParaRPr>
          </a:p>
          <a:p>
            <a:pPr marL="196674" marR="24794" indent="-188689">
              <a:spcBef>
                <a:spcPts val="199"/>
              </a:spcBef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para</a:t>
            </a:r>
            <a:r>
              <a:rPr sz="1059" spc="-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cada</a:t>
            </a:r>
            <a:r>
              <a:rPr sz="1059" spc="-1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tarefa:</a:t>
            </a:r>
            <a:r>
              <a:rPr sz="1059" spc="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pré-requisitos,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critérios</a:t>
            </a:r>
            <a:r>
              <a:rPr sz="1059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059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sucesso,</a:t>
            </a:r>
            <a:r>
              <a:rPr sz="1059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duração</a:t>
            </a:r>
            <a:r>
              <a:rPr sz="1059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máx. </a:t>
            </a:r>
            <a:r>
              <a:rPr sz="1059" spc="-17" dirty="0">
                <a:solidFill>
                  <a:srgbClr val="3F3F3F"/>
                </a:solidFill>
                <a:latin typeface="Arial MT"/>
                <a:cs typeface="Arial MT"/>
              </a:rPr>
              <a:t>de 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execução</a:t>
            </a:r>
            <a:endParaRPr sz="1059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48733" y="2350162"/>
            <a:ext cx="682018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spc="-7" dirty="0">
                <a:solidFill>
                  <a:srgbClr val="3F3F3F"/>
                </a:solidFill>
                <a:latin typeface="Arial"/>
                <a:cs typeface="Arial"/>
              </a:rPr>
              <a:t>cuidados</a:t>
            </a:r>
            <a:endParaRPr sz="1191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57351" y="2549940"/>
            <a:ext cx="2321299" cy="104103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196674" indent="-188269">
              <a:spcBef>
                <a:spcPts val="63"/>
              </a:spcBef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divisões</a:t>
            </a:r>
            <a:r>
              <a:rPr sz="1059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equilibradas</a:t>
            </a:r>
            <a:endParaRPr sz="1059" dirty="0">
              <a:latin typeface="Arial MT"/>
              <a:cs typeface="Arial MT"/>
            </a:endParaRPr>
          </a:p>
          <a:p>
            <a:pPr marL="196674"/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(vs.</a:t>
            </a:r>
            <a:r>
              <a:rPr sz="1059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especialistas</a:t>
            </a:r>
            <a:r>
              <a:rPr sz="1059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no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mesmo</a:t>
            </a:r>
            <a:r>
              <a:rPr sz="1059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grupo)</a:t>
            </a:r>
            <a:endParaRPr sz="1059" dirty="0">
              <a:latin typeface="Arial MT"/>
              <a:cs typeface="Arial MT"/>
            </a:endParaRPr>
          </a:p>
          <a:p>
            <a:pPr marL="196674" indent="-188269">
              <a:spcBef>
                <a:spcPts val="199"/>
              </a:spcBef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independência</a:t>
            </a:r>
            <a:r>
              <a:rPr sz="1059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entre</a:t>
            </a:r>
            <a:r>
              <a:rPr sz="1059" spc="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os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 grupos</a:t>
            </a:r>
            <a:endParaRPr sz="1059" dirty="0">
              <a:latin typeface="Arial MT"/>
              <a:cs typeface="Arial MT"/>
            </a:endParaRPr>
          </a:p>
          <a:p>
            <a:pPr marL="196674" indent="-188269">
              <a:lnSpc>
                <a:spcPts val="1271"/>
              </a:lnSpc>
              <a:spcBef>
                <a:spcPts val="199"/>
              </a:spcBef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descrição</a:t>
            </a:r>
            <a:r>
              <a:rPr sz="1059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das</a:t>
            </a:r>
            <a:r>
              <a:rPr sz="1059" spc="-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tarefas</a:t>
            </a:r>
            <a:endParaRPr sz="1059" dirty="0">
              <a:latin typeface="Arial MT"/>
              <a:cs typeface="Arial MT"/>
            </a:endParaRPr>
          </a:p>
          <a:p>
            <a:pPr marL="196674" marR="71020"/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(o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 fazer,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mas</a:t>
            </a:r>
            <a:r>
              <a:rPr sz="1059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não</a:t>
            </a:r>
            <a:r>
              <a:rPr sz="1059" spc="-13" dirty="0">
                <a:solidFill>
                  <a:srgbClr val="3F3F3F"/>
                </a:solidFill>
                <a:latin typeface="Arial MT"/>
                <a:cs typeface="Arial MT"/>
              </a:rPr>
              <a:t> como;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evitando</a:t>
            </a:r>
            <a:r>
              <a:rPr sz="1059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menções</a:t>
            </a:r>
            <a:r>
              <a:rPr sz="1059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059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elementos</a:t>
            </a:r>
            <a:r>
              <a:rPr sz="1059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9" spc="-17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endParaRPr sz="1059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09551" y="1074084"/>
            <a:ext cx="820271" cy="3732819"/>
            <a:chOff x="3877055" y="1623059"/>
            <a:chExt cx="1239520" cy="5640705"/>
          </a:xfrm>
        </p:grpSpPr>
        <p:sp>
          <p:nvSpPr>
            <p:cNvPr id="14" name="object 14"/>
            <p:cNvSpPr/>
            <p:nvPr/>
          </p:nvSpPr>
          <p:spPr>
            <a:xfrm>
              <a:off x="5096255" y="1623059"/>
              <a:ext cx="20320" cy="5640705"/>
            </a:xfrm>
            <a:custGeom>
              <a:avLst/>
              <a:gdLst/>
              <a:ahLst/>
              <a:cxnLst/>
              <a:rect l="l" t="t" r="r" b="b"/>
              <a:pathLst>
                <a:path w="20320" h="5640705">
                  <a:moveTo>
                    <a:pt x="19812" y="5640324"/>
                  </a:moveTo>
                  <a:lnTo>
                    <a:pt x="0" y="5640324"/>
                  </a:lnTo>
                  <a:lnTo>
                    <a:pt x="0" y="0"/>
                  </a:lnTo>
                  <a:lnTo>
                    <a:pt x="19812" y="0"/>
                  </a:lnTo>
                  <a:lnTo>
                    <a:pt x="19812" y="5640324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77055" y="4463796"/>
              <a:ext cx="1228725" cy="0"/>
            </a:xfrm>
            <a:custGeom>
              <a:avLst/>
              <a:gdLst/>
              <a:ahLst/>
              <a:cxnLst/>
              <a:rect l="l" t="t" r="r" b="b"/>
              <a:pathLst>
                <a:path w="1228725">
                  <a:moveTo>
                    <a:pt x="0" y="0"/>
                  </a:moveTo>
                  <a:lnTo>
                    <a:pt x="1228344" y="0"/>
                  </a:lnTo>
                </a:path>
              </a:pathLst>
            </a:custGeom>
            <a:ln w="27432">
              <a:solidFill>
                <a:srgbClr val="A5A5A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920950" y="3727524"/>
            <a:ext cx="2328863" cy="1113585"/>
            <a:chOff x="5556503" y="5632703"/>
            <a:chExt cx="3519170" cy="168275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2600" y="5638800"/>
              <a:ext cx="3505200" cy="16764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547104" y="5632703"/>
              <a:ext cx="12700" cy="1682750"/>
            </a:xfrm>
            <a:custGeom>
              <a:avLst/>
              <a:gdLst/>
              <a:ahLst/>
              <a:cxnLst/>
              <a:rect l="l" t="t" r="r" b="b"/>
              <a:pathLst>
                <a:path w="12700" h="1682750">
                  <a:moveTo>
                    <a:pt x="12192" y="1682496"/>
                  </a:moveTo>
                  <a:lnTo>
                    <a:pt x="0" y="1682496"/>
                  </a:lnTo>
                  <a:lnTo>
                    <a:pt x="0" y="0"/>
                  </a:lnTo>
                  <a:lnTo>
                    <a:pt x="12192" y="0"/>
                  </a:lnTo>
                  <a:lnTo>
                    <a:pt x="12192" y="16824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56503" y="6156960"/>
              <a:ext cx="3519170" cy="914400"/>
            </a:xfrm>
            <a:custGeom>
              <a:avLst/>
              <a:gdLst/>
              <a:ahLst/>
              <a:cxnLst/>
              <a:rect l="l" t="t" r="r" b="b"/>
              <a:pathLst>
                <a:path w="3519170" h="914400">
                  <a:moveTo>
                    <a:pt x="0" y="0"/>
                  </a:moveTo>
                  <a:lnTo>
                    <a:pt x="3518916" y="0"/>
                  </a:lnTo>
                </a:path>
                <a:path w="3519170" h="914400">
                  <a:moveTo>
                    <a:pt x="0" y="304800"/>
                  </a:moveTo>
                  <a:lnTo>
                    <a:pt x="3518916" y="304800"/>
                  </a:lnTo>
                </a:path>
                <a:path w="3519170" h="914400">
                  <a:moveTo>
                    <a:pt x="0" y="609600"/>
                  </a:moveTo>
                  <a:lnTo>
                    <a:pt x="3518916" y="609600"/>
                  </a:lnTo>
                </a:path>
                <a:path w="3519170" h="914400">
                  <a:moveTo>
                    <a:pt x="0" y="914400"/>
                  </a:moveTo>
                  <a:lnTo>
                    <a:pt x="3518916" y="914400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56504" y="5632703"/>
              <a:ext cx="3517900" cy="1682750"/>
            </a:xfrm>
            <a:custGeom>
              <a:avLst/>
              <a:gdLst/>
              <a:ahLst/>
              <a:cxnLst/>
              <a:rect l="l" t="t" r="r" b="b"/>
              <a:pathLst>
                <a:path w="3517900" h="1682750">
                  <a:moveTo>
                    <a:pt x="12192" y="0"/>
                  </a:moveTo>
                  <a:lnTo>
                    <a:pt x="0" y="0"/>
                  </a:lnTo>
                  <a:lnTo>
                    <a:pt x="0" y="1682496"/>
                  </a:lnTo>
                  <a:lnTo>
                    <a:pt x="12192" y="1682496"/>
                  </a:lnTo>
                  <a:lnTo>
                    <a:pt x="12192" y="0"/>
                  </a:lnTo>
                  <a:close/>
                </a:path>
                <a:path w="3517900" h="1682750">
                  <a:moveTo>
                    <a:pt x="3517392" y="0"/>
                  </a:moveTo>
                  <a:lnTo>
                    <a:pt x="3505200" y="0"/>
                  </a:lnTo>
                  <a:lnTo>
                    <a:pt x="3505200" y="1682496"/>
                  </a:lnTo>
                  <a:lnTo>
                    <a:pt x="3517392" y="1682496"/>
                  </a:lnTo>
                  <a:lnTo>
                    <a:pt x="35173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56503" y="5638800"/>
              <a:ext cx="3519170" cy="0"/>
            </a:xfrm>
            <a:custGeom>
              <a:avLst/>
              <a:gdLst/>
              <a:ahLst/>
              <a:cxnLst/>
              <a:rect l="l" t="t" r="r" b="b"/>
              <a:pathLst>
                <a:path w="3519170">
                  <a:moveTo>
                    <a:pt x="0" y="0"/>
                  </a:moveTo>
                  <a:lnTo>
                    <a:pt x="3518916" y="0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20936" y="3678763"/>
            <a:ext cx="610581" cy="171055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25215">
              <a:spcBef>
                <a:spcPts val="63"/>
              </a:spcBef>
            </a:pPr>
            <a:r>
              <a:rPr sz="1059" dirty="0">
                <a:solidFill>
                  <a:srgbClr val="3F3F3F"/>
                </a:solidFill>
                <a:latin typeface="Arial MT"/>
                <a:cs typeface="Arial MT"/>
              </a:rPr>
              <a:t>i</a:t>
            </a:r>
            <a:r>
              <a:rPr sz="1059" spc="-13" dirty="0">
                <a:solidFill>
                  <a:srgbClr val="3F3F3F"/>
                </a:solidFill>
                <a:latin typeface="Arial MT"/>
                <a:cs typeface="Arial MT"/>
              </a:rPr>
              <a:t>n</a:t>
            </a:r>
            <a:r>
              <a:rPr sz="1059" spc="-103" dirty="0">
                <a:solidFill>
                  <a:srgbClr val="3F3F3F"/>
                </a:solidFill>
                <a:latin typeface="Arial MT"/>
                <a:cs typeface="Arial MT"/>
              </a:rPr>
              <a:t>t</a:t>
            </a:r>
            <a:r>
              <a:rPr sz="1390" b="1" spc="-952" baseline="-25793" dirty="0">
                <a:latin typeface="Arial"/>
                <a:cs typeface="Arial"/>
              </a:rPr>
              <a:t>G</a:t>
            </a:r>
            <a:r>
              <a:rPr sz="1059" spc="-3" dirty="0">
                <a:solidFill>
                  <a:srgbClr val="3F3F3F"/>
                </a:solidFill>
                <a:latin typeface="Arial MT"/>
                <a:cs typeface="Arial MT"/>
              </a:rPr>
              <a:t>e</a:t>
            </a:r>
            <a:r>
              <a:rPr sz="1059" spc="-328" dirty="0">
                <a:solidFill>
                  <a:srgbClr val="3F3F3F"/>
                </a:solidFill>
                <a:latin typeface="Arial MT"/>
                <a:cs typeface="Arial MT"/>
              </a:rPr>
              <a:t>r</a:t>
            </a:r>
            <a:r>
              <a:rPr sz="1390" b="1" spc="-94" baseline="-25793" dirty="0">
                <a:latin typeface="Arial"/>
                <a:cs typeface="Arial"/>
              </a:rPr>
              <a:t>r</a:t>
            </a:r>
            <a:r>
              <a:rPr sz="1059" spc="-255" dirty="0">
                <a:solidFill>
                  <a:srgbClr val="3F3F3F"/>
                </a:solidFill>
                <a:latin typeface="Arial MT"/>
                <a:cs typeface="Arial MT"/>
              </a:rPr>
              <a:t>f</a:t>
            </a:r>
            <a:r>
              <a:rPr sz="1390" b="1" spc="-496" baseline="-25793" dirty="0">
                <a:latin typeface="Arial"/>
                <a:cs typeface="Arial"/>
              </a:rPr>
              <a:t>u</a:t>
            </a:r>
            <a:r>
              <a:rPr sz="1059" spc="-27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390" b="1" spc="-476" baseline="-25793" dirty="0">
                <a:latin typeface="Arial"/>
                <a:cs typeface="Arial"/>
              </a:rPr>
              <a:t>p</a:t>
            </a:r>
            <a:r>
              <a:rPr sz="1059" spc="-242" dirty="0">
                <a:solidFill>
                  <a:srgbClr val="3F3F3F"/>
                </a:solidFill>
                <a:latin typeface="Arial MT"/>
                <a:cs typeface="Arial MT"/>
              </a:rPr>
              <a:t>c</a:t>
            </a:r>
            <a:r>
              <a:rPr sz="1390" b="1" spc="-506" baseline="-25793" dirty="0">
                <a:latin typeface="Arial"/>
                <a:cs typeface="Arial"/>
              </a:rPr>
              <a:t>o</a:t>
            </a:r>
            <a:r>
              <a:rPr sz="1059" spc="-13" dirty="0">
                <a:solidFill>
                  <a:srgbClr val="3F3F3F"/>
                </a:solidFill>
                <a:latin typeface="Arial MT"/>
                <a:cs typeface="Arial MT"/>
              </a:rPr>
              <a:t>e</a:t>
            </a:r>
            <a:r>
              <a:rPr sz="1059" spc="-7" dirty="0">
                <a:solidFill>
                  <a:srgbClr val="3F3F3F"/>
                </a:solidFill>
                <a:latin typeface="Arial MT"/>
                <a:cs typeface="Arial MT"/>
              </a:rPr>
              <a:t>)</a:t>
            </a:r>
            <a:endParaRPr sz="1059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65670" y="4708590"/>
            <a:ext cx="174812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05">
              <a:lnSpc>
                <a:spcPts val="1092"/>
              </a:lnSpc>
            </a:pPr>
            <a:r>
              <a:rPr sz="927" spc="-17" dirty="0">
                <a:latin typeface="Arial MT"/>
                <a:cs typeface="Arial MT"/>
              </a:rPr>
              <a:t>G4</a:t>
            </a:r>
            <a:endParaRPr sz="927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80257" y="4708590"/>
            <a:ext cx="466025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05">
              <a:lnSpc>
                <a:spcPts val="1092"/>
              </a:lnSpc>
            </a:pPr>
            <a:r>
              <a:rPr sz="927" spc="-53" dirty="0">
                <a:latin typeface="Arial MT"/>
                <a:cs typeface="Arial MT"/>
              </a:rPr>
              <a:t>Y-</a:t>
            </a:r>
            <a:r>
              <a:rPr sz="927" dirty="0">
                <a:latin typeface="Arial MT"/>
                <a:cs typeface="Arial MT"/>
              </a:rPr>
              <a:t>B,</a:t>
            </a:r>
            <a:r>
              <a:rPr sz="927" spc="7" dirty="0">
                <a:latin typeface="Arial MT"/>
                <a:cs typeface="Arial MT"/>
              </a:rPr>
              <a:t> </a:t>
            </a:r>
            <a:r>
              <a:rPr sz="927" dirty="0">
                <a:latin typeface="Arial MT"/>
                <a:cs typeface="Arial MT"/>
              </a:rPr>
              <a:t>X-</a:t>
            </a:r>
            <a:r>
              <a:rPr sz="927" spc="-33" dirty="0">
                <a:latin typeface="Arial MT"/>
                <a:cs typeface="Arial MT"/>
              </a:rPr>
              <a:t>A</a:t>
            </a:r>
            <a:endParaRPr sz="927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65670" y="4032130"/>
            <a:ext cx="174812" cy="596236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 marR="3362" algn="just">
              <a:lnSpc>
                <a:spcPct val="142900"/>
              </a:lnSpc>
              <a:spcBef>
                <a:spcPts val="63"/>
              </a:spcBef>
            </a:pPr>
            <a:r>
              <a:rPr sz="927" spc="-17" dirty="0">
                <a:latin typeface="Arial MT"/>
                <a:cs typeface="Arial MT"/>
              </a:rPr>
              <a:t>G1 G2 G3</a:t>
            </a:r>
            <a:endParaRPr sz="927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34067" y="3727357"/>
            <a:ext cx="1429170" cy="914608"/>
          </a:xfrm>
          <a:prstGeom prst="rect">
            <a:avLst/>
          </a:prstGeom>
        </p:spPr>
        <p:txBody>
          <a:bodyPr vert="horz" wrap="square" lIns="0" tIns="8825" rIns="0" bIns="0" rtlCol="0">
            <a:spAutoFit/>
          </a:bodyPr>
          <a:lstStyle/>
          <a:p>
            <a:pPr marL="7985" marR="3362" algn="ctr">
              <a:spcBef>
                <a:spcPts val="69"/>
              </a:spcBef>
            </a:pPr>
            <a:r>
              <a:rPr sz="927" b="1" dirty="0">
                <a:latin typeface="Arial"/>
                <a:cs typeface="Arial"/>
              </a:rPr>
              <a:t>Sistema</a:t>
            </a:r>
            <a:r>
              <a:rPr sz="927" b="1" spc="-33" dirty="0">
                <a:latin typeface="Arial"/>
                <a:cs typeface="Arial"/>
              </a:rPr>
              <a:t> </a:t>
            </a:r>
            <a:r>
              <a:rPr sz="927" b="1" dirty="0">
                <a:latin typeface="Arial"/>
                <a:cs typeface="Arial"/>
              </a:rPr>
              <a:t>(X,Y)</a:t>
            </a:r>
            <a:r>
              <a:rPr sz="927" b="1" spc="-26" dirty="0">
                <a:latin typeface="Arial"/>
                <a:cs typeface="Arial"/>
              </a:rPr>
              <a:t> </a:t>
            </a:r>
            <a:r>
              <a:rPr sz="927" b="1" dirty="0">
                <a:latin typeface="Arial"/>
                <a:cs typeface="Arial"/>
              </a:rPr>
              <a:t>–</a:t>
            </a:r>
            <a:r>
              <a:rPr sz="927" b="1" spc="-20" dirty="0">
                <a:latin typeface="Arial"/>
                <a:cs typeface="Arial"/>
              </a:rPr>
              <a:t> </a:t>
            </a:r>
            <a:r>
              <a:rPr sz="927" b="1" spc="-7" dirty="0">
                <a:latin typeface="Arial"/>
                <a:cs typeface="Arial"/>
              </a:rPr>
              <a:t>Tarefa</a:t>
            </a:r>
            <a:r>
              <a:rPr sz="927" b="1" spc="-30" dirty="0">
                <a:latin typeface="Arial"/>
                <a:cs typeface="Arial"/>
              </a:rPr>
              <a:t> </a:t>
            </a:r>
            <a:r>
              <a:rPr sz="927" b="1" spc="-17" dirty="0">
                <a:latin typeface="Arial"/>
                <a:cs typeface="Arial"/>
              </a:rPr>
              <a:t>(A, B)</a:t>
            </a:r>
            <a:endParaRPr sz="927" dirty="0">
              <a:latin typeface="Arial"/>
              <a:cs typeface="Arial"/>
            </a:endParaRPr>
          </a:p>
          <a:p>
            <a:pPr marL="420" algn="ctr">
              <a:spcBef>
                <a:spcPts val="473"/>
              </a:spcBef>
            </a:pPr>
            <a:r>
              <a:rPr sz="927" spc="-7" dirty="0">
                <a:latin typeface="Arial MT"/>
                <a:cs typeface="Arial MT"/>
              </a:rPr>
              <a:t>X-</a:t>
            </a:r>
            <a:r>
              <a:rPr sz="927" dirty="0">
                <a:latin typeface="Arial MT"/>
                <a:cs typeface="Arial MT"/>
              </a:rPr>
              <a:t>A,</a:t>
            </a:r>
            <a:r>
              <a:rPr sz="927" spc="-26" dirty="0">
                <a:latin typeface="Arial MT"/>
                <a:cs typeface="Arial MT"/>
              </a:rPr>
              <a:t> </a:t>
            </a:r>
            <a:r>
              <a:rPr sz="927" spc="-53" dirty="0">
                <a:latin typeface="Arial MT"/>
                <a:cs typeface="Arial MT"/>
              </a:rPr>
              <a:t>Y-</a:t>
            </a:r>
            <a:r>
              <a:rPr sz="927" spc="-33" dirty="0">
                <a:latin typeface="Arial MT"/>
                <a:cs typeface="Arial MT"/>
              </a:rPr>
              <a:t>B</a:t>
            </a:r>
            <a:endParaRPr sz="927" dirty="0">
              <a:latin typeface="Arial MT"/>
              <a:cs typeface="Arial MT"/>
            </a:endParaRPr>
          </a:p>
          <a:p>
            <a:pPr marL="420" algn="ctr">
              <a:spcBef>
                <a:spcPts val="480"/>
              </a:spcBef>
            </a:pPr>
            <a:r>
              <a:rPr sz="927" spc="-7" dirty="0">
                <a:latin typeface="Arial MT"/>
                <a:cs typeface="Arial MT"/>
              </a:rPr>
              <a:t>X-</a:t>
            </a:r>
            <a:r>
              <a:rPr sz="927" dirty="0">
                <a:latin typeface="Arial MT"/>
                <a:cs typeface="Arial MT"/>
              </a:rPr>
              <a:t>B,</a:t>
            </a:r>
            <a:r>
              <a:rPr sz="927" spc="-26" dirty="0">
                <a:latin typeface="Arial MT"/>
                <a:cs typeface="Arial MT"/>
              </a:rPr>
              <a:t> </a:t>
            </a:r>
            <a:r>
              <a:rPr sz="927" spc="-53" dirty="0">
                <a:latin typeface="Arial MT"/>
                <a:cs typeface="Arial MT"/>
              </a:rPr>
              <a:t>Y-</a:t>
            </a:r>
            <a:r>
              <a:rPr sz="927" spc="-33" dirty="0">
                <a:latin typeface="Arial MT"/>
                <a:cs typeface="Arial MT"/>
              </a:rPr>
              <a:t>A</a:t>
            </a:r>
            <a:endParaRPr sz="927" dirty="0">
              <a:latin typeface="Arial MT"/>
              <a:cs typeface="Arial MT"/>
            </a:endParaRPr>
          </a:p>
          <a:p>
            <a:pPr marL="1681" algn="ctr">
              <a:spcBef>
                <a:spcPts val="473"/>
              </a:spcBef>
            </a:pPr>
            <a:r>
              <a:rPr sz="927" spc="-60" dirty="0">
                <a:latin typeface="Arial MT"/>
                <a:cs typeface="Arial MT"/>
              </a:rPr>
              <a:t>Y-</a:t>
            </a:r>
            <a:r>
              <a:rPr sz="927" dirty="0">
                <a:latin typeface="Arial MT"/>
                <a:cs typeface="Arial MT"/>
              </a:rPr>
              <a:t>A,X- </a:t>
            </a:r>
            <a:r>
              <a:rPr sz="927" spc="-33" dirty="0">
                <a:latin typeface="Arial MT"/>
                <a:cs typeface="Arial MT"/>
              </a:rPr>
              <a:t>B</a:t>
            </a:r>
            <a:endParaRPr sz="927" dirty="0">
              <a:latin typeface="Arial MT"/>
              <a:cs typeface="Arial MT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126BD715-94C1-CCE9-4DB1-A80656E00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08" y="962803"/>
            <a:ext cx="5946450" cy="426666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0262"/>
            <a:ext cx="1662813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1.</a:t>
            </a:r>
            <a:r>
              <a:rPr sz="1655" spc="-20" dirty="0"/>
              <a:t> </a:t>
            </a:r>
            <a:r>
              <a:rPr sz="1655" dirty="0"/>
              <a:t>plano</a:t>
            </a:r>
            <a:r>
              <a:rPr sz="1655" spc="-7" dirty="0"/>
              <a:t> </a:t>
            </a:r>
            <a:r>
              <a:rPr sz="1655" dirty="0"/>
              <a:t>de</a:t>
            </a:r>
            <a:r>
              <a:rPr sz="1655" spc="-30" dirty="0"/>
              <a:t> </a:t>
            </a:r>
            <a:r>
              <a:rPr sz="1655" spc="-13" dirty="0"/>
              <a:t>teste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8" y="673386"/>
            <a:ext cx="4865734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2.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recrutamento;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3.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preparação;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6.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BFBFBF"/>
                </a:solidFill>
                <a:latin typeface="Arial"/>
                <a:cs typeface="Arial"/>
              </a:rPr>
              <a:t>relato</a:t>
            </a:r>
            <a:endParaRPr sz="119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0763" y="1076771"/>
            <a:ext cx="2219185" cy="161738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objetivos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(gerais)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 marR="121030">
              <a:spcBef>
                <a:spcPts val="993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perguntas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avaliação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visa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responder</a:t>
            </a:r>
            <a:endParaRPr sz="1191">
              <a:latin typeface="Arial MT"/>
              <a:cs typeface="Arial MT"/>
            </a:endParaRPr>
          </a:p>
          <a:p>
            <a:pPr marL="8405" marR="709790">
              <a:lnSpc>
                <a:spcPct val="169400"/>
              </a:lnSpc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perfil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usuário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>
              <a:spcBef>
                <a:spcPts val="101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ambiente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/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equipamento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0763" y="2817515"/>
            <a:ext cx="188847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tarefas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serem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observadas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0763" y="3143267"/>
            <a:ext cx="1966212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dados</a:t>
            </a:r>
            <a:r>
              <a:rPr sz="1191" b="1" spc="-30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que</a:t>
            </a:r>
            <a:r>
              <a:rPr sz="1191" b="1" spc="-26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serão</a:t>
            </a:r>
            <a:r>
              <a:rPr sz="1191" b="1" spc="-20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FF6D0A"/>
                </a:solidFill>
                <a:latin typeface="Arial"/>
                <a:cs typeface="Arial"/>
              </a:rPr>
              <a:t>coletados</a:t>
            </a:r>
            <a:endParaRPr sz="1191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0763" y="3469019"/>
            <a:ext cx="240282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análise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dos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0763" y="3776644"/>
            <a:ext cx="1933015" cy="39602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 marR="3362">
              <a:lnSpc>
                <a:spcPct val="110000"/>
              </a:lnSpc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conteúdo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apresentação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do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relatório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54163" y="1051554"/>
            <a:ext cx="1772911" cy="408852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 marR="3362">
              <a:lnSpc>
                <a:spcPct val="113900"/>
              </a:lnSpc>
              <a:spcBef>
                <a:spcPts val="66"/>
              </a:spcBef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medidas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spc="-7" dirty="0">
                <a:solidFill>
                  <a:srgbClr val="FF6D0A"/>
                </a:solidFill>
                <a:latin typeface="Arial"/>
                <a:cs typeface="Arial"/>
              </a:rPr>
              <a:t>desempenho </a:t>
            </a:r>
            <a:r>
              <a:rPr sz="1191" b="1" spc="-7" dirty="0">
                <a:solidFill>
                  <a:schemeClr val="bg1"/>
                </a:solidFill>
                <a:latin typeface="Arial"/>
                <a:cs typeface="Arial"/>
              </a:rPr>
              <a:t>tempo</a:t>
            </a:r>
            <a:endParaRPr sz="119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49164" y="1466053"/>
            <a:ext cx="2426354" cy="986022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196674" indent="-188269">
              <a:spcBef>
                <a:spcPts val="63"/>
              </a:spcBef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para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completar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uma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tarefa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marR="3362" indent="-18868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para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acessar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informação no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manual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33" dirty="0">
                <a:solidFill>
                  <a:schemeClr val="bg1"/>
                </a:solidFill>
                <a:latin typeface="Arial MT"/>
                <a:cs typeface="Arial MT"/>
              </a:rPr>
              <a:t>/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na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ajuda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online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lendo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uma</a:t>
            </a:r>
            <a:r>
              <a:rPr sz="1059" spc="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seção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059" spc="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manual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marR="86570" indent="-18868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conversando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com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atendimento 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ao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usuário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54163" y="2458448"/>
            <a:ext cx="959364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chemeClr val="bg1"/>
                </a:solidFill>
                <a:latin typeface="Arial"/>
                <a:cs typeface="Arial"/>
              </a:rPr>
              <a:t>número</a:t>
            </a:r>
            <a:r>
              <a:rPr sz="1191" b="1" spc="-1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chemeClr val="bg1"/>
                </a:solidFill>
                <a:latin typeface="Arial"/>
                <a:cs typeface="Arial"/>
              </a:rPr>
              <a:t>de</a:t>
            </a:r>
            <a:r>
              <a:rPr sz="1191" b="1" spc="-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91" b="1" spc="-17" dirty="0">
                <a:solidFill>
                  <a:schemeClr val="bg1"/>
                </a:solidFill>
                <a:latin typeface="Arial"/>
                <a:cs typeface="Arial"/>
              </a:rPr>
              <a:t>...</a:t>
            </a:r>
            <a:endParaRPr sz="119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49164" y="2641015"/>
            <a:ext cx="2204057" cy="1149015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196674" marR="3362" indent="-188689">
              <a:spcBef>
                <a:spcPts val="63"/>
              </a:spcBef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tarefas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concluídas</a:t>
            </a:r>
            <a:r>
              <a:rPr sz="1059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corretamente </a:t>
            </a:r>
            <a:r>
              <a:rPr sz="1059" spc="-33" dirty="0">
                <a:solidFill>
                  <a:schemeClr val="bg1"/>
                </a:solidFill>
                <a:latin typeface="Arial MT"/>
                <a:cs typeface="Arial MT"/>
              </a:rPr>
              <a:t>/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sem ajuda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(e</a:t>
            </a:r>
            <a:r>
              <a:rPr sz="1059" spc="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%)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seleções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incorretas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erros</a:t>
            </a:r>
            <a:r>
              <a:rPr sz="1059" spc="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omissão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seleções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menu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incorretas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ícones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incorretos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chamadas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ao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i="1" dirty="0">
                <a:solidFill>
                  <a:schemeClr val="bg1"/>
                </a:solidFill>
                <a:latin typeface="Arial"/>
                <a:cs typeface="Arial"/>
              </a:rPr>
              <a:t>help</a:t>
            </a:r>
            <a:r>
              <a:rPr sz="1059" i="1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59" i="1" spc="-13" dirty="0">
                <a:solidFill>
                  <a:schemeClr val="bg1"/>
                </a:solidFill>
                <a:latin typeface="Arial"/>
                <a:cs typeface="Arial"/>
              </a:rPr>
              <a:t>desk</a:t>
            </a:r>
            <a:endParaRPr sz="1059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09551" y="1074083"/>
            <a:ext cx="820271" cy="2909607"/>
            <a:chOff x="3877055" y="1623059"/>
            <a:chExt cx="1239520" cy="4396740"/>
          </a:xfrm>
        </p:grpSpPr>
        <p:sp>
          <p:nvSpPr>
            <p:cNvPr id="14" name="object 14"/>
            <p:cNvSpPr/>
            <p:nvPr/>
          </p:nvSpPr>
          <p:spPr>
            <a:xfrm>
              <a:off x="5096255" y="1623059"/>
              <a:ext cx="20320" cy="4396740"/>
            </a:xfrm>
            <a:custGeom>
              <a:avLst/>
              <a:gdLst/>
              <a:ahLst/>
              <a:cxnLst/>
              <a:rect l="l" t="t" r="r" b="b"/>
              <a:pathLst>
                <a:path w="20320" h="4396740">
                  <a:moveTo>
                    <a:pt x="19812" y="4396740"/>
                  </a:moveTo>
                  <a:lnTo>
                    <a:pt x="0" y="4396740"/>
                  </a:lnTo>
                  <a:lnTo>
                    <a:pt x="0" y="0"/>
                  </a:lnTo>
                  <a:lnTo>
                    <a:pt x="19812" y="0"/>
                  </a:lnTo>
                  <a:lnTo>
                    <a:pt x="19812" y="439674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77055" y="4975097"/>
              <a:ext cx="1228725" cy="0"/>
            </a:xfrm>
            <a:custGeom>
              <a:avLst/>
              <a:gdLst/>
              <a:ahLst/>
              <a:cxnLst/>
              <a:rect l="l" t="t" r="r" b="b"/>
              <a:pathLst>
                <a:path w="1228725">
                  <a:moveTo>
                    <a:pt x="0" y="0"/>
                  </a:moveTo>
                  <a:lnTo>
                    <a:pt x="1228344" y="0"/>
                  </a:lnTo>
                </a:path>
              </a:pathLst>
            </a:custGeom>
            <a:ln w="28956">
              <a:solidFill>
                <a:srgbClr val="A5A5A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0262"/>
            <a:ext cx="1662813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1.</a:t>
            </a:r>
            <a:r>
              <a:rPr sz="1655" spc="-20" dirty="0"/>
              <a:t> </a:t>
            </a:r>
            <a:r>
              <a:rPr sz="1655" dirty="0"/>
              <a:t>plano</a:t>
            </a:r>
            <a:r>
              <a:rPr sz="1655" spc="-7" dirty="0"/>
              <a:t> </a:t>
            </a:r>
            <a:r>
              <a:rPr sz="1655" dirty="0"/>
              <a:t>de</a:t>
            </a:r>
            <a:r>
              <a:rPr sz="1655" spc="-30" dirty="0"/>
              <a:t> </a:t>
            </a:r>
            <a:r>
              <a:rPr sz="1655" spc="-13" dirty="0"/>
              <a:t>teste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8" y="673386"/>
            <a:ext cx="4865734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2.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recrutamento;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3.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preparação;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6.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BFBFBF"/>
                </a:solidFill>
                <a:latin typeface="Arial"/>
                <a:cs typeface="Arial"/>
              </a:rPr>
              <a:t>relato</a:t>
            </a:r>
            <a:endParaRPr sz="119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0763" y="1076771"/>
            <a:ext cx="2219185" cy="161738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objetivos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(gerais)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 marR="121030">
              <a:spcBef>
                <a:spcPts val="993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perguntas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avaliação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visa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responder</a:t>
            </a:r>
            <a:endParaRPr sz="1191">
              <a:latin typeface="Arial MT"/>
              <a:cs typeface="Arial MT"/>
            </a:endParaRPr>
          </a:p>
          <a:p>
            <a:pPr marL="8405" marR="709790">
              <a:lnSpc>
                <a:spcPct val="169400"/>
              </a:lnSpc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perfil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usuário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>
              <a:spcBef>
                <a:spcPts val="101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ambiente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/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equipamento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0763" y="2817515"/>
            <a:ext cx="188847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tarefas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serem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observadas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0763" y="3143267"/>
            <a:ext cx="1966212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dados</a:t>
            </a:r>
            <a:r>
              <a:rPr sz="1191" b="1" spc="-30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que</a:t>
            </a:r>
            <a:r>
              <a:rPr sz="1191" b="1" spc="-26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serão</a:t>
            </a:r>
            <a:r>
              <a:rPr sz="1191" b="1" spc="-20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FF6D0A"/>
                </a:solidFill>
                <a:latin typeface="Arial"/>
                <a:cs typeface="Arial"/>
              </a:rPr>
              <a:t>coletados</a:t>
            </a:r>
            <a:endParaRPr sz="1191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0763" y="3469019"/>
            <a:ext cx="2402821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análise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dos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0763" y="3776644"/>
            <a:ext cx="1933015" cy="39602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 marR="3362">
              <a:lnSpc>
                <a:spcPct val="110000"/>
              </a:lnSpc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conteúdo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apresentação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do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relatório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54163" y="1076772"/>
            <a:ext cx="1738873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medidas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b="1" spc="-7" dirty="0">
                <a:solidFill>
                  <a:srgbClr val="FF6D0A"/>
                </a:solidFill>
                <a:latin typeface="Arial"/>
                <a:cs typeface="Arial"/>
              </a:rPr>
              <a:t>preferências</a:t>
            </a:r>
            <a:endParaRPr sz="1191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49163" y="1259343"/>
            <a:ext cx="2492749" cy="2289969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196674" indent="-188269">
              <a:spcBef>
                <a:spcPts val="63"/>
              </a:spcBef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utilidade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059" spc="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produto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marR="300893" indent="-18868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quão</a:t>
            </a:r>
            <a:r>
              <a:rPr sz="1059" spc="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bem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produto</a:t>
            </a:r>
            <a:r>
              <a:rPr sz="1059" spc="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satisfez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as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expectativas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marR="3362" indent="-18868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adequação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das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funções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059" spc="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produto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às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tarefas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dos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usuários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facilidade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uso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facilidade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aprendizado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marR="782913" indent="-18868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facilidade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instalação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33" dirty="0">
                <a:solidFill>
                  <a:schemeClr val="bg1"/>
                </a:solidFill>
                <a:latin typeface="Arial MT"/>
                <a:cs typeface="Arial MT"/>
              </a:rPr>
              <a:t>e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configuração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utilidade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da</a:t>
            </a:r>
            <a:r>
              <a:rPr sz="1059" spc="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ajuda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respostas do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atendimento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ao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usuário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protótipo</a:t>
            </a:r>
            <a:r>
              <a:rPr sz="1059" spc="-6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059" spc="-7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vs.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protótipo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33" dirty="0">
                <a:solidFill>
                  <a:schemeClr val="bg1"/>
                </a:solidFill>
                <a:latin typeface="Arial MT"/>
                <a:cs typeface="Arial MT"/>
              </a:rPr>
              <a:t>B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produto</a:t>
            </a:r>
            <a:r>
              <a:rPr sz="1059" spc="-6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059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vs.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competidor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33" dirty="0">
                <a:solidFill>
                  <a:schemeClr val="bg1"/>
                </a:solidFill>
                <a:latin typeface="Arial MT"/>
                <a:cs typeface="Arial MT"/>
              </a:rPr>
              <a:t>B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modelo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conceitual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059" spc="-5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vs.</a:t>
            </a:r>
            <a:r>
              <a:rPr sz="1059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 </a:t>
            </a:r>
            <a:r>
              <a:rPr sz="1059" spc="-33" dirty="0">
                <a:solidFill>
                  <a:schemeClr val="bg1"/>
                </a:solidFill>
                <a:latin typeface="Arial MT"/>
                <a:cs typeface="Arial MT"/>
              </a:rPr>
              <a:t>B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54162" y="3542590"/>
            <a:ext cx="1412782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coletadas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através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49164" y="3750375"/>
            <a:ext cx="2466695" cy="660035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196674" indent="-188269" algn="just">
              <a:spcBef>
                <a:spcPts val="63"/>
              </a:spcBef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entrevista</a:t>
            </a:r>
            <a:r>
              <a:rPr sz="1059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(semiestruturada)</a:t>
            </a:r>
            <a:r>
              <a:rPr sz="1059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ou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marR="3362" indent="-188689" algn="just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questionário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(com</a:t>
            </a:r>
            <a:r>
              <a:rPr sz="1059" spc="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escala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Likert</a:t>
            </a:r>
            <a:r>
              <a:rPr sz="1059" spc="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17" dirty="0">
                <a:solidFill>
                  <a:schemeClr val="bg1"/>
                </a:solidFill>
                <a:latin typeface="Arial MT"/>
                <a:cs typeface="Arial MT"/>
              </a:rPr>
              <a:t>de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7</a:t>
            </a:r>
            <a:r>
              <a:rPr sz="1059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pontos</a:t>
            </a:r>
            <a:r>
              <a:rPr sz="1059" spc="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+ justificativa</a:t>
            </a:r>
            <a:r>
              <a:rPr sz="1059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como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pergunta aberta)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09551" y="1074083"/>
            <a:ext cx="820271" cy="3462618"/>
            <a:chOff x="3877055" y="1623059"/>
            <a:chExt cx="1239520" cy="5232400"/>
          </a:xfrm>
        </p:grpSpPr>
        <p:sp>
          <p:nvSpPr>
            <p:cNvPr id="14" name="object 14"/>
            <p:cNvSpPr/>
            <p:nvPr/>
          </p:nvSpPr>
          <p:spPr>
            <a:xfrm>
              <a:off x="5096255" y="1623059"/>
              <a:ext cx="20320" cy="5232400"/>
            </a:xfrm>
            <a:custGeom>
              <a:avLst/>
              <a:gdLst/>
              <a:ahLst/>
              <a:cxnLst/>
              <a:rect l="l" t="t" r="r" b="b"/>
              <a:pathLst>
                <a:path w="20320" h="5232400">
                  <a:moveTo>
                    <a:pt x="19812" y="5231891"/>
                  </a:moveTo>
                  <a:lnTo>
                    <a:pt x="0" y="5231891"/>
                  </a:lnTo>
                  <a:lnTo>
                    <a:pt x="0" y="0"/>
                  </a:lnTo>
                  <a:lnTo>
                    <a:pt x="19812" y="0"/>
                  </a:lnTo>
                  <a:lnTo>
                    <a:pt x="19812" y="5231891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77055" y="4975097"/>
              <a:ext cx="1228725" cy="0"/>
            </a:xfrm>
            <a:custGeom>
              <a:avLst/>
              <a:gdLst/>
              <a:ahLst/>
              <a:cxnLst/>
              <a:rect l="l" t="t" r="r" b="b"/>
              <a:pathLst>
                <a:path w="1228725">
                  <a:moveTo>
                    <a:pt x="0" y="0"/>
                  </a:moveTo>
                  <a:lnTo>
                    <a:pt x="1228344" y="0"/>
                  </a:lnTo>
                </a:path>
              </a:pathLst>
            </a:custGeom>
            <a:ln w="28956">
              <a:solidFill>
                <a:srgbClr val="A5A5A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47800" y="209550"/>
            <a:ext cx="7086600" cy="1239168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pc="162" dirty="0">
                <a:latin typeface="Trebuchet MS"/>
                <a:cs typeface="Trebuchet MS"/>
              </a:rPr>
              <a:t>Alguns</a:t>
            </a:r>
            <a:r>
              <a:rPr spc="66" dirty="0">
                <a:latin typeface="Trebuchet MS"/>
                <a:cs typeface="Trebuchet MS"/>
              </a:rPr>
              <a:t> </a:t>
            </a:r>
            <a:r>
              <a:rPr spc="113" dirty="0">
                <a:latin typeface="Trebuchet MS"/>
                <a:cs typeface="Trebuchet MS"/>
              </a:rPr>
              <a:t>tipos</a:t>
            </a:r>
            <a:r>
              <a:rPr spc="50" dirty="0">
                <a:latin typeface="Trebuchet MS"/>
                <a:cs typeface="Trebuchet MS"/>
              </a:rPr>
              <a:t> </a:t>
            </a:r>
            <a:r>
              <a:rPr spc="75" dirty="0">
                <a:latin typeface="Trebuchet MS"/>
                <a:cs typeface="Trebuchet MS"/>
              </a:rPr>
              <a:t>de</a:t>
            </a:r>
            <a:r>
              <a:rPr spc="69" dirty="0">
                <a:latin typeface="Trebuchet MS"/>
                <a:cs typeface="Trebuchet MS"/>
              </a:rPr>
              <a:t> </a:t>
            </a:r>
            <a:r>
              <a:rPr spc="146" dirty="0">
                <a:latin typeface="Trebuchet MS"/>
                <a:cs typeface="Trebuchet MS"/>
              </a:rPr>
              <a:t>dados</a:t>
            </a:r>
            <a:r>
              <a:rPr spc="69" dirty="0">
                <a:latin typeface="Trebuchet MS"/>
                <a:cs typeface="Trebuchet MS"/>
              </a:rPr>
              <a:t> </a:t>
            </a:r>
            <a:r>
              <a:rPr spc="83" dirty="0">
                <a:latin typeface="Trebuchet MS"/>
                <a:cs typeface="Trebuchet MS"/>
              </a:rPr>
              <a:t>coletados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80717" y="1520160"/>
            <a:ext cx="5130893" cy="2586400"/>
          </a:xfrm>
          <a:prstGeom prst="rect">
            <a:avLst/>
          </a:prstGeom>
        </p:spPr>
        <p:txBody>
          <a:bodyPr vert="horz" wrap="square" lIns="0" tIns="61772" rIns="0" bIns="0" rtlCol="0">
            <a:spAutoFit/>
          </a:bodyPr>
          <a:lstStyle/>
          <a:p>
            <a:pPr marL="227772" indent="-226931">
              <a:spcBef>
                <a:spcPts val="486"/>
              </a:spcBef>
              <a:buClr>
                <a:srgbClr val="7E7E7E"/>
              </a:buClr>
              <a:buSzPct val="65909"/>
              <a:buFont typeface="Arial" panose="020B0604020202020204" pitchFamily="34" charset="0"/>
              <a:buChar char="•"/>
              <a:tabLst>
                <a:tab pos="76484" algn="l"/>
              </a:tabLst>
            </a:pPr>
            <a:r>
              <a:rPr sz="1456" spc="79" dirty="0">
                <a:solidFill>
                  <a:schemeClr val="bg1"/>
                </a:solidFill>
                <a:latin typeface="Trebuchet MS"/>
                <a:cs typeface="Trebuchet MS"/>
              </a:rPr>
              <a:t>Tempo</a:t>
            </a:r>
            <a:r>
              <a:rPr sz="1456" spc="5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53" dirty="0">
                <a:solidFill>
                  <a:schemeClr val="bg1"/>
                </a:solidFill>
                <a:latin typeface="Trebuchet MS"/>
                <a:cs typeface="Trebuchet MS"/>
              </a:rPr>
              <a:t>pra</a:t>
            </a:r>
            <a:r>
              <a:rPr sz="1456" spc="3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40" dirty="0">
                <a:solidFill>
                  <a:schemeClr val="bg1"/>
                </a:solidFill>
                <a:latin typeface="Trebuchet MS"/>
                <a:cs typeface="Trebuchet MS"/>
              </a:rPr>
              <a:t>completar</a:t>
            </a:r>
            <a:r>
              <a:rPr sz="1456" spc="5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79" dirty="0">
                <a:solidFill>
                  <a:schemeClr val="bg1"/>
                </a:solidFill>
                <a:latin typeface="Trebuchet MS"/>
                <a:cs typeface="Trebuchet MS"/>
              </a:rPr>
              <a:t>uma</a:t>
            </a:r>
            <a:r>
              <a:rPr sz="1456" spc="6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-7" dirty="0">
                <a:solidFill>
                  <a:schemeClr val="bg1"/>
                </a:solidFill>
                <a:latin typeface="Trebuchet MS"/>
                <a:cs typeface="Trebuchet MS"/>
              </a:rPr>
              <a:t>tarefa.</a:t>
            </a:r>
            <a:endParaRPr sz="1456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L="227772" marR="404274" indent="-226931">
              <a:lnSpc>
                <a:spcPts val="1575"/>
              </a:lnSpc>
              <a:spcBef>
                <a:spcPts val="615"/>
              </a:spcBef>
              <a:buClr>
                <a:srgbClr val="7E7E7E"/>
              </a:buClr>
              <a:buSzPct val="65909"/>
              <a:buFont typeface="Arial" panose="020B0604020202020204" pitchFamily="34" charset="0"/>
              <a:buChar char="•"/>
              <a:tabLst>
                <a:tab pos="76484" algn="l"/>
              </a:tabLst>
            </a:pPr>
            <a:r>
              <a:rPr sz="1456" spc="79" dirty="0">
                <a:solidFill>
                  <a:schemeClr val="bg1"/>
                </a:solidFill>
                <a:latin typeface="Trebuchet MS"/>
                <a:cs typeface="Trebuchet MS"/>
              </a:rPr>
              <a:t>Tempo</a:t>
            </a:r>
            <a:r>
              <a:rPr sz="1456" spc="69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53" dirty="0">
                <a:solidFill>
                  <a:schemeClr val="bg1"/>
                </a:solidFill>
                <a:latin typeface="Trebuchet MS"/>
                <a:cs typeface="Trebuchet MS"/>
              </a:rPr>
              <a:t>pra</a:t>
            </a:r>
            <a:r>
              <a:rPr sz="1456" spc="4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40" dirty="0">
                <a:solidFill>
                  <a:schemeClr val="bg1"/>
                </a:solidFill>
                <a:latin typeface="Trebuchet MS"/>
                <a:cs typeface="Trebuchet MS"/>
              </a:rPr>
              <a:t>completar</a:t>
            </a:r>
            <a:r>
              <a:rPr sz="1456" spc="6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79" dirty="0">
                <a:solidFill>
                  <a:schemeClr val="bg1"/>
                </a:solidFill>
                <a:latin typeface="Trebuchet MS"/>
                <a:cs typeface="Trebuchet MS"/>
              </a:rPr>
              <a:t>uma</a:t>
            </a:r>
            <a:r>
              <a:rPr sz="1456" spc="7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dirty="0">
                <a:solidFill>
                  <a:schemeClr val="bg1"/>
                </a:solidFill>
                <a:latin typeface="Trebuchet MS"/>
                <a:cs typeface="Trebuchet MS"/>
              </a:rPr>
              <a:t>tarefa</a:t>
            </a:r>
            <a:r>
              <a:rPr sz="1456" spc="4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99" dirty="0">
                <a:solidFill>
                  <a:schemeClr val="bg1"/>
                </a:solidFill>
                <a:latin typeface="Trebuchet MS"/>
                <a:cs typeface="Trebuchet MS"/>
              </a:rPr>
              <a:t>após</a:t>
            </a:r>
            <a:r>
              <a:rPr sz="1456" spc="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46" dirty="0">
                <a:solidFill>
                  <a:schemeClr val="bg1"/>
                </a:solidFill>
                <a:latin typeface="Trebuchet MS"/>
                <a:cs typeface="Trebuchet MS"/>
              </a:rPr>
              <a:t>determinado </a:t>
            </a:r>
            <a:r>
              <a:rPr sz="1456" spc="60" dirty="0">
                <a:solidFill>
                  <a:schemeClr val="bg1"/>
                </a:solidFill>
                <a:latin typeface="Trebuchet MS"/>
                <a:cs typeface="Trebuchet MS"/>
              </a:rPr>
              <a:t>tempo</a:t>
            </a:r>
            <a:r>
              <a:rPr sz="1456" spc="3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103" dirty="0">
                <a:solidFill>
                  <a:schemeClr val="bg1"/>
                </a:solidFill>
                <a:latin typeface="Trebuchet MS"/>
                <a:cs typeface="Trebuchet MS"/>
              </a:rPr>
              <a:t>sem</a:t>
            </a:r>
            <a:r>
              <a:rPr sz="1456" spc="2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79" dirty="0">
                <a:solidFill>
                  <a:schemeClr val="bg1"/>
                </a:solidFill>
                <a:latin typeface="Trebuchet MS"/>
                <a:cs typeface="Trebuchet MS"/>
              </a:rPr>
              <a:t>usar</a:t>
            </a:r>
            <a:r>
              <a:rPr sz="1456" spc="3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106" dirty="0">
                <a:solidFill>
                  <a:schemeClr val="bg1"/>
                </a:solidFill>
                <a:latin typeface="Trebuchet MS"/>
                <a:cs typeface="Trebuchet MS"/>
              </a:rPr>
              <a:t>o</a:t>
            </a:r>
            <a:r>
              <a:rPr sz="1456" spc="2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43" dirty="0">
                <a:solidFill>
                  <a:schemeClr val="bg1"/>
                </a:solidFill>
                <a:latin typeface="Trebuchet MS"/>
                <a:cs typeface="Trebuchet MS"/>
              </a:rPr>
              <a:t>produto.</a:t>
            </a:r>
            <a:endParaRPr sz="1456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L="227772" indent="-226931">
              <a:spcBef>
                <a:spcPts val="397"/>
              </a:spcBef>
              <a:buClr>
                <a:srgbClr val="7E7E7E"/>
              </a:buClr>
              <a:buSzPct val="65909"/>
              <a:buFont typeface="Arial" panose="020B0604020202020204" pitchFamily="34" charset="0"/>
              <a:buChar char="•"/>
              <a:tabLst>
                <a:tab pos="76484" algn="l"/>
              </a:tabLst>
            </a:pPr>
            <a:r>
              <a:rPr sz="1456" spc="83" dirty="0">
                <a:solidFill>
                  <a:schemeClr val="bg1"/>
                </a:solidFill>
                <a:latin typeface="Trebuchet MS"/>
                <a:cs typeface="Trebuchet MS"/>
              </a:rPr>
              <a:t>Número</a:t>
            </a:r>
            <a:r>
              <a:rPr sz="1456" spc="5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dirty="0">
                <a:solidFill>
                  <a:schemeClr val="bg1"/>
                </a:solidFill>
                <a:latin typeface="Trebuchet MS"/>
                <a:cs typeface="Trebuchet MS"/>
              </a:rPr>
              <a:t>e</a:t>
            </a:r>
            <a:r>
              <a:rPr sz="1456" spc="2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63" dirty="0">
                <a:solidFill>
                  <a:schemeClr val="bg1"/>
                </a:solidFill>
                <a:latin typeface="Trebuchet MS"/>
                <a:cs typeface="Trebuchet MS"/>
              </a:rPr>
              <a:t>tipos</a:t>
            </a:r>
            <a:r>
              <a:rPr sz="1456" spc="3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50" dirty="0">
                <a:solidFill>
                  <a:schemeClr val="bg1"/>
                </a:solidFill>
                <a:latin typeface="Trebuchet MS"/>
                <a:cs typeface="Trebuchet MS"/>
              </a:rPr>
              <a:t>de</a:t>
            </a:r>
            <a:r>
              <a:rPr sz="1456" spc="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66" dirty="0">
                <a:solidFill>
                  <a:schemeClr val="bg1"/>
                </a:solidFill>
                <a:latin typeface="Trebuchet MS"/>
                <a:cs typeface="Trebuchet MS"/>
              </a:rPr>
              <a:t>erros</a:t>
            </a:r>
            <a:r>
              <a:rPr sz="1456" spc="3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73" dirty="0">
                <a:solidFill>
                  <a:schemeClr val="bg1"/>
                </a:solidFill>
                <a:latin typeface="Trebuchet MS"/>
                <a:cs typeface="Trebuchet MS"/>
              </a:rPr>
              <a:t>por</a:t>
            </a:r>
            <a:r>
              <a:rPr sz="1456" spc="3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-7" dirty="0">
                <a:solidFill>
                  <a:schemeClr val="bg1"/>
                </a:solidFill>
                <a:latin typeface="Trebuchet MS"/>
                <a:cs typeface="Trebuchet MS"/>
              </a:rPr>
              <a:t>tarefa.</a:t>
            </a:r>
            <a:endParaRPr sz="1456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L="227772" indent="-226931">
              <a:spcBef>
                <a:spcPts val="420"/>
              </a:spcBef>
              <a:buClr>
                <a:srgbClr val="7E7E7E"/>
              </a:buClr>
              <a:buSzPct val="65909"/>
              <a:buFont typeface="Arial" panose="020B0604020202020204" pitchFamily="34" charset="0"/>
              <a:buChar char="•"/>
              <a:tabLst>
                <a:tab pos="76484" algn="l"/>
              </a:tabLst>
            </a:pPr>
            <a:r>
              <a:rPr sz="1456" spc="83" dirty="0">
                <a:solidFill>
                  <a:schemeClr val="bg1"/>
                </a:solidFill>
                <a:latin typeface="Trebuchet MS"/>
                <a:cs typeface="Trebuchet MS"/>
              </a:rPr>
              <a:t>Número</a:t>
            </a:r>
            <a:r>
              <a:rPr sz="1456" spc="5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50" dirty="0">
                <a:solidFill>
                  <a:schemeClr val="bg1"/>
                </a:solidFill>
                <a:latin typeface="Trebuchet MS"/>
                <a:cs typeface="Trebuchet MS"/>
              </a:rPr>
              <a:t>de</a:t>
            </a:r>
            <a:r>
              <a:rPr sz="1456" spc="3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63" dirty="0">
                <a:solidFill>
                  <a:schemeClr val="bg1"/>
                </a:solidFill>
                <a:latin typeface="Trebuchet MS"/>
                <a:cs typeface="Trebuchet MS"/>
              </a:rPr>
              <a:t>erros</a:t>
            </a:r>
            <a:r>
              <a:rPr sz="1456" spc="1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79" dirty="0">
                <a:solidFill>
                  <a:schemeClr val="bg1"/>
                </a:solidFill>
                <a:latin typeface="Trebuchet MS"/>
                <a:cs typeface="Trebuchet MS"/>
              </a:rPr>
              <a:t>por</a:t>
            </a:r>
            <a:r>
              <a:rPr sz="1456" spc="3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63" dirty="0">
                <a:solidFill>
                  <a:schemeClr val="bg1"/>
                </a:solidFill>
                <a:latin typeface="Trebuchet MS"/>
                <a:cs typeface="Trebuchet MS"/>
              </a:rPr>
              <a:t>unidade</a:t>
            </a:r>
            <a:r>
              <a:rPr sz="1456" spc="5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50" dirty="0">
                <a:solidFill>
                  <a:schemeClr val="bg1"/>
                </a:solidFill>
                <a:latin typeface="Trebuchet MS"/>
                <a:cs typeface="Trebuchet MS"/>
              </a:rPr>
              <a:t>de</a:t>
            </a:r>
            <a:r>
              <a:rPr sz="1456" spc="3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30" dirty="0">
                <a:solidFill>
                  <a:schemeClr val="bg1"/>
                </a:solidFill>
                <a:latin typeface="Trebuchet MS"/>
                <a:cs typeface="Trebuchet MS"/>
              </a:rPr>
              <a:t>tempo.</a:t>
            </a:r>
            <a:endParaRPr sz="1456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L="227772" marR="183226" indent="-226931">
              <a:lnSpc>
                <a:spcPts val="1575"/>
              </a:lnSpc>
              <a:spcBef>
                <a:spcPts val="615"/>
              </a:spcBef>
              <a:buClr>
                <a:srgbClr val="7E7E7E"/>
              </a:buClr>
              <a:buSzPct val="65909"/>
              <a:buFont typeface="Arial" panose="020B0604020202020204" pitchFamily="34" charset="0"/>
              <a:buChar char="•"/>
              <a:tabLst>
                <a:tab pos="76484" algn="l"/>
              </a:tabLst>
            </a:pPr>
            <a:r>
              <a:rPr sz="1456" spc="83" dirty="0" err="1">
                <a:solidFill>
                  <a:schemeClr val="bg1"/>
                </a:solidFill>
                <a:latin typeface="Trebuchet MS"/>
                <a:cs typeface="Trebuchet MS"/>
              </a:rPr>
              <a:t>Número</a:t>
            </a:r>
            <a:r>
              <a:rPr sz="1456" spc="5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50" dirty="0">
                <a:solidFill>
                  <a:schemeClr val="bg1"/>
                </a:solidFill>
                <a:latin typeface="Trebuchet MS"/>
                <a:cs typeface="Trebuchet MS"/>
              </a:rPr>
              <a:t>de</a:t>
            </a:r>
            <a:r>
              <a:rPr sz="1456" spc="43" dirty="0">
                <a:solidFill>
                  <a:schemeClr val="bg1"/>
                </a:solidFill>
                <a:latin typeface="Trebuchet MS"/>
                <a:cs typeface="Trebuchet MS"/>
              </a:rPr>
              <a:t> interações</a:t>
            </a:r>
            <a:r>
              <a:rPr sz="1456" spc="2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63" dirty="0">
                <a:solidFill>
                  <a:schemeClr val="bg1"/>
                </a:solidFill>
                <a:latin typeface="Trebuchet MS"/>
                <a:cs typeface="Trebuchet MS"/>
              </a:rPr>
              <a:t>necessárias</a:t>
            </a:r>
            <a:r>
              <a:rPr sz="1456" spc="2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50" dirty="0">
                <a:solidFill>
                  <a:schemeClr val="bg1"/>
                </a:solidFill>
                <a:latin typeface="Trebuchet MS"/>
                <a:cs typeface="Trebuchet MS"/>
              </a:rPr>
              <a:t>para</a:t>
            </a:r>
            <a:r>
              <a:rPr sz="1456" spc="3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46" dirty="0">
                <a:solidFill>
                  <a:schemeClr val="bg1"/>
                </a:solidFill>
                <a:latin typeface="Trebuchet MS"/>
                <a:cs typeface="Trebuchet MS"/>
              </a:rPr>
              <a:t>help</a:t>
            </a:r>
            <a:r>
              <a:rPr sz="1456" spc="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50" dirty="0">
                <a:solidFill>
                  <a:schemeClr val="bg1"/>
                </a:solidFill>
                <a:latin typeface="Trebuchet MS"/>
                <a:cs typeface="Trebuchet MS"/>
              </a:rPr>
              <a:t>online</a:t>
            </a:r>
            <a:r>
              <a:rPr sz="1456" spc="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86" dirty="0">
                <a:solidFill>
                  <a:schemeClr val="bg1"/>
                </a:solidFill>
                <a:latin typeface="Trebuchet MS"/>
                <a:cs typeface="Trebuchet MS"/>
              </a:rPr>
              <a:t>ou </a:t>
            </a:r>
            <a:r>
              <a:rPr sz="1456" spc="53" dirty="0">
                <a:solidFill>
                  <a:schemeClr val="bg1"/>
                </a:solidFill>
                <a:latin typeface="Trebuchet MS"/>
                <a:cs typeface="Trebuchet MS"/>
              </a:rPr>
              <a:t>manuais.</a:t>
            </a:r>
            <a:endParaRPr sz="1456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L="227772" indent="-226931">
              <a:spcBef>
                <a:spcPts val="394"/>
              </a:spcBef>
              <a:buClr>
                <a:srgbClr val="7E7E7E"/>
              </a:buClr>
              <a:buSzPct val="65909"/>
              <a:buFont typeface="Arial" panose="020B0604020202020204" pitchFamily="34" charset="0"/>
              <a:buChar char="•"/>
              <a:tabLst>
                <a:tab pos="76484" algn="l"/>
              </a:tabLst>
            </a:pPr>
            <a:r>
              <a:rPr sz="1456" spc="83" dirty="0">
                <a:solidFill>
                  <a:schemeClr val="bg1"/>
                </a:solidFill>
                <a:latin typeface="Trebuchet MS"/>
                <a:cs typeface="Trebuchet MS"/>
              </a:rPr>
              <a:t>Número</a:t>
            </a:r>
            <a:r>
              <a:rPr sz="1456" spc="6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50" dirty="0">
                <a:solidFill>
                  <a:schemeClr val="bg1"/>
                </a:solidFill>
                <a:latin typeface="Trebuchet MS"/>
                <a:cs typeface="Trebuchet MS"/>
              </a:rPr>
              <a:t>de</a:t>
            </a:r>
            <a:r>
              <a:rPr sz="1456" spc="4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83" dirty="0">
                <a:solidFill>
                  <a:schemeClr val="bg1"/>
                </a:solidFill>
                <a:latin typeface="Trebuchet MS"/>
                <a:cs typeface="Trebuchet MS"/>
              </a:rPr>
              <a:t>usuários</a:t>
            </a:r>
            <a:r>
              <a:rPr sz="1456" spc="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60" dirty="0">
                <a:solidFill>
                  <a:schemeClr val="bg1"/>
                </a:solidFill>
                <a:latin typeface="Trebuchet MS"/>
                <a:cs typeface="Trebuchet MS"/>
              </a:rPr>
              <a:t>cometendo</a:t>
            </a:r>
            <a:r>
              <a:rPr sz="1456" spc="4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53" dirty="0">
                <a:solidFill>
                  <a:schemeClr val="bg1"/>
                </a:solidFill>
                <a:latin typeface="Trebuchet MS"/>
                <a:cs typeface="Trebuchet MS"/>
              </a:rPr>
              <a:t>determinado</a:t>
            </a:r>
            <a:r>
              <a:rPr sz="1456" spc="5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-7" dirty="0">
                <a:solidFill>
                  <a:schemeClr val="bg1"/>
                </a:solidFill>
                <a:latin typeface="Trebuchet MS"/>
                <a:cs typeface="Trebuchet MS"/>
              </a:rPr>
              <a:t>erro.</a:t>
            </a:r>
            <a:endParaRPr sz="1456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L="227772" indent="-226931">
              <a:spcBef>
                <a:spcPts val="420"/>
              </a:spcBef>
              <a:buClr>
                <a:srgbClr val="7E7E7E"/>
              </a:buClr>
              <a:buSzPct val="65909"/>
              <a:buFont typeface="Arial" panose="020B0604020202020204" pitchFamily="34" charset="0"/>
              <a:buChar char="•"/>
              <a:tabLst>
                <a:tab pos="76484" algn="l"/>
              </a:tabLst>
            </a:pPr>
            <a:r>
              <a:rPr sz="1456" spc="83" dirty="0">
                <a:solidFill>
                  <a:schemeClr val="bg1"/>
                </a:solidFill>
                <a:latin typeface="Trebuchet MS"/>
                <a:cs typeface="Trebuchet MS"/>
              </a:rPr>
              <a:t>Número</a:t>
            </a:r>
            <a:r>
              <a:rPr sz="1456" spc="6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50" dirty="0">
                <a:solidFill>
                  <a:schemeClr val="bg1"/>
                </a:solidFill>
                <a:latin typeface="Trebuchet MS"/>
                <a:cs typeface="Trebuchet MS"/>
              </a:rPr>
              <a:t>de </a:t>
            </a:r>
            <a:r>
              <a:rPr sz="1456" spc="83" dirty="0">
                <a:solidFill>
                  <a:schemeClr val="bg1"/>
                </a:solidFill>
                <a:latin typeface="Trebuchet MS"/>
                <a:cs typeface="Trebuchet MS"/>
              </a:rPr>
              <a:t>usuários</a:t>
            </a:r>
            <a:r>
              <a:rPr sz="1456" spc="4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60" dirty="0">
                <a:solidFill>
                  <a:schemeClr val="bg1"/>
                </a:solidFill>
                <a:latin typeface="Trebuchet MS"/>
                <a:cs typeface="Trebuchet MS"/>
              </a:rPr>
              <a:t>completando</a:t>
            </a:r>
            <a:r>
              <a:rPr sz="1456" spc="6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36" dirty="0">
                <a:solidFill>
                  <a:schemeClr val="bg1"/>
                </a:solidFill>
                <a:latin typeface="Trebuchet MS"/>
                <a:cs typeface="Trebuchet MS"/>
              </a:rPr>
              <a:t>a</a:t>
            </a:r>
            <a:r>
              <a:rPr sz="1456" spc="4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dirty="0">
                <a:solidFill>
                  <a:schemeClr val="bg1"/>
                </a:solidFill>
                <a:latin typeface="Trebuchet MS"/>
                <a:cs typeface="Trebuchet MS"/>
              </a:rPr>
              <a:t>tarefa</a:t>
            </a:r>
            <a:r>
              <a:rPr sz="1456" spc="1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86" dirty="0">
                <a:solidFill>
                  <a:schemeClr val="bg1"/>
                </a:solidFill>
                <a:latin typeface="Trebuchet MS"/>
                <a:cs typeface="Trebuchet MS"/>
              </a:rPr>
              <a:t>com</a:t>
            </a:r>
            <a:r>
              <a:rPr sz="1456" spc="7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456" spc="66" dirty="0">
                <a:solidFill>
                  <a:schemeClr val="bg1"/>
                </a:solidFill>
                <a:latin typeface="Trebuchet MS"/>
                <a:cs typeface="Trebuchet MS"/>
              </a:rPr>
              <a:t>sucesso.</a:t>
            </a:r>
            <a:endParaRPr sz="1456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0262"/>
            <a:ext cx="1662813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1.</a:t>
            </a:r>
            <a:r>
              <a:rPr sz="1655" spc="-20" dirty="0"/>
              <a:t> </a:t>
            </a:r>
            <a:r>
              <a:rPr sz="1655" dirty="0"/>
              <a:t>plano</a:t>
            </a:r>
            <a:r>
              <a:rPr sz="1655" spc="-7" dirty="0"/>
              <a:t> </a:t>
            </a:r>
            <a:r>
              <a:rPr sz="1655" dirty="0"/>
              <a:t>de</a:t>
            </a:r>
            <a:r>
              <a:rPr sz="1655" spc="-30" dirty="0"/>
              <a:t> </a:t>
            </a:r>
            <a:r>
              <a:rPr sz="1655" spc="-13" dirty="0"/>
              <a:t>teste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8" y="673386"/>
            <a:ext cx="4865734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2.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recrutamento;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3.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preparação;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6.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BFBFBF"/>
                </a:solidFill>
                <a:latin typeface="Arial"/>
                <a:cs typeface="Arial"/>
              </a:rPr>
              <a:t>relato</a:t>
            </a:r>
            <a:endParaRPr sz="119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0763" y="1076771"/>
            <a:ext cx="2219185" cy="161738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objetivos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(gerais)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 marR="121030">
              <a:spcBef>
                <a:spcPts val="993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perguntas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avaliação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visa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responder</a:t>
            </a:r>
            <a:endParaRPr sz="1191">
              <a:latin typeface="Arial MT"/>
              <a:cs typeface="Arial MT"/>
            </a:endParaRPr>
          </a:p>
          <a:p>
            <a:pPr marL="8405" marR="709790">
              <a:lnSpc>
                <a:spcPct val="169400"/>
              </a:lnSpc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perfil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usuário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>
              <a:spcBef>
                <a:spcPts val="101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ambiente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/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equipamento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0763" y="2817514"/>
            <a:ext cx="2102364" cy="156327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tarefas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serem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observadas</a:t>
            </a:r>
            <a:endParaRPr sz="1191">
              <a:latin typeface="Arial MT"/>
              <a:cs typeface="Arial MT"/>
            </a:endParaRPr>
          </a:p>
          <a:p>
            <a:pPr marL="8405">
              <a:spcBef>
                <a:spcPts val="1134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serão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coletados</a:t>
            </a:r>
            <a:endParaRPr sz="1191">
              <a:latin typeface="Arial MT"/>
              <a:cs typeface="Arial MT"/>
            </a:endParaRPr>
          </a:p>
          <a:p>
            <a:pPr marL="8405" marR="3362">
              <a:lnSpc>
                <a:spcPct val="110000"/>
              </a:lnSpc>
              <a:spcBef>
                <a:spcPts val="993"/>
              </a:spcBef>
            </a:pP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procedimento</a:t>
            </a:r>
            <a:r>
              <a:rPr sz="1191" b="1" spc="-30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de</a:t>
            </a:r>
            <a:r>
              <a:rPr sz="1191" b="1" spc="-36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análise</a:t>
            </a:r>
            <a:r>
              <a:rPr sz="1191" b="1" spc="-36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spc="-17" dirty="0">
                <a:solidFill>
                  <a:srgbClr val="FF6D0A"/>
                </a:solidFill>
                <a:latin typeface="Arial"/>
                <a:cs typeface="Arial"/>
              </a:rPr>
              <a:t>dos </a:t>
            </a:r>
            <a:r>
              <a:rPr sz="1191" b="1" spc="-7" dirty="0">
                <a:solidFill>
                  <a:srgbClr val="FF6D0A"/>
                </a:solidFill>
                <a:latin typeface="Arial"/>
                <a:cs typeface="Arial"/>
              </a:rPr>
              <a:t>dados</a:t>
            </a:r>
            <a:endParaRPr sz="1191">
              <a:latin typeface="Arial"/>
              <a:cs typeface="Arial"/>
            </a:endParaRPr>
          </a:p>
          <a:p>
            <a:pPr marL="8405" marR="172720">
              <a:lnSpc>
                <a:spcPct val="110000"/>
              </a:lnSpc>
              <a:spcBef>
                <a:spcPts val="993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conteúdo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apresentação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do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relatório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4163" y="1076771"/>
            <a:ext cx="2368783" cy="86974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spc="-7" dirty="0">
                <a:solidFill>
                  <a:schemeClr val="bg1"/>
                </a:solidFill>
                <a:latin typeface="Arial"/>
                <a:cs typeface="Arial"/>
              </a:rPr>
              <a:t>estatísticas</a:t>
            </a:r>
            <a:endParaRPr sz="1191" dirty="0">
              <a:solidFill>
                <a:schemeClr val="bg1"/>
              </a:solidFill>
              <a:latin typeface="Arial"/>
              <a:cs typeface="Arial"/>
            </a:endParaRPr>
          </a:p>
          <a:p>
            <a:pPr marL="8405" marR="3362">
              <a:spcBef>
                <a:spcPts val="993"/>
              </a:spcBef>
            </a:pPr>
            <a:r>
              <a:rPr sz="1191" b="1" dirty="0">
                <a:solidFill>
                  <a:schemeClr val="bg1"/>
                </a:solidFill>
                <a:latin typeface="Arial"/>
                <a:cs typeface="Arial"/>
              </a:rPr>
              <a:t>triangulação</a:t>
            </a:r>
            <a:r>
              <a:rPr sz="1191" b="1" spc="-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entre</a:t>
            </a:r>
            <a:r>
              <a:rPr sz="1191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dados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observados,</a:t>
            </a:r>
            <a:r>
              <a:rPr sz="1191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depoimentos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espontâneos e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dados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da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entrevista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63390" y="1074083"/>
            <a:ext cx="366432" cy="3623982"/>
            <a:chOff x="4562855" y="1623059"/>
            <a:chExt cx="553720" cy="5476240"/>
          </a:xfrm>
        </p:grpSpPr>
        <p:sp>
          <p:nvSpPr>
            <p:cNvPr id="8" name="object 8"/>
            <p:cNvSpPr/>
            <p:nvPr/>
          </p:nvSpPr>
          <p:spPr>
            <a:xfrm>
              <a:off x="5096255" y="1623059"/>
              <a:ext cx="20320" cy="5476240"/>
            </a:xfrm>
            <a:custGeom>
              <a:avLst/>
              <a:gdLst/>
              <a:ahLst/>
              <a:cxnLst/>
              <a:rect l="l" t="t" r="r" b="b"/>
              <a:pathLst>
                <a:path w="20320" h="5476240">
                  <a:moveTo>
                    <a:pt x="19812" y="5475732"/>
                  </a:moveTo>
                  <a:lnTo>
                    <a:pt x="0" y="5475732"/>
                  </a:lnTo>
                  <a:lnTo>
                    <a:pt x="0" y="0"/>
                  </a:lnTo>
                  <a:lnTo>
                    <a:pt x="19812" y="0"/>
                  </a:lnTo>
                  <a:lnTo>
                    <a:pt x="19812" y="5475732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62855" y="5454396"/>
              <a:ext cx="542925" cy="0"/>
            </a:xfrm>
            <a:custGeom>
              <a:avLst/>
              <a:gdLst/>
              <a:ahLst/>
              <a:cxnLst/>
              <a:rect l="l" t="t" r="r" b="b"/>
              <a:pathLst>
                <a:path w="542925">
                  <a:moveTo>
                    <a:pt x="0" y="0"/>
                  </a:moveTo>
                  <a:lnTo>
                    <a:pt x="542544" y="0"/>
                  </a:lnTo>
                </a:path>
              </a:pathLst>
            </a:custGeom>
            <a:ln w="27432">
              <a:solidFill>
                <a:srgbClr val="A5A5A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0262"/>
            <a:ext cx="1662813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1.</a:t>
            </a:r>
            <a:r>
              <a:rPr sz="1655" spc="-20" dirty="0"/>
              <a:t> </a:t>
            </a:r>
            <a:r>
              <a:rPr sz="1655" dirty="0"/>
              <a:t>plano</a:t>
            </a:r>
            <a:r>
              <a:rPr sz="1655" spc="-7" dirty="0"/>
              <a:t> </a:t>
            </a:r>
            <a:r>
              <a:rPr sz="1655" dirty="0"/>
              <a:t>de</a:t>
            </a:r>
            <a:r>
              <a:rPr sz="1655" spc="-30" dirty="0"/>
              <a:t> </a:t>
            </a:r>
            <a:r>
              <a:rPr sz="1655" spc="-13" dirty="0"/>
              <a:t>teste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8" y="673386"/>
            <a:ext cx="4865734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2.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recrutamento;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3.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preparação;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4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6.</a:t>
            </a:r>
            <a:r>
              <a:rPr sz="1191" b="1" spc="-2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BFBFBF"/>
                </a:solidFill>
                <a:latin typeface="Arial"/>
                <a:cs typeface="Arial"/>
              </a:rPr>
              <a:t>relato</a:t>
            </a:r>
            <a:endParaRPr sz="119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0763" y="1076771"/>
            <a:ext cx="2219185" cy="161738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objetivos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(gerais)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 marR="121030">
              <a:spcBef>
                <a:spcPts val="993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perguntas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26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avaliação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visa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responder</a:t>
            </a:r>
            <a:endParaRPr sz="1191">
              <a:latin typeface="Arial MT"/>
              <a:cs typeface="Arial MT"/>
            </a:endParaRPr>
          </a:p>
          <a:p>
            <a:pPr marL="8405" marR="709790">
              <a:lnSpc>
                <a:spcPct val="169400"/>
              </a:lnSpc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perfil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usuário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  <a:p>
            <a:pPr marL="8405">
              <a:spcBef>
                <a:spcPts val="101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ambiente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/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equipamento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rgbClr val="3F3F3F"/>
                </a:solidFill>
                <a:latin typeface="Arial MT"/>
                <a:cs typeface="Arial MT"/>
              </a:rPr>
              <a:t>teste</a:t>
            </a:r>
            <a:endParaRPr sz="1191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0763" y="2817515"/>
            <a:ext cx="2402821" cy="136360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tarefas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serem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observadas</a:t>
            </a:r>
            <a:endParaRPr sz="1191">
              <a:latin typeface="Arial MT"/>
              <a:cs typeface="Arial MT"/>
            </a:endParaRPr>
          </a:p>
          <a:p>
            <a:pPr marL="8405" marR="3362">
              <a:lnSpc>
                <a:spcPct val="179400"/>
              </a:lnSpc>
            </a:pP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que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serão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coletados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procedimento</a:t>
            </a:r>
            <a:r>
              <a:rPr sz="1191" spc="-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de</a:t>
            </a:r>
            <a:r>
              <a:rPr sz="1191" spc="-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análise</a:t>
            </a:r>
            <a:r>
              <a:rPr sz="1191" spc="-1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rgbClr val="3F3F3F"/>
                </a:solidFill>
                <a:latin typeface="Arial MT"/>
                <a:cs typeface="Arial MT"/>
              </a:rPr>
              <a:t>dos</a:t>
            </a:r>
            <a:r>
              <a:rPr sz="1191" spc="-23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rgbClr val="3F3F3F"/>
                </a:solidFill>
                <a:latin typeface="Arial MT"/>
                <a:cs typeface="Arial MT"/>
              </a:rPr>
              <a:t>dados</a:t>
            </a:r>
            <a:endParaRPr sz="1191">
              <a:latin typeface="Arial MT"/>
              <a:cs typeface="Arial MT"/>
            </a:endParaRPr>
          </a:p>
          <a:p>
            <a:pPr marL="8405" marR="337455">
              <a:lnSpc>
                <a:spcPct val="110000"/>
              </a:lnSpc>
              <a:spcBef>
                <a:spcPts val="993"/>
              </a:spcBef>
            </a:pP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conteúdo</a:t>
            </a:r>
            <a:r>
              <a:rPr sz="1191" b="1" spc="-43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e</a:t>
            </a:r>
            <a:r>
              <a:rPr sz="1191" b="1" spc="-46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FF6D0A"/>
                </a:solidFill>
                <a:latin typeface="Arial"/>
                <a:cs typeface="Arial"/>
              </a:rPr>
              <a:t>apresentação</a:t>
            </a:r>
            <a:r>
              <a:rPr sz="1191" b="1" spc="-26" dirty="0">
                <a:solidFill>
                  <a:srgbClr val="FF6D0A"/>
                </a:solidFill>
                <a:latin typeface="Arial"/>
                <a:cs typeface="Arial"/>
              </a:rPr>
              <a:t> </a:t>
            </a:r>
            <a:r>
              <a:rPr sz="1191" b="1" spc="-17" dirty="0">
                <a:solidFill>
                  <a:srgbClr val="FF6D0A"/>
                </a:solidFill>
                <a:latin typeface="Arial"/>
                <a:cs typeface="Arial"/>
              </a:rPr>
              <a:t>do </a:t>
            </a:r>
            <a:r>
              <a:rPr sz="1191" b="1" spc="-7" dirty="0">
                <a:solidFill>
                  <a:srgbClr val="FF6D0A"/>
                </a:solidFill>
                <a:latin typeface="Arial"/>
                <a:cs typeface="Arial"/>
              </a:rPr>
              <a:t>relatório</a:t>
            </a:r>
            <a:endParaRPr sz="1191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4163" y="1093909"/>
            <a:ext cx="1612386" cy="19174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estrutura</a:t>
            </a:r>
            <a:r>
              <a:rPr sz="1191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documento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9164" y="1316782"/>
            <a:ext cx="2265829" cy="660035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196674" indent="-188269">
              <a:spcBef>
                <a:spcPts val="63"/>
              </a:spcBef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planejamento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execução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descrição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059" spc="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análise</a:t>
            </a:r>
            <a:r>
              <a:rPr sz="1059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dirty="0">
                <a:solidFill>
                  <a:schemeClr val="bg1"/>
                </a:solidFill>
                <a:latin typeface="Arial MT"/>
                <a:cs typeface="Arial MT"/>
              </a:rPr>
              <a:t>dos</a:t>
            </a:r>
            <a:r>
              <a:rPr sz="1059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resultados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96674" indent="-188269">
              <a:buClr>
                <a:srgbClr val="7E7E7E"/>
              </a:buClr>
              <a:buSzPct val="90625"/>
              <a:buFont typeface="Wingdings"/>
              <a:buChar char=""/>
              <a:tabLst>
                <a:tab pos="196674" algn="l"/>
              </a:tabLst>
            </a:pPr>
            <a:r>
              <a:rPr sz="1059" spc="-7" dirty="0">
                <a:solidFill>
                  <a:schemeClr val="bg1"/>
                </a:solidFill>
                <a:latin typeface="Arial MT"/>
                <a:cs typeface="Arial MT"/>
              </a:rPr>
              <a:t>recomendações</a:t>
            </a:r>
            <a:endParaRPr sz="1059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49115" y="1074083"/>
            <a:ext cx="280707" cy="3623982"/>
            <a:chOff x="4692396" y="1623059"/>
            <a:chExt cx="424180" cy="5476240"/>
          </a:xfrm>
        </p:grpSpPr>
        <p:sp>
          <p:nvSpPr>
            <p:cNvPr id="9" name="object 9"/>
            <p:cNvSpPr/>
            <p:nvPr/>
          </p:nvSpPr>
          <p:spPr>
            <a:xfrm>
              <a:off x="5096255" y="1623059"/>
              <a:ext cx="20320" cy="5476240"/>
            </a:xfrm>
            <a:custGeom>
              <a:avLst/>
              <a:gdLst/>
              <a:ahLst/>
              <a:cxnLst/>
              <a:rect l="l" t="t" r="r" b="b"/>
              <a:pathLst>
                <a:path w="20320" h="5476240">
                  <a:moveTo>
                    <a:pt x="19812" y="5475732"/>
                  </a:moveTo>
                  <a:lnTo>
                    <a:pt x="0" y="5475732"/>
                  </a:lnTo>
                  <a:lnTo>
                    <a:pt x="0" y="0"/>
                  </a:lnTo>
                  <a:lnTo>
                    <a:pt x="19812" y="0"/>
                  </a:lnTo>
                  <a:lnTo>
                    <a:pt x="19812" y="5475732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35068" y="5955030"/>
              <a:ext cx="370840" cy="0"/>
            </a:xfrm>
            <a:custGeom>
              <a:avLst/>
              <a:gdLst/>
              <a:ahLst/>
              <a:cxnLst/>
              <a:rect l="l" t="t" r="r" b="b"/>
              <a:pathLst>
                <a:path w="370839">
                  <a:moveTo>
                    <a:pt x="0" y="0"/>
                  </a:moveTo>
                  <a:lnTo>
                    <a:pt x="370332" y="0"/>
                  </a:lnTo>
                </a:path>
              </a:pathLst>
            </a:custGeom>
            <a:ln w="28956">
              <a:solidFill>
                <a:srgbClr val="A5A5A5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92396" y="5940551"/>
              <a:ext cx="13970" cy="29209"/>
            </a:xfrm>
            <a:custGeom>
              <a:avLst/>
              <a:gdLst/>
              <a:ahLst/>
              <a:cxnLst/>
              <a:rect l="l" t="t" r="r" b="b"/>
              <a:pathLst>
                <a:path w="13970" h="29210">
                  <a:moveTo>
                    <a:pt x="13716" y="28956"/>
                  </a:moveTo>
                  <a:lnTo>
                    <a:pt x="0" y="28956"/>
                  </a:lnTo>
                  <a:lnTo>
                    <a:pt x="0" y="0"/>
                  </a:lnTo>
                  <a:lnTo>
                    <a:pt x="13716" y="0"/>
                  </a:lnTo>
                  <a:lnTo>
                    <a:pt x="13716" y="28956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3023" y="368808"/>
            <a:ext cx="3880104" cy="441198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90246" y="170179"/>
            <a:ext cx="3376295" cy="4761230"/>
          </a:xfrm>
          <a:custGeom>
            <a:avLst/>
            <a:gdLst/>
            <a:ahLst/>
            <a:cxnLst/>
            <a:rect l="l" t="t" r="r" b="b"/>
            <a:pathLst>
              <a:path w="3376295" h="4761230">
                <a:moveTo>
                  <a:pt x="3325368" y="50800"/>
                </a:moveTo>
                <a:lnTo>
                  <a:pt x="50800" y="50800"/>
                </a:lnTo>
                <a:lnTo>
                  <a:pt x="50800" y="127000"/>
                </a:lnTo>
                <a:lnTo>
                  <a:pt x="63500" y="127000"/>
                </a:lnTo>
                <a:lnTo>
                  <a:pt x="63500" y="4698238"/>
                </a:lnTo>
                <a:lnTo>
                  <a:pt x="3312668" y="4698238"/>
                </a:lnTo>
                <a:lnTo>
                  <a:pt x="3312668" y="127000"/>
                </a:lnTo>
                <a:lnTo>
                  <a:pt x="3325368" y="127000"/>
                </a:lnTo>
                <a:lnTo>
                  <a:pt x="3325368" y="50800"/>
                </a:lnTo>
                <a:close/>
              </a:path>
              <a:path w="3376295" h="4761230">
                <a:moveTo>
                  <a:pt x="3376168" y="0"/>
                </a:moveTo>
                <a:lnTo>
                  <a:pt x="0" y="0"/>
                </a:lnTo>
                <a:lnTo>
                  <a:pt x="0" y="25400"/>
                </a:lnTo>
                <a:lnTo>
                  <a:pt x="0" y="4735830"/>
                </a:lnTo>
                <a:lnTo>
                  <a:pt x="0" y="4761230"/>
                </a:lnTo>
                <a:lnTo>
                  <a:pt x="3376168" y="4761230"/>
                </a:lnTo>
                <a:lnTo>
                  <a:pt x="3376168" y="4736338"/>
                </a:lnTo>
                <a:lnTo>
                  <a:pt x="3376168" y="4735830"/>
                </a:lnTo>
                <a:lnTo>
                  <a:pt x="3376168" y="25654"/>
                </a:lnTo>
                <a:lnTo>
                  <a:pt x="3350768" y="25654"/>
                </a:lnTo>
                <a:lnTo>
                  <a:pt x="3350768" y="4735830"/>
                </a:lnTo>
                <a:lnTo>
                  <a:pt x="25400" y="4735830"/>
                </a:lnTo>
                <a:lnTo>
                  <a:pt x="25400" y="25400"/>
                </a:lnTo>
                <a:lnTo>
                  <a:pt x="3376168" y="25400"/>
                </a:lnTo>
                <a:lnTo>
                  <a:pt x="3376168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5000" y="1161033"/>
            <a:ext cx="2486025" cy="27089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indent="-1270" algn="ctr">
              <a:lnSpc>
                <a:spcPct val="90000"/>
              </a:lnSpc>
              <a:spcBef>
                <a:spcPts val="484"/>
              </a:spcBef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Arial"/>
                <a:cs typeface="Arial"/>
              </a:rPr>
              <a:t>objetivo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 teste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deve</a:t>
            </a:r>
            <a:r>
              <a:rPr sz="3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ser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estabelecido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primeiro momento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406" y="293623"/>
            <a:ext cx="19989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Sujeitos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652" y="1510665"/>
            <a:ext cx="5018405" cy="2921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marR="624205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84785" algn="l"/>
                <a:tab pos="304800" algn="l"/>
              </a:tabLst>
            </a:pP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	Partir</a:t>
            </a:r>
            <a:r>
              <a:rPr sz="3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dos</a:t>
            </a:r>
            <a:r>
              <a:rPr sz="3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estudos</a:t>
            </a:r>
            <a:r>
              <a:rPr sz="3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de </a:t>
            </a:r>
            <a:r>
              <a:rPr sz="3400" spc="-10" dirty="0">
                <a:solidFill>
                  <a:srgbClr val="FFFFFF"/>
                </a:solidFill>
                <a:latin typeface="Arial MT"/>
                <a:cs typeface="Arial MT"/>
              </a:rPr>
              <a:t>usuário</a:t>
            </a:r>
            <a:endParaRPr sz="3400">
              <a:latin typeface="Arial MT"/>
              <a:cs typeface="Arial MT"/>
            </a:endParaRPr>
          </a:p>
          <a:p>
            <a:pPr marL="305435" indent="-292735">
              <a:lnSpc>
                <a:spcPct val="100000"/>
              </a:lnSpc>
              <a:spcBef>
                <a:spcPts val="795"/>
              </a:spcBef>
              <a:buChar char="•"/>
              <a:tabLst>
                <a:tab pos="305435" algn="l"/>
              </a:tabLst>
            </a:pP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Escolher</a:t>
            </a:r>
            <a:r>
              <a:rPr sz="3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população</a:t>
            </a:r>
            <a:r>
              <a:rPr sz="3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20" dirty="0">
                <a:solidFill>
                  <a:srgbClr val="FFFFFF"/>
                </a:solidFill>
                <a:latin typeface="Arial MT"/>
                <a:cs typeface="Arial MT"/>
              </a:rPr>
              <a:t>alvo</a:t>
            </a:r>
            <a:endParaRPr sz="3400">
              <a:latin typeface="Arial MT"/>
              <a:cs typeface="Arial MT"/>
            </a:endParaRPr>
          </a:p>
          <a:p>
            <a:pPr marL="304800" indent="-292100">
              <a:lnSpc>
                <a:spcPct val="100000"/>
              </a:lnSpc>
              <a:spcBef>
                <a:spcPts val="805"/>
              </a:spcBef>
              <a:buChar char="•"/>
              <a:tabLst>
                <a:tab pos="304800" algn="l"/>
              </a:tabLst>
            </a:pPr>
            <a:r>
              <a:rPr sz="3400" spc="-10" dirty="0">
                <a:solidFill>
                  <a:srgbClr val="FFFFFF"/>
                </a:solidFill>
                <a:latin typeface="Arial MT"/>
                <a:cs typeface="Arial MT"/>
              </a:rPr>
              <a:t>Recrutar</a:t>
            </a:r>
            <a:endParaRPr sz="3400">
              <a:latin typeface="Arial MT"/>
              <a:cs typeface="Arial MT"/>
            </a:endParaRPr>
          </a:p>
          <a:p>
            <a:pPr marL="305435" indent="-292735">
              <a:lnSpc>
                <a:spcPct val="100000"/>
              </a:lnSpc>
              <a:spcBef>
                <a:spcPts val="805"/>
              </a:spcBef>
              <a:buChar char="•"/>
              <a:tabLst>
                <a:tab pos="305435" algn="l"/>
              </a:tabLst>
            </a:pPr>
            <a:r>
              <a:rPr sz="3400" spc="-10" dirty="0">
                <a:solidFill>
                  <a:srgbClr val="FFFFFF"/>
                </a:solidFill>
                <a:latin typeface="Arial MT"/>
                <a:cs typeface="Arial MT"/>
              </a:rPr>
              <a:t>Recompensar</a:t>
            </a:r>
            <a:endParaRPr sz="3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90005" y="-6350"/>
            <a:ext cx="3256279" cy="5156200"/>
            <a:chOff x="5890005" y="-6350"/>
            <a:chExt cx="3256279" cy="5156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6355" y="0"/>
              <a:ext cx="3243199" cy="51434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896355" y="0"/>
              <a:ext cx="3243580" cy="5143500"/>
            </a:xfrm>
            <a:custGeom>
              <a:avLst/>
              <a:gdLst/>
              <a:ahLst/>
              <a:cxnLst/>
              <a:rect l="l" t="t" r="r" b="b"/>
              <a:pathLst>
                <a:path w="3243579" h="5143500">
                  <a:moveTo>
                    <a:pt x="0" y="324358"/>
                  </a:moveTo>
                  <a:lnTo>
                    <a:pt x="3515" y="276413"/>
                  </a:lnTo>
                  <a:lnTo>
                    <a:pt x="13728" y="230657"/>
                  </a:lnTo>
                  <a:lnTo>
                    <a:pt x="30137" y="187591"/>
                  </a:lnTo>
                  <a:lnTo>
                    <a:pt x="52241" y="147715"/>
                  </a:lnTo>
                  <a:lnTo>
                    <a:pt x="79539" y="111531"/>
                  </a:lnTo>
                  <a:lnTo>
                    <a:pt x="111531" y="79539"/>
                  </a:lnTo>
                  <a:lnTo>
                    <a:pt x="147715" y="52241"/>
                  </a:lnTo>
                  <a:lnTo>
                    <a:pt x="187591" y="30137"/>
                  </a:lnTo>
                  <a:lnTo>
                    <a:pt x="230657" y="13728"/>
                  </a:lnTo>
                  <a:lnTo>
                    <a:pt x="276413" y="3515"/>
                  </a:lnTo>
                  <a:lnTo>
                    <a:pt x="324358" y="0"/>
                  </a:lnTo>
                  <a:lnTo>
                    <a:pt x="2918841" y="0"/>
                  </a:lnTo>
                  <a:lnTo>
                    <a:pt x="2966785" y="3515"/>
                  </a:lnTo>
                  <a:lnTo>
                    <a:pt x="3012541" y="13728"/>
                  </a:lnTo>
                  <a:lnTo>
                    <a:pt x="3055607" y="30137"/>
                  </a:lnTo>
                  <a:lnTo>
                    <a:pt x="3095483" y="52241"/>
                  </a:lnTo>
                  <a:lnTo>
                    <a:pt x="3131667" y="79539"/>
                  </a:lnTo>
                  <a:lnTo>
                    <a:pt x="3163659" y="111531"/>
                  </a:lnTo>
                  <a:lnTo>
                    <a:pt x="3190957" y="147715"/>
                  </a:lnTo>
                  <a:lnTo>
                    <a:pt x="3213061" y="187591"/>
                  </a:lnTo>
                  <a:lnTo>
                    <a:pt x="3229470" y="230657"/>
                  </a:lnTo>
                  <a:lnTo>
                    <a:pt x="3239683" y="276413"/>
                  </a:lnTo>
                  <a:lnTo>
                    <a:pt x="3243199" y="324358"/>
                  </a:lnTo>
                  <a:lnTo>
                    <a:pt x="3243199" y="4819180"/>
                  </a:lnTo>
                  <a:lnTo>
                    <a:pt x="3239683" y="4867106"/>
                  </a:lnTo>
                  <a:lnTo>
                    <a:pt x="3229470" y="4912849"/>
                  </a:lnTo>
                  <a:lnTo>
                    <a:pt x="3213061" y="4955906"/>
                  </a:lnTo>
                  <a:lnTo>
                    <a:pt x="3190957" y="4995777"/>
                  </a:lnTo>
                  <a:lnTo>
                    <a:pt x="3163659" y="5031959"/>
                  </a:lnTo>
                  <a:lnTo>
                    <a:pt x="3131667" y="5063950"/>
                  </a:lnTo>
                  <a:lnTo>
                    <a:pt x="3095483" y="5091250"/>
                  </a:lnTo>
                  <a:lnTo>
                    <a:pt x="3055607" y="5113357"/>
                  </a:lnTo>
                  <a:lnTo>
                    <a:pt x="3012541" y="5129768"/>
                  </a:lnTo>
                  <a:lnTo>
                    <a:pt x="2966785" y="5139983"/>
                  </a:lnTo>
                  <a:lnTo>
                    <a:pt x="2918841" y="5143499"/>
                  </a:lnTo>
                  <a:lnTo>
                    <a:pt x="324358" y="5143499"/>
                  </a:lnTo>
                  <a:lnTo>
                    <a:pt x="276413" y="5139983"/>
                  </a:lnTo>
                  <a:lnTo>
                    <a:pt x="230657" y="5129768"/>
                  </a:lnTo>
                  <a:lnTo>
                    <a:pt x="187591" y="5113357"/>
                  </a:lnTo>
                  <a:lnTo>
                    <a:pt x="147715" y="5091250"/>
                  </a:lnTo>
                  <a:lnTo>
                    <a:pt x="111531" y="5063950"/>
                  </a:lnTo>
                  <a:lnTo>
                    <a:pt x="79539" y="5031959"/>
                  </a:lnTo>
                  <a:lnTo>
                    <a:pt x="52241" y="4995777"/>
                  </a:lnTo>
                  <a:lnTo>
                    <a:pt x="30137" y="4955906"/>
                  </a:lnTo>
                  <a:lnTo>
                    <a:pt x="13728" y="4912849"/>
                  </a:lnTo>
                  <a:lnTo>
                    <a:pt x="3515" y="4867106"/>
                  </a:lnTo>
                  <a:lnTo>
                    <a:pt x="0" y="4819180"/>
                  </a:lnTo>
                  <a:lnTo>
                    <a:pt x="0" y="3243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2000" y="168279"/>
            <a:ext cx="7085235" cy="1854721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 marR="3362">
              <a:spcBef>
                <a:spcPts val="63"/>
              </a:spcBef>
            </a:pPr>
            <a:r>
              <a:rPr spc="129" dirty="0">
                <a:latin typeface="Trebuchet MS"/>
                <a:cs typeface="Trebuchet MS"/>
              </a:rPr>
              <a:t>Quantos</a:t>
            </a:r>
            <a:r>
              <a:rPr spc="53" dirty="0">
                <a:latin typeface="Trebuchet MS"/>
                <a:cs typeface="Trebuchet MS"/>
              </a:rPr>
              <a:t> </a:t>
            </a:r>
            <a:r>
              <a:rPr spc="126" dirty="0">
                <a:latin typeface="Trebuchet MS"/>
                <a:cs typeface="Trebuchet MS"/>
              </a:rPr>
              <a:t>usuários</a:t>
            </a:r>
            <a:r>
              <a:rPr spc="73" dirty="0">
                <a:latin typeface="Trebuchet MS"/>
                <a:cs typeface="Trebuchet MS"/>
              </a:rPr>
              <a:t> </a:t>
            </a:r>
            <a:r>
              <a:rPr spc="159" dirty="0">
                <a:latin typeface="Trebuchet MS"/>
                <a:cs typeface="Trebuchet MS"/>
              </a:rPr>
              <a:t>são</a:t>
            </a:r>
            <a:r>
              <a:rPr spc="46" dirty="0">
                <a:latin typeface="Trebuchet MS"/>
                <a:cs typeface="Trebuchet MS"/>
              </a:rPr>
              <a:t> </a:t>
            </a:r>
            <a:r>
              <a:rPr spc="106" dirty="0">
                <a:latin typeface="Trebuchet MS"/>
                <a:cs typeface="Trebuchet MS"/>
              </a:rPr>
              <a:t>necessários</a:t>
            </a:r>
            <a:r>
              <a:rPr spc="89" dirty="0">
                <a:latin typeface="Trebuchet MS"/>
                <a:cs typeface="Trebuchet MS"/>
              </a:rPr>
              <a:t> </a:t>
            </a:r>
            <a:r>
              <a:rPr spc="79" dirty="0">
                <a:latin typeface="Trebuchet MS"/>
                <a:cs typeface="Trebuchet MS"/>
              </a:rPr>
              <a:t>para </a:t>
            </a:r>
            <a:r>
              <a:rPr spc="93" dirty="0">
                <a:latin typeface="Trebuchet MS"/>
                <a:cs typeface="Trebuchet MS"/>
              </a:rPr>
              <a:t>testes</a:t>
            </a:r>
            <a:r>
              <a:rPr spc="7" dirty="0">
                <a:latin typeface="Trebuchet MS"/>
                <a:cs typeface="Trebuchet MS"/>
              </a:rPr>
              <a:t> </a:t>
            </a:r>
            <a:r>
              <a:rPr spc="75" dirty="0">
                <a:latin typeface="Trebuchet MS"/>
                <a:cs typeface="Trebuchet MS"/>
              </a:rPr>
              <a:t>de</a:t>
            </a:r>
            <a:r>
              <a:rPr spc="43" dirty="0">
                <a:latin typeface="Trebuchet MS"/>
                <a:cs typeface="Trebuchet MS"/>
              </a:rPr>
              <a:t> </a:t>
            </a:r>
            <a:r>
              <a:rPr spc="96" dirty="0">
                <a:latin typeface="Trebuchet MS"/>
                <a:cs typeface="Trebuchet MS"/>
              </a:rPr>
              <a:t>usabilidade?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8800" y="2023000"/>
            <a:ext cx="5135936" cy="274551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 marR="117668">
              <a:lnSpc>
                <a:spcPct val="116799"/>
              </a:lnSpc>
              <a:spcBef>
                <a:spcPts val="66"/>
              </a:spcBef>
            </a:pPr>
            <a:r>
              <a:rPr sz="1853" spc="185" dirty="0">
                <a:solidFill>
                  <a:schemeClr val="bg1"/>
                </a:solidFill>
                <a:latin typeface="Trebuchet MS"/>
                <a:cs typeface="Trebuchet MS"/>
              </a:rPr>
              <a:t>O</a:t>
            </a:r>
            <a:r>
              <a:rPr sz="1853" spc="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109" dirty="0">
                <a:solidFill>
                  <a:schemeClr val="bg1"/>
                </a:solidFill>
                <a:latin typeface="Trebuchet MS"/>
                <a:cs typeface="Trebuchet MS"/>
              </a:rPr>
              <a:t>número</a:t>
            </a:r>
            <a:r>
              <a:rPr sz="1853" spc="3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dirty="0">
                <a:solidFill>
                  <a:schemeClr val="bg1"/>
                </a:solidFill>
                <a:latin typeface="Trebuchet MS"/>
                <a:cs typeface="Trebuchet MS"/>
              </a:rPr>
              <a:t>é</a:t>
            </a:r>
            <a:r>
              <a:rPr sz="1853" spc="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119" dirty="0">
                <a:solidFill>
                  <a:schemeClr val="bg1"/>
                </a:solidFill>
                <a:latin typeface="Trebuchet MS"/>
                <a:cs typeface="Trebuchet MS"/>
              </a:rPr>
              <a:t>uma</a:t>
            </a:r>
            <a:r>
              <a:rPr sz="1853" spc="3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86" dirty="0">
                <a:solidFill>
                  <a:schemeClr val="bg1"/>
                </a:solidFill>
                <a:latin typeface="Trebuchet MS"/>
                <a:cs typeface="Trebuchet MS"/>
              </a:rPr>
              <a:t>questão</a:t>
            </a:r>
            <a:r>
              <a:rPr sz="1853" spc="3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69" dirty="0">
                <a:solidFill>
                  <a:schemeClr val="bg1"/>
                </a:solidFill>
                <a:latin typeface="Trebuchet MS"/>
                <a:cs typeface="Trebuchet MS"/>
              </a:rPr>
              <a:t>de</a:t>
            </a:r>
            <a:r>
              <a:rPr sz="1853" spc="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103" dirty="0">
                <a:solidFill>
                  <a:schemeClr val="bg1"/>
                </a:solidFill>
                <a:latin typeface="Trebuchet MS"/>
                <a:cs typeface="Trebuchet MS"/>
              </a:rPr>
              <a:t>ordem</a:t>
            </a:r>
            <a:r>
              <a:rPr sz="1853" spc="3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-7" dirty="0">
                <a:solidFill>
                  <a:schemeClr val="bg1"/>
                </a:solidFill>
                <a:latin typeface="Trebuchet MS"/>
                <a:cs typeface="Trebuchet MS"/>
              </a:rPr>
              <a:t>prática. </a:t>
            </a:r>
            <a:r>
              <a:rPr sz="1853" spc="99" dirty="0">
                <a:solidFill>
                  <a:schemeClr val="bg1"/>
                </a:solidFill>
                <a:latin typeface="Trebuchet MS"/>
                <a:cs typeface="Trebuchet MS"/>
              </a:rPr>
              <a:t>Depende</a:t>
            </a:r>
            <a:r>
              <a:rPr sz="1853" spc="3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-17" dirty="0">
                <a:solidFill>
                  <a:schemeClr val="bg1"/>
                </a:solidFill>
                <a:latin typeface="Trebuchet MS"/>
                <a:cs typeface="Trebuchet MS"/>
              </a:rPr>
              <a:t>de:</a:t>
            </a:r>
            <a:endParaRPr sz="1853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L="231974" marR="1663742">
              <a:lnSpc>
                <a:spcPct val="121300"/>
              </a:lnSpc>
              <a:spcBef>
                <a:spcPts val="7"/>
              </a:spcBef>
            </a:pPr>
            <a:r>
              <a:rPr sz="1588" spc="60" dirty="0">
                <a:solidFill>
                  <a:schemeClr val="bg1"/>
                </a:solidFill>
                <a:latin typeface="Trebuchet MS"/>
                <a:cs typeface="Trebuchet MS"/>
              </a:rPr>
              <a:t>Prazo</a:t>
            </a:r>
            <a:r>
              <a:rPr sz="1588" spc="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588" spc="50" dirty="0">
                <a:solidFill>
                  <a:schemeClr val="bg1"/>
                </a:solidFill>
                <a:latin typeface="Trebuchet MS"/>
                <a:cs typeface="Trebuchet MS"/>
              </a:rPr>
              <a:t>para</a:t>
            </a:r>
            <a:r>
              <a:rPr sz="1588" spc="1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588" spc="142" dirty="0">
                <a:solidFill>
                  <a:schemeClr val="bg1"/>
                </a:solidFill>
                <a:latin typeface="Trebuchet MS"/>
                <a:cs typeface="Trebuchet MS"/>
              </a:rPr>
              <a:t>os</a:t>
            </a:r>
            <a:r>
              <a:rPr sz="1588" spc="2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588" spc="-7" dirty="0">
                <a:solidFill>
                  <a:schemeClr val="bg1"/>
                </a:solidFill>
                <a:latin typeface="Trebuchet MS"/>
                <a:cs typeface="Trebuchet MS"/>
              </a:rPr>
              <a:t>testes; </a:t>
            </a:r>
            <a:r>
              <a:rPr sz="1588" spc="66" dirty="0">
                <a:solidFill>
                  <a:schemeClr val="bg1"/>
                </a:solidFill>
                <a:latin typeface="Trebuchet MS"/>
                <a:cs typeface="Trebuchet MS"/>
              </a:rPr>
              <a:t>Disponibilidade</a:t>
            </a:r>
            <a:r>
              <a:rPr sz="1588" spc="69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588" spc="56" dirty="0">
                <a:solidFill>
                  <a:schemeClr val="bg1"/>
                </a:solidFill>
                <a:latin typeface="Trebuchet MS"/>
                <a:cs typeface="Trebuchet MS"/>
              </a:rPr>
              <a:t>de</a:t>
            </a:r>
            <a:r>
              <a:rPr sz="1588" spc="3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588" spc="23" dirty="0">
                <a:solidFill>
                  <a:schemeClr val="bg1"/>
                </a:solidFill>
                <a:latin typeface="Trebuchet MS"/>
                <a:cs typeface="Trebuchet MS"/>
              </a:rPr>
              <a:t>participantes; </a:t>
            </a:r>
            <a:r>
              <a:rPr sz="1588" spc="96" dirty="0">
                <a:solidFill>
                  <a:schemeClr val="bg1"/>
                </a:solidFill>
                <a:latin typeface="Trebuchet MS"/>
                <a:cs typeface="Trebuchet MS"/>
              </a:rPr>
              <a:t>Custo</a:t>
            </a:r>
            <a:r>
              <a:rPr sz="1588" spc="4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588" spc="56" dirty="0">
                <a:solidFill>
                  <a:schemeClr val="bg1"/>
                </a:solidFill>
                <a:latin typeface="Trebuchet MS"/>
                <a:cs typeface="Trebuchet MS"/>
              </a:rPr>
              <a:t>de</a:t>
            </a:r>
            <a:r>
              <a:rPr sz="1588" spc="2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588" spc="60" dirty="0">
                <a:solidFill>
                  <a:schemeClr val="bg1"/>
                </a:solidFill>
                <a:latin typeface="Trebuchet MS"/>
                <a:cs typeface="Trebuchet MS"/>
              </a:rPr>
              <a:t>execução</a:t>
            </a:r>
            <a:r>
              <a:rPr sz="1588" spc="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588" spc="122" dirty="0">
                <a:solidFill>
                  <a:schemeClr val="bg1"/>
                </a:solidFill>
                <a:latin typeface="Trebuchet MS"/>
                <a:cs typeface="Trebuchet MS"/>
              </a:rPr>
              <a:t>dos</a:t>
            </a:r>
            <a:r>
              <a:rPr sz="1588" spc="3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588" spc="-7" dirty="0">
                <a:solidFill>
                  <a:schemeClr val="bg1"/>
                </a:solidFill>
                <a:latin typeface="Trebuchet MS"/>
                <a:cs typeface="Trebuchet MS"/>
              </a:rPr>
              <a:t>testes.</a:t>
            </a:r>
            <a:endParaRPr sz="1588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L="8405">
              <a:spcBef>
                <a:spcPts val="364"/>
              </a:spcBef>
            </a:pPr>
            <a:r>
              <a:rPr sz="1853" spc="56" dirty="0">
                <a:solidFill>
                  <a:schemeClr val="bg1"/>
                </a:solidFill>
                <a:latin typeface="Trebuchet MS"/>
                <a:cs typeface="Trebuchet MS"/>
              </a:rPr>
              <a:t>Tipicamente</a:t>
            </a:r>
            <a:r>
              <a:rPr sz="1853" spc="1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53" dirty="0">
                <a:solidFill>
                  <a:schemeClr val="bg1"/>
                </a:solidFill>
                <a:latin typeface="Trebuchet MS"/>
                <a:cs typeface="Trebuchet MS"/>
              </a:rPr>
              <a:t>5-</a:t>
            </a:r>
            <a:r>
              <a:rPr sz="1853" spc="189" dirty="0">
                <a:solidFill>
                  <a:schemeClr val="bg1"/>
                </a:solidFill>
                <a:latin typeface="Trebuchet MS"/>
                <a:cs typeface="Trebuchet MS"/>
              </a:rPr>
              <a:t>10</a:t>
            </a:r>
            <a:r>
              <a:rPr sz="1853" spc="6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33" dirty="0">
                <a:solidFill>
                  <a:schemeClr val="bg1"/>
                </a:solidFill>
                <a:latin typeface="Trebuchet MS"/>
                <a:cs typeface="Trebuchet MS"/>
              </a:rPr>
              <a:t>participantes.</a:t>
            </a:r>
            <a:endParaRPr sz="1853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L="8405" marR="3362">
              <a:lnSpc>
                <a:spcPts val="1999"/>
              </a:lnSpc>
              <a:spcBef>
                <a:spcPts val="629"/>
              </a:spcBef>
            </a:pPr>
            <a:r>
              <a:rPr sz="1853" spc="139" dirty="0">
                <a:solidFill>
                  <a:schemeClr val="bg1"/>
                </a:solidFill>
                <a:latin typeface="Trebuchet MS"/>
                <a:cs typeface="Trebuchet MS"/>
              </a:rPr>
              <a:t>Alguns</a:t>
            </a:r>
            <a:r>
              <a:rPr sz="1853" spc="4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63" dirty="0">
                <a:solidFill>
                  <a:schemeClr val="bg1"/>
                </a:solidFill>
                <a:latin typeface="Trebuchet MS"/>
                <a:cs typeface="Trebuchet MS"/>
              </a:rPr>
              <a:t>especialistas</a:t>
            </a:r>
            <a:r>
              <a:rPr sz="1853" spc="2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96" dirty="0">
                <a:solidFill>
                  <a:schemeClr val="bg1"/>
                </a:solidFill>
                <a:latin typeface="Trebuchet MS"/>
                <a:cs typeface="Trebuchet MS"/>
              </a:rPr>
              <a:t>argumentam</a:t>
            </a:r>
            <a:r>
              <a:rPr sz="1853" spc="-7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96" dirty="0">
                <a:solidFill>
                  <a:schemeClr val="bg1"/>
                </a:solidFill>
                <a:latin typeface="Trebuchet MS"/>
                <a:cs typeface="Trebuchet MS"/>
              </a:rPr>
              <a:t>que</a:t>
            </a:r>
            <a:r>
              <a:rPr sz="1853" spc="2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-7" dirty="0">
                <a:solidFill>
                  <a:schemeClr val="bg1"/>
                </a:solidFill>
                <a:latin typeface="Trebuchet MS"/>
                <a:cs typeface="Trebuchet MS"/>
              </a:rPr>
              <a:t>teste </a:t>
            </a:r>
            <a:r>
              <a:rPr sz="1853" spc="56" dirty="0">
                <a:solidFill>
                  <a:schemeClr val="bg1"/>
                </a:solidFill>
                <a:latin typeface="Trebuchet MS"/>
                <a:cs typeface="Trebuchet MS"/>
              </a:rPr>
              <a:t>deve</a:t>
            </a:r>
            <a:r>
              <a:rPr sz="1853" spc="1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69" dirty="0">
                <a:solidFill>
                  <a:schemeClr val="bg1"/>
                </a:solidFill>
                <a:latin typeface="Trebuchet MS"/>
                <a:cs typeface="Trebuchet MS"/>
              </a:rPr>
              <a:t>continuar</a:t>
            </a:r>
            <a:r>
              <a:rPr sz="1853" spc="2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dirty="0">
                <a:solidFill>
                  <a:schemeClr val="bg1"/>
                </a:solidFill>
                <a:latin typeface="Trebuchet MS"/>
                <a:cs typeface="Trebuchet MS"/>
              </a:rPr>
              <a:t>até</a:t>
            </a:r>
            <a:r>
              <a:rPr sz="1853" spc="1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96" dirty="0">
                <a:solidFill>
                  <a:schemeClr val="bg1"/>
                </a:solidFill>
                <a:latin typeface="Trebuchet MS"/>
                <a:cs typeface="Trebuchet MS"/>
              </a:rPr>
              <a:t>que</a:t>
            </a:r>
            <a:r>
              <a:rPr sz="1853" spc="3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126" dirty="0">
                <a:solidFill>
                  <a:schemeClr val="bg1"/>
                </a:solidFill>
                <a:latin typeface="Trebuchet MS"/>
                <a:cs typeface="Trebuchet MS"/>
              </a:rPr>
              <a:t>nenhum</a:t>
            </a:r>
            <a:r>
              <a:rPr sz="1853" spc="17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109" dirty="0">
                <a:solidFill>
                  <a:schemeClr val="bg1"/>
                </a:solidFill>
                <a:latin typeface="Trebuchet MS"/>
                <a:cs typeface="Trebuchet MS"/>
              </a:rPr>
              <a:t>novo</a:t>
            </a:r>
            <a:r>
              <a:rPr sz="1853" spc="56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83" dirty="0">
                <a:solidFill>
                  <a:schemeClr val="bg1"/>
                </a:solidFill>
                <a:latin typeface="Trebuchet MS"/>
                <a:cs typeface="Trebuchet MS"/>
              </a:rPr>
              <a:t>insight </a:t>
            </a:r>
            <a:r>
              <a:rPr sz="1853" spc="33" dirty="0">
                <a:solidFill>
                  <a:schemeClr val="bg1"/>
                </a:solidFill>
                <a:latin typeface="Trebuchet MS"/>
                <a:cs typeface="Trebuchet MS"/>
              </a:rPr>
              <a:t>seja</a:t>
            </a:r>
            <a:r>
              <a:rPr sz="1853" spc="13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sz="1853" spc="50" dirty="0">
                <a:solidFill>
                  <a:schemeClr val="bg1"/>
                </a:solidFill>
                <a:latin typeface="Trebuchet MS"/>
                <a:cs typeface="Trebuchet MS"/>
              </a:rPr>
              <a:t>obtido.</a:t>
            </a:r>
            <a:endParaRPr sz="1853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435083A0-F654-3459-CA62-B21511FE2D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3308" y="1555772"/>
            <a:ext cx="1502664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wrap="square" lIns="60512" tIns="30256" rIns="60512" bIns="30256" rtlCol="0" anchor="ctr">
            <a:normAutofit/>
          </a:bodyPr>
          <a:lstStyle/>
          <a:p>
            <a:pPr marL="8405" algn="ctr" rtl="0">
              <a:lnSpc>
                <a:spcPct val="90000"/>
              </a:lnSpc>
              <a:spcBef>
                <a:spcPct val="0"/>
              </a:spcBef>
            </a:pPr>
            <a:r>
              <a:rPr lang="en-US" sz="1655" kern="1200" spc="109">
                <a:solidFill>
                  <a:srgbClr val="FFFFFF"/>
                </a:solidFill>
                <a:latin typeface="+mj-lt"/>
                <a:cs typeface="+mj-cs"/>
              </a:rPr>
              <a:t>Custo</a:t>
            </a:r>
            <a:r>
              <a:rPr lang="en-US" sz="1655" kern="1200" spc="50">
                <a:solidFill>
                  <a:srgbClr val="FFFFFF"/>
                </a:solidFill>
                <a:latin typeface="+mj-lt"/>
                <a:cs typeface="+mj-cs"/>
              </a:rPr>
              <a:t> </a:t>
            </a:r>
            <a:r>
              <a:rPr lang="en-US" sz="1655" kern="1200" spc="60">
                <a:solidFill>
                  <a:srgbClr val="FFFFFF"/>
                </a:solidFill>
                <a:latin typeface="+mj-lt"/>
                <a:cs typeface="+mj-cs"/>
              </a:rPr>
              <a:t>x</a:t>
            </a:r>
            <a:r>
              <a:rPr lang="en-US" sz="1655" kern="1200" spc="33">
                <a:solidFill>
                  <a:srgbClr val="FFFFFF"/>
                </a:solidFill>
                <a:latin typeface="+mj-lt"/>
                <a:cs typeface="+mj-cs"/>
              </a:rPr>
              <a:t> </a:t>
            </a:r>
            <a:r>
              <a:rPr lang="en-US" sz="1655" kern="1200" spc="53">
                <a:solidFill>
                  <a:srgbClr val="FFFFFF"/>
                </a:solidFill>
                <a:latin typeface="+mj-lt"/>
                <a:cs typeface="+mj-cs"/>
              </a:rPr>
              <a:t>benefício</a:t>
            </a:r>
            <a:r>
              <a:rPr lang="en-US" sz="1655" kern="1200" spc="69">
                <a:solidFill>
                  <a:srgbClr val="FFFFFF"/>
                </a:solidFill>
                <a:latin typeface="+mj-lt"/>
                <a:cs typeface="+mj-cs"/>
              </a:rPr>
              <a:t> </a:t>
            </a:r>
            <a:r>
              <a:rPr lang="en-US" sz="1655" kern="1200" spc="83">
                <a:solidFill>
                  <a:srgbClr val="FFFFFF"/>
                </a:solidFill>
                <a:latin typeface="+mj-lt"/>
                <a:cs typeface="+mj-cs"/>
              </a:rPr>
              <a:t>para</a:t>
            </a:r>
            <a:r>
              <a:rPr lang="en-US" sz="1655" kern="1200" spc="23">
                <a:solidFill>
                  <a:srgbClr val="FFFFFF"/>
                </a:solidFill>
                <a:latin typeface="+mj-lt"/>
                <a:cs typeface="+mj-cs"/>
              </a:rPr>
              <a:t> </a:t>
            </a:r>
            <a:r>
              <a:rPr lang="en-US" sz="1655" kern="1200" spc="56">
                <a:solidFill>
                  <a:srgbClr val="FFFFFF"/>
                </a:solidFill>
                <a:latin typeface="+mj-lt"/>
                <a:cs typeface="+mj-cs"/>
              </a:rPr>
              <a:t>execução</a:t>
            </a:r>
            <a:r>
              <a:rPr lang="en-US" sz="1655" kern="1200" spc="36">
                <a:solidFill>
                  <a:srgbClr val="FFFFFF"/>
                </a:solidFill>
                <a:latin typeface="+mj-lt"/>
                <a:cs typeface="+mj-cs"/>
              </a:rPr>
              <a:t> </a:t>
            </a:r>
            <a:r>
              <a:rPr lang="en-US" sz="1655" kern="1200" spc="60">
                <a:solidFill>
                  <a:srgbClr val="FFFFFF"/>
                </a:solidFill>
                <a:latin typeface="+mj-lt"/>
                <a:cs typeface="+mj-cs"/>
              </a:rPr>
              <a:t>de</a:t>
            </a:r>
            <a:r>
              <a:rPr lang="en-US" sz="1655" kern="1200" spc="40">
                <a:solidFill>
                  <a:srgbClr val="FFFFFF"/>
                </a:solidFill>
                <a:latin typeface="+mj-lt"/>
                <a:cs typeface="+mj-cs"/>
              </a:rPr>
              <a:t> </a:t>
            </a:r>
            <a:r>
              <a:rPr lang="en-US" sz="1655" kern="1200" spc="73">
                <a:solidFill>
                  <a:srgbClr val="FFFFFF"/>
                </a:solidFill>
                <a:latin typeface="+mj-lt"/>
                <a:cs typeface="+mj-cs"/>
              </a:rPr>
              <a:t>testes</a:t>
            </a:r>
            <a:endParaRPr lang="en-US" sz="1655" kern="1200">
              <a:solidFill>
                <a:srgbClr val="FFFFFF"/>
              </a:solidFill>
              <a:latin typeface="+mj-lt"/>
              <a:cs typeface="+mj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3D96BDC-B9C6-5A0B-7FB1-2DAAA358C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262" y="1109382"/>
            <a:ext cx="3924439" cy="225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058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373" y="265303"/>
            <a:ext cx="1238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Ética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367" y="1499488"/>
            <a:ext cx="5356225" cy="18732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890"/>
              </a:spcBef>
              <a:buChar char="•"/>
              <a:tabLst>
                <a:tab pos="286385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Analisar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riscos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ao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sujeito</a:t>
            </a:r>
            <a:endParaRPr sz="3600">
              <a:latin typeface="Arial MT"/>
              <a:cs typeface="Arial MT"/>
            </a:endParaRPr>
          </a:p>
          <a:p>
            <a:pPr marL="184785" marR="970915" indent="-172720">
              <a:lnSpc>
                <a:spcPct val="100000"/>
              </a:lnSpc>
              <a:spcBef>
                <a:spcPts val="795"/>
              </a:spcBef>
              <a:buChar char="•"/>
              <a:tabLst>
                <a:tab pos="184785" algn="l"/>
                <a:tab pos="310515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	Preparar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registro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de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consentimento</a:t>
            </a:r>
            <a:endParaRPr sz="3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97626" y="-6350"/>
            <a:ext cx="3253104" cy="5156200"/>
            <a:chOff x="5897626" y="-6350"/>
            <a:chExt cx="3253104" cy="5156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3976" y="0"/>
              <a:ext cx="3240024" cy="51434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03976" y="0"/>
              <a:ext cx="3240405" cy="5143500"/>
            </a:xfrm>
            <a:custGeom>
              <a:avLst/>
              <a:gdLst/>
              <a:ahLst/>
              <a:cxnLst/>
              <a:rect l="l" t="t" r="r" b="b"/>
              <a:pathLst>
                <a:path w="3240404" h="5143500">
                  <a:moveTo>
                    <a:pt x="0" y="323976"/>
                  </a:moveTo>
                  <a:lnTo>
                    <a:pt x="3512" y="276098"/>
                  </a:lnTo>
                  <a:lnTo>
                    <a:pt x="13715" y="230402"/>
                  </a:lnTo>
                  <a:lnTo>
                    <a:pt x="30108" y="187389"/>
                  </a:lnTo>
                  <a:lnTo>
                    <a:pt x="52190" y="147561"/>
                  </a:lnTo>
                  <a:lnTo>
                    <a:pt x="79460" y="111418"/>
                  </a:lnTo>
                  <a:lnTo>
                    <a:pt x="111418" y="79460"/>
                  </a:lnTo>
                  <a:lnTo>
                    <a:pt x="147561" y="52190"/>
                  </a:lnTo>
                  <a:lnTo>
                    <a:pt x="187389" y="30108"/>
                  </a:lnTo>
                  <a:lnTo>
                    <a:pt x="230402" y="13715"/>
                  </a:lnTo>
                  <a:lnTo>
                    <a:pt x="276098" y="3512"/>
                  </a:lnTo>
                  <a:lnTo>
                    <a:pt x="323976" y="0"/>
                  </a:lnTo>
                  <a:lnTo>
                    <a:pt x="2916047" y="0"/>
                  </a:lnTo>
                  <a:lnTo>
                    <a:pt x="2963925" y="3512"/>
                  </a:lnTo>
                  <a:lnTo>
                    <a:pt x="3009621" y="13715"/>
                  </a:lnTo>
                  <a:lnTo>
                    <a:pt x="3052634" y="30108"/>
                  </a:lnTo>
                  <a:lnTo>
                    <a:pt x="3092462" y="52190"/>
                  </a:lnTo>
                  <a:lnTo>
                    <a:pt x="3128605" y="79460"/>
                  </a:lnTo>
                  <a:lnTo>
                    <a:pt x="3160563" y="111418"/>
                  </a:lnTo>
                  <a:lnTo>
                    <a:pt x="3187833" y="147561"/>
                  </a:lnTo>
                  <a:lnTo>
                    <a:pt x="3209915" y="187389"/>
                  </a:lnTo>
                  <a:lnTo>
                    <a:pt x="3226308" y="230402"/>
                  </a:lnTo>
                  <a:lnTo>
                    <a:pt x="3236511" y="276098"/>
                  </a:lnTo>
                  <a:lnTo>
                    <a:pt x="3240024" y="323976"/>
                  </a:lnTo>
                  <a:lnTo>
                    <a:pt x="3240024" y="4819497"/>
                  </a:lnTo>
                  <a:lnTo>
                    <a:pt x="3236511" y="4867376"/>
                  </a:lnTo>
                  <a:lnTo>
                    <a:pt x="3226308" y="4913074"/>
                  </a:lnTo>
                  <a:lnTo>
                    <a:pt x="3209915" y="4956089"/>
                  </a:lnTo>
                  <a:lnTo>
                    <a:pt x="3187833" y="4995920"/>
                  </a:lnTo>
                  <a:lnTo>
                    <a:pt x="3160563" y="5032067"/>
                  </a:lnTo>
                  <a:lnTo>
                    <a:pt x="3128605" y="5064027"/>
                  </a:lnTo>
                  <a:lnTo>
                    <a:pt x="3092462" y="5091301"/>
                  </a:lnTo>
                  <a:lnTo>
                    <a:pt x="3052634" y="5113386"/>
                  </a:lnTo>
                  <a:lnTo>
                    <a:pt x="3009621" y="5129781"/>
                  </a:lnTo>
                  <a:lnTo>
                    <a:pt x="2963925" y="5139986"/>
                  </a:lnTo>
                  <a:lnTo>
                    <a:pt x="2916047" y="5143499"/>
                  </a:lnTo>
                  <a:lnTo>
                    <a:pt x="323976" y="5143499"/>
                  </a:lnTo>
                  <a:lnTo>
                    <a:pt x="276098" y="5139986"/>
                  </a:lnTo>
                  <a:lnTo>
                    <a:pt x="230402" y="5129781"/>
                  </a:lnTo>
                  <a:lnTo>
                    <a:pt x="187389" y="5113386"/>
                  </a:lnTo>
                  <a:lnTo>
                    <a:pt x="147561" y="5091301"/>
                  </a:lnTo>
                  <a:lnTo>
                    <a:pt x="111418" y="5064027"/>
                  </a:lnTo>
                  <a:lnTo>
                    <a:pt x="79460" y="5032067"/>
                  </a:lnTo>
                  <a:lnTo>
                    <a:pt x="52190" y="4995920"/>
                  </a:lnTo>
                  <a:lnTo>
                    <a:pt x="30108" y="4956089"/>
                  </a:lnTo>
                  <a:lnTo>
                    <a:pt x="13715" y="4913074"/>
                  </a:lnTo>
                  <a:lnTo>
                    <a:pt x="3512" y="4867376"/>
                  </a:lnTo>
                  <a:lnTo>
                    <a:pt x="0" y="4819497"/>
                  </a:lnTo>
                  <a:lnTo>
                    <a:pt x="0" y="32397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794" y="265303"/>
            <a:ext cx="21958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Cenários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957" y="1367535"/>
            <a:ext cx="4160520" cy="25241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890"/>
              </a:spcBef>
              <a:buChar char="•"/>
              <a:tabLst>
                <a:tab pos="311150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Identificar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tarefas</a:t>
            </a:r>
            <a:endParaRPr sz="3600">
              <a:latin typeface="Arial MT"/>
              <a:cs typeface="Arial MT"/>
            </a:endParaRPr>
          </a:p>
          <a:p>
            <a:pPr marL="184785" marR="5080" indent="-172720">
              <a:lnSpc>
                <a:spcPct val="100000"/>
              </a:lnSpc>
              <a:spcBef>
                <a:spcPts val="795"/>
              </a:spcBef>
              <a:buChar char="•"/>
              <a:tabLst>
                <a:tab pos="184785" algn="l"/>
                <a:tab pos="310515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	Redigir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material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de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apoio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ao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teste</a:t>
            </a:r>
            <a:endParaRPr sz="3600">
              <a:latin typeface="Arial MT"/>
              <a:cs typeface="Arial MT"/>
            </a:endParaRPr>
          </a:p>
          <a:p>
            <a:pPr marL="311150" indent="-298450">
              <a:lnSpc>
                <a:spcPct val="100000"/>
              </a:lnSpc>
              <a:spcBef>
                <a:spcPts val="810"/>
              </a:spcBef>
              <a:buChar char="•"/>
              <a:tabLst>
                <a:tab pos="311150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Calcular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duração</a:t>
            </a:r>
            <a:endParaRPr sz="3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08294" y="-6350"/>
            <a:ext cx="3242310" cy="5158105"/>
            <a:chOff x="5908294" y="-6350"/>
            <a:chExt cx="3242310" cy="51581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4644" y="129603"/>
              <a:ext cx="3229355" cy="501389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14644" y="0"/>
              <a:ext cx="3229610" cy="5145405"/>
            </a:xfrm>
            <a:custGeom>
              <a:avLst/>
              <a:gdLst/>
              <a:ahLst/>
              <a:cxnLst/>
              <a:rect l="l" t="t" r="r" b="b"/>
              <a:pathLst>
                <a:path w="3229609" h="5145405">
                  <a:moveTo>
                    <a:pt x="0" y="322961"/>
                  </a:moveTo>
                  <a:lnTo>
                    <a:pt x="3500" y="275220"/>
                  </a:lnTo>
                  <a:lnTo>
                    <a:pt x="13668" y="229660"/>
                  </a:lnTo>
                  <a:lnTo>
                    <a:pt x="30005" y="186779"/>
                  </a:lnTo>
                  <a:lnTo>
                    <a:pt x="52013" y="147075"/>
                  </a:lnTo>
                  <a:lnTo>
                    <a:pt x="79193" y="111047"/>
                  </a:lnTo>
                  <a:lnTo>
                    <a:pt x="111047" y="79193"/>
                  </a:lnTo>
                  <a:lnTo>
                    <a:pt x="147075" y="52013"/>
                  </a:lnTo>
                  <a:lnTo>
                    <a:pt x="186779" y="30005"/>
                  </a:lnTo>
                  <a:lnTo>
                    <a:pt x="229660" y="13668"/>
                  </a:lnTo>
                  <a:lnTo>
                    <a:pt x="275220" y="3500"/>
                  </a:lnTo>
                  <a:lnTo>
                    <a:pt x="322960" y="0"/>
                  </a:lnTo>
                  <a:lnTo>
                    <a:pt x="2906395" y="0"/>
                  </a:lnTo>
                  <a:lnTo>
                    <a:pt x="2954135" y="3500"/>
                  </a:lnTo>
                  <a:lnTo>
                    <a:pt x="2999695" y="13668"/>
                  </a:lnTo>
                  <a:lnTo>
                    <a:pt x="3042576" y="30005"/>
                  </a:lnTo>
                  <a:lnTo>
                    <a:pt x="3082280" y="52013"/>
                  </a:lnTo>
                  <a:lnTo>
                    <a:pt x="3118308" y="79193"/>
                  </a:lnTo>
                  <a:lnTo>
                    <a:pt x="3150162" y="111047"/>
                  </a:lnTo>
                  <a:lnTo>
                    <a:pt x="3177342" y="147075"/>
                  </a:lnTo>
                  <a:lnTo>
                    <a:pt x="3199350" y="186779"/>
                  </a:lnTo>
                  <a:lnTo>
                    <a:pt x="3215687" y="229660"/>
                  </a:lnTo>
                  <a:lnTo>
                    <a:pt x="3225855" y="275220"/>
                  </a:lnTo>
                  <a:lnTo>
                    <a:pt x="3229355" y="322961"/>
                  </a:lnTo>
                  <a:lnTo>
                    <a:pt x="3229355" y="4822088"/>
                  </a:lnTo>
                  <a:lnTo>
                    <a:pt x="3225855" y="4869808"/>
                  </a:lnTo>
                  <a:lnTo>
                    <a:pt x="3215687" y="4915354"/>
                  </a:lnTo>
                  <a:lnTo>
                    <a:pt x="3199350" y="4958227"/>
                  </a:lnTo>
                  <a:lnTo>
                    <a:pt x="3177342" y="4997927"/>
                  </a:lnTo>
                  <a:lnTo>
                    <a:pt x="3150162" y="5033955"/>
                  </a:lnTo>
                  <a:lnTo>
                    <a:pt x="3118308" y="5065810"/>
                  </a:lnTo>
                  <a:lnTo>
                    <a:pt x="3082280" y="5092995"/>
                  </a:lnTo>
                  <a:lnTo>
                    <a:pt x="3042576" y="5115008"/>
                  </a:lnTo>
                  <a:lnTo>
                    <a:pt x="2999695" y="5131350"/>
                  </a:lnTo>
                  <a:lnTo>
                    <a:pt x="2954135" y="5141521"/>
                  </a:lnTo>
                  <a:lnTo>
                    <a:pt x="2906395" y="5145023"/>
                  </a:lnTo>
                  <a:lnTo>
                    <a:pt x="322960" y="5145023"/>
                  </a:lnTo>
                  <a:lnTo>
                    <a:pt x="275220" y="5141521"/>
                  </a:lnTo>
                  <a:lnTo>
                    <a:pt x="229660" y="5131350"/>
                  </a:lnTo>
                  <a:lnTo>
                    <a:pt x="186779" y="5115008"/>
                  </a:lnTo>
                  <a:lnTo>
                    <a:pt x="147075" y="5092995"/>
                  </a:lnTo>
                  <a:lnTo>
                    <a:pt x="111047" y="5065810"/>
                  </a:lnTo>
                  <a:lnTo>
                    <a:pt x="79193" y="5033955"/>
                  </a:lnTo>
                  <a:lnTo>
                    <a:pt x="52013" y="4997927"/>
                  </a:lnTo>
                  <a:lnTo>
                    <a:pt x="30005" y="4958227"/>
                  </a:lnTo>
                  <a:lnTo>
                    <a:pt x="13668" y="4915354"/>
                  </a:lnTo>
                  <a:lnTo>
                    <a:pt x="3500" y="4869808"/>
                  </a:lnTo>
                  <a:lnTo>
                    <a:pt x="0" y="4822088"/>
                  </a:lnTo>
                  <a:lnTo>
                    <a:pt x="0" y="32296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508" y="246379"/>
            <a:ext cx="2336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Ambiente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1517141"/>
            <a:ext cx="4437380" cy="2933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0" dirty="0">
                <a:solidFill>
                  <a:srgbClr val="FFFFFF"/>
                </a:solidFill>
                <a:latin typeface="Arial MT"/>
                <a:cs typeface="Arial MT"/>
              </a:rPr>
              <a:t>Definir:</a:t>
            </a:r>
            <a:endParaRPr sz="3400">
              <a:latin typeface="Arial MT"/>
              <a:cs typeface="Arial MT"/>
            </a:endParaRPr>
          </a:p>
          <a:p>
            <a:pPr marL="637540" indent="-281940">
              <a:lnSpc>
                <a:spcPct val="100000"/>
              </a:lnSpc>
              <a:spcBef>
                <a:spcPts val="2740"/>
              </a:spcBef>
              <a:buChar char="•"/>
              <a:tabLst>
                <a:tab pos="637540" algn="l"/>
              </a:tabLst>
            </a:pP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Laboratório</a:t>
            </a:r>
            <a:r>
              <a:rPr sz="31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ou</a:t>
            </a:r>
            <a:r>
              <a:rPr sz="31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i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100" i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00" i="1" spc="-20" dirty="0">
                <a:solidFill>
                  <a:srgbClr val="FFFFFF"/>
                </a:solidFill>
                <a:latin typeface="Arial"/>
                <a:cs typeface="Arial"/>
              </a:rPr>
              <a:t>loco</a:t>
            </a:r>
            <a:endParaRPr sz="3100">
              <a:latin typeface="Arial"/>
              <a:cs typeface="Arial"/>
            </a:endParaRPr>
          </a:p>
          <a:p>
            <a:pPr marL="637540" indent="-281940">
              <a:lnSpc>
                <a:spcPct val="100000"/>
              </a:lnSpc>
              <a:spcBef>
                <a:spcPts val="405"/>
              </a:spcBef>
              <a:buChar char="•"/>
              <a:tabLst>
                <a:tab pos="637540" algn="l"/>
              </a:tabLst>
            </a:pP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Câmeras</a:t>
            </a:r>
            <a:endParaRPr sz="3100">
              <a:latin typeface="Arial MT"/>
              <a:cs typeface="Arial MT"/>
            </a:endParaRPr>
          </a:p>
          <a:p>
            <a:pPr marL="637540" indent="-281940">
              <a:lnSpc>
                <a:spcPct val="100000"/>
              </a:lnSpc>
              <a:spcBef>
                <a:spcPts val="400"/>
              </a:spcBef>
              <a:buChar char="•"/>
              <a:tabLst>
                <a:tab pos="637540" algn="l"/>
              </a:tabLst>
            </a:pP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Captura</a:t>
            </a:r>
            <a:r>
              <a:rPr sz="31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1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-20" dirty="0">
                <a:solidFill>
                  <a:srgbClr val="FFFFFF"/>
                </a:solidFill>
                <a:latin typeface="Arial MT"/>
                <a:cs typeface="Arial MT"/>
              </a:rPr>
              <a:t>tela</a:t>
            </a:r>
            <a:endParaRPr sz="3100">
              <a:latin typeface="Arial MT"/>
              <a:cs typeface="Arial MT"/>
            </a:endParaRPr>
          </a:p>
          <a:p>
            <a:pPr marL="637540" indent="-281940">
              <a:lnSpc>
                <a:spcPct val="100000"/>
              </a:lnSpc>
              <a:spcBef>
                <a:spcPts val="395"/>
              </a:spcBef>
              <a:buChar char="•"/>
              <a:tabLst>
                <a:tab pos="637540" algn="l"/>
              </a:tabLst>
            </a:pP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Equipe</a:t>
            </a:r>
            <a:endParaRPr sz="3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47917" y="-7874"/>
            <a:ext cx="3202940" cy="5158105"/>
            <a:chOff x="5947917" y="-7874"/>
            <a:chExt cx="3202940" cy="51581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4267" y="0"/>
              <a:ext cx="3189732" cy="51434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54267" y="-1524"/>
              <a:ext cx="3190240" cy="5145405"/>
            </a:xfrm>
            <a:custGeom>
              <a:avLst/>
              <a:gdLst/>
              <a:ahLst/>
              <a:cxnLst/>
              <a:rect l="l" t="t" r="r" b="b"/>
              <a:pathLst>
                <a:path w="3190240" h="5145405">
                  <a:moveTo>
                    <a:pt x="0" y="319024"/>
                  </a:moveTo>
                  <a:lnTo>
                    <a:pt x="3457" y="271862"/>
                  </a:lnTo>
                  <a:lnTo>
                    <a:pt x="13500" y="226855"/>
                  </a:lnTo>
                  <a:lnTo>
                    <a:pt x="29637" y="184495"/>
                  </a:lnTo>
                  <a:lnTo>
                    <a:pt x="51375" y="145275"/>
                  </a:lnTo>
                  <a:lnTo>
                    <a:pt x="78222" y="109686"/>
                  </a:lnTo>
                  <a:lnTo>
                    <a:pt x="109686" y="78222"/>
                  </a:lnTo>
                  <a:lnTo>
                    <a:pt x="145275" y="51375"/>
                  </a:lnTo>
                  <a:lnTo>
                    <a:pt x="184495" y="29637"/>
                  </a:lnTo>
                  <a:lnTo>
                    <a:pt x="226855" y="13500"/>
                  </a:lnTo>
                  <a:lnTo>
                    <a:pt x="271862" y="3457"/>
                  </a:lnTo>
                  <a:lnTo>
                    <a:pt x="319024" y="0"/>
                  </a:lnTo>
                  <a:lnTo>
                    <a:pt x="2870708" y="0"/>
                  </a:lnTo>
                  <a:lnTo>
                    <a:pt x="2917869" y="3457"/>
                  </a:lnTo>
                  <a:lnTo>
                    <a:pt x="2962876" y="13500"/>
                  </a:lnTo>
                  <a:lnTo>
                    <a:pt x="3005236" y="29637"/>
                  </a:lnTo>
                  <a:lnTo>
                    <a:pt x="3044456" y="51375"/>
                  </a:lnTo>
                  <a:lnTo>
                    <a:pt x="3080045" y="78222"/>
                  </a:lnTo>
                  <a:lnTo>
                    <a:pt x="3111509" y="109686"/>
                  </a:lnTo>
                  <a:lnTo>
                    <a:pt x="3138356" y="145275"/>
                  </a:lnTo>
                  <a:lnTo>
                    <a:pt x="3160094" y="184495"/>
                  </a:lnTo>
                  <a:lnTo>
                    <a:pt x="3176231" y="226855"/>
                  </a:lnTo>
                  <a:lnTo>
                    <a:pt x="3186274" y="271862"/>
                  </a:lnTo>
                  <a:lnTo>
                    <a:pt x="3189732" y="319024"/>
                  </a:lnTo>
                  <a:lnTo>
                    <a:pt x="3189732" y="4826050"/>
                  </a:lnTo>
                  <a:lnTo>
                    <a:pt x="3186274" y="4873185"/>
                  </a:lnTo>
                  <a:lnTo>
                    <a:pt x="3176231" y="4918174"/>
                  </a:lnTo>
                  <a:lnTo>
                    <a:pt x="3160094" y="4960521"/>
                  </a:lnTo>
                  <a:lnTo>
                    <a:pt x="3138356" y="4999735"/>
                  </a:lnTo>
                  <a:lnTo>
                    <a:pt x="3111509" y="5035321"/>
                  </a:lnTo>
                  <a:lnTo>
                    <a:pt x="3080045" y="5066787"/>
                  </a:lnTo>
                  <a:lnTo>
                    <a:pt x="3044456" y="5093638"/>
                  </a:lnTo>
                  <a:lnTo>
                    <a:pt x="3005236" y="5115381"/>
                  </a:lnTo>
                  <a:lnTo>
                    <a:pt x="2962876" y="5131523"/>
                  </a:lnTo>
                  <a:lnTo>
                    <a:pt x="2917869" y="5141570"/>
                  </a:lnTo>
                  <a:lnTo>
                    <a:pt x="2870708" y="5145029"/>
                  </a:lnTo>
                  <a:lnTo>
                    <a:pt x="319024" y="5145023"/>
                  </a:lnTo>
                  <a:lnTo>
                    <a:pt x="271862" y="5141565"/>
                  </a:lnTo>
                  <a:lnTo>
                    <a:pt x="226855" y="5131518"/>
                  </a:lnTo>
                  <a:lnTo>
                    <a:pt x="184495" y="5115377"/>
                  </a:lnTo>
                  <a:lnTo>
                    <a:pt x="145275" y="5093634"/>
                  </a:lnTo>
                  <a:lnTo>
                    <a:pt x="109686" y="5066784"/>
                  </a:lnTo>
                  <a:lnTo>
                    <a:pt x="78222" y="5035319"/>
                  </a:lnTo>
                  <a:lnTo>
                    <a:pt x="51375" y="4999733"/>
                  </a:lnTo>
                  <a:lnTo>
                    <a:pt x="29637" y="4960520"/>
                  </a:lnTo>
                  <a:lnTo>
                    <a:pt x="13500" y="4918173"/>
                  </a:lnTo>
                  <a:lnTo>
                    <a:pt x="3457" y="4873185"/>
                  </a:lnTo>
                  <a:lnTo>
                    <a:pt x="0" y="4826050"/>
                  </a:lnTo>
                  <a:lnTo>
                    <a:pt x="0" y="31902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2208"/>
            <a:ext cx="3802576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3.</a:t>
            </a:r>
            <a:r>
              <a:rPr sz="1655" spc="-23" dirty="0"/>
              <a:t> </a:t>
            </a:r>
            <a:r>
              <a:rPr sz="1655" dirty="0"/>
              <a:t>preparação</a:t>
            </a:r>
            <a:r>
              <a:rPr sz="1655" spc="-23" dirty="0"/>
              <a:t> </a:t>
            </a:r>
            <a:r>
              <a:rPr sz="1655" dirty="0"/>
              <a:t>do</a:t>
            </a:r>
            <a:r>
              <a:rPr sz="1655" spc="-26" dirty="0"/>
              <a:t> </a:t>
            </a:r>
            <a:r>
              <a:rPr sz="1655" dirty="0"/>
              <a:t>material</a:t>
            </a:r>
            <a:r>
              <a:rPr sz="1655" spc="-20" dirty="0"/>
              <a:t> </a:t>
            </a:r>
            <a:r>
              <a:rPr sz="1655" dirty="0"/>
              <a:t>para</a:t>
            </a:r>
            <a:r>
              <a:rPr sz="1655" spc="-33" dirty="0"/>
              <a:t> </a:t>
            </a:r>
            <a:r>
              <a:rPr sz="1655" dirty="0"/>
              <a:t>o</a:t>
            </a:r>
            <a:r>
              <a:rPr sz="1655" spc="-10" dirty="0"/>
              <a:t> </a:t>
            </a:r>
            <a:r>
              <a:rPr sz="1655" spc="-7" dirty="0"/>
              <a:t>teste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7" y="622414"/>
            <a:ext cx="5035924" cy="3501804"/>
          </a:xfrm>
          <a:prstGeom prst="rect">
            <a:avLst/>
          </a:prstGeom>
        </p:spPr>
        <p:txBody>
          <a:bodyPr vert="horz" wrap="square" lIns="0" tIns="61352" rIns="0" bIns="0" rtlCol="0">
            <a:spAutoFit/>
          </a:bodyPr>
          <a:lstStyle/>
          <a:p>
            <a:pPr marL="8405">
              <a:spcBef>
                <a:spcPts val="483"/>
              </a:spcBef>
              <a:tabLst>
                <a:tab pos="2317640" algn="l"/>
              </a:tabLst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1. plano; 2. recrutamento; </a:t>
            </a:r>
            <a:r>
              <a:rPr sz="1191" u="heavy" dirty="0">
                <a:solidFill>
                  <a:srgbClr val="BFBFBF"/>
                </a:solidFill>
                <a:uFill>
                  <a:solidFill>
                    <a:srgbClr val="BEBEBE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1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2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6.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BFBFBF"/>
                </a:solidFill>
                <a:latin typeface="Arial"/>
                <a:cs typeface="Arial"/>
              </a:rPr>
              <a:t>relato</a:t>
            </a:r>
            <a:endParaRPr sz="1191" dirty="0">
              <a:latin typeface="Arial"/>
              <a:cs typeface="Arial"/>
            </a:endParaRPr>
          </a:p>
          <a:p>
            <a:pPr marL="90772">
              <a:spcBef>
                <a:spcPts val="556"/>
              </a:spcBef>
            </a:pP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roteiro</a:t>
            </a:r>
            <a:r>
              <a:rPr sz="1588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(</a:t>
            </a:r>
            <a:r>
              <a:rPr sz="1588" i="1" dirty="0">
                <a:solidFill>
                  <a:schemeClr val="bg1"/>
                </a:solidFill>
                <a:latin typeface="Arial"/>
                <a:cs typeface="Arial"/>
              </a:rPr>
              <a:t>script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)</a:t>
            </a:r>
            <a:r>
              <a:rPr sz="1588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588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7" dirty="0">
                <a:solidFill>
                  <a:schemeClr val="bg1"/>
                </a:solidFill>
                <a:latin typeface="Arial MT"/>
                <a:cs typeface="Arial MT"/>
              </a:rPr>
              <a:t>orientação</a:t>
            </a:r>
            <a:endParaRPr sz="1588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 marR="3362">
              <a:lnSpc>
                <a:spcPts val="2694"/>
              </a:lnSpc>
              <a:spcBef>
                <a:spcPts val="218"/>
              </a:spcBef>
            </a:pP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questionário</a:t>
            </a:r>
            <a:r>
              <a:rPr sz="1588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13" dirty="0">
                <a:solidFill>
                  <a:schemeClr val="bg1"/>
                </a:solidFill>
                <a:latin typeface="Arial MT"/>
                <a:cs typeface="Arial MT"/>
              </a:rPr>
              <a:t>pré-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teste</a:t>
            </a:r>
            <a:r>
              <a:rPr sz="1588" spc="-5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(perfil,</a:t>
            </a:r>
            <a:r>
              <a:rPr sz="1588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7" dirty="0">
                <a:solidFill>
                  <a:schemeClr val="bg1"/>
                </a:solidFill>
                <a:latin typeface="Arial MT"/>
                <a:cs typeface="Arial MT"/>
              </a:rPr>
              <a:t>expectativas)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instrumentos</a:t>
            </a:r>
            <a:r>
              <a:rPr sz="1588" spc="-4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588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coleta</a:t>
            </a:r>
            <a:r>
              <a:rPr sz="1588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588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dados</a:t>
            </a:r>
            <a:r>
              <a:rPr sz="1588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(hardware</a:t>
            </a:r>
            <a:r>
              <a:rPr sz="1588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588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7" dirty="0">
                <a:solidFill>
                  <a:schemeClr val="bg1"/>
                </a:solidFill>
                <a:latin typeface="Arial MT"/>
                <a:cs typeface="Arial MT"/>
              </a:rPr>
              <a:t>software)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termo</a:t>
            </a:r>
            <a:r>
              <a:rPr sz="1588" spc="-5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588" spc="-5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consentimento</a:t>
            </a:r>
            <a:r>
              <a:rPr sz="1588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livre</a:t>
            </a:r>
            <a:r>
              <a:rPr sz="1588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588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esclarecido</a:t>
            </a:r>
            <a:r>
              <a:rPr sz="1588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7" dirty="0">
                <a:solidFill>
                  <a:schemeClr val="bg1"/>
                </a:solidFill>
                <a:latin typeface="Arial MT"/>
                <a:cs typeface="Arial MT"/>
              </a:rPr>
              <a:t>(TCLE)</a:t>
            </a:r>
            <a:endParaRPr sz="1588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14762">
              <a:spcBef>
                <a:spcPts val="168"/>
              </a:spcBef>
            </a:pP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(e,</a:t>
            </a:r>
            <a:r>
              <a:rPr sz="1324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em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alguns</a:t>
            </a:r>
            <a:r>
              <a:rPr sz="1324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casos,</a:t>
            </a:r>
            <a:r>
              <a:rPr sz="1324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spc="-13" dirty="0">
                <a:solidFill>
                  <a:schemeClr val="bg1"/>
                </a:solidFill>
                <a:latin typeface="Arial MT"/>
                <a:cs typeface="Arial MT"/>
              </a:rPr>
              <a:t>NDA</a:t>
            </a:r>
            <a:r>
              <a:rPr sz="1324" spc="-8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–</a:t>
            </a:r>
            <a:r>
              <a:rPr sz="1324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i="1" dirty="0">
                <a:solidFill>
                  <a:schemeClr val="bg1"/>
                </a:solidFill>
                <a:latin typeface="Arial"/>
                <a:cs typeface="Arial"/>
              </a:rPr>
              <a:t>non-disclosure</a:t>
            </a:r>
            <a:r>
              <a:rPr sz="1324" i="1" spc="-2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24" i="1" spc="-7" dirty="0">
                <a:solidFill>
                  <a:schemeClr val="bg1"/>
                </a:solidFill>
                <a:latin typeface="Arial"/>
                <a:cs typeface="Arial"/>
              </a:rPr>
              <a:t>agreement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)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 marR="1587258">
              <a:lnSpc>
                <a:spcPts val="2694"/>
              </a:lnSpc>
              <a:spcBef>
                <a:spcPts val="185"/>
              </a:spcBef>
            </a:pP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materiais</a:t>
            </a:r>
            <a:r>
              <a:rPr sz="1588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588" spc="-6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treinamento</a:t>
            </a:r>
            <a:r>
              <a:rPr sz="1588" spc="-5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7" dirty="0">
                <a:solidFill>
                  <a:schemeClr val="bg1"/>
                </a:solidFill>
                <a:latin typeface="Arial MT"/>
                <a:cs typeface="Arial MT"/>
              </a:rPr>
              <a:t>necessários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descrição</a:t>
            </a:r>
            <a:r>
              <a:rPr sz="1588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das</a:t>
            </a:r>
            <a:r>
              <a:rPr sz="1588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7" dirty="0">
                <a:solidFill>
                  <a:schemeClr val="bg1"/>
                </a:solidFill>
                <a:latin typeface="Arial MT"/>
                <a:cs typeface="Arial MT"/>
              </a:rPr>
              <a:t>tarefas</a:t>
            </a:r>
            <a:endParaRPr sz="1588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14762">
              <a:spcBef>
                <a:spcPts val="168"/>
              </a:spcBef>
            </a:pP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(sem</a:t>
            </a:r>
            <a:r>
              <a:rPr sz="1324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detalhes</a:t>
            </a:r>
            <a:r>
              <a:rPr sz="1324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324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interfiram</a:t>
            </a:r>
            <a:r>
              <a:rPr sz="1324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no</a:t>
            </a:r>
            <a:r>
              <a:rPr sz="1324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resultado</a:t>
            </a:r>
            <a:r>
              <a:rPr sz="1324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324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teste)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>
              <a:spcBef>
                <a:spcPts val="751"/>
              </a:spcBef>
            </a:pP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questionário</a:t>
            </a:r>
            <a:r>
              <a:rPr sz="1588" spc="-8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7" dirty="0">
                <a:solidFill>
                  <a:schemeClr val="bg1"/>
                </a:solidFill>
                <a:latin typeface="Arial MT"/>
                <a:cs typeface="Arial MT"/>
              </a:rPr>
              <a:t>pós-</a:t>
            </a:r>
            <a:r>
              <a:rPr sz="1588" spc="-13" dirty="0">
                <a:solidFill>
                  <a:schemeClr val="bg1"/>
                </a:solidFill>
                <a:latin typeface="Arial MT"/>
                <a:cs typeface="Arial MT"/>
              </a:rPr>
              <a:t>teste</a:t>
            </a:r>
            <a:endParaRPr sz="1588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>
              <a:spcBef>
                <a:spcPts val="788"/>
              </a:spcBef>
            </a:pP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roteiro</a:t>
            </a:r>
            <a:r>
              <a:rPr sz="1588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588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tópicos</a:t>
            </a:r>
            <a:r>
              <a:rPr sz="1588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para</a:t>
            </a:r>
            <a:r>
              <a:rPr sz="1588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entrevista</a:t>
            </a:r>
            <a:r>
              <a:rPr sz="1588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13" dirty="0">
                <a:solidFill>
                  <a:schemeClr val="bg1"/>
                </a:solidFill>
                <a:latin typeface="Arial MT"/>
                <a:cs typeface="Arial MT"/>
              </a:rPr>
              <a:t>pós-</a:t>
            </a:r>
            <a:r>
              <a:rPr sz="1588" spc="-7" dirty="0">
                <a:solidFill>
                  <a:schemeClr val="bg1"/>
                </a:solidFill>
                <a:latin typeface="Arial MT"/>
                <a:cs typeface="Arial MT"/>
              </a:rPr>
              <a:t>teste</a:t>
            </a:r>
            <a:endParaRPr sz="1588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2208"/>
            <a:ext cx="2105725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4.</a:t>
            </a:r>
            <a:r>
              <a:rPr sz="1655" spc="-30" dirty="0"/>
              <a:t> </a:t>
            </a:r>
            <a:r>
              <a:rPr sz="1655" dirty="0"/>
              <a:t>condução</a:t>
            </a:r>
            <a:r>
              <a:rPr sz="1655" spc="-33" dirty="0"/>
              <a:t> </a:t>
            </a:r>
            <a:r>
              <a:rPr sz="1655" dirty="0"/>
              <a:t>do</a:t>
            </a:r>
            <a:r>
              <a:rPr sz="1655" spc="-30" dirty="0"/>
              <a:t> </a:t>
            </a:r>
            <a:r>
              <a:rPr sz="1655" spc="-13" dirty="0"/>
              <a:t>teste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7" y="675379"/>
            <a:ext cx="5256119" cy="371783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8405">
              <a:spcBef>
                <a:spcPts val="66"/>
              </a:spcBef>
              <a:tabLst>
                <a:tab pos="3393882" algn="l"/>
              </a:tabLst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1. plano; 2. recrutamento; 3. preparação; </a:t>
            </a:r>
            <a:r>
              <a:rPr sz="1191" u="heavy" dirty="0">
                <a:solidFill>
                  <a:srgbClr val="BFBFBF"/>
                </a:solidFill>
                <a:uFill>
                  <a:solidFill>
                    <a:srgbClr val="BEBEBE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1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1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;</a:t>
            </a:r>
            <a:r>
              <a:rPr sz="1191" b="1" spc="-3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6.</a:t>
            </a:r>
            <a:r>
              <a:rPr sz="1191" b="1" spc="-17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spc="-7" dirty="0">
                <a:solidFill>
                  <a:srgbClr val="BFBFBF"/>
                </a:solidFill>
                <a:latin typeface="Arial"/>
                <a:cs typeface="Arial"/>
              </a:rPr>
              <a:t>relato</a:t>
            </a:r>
            <a:endParaRPr sz="1191" dirty="0">
              <a:latin typeface="Arial"/>
              <a:cs typeface="Arial"/>
            </a:endParaRPr>
          </a:p>
          <a:p>
            <a:pPr>
              <a:spcBef>
                <a:spcPts val="377"/>
              </a:spcBef>
            </a:pPr>
            <a:endParaRPr sz="1191" dirty="0">
              <a:latin typeface="Arial"/>
              <a:cs typeface="Arial"/>
            </a:endParaRPr>
          </a:p>
          <a:p>
            <a:pPr marL="90772">
              <a:spcBef>
                <a:spcPts val="3"/>
              </a:spcBef>
            </a:pP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trate</a:t>
            </a:r>
            <a:r>
              <a:rPr sz="1324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cada</a:t>
            </a:r>
            <a:r>
              <a:rPr sz="1324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novo</a:t>
            </a:r>
            <a:r>
              <a:rPr sz="1324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participante</a:t>
            </a:r>
            <a:r>
              <a:rPr sz="1324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como</a:t>
            </a:r>
            <a:r>
              <a:rPr sz="1324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um</a:t>
            </a:r>
            <a:r>
              <a:rPr sz="1324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indivíduo</a:t>
            </a:r>
            <a:r>
              <a:rPr sz="1324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único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14762" indent="-226931">
              <a:spcBef>
                <a:spcPts val="225"/>
              </a:spcBef>
              <a:buSzPct val="75000"/>
              <a:buFont typeface="Wingdings"/>
              <a:buChar char=""/>
              <a:tabLst>
                <a:tab pos="314762" algn="l"/>
              </a:tabLst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não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apenas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“mais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um”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>
              <a:spcBef>
                <a:spcPts val="275"/>
              </a:spcBef>
            </a:pP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mantenha</a:t>
            </a:r>
            <a:r>
              <a:rPr sz="1324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um</a:t>
            </a:r>
            <a:r>
              <a:rPr sz="1324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ambiente</a:t>
            </a:r>
            <a:r>
              <a:rPr sz="1324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tranquilo,</a:t>
            </a:r>
            <a:r>
              <a:rPr sz="1324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relaxado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14762" indent="-226931">
              <a:spcBef>
                <a:spcPts val="225"/>
              </a:spcBef>
              <a:buSzPct val="75000"/>
              <a:buFont typeface="Wingdings"/>
              <a:buChar char=""/>
              <a:tabLst>
                <a:tab pos="314762" algn="l"/>
              </a:tabLst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deixe claro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para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participante que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não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há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resposta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certa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ou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errada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>
              <a:spcBef>
                <a:spcPts val="275"/>
              </a:spcBef>
            </a:pP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monitore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sessão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modo</a:t>
            </a:r>
            <a:r>
              <a:rPr sz="1324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imparcial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14762" indent="-226931">
              <a:spcBef>
                <a:spcPts val="228"/>
              </a:spcBef>
              <a:buSzPct val="75000"/>
              <a:buFont typeface="Wingdings"/>
              <a:buChar char=""/>
              <a:tabLst>
                <a:tab pos="314762" algn="l"/>
              </a:tabLst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esteja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consciente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dos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efeitos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da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sua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voz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linguagem</a:t>
            </a:r>
            <a:r>
              <a:rPr sz="1191" spc="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corporal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14762" marR="3362" indent="-226931">
              <a:lnSpc>
                <a:spcPct val="110000"/>
              </a:lnSpc>
              <a:spcBef>
                <a:spcPts val="63"/>
              </a:spcBef>
              <a:buSzPct val="75000"/>
              <a:buFont typeface="Wingdings"/>
              <a:buChar char=""/>
              <a:tabLst>
                <a:tab pos="314762" algn="l"/>
              </a:tabLst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evite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demonstrar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surpresa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ou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emoção,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mesmo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quando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participante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erra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ou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faz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algo</a:t>
            </a:r>
            <a:r>
              <a:rPr sz="1191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inesperado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>
              <a:spcBef>
                <a:spcPts val="271"/>
              </a:spcBef>
            </a:pP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evite</a:t>
            </a:r>
            <a:r>
              <a:rPr sz="1324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ajudar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324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participante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14762" indent="-226931">
              <a:spcBef>
                <a:spcPts val="228"/>
              </a:spcBef>
              <a:buSzPct val="75000"/>
              <a:buFont typeface="Wingdings"/>
              <a:buChar char=""/>
              <a:tabLst>
                <a:tab pos="314762" algn="l"/>
              </a:tabLst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não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“resgate”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o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participante</a:t>
            </a:r>
            <a:r>
              <a:rPr sz="1191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quando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ele</a:t>
            </a:r>
            <a:r>
              <a:rPr sz="1191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estiver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confuso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ou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perdido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>
              <a:spcBef>
                <a:spcPts val="271"/>
              </a:spcBef>
            </a:pP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se</a:t>
            </a:r>
            <a:r>
              <a:rPr sz="1324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você</a:t>
            </a:r>
            <a:r>
              <a:rPr sz="1324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cometer</a:t>
            </a:r>
            <a:r>
              <a:rPr sz="1324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um</a:t>
            </a:r>
            <a:r>
              <a:rPr sz="1324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erro,</a:t>
            </a:r>
            <a:r>
              <a:rPr sz="1324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continue</a:t>
            </a:r>
            <a:r>
              <a:rPr sz="1324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como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se</a:t>
            </a:r>
            <a:r>
              <a:rPr sz="1324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fosse</a:t>
            </a:r>
            <a:r>
              <a:rPr sz="1324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normal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14762" marR="1087169" indent="-226931">
              <a:lnSpc>
                <a:spcPct val="110000"/>
              </a:lnSpc>
              <a:spcBef>
                <a:spcPts val="86"/>
              </a:spcBef>
              <a:buSzPct val="75000"/>
              <a:buFont typeface="Wingdings"/>
              <a:buChar char=""/>
              <a:tabLst>
                <a:tab pos="314762" algn="l"/>
              </a:tabLst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e.g.</a:t>
            </a:r>
            <a:r>
              <a:rPr sz="1191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dar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dicas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ou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revelar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informações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191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induzam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certos comportamentos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>
              <a:spcBef>
                <a:spcPts val="274"/>
              </a:spcBef>
            </a:pP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se</a:t>
            </a:r>
            <a:r>
              <a:rPr sz="1324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apropriado,</a:t>
            </a:r>
            <a:r>
              <a:rPr sz="1324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utilize</a:t>
            </a:r>
            <a:r>
              <a:rPr sz="1324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324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técnica</a:t>
            </a:r>
            <a:r>
              <a:rPr sz="1324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“</a:t>
            </a:r>
            <a:r>
              <a:rPr sz="1324" i="1" dirty="0">
                <a:solidFill>
                  <a:schemeClr val="bg1"/>
                </a:solidFill>
                <a:latin typeface="Arial"/>
                <a:cs typeface="Arial"/>
              </a:rPr>
              <a:t>think</a:t>
            </a:r>
            <a:r>
              <a:rPr sz="1324" i="1" spc="-1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24" i="1" spc="-7" dirty="0">
                <a:solidFill>
                  <a:schemeClr val="bg1"/>
                </a:solidFill>
                <a:latin typeface="Arial"/>
                <a:cs typeface="Arial"/>
              </a:rPr>
              <a:t>aloud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”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14762" indent="-226931">
              <a:spcBef>
                <a:spcPts val="225"/>
              </a:spcBef>
              <a:buSzPct val="75000"/>
              <a:buFont typeface="Wingdings"/>
              <a:buChar char=""/>
              <a:tabLst>
                <a:tab pos="314762" algn="l"/>
              </a:tabLst>
            </a:pP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anote</a:t>
            </a:r>
            <a:r>
              <a:rPr sz="1191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os</a:t>
            </a:r>
            <a:r>
              <a:rPr sz="1191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depoimentos</a:t>
            </a:r>
            <a:r>
              <a:rPr sz="1191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espontâneos</a:t>
            </a:r>
            <a:r>
              <a:rPr sz="119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191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191" spc="-7" dirty="0">
                <a:solidFill>
                  <a:schemeClr val="bg1"/>
                </a:solidFill>
                <a:latin typeface="Arial MT"/>
                <a:cs typeface="Arial MT"/>
              </a:rPr>
              <a:t>participantes</a:t>
            </a:r>
            <a:endParaRPr sz="1191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3013" y="1738122"/>
            <a:ext cx="3086100" cy="0"/>
          </a:xfrm>
          <a:custGeom>
            <a:avLst/>
            <a:gdLst/>
            <a:ahLst/>
            <a:cxnLst/>
            <a:rect l="l" t="t" r="r" b="b"/>
            <a:pathLst>
              <a:path w="3086100">
                <a:moveTo>
                  <a:pt x="0" y="0"/>
                </a:moveTo>
                <a:lnTo>
                  <a:pt x="308610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40" y="4151"/>
            <a:ext cx="4709160" cy="51393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0382" y="1957832"/>
            <a:ext cx="3702050" cy="181800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 marR="5080">
              <a:lnSpc>
                <a:spcPts val="4540"/>
              </a:lnSpc>
              <a:spcBef>
                <a:spcPts val="665"/>
              </a:spcBef>
            </a:pPr>
            <a:r>
              <a:rPr sz="4200" b="0" spc="-10" dirty="0">
                <a:solidFill>
                  <a:schemeClr val="tx1"/>
                </a:solidFill>
                <a:latin typeface="Arial MT"/>
                <a:cs typeface="Arial MT"/>
              </a:rPr>
              <a:t>Moderador: </a:t>
            </a:r>
            <a:r>
              <a:rPr sz="4200" b="0" dirty="0">
                <a:solidFill>
                  <a:schemeClr val="tx1"/>
                </a:solidFill>
                <a:latin typeface="Arial MT"/>
                <a:cs typeface="Arial MT"/>
              </a:rPr>
              <a:t>controla</a:t>
            </a:r>
            <a:r>
              <a:rPr sz="4200" b="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4200" b="0" dirty="0">
                <a:solidFill>
                  <a:schemeClr val="tx1"/>
                </a:solidFill>
                <a:latin typeface="Arial MT"/>
                <a:cs typeface="Arial MT"/>
              </a:rPr>
              <a:t>o</a:t>
            </a:r>
            <a:r>
              <a:rPr sz="4200" b="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4200" b="0" spc="-20" dirty="0">
                <a:solidFill>
                  <a:schemeClr val="tx1"/>
                </a:solidFill>
                <a:latin typeface="Arial MT"/>
                <a:cs typeface="Arial MT"/>
              </a:rPr>
              <a:t>ritmo </a:t>
            </a:r>
            <a:r>
              <a:rPr sz="4200" b="0" dirty="0">
                <a:solidFill>
                  <a:schemeClr val="tx1"/>
                </a:solidFill>
                <a:latin typeface="Arial MT"/>
                <a:cs typeface="Arial MT"/>
              </a:rPr>
              <a:t>do</a:t>
            </a:r>
            <a:r>
              <a:rPr sz="4200" b="0" spc="-6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4200" b="0" spc="-10" dirty="0">
                <a:solidFill>
                  <a:schemeClr val="tx1"/>
                </a:solidFill>
                <a:latin typeface="Arial MT"/>
                <a:cs typeface="Arial MT"/>
              </a:rPr>
              <a:t>teste</a:t>
            </a:r>
            <a:endParaRPr sz="42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Teste</a:t>
            </a:r>
            <a:r>
              <a:rPr spc="-240" dirty="0"/>
              <a:t> </a:t>
            </a:r>
            <a:r>
              <a:rPr spc="-10" dirty="0"/>
              <a:t>piloto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3300" y="2112721"/>
            <a:ext cx="2896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Testar</a:t>
            </a:r>
            <a:r>
              <a:rPr sz="36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teste!</a:t>
            </a:r>
            <a:endParaRPr sz="3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75705" y="-6350"/>
            <a:ext cx="3375025" cy="5158105"/>
            <a:chOff x="5775705" y="-6350"/>
            <a:chExt cx="3375025" cy="51581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2055" y="0"/>
              <a:ext cx="3361944" cy="51434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82055" y="0"/>
              <a:ext cx="3362325" cy="5145405"/>
            </a:xfrm>
            <a:custGeom>
              <a:avLst/>
              <a:gdLst/>
              <a:ahLst/>
              <a:cxnLst/>
              <a:rect l="l" t="t" r="r" b="b"/>
              <a:pathLst>
                <a:path w="3362325" h="5145405">
                  <a:moveTo>
                    <a:pt x="0" y="336169"/>
                  </a:moveTo>
                  <a:lnTo>
                    <a:pt x="3644" y="286489"/>
                  </a:lnTo>
                  <a:lnTo>
                    <a:pt x="14232" y="239074"/>
                  </a:lnTo>
                  <a:lnTo>
                    <a:pt x="31242" y="194443"/>
                  </a:lnTo>
                  <a:lnTo>
                    <a:pt x="54155" y="153115"/>
                  </a:lnTo>
                  <a:lnTo>
                    <a:pt x="82452" y="115612"/>
                  </a:lnTo>
                  <a:lnTo>
                    <a:pt x="115612" y="82452"/>
                  </a:lnTo>
                  <a:lnTo>
                    <a:pt x="153115" y="54155"/>
                  </a:lnTo>
                  <a:lnTo>
                    <a:pt x="194443" y="31242"/>
                  </a:lnTo>
                  <a:lnTo>
                    <a:pt x="239074" y="14232"/>
                  </a:lnTo>
                  <a:lnTo>
                    <a:pt x="286489" y="3644"/>
                  </a:lnTo>
                  <a:lnTo>
                    <a:pt x="336169" y="0"/>
                  </a:lnTo>
                  <a:lnTo>
                    <a:pt x="3025775" y="0"/>
                  </a:lnTo>
                  <a:lnTo>
                    <a:pt x="3075454" y="3644"/>
                  </a:lnTo>
                  <a:lnTo>
                    <a:pt x="3122869" y="14232"/>
                  </a:lnTo>
                  <a:lnTo>
                    <a:pt x="3167500" y="31242"/>
                  </a:lnTo>
                  <a:lnTo>
                    <a:pt x="3208828" y="54155"/>
                  </a:lnTo>
                  <a:lnTo>
                    <a:pt x="3246331" y="82452"/>
                  </a:lnTo>
                  <a:lnTo>
                    <a:pt x="3279491" y="115612"/>
                  </a:lnTo>
                  <a:lnTo>
                    <a:pt x="3307788" y="153115"/>
                  </a:lnTo>
                  <a:lnTo>
                    <a:pt x="3330701" y="194443"/>
                  </a:lnTo>
                  <a:lnTo>
                    <a:pt x="3347711" y="239074"/>
                  </a:lnTo>
                  <a:lnTo>
                    <a:pt x="3358299" y="286489"/>
                  </a:lnTo>
                  <a:lnTo>
                    <a:pt x="3361944" y="336169"/>
                  </a:lnTo>
                  <a:lnTo>
                    <a:pt x="3361944" y="4808829"/>
                  </a:lnTo>
                  <a:lnTo>
                    <a:pt x="3358299" y="4858509"/>
                  </a:lnTo>
                  <a:lnTo>
                    <a:pt x="3347711" y="4905926"/>
                  </a:lnTo>
                  <a:lnTo>
                    <a:pt x="3330701" y="4950560"/>
                  </a:lnTo>
                  <a:lnTo>
                    <a:pt x="3307788" y="4991890"/>
                  </a:lnTo>
                  <a:lnTo>
                    <a:pt x="3279491" y="5029397"/>
                  </a:lnTo>
                  <a:lnTo>
                    <a:pt x="3246331" y="5062560"/>
                  </a:lnTo>
                  <a:lnTo>
                    <a:pt x="3208828" y="5090860"/>
                  </a:lnTo>
                  <a:lnTo>
                    <a:pt x="3167500" y="5113776"/>
                  </a:lnTo>
                  <a:lnTo>
                    <a:pt x="3122869" y="5130789"/>
                  </a:lnTo>
                  <a:lnTo>
                    <a:pt x="3075454" y="5141378"/>
                  </a:lnTo>
                  <a:lnTo>
                    <a:pt x="3025775" y="5145023"/>
                  </a:lnTo>
                  <a:lnTo>
                    <a:pt x="336169" y="5145023"/>
                  </a:lnTo>
                  <a:lnTo>
                    <a:pt x="286489" y="5141378"/>
                  </a:lnTo>
                  <a:lnTo>
                    <a:pt x="239074" y="5130789"/>
                  </a:lnTo>
                  <a:lnTo>
                    <a:pt x="194443" y="5113776"/>
                  </a:lnTo>
                  <a:lnTo>
                    <a:pt x="153115" y="5090860"/>
                  </a:lnTo>
                  <a:lnTo>
                    <a:pt x="115612" y="5062560"/>
                  </a:lnTo>
                  <a:lnTo>
                    <a:pt x="82452" y="5029397"/>
                  </a:lnTo>
                  <a:lnTo>
                    <a:pt x="54155" y="4991890"/>
                  </a:lnTo>
                  <a:lnTo>
                    <a:pt x="31242" y="4950560"/>
                  </a:lnTo>
                  <a:lnTo>
                    <a:pt x="14232" y="4905926"/>
                  </a:lnTo>
                  <a:lnTo>
                    <a:pt x="3644" y="4858509"/>
                  </a:lnTo>
                  <a:lnTo>
                    <a:pt x="0" y="4808829"/>
                  </a:lnTo>
                  <a:lnTo>
                    <a:pt x="0" y="33616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2736" y="2698191"/>
            <a:ext cx="49383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Execução</a:t>
            </a:r>
            <a:r>
              <a:rPr sz="4400" spc="-15" dirty="0"/>
              <a:t> </a:t>
            </a:r>
            <a:r>
              <a:rPr sz="4400" dirty="0"/>
              <a:t>do </a:t>
            </a:r>
            <a:r>
              <a:rPr sz="4400" spc="-10" dirty="0"/>
              <a:t>teste</a:t>
            </a:r>
            <a:endParaRPr sz="4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95300"/>
            <a:ext cx="6675119" cy="41727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317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Execução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76929" y="1308049"/>
            <a:ext cx="5554345" cy="3042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710"/>
              </a:lnSpc>
              <a:spcBef>
                <a:spcPts val="105"/>
              </a:spcBef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Pré-teste:</a:t>
            </a:r>
            <a:endParaRPr sz="3200">
              <a:latin typeface="Arial MT"/>
              <a:cs typeface="Arial MT"/>
            </a:endParaRPr>
          </a:p>
          <a:p>
            <a:pPr marL="454659">
              <a:lnSpc>
                <a:spcPts val="3229"/>
              </a:lnSpc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Identifique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perfil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expectativas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ts val="3710"/>
              </a:lnSpc>
              <a:spcBef>
                <a:spcPts val="1460"/>
              </a:spcBef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Cenários:</a:t>
            </a:r>
            <a:endParaRPr sz="3200">
              <a:latin typeface="Arial MT"/>
              <a:cs typeface="Arial MT"/>
            </a:endParaRPr>
          </a:p>
          <a:p>
            <a:pPr marL="355600">
              <a:lnSpc>
                <a:spcPts val="3229"/>
              </a:lnSpc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Obtenha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os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ts val="3710"/>
              </a:lnSpc>
              <a:spcBef>
                <a:spcPts val="1460"/>
              </a:spcBef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Pós-teste:</a:t>
            </a:r>
            <a:endParaRPr sz="3200">
              <a:latin typeface="Arial MT"/>
              <a:cs typeface="Arial MT"/>
            </a:endParaRPr>
          </a:p>
          <a:p>
            <a:pPr marL="454659">
              <a:lnSpc>
                <a:spcPts val="3229"/>
              </a:lnSpc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Colete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impressões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apreciação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2736" y="2698191"/>
            <a:ext cx="4965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Análise</a:t>
            </a:r>
            <a:r>
              <a:rPr sz="4400" spc="-45" dirty="0"/>
              <a:t> </a:t>
            </a:r>
            <a:r>
              <a:rPr sz="4400" dirty="0"/>
              <a:t>dos</a:t>
            </a:r>
            <a:r>
              <a:rPr sz="4400" spc="-20" dirty="0"/>
              <a:t> </a:t>
            </a:r>
            <a:r>
              <a:rPr sz="4400" spc="-10" dirty="0"/>
              <a:t>dados</a:t>
            </a:r>
            <a:endParaRPr sz="4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2208"/>
            <a:ext cx="4366932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6.</a:t>
            </a:r>
            <a:r>
              <a:rPr sz="1655" spc="-30" dirty="0"/>
              <a:t> </a:t>
            </a:r>
            <a:r>
              <a:rPr sz="1655" dirty="0"/>
              <a:t>relato</a:t>
            </a:r>
            <a:r>
              <a:rPr sz="1655" spc="-17" dirty="0"/>
              <a:t> </a:t>
            </a:r>
            <a:r>
              <a:rPr sz="1655" dirty="0"/>
              <a:t>&gt;</a:t>
            </a:r>
            <a:r>
              <a:rPr sz="1655" spc="-20" dirty="0"/>
              <a:t> </a:t>
            </a:r>
            <a:r>
              <a:rPr sz="1655" dirty="0"/>
              <a:t>compilação</a:t>
            </a:r>
            <a:r>
              <a:rPr sz="1655" spc="-33" dirty="0"/>
              <a:t> </a:t>
            </a:r>
            <a:r>
              <a:rPr sz="1655" dirty="0"/>
              <a:t>dos</a:t>
            </a:r>
            <a:r>
              <a:rPr sz="1655" spc="-23" dirty="0"/>
              <a:t> </a:t>
            </a:r>
            <a:r>
              <a:rPr sz="1655" dirty="0"/>
              <a:t>dados</a:t>
            </a:r>
            <a:r>
              <a:rPr sz="1655" spc="-26" dirty="0"/>
              <a:t> </a:t>
            </a:r>
            <a:r>
              <a:rPr sz="1655" spc="-7" dirty="0"/>
              <a:t>coletados</a:t>
            </a:r>
            <a:endParaRPr sz="1655"/>
          </a:p>
        </p:txBody>
      </p:sp>
      <p:sp>
        <p:nvSpPr>
          <p:cNvPr id="4" name="object 4"/>
          <p:cNvSpPr txBox="1"/>
          <p:nvPr/>
        </p:nvSpPr>
        <p:spPr>
          <a:xfrm>
            <a:off x="2010335" y="819150"/>
            <a:ext cx="5123329" cy="3630085"/>
          </a:xfrm>
          <a:prstGeom prst="rect">
            <a:avLst/>
          </a:prstGeom>
        </p:spPr>
        <p:txBody>
          <a:bodyPr vert="horz" wrap="square" lIns="0" tIns="38660" rIns="0" bIns="0" rtlCol="0">
            <a:spAutoFit/>
          </a:bodyPr>
          <a:lstStyle/>
          <a:p>
            <a:pPr marL="25215">
              <a:spcBef>
                <a:spcPts val="304"/>
              </a:spcBef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1.</a:t>
            </a:r>
            <a:r>
              <a:rPr sz="1191" b="1" spc="-2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plano;</a:t>
            </a:r>
            <a:r>
              <a:rPr sz="1191" b="1" spc="-3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2.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recrutamento;</a:t>
            </a:r>
            <a:r>
              <a:rPr sz="1191" b="1" spc="-17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3.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preparação;</a:t>
            </a:r>
            <a:r>
              <a:rPr sz="1191" b="1" spc="-17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3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spc="-7" dirty="0">
                <a:solidFill>
                  <a:srgbClr val="BFBFBF"/>
                </a:solidFill>
                <a:latin typeface="Arial"/>
                <a:cs typeface="Arial"/>
              </a:rPr>
              <a:t>debriefing;</a:t>
            </a:r>
            <a:endParaRPr sz="1191" dirty="0">
              <a:latin typeface="Arial"/>
              <a:cs typeface="Arial"/>
            </a:endParaRPr>
          </a:p>
          <a:p>
            <a:pPr marL="25215">
              <a:spcBef>
                <a:spcPts val="334"/>
              </a:spcBef>
            </a:pPr>
            <a:r>
              <a:rPr sz="1787" b="1" i="1" baseline="37037" dirty="0">
                <a:solidFill>
                  <a:srgbClr val="BFBFBF"/>
                </a:solidFill>
                <a:latin typeface="Arial"/>
                <a:cs typeface="Arial"/>
              </a:rPr>
              <a:t>_</a:t>
            </a:r>
            <a:r>
              <a:rPr sz="1655" dirty="0">
                <a:solidFill>
                  <a:schemeClr val="bg1"/>
                </a:solidFill>
                <a:latin typeface="Arial MT"/>
                <a:cs typeface="Arial MT"/>
              </a:rPr>
              <a:t>ao</a:t>
            </a:r>
            <a:r>
              <a:rPr sz="165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55" dirty="0">
                <a:solidFill>
                  <a:schemeClr val="bg1"/>
                </a:solidFill>
                <a:latin typeface="Arial MT"/>
                <a:cs typeface="Arial MT"/>
              </a:rPr>
              <a:t>final</a:t>
            </a:r>
            <a:r>
              <a:rPr sz="1655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55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655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55" dirty="0">
                <a:solidFill>
                  <a:schemeClr val="bg1"/>
                </a:solidFill>
                <a:latin typeface="Arial MT"/>
                <a:cs typeface="Arial MT"/>
              </a:rPr>
              <a:t>cada</a:t>
            </a:r>
            <a:r>
              <a:rPr sz="1655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55" dirty="0">
                <a:solidFill>
                  <a:schemeClr val="bg1"/>
                </a:solidFill>
                <a:latin typeface="Arial MT"/>
                <a:cs typeface="Arial MT"/>
              </a:rPr>
              <a:t>sessão</a:t>
            </a:r>
            <a:r>
              <a:rPr sz="1655" spc="-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55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65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55" spc="-7" dirty="0">
                <a:solidFill>
                  <a:schemeClr val="bg1"/>
                </a:solidFill>
                <a:latin typeface="Arial MT"/>
                <a:cs typeface="Arial MT"/>
              </a:rPr>
              <a:t>teste:</a:t>
            </a:r>
            <a:endParaRPr sz="1655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31572" marR="11767">
              <a:lnSpc>
                <a:spcPts val="1575"/>
              </a:lnSpc>
              <a:spcBef>
                <a:spcPts val="417"/>
              </a:spcBef>
            </a:pP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passe</a:t>
            </a:r>
            <a:r>
              <a:rPr sz="1456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dados</a:t>
            </a:r>
            <a:r>
              <a:rPr sz="1456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escritos</a:t>
            </a:r>
            <a:r>
              <a:rPr sz="1456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para</a:t>
            </a:r>
            <a:r>
              <a:rPr sz="1456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meio</a:t>
            </a:r>
            <a:r>
              <a:rPr sz="1456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digital,</a:t>
            </a:r>
            <a:r>
              <a:rPr sz="1456" spc="-4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transcreva</a:t>
            </a:r>
            <a:r>
              <a:rPr sz="1456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7" dirty="0">
                <a:solidFill>
                  <a:schemeClr val="bg1"/>
                </a:solidFill>
                <a:latin typeface="Arial MT"/>
                <a:cs typeface="Arial MT"/>
              </a:rPr>
              <a:t>trechos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interessantes</a:t>
            </a:r>
            <a:r>
              <a:rPr sz="1456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da</a:t>
            </a:r>
            <a:r>
              <a:rPr sz="1456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fala</a:t>
            </a:r>
            <a:r>
              <a:rPr sz="1456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dos</a:t>
            </a:r>
            <a:r>
              <a:rPr sz="1456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7" dirty="0">
                <a:solidFill>
                  <a:schemeClr val="bg1"/>
                </a:solidFill>
                <a:latin typeface="Arial MT"/>
                <a:cs typeface="Arial MT"/>
              </a:rPr>
              <a:t>participantes</a:t>
            </a:r>
            <a:endParaRPr sz="1456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07582">
              <a:spcBef>
                <a:spcPts val="172"/>
              </a:spcBef>
            </a:pPr>
            <a:r>
              <a:rPr sz="1655" dirty="0">
                <a:solidFill>
                  <a:schemeClr val="bg1"/>
                </a:solidFill>
                <a:latin typeface="Arial MT"/>
                <a:cs typeface="Arial MT"/>
              </a:rPr>
              <a:t>sumarize</a:t>
            </a:r>
            <a:r>
              <a:rPr sz="165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55" dirty="0">
                <a:solidFill>
                  <a:schemeClr val="bg1"/>
                </a:solidFill>
                <a:latin typeface="Arial MT"/>
                <a:cs typeface="Arial MT"/>
              </a:rPr>
              <a:t>dados</a:t>
            </a:r>
            <a:r>
              <a:rPr sz="165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55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65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55" spc="-7" dirty="0">
                <a:solidFill>
                  <a:schemeClr val="bg1"/>
                </a:solidFill>
                <a:latin typeface="Arial MT"/>
                <a:cs typeface="Arial MT"/>
              </a:rPr>
              <a:t>desempenho</a:t>
            </a:r>
            <a:endParaRPr sz="1655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31572">
              <a:spcBef>
                <a:spcPts val="222"/>
              </a:spcBef>
            </a:pP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tempo</a:t>
            </a:r>
            <a:r>
              <a:rPr sz="1456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456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realização</a:t>
            </a:r>
            <a:r>
              <a:rPr sz="1456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456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cada</a:t>
            </a:r>
            <a:r>
              <a:rPr sz="1456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7" dirty="0">
                <a:solidFill>
                  <a:schemeClr val="bg1"/>
                </a:solidFill>
                <a:latin typeface="Arial MT"/>
                <a:cs typeface="Arial MT"/>
              </a:rPr>
              <a:t>tarefa</a:t>
            </a:r>
            <a:endParaRPr sz="1456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537491">
              <a:spcBef>
                <a:spcPts val="255"/>
              </a:spcBef>
            </a:pP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médio,</a:t>
            </a:r>
            <a:r>
              <a:rPr sz="1257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mín/máx,</a:t>
            </a:r>
            <a:r>
              <a:rPr sz="1257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desvio</a:t>
            </a:r>
            <a:r>
              <a:rPr sz="1257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spc="-7" dirty="0">
                <a:solidFill>
                  <a:schemeClr val="bg1"/>
                </a:solidFill>
                <a:latin typeface="Arial MT"/>
                <a:cs typeface="Arial MT"/>
              </a:rPr>
              <a:t>padrão</a:t>
            </a:r>
            <a:endParaRPr sz="1257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31572" marR="300054">
              <a:lnSpc>
                <a:spcPts val="1575"/>
              </a:lnSpc>
              <a:spcBef>
                <a:spcPts val="410"/>
              </a:spcBef>
            </a:pP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acurácia:</a:t>
            </a:r>
            <a:r>
              <a:rPr sz="1456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porcentagem</a:t>
            </a:r>
            <a:r>
              <a:rPr sz="1456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456" spc="-4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participantes</a:t>
            </a:r>
            <a:r>
              <a:rPr sz="1456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456" spc="-4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concluiu</a:t>
            </a:r>
            <a:r>
              <a:rPr sz="1456" spc="-5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33" dirty="0">
                <a:solidFill>
                  <a:schemeClr val="bg1"/>
                </a:solidFill>
                <a:latin typeface="Arial MT"/>
                <a:cs typeface="Arial MT"/>
              </a:rPr>
              <a:t>a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tarefa</a:t>
            </a:r>
            <a:r>
              <a:rPr sz="1456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com</a:t>
            </a:r>
            <a:r>
              <a:rPr sz="1456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7" dirty="0">
                <a:solidFill>
                  <a:schemeClr val="bg1"/>
                </a:solidFill>
                <a:latin typeface="Arial MT"/>
                <a:cs typeface="Arial MT"/>
              </a:rPr>
              <a:t>sucesso</a:t>
            </a:r>
            <a:endParaRPr sz="1456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537491" marR="33619">
              <a:lnSpc>
                <a:spcPts val="1357"/>
              </a:lnSpc>
              <a:spcBef>
                <a:spcPts val="400"/>
              </a:spcBef>
            </a:pP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dentro</a:t>
            </a:r>
            <a:r>
              <a:rPr sz="1257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257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tempo</a:t>
            </a:r>
            <a:r>
              <a:rPr sz="1257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estimado;</a:t>
            </a:r>
            <a:r>
              <a:rPr sz="1257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fora</a:t>
            </a:r>
            <a:r>
              <a:rPr sz="1257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257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tempo</a:t>
            </a:r>
            <a:r>
              <a:rPr sz="1257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estimado;</a:t>
            </a:r>
            <a:r>
              <a:rPr sz="1257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sem</a:t>
            </a:r>
            <a:r>
              <a:rPr sz="1257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spc="-7" dirty="0">
                <a:solidFill>
                  <a:schemeClr val="bg1"/>
                </a:solidFill>
                <a:latin typeface="Arial MT"/>
                <a:cs typeface="Arial MT"/>
              </a:rPr>
              <a:t>buscar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ajuda</a:t>
            </a:r>
            <a:r>
              <a:rPr sz="1257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ou</a:t>
            </a:r>
            <a:r>
              <a:rPr sz="1257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tendo</a:t>
            </a:r>
            <a:r>
              <a:rPr sz="1257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dirty="0">
                <a:solidFill>
                  <a:schemeClr val="bg1"/>
                </a:solidFill>
                <a:latin typeface="Arial MT"/>
                <a:cs typeface="Arial MT"/>
              </a:rPr>
              <a:t>buscado</a:t>
            </a:r>
            <a:r>
              <a:rPr sz="1257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257" spc="-13" dirty="0">
                <a:solidFill>
                  <a:schemeClr val="bg1"/>
                </a:solidFill>
                <a:latin typeface="Arial MT"/>
                <a:cs typeface="Arial MT"/>
              </a:rPr>
              <a:t>ajuda</a:t>
            </a:r>
            <a:endParaRPr sz="1257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07582">
              <a:spcBef>
                <a:spcPts val="171"/>
              </a:spcBef>
            </a:pPr>
            <a:r>
              <a:rPr sz="1655" dirty="0">
                <a:solidFill>
                  <a:schemeClr val="bg1"/>
                </a:solidFill>
                <a:latin typeface="Arial MT"/>
                <a:cs typeface="Arial MT"/>
              </a:rPr>
              <a:t>sumarize</a:t>
            </a:r>
            <a:r>
              <a:rPr sz="165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55" dirty="0">
                <a:solidFill>
                  <a:schemeClr val="bg1"/>
                </a:solidFill>
                <a:latin typeface="Arial MT"/>
                <a:cs typeface="Arial MT"/>
              </a:rPr>
              <a:t>dados</a:t>
            </a:r>
            <a:r>
              <a:rPr sz="1655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55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65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55" spc="-7" dirty="0">
                <a:solidFill>
                  <a:schemeClr val="bg1"/>
                </a:solidFill>
                <a:latin typeface="Arial MT"/>
                <a:cs typeface="Arial MT"/>
              </a:rPr>
              <a:t>preferência</a:t>
            </a:r>
            <a:endParaRPr sz="1655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31572" marR="1040522">
              <a:lnSpc>
                <a:spcPct val="112700"/>
              </a:lnSpc>
            </a:pP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contagem</a:t>
            </a:r>
            <a:r>
              <a:rPr sz="1456" spc="-4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das</a:t>
            </a:r>
            <a:r>
              <a:rPr sz="1456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respostas</a:t>
            </a:r>
            <a:r>
              <a:rPr sz="1456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456" spc="-4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múltipla</a:t>
            </a:r>
            <a:r>
              <a:rPr sz="1456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7" dirty="0">
                <a:solidFill>
                  <a:schemeClr val="bg1"/>
                </a:solidFill>
                <a:latin typeface="Arial MT"/>
                <a:cs typeface="Arial MT"/>
              </a:rPr>
              <a:t>escolha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listas</a:t>
            </a:r>
            <a:r>
              <a:rPr sz="1456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456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comentários</a:t>
            </a:r>
            <a:r>
              <a:rPr sz="1456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nas</a:t>
            </a:r>
            <a:r>
              <a:rPr sz="1456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perguntas</a:t>
            </a:r>
            <a:r>
              <a:rPr sz="1456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7" dirty="0">
                <a:solidFill>
                  <a:schemeClr val="bg1"/>
                </a:solidFill>
                <a:latin typeface="Arial MT"/>
                <a:cs typeface="Arial MT"/>
              </a:rPr>
              <a:t>abertas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trechos</a:t>
            </a:r>
            <a:r>
              <a:rPr sz="1456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456" spc="-4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transcrição</a:t>
            </a:r>
            <a:r>
              <a:rPr sz="1456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da</a:t>
            </a:r>
            <a:r>
              <a:rPr sz="1456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entrevista</a:t>
            </a:r>
            <a:r>
              <a:rPr sz="1456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13" dirty="0">
                <a:solidFill>
                  <a:schemeClr val="bg1"/>
                </a:solidFill>
                <a:latin typeface="Arial MT"/>
                <a:cs typeface="Arial MT"/>
              </a:rPr>
              <a:t>pós-</a:t>
            </a:r>
            <a:r>
              <a:rPr sz="1456" spc="-7" dirty="0">
                <a:solidFill>
                  <a:schemeClr val="bg1"/>
                </a:solidFill>
                <a:latin typeface="Arial MT"/>
                <a:cs typeface="Arial MT"/>
              </a:rPr>
              <a:t>teste</a:t>
            </a:r>
            <a:endParaRPr sz="1456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dirty="0"/>
              <a:t>Análise</a:t>
            </a:r>
            <a:r>
              <a:rPr spc="-75" dirty="0"/>
              <a:t> </a:t>
            </a:r>
            <a:r>
              <a:rPr dirty="0"/>
              <a:t>dos</a:t>
            </a:r>
            <a:r>
              <a:rPr spc="-80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1802" y="1222095"/>
            <a:ext cx="7799705" cy="297370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900"/>
              </a:spcBef>
              <a:buChar char="•"/>
              <a:tabLst>
                <a:tab pos="29654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Compare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expectativa</a:t>
            </a:r>
            <a:r>
              <a:rPr sz="3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satisfação</a:t>
            </a:r>
            <a:endParaRPr sz="3200">
              <a:latin typeface="Arial MT"/>
              <a:cs typeface="Arial MT"/>
            </a:endParaRPr>
          </a:p>
          <a:p>
            <a:pPr marL="273685" indent="-260985">
              <a:lnSpc>
                <a:spcPct val="100000"/>
              </a:lnSpc>
              <a:spcBef>
                <a:spcPts val="805"/>
              </a:spcBef>
              <a:buChar char="•"/>
              <a:tabLst>
                <a:tab pos="27368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Analise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vídeos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rupturas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da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interação</a:t>
            </a:r>
            <a:endParaRPr sz="3200">
              <a:latin typeface="Arial MT"/>
              <a:cs typeface="Arial MT"/>
            </a:endParaRPr>
          </a:p>
          <a:p>
            <a:pPr marL="273685" indent="-260985">
              <a:lnSpc>
                <a:spcPct val="100000"/>
              </a:lnSpc>
              <a:spcBef>
                <a:spcPts val="805"/>
              </a:spcBef>
              <a:buChar char="•"/>
              <a:tabLst>
                <a:tab pos="27368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Analise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falas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explicações</a:t>
            </a:r>
            <a:endParaRPr sz="3200">
              <a:latin typeface="Arial MT"/>
              <a:cs typeface="Arial MT"/>
            </a:endParaRPr>
          </a:p>
          <a:p>
            <a:pPr marL="296545" indent="-283845">
              <a:lnSpc>
                <a:spcPct val="100000"/>
              </a:lnSpc>
              <a:spcBef>
                <a:spcPts val="795"/>
              </a:spcBef>
              <a:buChar char="•"/>
              <a:tabLst>
                <a:tab pos="29654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Identifique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causas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analise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severidade</a:t>
            </a:r>
            <a:endParaRPr sz="3200">
              <a:latin typeface="Arial MT"/>
              <a:cs typeface="Arial MT"/>
            </a:endParaRPr>
          </a:p>
          <a:p>
            <a:pPr marL="296545" indent="-283845">
              <a:lnSpc>
                <a:spcPct val="100000"/>
              </a:lnSpc>
              <a:spcBef>
                <a:spcPts val="805"/>
              </a:spcBef>
              <a:buChar char="•"/>
              <a:tabLst>
                <a:tab pos="29654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Produza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soluções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design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7867" y="422208"/>
            <a:ext cx="5303603" cy="4229026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b="1" dirty="0">
                <a:solidFill>
                  <a:srgbClr val="7E7E7E"/>
                </a:solidFill>
                <a:latin typeface="Arial"/>
                <a:cs typeface="Arial"/>
              </a:rPr>
              <a:t>6.</a:t>
            </a:r>
            <a:r>
              <a:rPr sz="1655" b="1" spc="-26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55" b="1" dirty="0">
                <a:solidFill>
                  <a:srgbClr val="7E7E7E"/>
                </a:solidFill>
                <a:latin typeface="Arial"/>
                <a:cs typeface="Arial"/>
              </a:rPr>
              <a:t>relato</a:t>
            </a:r>
            <a:r>
              <a:rPr sz="1655" b="1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55" b="1" dirty="0">
                <a:solidFill>
                  <a:srgbClr val="7E7E7E"/>
                </a:solidFill>
                <a:latin typeface="Arial"/>
                <a:cs typeface="Arial"/>
              </a:rPr>
              <a:t>&gt;</a:t>
            </a:r>
            <a:r>
              <a:rPr sz="1655" b="1" spc="-17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55" b="1" dirty="0">
                <a:solidFill>
                  <a:srgbClr val="7E7E7E"/>
                </a:solidFill>
                <a:latin typeface="Arial"/>
                <a:cs typeface="Arial"/>
              </a:rPr>
              <a:t>conteúdo</a:t>
            </a:r>
            <a:r>
              <a:rPr sz="1655" b="1" spc="-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55" b="1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1655" b="1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655" b="1" spc="-7" dirty="0">
                <a:solidFill>
                  <a:srgbClr val="7E7E7E"/>
                </a:solidFill>
                <a:latin typeface="Arial"/>
                <a:cs typeface="Arial"/>
              </a:rPr>
              <a:t>apresentação</a:t>
            </a:r>
            <a:endParaRPr sz="1655" dirty="0">
              <a:latin typeface="Arial"/>
              <a:cs typeface="Arial"/>
            </a:endParaRPr>
          </a:p>
          <a:p>
            <a:pPr marL="8405">
              <a:spcBef>
                <a:spcPts val="10"/>
              </a:spcBef>
            </a:pPr>
            <a:r>
              <a:rPr sz="1985" dirty="0">
                <a:solidFill>
                  <a:schemeClr val="bg1"/>
                </a:solidFill>
                <a:latin typeface="Arial MT"/>
                <a:cs typeface="Arial MT"/>
              </a:rPr>
              <a:t>plano</a:t>
            </a:r>
            <a:r>
              <a:rPr sz="198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85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985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85" spc="-13" dirty="0">
                <a:solidFill>
                  <a:schemeClr val="bg1"/>
                </a:solidFill>
                <a:latin typeface="Arial MT"/>
                <a:cs typeface="Arial MT"/>
              </a:rPr>
              <a:t>teste </a:t>
            </a:r>
            <a:r>
              <a:rPr sz="1985" dirty="0">
                <a:solidFill>
                  <a:schemeClr val="bg1"/>
                </a:solidFill>
                <a:latin typeface="Arial MT"/>
                <a:cs typeface="Arial MT"/>
              </a:rPr>
              <a:t>resultados</a:t>
            </a:r>
            <a:r>
              <a:rPr sz="1985" spc="-4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85" spc="-7" dirty="0">
                <a:solidFill>
                  <a:schemeClr val="bg1"/>
                </a:solidFill>
                <a:latin typeface="Arial MT"/>
                <a:cs typeface="Arial MT"/>
              </a:rPr>
              <a:t>sumarizados</a:t>
            </a:r>
            <a:endParaRPr sz="1985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14762">
              <a:spcBef>
                <a:spcPts val="248"/>
              </a:spcBef>
            </a:pPr>
            <a:r>
              <a:rPr sz="1721" dirty="0">
                <a:solidFill>
                  <a:schemeClr val="bg1"/>
                </a:solidFill>
                <a:latin typeface="Arial MT"/>
                <a:cs typeface="Arial MT"/>
              </a:rPr>
              <a:t>estatísticas</a:t>
            </a:r>
            <a:r>
              <a:rPr sz="1721" spc="-4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721" dirty="0">
                <a:solidFill>
                  <a:schemeClr val="bg1"/>
                </a:solidFill>
                <a:latin typeface="Arial MT"/>
                <a:cs typeface="Arial MT"/>
              </a:rPr>
              <a:t>básicas</a:t>
            </a:r>
            <a:r>
              <a:rPr sz="1721" spc="-4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721" dirty="0">
                <a:solidFill>
                  <a:schemeClr val="bg1"/>
                </a:solidFill>
                <a:latin typeface="Arial MT"/>
                <a:cs typeface="Arial MT"/>
              </a:rPr>
              <a:t>dos</a:t>
            </a:r>
            <a:r>
              <a:rPr sz="1721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721" dirty="0">
                <a:solidFill>
                  <a:schemeClr val="bg1"/>
                </a:solidFill>
                <a:latin typeface="Arial MT"/>
                <a:cs typeface="Arial MT"/>
              </a:rPr>
              <a:t>dados</a:t>
            </a:r>
            <a:r>
              <a:rPr sz="1721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721" spc="-7" dirty="0">
                <a:solidFill>
                  <a:schemeClr val="bg1"/>
                </a:solidFill>
                <a:latin typeface="Arial MT"/>
                <a:cs typeface="Arial MT"/>
              </a:rPr>
              <a:t>quantitativos</a:t>
            </a:r>
            <a:endParaRPr sz="172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520681" marR="444617">
              <a:lnSpc>
                <a:spcPts val="1575"/>
              </a:lnSpc>
              <a:spcBef>
                <a:spcPts val="619"/>
              </a:spcBef>
            </a:pP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[se</a:t>
            </a:r>
            <a:r>
              <a:rPr sz="1456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distribuição</a:t>
            </a:r>
            <a:r>
              <a:rPr sz="1456" spc="-4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sz="1456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próxima</a:t>
            </a:r>
            <a:r>
              <a:rPr sz="1456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da</a:t>
            </a:r>
            <a:r>
              <a:rPr sz="1456" spc="-4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normal]</a:t>
            </a:r>
            <a:r>
              <a:rPr sz="1456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média,</a:t>
            </a:r>
            <a:r>
              <a:rPr sz="1456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7" dirty="0" err="1">
                <a:solidFill>
                  <a:schemeClr val="bg1"/>
                </a:solidFill>
                <a:latin typeface="Arial MT"/>
                <a:cs typeface="Arial MT"/>
              </a:rPr>
              <a:t>desvio</a:t>
            </a:r>
            <a:r>
              <a:rPr sz="1456" spc="-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7" dirty="0" err="1">
                <a:solidFill>
                  <a:schemeClr val="bg1"/>
                </a:solidFill>
                <a:latin typeface="Arial MT"/>
                <a:cs typeface="Arial MT"/>
              </a:rPr>
              <a:t>padrão</a:t>
            </a:r>
            <a:r>
              <a:rPr lang="pt-BR" sz="1456" spc="-7" dirty="0">
                <a:solidFill>
                  <a:schemeClr val="bg1"/>
                </a:solidFill>
                <a:latin typeface="Arial MT"/>
                <a:cs typeface="Arial MT"/>
              </a:rPr>
              <a:t>: </a:t>
            </a:r>
            <a:r>
              <a:rPr lang="pt-BR" sz="1588" dirty="0">
                <a:solidFill>
                  <a:schemeClr val="bg1"/>
                </a:solidFill>
              </a:rPr>
              <a:t>mostra o quanto os valores se afastam da média</a:t>
            </a:r>
            <a:endParaRPr sz="1456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520681">
              <a:lnSpc>
                <a:spcPts val="1661"/>
              </a:lnSpc>
              <a:spcBef>
                <a:spcPts val="394"/>
              </a:spcBef>
            </a:pP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[se</a:t>
            </a:r>
            <a:r>
              <a:rPr sz="1456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 err="1">
                <a:solidFill>
                  <a:schemeClr val="bg1"/>
                </a:solidFill>
                <a:latin typeface="Arial MT"/>
                <a:cs typeface="Arial MT"/>
              </a:rPr>
              <a:t>distribuição</a:t>
            </a:r>
            <a:r>
              <a:rPr sz="1456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sz="1456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 err="1">
                <a:solidFill>
                  <a:schemeClr val="bg1"/>
                </a:solidFill>
                <a:latin typeface="Arial MT"/>
                <a:cs typeface="Arial MT"/>
              </a:rPr>
              <a:t>diferente</a:t>
            </a:r>
            <a:r>
              <a:rPr sz="1456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da</a:t>
            </a:r>
            <a:r>
              <a:rPr sz="1456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normal</a:t>
            </a:r>
            <a:r>
              <a:rPr lang="pt-BR" sz="1456" dirty="0">
                <a:solidFill>
                  <a:schemeClr val="bg1"/>
                </a:solidFill>
                <a:latin typeface="Arial MT"/>
                <a:cs typeface="Arial MT"/>
              </a:rPr>
              <a:t> – assimetria ou outliers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]</a:t>
            </a:r>
            <a:r>
              <a:rPr sz="1456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 err="1">
                <a:solidFill>
                  <a:schemeClr val="bg1"/>
                </a:solidFill>
                <a:latin typeface="Arial MT"/>
                <a:cs typeface="Arial MT"/>
              </a:rPr>
              <a:t>mín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,</a:t>
            </a:r>
            <a:r>
              <a:rPr sz="1456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Q1</a:t>
            </a:r>
            <a:r>
              <a:rPr lang="pt-BR" sz="1456" dirty="0">
                <a:solidFill>
                  <a:schemeClr val="bg1"/>
                </a:solidFill>
                <a:latin typeface="Arial MT"/>
                <a:cs typeface="Arial MT"/>
              </a:rPr>
              <a:t>:</a:t>
            </a:r>
            <a:r>
              <a:rPr lang="pt-BR" sz="1324" dirty="0">
                <a:solidFill>
                  <a:schemeClr val="bg1"/>
                </a:solidFill>
              </a:rPr>
              <a:t> 25% dos dados abaixo desse valor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,</a:t>
            </a:r>
            <a:r>
              <a:rPr sz="1456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7" dirty="0" err="1">
                <a:solidFill>
                  <a:schemeClr val="bg1"/>
                </a:solidFill>
                <a:latin typeface="Arial MT"/>
                <a:cs typeface="Arial MT"/>
              </a:rPr>
              <a:t>mediana</a:t>
            </a:r>
            <a:r>
              <a:rPr lang="pt-BR" sz="1456" spc="-7" dirty="0">
                <a:solidFill>
                  <a:schemeClr val="bg1"/>
                </a:solidFill>
                <a:latin typeface="Arial MT"/>
                <a:cs typeface="Arial MT"/>
              </a:rPr>
              <a:t>:</a:t>
            </a:r>
            <a:r>
              <a:rPr lang="pt-BR" sz="1324" dirty="0">
                <a:solidFill>
                  <a:schemeClr val="bg1"/>
                </a:solidFill>
              </a:rPr>
              <a:t> valor central dos dados,</a:t>
            </a:r>
            <a:endParaRPr sz="1456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520681">
              <a:lnSpc>
                <a:spcPts val="1661"/>
              </a:lnSpc>
            </a:pP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Q3</a:t>
            </a:r>
            <a:r>
              <a:rPr lang="pt-BR" sz="1456" dirty="0">
                <a:solidFill>
                  <a:schemeClr val="bg1"/>
                </a:solidFill>
                <a:latin typeface="Arial MT"/>
                <a:cs typeface="Arial MT"/>
              </a:rPr>
              <a:t>:</a:t>
            </a:r>
            <a:r>
              <a:rPr lang="pt-BR" sz="1324" dirty="0">
                <a:solidFill>
                  <a:schemeClr val="bg1"/>
                </a:solidFill>
              </a:rPr>
              <a:t>75% dos dados abaixo desse valor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,</a:t>
            </a:r>
            <a:r>
              <a:rPr sz="1456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17" dirty="0" err="1">
                <a:solidFill>
                  <a:schemeClr val="bg1"/>
                </a:solidFill>
                <a:latin typeface="Arial MT"/>
                <a:cs typeface="Arial MT"/>
              </a:rPr>
              <a:t>máx</a:t>
            </a:r>
            <a:r>
              <a:rPr lang="pt-BR" sz="1456" spc="-17" dirty="0">
                <a:solidFill>
                  <a:schemeClr val="bg1"/>
                </a:solidFill>
                <a:latin typeface="Arial MT"/>
                <a:cs typeface="Arial MT"/>
              </a:rPr>
              <a:t>, min: </a:t>
            </a:r>
            <a:r>
              <a:rPr lang="pt-BR" sz="1588" dirty="0">
                <a:solidFill>
                  <a:schemeClr val="bg1"/>
                </a:solidFill>
              </a:rPr>
              <a:t>limites dos dados.</a:t>
            </a:r>
            <a:endParaRPr sz="1456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520681">
              <a:spcBef>
                <a:spcPts val="424"/>
              </a:spcBef>
            </a:pP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[se</a:t>
            </a:r>
            <a:r>
              <a:rPr sz="1456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houver</a:t>
            </a:r>
            <a:r>
              <a:rPr sz="1456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hipóteses]</a:t>
            </a:r>
            <a:r>
              <a:rPr sz="1456" spc="-4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significância</a:t>
            </a:r>
            <a:r>
              <a:rPr sz="1456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dirty="0">
                <a:solidFill>
                  <a:schemeClr val="bg1"/>
                </a:solidFill>
                <a:latin typeface="Arial MT"/>
                <a:cs typeface="Arial MT"/>
              </a:rPr>
              <a:t>dos</a:t>
            </a:r>
            <a:r>
              <a:rPr sz="1456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56" spc="-7" dirty="0" err="1">
                <a:solidFill>
                  <a:schemeClr val="bg1"/>
                </a:solidFill>
                <a:latin typeface="Arial MT"/>
                <a:cs typeface="Arial MT"/>
              </a:rPr>
              <a:t>resultados</a:t>
            </a:r>
            <a:r>
              <a:rPr lang="pt-BR" sz="1456" spc="-7" dirty="0">
                <a:solidFill>
                  <a:schemeClr val="bg1"/>
                </a:solidFill>
                <a:latin typeface="Arial MT"/>
                <a:cs typeface="Arial MT"/>
              </a:rPr>
              <a:t>: </a:t>
            </a:r>
            <a:r>
              <a:rPr lang="pt-BR" sz="1588" dirty="0">
                <a:solidFill>
                  <a:schemeClr val="bg1"/>
                </a:solidFill>
              </a:rPr>
              <a:t>Confirma se há diferença real</a:t>
            </a:r>
            <a:endParaRPr sz="1456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14762">
              <a:spcBef>
                <a:spcPts val="384"/>
              </a:spcBef>
            </a:pPr>
            <a:r>
              <a:rPr sz="1721" dirty="0">
                <a:solidFill>
                  <a:schemeClr val="bg1"/>
                </a:solidFill>
                <a:latin typeface="Arial MT"/>
                <a:cs typeface="Arial MT"/>
              </a:rPr>
              <a:t>tabelas</a:t>
            </a:r>
            <a:r>
              <a:rPr sz="1721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721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721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721" spc="-7" dirty="0">
                <a:solidFill>
                  <a:schemeClr val="bg1"/>
                </a:solidFill>
                <a:latin typeface="Arial MT"/>
                <a:cs typeface="Arial MT"/>
              </a:rPr>
              <a:t>gráficos</a:t>
            </a:r>
            <a:endParaRPr sz="172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>
              <a:spcBef>
                <a:spcPts val="347"/>
              </a:spcBef>
            </a:pPr>
            <a:r>
              <a:rPr sz="1985" spc="-7" dirty="0">
                <a:solidFill>
                  <a:schemeClr val="bg1"/>
                </a:solidFill>
                <a:latin typeface="Arial MT"/>
                <a:cs typeface="Arial MT"/>
              </a:rPr>
              <a:t>resultados</a:t>
            </a:r>
            <a:endParaRPr sz="1985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>
              <a:spcBef>
                <a:spcPts val="357"/>
              </a:spcBef>
            </a:pPr>
            <a:r>
              <a:rPr sz="1985" dirty="0">
                <a:solidFill>
                  <a:schemeClr val="bg1"/>
                </a:solidFill>
                <a:latin typeface="Arial MT"/>
                <a:cs typeface="Arial MT"/>
              </a:rPr>
              <a:t>recomendações</a:t>
            </a:r>
            <a:r>
              <a:rPr sz="1985" spc="-4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85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985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85" spc="-7" dirty="0">
                <a:solidFill>
                  <a:schemeClr val="bg1"/>
                </a:solidFill>
                <a:latin typeface="Arial MT"/>
                <a:cs typeface="Arial MT"/>
              </a:rPr>
              <a:t>discussão</a:t>
            </a:r>
            <a:endParaRPr sz="1985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885" y="422208"/>
            <a:ext cx="3924440" cy="262747"/>
          </a:xfrm>
          <a:prstGeom prst="rect">
            <a:avLst/>
          </a:prstGeom>
        </p:spPr>
        <p:txBody>
          <a:bodyPr vert="horz" wrap="square" lIns="0" tIns="7984" rIns="0" bIns="0" rtlCol="0">
            <a:spAutoFit/>
          </a:bodyPr>
          <a:lstStyle/>
          <a:p>
            <a:pPr marL="8405">
              <a:spcBef>
                <a:spcPts val="63"/>
              </a:spcBef>
            </a:pPr>
            <a:r>
              <a:rPr sz="1655" dirty="0"/>
              <a:t>6.</a:t>
            </a:r>
            <a:r>
              <a:rPr sz="1655" spc="-20" dirty="0"/>
              <a:t> </a:t>
            </a:r>
            <a:r>
              <a:rPr sz="1655" dirty="0"/>
              <a:t>relato</a:t>
            </a:r>
            <a:r>
              <a:rPr sz="1655" spc="-10" dirty="0"/>
              <a:t> </a:t>
            </a:r>
            <a:r>
              <a:rPr sz="1655" dirty="0"/>
              <a:t>&gt;</a:t>
            </a:r>
            <a:r>
              <a:rPr sz="1655" spc="-13" dirty="0"/>
              <a:t> </a:t>
            </a:r>
            <a:r>
              <a:rPr sz="1655" dirty="0"/>
              <a:t>análise</a:t>
            </a:r>
            <a:r>
              <a:rPr sz="1655" spc="-30" dirty="0"/>
              <a:t> </a:t>
            </a:r>
            <a:r>
              <a:rPr sz="1655" dirty="0"/>
              <a:t>dos</a:t>
            </a:r>
            <a:r>
              <a:rPr sz="1655" spc="-17" dirty="0"/>
              <a:t> </a:t>
            </a:r>
            <a:r>
              <a:rPr sz="1655" dirty="0"/>
              <a:t>dados</a:t>
            </a:r>
            <a:r>
              <a:rPr sz="1655" spc="-33" dirty="0"/>
              <a:t> </a:t>
            </a:r>
            <a:r>
              <a:rPr sz="1655" spc="-7" dirty="0"/>
              <a:t>coletados</a:t>
            </a:r>
            <a:endParaRPr sz="1655"/>
          </a:p>
        </p:txBody>
      </p:sp>
      <p:sp>
        <p:nvSpPr>
          <p:cNvPr id="3" name="object 3"/>
          <p:cNvSpPr txBox="1"/>
          <p:nvPr/>
        </p:nvSpPr>
        <p:spPr>
          <a:xfrm>
            <a:off x="1877868" y="622414"/>
            <a:ext cx="5069121" cy="3352275"/>
          </a:xfrm>
          <a:prstGeom prst="rect">
            <a:avLst/>
          </a:prstGeom>
        </p:spPr>
        <p:txBody>
          <a:bodyPr vert="horz" wrap="square" lIns="0" tIns="61352" rIns="0" bIns="0" rtlCol="0">
            <a:spAutoFit/>
          </a:bodyPr>
          <a:lstStyle/>
          <a:p>
            <a:pPr marL="8405">
              <a:spcBef>
                <a:spcPts val="483"/>
              </a:spcBef>
            </a:pP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1.</a:t>
            </a:r>
            <a:r>
              <a:rPr sz="1191" b="1" spc="-3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plano;</a:t>
            </a:r>
            <a:r>
              <a:rPr sz="1191" b="1" spc="-3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2.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recrutamento;</a:t>
            </a:r>
            <a:r>
              <a:rPr sz="1191" b="1" spc="-17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3.</a:t>
            </a:r>
            <a:r>
              <a:rPr sz="1191" b="1" spc="-20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preparação;</a:t>
            </a:r>
            <a:r>
              <a:rPr sz="1191" b="1" spc="-17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4.</a:t>
            </a:r>
            <a:r>
              <a:rPr sz="1191" b="1" spc="-3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condução;</a:t>
            </a:r>
            <a:r>
              <a:rPr sz="1191" b="1" spc="-36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dirty="0">
                <a:solidFill>
                  <a:srgbClr val="BFBFBF"/>
                </a:solidFill>
                <a:latin typeface="Arial"/>
                <a:cs typeface="Arial"/>
              </a:rPr>
              <a:t>5.</a:t>
            </a:r>
            <a:r>
              <a:rPr sz="1191" b="1" spc="-23" dirty="0">
                <a:solidFill>
                  <a:srgbClr val="BFBFBF"/>
                </a:solidFill>
                <a:latin typeface="Arial"/>
                <a:cs typeface="Arial"/>
              </a:rPr>
              <a:t> </a:t>
            </a:r>
            <a:r>
              <a:rPr sz="1191" b="1" i="1" spc="-7" dirty="0">
                <a:solidFill>
                  <a:srgbClr val="BFBFBF"/>
                </a:solidFill>
                <a:latin typeface="Arial"/>
                <a:cs typeface="Arial"/>
              </a:rPr>
              <a:t>debriefing</a:t>
            </a:r>
            <a:endParaRPr sz="1191" dirty="0">
              <a:latin typeface="Arial"/>
              <a:cs typeface="Arial"/>
            </a:endParaRPr>
          </a:p>
          <a:p>
            <a:pPr marL="90772">
              <a:spcBef>
                <a:spcPts val="556"/>
              </a:spcBef>
            </a:pP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conforme</a:t>
            </a:r>
            <a:r>
              <a:rPr sz="1588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grupo</a:t>
            </a:r>
            <a:r>
              <a:rPr sz="1588" spc="-4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588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participantes</a:t>
            </a:r>
            <a:r>
              <a:rPr sz="1588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ou</a:t>
            </a:r>
            <a:r>
              <a:rPr sz="1588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versões</a:t>
            </a:r>
            <a:r>
              <a:rPr sz="1588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do</a:t>
            </a:r>
            <a:r>
              <a:rPr sz="1588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7" dirty="0">
                <a:solidFill>
                  <a:schemeClr val="bg1"/>
                </a:solidFill>
                <a:latin typeface="Arial MT"/>
                <a:cs typeface="Arial MT"/>
              </a:rPr>
              <a:t>sistema</a:t>
            </a:r>
            <a:endParaRPr sz="1588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 marR="432010" indent="223569">
              <a:lnSpc>
                <a:spcPct val="144300"/>
              </a:lnSpc>
              <a:spcBef>
                <a:spcPts val="86"/>
              </a:spcBef>
            </a:pP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analise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diferenças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entre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grupos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ou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versões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produto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tarefas</a:t>
            </a:r>
            <a:r>
              <a:rPr sz="1588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588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não</a:t>
            </a:r>
            <a:r>
              <a:rPr sz="1588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satisfizeram</a:t>
            </a:r>
            <a:r>
              <a:rPr sz="1588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os</a:t>
            </a:r>
            <a:r>
              <a:rPr sz="1588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critérios</a:t>
            </a:r>
            <a:r>
              <a:rPr sz="1588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7" dirty="0">
                <a:solidFill>
                  <a:schemeClr val="bg1"/>
                </a:solidFill>
                <a:latin typeface="Arial MT"/>
                <a:cs typeface="Arial MT"/>
              </a:rPr>
              <a:t>desejados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erros</a:t>
            </a:r>
            <a:r>
              <a:rPr sz="1588" spc="-5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588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dificuldades</a:t>
            </a:r>
            <a:r>
              <a:rPr sz="1588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dos</a:t>
            </a:r>
            <a:r>
              <a:rPr sz="1588" spc="-3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7" dirty="0">
                <a:solidFill>
                  <a:schemeClr val="bg1"/>
                </a:solidFill>
                <a:latin typeface="Arial MT"/>
                <a:cs typeface="Arial MT"/>
              </a:rPr>
              <a:t>usuários</a:t>
            </a:r>
            <a:endParaRPr sz="1588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14762">
              <a:spcBef>
                <a:spcPts val="788"/>
              </a:spcBef>
            </a:pP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faça</a:t>
            </a:r>
            <a:r>
              <a:rPr sz="1324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uma</a:t>
            </a:r>
            <a:r>
              <a:rPr sz="1324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análise</a:t>
            </a:r>
            <a:r>
              <a:rPr sz="1324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da</a:t>
            </a:r>
            <a:r>
              <a:rPr sz="1324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origem</a:t>
            </a:r>
            <a:r>
              <a:rPr sz="1324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dos</a:t>
            </a:r>
            <a:r>
              <a:rPr sz="1324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erros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 marR="34040">
              <a:lnSpc>
                <a:spcPct val="110000"/>
              </a:lnSpc>
              <a:spcBef>
                <a:spcPts val="559"/>
              </a:spcBef>
            </a:pP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priorize</a:t>
            </a:r>
            <a:r>
              <a:rPr sz="1588" spc="-5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os</a:t>
            </a:r>
            <a:r>
              <a:rPr sz="1588" spc="-4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problemas</a:t>
            </a:r>
            <a:r>
              <a:rPr sz="1588" spc="-4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por</a:t>
            </a:r>
            <a:r>
              <a:rPr sz="1588" spc="-6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gravidade</a:t>
            </a:r>
            <a:r>
              <a:rPr sz="1588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sz="1588" spc="-6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probabilidade</a:t>
            </a:r>
            <a:r>
              <a:rPr sz="1588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17" dirty="0">
                <a:solidFill>
                  <a:schemeClr val="bg1"/>
                </a:solidFill>
                <a:latin typeface="Arial MT"/>
                <a:cs typeface="Arial MT"/>
              </a:rPr>
              <a:t>de </a:t>
            </a:r>
            <a:r>
              <a:rPr sz="1588" spc="-7" dirty="0">
                <a:solidFill>
                  <a:schemeClr val="bg1"/>
                </a:solidFill>
                <a:latin typeface="Arial MT"/>
                <a:cs typeface="Arial MT"/>
              </a:rPr>
              <a:t>ocorrência</a:t>
            </a:r>
            <a:endParaRPr sz="1588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0772">
              <a:spcBef>
                <a:spcPts val="788"/>
              </a:spcBef>
            </a:pPr>
            <a:r>
              <a:rPr sz="1588" dirty="0">
                <a:solidFill>
                  <a:schemeClr val="bg1"/>
                </a:solidFill>
                <a:latin typeface="Arial MT"/>
                <a:cs typeface="Arial MT"/>
              </a:rPr>
              <a:t>elabore</a:t>
            </a:r>
            <a:r>
              <a:rPr sz="1588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588" spc="-7" dirty="0">
                <a:solidFill>
                  <a:schemeClr val="bg1"/>
                </a:solidFill>
                <a:latin typeface="Arial MT"/>
                <a:cs typeface="Arial MT"/>
              </a:rPr>
              <a:t>recomendações</a:t>
            </a:r>
            <a:endParaRPr sz="1588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314762" marR="751815">
              <a:lnSpc>
                <a:spcPct val="110000"/>
              </a:lnSpc>
              <a:spcBef>
                <a:spcPts val="629"/>
              </a:spcBef>
            </a:pP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indicando</a:t>
            </a:r>
            <a:r>
              <a:rPr sz="1324" spc="-26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pontos</a:t>
            </a:r>
            <a:r>
              <a:rPr sz="1324" spc="-17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que</a:t>
            </a:r>
            <a:r>
              <a:rPr sz="1324" spc="-1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precisam</a:t>
            </a:r>
            <a:r>
              <a:rPr sz="1324" spc="-3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ser</a:t>
            </a:r>
            <a:r>
              <a:rPr sz="1324" spc="-2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chemeClr val="bg1"/>
                </a:solidFill>
                <a:latin typeface="Arial MT"/>
                <a:cs typeface="Arial MT"/>
              </a:rPr>
              <a:t>pesquisados</a:t>
            </a:r>
            <a:r>
              <a:rPr sz="1324" spc="-43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324" spc="-13" dirty="0">
                <a:solidFill>
                  <a:schemeClr val="bg1"/>
                </a:solidFill>
                <a:latin typeface="Arial MT"/>
                <a:cs typeface="Arial MT"/>
              </a:rPr>
              <a:t>mais </a:t>
            </a:r>
            <a:r>
              <a:rPr sz="1324" spc="-7" dirty="0">
                <a:solidFill>
                  <a:schemeClr val="bg1"/>
                </a:solidFill>
                <a:latin typeface="Arial MT"/>
                <a:cs typeface="Arial MT"/>
              </a:rPr>
              <a:t>profundamente</a:t>
            </a:r>
            <a:endParaRPr sz="1324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600700" y="3165522"/>
            <a:ext cx="1391771" cy="139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05">
              <a:lnSpc>
                <a:spcPts val="943"/>
              </a:lnSpc>
            </a:pPr>
            <a:r>
              <a:rPr spc="-17" dirty="0"/>
              <a:t>32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6647" y="2332989"/>
            <a:ext cx="74104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Testes</a:t>
            </a:r>
            <a:r>
              <a:rPr spc="-130" dirty="0"/>
              <a:t> </a:t>
            </a:r>
            <a:r>
              <a:rPr dirty="0">
                <a:solidFill>
                  <a:srgbClr val="FFFF00"/>
                </a:solidFill>
              </a:rPr>
              <a:t>remotos</a:t>
            </a:r>
            <a:r>
              <a:rPr spc="-114" dirty="0">
                <a:solidFill>
                  <a:srgbClr val="FFFF00"/>
                </a:solidFill>
              </a:rPr>
              <a:t> </a:t>
            </a:r>
            <a:r>
              <a:rPr dirty="0"/>
              <a:t>de</a:t>
            </a:r>
            <a:r>
              <a:rPr spc="-150" dirty="0"/>
              <a:t> </a:t>
            </a:r>
            <a:r>
              <a:rPr spc="-10" dirty="0"/>
              <a:t>usabilidade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565D6-6D00-0590-BF15-77579B9E1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599" y="336245"/>
            <a:ext cx="8340801" cy="615553"/>
          </a:xfrm>
        </p:spPr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7232B94-1127-45A9-0969-34F82B754D16}"/>
              </a:ext>
            </a:extLst>
          </p:cNvPr>
          <p:cNvSpPr txBox="1"/>
          <p:nvPr/>
        </p:nvSpPr>
        <p:spPr>
          <a:xfrm>
            <a:off x="2733923" y="209550"/>
            <a:ext cx="6400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200" b="1" dirty="0">
                <a:solidFill>
                  <a:schemeClr val="bg1"/>
                </a:solidFill>
              </a:rPr>
              <a:t>Exercício: Avaliando um Protótipo com Teste de Usabilidade</a:t>
            </a:r>
          </a:p>
          <a:p>
            <a:pPr>
              <a:buNone/>
            </a:pPr>
            <a:endParaRPr lang="pt-BR" sz="12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pt-BR" sz="1200" b="1" dirty="0">
                <a:solidFill>
                  <a:schemeClr val="bg1"/>
                </a:solidFill>
              </a:rPr>
              <a:t>Parte 1 – Protótipo</a:t>
            </a:r>
          </a:p>
          <a:p>
            <a:pPr>
              <a:buFont typeface="+mj-lt"/>
              <a:buAutoNum type="arabicPeriod"/>
            </a:pPr>
            <a:r>
              <a:rPr lang="pt-BR" sz="1200" dirty="0">
                <a:solidFill>
                  <a:schemeClr val="bg1"/>
                </a:solidFill>
              </a:rPr>
              <a:t>Escolha uma das telas do protótipo </a:t>
            </a:r>
          </a:p>
          <a:p>
            <a:pPr>
              <a:buFont typeface="+mj-lt"/>
              <a:buAutoNum type="arabicPeriod"/>
            </a:pPr>
            <a:r>
              <a:rPr lang="pt-BR" sz="1200" dirty="0">
                <a:solidFill>
                  <a:schemeClr val="bg1"/>
                </a:solidFill>
              </a:rPr>
              <a:t>Descreva o objetivo principal dessa tela.</a:t>
            </a:r>
          </a:p>
          <a:p>
            <a:pPr>
              <a:buFont typeface="+mj-lt"/>
              <a:buAutoNum type="arabicPeriod"/>
            </a:pPr>
            <a:r>
              <a:rPr lang="pt-BR" sz="1200" dirty="0">
                <a:solidFill>
                  <a:schemeClr val="bg1"/>
                </a:solidFill>
              </a:rPr>
              <a:t>Liste </a:t>
            </a:r>
            <a:r>
              <a:rPr lang="pt-BR" sz="1200" b="1" dirty="0">
                <a:solidFill>
                  <a:schemeClr val="bg1"/>
                </a:solidFill>
              </a:rPr>
              <a:t>três tarefas</a:t>
            </a:r>
            <a:r>
              <a:rPr lang="pt-BR" sz="1200" dirty="0">
                <a:solidFill>
                  <a:schemeClr val="bg1"/>
                </a:solidFill>
              </a:rPr>
              <a:t> que o usuário deve conseguir realizar nessa tela (</a:t>
            </a:r>
            <a:r>
              <a:rPr lang="pt-BR" sz="1200" dirty="0" err="1">
                <a:solidFill>
                  <a:schemeClr val="bg1"/>
                </a:solidFill>
              </a:rPr>
              <a:t>ex</a:t>
            </a:r>
            <a:r>
              <a:rPr lang="pt-BR" sz="1200" dirty="0">
                <a:solidFill>
                  <a:schemeClr val="bg1"/>
                </a:solidFill>
              </a:rPr>
              <a:t>: selecionar ..., reservar .., confirmar reserva).</a:t>
            </a:r>
          </a:p>
          <a:p>
            <a:pPr>
              <a:buNone/>
            </a:pPr>
            <a:endParaRPr lang="pt-BR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pt-BR" sz="1200" b="1" dirty="0">
                <a:solidFill>
                  <a:schemeClr val="bg1"/>
                </a:solidFill>
              </a:rPr>
              <a:t>Parte 2 – Teste de Usabilidade</a:t>
            </a:r>
          </a:p>
          <a:p>
            <a:pPr>
              <a:buFont typeface="+mj-lt"/>
              <a:buAutoNum type="arabicPeriod"/>
            </a:pPr>
            <a:r>
              <a:rPr lang="pt-BR" sz="1200" dirty="0">
                <a:solidFill>
                  <a:schemeClr val="bg1"/>
                </a:solidFill>
              </a:rPr>
              <a:t>Elabore </a:t>
            </a:r>
            <a:r>
              <a:rPr lang="pt-BR" sz="1200" b="1" dirty="0">
                <a:solidFill>
                  <a:schemeClr val="bg1"/>
                </a:solidFill>
              </a:rPr>
              <a:t>cinco perguntas de observação</a:t>
            </a:r>
            <a:r>
              <a:rPr lang="pt-BR" sz="1200" dirty="0">
                <a:solidFill>
                  <a:schemeClr val="bg1"/>
                </a:solidFill>
              </a:rPr>
              <a:t> para aplicar um teste de usabilidade com um usuário.</a:t>
            </a:r>
            <a:br>
              <a:rPr lang="pt-BR" sz="1200" dirty="0">
                <a:solidFill>
                  <a:schemeClr val="bg1"/>
                </a:solidFill>
              </a:rPr>
            </a:br>
            <a:r>
              <a:rPr lang="pt-BR" sz="1200" dirty="0">
                <a:solidFill>
                  <a:schemeClr val="bg1"/>
                </a:solidFill>
              </a:rPr>
              <a:t>Exemplo: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sz="1200" dirty="0">
                <a:solidFill>
                  <a:schemeClr val="bg1"/>
                </a:solidFill>
              </a:rPr>
              <a:t>O usuário consegue identificar facilmente onde fazer a reserva?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sz="1200" dirty="0">
                <a:solidFill>
                  <a:schemeClr val="bg1"/>
                </a:solidFill>
              </a:rPr>
              <a:t>Quantos cliques são necessários para concluir a tarefa?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sz="1200" dirty="0">
                <a:solidFill>
                  <a:schemeClr val="bg1"/>
                </a:solidFill>
              </a:rPr>
              <a:t>Há informações que geram confusão ou dúvida?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sz="1200" dirty="0">
                <a:solidFill>
                  <a:schemeClr val="bg1"/>
                </a:solidFill>
              </a:rPr>
              <a:t>O usuário cometeu erros? Quais?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sz="1200" dirty="0">
                <a:solidFill>
                  <a:schemeClr val="bg1"/>
                </a:solidFill>
              </a:rPr>
              <a:t>Quanto tempo levou para concluir a tarefa?</a:t>
            </a:r>
          </a:p>
          <a:p>
            <a:pPr>
              <a:buFont typeface="+mj-lt"/>
              <a:buAutoNum type="arabicPeriod"/>
            </a:pPr>
            <a:r>
              <a:rPr lang="pt-BR" sz="1200" dirty="0">
                <a:solidFill>
                  <a:schemeClr val="bg1"/>
                </a:solidFill>
              </a:rPr>
              <a:t>Aplique o teste com pelo menos uma pessoa.</a:t>
            </a:r>
          </a:p>
          <a:p>
            <a:pPr>
              <a:buFont typeface="+mj-lt"/>
              <a:buAutoNum type="arabicPeriod"/>
            </a:pPr>
            <a:r>
              <a:rPr lang="pt-BR" sz="1200" dirty="0">
                <a:solidFill>
                  <a:schemeClr val="bg1"/>
                </a:solidFill>
              </a:rPr>
              <a:t>Registre </a:t>
            </a:r>
            <a:r>
              <a:rPr lang="pt-BR" sz="1200" b="1" dirty="0">
                <a:solidFill>
                  <a:schemeClr val="bg1"/>
                </a:solidFill>
              </a:rPr>
              <a:t>as dificuldades encontradas</a:t>
            </a:r>
            <a:r>
              <a:rPr lang="pt-BR" sz="1200" dirty="0">
                <a:solidFill>
                  <a:schemeClr val="bg1"/>
                </a:solidFill>
              </a:rPr>
              <a:t> e </a:t>
            </a:r>
            <a:r>
              <a:rPr lang="pt-BR" sz="1200" b="1" dirty="0">
                <a:solidFill>
                  <a:schemeClr val="bg1"/>
                </a:solidFill>
              </a:rPr>
              <a:t>sugestões de melhoria</a:t>
            </a:r>
            <a:r>
              <a:rPr lang="pt-BR" sz="1200" dirty="0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endParaRPr lang="pt-BR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pt-BR" sz="1200" b="1" dirty="0">
                <a:solidFill>
                  <a:schemeClr val="bg1"/>
                </a:solidFill>
              </a:rPr>
              <a:t>Parte 3 – Análise</a:t>
            </a:r>
          </a:p>
          <a:p>
            <a:pPr>
              <a:buFont typeface="+mj-lt"/>
              <a:buAutoNum type="arabicPeriod"/>
            </a:pPr>
            <a:r>
              <a:rPr lang="pt-BR" sz="1200" dirty="0">
                <a:solidFill>
                  <a:schemeClr val="bg1"/>
                </a:solidFill>
              </a:rPr>
              <a:t>Classifique cada problema encontrado de acordo com a </a:t>
            </a:r>
            <a:r>
              <a:rPr lang="pt-BR" sz="1200" b="1" dirty="0">
                <a:solidFill>
                  <a:schemeClr val="bg1"/>
                </a:solidFill>
              </a:rPr>
              <a:t>gravidade</a:t>
            </a:r>
            <a:r>
              <a:rPr lang="pt-BR" sz="1200" dirty="0">
                <a:solidFill>
                  <a:schemeClr val="bg1"/>
                </a:solidFill>
              </a:rPr>
              <a:t>: leve, moderado ou grave.</a:t>
            </a:r>
          </a:p>
          <a:p>
            <a:pPr>
              <a:buFont typeface="+mj-lt"/>
              <a:buAutoNum type="arabicPeriod"/>
            </a:pPr>
            <a:r>
              <a:rPr lang="pt-BR" sz="1200" dirty="0">
                <a:solidFill>
                  <a:schemeClr val="bg1"/>
                </a:solidFill>
              </a:rPr>
              <a:t>Proponha </a:t>
            </a:r>
            <a:r>
              <a:rPr lang="pt-BR" sz="1200" b="1" dirty="0">
                <a:solidFill>
                  <a:schemeClr val="bg1"/>
                </a:solidFill>
              </a:rPr>
              <a:t>duas melhorias</a:t>
            </a:r>
            <a:r>
              <a:rPr lang="pt-BR" sz="1200" dirty="0">
                <a:solidFill>
                  <a:schemeClr val="bg1"/>
                </a:solidFill>
              </a:rPr>
              <a:t> no design da interface baseadas nos resultados do teste.</a:t>
            </a:r>
          </a:p>
          <a:p>
            <a:pPr>
              <a:buNone/>
            </a:pPr>
            <a:br>
              <a:rPr lang="pt-BR" sz="900" dirty="0">
                <a:solidFill>
                  <a:schemeClr val="bg1"/>
                </a:solidFill>
              </a:rPr>
            </a:br>
            <a:r>
              <a:rPr lang="pt-BR" sz="900" b="1" dirty="0"/>
              <a:t>no usuário</a:t>
            </a:r>
            <a:r>
              <a:rPr lang="pt-BR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6892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2824</Words>
  <Application>Microsoft Office PowerPoint</Application>
  <PresentationFormat>Apresentação na tela (16:9)</PresentationFormat>
  <Paragraphs>430</Paragraphs>
  <Slides>57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5" baseType="lpstr">
      <vt:lpstr>Arial</vt:lpstr>
      <vt:lpstr>Arial MT</vt:lpstr>
      <vt:lpstr>Calibri</vt:lpstr>
      <vt:lpstr>Consolas</vt:lpstr>
      <vt:lpstr>Times New Roman</vt:lpstr>
      <vt:lpstr>Trebuchet MS</vt:lpstr>
      <vt:lpstr>Wingdings</vt:lpstr>
      <vt:lpstr>Office Theme</vt:lpstr>
      <vt:lpstr>Avaliação do Projeto</vt:lpstr>
      <vt:lpstr>Planejar o processo de projeto centrado no humano</vt:lpstr>
      <vt:lpstr>Avaliações de IHC não são testes de software!</vt:lpstr>
      <vt:lpstr>Por que avaliar?</vt:lpstr>
      <vt:lpstr>Apresentação do PowerPoint</vt:lpstr>
      <vt:lpstr>Avaliação</vt:lpstr>
      <vt:lpstr>Técnicas de inspeção</vt:lpstr>
      <vt:lpstr>Técnicas de inspeção</vt:lpstr>
      <vt:lpstr>Algumas técnicas de inspeção</vt:lpstr>
      <vt:lpstr>Algumas técnicas de inspeção</vt:lpstr>
      <vt:lpstr>Avaliação heurística avaliação através da inspeção</vt:lpstr>
      <vt:lpstr>Proposta por Nielsen como método de avaliação “descontado” (econômico)</vt:lpstr>
      <vt:lpstr>Processo da AH</vt:lpstr>
      <vt:lpstr>Recrutamento de avaliadores</vt:lpstr>
      <vt:lpstr>1. Instruções</vt:lpstr>
      <vt:lpstr>2. Avaliação (cada avaliador)</vt:lpstr>
      <vt:lpstr>3. Compilação</vt:lpstr>
      <vt:lpstr>4. Classificação de severidade</vt:lpstr>
      <vt:lpstr>5. Decisão de design</vt:lpstr>
      <vt:lpstr>Testes de usabilidade avaliação através da observação</vt:lpstr>
      <vt:lpstr>Apresentação do PowerPoint</vt:lpstr>
      <vt:lpstr>Testes de Usabilidade</vt:lpstr>
      <vt:lpstr>Testes de usabilidade tradicionais</vt:lpstr>
      <vt:lpstr>Objetivo</vt:lpstr>
      <vt:lpstr>1. plano de teste</vt:lpstr>
      <vt:lpstr>1. plano de teste</vt:lpstr>
      <vt:lpstr>1. plano de teste</vt:lpstr>
      <vt:lpstr>1. plano de teste</vt:lpstr>
      <vt:lpstr>1. plano de teste</vt:lpstr>
      <vt:lpstr>1. plano de teste</vt:lpstr>
      <vt:lpstr>Exemplo de dados coletados com rastreamento ocular</vt:lpstr>
      <vt:lpstr>1. plano de teste</vt:lpstr>
      <vt:lpstr>1. plano de teste</vt:lpstr>
      <vt:lpstr>1. plano de teste</vt:lpstr>
      <vt:lpstr>Alguns tipos de dados coletados</vt:lpstr>
      <vt:lpstr>1. plano de teste</vt:lpstr>
      <vt:lpstr>1. plano de teste</vt:lpstr>
      <vt:lpstr>Apresentação do PowerPoint</vt:lpstr>
      <vt:lpstr>Sujeitos</vt:lpstr>
      <vt:lpstr>Quantos usuários são necessários para testes de usabilidade?</vt:lpstr>
      <vt:lpstr>Custo x benefício para execução de testes</vt:lpstr>
      <vt:lpstr>Ética</vt:lpstr>
      <vt:lpstr>Cenários</vt:lpstr>
      <vt:lpstr>Ambiente</vt:lpstr>
      <vt:lpstr>3. preparação do material para o teste</vt:lpstr>
      <vt:lpstr>4. condução do teste</vt:lpstr>
      <vt:lpstr>Moderador: controla o ritmo do teste</vt:lpstr>
      <vt:lpstr>Teste piloto</vt:lpstr>
      <vt:lpstr>Execução do teste</vt:lpstr>
      <vt:lpstr>Execução</vt:lpstr>
      <vt:lpstr>Análise dos dados</vt:lpstr>
      <vt:lpstr>6. relato &gt; compilação dos dados coletados</vt:lpstr>
      <vt:lpstr>Análise dos dados</vt:lpstr>
      <vt:lpstr>Apresentação do PowerPoint</vt:lpstr>
      <vt:lpstr>6. relato &gt; análise dos dados coletados</vt:lpstr>
      <vt:lpstr>Testes remotos de usabilidade</vt:lpstr>
      <vt:lpstr>Exercício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Henrique Proença Soares</dc:creator>
  <cp:lastModifiedBy>Cecilia Sosa</cp:lastModifiedBy>
  <cp:revision>9</cp:revision>
  <dcterms:created xsi:type="dcterms:W3CDTF">2025-10-13T23:08:42Z</dcterms:created>
  <dcterms:modified xsi:type="dcterms:W3CDTF">2025-10-13T23:54:57Z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2025-10-13T00:00:00Z</vt:filetime>
  </property>
  <property fmtid="{D5CDD505-2E9C-101B-9397-08002B2CF9AE}" pid="5" name="Producer">
    <vt:lpwstr>Microsoft® PowerPoint® 2016</vt:lpwstr>
  </property>
</Properties>
</file>