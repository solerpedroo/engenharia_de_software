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79" r:id="rId3"/>
    <p:sldId id="280" r:id="rId4"/>
    <p:sldId id="321" r:id="rId5"/>
    <p:sldId id="323" r:id="rId6"/>
    <p:sldId id="333" r:id="rId7"/>
    <p:sldId id="334" r:id="rId8"/>
    <p:sldId id="341" r:id="rId9"/>
    <p:sldId id="342" r:id="rId10"/>
    <p:sldId id="343" r:id="rId11"/>
    <p:sldId id="344" r:id="rId12"/>
    <p:sldId id="345" r:id="rId13"/>
    <p:sldId id="335" r:id="rId14"/>
    <p:sldId id="336" r:id="rId15"/>
    <p:sldId id="337" r:id="rId16"/>
    <p:sldId id="338" r:id="rId17"/>
    <p:sldId id="339" r:id="rId18"/>
    <p:sldId id="340" r:id="rId19"/>
    <p:sldId id="346" r:id="rId20"/>
    <p:sldId id="347" r:id="rId21"/>
    <p:sldId id="348" r:id="rId22"/>
    <p:sldId id="349" r:id="rId23"/>
    <p:sldId id="350" r:id="rId24"/>
    <p:sldId id="351" r:id="rId25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336" y="760857"/>
            <a:ext cx="736132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705628"/>
            <a:ext cx="7520940" cy="433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bm.com/developerworks/community/blogs/rationalbrasil/entry/mas_o_que_s_c3_a3o_essas_tais_de_metodologia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xcentral.com/2015/01/28/infographic-design-thinking-lean-ux-and-agile-working-together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45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USER</a:t>
            </a:r>
            <a:r>
              <a:rPr sz="4000" spc="-15" dirty="0"/>
              <a:t> </a:t>
            </a:r>
            <a:r>
              <a:rPr sz="4000" dirty="0"/>
              <a:t>CENTERED </a:t>
            </a:r>
            <a:r>
              <a:rPr sz="4000" spc="-10" dirty="0"/>
              <a:t>DESIGN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08100" y="1925599"/>
            <a:ext cx="7442200" cy="4562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Engloba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técnicas,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processos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procedimentos </a:t>
            </a:r>
            <a:r>
              <a:rPr sz="2800" dirty="0">
                <a:latin typeface="Arial MT"/>
                <a:cs typeface="Arial MT"/>
              </a:rPr>
              <a:t>para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interfaces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visando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usabilidade, 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principalmente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6F2F9F"/>
                </a:solidFill>
                <a:latin typeface="Arial"/>
                <a:cs typeface="Arial"/>
              </a:rPr>
              <a:t>filosofia</a:t>
            </a:r>
            <a:r>
              <a:rPr sz="2800" b="1" spc="-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colocar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o </a:t>
            </a:r>
            <a:r>
              <a:rPr sz="2800" dirty="0">
                <a:latin typeface="Arial MT"/>
                <a:cs typeface="Arial MT"/>
              </a:rPr>
              <a:t>usuário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centro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 err="1">
                <a:latin typeface="Arial MT"/>
                <a:cs typeface="Arial MT"/>
              </a:rPr>
              <a:t>atenções</a:t>
            </a:r>
            <a:r>
              <a:rPr sz="2800" spc="-10" dirty="0" smtClean="0">
                <a:latin typeface="Arial MT"/>
                <a:cs typeface="Arial MT"/>
              </a:rPr>
              <a:t>.</a:t>
            </a:r>
            <a:endParaRPr lang="pt-BR" sz="2800" spc="-10" dirty="0" smtClean="0">
              <a:latin typeface="Arial MT"/>
              <a:cs typeface="Arial MT"/>
            </a:endParaRPr>
          </a:p>
          <a:p>
            <a:pPr marL="59690" marR="5080" indent="-47625">
              <a:lnSpc>
                <a:spcPct val="150000"/>
              </a:lnSpc>
              <a:spcBef>
                <a:spcPts val="100"/>
              </a:spcBef>
            </a:pPr>
            <a:r>
              <a:rPr lang="pt-BR" sz="2800" dirty="0"/>
              <a:t>Para </a:t>
            </a:r>
            <a:r>
              <a:rPr lang="pt-BR" sz="2800" b="1" dirty="0" smtClean="0"/>
              <a:t>MÉTODOS ÁGEIS </a:t>
            </a:r>
            <a:r>
              <a:rPr lang="pt-BR" sz="2800" b="1" dirty="0"/>
              <a:t>também tenho design centrado no humano</a:t>
            </a:r>
            <a:endParaRPr lang="pt-BR" sz="2800" dirty="0"/>
          </a:p>
          <a:p>
            <a:pPr marL="59690" marR="5080" indent="-47625">
              <a:lnSpc>
                <a:spcPct val="150000"/>
              </a:lnSpc>
              <a:spcBef>
                <a:spcPts val="100"/>
              </a:spcBef>
            </a:pP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lang="pt-BR" dirty="0" smtClean="0"/>
              <a:t>O que é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07744" y="2007235"/>
            <a:ext cx="7205345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Ágil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é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nova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forma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gestão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desenvolvimento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de </a:t>
            </a:r>
            <a:r>
              <a:rPr sz="2200" dirty="0">
                <a:latin typeface="Arial MT"/>
                <a:cs typeface="Arial MT"/>
              </a:rPr>
              <a:t>Software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usa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abordagem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planejamento</a:t>
            </a:r>
            <a:r>
              <a:rPr sz="22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e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execução</a:t>
            </a:r>
            <a:r>
              <a:rPr sz="22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iterativa</a:t>
            </a:r>
            <a:r>
              <a:rPr sz="22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2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incremental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voltado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processos </a:t>
            </a:r>
            <a:r>
              <a:rPr sz="2200" dirty="0">
                <a:latin typeface="Arial MT"/>
                <a:cs typeface="Arial MT"/>
              </a:rPr>
              <a:t>empíricos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(complexos,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caóticos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muita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incerteza, </a:t>
            </a:r>
            <a:r>
              <a:rPr sz="2200" dirty="0">
                <a:latin typeface="Arial MT"/>
                <a:cs typeface="Arial MT"/>
              </a:rPr>
              <a:t>tem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mudança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longo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não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são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repetitivos</a:t>
            </a:r>
            <a:r>
              <a:rPr sz="2200" spc="-50" dirty="0">
                <a:latin typeface="Arial MT"/>
                <a:cs typeface="Arial MT"/>
              </a:rPr>
              <a:t> e </a:t>
            </a:r>
            <a:r>
              <a:rPr sz="2200" dirty="0">
                <a:latin typeface="Arial MT"/>
                <a:cs typeface="Arial MT"/>
              </a:rPr>
              <a:t>são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imprevisíveis)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divide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problema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produtos menores.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Seu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principal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objetivo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é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entregar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cliente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realmente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deseja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será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útil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qualidade.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169" y="6476187"/>
            <a:ext cx="88195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https://</a:t>
            </a:r>
            <a:r>
              <a:rPr sz="1100" b="1" spc="-10" dirty="0">
                <a:latin typeface="Times New Roman"/>
                <a:cs typeface="Times New Roman"/>
                <a:hlinkClick r:id="rId2"/>
              </a:rPr>
              <a:t>www.ibm.com/developerworks/community/blogs/rationalbrasil/entry/mas_o_que_s_c3_a3o_essas_tais_de_metodologias</a:t>
            </a:r>
            <a:r>
              <a:rPr sz="1100" b="1" u="sng" spc="3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100" b="1" spc="-10" dirty="0">
                <a:latin typeface="Times New Roman"/>
                <a:cs typeface="Times New Roman"/>
              </a:rPr>
              <a:t>c3_a1geis?lang=en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246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Foco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7234"/>
            <a:ext cx="7468870" cy="4039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Nos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métodos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tradicionais,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que </a:t>
            </a:r>
            <a:r>
              <a:rPr sz="2400" dirty="0">
                <a:latin typeface="Arial MT"/>
                <a:cs typeface="Arial MT"/>
              </a:rPr>
              <a:t>deve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assegurar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qualidade.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5600" marR="76835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Nos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métodos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ágeis,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foco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é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nas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pessoas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que </a:t>
            </a:r>
            <a:r>
              <a:rPr sz="2400" dirty="0">
                <a:latin typeface="Arial MT"/>
                <a:cs typeface="Arial MT"/>
              </a:rPr>
              <a:t>garantem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sucesso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projeto.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5600" marR="10287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Nos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métodos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tradicionais,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desenvolvimento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é </a:t>
            </a:r>
            <a:r>
              <a:rPr sz="2400" dirty="0">
                <a:latin typeface="Arial MT"/>
                <a:cs typeface="Arial MT"/>
              </a:rPr>
              <a:t>orientado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planejamento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portanto,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o </a:t>
            </a:r>
            <a:r>
              <a:rPr sz="2400" dirty="0">
                <a:latin typeface="Arial MT"/>
                <a:cs typeface="Arial MT"/>
              </a:rPr>
              <a:t>processo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prescritivo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enquanto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método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ágil,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o </a:t>
            </a:r>
            <a:r>
              <a:rPr sz="2400" dirty="0">
                <a:latin typeface="Arial MT"/>
                <a:cs typeface="Arial MT"/>
              </a:rPr>
              <a:t>processo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adaptativo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575" y="260646"/>
            <a:ext cx="8010715" cy="56910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236" y="6382613"/>
            <a:ext cx="8976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  <a:hlinkClick r:id="rId3"/>
              </a:rPr>
              <a:t>http://www.uxcentral.com/2015/01/28/infographic-design-thinking-lean-ux-and-agile-working-together/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3259" y="2133600"/>
            <a:ext cx="8169758" cy="369331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Um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Sprint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na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 err="1" smtClean="0">
                <a:latin typeface="Arial MT"/>
                <a:cs typeface="Arial MT"/>
              </a:rPr>
              <a:t>frente</a:t>
            </a:r>
            <a:r>
              <a:rPr lang="pt-BR" sz="2400" spc="-45" dirty="0" smtClean="0">
                <a:latin typeface="Arial MT"/>
                <a:cs typeface="Arial MT"/>
              </a:rPr>
              <a:t>: </a:t>
            </a:r>
            <a:r>
              <a:rPr sz="2000" i="1" dirty="0" smtClean="0">
                <a:latin typeface="Arial"/>
                <a:cs typeface="Arial"/>
              </a:rPr>
              <a:t>A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equipe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UX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trabalha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mínimo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uma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iteração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à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frente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da </a:t>
            </a:r>
            <a:r>
              <a:rPr sz="2000" i="1" dirty="0">
                <a:latin typeface="Arial"/>
                <a:cs typeface="Arial"/>
              </a:rPr>
              <a:t>equipe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 err="1" smtClean="0">
                <a:latin typeface="Arial"/>
                <a:cs typeface="Arial"/>
              </a:rPr>
              <a:t>desenvolvimento</a:t>
            </a:r>
            <a:endParaRPr sz="20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570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Sprint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Zero</a:t>
            </a:r>
            <a:endParaRPr sz="2400" dirty="0">
              <a:latin typeface="Arial MT"/>
              <a:cs typeface="Arial MT"/>
            </a:endParaRPr>
          </a:p>
          <a:p>
            <a:pPr marL="469900" marR="342900" algn="just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Curto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Sprint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antes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implementação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código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definir </a:t>
            </a:r>
            <a:r>
              <a:rPr sz="2000" i="1" dirty="0">
                <a:latin typeface="Arial"/>
                <a:cs typeface="Arial"/>
              </a:rPr>
              <a:t>visão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do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produto,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metas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gerais,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planejar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superficialmente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os </a:t>
            </a:r>
            <a:r>
              <a:rPr sz="2000" i="1" dirty="0">
                <a:latin typeface="Arial"/>
                <a:cs typeface="Arial"/>
              </a:rPr>
              <a:t>próximos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sprints,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definir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princípios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design.</a:t>
            </a:r>
            <a:endParaRPr sz="2000" dirty="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349885" algn="l"/>
              </a:tabLst>
            </a:pPr>
            <a:r>
              <a:rPr sz="2400" dirty="0">
                <a:latin typeface="Arial MT"/>
                <a:cs typeface="Arial MT"/>
              </a:rPr>
              <a:t>Especialistas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UX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Donos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</a:t>
            </a:r>
            <a:r>
              <a:rPr sz="2400" i="1" spc="-25" dirty="0">
                <a:latin typeface="Arial"/>
                <a:cs typeface="Arial"/>
              </a:rPr>
              <a:t>UX</a:t>
            </a:r>
            <a:endParaRPr sz="24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experts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like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Product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Owners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 marR="5080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Praticantes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UX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fazem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parte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da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 err="1">
                <a:latin typeface="Arial"/>
                <a:cs typeface="Arial"/>
              </a:rPr>
              <a:t>equipe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 smtClean="0">
                <a:latin typeface="Arial"/>
                <a:cs typeface="Arial"/>
              </a:rPr>
              <a:t>de</a:t>
            </a:r>
            <a:r>
              <a:rPr lang="pt-BR" sz="2000" i="1" spc="-25" dirty="0">
                <a:latin typeface="Arial"/>
                <a:cs typeface="Arial"/>
              </a:rPr>
              <a:t> </a:t>
            </a:r>
            <a:r>
              <a:rPr sz="2000" i="1" dirty="0" smtClean="0">
                <a:latin typeface="Arial"/>
                <a:cs typeface="Arial"/>
              </a:rPr>
              <a:t>Product</a:t>
            </a:r>
            <a:r>
              <a:rPr sz="2000" i="1" spc="-40" dirty="0" smtClean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Owners,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integrando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requisitos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negócio</a:t>
            </a:r>
            <a:r>
              <a:rPr sz="2000" i="1" spc="-25" dirty="0">
                <a:latin typeface="Arial"/>
                <a:cs typeface="Arial"/>
              </a:rPr>
              <a:t> com </a:t>
            </a:r>
            <a:r>
              <a:rPr sz="2000" i="1" dirty="0">
                <a:latin typeface="Arial"/>
                <a:cs typeface="Arial"/>
              </a:rPr>
              <a:t>requisitos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usabilidade.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5" name="Imagem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11" y="0"/>
            <a:ext cx="7577855" cy="2215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Sprint 0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64540" y="1705628"/>
            <a:ext cx="7520940" cy="738664"/>
          </a:xfrm>
        </p:spPr>
        <p:txBody>
          <a:bodyPr/>
          <a:lstStyle/>
          <a:p>
            <a:r>
              <a:rPr lang="pt-BR" dirty="0" smtClean="0"/>
              <a:t>A equipe de </a:t>
            </a:r>
            <a:r>
              <a:rPr lang="pt-BR" dirty="0" err="1" smtClean="0"/>
              <a:t>dev</a:t>
            </a:r>
            <a:r>
              <a:rPr lang="pt-BR" dirty="0" smtClean="0"/>
              <a:t> está na arquitetura enquanto a equipe de </a:t>
            </a:r>
            <a:r>
              <a:rPr lang="pt-BR" dirty="0" err="1" smtClean="0"/>
              <a:t>ux</a:t>
            </a:r>
            <a:r>
              <a:rPr lang="pt-BR" dirty="0" smtClean="0"/>
              <a:t> está no Design da experiência</a:t>
            </a:r>
            <a:endParaRPr lang="pt-BR" dirty="0"/>
          </a:p>
        </p:txBody>
      </p:sp>
      <p:pic>
        <p:nvPicPr>
          <p:cNvPr id="4" name="Imagem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7255910" cy="3581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56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Sprint 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8597" y="1524000"/>
            <a:ext cx="7520940" cy="1107996"/>
          </a:xfrm>
        </p:spPr>
        <p:txBody>
          <a:bodyPr/>
          <a:lstStyle/>
          <a:p>
            <a:r>
              <a:rPr lang="pt-BR" dirty="0" smtClean="0"/>
              <a:t>A equipe </a:t>
            </a:r>
            <a:r>
              <a:rPr lang="pt-BR" dirty="0" err="1" smtClean="0"/>
              <a:t>dev</a:t>
            </a:r>
            <a:r>
              <a:rPr lang="pt-BR" dirty="0" smtClean="0"/>
              <a:t> está desenvolvendo a experiência entregue pela </a:t>
            </a:r>
            <a:r>
              <a:rPr lang="pt-BR" dirty="0"/>
              <a:t>equipe de UX e a </a:t>
            </a:r>
            <a:r>
              <a:rPr lang="pt-BR" dirty="0" smtClean="0"/>
              <a:t>equipe </a:t>
            </a:r>
            <a:r>
              <a:rPr lang="pt-BR" dirty="0"/>
              <a:t>de UX vai validar as historias </a:t>
            </a:r>
            <a:r>
              <a:rPr lang="pt-BR" dirty="0" smtClean="0"/>
              <a:t>planejadas </a:t>
            </a:r>
            <a:r>
              <a:rPr lang="pt-BR" dirty="0"/>
              <a:t>para o prox. Sprint</a:t>
            </a:r>
            <a:endParaRPr lang="pt-BR" dirty="0"/>
          </a:p>
        </p:txBody>
      </p:sp>
      <p:pic>
        <p:nvPicPr>
          <p:cNvPr id="4" name="Imagem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7117080" cy="3659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87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274" y="485978"/>
            <a:ext cx="66827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3670" marR="5080" indent="-2681605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Identificar</a:t>
            </a:r>
            <a:r>
              <a:rPr spc="-30" dirty="0"/>
              <a:t> </a:t>
            </a:r>
            <a:r>
              <a:rPr dirty="0"/>
              <a:t>necessidades</a:t>
            </a:r>
            <a:r>
              <a:rPr spc="-25" dirty="0"/>
              <a:t> </a:t>
            </a:r>
            <a:r>
              <a:rPr dirty="0"/>
              <a:t>de </a:t>
            </a:r>
            <a:r>
              <a:rPr spc="-25" dirty="0"/>
              <a:t>UCD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942" y="1934228"/>
            <a:ext cx="835342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75"/>
              </a:spcBef>
              <a:buAutoNum type="arabicPeriod" startAt="4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Tempo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valioso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User’s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time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valuable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 marR="74295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Cada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encontro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usuários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típicos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é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utilizado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várias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atividades </a:t>
            </a:r>
            <a:r>
              <a:rPr sz="2000" i="1" dirty="0">
                <a:latin typeface="Arial"/>
                <a:cs typeface="Arial"/>
              </a:rPr>
              <a:t>como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testes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usabilidade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design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desenvolvido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iteração </a:t>
            </a:r>
            <a:r>
              <a:rPr sz="2000" i="1" dirty="0">
                <a:latin typeface="Arial"/>
                <a:cs typeface="Arial"/>
              </a:rPr>
              <a:t>anterior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pesquisa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usuário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definição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requisitos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para </a:t>
            </a:r>
            <a:r>
              <a:rPr sz="2000" i="1" dirty="0">
                <a:latin typeface="Arial"/>
                <a:cs typeface="Arial"/>
              </a:rPr>
              <a:t>próxima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iteração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spcBef>
                <a:spcPts val="575"/>
              </a:spcBef>
              <a:buAutoNum type="arabicPeriod" startAt="5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Caminhos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paralelos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Parallel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tracks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 marR="1179830">
              <a:lnSpc>
                <a:spcPct val="100000"/>
              </a:lnSpc>
              <a:spcBef>
                <a:spcPts val="489"/>
              </a:spcBef>
            </a:pPr>
            <a:r>
              <a:rPr sz="2000" i="1" dirty="0">
                <a:latin typeface="Arial"/>
                <a:cs typeface="Arial"/>
              </a:rPr>
              <a:t>Equipe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UX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ou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usabilidade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trabalha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caminho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paralelo </a:t>
            </a:r>
            <a:r>
              <a:rPr sz="2000" i="1" dirty="0">
                <a:latin typeface="Arial"/>
                <a:cs typeface="Arial"/>
              </a:rPr>
              <a:t>sincronizado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ciclo/sprint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desenvolvimento.</a:t>
            </a:r>
            <a:endParaRPr sz="20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570"/>
              </a:spcBef>
              <a:buAutoNum type="arabicPeriod" startAt="6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100%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compromisso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UX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UX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100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percent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commitment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 marR="5080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Praticantes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são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membros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tempo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integral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uma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única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equipe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ágil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não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atribuídosa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múltiplos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produtos.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Também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usa-se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design</a:t>
            </a:r>
            <a:r>
              <a:rPr sz="2000" i="1" spc="50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pareado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programação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pareada.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56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173" y="485978"/>
            <a:ext cx="5614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Especificar</a:t>
            </a:r>
            <a:r>
              <a:rPr spc="-35" dirty="0"/>
              <a:t> </a:t>
            </a:r>
            <a:r>
              <a:rPr dirty="0"/>
              <a:t>contexto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uso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4228"/>
            <a:ext cx="7597775" cy="35991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49885" marR="5080" indent="-337820">
              <a:lnSpc>
                <a:spcPct val="108400"/>
              </a:lnSpc>
              <a:spcBef>
                <a:spcPts val="43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Pouco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antecipado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Little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Design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Up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Front</a:t>
            </a:r>
            <a:r>
              <a:rPr sz="2400" spc="-10" dirty="0">
                <a:latin typeface="Arial MT"/>
                <a:cs typeface="Arial MT"/>
              </a:rPr>
              <a:t>) 	</a:t>
            </a:r>
            <a:r>
              <a:rPr sz="2000" i="1" dirty="0">
                <a:latin typeface="Arial"/>
                <a:cs typeface="Arial"/>
              </a:rPr>
              <a:t>Realização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pesquisa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menor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granularidade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detalhes, 	</a:t>
            </a:r>
            <a:r>
              <a:rPr sz="2000" i="1" dirty="0">
                <a:latin typeface="Arial"/>
                <a:cs typeface="Arial"/>
              </a:rPr>
              <a:t>enfoque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apenas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sobre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conjunto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funcionalidades</a:t>
            </a:r>
            <a:endParaRPr sz="2000">
              <a:latin typeface="Arial"/>
              <a:cs typeface="Arial"/>
            </a:endParaRPr>
          </a:p>
          <a:p>
            <a:pPr marL="469900" marR="870585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Arial"/>
                <a:cs typeface="Arial"/>
              </a:rPr>
              <a:t>essencial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próxima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iteração,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ou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seja,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quebra-se</a:t>
            </a:r>
            <a:r>
              <a:rPr sz="2000" i="1" spc="-50" dirty="0">
                <a:latin typeface="Arial"/>
                <a:cs typeface="Arial"/>
              </a:rPr>
              <a:t> o </a:t>
            </a:r>
            <a:r>
              <a:rPr sz="2000" i="1" dirty="0">
                <a:latin typeface="Arial"/>
                <a:cs typeface="Arial"/>
              </a:rPr>
              <a:t>trabalho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design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pedaços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menores.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000">
              <a:latin typeface="Arial"/>
              <a:cs typeface="Arial"/>
            </a:endParaRPr>
          </a:p>
          <a:p>
            <a:pPr marL="349885" marR="122555" indent="-337820">
              <a:lnSpc>
                <a:spcPct val="108400"/>
              </a:lnSpc>
              <a:spcBef>
                <a:spcPts val="5"/>
              </a:spcBef>
              <a:buAutoNum type="arabicPeriod" startAt="2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Plano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User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contact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plan</a:t>
            </a:r>
            <a:r>
              <a:rPr sz="2400" spc="-10" dirty="0">
                <a:latin typeface="Arial MT"/>
                <a:cs typeface="Arial MT"/>
              </a:rPr>
              <a:t>) 	</a:t>
            </a:r>
            <a:r>
              <a:rPr sz="2000" i="1" dirty="0">
                <a:latin typeface="Arial"/>
                <a:cs typeface="Arial"/>
              </a:rPr>
              <a:t>Criar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canal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comunicação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adiantado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usuários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finais 	</a:t>
            </a:r>
            <a:r>
              <a:rPr sz="2000" i="1" dirty="0">
                <a:latin typeface="Arial"/>
                <a:cs typeface="Arial"/>
              </a:rPr>
              <a:t>(e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responsáveis)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fornecer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suprimento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estável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i="1" spc="-10" dirty="0">
                <a:latin typeface="Arial"/>
                <a:cs typeface="Arial"/>
              </a:rPr>
              <a:t>feedback.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13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>
              <a:lnSpc>
                <a:spcPct val="100000"/>
              </a:lnSpc>
              <a:spcBef>
                <a:spcPts val="100"/>
              </a:spcBef>
            </a:pPr>
            <a:r>
              <a:rPr dirty="0"/>
              <a:t>Especificar</a:t>
            </a:r>
            <a:r>
              <a:rPr spc="-65" dirty="0"/>
              <a:t> </a:t>
            </a:r>
            <a:r>
              <a:rPr spc="-10" dirty="0"/>
              <a:t>requisitos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4540" y="1705628"/>
            <a:ext cx="7520940" cy="3987630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900" algn="l"/>
              </a:tabLst>
            </a:pPr>
            <a:r>
              <a:rPr dirty="0"/>
              <a:t>Histórias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usuários</a:t>
            </a:r>
            <a:r>
              <a:rPr spc="-55" dirty="0"/>
              <a:t> 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User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stories</a:t>
            </a:r>
            <a:r>
              <a:rPr spc="-10" dirty="0"/>
              <a:t>)</a:t>
            </a: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Inclusão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requisitos</a:t>
            </a:r>
            <a:r>
              <a:rPr sz="20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usabilidade</a:t>
            </a:r>
            <a:r>
              <a:rPr sz="20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histórias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usuários,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definindo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critérios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aceitação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cada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história.</a:t>
            </a:r>
            <a:endParaRPr sz="2000" dirty="0">
              <a:latin typeface="Arial"/>
              <a:cs typeface="Arial"/>
            </a:endParaRPr>
          </a:p>
          <a:p>
            <a:pPr marL="349250" marR="1077595" indent="-337185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355600" algn="l"/>
              </a:tabLst>
            </a:pPr>
            <a:r>
              <a:rPr dirty="0"/>
              <a:t>Mais</a:t>
            </a:r>
            <a:r>
              <a:rPr spc="-105" dirty="0"/>
              <a:t> </a:t>
            </a:r>
            <a:r>
              <a:rPr dirty="0"/>
              <a:t>colaboração,</a:t>
            </a:r>
            <a:r>
              <a:rPr spc="-85" dirty="0"/>
              <a:t> </a:t>
            </a:r>
            <a:r>
              <a:rPr dirty="0"/>
              <a:t>menos</a:t>
            </a:r>
            <a:r>
              <a:rPr spc="-105" dirty="0"/>
              <a:t> </a:t>
            </a:r>
            <a:r>
              <a:rPr dirty="0"/>
              <a:t>documentos</a:t>
            </a:r>
            <a:r>
              <a:rPr spc="-95" dirty="0"/>
              <a:t> </a:t>
            </a:r>
            <a:r>
              <a:rPr spc="-10" dirty="0"/>
              <a:t>(</a:t>
            </a:r>
            <a:r>
              <a:rPr i="1" spc="-10" dirty="0">
                <a:latin typeface="Arial"/>
                <a:cs typeface="Arial"/>
              </a:rPr>
              <a:t>More 	collaboration,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fewer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documents</a:t>
            </a:r>
            <a:r>
              <a:rPr spc="-10" dirty="0"/>
              <a:t>)</a:t>
            </a: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Atualizações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frequentes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seus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designs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processo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Arial"/>
                <a:cs typeface="Arial"/>
              </a:rPr>
              <a:t>design;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comunicação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contínua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durante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implementação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10" dirty="0">
                <a:latin typeface="Arial"/>
                <a:cs typeface="Arial"/>
              </a:rPr>
              <a:t> teste.</a:t>
            </a:r>
            <a:endParaRPr sz="2000" dirty="0">
              <a:latin typeface="Arial"/>
              <a:cs typeface="Arial"/>
            </a:endParaRPr>
          </a:p>
          <a:p>
            <a:pPr marL="344805" indent="-332105">
              <a:lnSpc>
                <a:spcPct val="100000"/>
              </a:lnSpc>
              <a:spcBef>
                <a:spcPts val="570"/>
              </a:spcBef>
              <a:buAutoNum type="arabicPeriod" startAt="3"/>
              <a:tabLst>
                <a:tab pos="344805" algn="l"/>
              </a:tabLst>
            </a:pPr>
            <a:r>
              <a:rPr dirty="0"/>
              <a:t>Tratar</a:t>
            </a:r>
            <a:r>
              <a:rPr spc="-100" dirty="0"/>
              <a:t> </a:t>
            </a:r>
            <a:r>
              <a:rPr dirty="0"/>
              <a:t>protótipo</a:t>
            </a:r>
            <a:r>
              <a:rPr spc="-85" dirty="0"/>
              <a:t> </a:t>
            </a:r>
            <a:r>
              <a:rPr dirty="0"/>
              <a:t>como</a:t>
            </a:r>
            <a:r>
              <a:rPr spc="-90" dirty="0"/>
              <a:t> </a:t>
            </a:r>
            <a:r>
              <a:rPr spc="-10" dirty="0"/>
              <a:t>especificação</a:t>
            </a:r>
          </a:p>
          <a:p>
            <a:pPr marL="469900" marR="337185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Utilizar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protótipos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especificar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requisitos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interface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de </a:t>
            </a:r>
            <a:r>
              <a:rPr sz="2000" i="1" spc="-10" dirty="0">
                <a:latin typeface="Arial"/>
                <a:cs typeface="Arial"/>
              </a:rPr>
              <a:t>usuário.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5795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dirty="0"/>
              <a:t>Criar</a:t>
            </a:r>
            <a:r>
              <a:rPr spc="-45" dirty="0"/>
              <a:t> </a:t>
            </a:r>
            <a:r>
              <a:rPr dirty="0"/>
              <a:t>soluções</a:t>
            </a:r>
            <a:r>
              <a:rPr spc="-4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49885" algn="l"/>
              </a:tabLst>
            </a:pPr>
            <a:r>
              <a:rPr spc="-10" dirty="0"/>
              <a:t>Prototipação</a:t>
            </a:r>
            <a:r>
              <a:rPr spc="-60" dirty="0"/>
              <a:t> </a:t>
            </a:r>
            <a:r>
              <a:rPr spc="-10" dirty="0"/>
              <a:t>(</a:t>
            </a:r>
            <a:r>
              <a:rPr i="1" spc="-10" dirty="0">
                <a:latin typeface="Arial"/>
                <a:cs typeface="Arial"/>
              </a:rPr>
              <a:t>Prototyping</a:t>
            </a:r>
            <a:r>
              <a:rPr spc="-10" dirty="0"/>
              <a:t>)</a:t>
            </a:r>
          </a:p>
          <a:p>
            <a:pPr marL="469900" marR="5080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Realizar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prototipação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baixa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fidelidade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nas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fases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iniciais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do </a:t>
            </a:r>
            <a:r>
              <a:rPr sz="2000" i="1" dirty="0">
                <a:latin typeface="Arial"/>
                <a:cs typeface="Arial"/>
              </a:rPr>
              <a:t>sistema.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próprio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é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avaliado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protótipo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alta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fidelidade </a:t>
            </a:r>
            <a:r>
              <a:rPr sz="2000" i="1" dirty="0">
                <a:latin typeface="Arial"/>
                <a:cs typeface="Arial"/>
              </a:rPr>
              <a:t>que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vai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evoluindo.</a:t>
            </a:r>
            <a:endParaRPr sz="20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350520" algn="l"/>
              </a:tabLst>
            </a:pPr>
            <a:r>
              <a:rPr dirty="0"/>
              <a:t>Estúdio</a:t>
            </a:r>
            <a:r>
              <a:rPr spc="-8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Design</a:t>
            </a:r>
            <a:r>
              <a:rPr spc="-75" dirty="0"/>
              <a:t> 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Design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Studio</a:t>
            </a:r>
            <a:r>
              <a:rPr spc="-10" dirty="0"/>
              <a:t>)</a:t>
            </a:r>
          </a:p>
          <a:p>
            <a:pPr marL="469900" marR="301625" algn="just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Participantes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geram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diversos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designs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alternativos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uma </a:t>
            </a:r>
            <a:r>
              <a:rPr sz="2000" i="1" dirty="0">
                <a:latin typeface="Arial"/>
                <a:cs typeface="Arial"/>
              </a:rPr>
              <a:t>interface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durante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um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tempo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pré-</a:t>
            </a:r>
            <a:r>
              <a:rPr sz="2000" i="1" dirty="0">
                <a:latin typeface="Arial"/>
                <a:cs typeface="Arial"/>
              </a:rPr>
              <a:t>determinado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ao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terminar, </a:t>
            </a:r>
            <a:r>
              <a:rPr sz="2000" i="1" dirty="0">
                <a:latin typeface="Arial"/>
                <a:cs typeface="Arial"/>
              </a:rPr>
              <a:t>abre-se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discussão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 seleção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 um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design.</a:t>
            </a:r>
            <a:endParaRPr sz="2000">
              <a:latin typeface="Arial"/>
              <a:cs typeface="Arial"/>
            </a:endParaRPr>
          </a:p>
          <a:p>
            <a:pPr marL="349885" marR="1051560" indent="-337820" algn="just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355600" algn="l"/>
              </a:tabLst>
            </a:pPr>
            <a:r>
              <a:rPr dirty="0"/>
              <a:t>Design</a:t>
            </a:r>
            <a:r>
              <a:rPr spc="-95" dirty="0"/>
              <a:t> </a:t>
            </a:r>
            <a:r>
              <a:rPr dirty="0"/>
              <a:t>Colaborativo</a:t>
            </a:r>
            <a:r>
              <a:rPr spc="-85" dirty="0"/>
              <a:t> </a:t>
            </a:r>
            <a:r>
              <a:rPr spc="-10" dirty="0"/>
              <a:t>(</a:t>
            </a:r>
            <a:r>
              <a:rPr i="1" spc="-10" dirty="0">
                <a:latin typeface="Arial"/>
                <a:cs typeface="Arial"/>
              </a:rPr>
              <a:t>Collaborative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Design</a:t>
            </a:r>
            <a:r>
              <a:rPr dirty="0"/>
              <a:t>)</a:t>
            </a:r>
            <a:r>
              <a:rPr spc="-90" dirty="0"/>
              <a:t> </a:t>
            </a:r>
            <a:r>
              <a:rPr spc="-50" dirty="0"/>
              <a:t>e 	</a:t>
            </a:r>
            <a:r>
              <a:rPr dirty="0"/>
              <a:t>Participativo</a:t>
            </a:r>
            <a:r>
              <a:rPr spc="-150" dirty="0"/>
              <a:t> 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Participatory</a:t>
            </a:r>
            <a:r>
              <a:rPr i="1" spc="-1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Design</a:t>
            </a:r>
            <a:r>
              <a:rPr spc="-10" dirty="0"/>
              <a:t>)</a:t>
            </a:r>
          </a:p>
          <a:p>
            <a:pPr marL="469900" marR="441325" algn="just">
              <a:lnSpc>
                <a:spcPct val="100000"/>
              </a:lnSpc>
              <a:spcBef>
                <a:spcPts val="484"/>
              </a:spcBef>
            </a:pPr>
            <a:r>
              <a:rPr sz="2000" i="1" dirty="0">
                <a:latin typeface="Arial"/>
                <a:cs typeface="Arial"/>
              </a:rPr>
              <a:t>Sessões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para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criação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designs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forma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colaborativa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ou </a:t>
            </a:r>
            <a:r>
              <a:rPr sz="2000" i="1" dirty="0">
                <a:latin typeface="Arial"/>
                <a:cs typeface="Arial"/>
              </a:rPr>
              <a:t>participativa,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através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do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envolvimento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usuários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reais.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134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2655">
              <a:lnSpc>
                <a:spcPct val="100000"/>
              </a:lnSpc>
              <a:spcBef>
                <a:spcPts val="100"/>
              </a:spcBef>
            </a:pPr>
            <a:r>
              <a:rPr dirty="0"/>
              <a:t>Avaliar</a:t>
            </a:r>
            <a:r>
              <a:rPr spc="-30" dirty="0"/>
              <a:t> </a:t>
            </a:r>
            <a:r>
              <a:rPr spc="-10" dirty="0"/>
              <a:t>designs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642" y="1515128"/>
            <a:ext cx="7597775" cy="47694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Testes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User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testing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13384" marR="792480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latin typeface="Arial"/>
                <a:cs typeface="Arial"/>
              </a:rPr>
              <a:t>Aplicação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testes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usabilidade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utilizando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protocolo </a:t>
            </a:r>
            <a:r>
              <a:rPr sz="2000" i="1" dirty="0">
                <a:latin typeface="Arial"/>
                <a:cs typeface="Arial"/>
              </a:rPr>
              <a:t>“Pense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voz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alta”.</a:t>
            </a:r>
            <a:endParaRPr sz="2000">
              <a:latin typeface="Arial"/>
              <a:cs typeface="Arial"/>
            </a:endParaRPr>
          </a:p>
          <a:p>
            <a:pPr marL="349885" marR="309880" indent="-337185">
              <a:lnSpc>
                <a:spcPct val="108400"/>
              </a:lnSpc>
              <a:spcBef>
                <a:spcPts val="330"/>
              </a:spcBef>
              <a:buAutoNum type="arabicPeriod" startAt="2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Avaliação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Inspeção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Inspection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evaluation</a:t>
            </a:r>
            <a:r>
              <a:rPr sz="2400" spc="-10" dirty="0">
                <a:latin typeface="Arial MT"/>
                <a:cs typeface="Arial MT"/>
              </a:rPr>
              <a:t>) 	</a:t>
            </a:r>
            <a:r>
              <a:rPr sz="2000" i="1" dirty="0">
                <a:latin typeface="Arial"/>
                <a:cs typeface="Arial"/>
              </a:rPr>
              <a:t>Inspecionar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interfaces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usuário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dos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protótipos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por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meio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de 	</a:t>
            </a:r>
            <a:r>
              <a:rPr sz="2000" i="1" dirty="0">
                <a:latin typeface="Arial"/>
                <a:cs typeface="Arial"/>
              </a:rPr>
              <a:t>cenários,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regras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ou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heurísticas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usabilidade.</a:t>
            </a:r>
            <a:endParaRPr sz="2000">
              <a:latin typeface="Arial"/>
              <a:cs typeface="Arial"/>
            </a:endParaRPr>
          </a:p>
          <a:p>
            <a:pPr marL="349885" marR="5080" indent="-337185">
              <a:lnSpc>
                <a:spcPct val="108500"/>
              </a:lnSpc>
              <a:spcBef>
                <a:spcPts val="330"/>
              </a:spcBef>
              <a:buAutoNum type="arabicPeriod" startAt="2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Método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Rapid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Iterative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Testing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and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Evaluation</a:t>
            </a:r>
            <a:r>
              <a:rPr sz="2400" spc="-10" dirty="0">
                <a:latin typeface="Arial MT"/>
                <a:cs typeface="Arial MT"/>
              </a:rPr>
              <a:t>) 	</a:t>
            </a:r>
            <a:r>
              <a:rPr sz="2000" i="1" dirty="0">
                <a:latin typeface="Arial"/>
                <a:cs typeface="Arial"/>
              </a:rPr>
              <a:t>Identificar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resolver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quantos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problemas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forem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possíveis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e 	</a:t>
            </a:r>
            <a:r>
              <a:rPr sz="2000" i="1" dirty="0">
                <a:latin typeface="Arial"/>
                <a:cs typeface="Arial"/>
              </a:rPr>
              <a:t>verificar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eficácia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das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soluções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menor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tempo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possível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spcBef>
                <a:spcPts val="570"/>
              </a:spcBef>
              <a:buAutoNum type="arabicPeriod" startAt="2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Testes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aceitação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sz="2400" i="1" spc="-10" dirty="0">
                <a:latin typeface="Arial"/>
                <a:cs typeface="Arial"/>
              </a:rPr>
              <a:t>Acceptance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tests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 marR="85090">
              <a:lnSpc>
                <a:spcPct val="100000"/>
              </a:lnSpc>
              <a:spcBef>
                <a:spcPts val="489"/>
              </a:spcBef>
            </a:pPr>
            <a:r>
              <a:rPr sz="2000" i="1" dirty="0">
                <a:latin typeface="Arial"/>
                <a:cs typeface="Arial"/>
              </a:rPr>
              <a:t>Criação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testes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aceitação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automáticos,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aproveitando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a </a:t>
            </a:r>
            <a:r>
              <a:rPr sz="2000" i="1" dirty="0">
                <a:latin typeface="Arial"/>
                <a:cs typeface="Arial"/>
              </a:rPr>
              <a:t>prática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já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existente,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métodos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ágeis,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TDD.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testes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são </a:t>
            </a:r>
            <a:r>
              <a:rPr sz="2000" i="1" dirty="0">
                <a:latin typeface="Arial"/>
                <a:cs typeface="Arial"/>
              </a:rPr>
              <a:t>criados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em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linguagem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natural.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7308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9950"/>
            <a:ext cx="3874135" cy="29190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b="1" spc="-10" dirty="0">
                <a:latin typeface="Calibri"/>
                <a:cs typeface="Calibri"/>
              </a:rPr>
              <a:t>Requisitos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funcionais</a:t>
            </a:r>
            <a:endParaRPr sz="2400" dirty="0">
              <a:latin typeface="Calibri"/>
              <a:cs typeface="Calibri"/>
            </a:endParaRPr>
          </a:p>
          <a:p>
            <a:pPr marL="355600" marR="553085" indent="-7048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Captam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produto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deveria</a:t>
            </a:r>
            <a:r>
              <a:rPr sz="2400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fazer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Calibri"/>
              <a:cs typeface="Calibri"/>
            </a:endParaRPr>
          </a:p>
          <a:p>
            <a:pPr marL="355600" marR="5080" indent="-70485">
              <a:lnSpc>
                <a:spcPct val="101499"/>
              </a:lnSpc>
            </a:pPr>
            <a:r>
              <a:rPr sz="2000" dirty="0">
                <a:latin typeface="Calibri"/>
                <a:cs typeface="Calibri"/>
              </a:rPr>
              <a:t>Exemplo: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geladeira inteligente</a:t>
            </a:r>
            <a:r>
              <a:rPr sz="2000" dirty="0">
                <a:latin typeface="Calibri"/>
                <a:cs typeface="Calibri"/>
              </a:rPr>
              <a:t> pode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ela</a:t>
            </a:r>
            <a:r>
              <a:rPr sz="2000" spc="-10" dirty="0">
                <a:latin typeface="Calibri"/>
                <a:cs typeface="Calibri"/>
              </a:rPr>
              <a:t> estar </a:t>
            </a:r>
            <a:r>
              <a:rPr sz="2000" dirty="0">
                <a:latin typeface="Calibri"/>
                <a:cs typeface="Calibri"/>
              </a:rPr>
              <a:t>apta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gaveta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estiver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vazia.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709160" y="1577340"/>
            <a:ext cx="3977640" cy="392363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pc="-10" dirty="0"/>
              <a:t>Requisitos</a:t>
            </a:r>
            <a:r>
              <a:rPr spc="-4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dados</a:t>
            </a:r>
          </a:p>
          <a:p>
            <a:pPr marL="207645" marR="99695" indent="-70485">
              <a:lnSpc>
                <a:spcPct val="100000"/>
              </a:lnSpc>
              <a:spcBef>
                <a:spcPts val="720"/>
              </a:spcBef>
            </a:pPr>
            <a:r>
              <a:rPr b="0" dirty="0">
                <a:latin typeface="Calibri"/>
                <a:cs typeface="Calibri"/>
              </a:rPr>
              <a:t>Captam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tipo,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volatilidade, tamanho/quantidade, persistência,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precisão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valor </a:t>
            </a:r>
            <a:r>
              <a:rPr b="0" dirty="0">
                <a:latin typeface="Calibri"/>
                <a:cs typeface="Calibri"/>
              </a:rPr>
              <a:t>das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quantidade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dados exigidos.</a:t>
            </a:r>
          </a:p>
          <a:p>
            <a:pPr marL="207645" marR="5080" indent="-70485">
              <a:lnSpc>
                <a:spcPct val="101499"/>
              </a:lnSpc>
              <a:spcBef>
                <a:spcPts val="2095"/>
              </a:spcBef>
            </a:pPr>
            <a:r>
              <a:rPr sz="2000" b="0" dirty="0">
                <a:latin typeface="Calibri"/>
                <a:cs typeface="Calibri"/>
              </a:rPr>
              <a:t>Exemplo:</a:t>
            </a:r>
            <a:r>
              <a:rPr sz="2000" b="0" spc="-90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sistema</a:t>
            </a:r>
            <a:r>
              <a:rPr sz="2000" b="0" spc="-4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bancário</a:t>
            </a:r>
            <a:r>
              <a:rPr sz="2000" b="0" spc="-80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os</a:t>
            </a:r>
            <a:r>
              <a:rPr sz="2000" b="0" spc="-70" dirty="0">
                <a:latin typeface="Calibri"/>
                <a:cs typeface="Calibri"/>
              </a:rPr>
              <a:t> </a:t>
            </a:r>
            <a:r>
              <a:rPr sz="2000" b="0" spc="-10" dirty="0">
                <a:latin typeface="Calibri"/>
                <a:cs typeface="Calibri"/>
              </a:rPr>
              <a:t>dados </a:t>
            </a:r>
            <a:r>
              <a:rPr sz="2000" b="0" dirty="0">
                <a:latin typeface="Calibri"/>
                <a:cs typeface="Calibri"/>
              </a:rPr>
              <a:t>devem</a:t>
            </a:r>
            <a:r>
              <a:rPr sz="2000" b="0" spc="-50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ser</a:t>
            </a:r>
            <a:r>
              <a:rPr sz="2000" b="0" spc="-55" dirty="0"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0000"/>
                </a:solidFill>
                <a:latin typeface="Calibri"/>
                <a:cs typeface="Calibri"/>
              </a:rPr>
              <a:t>precisos</a:t>
            </a:r>
            <a:r>
              <a:rPr sz="2000" b="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e</a:t>
            </a:r>
            <a:r>
              <a:rPr sz="2000" b="0" spc="-50" dirty="0"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FF0000"/>
                </a:solidFill>
                <a:latin typeface="Calibri"/>
                <a:cs typeface="Calibri"/>
              </a:rPr>
              <a:t>persistir</a:t>
            </a:r>
            <a:r>
              <a:rPr sz="2000" b="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0" spc="-25" dirty="0">
                <a:latin typeface="Calibri"/>
                <a:cs typeface="Calibri"/>
              </a:rPr>
              <a:t>(no </a:t>
            </a:r>
            <a:r>
              <a:rPr sz="2000" b="0" dirty="0">
                <a:latin typeface="Calibri"/>
                <a:cs typeface="Calibri"/>
              </a:rPr>
              <a:t>sistema)</a:t>
            </a:r>
            <a:r>
              <a:rPr sz="2000" b="0" spc="-30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por</a:t>
            </a:r>
            <a:r>
              <a:rPr sz="2000" b="0" spc="-7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muitos</a:t>
            </a:r>
            <a:r>
              <a:rPr sz="2000" b="0" spc="-6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meses</a:t>
            </a:r>
            <a:r>
              <a:rPr sz="2000" b="0" spc="-50" dirty="0">
                <a:latin typeface="Calibri"/>
                <a:cs typeface="Calibri"/>
              </a:rPr>
              <a:t> </a:t>
            </a:r>
            <a:r>
              <a:rPr sz="2000" b="0" spc="-35" dirty="0">
                <a:latin typeface="Calibri"/>
                <a:cs typeface="Calibri"/>
              </a:rPr>
              <a:t>em </a:t>
            </a:r>
            <a:r>
              <a:rPr sz="2000" b="0" dirty="0">
                <a:latin typeface="Calibri"/>
                <a:cs typeface="Calibri"/>
              </a:rPr>
              <a:t>virtude</a:t>
            </a:r>
            <a:r>
              <a:rPr sz="2000" b="0" spc="-4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de</a:t>
            </a:r>
            <a:r>
              <a:rPr sz="2000" b="0" spc="-50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serem</a:t>
            </a:r>
            <a:r>
              <a:rPr sz="2000" b="0" spc="-35" dirty="0">
                <a:latin typeface="Calibri"/>
                <a:cs typeface="Calibri"/>
              </a:rPr>
              <a:t> </a:t>
            </a:r>
            <a:r>
              <a:rPr sz="2000" b="0" spc="-10" dirty="0">
                <a:latin typeface="Calibri"/>
                <a:cs typeface="Calibri"/>
              </a:rPr>
              <a:t>valiosos.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167" y="4724400"/>
            <a:ext cx="2266187" cy="19354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8071" y="5692140"/>
            <a:ext cx="3384804" cy="9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96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1959" y="3659123"/>
            <a:ext cx="4619244" cy="25664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523961"/>
            <a:ext cx="7395209" cy="47231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Requisitos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ambientais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contexto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uso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</a:pPr>
            <a:r>
              <a:rPr sz="2800" spc="-40" dirty="0">
                <a:latin typeface="Calibri"/>
                <a:cs typeface="Calibri"/>
              </a:rPr>
              <a:t>Refere-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0" dirty="0">
                <a:latin typeface="Calibri"/>
                <a:cs typeface="Calibri"/>
              </a:rPr>
              <a:t> circunstâncias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espera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produto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interativo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opere.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 dirty="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Aspectos:</a:t>
            </a:r>
            <a:endParaRPr sz="2800" dirty="0">
              <a:latin typeface="Calibri"/>
              <a:cs typeface="Calibri"/>
            </a:endParaRPr>
          </a:p>
          <a:p>
            <a:pPr marL="29845" marR="3797935">
              <a:lnSpc>
                <a:spcPct val="100000"/>
              </a:lnSpc>
              <a:spcBef>
                <a:spcPts val="685"/>
              </a:spcBef>
            </a:pPr>
            <a:r>
              <a:rPr sz="2800" dirty="0">
                <a:latin typeface="Calibri"/>
                <a:cs typeface="Calibri"/>
              </a:rPr>
              <a:t>1)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Ambiente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físico: </a:t>
            </a:r>
            <a:r>
              <a:rPr sz="2800" dirty="0">
                <a:latin typeface="Calibri"/>
                <a:cs typeface="Calibri"/>
              </a:rPr>
              <a:t>barulho,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luz,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poeira; </a:t>
            </a:r>
            <a:r>
              <a:rPr sz="2800" dirty="0">
                <a:latin typeface="Calibri"/>
                <a:cs typeface="Calibri"/>
              </a:rPr>
              <a:t>roupas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proteção;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pessoas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ambiente.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229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961"/>
            <a:ext cx="7877809" cy="38677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Requisitos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ambientais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contexto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uso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Calibri"/>
                <a:cs typeface="Calibri"/>
              </a:rPr>
              <a:t>Aspectos:</a:t>
            </a:r>
            <a:endParaRPr sz="2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AutoNum type="arabicParenR" startAt="2"/>
              <a:tabLst>
                <a:tab pos="355600" algn="l"/>
                <a:tab pos="381635" algn="l"/>
              </a:tabLst>
            </a:pP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Ambiente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social: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colaboração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coordenação;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compartilhados;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localizações físicas.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Calibri"/>
              <a:buAutoNum type="arabicParenR" startAt="2"/>
            </a:pPr>
            <a:endParaRPr sz="2800">
              <a:latin typeface="Calibri"/>
              <a:cs typeface="Calibri"/>
            </a:endParaRPr>
          </a:p>
          <a:p>
            <a:pPr marL="355600" marR="395605" indent="-343535">
              <a:lnSpc>
                <a:spcPct val="100000"/>
              </a:lnSpc>
              <a:buAutoNum type="arabicParenR" startAt="2"/>
              <a:tabLst>
                <a:tab pos="355600" algn="l"/>
                <a:tab pos="381635" algn="l"/>
              </a:tabLst>
            </a:pP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Ambiente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organizacional: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organizacional; recursos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treinamento;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infra-</a:t>
            </a:r>
            <a:r>
              <a:rPr sz="2800" spc="-10" dirty="0">
                <a:latin typeface="Calibri"/>
                <a:cs typeface="Calibri"/>
              </a:rPr>
              <a:t>estrutura.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25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9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latin typeface="Calibri"/>
                <a:cs typeface="Calibri"/>
              </a:rPr>
              <a:t>Requisitos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ambientais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contexto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uso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675"/>
              </a:spcBef>
            </a:pPr>
            <a:r>
              <a:rPr sz="2800" spc="-10" dirty="0"/>
              <a:t>Aspectos:</a:t>
            </a:r>
            <a:endParaRPr sz="2800"/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</a:pPr>
            <a:r>
              <a:rPr sz="2800" dirty="0"/>
              <a:t>4)</a:t>
            </a:r>
            <a:r>
              <a:rPr sz="2800" spc="-60" dirty="0"/>
              <a:t> </a:t>
            </a:r>
            <a:r>
              <a:rPr sz="2800" spc="-10" dirty="0"/>
              <a:t>Ambiente</a:t>
            </a:r>
            <a:r>
              <a:rPr sz="2800" spc="-60" dirty="0"/>
              <a:t> </a:t>
            </a:r>
            <a:r>
              <a:rPr sz="2800" dirty="0"/>
              <a:t>técnico:</a:t>
            </a:r>
            <a:r>
              <a:rPr sz="2800" spc="-60" dirty="0"/>
              <a:t> </a:t>
            </a:r>
            <a:r>
              <a:rPr sz="2800" dirty="0"/>
              <a:t>que</a:t>
            </a:r>
            <a:r>
              <a:rPr sz="2800" spc="-55" dirty="0"/>
              <a:t> </a:t>
            </a:r>
            <a:r>
              <a:rPr sz="2800" spc="-10" dirty="0"/>
              <a:t>tecnologias</a:t>
            </a:r>
            <a:r>
              <a:rPr sz="2800" spc="-70" dirty="0"/>
              <a:t> </a:t>
            </a:r>
            <a:r>
              <a:rPr sz="2800" dirty="0"/>
              <a:t>o</a:t>
            </a:r>
            <a:r>
              <a:rPr sz="2800" spc="-70" dirty="0"/>
              <a:t> </a:t>
            </a:r>
            <a:r>
              <a:rPr sz="2800" spc="-10" dirty="0"/>
              <a:t>produto utilizará;</a:t>
            </a:r>
            <a:r>
              <a:rPr sz="2800" spc="-80" dirty="0"/>
              <a:t> </a:t>
            </a:r>
            <a:r>
              <a:rPr sz="2800" dirty="0"/>
              <a:t>será</a:t>
            </a:r>
            <a:r>
              <a:rPr sz="2800" spc="-75" dirty="0"/>
              <a:t> </a:t>
            </a:r>
            <a:r>
              <a:rPr sz="2800" spc="-10" dirty="0"/>
              <a:t>compatível;</a:t>
            </a:r>
            <a:r>
              <a:rPr sz="2800" spc="-85" dirty="0"/>
              <a:t> </a:t>
            </a:r>
            <a:r>
              <a:rPr sz="2800" dirty="0"/>
              <a:t>limitações</a:t>
            </a:r>
            <a:r>
              <a:rPr sz="2800" spc="-75" dirty="0"/>
              <a:t> </a:t>
            </a:r>
            <a:r>
              <a:rPr sz="2800" spc="-10" dirty="0"/>
              <a:t>tecnologias.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1062917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961"/>
            <a:ext cx="8016875" cy="43802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Requisitos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usuário</a:t>
            </a:r>
            <a:endParaRPr sz="2800" dirty="0">
              <a:latin typeface="Calibri"/>
              <a:cs typeface="Calibri"/>
            </a:endParaRPr>
          </a:p>
          <a:p>
            <a:pPr marL="355600" marR="1071880" indent="-100965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Capturam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características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grupo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usuários pretendidos.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 dirty="0">
              <a:latin typeface="Calibri"/>
              <a:cs typeface="Calibri"/>
            </a:endParaRPr>
          </a:p>
          <a:p>
            <a:pPr marL="355600" marR="328295" indent="-10096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Usuário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novato,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especialista,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 err="1" smtClean="0">
                <a:latin typeface="Calibri"/>
                <a:cs typeface="Calibri"/>
              </a:rPr>
              <a:t>freq</a:t>
            </a:r>
            <a:r>
              <a:rPr lang="pt-BR" sz="2800" spc="-10" dirty="0" smtClean="0">
                <a:latin typeface="Calibri"/>
                <a:cs typeface="Calibri"/>
              </a:rPr>
              <a:t>u</a:t>
            </a:r>
            <a:r>
              <a:rPr sz="2800" spc="-10" dirty="0" err="1" smtClean="0">
                <a:latin typeface="Calibri"/>
                <a:cs typeface="Calibri"/>
              </a:rPr>
              <a:t>ente</a:t>
            </a:r>
            <a:r>
              <a:rPr sz="2800" spc="-75" dirty="0" smtClean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casual.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diferença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eles?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 dirty="0">
              <a:latin typeface="Calibri"/>
              <a:cs typeface="Calibri"/>
            </a:endParaRPr>
          </a:p>
          <a:p>
            <a:pPr marL="355600" marR="5080" indent="-10096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esperado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típico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perfil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do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usuário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9723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Requisitos</a:t>
            </a:r>
            <a:r>
              <a:rPr spc="-114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aplicações</a:t>
            </a:r>
            <a:r>
              <a:rPr spc="-105" dirty="0"/>
              <a:t> </a:t>
            </a:r>
            <a:r>
              <a:rPr spc="-10" dirty="0"/>
              <a:t>interativas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961"/>
            <a:ext cx="7933690" cy="33553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Requisitos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usabilidade</a:t>
            </a:r>
            <a:endParaRPr sz="2800">
              <a:latin typeface="Calibri"/>
              <a:cs typeface="Calibri"/>
            </a:endParaRPr>
          </a:p>
          <a:p>
            <a:pPr marL="355600" marR="1068705" indent="-100965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Captam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usabilidade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medidas </a:t>
            </a:r>
            <a:r>
              <a:rPr sz="2800" dirty="0">
                <a:latin typeface="Calibri"/>
                <a:cs typeface="Calibri"/>
              </a:rPr>
              <a:t>associadas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particular.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>
              <a:latin typeface="Calibri"/>
              <a:cs typeface="Calibri"/>
            </a:endParaRPr>
          </a:p>
          <a:p>
            <a:pPr marL="355600" marR="5080" indent="-2032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Metas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usabilidade: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eficácia,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eficiência,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segurança, </a:t>
            </a:r>
            <a:r>
              <a:rPr sz="2800" dirty="0">
                <a:latin typeface="Calibri"/>
                <a:cs typeface="Calibri"/>
              </a:rPr>
              <a:t>utilidade,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capacidade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memorização.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067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93242"/>
            <a:ext cx="7830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Que</a:t>
            </a:r>
            <a:r>
              <a:rPr sz="4000" spc="-45" dirty="0"/>
              <a:t> </a:t>
            </a:r>
            <a:r>
              <a:rPr sz="4000" dirty="0"/>
              <a:t>dados</a:t>
            </a:r>
            <a:r>
              <a:rPr sz="4000" spc="-65" dirty="0"/>
              <a:t> </a:t>
            </a:r>
            <a:r>
              <a:rPr sz="4000" spc="-10" dirty="0"/>
              <a:t>coletar?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28242"/>
            <a:ext cx="8059420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(</a:t>
            </a:r>
            <a:r>
              <a:rPr sz="2200" spc="-10" dirty="0">
                <a:latin typeface="Calibri"/>
                <a:cs typeface="Calibri"/>
              </a:rPr>
              <a:t>Hackos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Redish,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1998;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Courage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Baxter,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2005)</a:t>
            </a:r>
            <a:endParaRPr sz="2200" dirty="0">
              <a:latin typeface="Calibri"/>
              <a:cs typeface="Calibri"/>
            </a:endParaRPr>
          </a:p>
          <a:p>
            <a:pPr marL="355600" marR="1887855" indent="-343535">
              <a:lnSpc>
                <a:spcPct val="100000"/>
              </a:lnSpc>
              <a:spcBef>
                <a:spcPts val="23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Dados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demográficos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idade,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sexo,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status socioeconômico;</a:t>
            </a:r>
            <a:endParaRPr sz="2800" dirty="0">
              <a:latin typeface="Calibri"/>
              <a:cs typeface="Calibri"/>
            </a:endParaRPr>
          </a:p>
          <a:p>
            <a:pPr marL="355600" marR="65786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Experiência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cargo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que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ocupa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cargo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atual, </a:t>
            </a:r>
            <a:r>
              <a:rPr sz="2800" dirty="0">
                <a:latin typeface="Calibri"/>
                <a:cs typeface="Calibri"/>
              </a:rPr>
              <a:t>experiência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cargo,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empresa, responsabilidades,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trabalhos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cargos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anteriores, </a:t>
            </a:r>
            <a:r>
              <a:rPr sz="2800" dirty="0">
                <a:latin typeface="Calibri"/>
                <a:cs typeface="Calibri"/>
              </a:rPr>
              <a:t>plano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carreira;</a:t>
            </a:r>
            <a:endParaRPr sz="28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Informações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sobre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empresa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empresa, </a:t>
            </a:r>
            <a:r>
              <a:rPr sz="2800" dirty="0">
                <a:latin typeface="Calibri"/>
                <a:cs typeface="Calibri"/>
              </a:rPr>
              <a:t>área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atuação;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269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928242"/>
            <a:ext cx="804545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(</a:t>
            </a:r>
            <a:r>
              <a:rPr sz="2200" spc="-10" dirty="0">
                <a:latin typeface="Calibri"/>
                <a:cs typeface="Calibri"/>
              </a:rPr>
              <a:t>Hackos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Redish,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1998;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Courage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Baxter,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2005)</a:t>
            </a:r>
            <a:endParaRPr sz="2200" dirty="0">
              <a:latin typeface="Calibri"/>
              <a:cs typeface="Calibri"/>
            </a:endParaRPr>
          </a:p>
          <a:p>
            <a:pPr marL="355600" marR="836294" indent="-343535">
              <a:lnSpc>
                <a:spcPts val="3030"/>
              </a:lnSpc>
              <a:spcBef>
                <a:spcPts val="241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Educação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instrução,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área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formação, </a:t>
            </a:r>
            <a:r>
              <a:rPr sz="2800" dirty="0">
                <a:latin typeface="Calibri"/>
                <a:cs typeface="Calibri"/>
              </a:rPr>
              <a:t>cursos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realizados,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alfabetismo;</a:t>
            </a:r>
            <a:endParaRPr sz="2800" dirty="0">
              <a:latin typeface="Calibri"/>
              <a:cs typeface="Calibri"/>
            </a:endParaRPr>
          </a:p>
          <a:p>
            <a:pPr marL="355600" marR="5080" indent="-343535">
              <a:lnSpc>
                <a:spcPts val="302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Experiência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computadores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alfabetismo computacional,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habilidades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computadores,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experiência;</a:t>
            </a:r>
            <a:endParaRPr sz="2800" dirty="0">
              <a:latin typeface="Calibri"/>
              <a:cs typeface="Calibri"/>
            </a:endParaRPr>
          </a:p>
          <a:p>
            <a:pPr marL="355600" marR="7620" indent="-343535">
              <a:lnSpc>
                <a:spcPct val="9000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Experiência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um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produto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específico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ou </a:t>
            </a:r>
            <a:r>
              <a:rPr sz="2800" b="1" spc="-20" dirty="0">
                <a:latin typeface="Calibri"/>
                <a:cs typeface="Calibri"/>
              </a:rPr>
              <a:t>ferramentas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semelhantes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experiência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produtos </a:t>
            </a:r>
            <a:r>
              <a:rPr sz="2800" spc="-20" dirty="0">
                <a:latin typeface="Calibri"/>
                <a:cs typeface="Calibri"/>
              </a:rPr>
              <a:t>concorrentes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específicos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domínio,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hábitos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preferências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descontentamentos;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6273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928242"/>
            <a:ext cx="7858759" cy="4805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algn="ctr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(</a:t>
            </a:r>
            <a:r>
              <a:rPr sz="2200" spc="-10" dirty="0">
                <a:latin typeface="Calibri"/>
                <a:cs typeface="Calibri"/>
              </a:rPr>
              <a:t>Hackos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Redish,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1998;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Courage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Baxter,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2005)</a:t>
            </a:r>
            <a:endParaRPr sz="2200">
              <a:latin typeface="Calibri"/>
              <a:cs typeface="Calibri"/>
            </a:endParaRPr>
          </a:p>
          <a:p>
            <a:pPr marL="355600" marR="88265" indent="-343535">
              <a:lnSpc>
                <a:spcPct val="100000"/>
              </a:lnSpc>
              <a:spcBef>
                <a:spcPts val="23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20" dirty="0">
                <a:latin typeface="Calibri"/>
                <a:cs typeface="Calibri"/>
              </a:rPr>
              <a:t>Tecnologia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disponível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outras </a:t>
            </a:r>
            <a:r>
              <a:rPr sz="2800" spc="-20" dirty="0">
                <a:latin typeface="Calibri"/>
                <a:cs typeface="Calibri"/>
              </a:rPr>
              <a:t>ferramentas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acesso;</a:t>
            </a:r>
            <a:endParaRPr sz="28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25" dirty="0">
                <a:latin typeface="Calibri"/>
                <a:cs typeface="Calibri"/>
              </a:rPr>
              <a:t>Treinamento</a:t>
            </a:r>
            <a:r>
              <a:rPr sz="2800" spc="-25" dirty="0">
                <a:latin typeface="Calibri"/>
                <a:cs typeface="Calibri"/>
              </a:rPr>
              <a:t>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preferência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 </a:t>
            </a:r>
            <a:r>
              <a:rPr sz="2800" dirty="0">
                <a:latin typeface="Calibri"/>
                <a:cs typeface="Calibri"/>
              </a:rPr>
              <a:t>estilo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visual,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auditivo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outro;</a:t>
            </a:r>
            <a:endParaRPr sz="2800">
              <a:latin typeface="Calibri"/>
              <a:cs typeface="Calibri"/>
            </a:endParaRPr>
          </a:p>
          <a:p>
            <a:pPr marL="355600" marR="177165" indent="-3435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Atitudes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Valores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preferências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medo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tecnologia;</a:t>
            </a:r>
            <a:endParaRPr sz="2800">
              <a:latin typeface="Calibri"/>
              <a:cs typeface="Calibri"/>
            </a:endParaRPr>
          </a:p>
          <a:p>
            <a:pPr marL="355600" marR="685165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Conhecimento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domínio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usuário </a:t>
            </a:r>
            <a:r>
              <a:rPr sz="2800" dirty="0">
                <a:latin typeface="Calibri"/>
                <a:cs typeface="Calibri"/>
              </a:rPr>
              <a:t>conhece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questão,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especialista;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06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1082" y="306450"/>
            <a:ext cx="4020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Que</a:t>
            </a:r>
            <a:r>
              <a:rPr sz="4000" spc="-45" dirty="0"/>
              <a:t> </a:t>
            </a:r>
            <a:r>
              <a:rPr sz="4000" dirty="0"/>
              <a:t>dados</a:t>
            </a:r>
            <a:r>
              <a:rPr sz="4000" spc="-65" dirty="0"/>
              <a:t> </a:t>
            </a:r>
            <a:r>
              <a:rPr sz="4000" spc="-10" dirty="0"/>
              <a:t>coletar?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928242"/>
            <a:ext cx="7861934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algn="ctr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(</a:t>
            </a:r>
            <a:r>
              <a:rPr sz="2200" spc="-10" dirty="0">
                <a:latin typeface="Calibri"/>
                <a:cs typeface="Calibri"/>
              </a:rPr>
              <a:t>Hackos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Redish,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1998;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Courage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Baxter,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2005)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23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Objetivos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alcançados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atualmente;</a:t>
            </a:r>
            <a:endParaRPr sz="2800">
              <a:latin typeface="Calibri"/>
              <a:cs typeface="Calibri"/>
            </a:endParaRPr>
          </a:p>
          <a:p>
            <a:pPr marL="355600" marR="221615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35" dirty="0">
                <a:latin typeface="Calibri"/>
                <a:cs typeface="Calibri"/>
              </a:rPr>
              <a:t>Tarefas</a:t>
            </a:r>
            <a:r>
              <a:rPr sz="2800" spc="-35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tarefas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apoiadas,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quais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primárias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secundárias,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quanto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realiza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tarefa;</a:t>
            </a:r>
            <a:endParaRPr sz="2800">
              <a:latin typeface="Calibri"/>
              <a:cs typeface="Calibri"/>
            </a:endParaRPr>
          </a:p>
          <a:p>
            <a:pPr marL="355600" marR="588010" indent="-3435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Gravidade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erros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conseqüências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erros;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014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928242"/>
            <a:ext cx="8006080" cy="4207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 algn="ctr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(</a:t>
            </a:r>
            <a:r>
              <a:rPr sz="2200" spc="-10" dirty="0">
                <a:latin typeface="Calibri"/>
                <a:cs typeface="Calibri"/>
              </a:rPr>
              <a:t>Hackos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Redish,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1998;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Courage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Baxter,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2005)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23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Motivação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trabalho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cumpre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carga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horária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trabalha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 </a:t>
            </a:r>
            <a:r>
              <a:rPr sz="2800" spc="-45" dirty="0">
                <a:latin typeface="Calibri"/>
                <a:cs typeface="Calibri"/>
              </a:rPr>
              <a:t>prazer,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gosta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trabalho,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gostaria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promovido;</a:t>
            </a:r>
            <a:endParaRPr sz="2800">
              <a:latin typeface="Calibri"/>
              <a:cs typeface="Calibri"/>
            </a:endParaRPr>
          </a:p>
          <a:p>
            <a:pPr marL="355600" marR="183515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Idiomas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jargões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idiomas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quais </a:t>
            </a:r>
            <a:r>
              <a:rPr sz="2800" dirty="0">
                <a:latin typeface="Calibri"/>
                <a:cs typeface="Calibri"/>
              </a:rPr>
              <a:t>utiliza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fluentemente,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jargões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profissionais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vocabulário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próprio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empresa,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atividade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grupo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relevante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trabalho.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834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08140" y="228600"/>
            <a:ext cx="7772400" cy="1440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</a:t>
            </a:r>
            <a:r>
              <a:rPr spc="-75" dirty="0"/>
              <a:t> </a:t>
            </a:r>
            <a:r>
              <a:rPr dirty="0"/>
              <a:t>quem</a:t>
            </a:r>
            <a:r>
              <a:rPr spc="-100" dirty="0"/>
              <a:t> </a:t>
            </a:r>
            <a:r>
              <a:rPr dirty="0"/>
              <a:t>coletar</a:t>
            </a:r>
            <a:r>
              <a:rPr spc="-75" dirty="0"/>
              <a:t> </a:t>
            </a:r>
            <a:r>
              <a:rPr spc="-10" dirty="0"/>
              <a:t>dados?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295400"/>
            <a:ext cx="731774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essencial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fontes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confiáveis,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relevantes, </a:t>
            </a:r>
            <a:r>
              <a:rPr sz="2800" spc="-20" dirty="0">
                <a:latin typeface="Calibri"/>
                <a:cs typeface="Calibri"/>
              </a:rPr>
              <a:t>representativas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trabalho.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39" y="2564892"/>
            <a:ext cx="4277868" cy="401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5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1216</Words>
  <Application>Microsoft Office PowerPoint</Application>
  <PresentationFormat>Apresentação na tela (4:3)</PresentationFormat>
  <Paragraphs>122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Office Theme</vt:lpstr>
      <vt:lpstr>USER CENTERED DESIGN</vt:lpstr>
      <vt:lpstr>O que é</vt:lpstr>
      <vt:lpstr>Foco</vt:lpstr>
      <vt:lpstr>Apresentação do PowerPoint</vt:lpstr>
      <vt:lpstr>Apresentação do PowerPoint</vt:lpstr>
      <vt:lpstr>Sprint 0</vt:lpstr>
      <vt:lpstr>Sprint 1</vt:lpstr>
      <vt:lpstr>Identificar necessidades de UCD (cont.)</vt:lpstr>
      <vt:lpstr>Especificar contexto de uso</vt:lpstr>
      <vt:lpstr>Especificar requisitos</vt:lpstr>
      <vt:lpstr>Criar soluções de design</vt:lpstr>
      <vt:lpstr>Avaliar designs</vt:lpstr>
      <vt:lpstr>Requisitos de aplicações interativas</vt:lpstr>
      <vt:lpstr>Requisitos de aplicações interativas</vt:lpstr>
      <vt:lpstr>Requisitos de aplicações interativas</vt:lpstr>
      <vt:lpstr>Requisitos de aplicações interativas</vt:lpstr>
      <vt:lpstr>Requisitos de aplicações interativas</vt:lpstr>
      <vt:lpstr>Requisitos de aplicações interativas</vt:lpstr>
      <vt:lpstr>Que dados coletar?</vt:lpstr>
      <vt:lpstr>Apresentação do PowerPoint</vt:lpstr>
      <vt:lpstr>Apresentação do PowerPoint</vt:lpstr>
      <vt:lpstr>Que dados coletar?</vt:lpstr>
      <vt:lpstr>Apresentação do PowerPoint</vt:lpstr>
      <vt:lpstr>De quem coletar dados?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Projeto de Interfaces Homem-Computador</dc:title>
  <dc:creator>Lucia Filgueiras</dc:creator>
  <cp:lastModifiedBy>Cecilia Sosa</cp:lastModifiedBy>
  <cp:revision>8</cp:revision>
  <dcterms:created xsi:type="dcterms:W3CDTF">2025-09-01T23:52:04Z</dcterms:created>
  <dcterms:modified xsi:type="dcterms:W3CDTF">2025-09-02T00:32:24Z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2019-03-12T00:00:00Z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2025-09-01T00:00:00Z</vt:filetime>
  </property>
  <property fmtid="{D5CDD505-2E9C-101B-9397-08002B2CF9AE}" pid="5" name="Producer">
    <vt:lpwstr>Microsoft® PowerPoint® para Office 365</vt:lpwstr>
  </property>
</Properties>
</file>