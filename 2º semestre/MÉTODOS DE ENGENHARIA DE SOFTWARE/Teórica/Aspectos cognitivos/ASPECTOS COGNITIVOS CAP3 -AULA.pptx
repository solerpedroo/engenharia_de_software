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17" r:id="rId13"/>
    <p:sldId id="318" r:id="rId14"/>
    <p:sldId id="267" r:id="rId15"/>
    <p:sldId id="268" r:id="rId16"/>
    <p:sldId id="301" r:id="rId17"/>
    <p:sldId id="269" r:id="rId18"/>
    <p:sldId id="272" r:id="rId19"/>
    <p:sldId id="273" r:id="rId20"/>
    <p:sldId id="277" r:id="rId21"/>
    <p:sldId id="279" r:id="rId22"/>
    <p:sldId id="281" r:id="rId23"/>
    <p:sldId id="278" r:id="rId24"/>
    <p:sldId id="303" r:id="rId25"/>
    <p:sldId id="325" r:id="rId26"/>
    <p:sldId id="305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20" r:id="rId39"/>
    <p:sldId id="308" r:id="rId40"/>
    <p:sldId id="310" r:id="rId41"/>
    <p:sldId id="309" r:id="rId42"/>
    <p:sldId id="307" r:id="rId43"/>
    <p:sldId id="322" r:id="rId44"/>
    <p:sldId id="270" r:id="rId45"/>
    <p:sldId id="324" r:id="rId46"/>
    <p:sldId id="313" r:id="rId47"/>
    <p:sldId id="311" r:id="rId48"/>
    <p:sldId id="312" r:id="rId49"/>
    <p:sldId id="314" r:id="rId50"/>
    <p:sldId id="316" r:id="rId51"/>
    <p:sldId id="326" r:id="rId52"/>
    <p:sldId id="284" r:id="rId53"/>
  </p:sldIdLst>
  <p:sldSz cx="10693400" cy="7556500"/>
  <p:notesSz cx="10693400" cy="7556500"/>
  <p:embeddedFontLs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Noto Sans Symbols" panose="020B0604020202020204" charset="0"/>
      <p:regular r:id="rId59"/>
      <p:bold r:id="rId60"/>
    </p:embeddedFont>
    <p:embeddedFont>
      <p:font typeface="Tahoma" panose="020B0604030504040204" pitchFamily="34" charset="0"/>
      <p:regular r:id="rId61"/>
      <p:bold r:id="rId62"/>
    </p:embeddedFont>
    <p:embeddedFont>
      <p:font typeface="Verdana" panose="020B0604030504040204" pitchFamily="3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hvR66ew/xU/4NOEplga8ohfiP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96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65785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119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1254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a90aa379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a90aa379a_0_6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70647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a90aa379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a90aa379a_0_6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7512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a90aa37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1612" cy="2833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7a90aa379a_0_0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5278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1310004" y="2218434"/>
            <a:ext cx="7521575" cy="367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4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57" y="207646"/>
            <a:ext cx="250507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body" idx="1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45"/>
          <p:cNvSpPr txBox="1">
            <a:spLocks noGrp="1"/>
          </p:cNvSpPr>
          <p:nvPr>
            <p:ph type="body" idx="2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2050" name="Picture 2" descr="https://www.puc-campinas.edu.br/wp-content/uploads/2022/06/logo-puc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45" y="241178"/>
            <a:ext cx="25050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ubTitle" idx="1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916808" y="6792253"/>
            <a:ext cx="520065" cy="30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7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916808" y="6792253"/>
            <a:ext cx="520065" cy="30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916808" y="6792253"/>
            <a:ext cx="520065" cy="30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/>
          <p:nvPr/>
        </p:nvSpPr>
        <p:spPr>
          <a:xfrm>
            <a:off x="774060" y="1402073"/>
            <a:ext cx="9144000" cy="29209"/>
          </a:xfrm>
          <a:custGeom>
            <a:avLst/>
            <a:gdLst/>
            <a:ahLst/>
            <a:cxnLst/>
            <a:rect l="l" t="t" r="r" b="b"/>
            <a:pathLst>
              <a:path w="9144000" h="29209" extrusionOk="0">
                <a:moveTo>
                  <a:pt x="9143999" y="28955"/>
                </a:moveTo>
                <a:lnTo>
                  <a:pt x="9143999" y="0"/>
                </a:lnTo>
                <a:lnTo>
                  <a:pt x="0" y="0"/>
                </a:lnTo>
                <a:lnTo>
                  <a:pt x="0" y="28955"/>
                </a:lnTo>
                <a:lnTo>
                  <a:pt x="9143999" y="289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5507" y="445001"/>
            <a:ext cx="521208" cy="8854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3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body" idx="1"/>
          </p:nvPr>
        </p:nvSpPr>
        <p:spPr>
          <a:xfrm>
            <a:off x="1310004" y="2218434"/>
            <a:ext cx="7521575" cy="367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ftr" idx="11"/>
          </p:nvPr>
        </p:nvSpPr>
        <p:spPr>
          <a:xfrm>
            <a:off x="916808" y="6792253"/>
            <a:ext cx="520065" cy="30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9606657" y="807205"/>
            <a:ext cx="12509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750440" y="3314190"/>
            <a:ext cx="718883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      ASPECTOS COGNITIVOS</a:t>
            </a:r>
            <a:endParaRPr sz="36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Visão geral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1310004" y="2156396"/>
            <a:ext cx="7026909" cy="365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Por que precisamos entender os usuários?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6285" lvl="1" indent="-287019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capacidades humanas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155065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Em que as pessoas são 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boas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756285" lvl="1" indent="-287019" algn="l" rtl="0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limitações humanas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155065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Em que as pessoas são 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ruins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 que se espera que os usuários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façam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 que se espera que os usuários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não façam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56870" marR="5080" lvl="0" indent="-342900" algn="l" rtl="0">
              <a:lnSpc>
                <a:spcPct val="108000"/>
              </a:lnSpc>
              <a:spcBef>
                <a:spcPts val="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Como utilizar essa compreensão para informar o design de sistemas...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que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aproveitem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estendam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as capacidades humanas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que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compensem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as limitações humanas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1225156" y="2407932"/>
            <a:ext cx="8382000" cy="1370330"/>
          </a:xfrm>
          <a:custGeom>
            <a:avLst/>
            <a:gdLst/>
            <a:ahLst/>
            <a:cxnLst/>
            <a:rect l="l" t="t" r="r" b="b"/>
            <a:pathLst>
              <a:path w="8382000" h="1370329" extrusionOk="0">
                <a:moveTo>
                  <a:pt x="243840" y="582168"/>
                </a:moveTo>
                <a:lnTo>
                  <a:pt x="240792" y="569976"/>
                </a:lnTo>
                <a:lnTo>
                  <a:pt x="236220" y="556260"/>
                </a:lnTo>
                <a:lnTo>
                  <a:pt x="234696" y="544068"/>
                </a:lnTo>
                <a:lnTo>
                  <a:pt x="231648" y="530352"/>
                </a:lnTo>
                <a:lnTo>
                  <a:pt x="222504" y="531876"/>
                </a:lnTo>
                <a:lnTo>
                  <a:pt x="224028" y="545592"/>
                </a:lnTo>
                <a:lnTo>
                  <a:pt x="227076" y="559308"/>
                </a:lnTo>
                <a:lnTo>
                  <a:pt x="231648" y="573024"/>
                </a:lnTo>
                <a:lnTo>
                  <a:pt x="234696" y="585216"/>
                </a:lnTo>
                <a:lnTo>
                  <a:pt x="243840" y="582168"/>
                </a:lnTo>
                <a:close/>
              </a:path>
              <a:path w="8382000" h="1370329" extrusionOk="0">
                <a:moveTo>
                  <a:pt x="271272" y="964692"/>
                </a:moveTo>
                <a:lnTo>
                  <a:pt x="234696" y="964692"/>
                </a:lnTo>
                <a:lnTo>
                  <a:pt x="198120" y="958596"/>
                </a:lnTo>
                <a:lnTo>
                  <a:pt x="181356" y="955548"/>
                </a:lnTo>
                <a:lnTo>
                  <a:pt x="163068" y="949452"/>
                </a:lnTo>
                <a:lnTo>
                  <a:pt x="146304" y="943356"/>
                </a:lnTo>
                <a:lnTo>
                  <a:pt x="131064" y="935736"/>
                </a:lnTo>
                <a:lnTo>
                  <a:pt x="126492" y="943356"/>
                </a:lnTo>
                <a:lnTo>
                  <a:pt x="161544" y="958596"/>
                </a:lnTo>
                <a:lnTo>
                  <a:pt x="214884" y="972312"/>
                </a:lnTo>
                <a:lnTo>
                  <a:pt x="234696" y="973836"/>
                </a:lnTo>
                <a:lnTo>
                  <a:pt x="271272" y="973836"/>
                </a:lnTo>
                <a:lnTo>
                  <a:pt x="271272" y="964692"/>
                </a:lnTo>
                <a:close/>
              </a:path>
              <a:path w="8382000" h="1370329" extrusionOk="0">
                <a:moveTo>
                  <a:pt x="375666" y="1370076"/>
                </a:moveTo>
                <a:lnTo>
                  <a:pt x="365760" y="1350264"/>
                </a:lnTo>
                <a:lnTo>
                  <a:pt x="335280" y="1316736"/>
                </a:lnTo>
                <a:lnTo>
                  <a:pt x="335280" y="1310640"/>
                </a:lnTo>
                <a:lnTo>
                  <a:pt x="320040" y="1309116"/>
                </a:lnTo>
                <a:lnTo>
                  <a:pt x="274320" y="1309116"/>
                </a:lnTo>
                <a:lnTo>
                  <a:pt x="259080" y="1306068"/>
                </a:lnTo>
                <a:lnTo>
                  <a:pt x="182880" y="1286256"/>
                </a:lnTo>
                <a:lnTo>
                  <a:pt x="152400" y="1263396"/>
                </a:lnTo>
                <a:lnTo>
                  <a:pt x="106680" y="1219200"/>
                </a:lnTo>
                <a:lnTo>
                  <a:pt x="76200" y="1182624"/>
                </a:lnTo>
                <a:lnTo>
                  <a:pt x="76200" y="1162812"/>
                </a:lnTo>
                <a:lnTo>
                  <a:pt x="60960" y="1141476"/>
                </a:lnTo>
                <a:lnTo>
                  <a:pt x="60960" y="1050036"/>
                </a:lnTo>
                <a:lnTo>
                  <a:pt x="76200" y="1028700"/>
                </a:lnTo>
                <a:lnTo>
                  <a:pt x="76200" y="1007364"/>
                </a:lnTo>
                <a:lnTo>
                  <a:pt x="91440" y="986028"/>
                </a:lnTo>
                <a:lnTo>
                  <a:pt x="106680" y="958596"/>
                </a:lnTo>
                <a:lnTo>
                  <a:pt x="121920" y="949452"/>
                </a:lnTo>
                <a:lnTo>
                  <a:pt x="121920" y="941832"/>
                </a:lnTo>
                <a:lnTo>
                  <a:pt x="106680" y="929640"/>
                </a:lnTo>
                <a:lnTo>
                  <a:pt x="76200" y="915924"/>
                </a:lnTo>
                <a:lnTo>
                  <a:pt x="60960" y="900684"/>
                </a:lnTo>
                <a:lnTo>
                  <a:pt x="30480" y="867156"/>
                </a:lnTo>
                <a:lnTo>
                  <a:pt x="30480" y="848868"/>
                </a:lnTo>
                <a:lnTo>
                  <a:pt x="15240" y="829056"/>
                </a:lnTo>
                <a:lnTo>
                  <a:pt x="15240" y="809244"/>
                </a:lnTo>
                <a:lnTo>
                  <a:pt x="0" y="789432"/>
                </a:lnTo>
                <a:lnTo>
                  <a:pt x="0" y="812292"/>
                </a:lnTo>
                <a:lnTo>
                  <a:pt x="15240" y="833628"/>
                </a:lnTo>
                <a:lnTo>
                  <a:pt x="15240" y="853440"/>
                </a:lnTo>
                <a:lnTo>
                  <a:pt x="60960" y="908304"/>
                </a:lnTo>
                <a:lnTo>
                  <a:pt x="76200" y="923544"/>
                </a:lnTo>
                <a:lnTo>
                  <a:pt x="91440" y="937260"/>
                </a:lnTo>
                <a:lnTo>
                  <a:pt x="114300" y="946404"/>
                </a:lnTo>
                <a:lnTo>
                  <a:pt x="106680" y="950976"/>
                </a:lnTo>
                <a:lnTo>
                  <a:pt x="91440" y="961644"/>
                </a:lnTo>
                <a:lnTo>
                  <a:pt x="91440" y="970788"/>
                </a:lnTo>
                <a:lnTo>
                  <a:pt x="76200" y="981456"/>
                </a:lnTo>
                <a:lnTo>
                  <a:pt x="60960" y="1013460"/>
                </a:lnTo>
                <a:lnTo>
                  <a:pt x="60960" y="1036320"/>
                </a:lnTo>
                <a:lnTo>
                  <a:pt x="45720" y="1060704"/>
                </a:lnTo>
                <a:lnTo>
                  <a:pt x="45720" y="1133856"/>
                </a:lnTo>
                <a:lnTo>
                  <a:pt x="60960" y="1155192"/>
                </a:lnTo>
                <a:lnTo>
                  <a:pt x="60960" y="1165860"/>
                </a:lnTo>
                <a:lnTo>
                  <a:pt x="76200" y="1187196"/>
                </a:lnTo>
                <a:lnTo>
                  <a:pt x="76200" y="1207008"/>
                </a:lnTo>
                <a:lnTo>
                  <a:pt x="91440" y="1225296"/>
                </a:lnTo>
                <a:lnTo>
                  <a:pt x="121920" y="1257300"/>
                </a:lnTo>
                <a:lnTo>
                  <a:pt x="182880" y="1295400"/>
                </a:lnTo>
                <a:lnTo>
                  <a:pt x="228600" y="1310640"/>
                </a:lnTo>
                <a:lnTo>
                  <a:pt x="259080" y="1315212"/>
                </a:lnTo>
                <a:lnTo>
                  <a:pt x="274320" y="1318260"/>
                </a:lnTo>
                <a:lnTo>
                  <a:pt x="304800" y="1319784"/>
                </a:lnTo>
                <a:lnTo>
                  <a:pt x="320040" y="1318260"/>
                </a:lnTo>
                <a:lnTo>
                  <a:pt x="320040" y="1322832"/>
                </a:lnTo>
                <a:lnTo>
                  <a:pt x="350520" y="1356360"/>
                </a:lnTo>
                <a:lnTo>
                  <a:pt x="364236" y="1370076"/>
                </a:lnTo>
                <a:lnTo>
                  <a:pt x="375666" y="1370076"/>
                </a:lnTo>
                <a:close/>
              </a:path>
              <a:path w="8382000" h="1370329" extrusionOk="0">
                <a:moveTo>
                  <a:pt x="399288" y="1296924"/>
                </a:moveTo>
                <a:lnTo>
                  <a:pt x="396240" y="1287780"/>
                </a:lnTo>
                <a:lnTo>
                  <a:pt x="365760" y="1296924"/>
                </a:lnTo>
                <a:lnTo>
                  <a:pt x="350520" y="1299972"/>
                </a:lnTo>
                <a:lnTo>
                  <a:pt x="335280" y="1301496"/>
                </a:lnTo>
                <a:lnTo>
                  <a:pt x="335280" y="1310640"/>
                </a:lnTo>
                <a:lnTo>
                  <a:pt x="352044" y="1309116"/>
                </a:lnTo>
                <a:lnTo>
                  <a:pt x="368808" y="1306068"/>
                </a:lnTo>
                <a:lnTo>
                  <a:pt x="399288" y="1296924"/>
                </a:lnTo>
                <a:close/>
              </a:path>
              <a:path w="8382000" h="1370329" extrusionOk="0">
                <a:moveTo>
                  <a:pt x="873252" y="237744"/>
                </a:moveTo>
                <a:lnTo>
                  <a:pt x="856488" y="224028"/>
                </a:lnTo>
                <a:lnTo>
                  <a:pt x="838200" y="210312"/>
                </a:lnTo>
                <a:lnTo>
                  <a:pt x="818388" y="198120"/>
                </a:lnTo>
                <a:lnTo>
                  <a:pt x="800100" y="187452"/>
                </a:lnTo>
                <a:lnTo>
                  <a:pt x="795528" y="195072"/>
                </a:lnTo>
                <a:lnTo>
                  <a:pt x="813816" y="207264"/>
                </a:lnTo>
                <a:lnTo>
                  <a:pt x="833628" y="217932"/>
                </a:lnTo>
                <a:lnTo>
                  <a:pt x="867156" y="245364"/>
                </a:lnTo>
                <a:lnTo>
                  <a:pt x="873252" y="237744"/>
                </a:lnTo>
                <a:close/>
              </a:path>
              <a:path w="8382000" h="1370329" extrusionOk="0">
                <a:moveTo>
                  <a:pt x="1281684" y="124968"/>
                </a:moveTo>
                <a:lnTo>
                  <a:pt x="1255776" y="160020"/>
                </a:lnTo>
                <a:lnTo>
                  <a:pt x="1252728" y="172212"/>
                </a:lnTo>
                <a:lnTo>
                  <a:pt x="1261872" y="175260"/>
                </a:lnTo>
                <a:lnTo>
                  <a:pt x="1264920" y="161544"/>
                </a:lnTo>
                <a:lnTo>
                  <a:pt x="1269492" y="149352"/>
                </a:lnTo>
                <a:lnTo>
                  <a:pt x="1281684" y="124968"/>
                </a:lnTo>
                <a:close/>
              </a:path>
              <a:path w="8382000" h="1370329" extrusionOk="0">
                <a:moveTo>
                  <a:pt x="1633220" y="1370076"/>
                </a:moveTo>
                <a:lnTo>
                  <a:pt x="1615440" y="1359408"/>
                </a:lnTo>
                <a:lnTo>
                  <a:pt x="1615440" y="1357884"/>
                </a:lnTo>
                <a:lnTo>
                  <a:pt x="1600200" y="1360932"/>
                </a:lnTo>
                <a:lnTo>
                  <a:pt x="1600200" y="1370076"/>
                </a:lnTo>
                <a:lnTo>
                  <a:pt x="1615440" y="1370076"/>
                </a:lnTo>
                <a:lnTo>
                  <a:pt x="1615440" y="1367028"/>
                </a:lnTo>
                <a:lnTo>
                  <a:pt x="1619796" y="1370076"/>
                </a:lnTo>
                <a:lnTo>
                  <a:pt x="1633220" y="1370076"/>
                </a:lnTo>
                <a:close/>
              </a:path>
              <a:path w="8382000" h="1370329" extrusionOk="0">
                <a:moveTo>
                  <a:pt x="1638300" y="1287780"/>
                </a:moveTo>
                <a:lnTo>
                  <a:pt x="1629156" y="1286256"/>
                </a:lnTo>
                <a:lnTo>
                  <a:pt x="1627632" y="1304544"/>
                </a:lnTo>
                <a:lnTo>
                  <a:pt x="1624584" y="1321308"/>
                </a:lnTo>
                <a:lnTo>
                  <a:pt x="1620012" y="1338072"/>
                </a:lnTo>
                <a:lnTo>
                  <a:pt x="1613916" y="1356360"/>
                </a:lnTo>
                <a:lnTo>
                  <a:pt x="1623060" y="1357884"/>
                </a:lnTo>
                <a:lnTo>
                  <a:pt x="1629156" y="1341120"/>
                </a:lnTo>
                <a:lnTo>
                  <a:pt x="1633728" y="1322832"/>
                </a:lnTo>
                <a:lnTo>
                  <a:pt x="1636776" y="1304544"/>
                </a:lnTo>
                <a:lnTo>
                  <a:pt x="1638300" y="1287780"/>
                </a:lnTo>
                <a:close/>
              </a:path>
              <a:path w="8382000" h="1370329" extrusionOk="0">
                <a:moveTo>
                  <a:pt x="2336800" y="329184"/>
                </a:moveTo>
                <a:lnTo>
                  <a:pt x="2311400" y="286512"/>
                </a:lnTo>
                <a:lnTo>
                  <a:pt x="2273300" y="266700"/>
                </a:lnTo>
                <a:lnTo>
                  <a:pt x="2260600" y="249936"/>
                </a:lnTo>
                <a:lnTo>
                  <a:pt x="2235200" y="234696"/>
                </a:lnTo>
                <a:lnTo>
                  <a:pt x="2222500" y="220980"/>
                </a:lnTo>
                <a:lnTo>
                  <a:pt x="2197100" y="214884"/>
                </a:lnTo>
                <a:lnTo>
                  <a:pt x="2175687" y="207187"/>
                </a:lnTo>
                <a:lnTo>
                  <a:pt x="2174748" y="199644"/>
                </a:lnTo>
                <a:lnTo>
                  <a:pt x="2165604" y="201168"/>
                </a:lnTo>
                <a:lnTo>
                  <a:pt x="2165908" y="203669"/>
                </a:lnTo>
                <a:lnTo>
                  <a:pt x="2159000" y="201168"/>
                </a:lnTo>
                <a:lnTo>
                  <a:pt x="2159000" y="182880"/>
                </a:lnTo>
                <a:lnTo>
                  <a:pt x="2146300" y="163068"/>
                </a:lnTo>
                <a:lnTo>
                  <a:pt x="2146300" y="143256"/>
                </a:lnTo>
                <a:lnTo>
                  <a:pt x="2108200" y="106680"/>
                </a:lnTo>
                <a:lnTo>
                  <a:pt x="2082800" y="73152"/>
                </a:lnTo>
                <a:lnTo>
                  <a:pt x="2070100" y="59436"/>
                </a:lnTo>
                <a:lnTo>
                  <a:pt x="2044700" y="50292"/>
                </a:lnTo>
                <a:lnTo>
                  <a:pt x="2032000" y="44196"/>
                </a:lnTo>
                <a:lnTo>
                  <a:pt x="2032000" y="36576"/>
                </a:lnTo>
                <a:lnTo>
                  <a:pt x="2006600" y="24384"/>
                </a:lnTo>
                <a:lnTo>
                  <a:pt x="1968500" y="15240"/>
                </a:lnTo>
                <a:lnTo>
                  <a:pt x="1968500" y="10668"/>
                </a:lnTo>
                <a:lnTo>
                  <a:pt x="1943100" y="4572"/>
                </a:lnTo>
                <a:lnTo>
                  <a:pt x="1917700" y="1524"/>
                </a:lnTo>
                <a:lnTo>
                  <a:pt x="1879600" y="0"/>
                </a:lnTo>
                <a:lnTo>
                  <a:pt x="1803400" y="9144"/>
                </a:lnTo>
                <a:lnTo>
                  <a:pt x="1778000" y="16764"/>
                </a:lnTo>
                <a:lnTo>
                  <a:pt x="1765300" y="27432"/>
                </a:lnTo>
                <a:lnTo>
                  <a:pt x="1727200" y="38100"/>
                </a:lnTo>
                <a:lnTo>
                  <a:pt x="1714500" y="53340"/>
                </a:lnTo>
                <a:lnTo>
                  <a:pt x="1689100" y="70104"/>
                </a:lnTo>
                <a:lnTo>
                  <a:pt x="1676400" y="81648"/>
                </a:lnTo>
                <a:lnTo>
                  <a:pt x="1663700" y="77724"/>
                </a:lnTo>
                <a:lnTo>
                  <a:pt x="1651000" y="68580"/>
                </a:lnTo>
                <a:lnTo>
                  <a:pt x="1638300" y="50292"/>
                </a:lnTo>
                <a:lnTo>
                  <a:pt x="1625600" y="42672"/>
                </a:lnTo>
                <a:lnTo>
                  <a:pt x="1625600" y="36576"/>
                </a:lnTo>
                <a:lnTo>
                  <a:pt x="1612900" y="28956"/>
                </a:lnTo>
                <a:lnTo>
                  <a:pt x="1587500" y="22860"/>
                </a:lnTo>
                <a:lnTo>
                  <a:pt x="1562100" y="13716"/>
                </a:lnTo>
                <a:lnTo>
                  <a:pt x="1549400" y="7620"/>
                </a:lnTo>
                <a:lnTo>
                  <a:pt x="1511300" y="3048"/>
                </a:lnTo>
                <a:lnTo>
                  <a:pt x="1498600" y="0"/>
                </a:lnTo>
                <a:lnTo>
                  <a:pt x="1473200" y="0"/>
                </a:lnTo>
                <a:lnTo>
                  <a:pt x="1435100" y="1524"/>
                </a:lnTo>
                <a:lnTo>
                  <a:pt x="1397000" y="10668"/>
                </a:lnTo>
                <a:lnTo>
                  <a:pt x="1384300" y="19812"/>
                </a:lnTo>
                <a:lnTo>
                  <a:pt x="1346200" y="28956"/>
                </a:lnTo>
                <a:lnTo>
                  <a:pt x="1320800" y="53340"/>
                </a:lnTo>
                <a:lnTo>
                  <a:pt x="1308100" y="68580"/>
                </a:lnTo>
                <a:lnTo>
                  <a:pt x="1282700" y="85344"/>
                </a:lnTo>
                <a:lnTo>
                  <a:pt x="1270000" y="103632"/>
                </a:lnTo>
                <a:lnTo>
                  <a:pt x="1257300" y="123444"/>
                </a:lnTo>
                <a:lnTo>
                  <a:pt x="1244600" y="109728"/>
                </a:lnTo>
                <a:lnTo>
                  <a:pt x="1206500" y="85344"/>
                </a:lnTo>
                <a:lnTo>
                  <a:pt x="1193800" y="76200"/>
                </a:lnTo>
                <a:lnTo>
                  <a:pt x="1168400" y="64008"/>
                </a:lnTo>
                <a:lnTo>
                  <a:pt x="1104900" y="48768"/>
                </a:lnTo>
                <a:lnTo>
                  <a:pt x="1054100" y="44196"/>
                </a:lnTo>
                <a:lnTo>
                  <a:pt x="1028700" y="44196"/>
                </a:lnTo>
                <a:lnTo>
                  <a:pt x="1003300" y="47244"/>
                </a:lnTo>
                <a:lnTo>
                  <a:pt x="952500" y="56388"/>
                </a:lnTo>
                <a:lnTo>
                  <a:pt x="927100" y="70104"/>
                </a:lnTo>
                <a:lnTo>
                  <a:pt x="901700" y="76200"/>
                </a:lnTo>
                <a:lnTo>
                  <a:pt x="876300" y="89916"/>
                </a:lnTo>
                <a:lnTo>
                  <a:pt x="863600" y="105156"/>
                </a:lnTo>
                <a:lnTo>
                  <a:pt x="825500" y="123444"/>
                </a:lnTo>
                <a:lnTo>
                  <a:pt x="812800" y="143256"/>
                </a:lnTo>
                <a:lnTo>
                  <a:pt x="800100" y="166116"/>
                </a:lnTo>
                <a:lnTo>
                  <a:pt x="787400" y="176784"/>
                </a:lnTo>
                <a:lnTo>
                  <a:pt x="787400" y="187452"/>
                </a:lnTo>
                <a:lnTo>
                  <a:pt x="749300" y="173736"/>
                </a:lnTo>
                <a:lnTo>
                  <a:pt x="723900" y="163068"/>
                </a:lnTo>
                <a:lnTo>
                  <a:pt x="698500" y="153924"/>
                </a:lnTo>
                <a:lnTo>
                  <a:pt x="647700" y="144780"/>
                </a:lnTo>
                <a:lnTo>
                  <a:pt x="596900" y="140208"/>
                </a:lnTo>
                <a:lnTo>
                  <a:pt x="571500" y="140208"/>
                </a:lnTo>
                <a:lnTo>
                  <a:pt x="508000" y="146304"/>
                </a:lnTo>
                <a:lnTo>
                  <a:pt x="495300" y="150876"/>
                </a:lnTo>
                <a:lnTo>
                  <a:pt x="482600" y="153924"/>
                </a:lnTo>
                <a:lnTo>
                  <a:pt x="444500" y="166116"/>
                </a:lnTo>
                <a:lnTo>
                  <a:pt x="419100" y="172212"/>
                </a:lnTo>
                <a:lnTo>
                  <a:pt x="406400" y="179832"/>
                </a:lnTo>
                <a:lnTo>
                  <a:pt x="355600" y="207264"/>
                </a:lnTo>
                <a:lnTo>
                  <a:pt x="317500" y="239268"/>
                </a:lnTo>
                <a:lnTo>
                  <a:pt x="292100" y="263652"/>
                </a:lnTo>
                <a:lnTo>
                  <a:pt x="279400" y="277368"/>
                </a:lnTo>
                <a:lnTo>
                  <a:pt x="266700" y="289560"/>
                </a:lnTo>
                <a:lnTo>
                  <a:pt x="266700" y="303276"/>
                </a:lnTo>
                <a:lnTo>
                  <a:pt x="254000" y="318516"/>
                </a:lnTo>
                <a:lnTo>
                  <a:pt x="254000" y="332232"/>
                </a:lnTo>
                <a:lnTo>
                  <a:pt x="241300" y="347472"/>
                </a:lnTo>
                <a:lnTo>
                  <a:pt x="241300" y="364236"/>
                </a:lnTo>
                <a:lnTo>
                  <a:pt x="215900" y="394716"/>
                </a:lnTo>
                <a:lnTo>
                  <a:pt x="203200" y="411480"/>
                </a:lnTo>
                <a:lnTo>
                  <a:pt x="203200" y="531876"/>
                </a:lnTo>
                <a:lnTo>
                  <a:pt x="190500" y="533400"/>
                </a:lnTo>
                <a:lnTo>
                  <a:pt x="165100" y="539496"/>
                </a:lnTo>
                <a:lnTo>
                  <a:pt x="127000" y="553212"/>
                </a:lnTo>
                <a:lnTo>
                  <a:pt x="114300" y="559308"/>
                </a:lnTo>
                <a:lnTo>
                  <a:pt x="101600" y="566928"/>
                </a:lnTo>
                <a:lnTo>
                  <a:pt x="88900" y="573024"/>
                </a:lnTo>
                <a:lnTo>
                  <a:pt x="88900" y="582168"/>
                </a:lnTo>
                <a:lnTo>
                  <a:pt x="63500" y="589788"/>
                </a:lnTo>
                <a:lnTo>
                  <a:pt x="50800" y="598932"/>
                </a:lnTo>
                <a:lnTo>
                  <a:pt x="38100" y="609600"/>
                </a:lnTo>
                <a:lnTo>
                  <a:pt x="38100" y="620268"/>
                </a:lnTo>
                <a:lnTo>
                  <a:pt x="12700" y="652272"/>
                </a:lnTo>
                <a:lnTo>
                  <a:pt x="12700" y="672084"/>
                </a:lnTo>
                <a:lnTo>
                  <a:pt x="0" y="693420"/>
                </a:lnTo>
                <a:lnTo>
                  <a:pt x="0" y="717804"/>
                </a:lnTo>
                <a:lnTo>
                  <a:pt x="12700" y="707136"/>
                </a:lnTo>
                <a:lnTo>
                  <a:pt x="12700" y="676656"/>
                </a:lnTo>
                <a:lnTo>
                  <a:pt x="25400" y="665988"/>
                </a:lnTo>
                <a:lnTo>
                  <a:pt x="25400" y="646176"/>
                </a:lnTo>
                <a:lnTo>
                  <a:pt x="38100" y="635508"/>
                </a:lnTo>
                <a:lnTo>
                  <a:pt x="38100" y="626364"/>
                </a:lnTo>
                <a:lnTo>
                  <a:pt x="50800" y="615696"/>
                </a:lnTo>
                <a:lnTo>
                  <a:pt x="63500" y="606552"/>
                </a:lnTo>
                <a:lnTo>
                  <a:pt x="63500" y="597408"/>
                </a:lnTo>
                <a:lnTo>
                  <a:pt x="101600" y="582168"/>
                </a:lnTo>
                <a:lnTo>
                  <a:pt x="101600" y="574548"/>
                </a:lnTo>
                <a:lnTo>
                  <a:pt x="139700" y="556260"/>
                </a:lnTo>
                <a:lnTo>
                  <a:pt x="165100" y="553212"/>
                </a:lnTo>
                <a:lnTo>
                  <a:pt x="177800" y="548640"/>
                </a:lnTo>
                <a:lnTo>
                  <a:pt x="190500" y="545592"/>
                </a:lnTo>
                <a:lnTo>
                  <a:pt x="190500" y="542544"/>
                </a:lnTo>
                <a:lnTo>
                  <a:pt x="203200" y="541020"/>
                </a:lnTo>
                <a:lnTo>
                  <a:pt x="215900" y="537972"/>
                </a:lnTo>
                <a:lnTo>
                  <a:pt x="215900" y="397764"/>
                </a:lnTo>
                <a:lnTo>
                  <a:pt x="254000" y="352044"/>
                </a:lnTo>
                <a:lnTo>
                  <a:pt x="254000" y="336804"/>
                </a:lnTo>
                <a:lnTo>
                  <a:pt x="279400" y="295656"/>
                </a:lnTo>
                <a:lnTo>
                  <a:pt x="279400" y="281940"/>
                </a:lnTo>
                <a:lnTo>
                  <a:pt x="317500" y="257556"/>
                </a:lnTo>
                <a:lnTo>
                  <a:pt x="330200" y="246888"/>
                </a:lnTo>
                <a:lnTo>
                  <a:pt x="342900" y="234696"/>
                </a:lnTo>
                <a:lnTo>
                  <a:pt x="355600" y="224028"/>
                </a:lnTo>
                <a:lnTo>
                  <a:pt x="406400" y="196596"/>
                </a:lnTo>
                <a:lnTo>
                  <a:pt x="431800" y="181356"/>
                </a:lnTo>
                <a:lnTo>
                  <a:pt x="482600" y="163068"/>
                </a:lnTo>
                <a:lnTo>
                  <a:pt x="495300" y="160020"/>
                </a:lnTo>
                <a:lnTo>
                  <a:pt x="520700" y="155448"/>
                </a:lnTo>
                <a:lnTo>
                  <a:pt x="558800" y="150876"/>
                </a:lnTo>
                <a:lnTo>
                  <a:pt x="571500" y="150876"/>
                </a:lnTo>
                <a:lnTo>
                  <a:pt x="584200" y="149352"/>
                </a:lnTo>
                <a:lnTo>
                  <a:pt x="596900" y="150876"/>
                </a:lnTo>
                <a:lnTo>
                  <a:pt x="622300" y="150876"/>
                </a:lnTo>
                <a:lnTo>
                  <a:pt x="647700" y="153924"/>
                </a:lnTo>
                <a:lnTo>
                  <a:pt x="698500" y="163068"/>
                </a:lnTo>
                <a:lnTo>
                  <a:pt x="723900" y="172212"/>
                </a:lnTo>
                <a:lnTo>
                  <a:pt x="749300" y="182880"/>
                </a:lnTo>
                <a:lnTo>
                  <a:pt x="787400" y="196596"/>
                </a:lnTo>
                <a:lnTo>
                  <a:pt x="787400" y="195072"/>
                </a:lnTo>
                <a:lnTo>
                  <a:pt x="800100" y="170688"/>
                </a:lnTo>
                <a:lnTo>
                  <a:pt x="812800" y="149352"/>
                </a:lnTo>
                <a:lnTo>
                  <a:pt x="850900" y="131064"/>
                </a:lnTo>
                <a:lnTo>
                  <a:pt x="863600" y="112776"/>
                </a:lnTo>
                <a:lnTo>
                  <a:pt x="876300" y="97536"/>
                </a:lnTo>
                <a:lnTo>
                  <a:pt x="927100" y="79248"/>
                </a:lnTo>
                <a:lnTo>
                  <a:pt x="1003300" y="56388"/>
                </a:lnTo>
                <a:lnTo>
                  <a:pt x="1016000" y="54864"/>
                </a:lnTo>
                <a:lnTo>
                  <a:pt x="1028700" y="54864"/>
                </a:lnTo>
                <a:lnTo>
                  <a:pt x="1041400" y="53340"/>
                </a:lnTo>
                <a:lnTo>
                  <a:pt x="1054100" y="53340"/>
                </a:lnTo>
                <a:lnTo>
                  <a:pt x="1104900" y="57912"/>
                </a:lnTo>
                <a:lnTo>
                  <a:pt x="1168400" y="73152"/>
                </a:lnTo>
                <a:lnTo>
                  <a:pt x="1181100" y="85344"/>
                </a:lnTo>
                <a:lnTo>
                  <a:pt x="1206500" y="94488"/>
                </a:lnTo>
                <a:lnTo>
                  <a:pt x="1231900" y="105156"/>
                </a:lnTo>
                <a:lnTo>
                  <a:pt x="1257300" y="129540"/>
                </a:lnTo>
                <a:lnTo>
                  <a:pt x="1270000" y="109728"/>
                </a:lnTo>
                <a:lnTo>
                  <a:pt x="1282700" y="91440"/>
                </a:lnTo>
                <a:lnTo>
                  <a:pt x="1320800" y="60960"/>
                </a:lnTo>
                <a:lnTo>
                  <a:pt x="1333500" y="48768"/>
                </a:lnTo>
                <a:lnTo>
                  <a:pt x="1358900" y="36576"/>
                </a:lnTo>
                <a:lnTo>
                  <a:pt x="1384300" y="27432"/>
                </a:lnTo>
                <a:lnTo>
                  <a:pt x="1409700" y="19812"/>
                </a:lnTo>
                <a:lnTo>
                  <a:pt x="1435100" y="10668"/>
                </a:lnTo>
                <a:lnTo>
                  <a:pt x="1473200" y="9144"/>
                </a:lnTo>
                <a:lnTo>
                  <a:pt x="1498600" y="9144"/>
                </a:lnTo>
                <a:lnTo>
                  <a:pt x="1511300" y="12192"/>
                </a:lnTo>
                <a:lnTo>
                  <a:pt x="1549400" y="16764"/>
                </a:lnTo>
                <a:lnTo>
                  <a:pt x="1562100" y="22860"/>
                </a:lnTo>
                <a:lnTo>
                  <a:pt x="1587500" y="32004"/>
                </a:lnTo>
                <a:lnTo>
                  <a:pt x="1612900" y="44196"/>
                </a:lnTo>
                <a:lnTo>
                  <a:pt x="1638300" y="59436"/>
                </a:lnTo>
                <a:lnTo>
                  <a:pt x="1651000" y="76200"/>
                </a:lnTo>
                <a:lnTo>
                  <a:pt x="1663700" y="94488"/>
                </a:lnTo>
                <a:lnTo>
                  <a:pt x="1663700" y="96012"/>
                </a:lnTo>
                <a:lnTo>
                  <a:pt x="1675345" y="95313"/>
                </a:lnTo>
                <a:lnTo>
                  <a:pt x="1673352" y="97536"/>
                </a:lnTo>
                <a:lnTo>
                  <a:pt x="1662684" y="111252"/>
                </a:lnTo>
                <a:lnTo>
                  <a:pt x="1652016" y="128016"/>
                </a:lnTo>
                <a:lnTo>
                  <a:pt x="1644396" y="143256"/>
                </a:lnTo>
                <a:lnTo>
                  <a:pt x="1652016" y="147828"/>
                </a:lnTo>
                <a:lnTo>
                  <a:pt x="1670304" y="117348"/>
                </a:lnTo>
                <a:lnTo>
                  <a:pt x="1680972" y="102108"/>
                </a:lnTo>
                <a:lnTo>
                  <a:pt x="1687664" y="94576"/>
                </a:lnTo>
                <a:lnTo>
                  <a:pt x="1689100" y="94488"/>
                </a:lnTo>
                <a:lnTo>
                  <a:pt x="1701800" y="76200"/>
                </a:lnTo>
                <a:lnTo>
                  <a:pt x="1714500" y="60960"/>
                </a:lnTo>
                <a:lnTo>
                  <a:pt x="1739900" y="47244"/>
                </a:lnTo>
                <a:lnTo>
                  <a:pt x="1765300" y="35052"/>
                </a:lnTo>
                <a:lnTo>
                  <a:pt x="1790700" y="25908"/>
                </a:lnTo>
                <a:lnTo>
                  <a:pt x="1803400" y="18288"/>
                </a:lnTo>
                <a:lnTo>
                  <a:pt x="1879600" y="9144"/>
                </a:lnTo>
                <a:lnTo>
                  <a:pt x="1917700" y="10668"/>
                </a:lnTo>
                <a:lnTo>
                  <a:pt x="1955800" y="19812"/>
                </a:lnTo>
                <a:lnTo>
                  <a:pt x="2006600" y="33528"/>
                </a:lnTo>
                <a:lnTo>
                  <a:pt x="2019300" y="39624"/>
                </a:lnTo>
                <a:lnTo>
                  <a:pt x="2019300" y="45720"/>
                </a:lnTo>
                <a:lnTo>
                  <a:pt x="2032000" y="51816"/>
                </a:lnTo>
                <a:lnTo>
                  <a:pt x="2070100" y="67056"/>
                </a:lnTo>
                <a:lnTo>
                  <a:pt x="2082800" y="80772"/>
                </a:lnTo>
                <a:lnTo>
                  <a:pt x="2095500" y="96012"/>
                </a:lnTo>
                <a:lnTo>
                  <a:pt x="2108200" y="112776"/>
                </a:lnTo>
                <a:lnTo>
                  <a:pt x="2108200" y="129540"/>
                </a:lnTo>
                <a:lnTo>
                  <a:pt x="2120900" y="147828"/>
                </a:lnTo>
                <a:lnTo>
                  <a:pt x="2146300" y="167640"/>
                </a:lnTo>
                <a:lnTo>
                  <a:pt x="2159000" y="207264"/>
                </a:lnTo>
                <a:lnTo>
                  <a:pt x="2159000" y="210312"/>
                </a:lnTo>
                <a:lnTo>
                  <a:pt x="2167102" y="213233"/>
                </a:lnTo>
                <a:lnTo>
                  <a:pt x="2167128" y="213360"/>
                </a:lnTo>
                <a:lnTo>
                  <a:pt x="2168652" y="224028"/>
                </a:lnTo>
                <a:lnTo>
                  <a:pt x="2170176" y="236220"/>
                </a:lnTo>
                <a:lnTo>
                  <a:pt x="2170176" y="246888"/>
                </a:lnTo>
                <a:lnTo>
                  <a:pt x="2179320" y="246888"/>
                </a:lnTo>
                <a:lnTo>
                  <a:pt x="2179320" y="234696"/>
                </a:lnTo>
                <a:lnTo>
                  <a:pt x="2177796" y="222504"/>
                </a:lnTo>
                <a:lnTo>
                  <a:pt x="2176970" y="216789"/>
                </a:lnTo>
                <a:lnTo>
                  <a:pt x="2197100" y="224028"/>
                </a:lnTo>
                <a:lnTo>
                  <a:pt x="2197100" y="230124"/>
                </a:lnTo>
                <a:lnTo>
                  <a:pt x="2235200" y="242316"/>
                </a:lnTo>
                <a:lnTo>
                  <a:pt x="2260600" y="257556"/>
                </a:lnTo>
                <a:lnTo>
                  <a:pt x="2273300" y="274320"/>
                </a:lnTo>
                <a:lnTo>
                  <a:pt x="2298700" y="292608"/>
                </a:lnTo>
                <a:lnTo>
                  <a:pt x="2324100" y="313944"/>
                </a:lnTo>
                <a:lnTo>
                  <a:pt x="2324100" y="323088"/>
                </a:lnTo>
                <a:lnTo>
                  <a:pt x="2336800" y="335280"/>
                </a:lnTo>
                <a:lnTo>
                  <a:pt x="2336800" y="329184"/>
                </a:lnTo>
                <a:close/>
              </a:path>
              <a:path w="8382000" h="1370329" extrusionOk="0">
                <a:moveTo>
                  <a:pt x="2387600" y="428244"/>
                </a:moveTo>
                <a:lnTo>
                  <a:pt x="2374900" y="416052"/>
                </a:lnTo>
                <a:lnTo>
                  <a:pt x="2374900" y="377952"/>
                </a:lnTo>
                <a:lnTo>
                  <a:pt x="2349500" y="364236"/>
                </a:lnTo>
                <a:lnTo>
                  <a:pt x="2349500" y="352044"/>
                </a:lnTo>
                <a:lnTo>
                  <a:pt x="2336800" y="341376"/>
                </a:lnTo>
                <a:lnTo>
                  <a:pt x="2336800" y="356616"/>
                </a:lnTo>
                <a:lnTo>
                  <a:pt x="2349500" y="368808"/>
                </a:lnTo>
                <a:lnTo>
                  <a:pt x="2349500" y="393192"/>
                </a:lnTo>
                <a:lnTo>
                  <a:pt x="2374900" y="417576"/>
                </a:lnTo>
                <a:lnTo>
                  <a:pt x="2374900" y="510540"/>
                </a:lnTo>
                <a:lnTo>
                  <a:pt x="2387600" y="483108"/>
                </a:lnTo>
                <a:lnTo>
                  <a:pt x="2387600" y="428244"/>
                </a:lnTo>
                <a:close/>
              </a:path>
              <a:path w="8382000" h="1370329" extrusionOk="0">
                <a:moveTo>
                  <a:pt x="2413000" y="659892"/>
                </a:moveTo>
                <a:lnTo>
                  <a:pt x="2400300" y="644652"/>
                </a:lnTo>
                <a:lnTo>
                  <a:pt x="2400300" y="627888"/>
                </a:lnTo>
                <a:lnTo>
                  <a:pt x="2374900" y="597408"/>
                </a:lnTo>
                <a:lnTo>
                  <a:pt x="2374900" y="583692"/>
                </a:lnTo>
                <a:lnTo>
                  <a:pt x="2367115" y="576059"/>
                </a:lnTo>
                <a:lnTo>
                  <a:pt x="2369820" y="569976"/>
                </a:lnTo>
                <a:lnTo>
                  <a:pt x="2365464" y="567372"/>
                </a:lnTo>
                <a:lnTo>
                  <a:pt x="2374900" y="556260"/>
                </a:lnTo>
                <a:lnTo>
                  <a:pt x="2374900" y="522732"/>
                </a:lnTo>
                <a:lnTo>
                  <a:pt x="2349500" y="534924"/>
                </a:lnTo>
                <a:lnTo>
                  <a:pt x="2349500" y="568452"/>
                </a:lnTo>
                <a:lnTo>
                  <a:pt x="2349500" y="574548"/>
                </a:lnTo>
                <a:lnTo>
                  <a:pt x="2349500" y="588772"/>
                </a:lnTo>
                <a:lnTo>
                  <a:pt x="2346960" y="592836"/>
                </a:lnTo>
                <a:lnTo>
                  <a:pt x="2337816" y="606552"/>
                </a:lnTo>
                <a:lnTo>
                  <a:pt x="2327148" y="618744"/>
                </a:lnTo>
                <a:lnTo>
                  <a:pt x="2318004" y="630936"/>
                </a:lnTo>
                <a:lnTo>
                  <a:pt x="2305812" y="641604"/>
                </a:lnTo>
                <a:lnTo>
                  <a:pt x="2293620" y="653796"/>
                </a:lnTo>
                <a:lnTo>
                  <a:pt x="2281428" y="662940"/>
                </a:lnTo>
                <a:lnTo>
                  <a:pt x="2334768" y="624840"/>
                </a:lnTo>
                <a:lnTo>
                  <a:pt x="2357475" y="594106"/>
                </a:lnTo>
                <a:lnTo>
                  <a:pt x="2374900" y="603504"/>
                </a:lnTo>
                <a:lnTo>
                  <a:pt x="2387600" y="618744"/>
                </a:lnTo>
                <a:lnTo>
                  <a:pt x="2387600" y="632460"/>
                </a:lnTo>
                <a:lnTo>
                  <a:pt x="2400300" y="647700"/>
                </a:lnTo>
                <a:lnTo>
                  <a:pt x="2400300" y="664464"/>
                </a:lnTo>
                <a:lnTo>
                  <a:pt x="2413000" y="679704"/>
                </a:lnTo>
                <a:lnTo>
                  <a:pt x="2413000" y="659892"/>
                </a:lnTo>
                <a:close/>
              </a:path>
              <a:path w="8382000" h="1370329" extrusionOk="0">
                <a:moveTo>
                  <a:pt x="2425700" y="708660"/>
                </a:moveTo>
                <a:lnTo>
                  <a:pt x="2413000" y="691896"/>
                </a:lnTo>
                <a:lnTo>
                  <a:pt x="2413000" y="726948"/>
                </a:lnTo>
                <a:lnTo>
                  <a:pt x="2425700" y="743712"/>
                </a:lnTo>
                <a:lnTo>
                  <a:pt x="2425700" y="708660"/>
                </a:lnTo>
                <a:close/>
              </a:path>
              <a:path w="8382000" h="1370329" extrusionOk="0">
                <a:moveTo>
                  <a:pt x="2438400" y="790956"/>
                </a:moveTo>
                <a:lnTo>
                  <a:pt x="2423160" y="824484"/>
                </a:lnTo>
                <a:lnTo>
                  <a:pt x="2423160" y="871728"/>
                </a:lnTo>
                <a:lnTo>
                  <a:pt x="2407920" y="917448"/>
                </a:lnTo>
                <a:lnTo>
                  <a:pt x="2392680" y="931164"/>
                </a:lnTo>
                <a:lnTo>
                  <a:pt x="2377440" y="946404"/>
                </a:lnTo>
                <a:lnTo>
                  <a:pt x="2377440" y="960120"/>
                </a:lnTo>
                <a:lnTo>
                  <a:pt x="2346960" y="987552"/>
                </a:lnTo>
                <a:lnTo>
                  <a:pt x="2331720" y="1011936"/>
                </a:lnTo>
                <a:lnTo>
                  <a:pt x="2301240" y="1036320"/>
                </a:lnTo>
                <a:lnTo>
                  <a:pt x="2286000" y="1046988"/>
                </a:lnTo>
                <a:lnTo>
                  <a:pt x="2240280" y="1071372"/>
                </a:lnTo>
                <a:lnTo>
                  <a:pt x="2225040" y="1082040"/>
                </a:lnTo>
                <a:lnTo>
                  <a:pt x="2209800" y="1089660"/>
                </a:lnTo>
                <a:lnTo>
                  <a:pt x="2179320" y="1098804"/>
                </a:lnTo>
                <a:lnTo>
                  <a:pt x="2164080" y="1104900"/>
                </a:lnTo>
                <a:lnTo>
                  <a:pt x="2121408" y="1111300"/>
                </a:lnTo>
                <a:lnTo>
                  <a:pt x="2121408" y="1092708"/>
                </a:lnTo>
                <a:lnTo>
                  <a:pt x="2118360" y="1071372"/>
                </a:lnTo>
                <a:lnTo>
                  <a:pt x="2113788" y="1050036"/>
                </a:lnTo>
                <a:lnTo>
                  <a:pt x="2109216" y="1030224"/>
                </a:lnTo>
                <a:lnTo>
                  <a:pt x="2101596" y="1010412"/>
                </a:lnTo>
                <a:lnTo>
                  <a:pt x="2092452" y="992124"/>
                </a:lnTo>
                <a:lnTo>
                  <a:pt x="2083308" y="972312"/>
                </a:lnTo>
                <a:lnTo>
                  <a:pt x="2071116" y="955548"/>
                </a:lnTo>
                <a:lnTo>
                  <a:pt x="2058924" y="937260"/>
                </a:lnTo>
                <a:lnTo>
                  <a:pt x="2045208" y="922020"/>
                </a:lnTo>
                <a:lnTo>
                  <a:pt x="2013204" y="891540"/>
                </a:lnTo>
                <a:lnTo>
                  <a:pt x="1976628" y="865632"/>
                </a:lnTo>
                <a:lnTo>
                  <a:pt x="1935480" y="845820"/>
                </a:lnTo>
                <a:lnTo>
                  <a:pt x="1930908" y="853440"/>
                </a:lnTo>
                <a:lnTo>
                  <a:pt x="1952244" y="864108"/>
                </a:lnTo>
                <a:lnTo>
                  <a:pt x="1970532" y="874776"/>
                </a:lnTo>
                <a:lnTo>
                  <a:pt x="2007108" y="899160"/>
                </a:lnTo>
                <a:lnTo>
                  <a:pt x="2037588" y="928116"/>
                </a:lnTo>
                <a:lnTo>
                  <a:pt x="2063496" y="960120"/>
                </a:lnTo>
                <a:lnTo>
                  <a:pt x="2084832" y="996696"/>
                </a:lnTo>
                <a:lnTo>
                  <a:pt x="2100072" y="1033272"/>
                </a:lnTo>
                <a:lnTo>
                  <a:pt x="2109216" y="1072896"/>
                </a:lnTo>
                <a:lnTo>
                  <a:pt x="2112162" y="1112697"/>
                </a:lnTo>
                <a:lnTo>
                  <a:pt x="2103120" y="1114044"/>
                </a:lnTo>
                <a:lnTo>
                  <a:pt x="2103120" y="1123188"/>
                </a:lnTo>
                <a:lnTo>
                  <a:pt x="2103120" y="1175004"/>
                </a:lnTo>
                <a:lnTo>
                  <a:pt x="2087880" y="1190244"/>
                </a:lnTo>
                <a:lnTo>
                  <a:pt x="2087880" y="1216152"/>
                </a:lnTo>
                <a:lnTo>
                  <a:pt x="2072640" y="1229868"/>
                </a:lnTo>
                <a:lnTo>
                  <a:pt x="2057400" y="1266444"/>
                </a:lnTo>
                <a:lnTo>
                  <a:pt x="2042160" y="1277112"/>
                </a:lnTo>
                <a:lnTo>
                  <a:pt x="2042160" y="1289304"/>
                </a:lnTo>
                <a:lnTo>
                  <a:pt x="2026920" y="1299972"/>
                </a:lnTo>
                <a:lnTo>
                  <a:pt x="2011680" y="1319784"/>
                </a:lnTo>
                <a:lnTo>
                  <a:pt x="1981200" y="1338072"/>
                </a:lnTo>
                <a:lnTo>
                  <a:pt x="1965960" y="1354836"/>
                </a:lnTo>
                <a:lnTo>
                  <a:pt x="1950720" y="1362456"/>
                </a:lnTo>
                <a:lnTo>
                  <a:pt x="1931670" y="1370076"/>
                </a:lnTo>
                <a:lnTo>
                  <a:pt x="1950720" y="1370076"/>
                </a:lnTo>
                <a:lnTo>
                  <a:pt x="1965960" y="1362456"/>
                </a:lnTo>
                <a:lnTo>
                  <a:pt x="1996440" y="1345692"/>
                </a:lnTo>
                <a:lnTo>
                  <a:pt x="2011680" y="1327404"/>
                </a:lnTo>
                <a:lnTo>
                  <a:pt x="2042160" y="1295400"/>
                </a:lnTo>
                <a:lnTo>
                  <a:pt x="2072640" y="1271016"/>
                </a:lnTo>
                <a:lnTo>
                  <a:pt x="2087880" y="1246632"/>
                </a:lnTo>
                <a:lnTo>
                  <a:pt x="2103120" y="1205484"/>
                </a:lnTo>
                <a:lnTo>
                  <a:pt x="2103120" y="1178052"/>
                </a:lnTo>
                <a:lnTo>
                  <a:pt x="2118360" y="1147572"/>
                </a:lnTo>
                <a:lnTo>
                  <a:pt x="2118360" y="1120902"/>
                </a:lnTo>
                <a:lnTo>
                  <a:pt x="2164080" y="1114044"/>
                </a:lnTo>
                <a:lnTo>
                  <a:pt x="2179320" y="1106424"/>
                </a:lnTo>
                <a:lnTo>
                  <a:pt x="2209800" y="1098804"/>
                </a:lnTo>
                <a:lnTo>
                  <a:pt x="2225040" y="1089660"/>
                </a:lnTo>
                <a:lnTo>
                  <a:pt x="2270760" y="1068324"/>
                </a:lnTo>
                <a:lnTo>
                  <a:pt x="2286000" y="1054608"/>
                </a:lnTo>
                <a:lnTo>
                  <a:pt x="2301240" y="1043940"/>
                </a:lnTo>
                <a:lnTo>
                  <a:pt x="2331720" y="1019556"/>
                </a:lnTo>
                <a:lnTo>
                  <a:pt x="2346960" y="1005840"/>
                </a:lnTo>
                <a:lnTo>
                  <a:pt x="2362200" y="993648"/>
                </a:lnTo>
                <a:lnTo>
                  <a:pt x="2377440" y="966216"/>
                </a:lnTo>
                <a:lnTo>
                  <a:pt x="2407920" y="935736"/>
                </a:lnTo>
                <a:lnTo>
                  <a:pt x="2423160" y="905256"/>
                </a:lnTo>
                <a:lnTo>
                  <a:pt x="2423160" y="873252"/>
                </a:lnTo>
                <a:lnTo>
                  <a:pt x="2438400" y="858012"/>
                </a:lnTo>
                <a:lnTo>
                  <a:pt x="2438400" y="790956"/>
                </a:lnTo>
                <a:close/>
              </a:path>
              <a:path w="8382000" h="1370329" extrusionOk="0">
                <a:moveTo>
                  <a:pt x="5181600" y="490728"/>
                </a:moveTo>
                <a:lnTo>
                  <a:pt x="5166360" y="521208"/>
                </a:lnTo>
                <a:lnTo>
                  <a:pt x="5166360" y="551688"/>
                </a:lnTo>
                <a:lnTo>
                  <a:pt x="5181600" y="566928"/>
                </a:lnTo>
                <a:lnTo>
                  <a:pt x="5181600" y="490728"/>
                </a:lnTo>
                <a:close/>
              </a:path>
              <a:path w="8382000" h="1370329" extrusionOk="0">
                <a:moveTo>
                  <a:pt x="5212080" y="632460"/>
                </a:moveTo>
                <a:lnTo>
                  <a:pt x="5196840" y="611124"/>
                </a:lnTo>
                <a:lnTo>
                  <a:pt x="5196840" y="597408"/>
                </a:lnTo>
                <a:lnTo>
                  <a:pt x="5181600" y="582168"/>
                </a:lnTo>
                <a:lnTo>
                  <a:pt x="5181600" y="614172"/>
                </a:lnTo>
                <a:lnTo>
                  <a:pt x="5196840" y="635508"/>
                </a:lnTo>
                <a:lnTo>
                  <a:pt x="5210086" y="652729"/>
                </a:lnTo>
                <a:lnTo>
                  <a:pt x="5196840" y="665988"/>
                </a:lnTo>
                <a:lnTo>
                  <a:pt x="5181600" y="682752"/>
                </a:lnTo>
                <a:lnTo>
                  <a:pt x="5166360" y="701040"/>
                </a:lnTo>
                <a:lnTo>
                  <a:pt x="5151120" y="717804"/>
                </a:lnTo>
                <a:lnTo>
                  <a:pt x="5120640" y="790956"/>
                </a:lnTo>
                <a:lnTo>
                  <a:pt x="5105400" y="809244"/>
                </a:lnTo>
                <a:lnTo>
                  <a:pt x="5105400" y="848868"/>
                </a:lnTo>
                <a:lnTo>
                  <a:pt x="5120640" y="830580"/>
                </a:lnTo>
                <a:lnTo>
                  <a:pt x="5120640" y="794004"/>
                </a:lnTo>
                <a:lnTo>
                  <a:pt x="5135880" y="777240"/>
                </a:lnTo>
                <a:lnTo>
                  <a:pt x="5135880" y="758952"/>
                </a:lnTo>
                <a:lnTo>
                  <a:pt x="5151120" y="740664"/>
                </a:lnTo>
                <a:lnTo>
                  <a:pt x="5166360" y="723900"/>
                </a:lnTo>
                <a:lnTo>
                  <a:pt x="5181600" y="690372"/>
                </a:lnTo>
                <a:lnTo>
                  <a:pt x="5212080" y="656844"/>
                </a:lnTo>
                <a:lnTo>
                  <a:pt x="5212080" y="655320"/>
                </a:lnTo>
                <a:lnTo>
                  <a:pt x="5212080" y="650748"/>
                </a:lnTo>
                <a:lnTo>
                  <a:pt x="5212080" y="632460"/>
                </a:lnTo>
                <a:close/>
              </a:path>
              <a:path w="8382000" h="1370329" extrusionOk="0">
                <a:moveTo>
                  <a:pt x="5330952" y="758952"/>
                </a:moveTo>
                <a:lnTo>
                  <a:pt x="5297424" y="734568"/>
                </a:lnTo>
                <a:lnTo>
                  <a:pt x="5282184" y="720852"/>
                </a:lnTo>
                <a:lnTo>
                  <a:pt x="5254752" y="693420"/>
                </a:lnTo>
                <a:lnTo>
                  <a:pt x="5244084" y="678180"/>
                </a:lnTo>
                <a:lnTo>
                  <a:pt x="5231892" y="662940"/>
                </a:lnTo>
                <a:lnTo>
                  <a:pt x="5222748" y="646176"/>
                </a:lnTo>
                <a:lnTo>
                  <a:pt x="5215128" y="652272"/>
                </a:lnTo>
                <a:lnTo>
                  <a:pt x="5224272" y="667512"/>
                </a:lnTo>
                <a:lnTo>
                  <a:pt x="5247132" y="699516"/>
                </a:lnTo>
                <a:lnTo>
                  <a:pt x="5276088" y="728472"/>
                </a:lnTo>
                <a:lnTo>
                  <a:pt x="5308092" y="754380"/>
                </a:lnTo>
                <a:lnTo>
                  <a:pt x="5326380" y="766572"/>
                </a:lnTo>
                <a:lnTo>
                  <a:pt x="5330952" y="758952"/>
                </a:lnTo>
                <a:close/>
              </a:path>
              <a:path w="8382000" h="1370329" extrusionOk="0">
                <a:moveTo>
                  <a:pt x="5486400" y="230124"/>
                </a:moveTo>
                <a:lnTo>
                  <a:pt x="5477256" y="228600"/>
                </a:lnTo>
                <a:lnTo>
                  <a:pt x="5474208" y="240792"/>
                </a:lnTo>
                <a:lnTo>
                  <a:pt x="5471160" y="268224"/>
                </a:lnTo>
                <a:lnTo>
                  <a:pt x="5471160" y="281940"/>
                </a:lnTo>
                <a:lnTo>
                  <a:pt x="5480304" y="281940"/>
                </a:lnTo>
                <a:lnTo>
                  <a:pt x="5481828" y="269748"/>
                </a:lnTo>
                <a:lnTo>
                  <a:pt x="5481828" y="256032"/>
                </a:lnTo>
                <a:lnTo>
                  <a:pt x="5483352" y="243840"/>
                </a:lnTo>
                <a:lnTo>
                  <a:pt x="5486400" y="230124"/>
                </a:lnTo>
                <a:close/>
              </a:path>
              <a:path w="8382000" h="1370329" extrusionOk="0">
                <a:moveTo>
                  <a:pt x="5547360" y="1272540"/>
                </a:moveTo>
                <a:lnTo>
                  <a:pt x="5486400" y="1263396"/>
                </a:lnTo>
                <a:lnTo>
                  <a:pt x="5425440" y="1246632"/>
                </a:lnTo>
                <a:lnTo>
                  <a:pt x="5364480" y="1225296"/>
                </a:lnTo>
                <a:lnTo>
                  <a:pt x="5303520" y="1196340"/>
                </a:lnTo>
                <a:lnTo>
                  <a:pt x="5273040" y="1171956"/>
                </a:lnTo>
                <a:lnTo>
                  <a:pt x="5242560" y="1158240"/>
                </a:lnTo>
                <a:lnTo>
                  <a:pt x="5181600" y="1097280"/>
                </a:lnTo>
                <a:lnTo>
                  <a:pt x="5181600" y="1082040"/>
                </a:lnTo>
                <a:lnTo>
                  <a:pt x="5151120" y="1048512"/>
                </a:lnTo>
                <a:lnTo>
                  <a:pt x="5135880" y="1030224"/>
                </a:lnTo>
                <a:lnTo>
                  <a:pt x="5135880" y="1013460"/>
                </a:lnTo>
                <a:lnTo>
                  <a:pt x="5120640" y="995172"/>
                </a:lnTo>
                <a:lnTo>
                  <a:pt x="5120640" y="978408"/>
                </a:lnTo>
                <a:lnTo>
                  <a:pt x="5105400" y="941832"/>
                </a:lnTo>
                <a:lnTo>
                  <a:pt x="5105400" y="979932"/>
                </a:lnTo>
                <a:lnTo>
                  <a:pt x="5120640" y="998220"/>
                </a:lnTo>
                <a:lnTo>
                  <a:pt x="5120640" y="1016508"/>
                </a:lnTo>
                <a:lnTo>
                  <a:pt x="5151120" y="1053084"/>
                </a:lnTo>
                <a:lnTo>
                  <a:pt x="5151120" y="1069848"/>
                </a:lnTo>
                <a:lnTo>
                  <a:pt x="5196840" y="1120140"/>
                </a:lnTo>
                <a:lnTo>
                  <a:pt x="5227320" y="1150620"/>
                </a:lnTo>
                <a:lnTo>
                  <a:pt x="5242560" y="1164336"/>
                </a:lnTo>
                <a:lnTo>
                  <a:pt x="5257800" y="1179576"/>
                </a:lnTo>
                <a:lnTo>
                  <a:pt x="5288280" y="1191768"/>
                </a:lnTo>
                <a:lnTo>
                  <a:pt x="5303520" y="1205484"/>
                </a:lnTo>
                <a:lnTo>
                  <a:pt x="5364480" y="1232916"/>
                </a:lnTo>
                <a:lnTo>
                  <a:pt x="5379720" y="1245108"/>
                </a:lnTo>
                <a:lnTo>
                  <a:pt x="5410200" y="1255776"/>
                </a:lnTo>
                <a:lnTo>
                  <a:pt x="5440680" y="1264920"/>
                </a:lnTo>
                <a:lnTo>
                  <a:pt x="5486400" y="1272540"/>
                </a:lnTo>
                <a:lnTo>
                  <a:pt x="5516880" y="1278636"/>
                </a:lnTo>
                <a:lnTo>
                  <a:pt x="5547360" y="1283208"/>
                </a:lnTo>
                <a:lnTo>
                  <a:pt x="5547360" y="1272540"/>
                </a:lnTo>
                <a:close/>
              </a:path>
              <a:path w="8382000" h="1370329" extrusionOk="0">
                <a:moveTo>
                  <a:pt x="5571236" y="1370076"/>
                </a:moveTo>
                <a:lnTo>
                  <a:pt x="5562600" y="1344168"/>
                </a:lnTo>
                <a:lnTo>
                  <a:pt x="5547360" y="1310640"/>
                </a:lnTo>
                <a:lnTo>
                  <a:pt x="5547360" y="1345692"/>
                </a:lnTo>
                <a:lnTo>
                  <a:pt x="5562600" y="1362456"/>
                </a:lnTo>
                <a:lnTo>
                  <a:pt x="5562600" y="1370076"/>
                </a:lnTo>
                <a:lnTo>
                  <a:pt x="5571236" y="1370076"/>
                </a:lnTo>
                <a:close/>
              </a:path>
              <a:path w="8382000" h="1370329" extrusionOk="0">
                <a:moveTo>
                  <a:pt x="5801868" y="975360"/>
                </a:moveTo>
                <a:lnTo>
                  <a:pt x="5743956" y="990600"/>
                </a:lnTo>
                <a:lnTo>
                  <a:pt x="5695188" y="1019556"/>
                </a:lnTo>
                <a:lnTo>
                  <a:pt x="5652516" y="1053084"/>
                </a:lnTo>
                <a:lnTo>
                  <a:pt x="5615940" y="1091184"/>
                </a:lnTo>
                <a:lnTo>
                  <a:pt x="5586984" y="1133856"/>
                </a:lnTo>
                <a:lnTo>
                  <a:pt x="5565648" y="1178052"/>
                </a:lnTo>
                <a:lnTo>
                  <a:pt x="5553456" y="1223772"/>
                </a:lnTo>
                <a:lnTo>
                  <a:pt x="5548884" y="1272540"/>
                </a:lnTo>
                <a:lnTo>
                  <a:pt x="5558028" y="1272540"/>
                </a:lnTo>
                <a:lnTo>
                  <a:pt x="5559552" y="1249680"/>
                </a:lnTo>
                <a:lnTo>
                  <a:pt x="5562600" y="1226820"/>
                </a:lnTo>
                <a:lnTo>
                  <a:pt x="5574792" y="1181100"/>
                </a:lnTo>
                <a:lnTo>
                  <a:pt x="5594604" y="1138428"/>
                </a:lnTo>
                <a:lnTo>
                  <a:pt x="5623560" y="1098804"/>
                </a:lnTo>
                <a:lnTo>
                  <a:pt x="5658612" y="1060704"/>
                </a:lnTo>
                <a:lnTo>
                  <a:pt x="5699760" y="1027176"/>
                </a:lnTo>
                <a:lnTo>
                  <a:pt x="5774436" y="986028"/>
                </a:lnTo>
                <a:lnTo>
                  <a:pt x="5801868" y="975360"/>
                </a:lnTo>
                <a:close/>
              </a:path>
              <a:path w="8382000" h="1370329" extrusionOk="0">
                <a:moveTo>
                  <a:pt x="6108700" y="95250"/>
                </a:moveTo>
                <a:lnTo>
                  <a:pt x="6083300" y="79248"/>
                </a:lnTo>
                <a:lnTo>
                  <a:pt x="6057900" y="60960"/>
                </a:lnTo>
                <a:lnTo>
                  <a:pt x="6045200" y="53340"/>
                </a:lnTo>
                <a:lnTo>
                  <a:pt x="6032500" y="44196"/>
                </a:lnTo>
                <a:lnTo>
                  <a:pt x="6007100" y="38100"/>
                </a:lnTo>
                <a:lnTo>
                  <a:pt x="5994400" y="30480"/>
                </a:lnTo>
                <a:lnTo>
                  <a:pt x="5981700" y="25908"/>
                </a:lnTo>
                <a:lnTo>
                  <a:pt x="5969000" y="19812"/>
                </a:lnTo>
                <a:lnTo>
                  <a:pt x="5956300" y="15240"/>
                </a:lnTo>
                <a:lnTo>
                  <a:pt x="5930900" y="12192"/>
                </a:lnTo>
                <a:lnTo>
                  <a:pt x="5918200" y="7620"/>
                </a:lnTo>
                <a:lnTo>
                  <a:pt x="5892800" y="6096"/>
                </a:lnTo>
                <a:lnTo>
                  <a:pt x="5880100" y="3048"/>
                </a:lnTo>
                <a:lnTo>
                  <a:pt x="5854700" y="1524"/>
                </a:lnTo>
                <a:lnTo>
                  <a:pt x="5816600" y="1524"/>
                </a:lnTo>
                <a:lnTo>
                  <a:pt x="5778500" y="3048"/>
                </a:lnTo>
                <a:lnTo>
                  <a:pt x="5740400" y="9144"/>
                </a:lnTo>
                <a:lnTo>
                  <a:pt x="5689600" y="22860"/>
                </a:lnTo>
                <a:lnTo>
                  <a:pt x="5651500" y="35052"/>
                </a:lnTo>
                <a:lnTo>
                  <a:pt x="5600700" y="57912"/>
                </a:lnTo>
                <a:lnTo>
                  <a:pt x="5575300" y="83820"/>
                </a:lnTo>
                <a:lnTo>
                  <a:pt x="5537200" y="102108"/>
                </a:lnTo>
                <a:lnTo>
                  <a:pt x="5524500" y="121920"/>
                </a:lnTo>
                <a:lnTo>
                  <a:pt x="5511800" y="132588"/>
                </a:lnTo>
                <a:lnTo>
                  <a:pt x="5511800" y="141732"/>
                </a:lnTo>
                <a:lnTo>
                  <a:pt x="5499100" y="152400"/>
                </a:lnTo>
                <a:lnTo>
                  <a:pt x="5499100" y="164592"/>
                </a:lnTo>
                <a:lnTo>
                  <a:pt x="5473700" y="175260"/>
                </a:lnTo>
                <a:lnTo>
                  <a:pt x="5473700" y="198120"/>
                </a:lnTo>
                <a:lnTo>
                  <a:pt x="5461000" y="210312"/>
                </a:lnTo>
                <a:lnTo>
                  <a:pt x="5461000" y="230124"/>
                </a:lnTo>
                <a:lnTo>
                  <a:pt x="5448300" y="234696"/>
                </a:lnTo>
                <a:lnTo>
                  <a:pt x="5397500" y="246888"/>
                </a:lnTo>
                <a:lnTo>
                  <a:pt x="5384800" y="252984"/>
                </a:lnTo>
                <a:lnTo>
                  <a:pt x="5359400" y="268224"/>
                </a:lnTo>
                <a:lnTo>
                  <a:pt x="5308600" y="295656"/>
                </a:lnTo>
                <a:lnTo>
                  <a:pt x="5270500" y="327660"/>
                </a:lnTo>
                <a:lnTo>
                  <a:pt x="5245100" y="339852"/>
                </a:lnTo>
                <a:lnTo>
                  <a:pt x="5232400" y="350520"/>
                </a:lnTo>
                <a:lnTo>
                  <a:pt x="5232400" y="364236"/>
                </a:lnTo>
                <a:lnTo>
                  <a:pt x="5219700" y="376428"/>
                </a:lnTo>
                <a:lnTo>
                  <a:pt x="5207000" y="390144"/>
                </a:lnTo>
                <a:lnTo>
                  <a:pt x="5194300" y="431292"/>
                </a:lnTo>
                <a:lnTo>
                  <a:pt x="5181600" y="445008"/>
                </a:lnTo>
                <a:lnTo>
                  <a:pt x="5181600" y="478536"/>
                </a:lnTo>
                <a:lnTo>
                  <a:pt x="5194300" y="463296"/>
                </a:lnTo>
                <a:lnTo>
                  <a:pt x="5194300" y="449580"/>
                </a:lnTo>
                <a:lnTo>
                  <a:pt x="5219700" y="394716"/>
                </a:lnTo>
                <a:lnTo>
                  <a:pt x="5219700" y="382524"/>
                </a:lnTo>
                <a:lnTo>
                  <a:pt x="5270500" y="345948"/>
                </a:lnTo>
                <a:lnTo>
                  <a:pt x="5270500" y="335280"/>
                </a:lnTo>
                <a:lnTo>
                  <a:pt x="5308600" y="303276"/>
                </a:lnTo>
                <a:lnTo>
                  <a:pt x="5346700" y="284988"/>
                </a:lnTo>
                <a:lnTo>
                  <a:pt x="5384800" y="262128"/>
                </a:lnTo>
                <a:lnTo>
                  <a:pt x="5435600" y="249936"/>
                </a:lnTo>
                <a:lnTo>
                  <a:pt x="5448300" y="243840"/>
                </a:lnTo>
                <a:lnTo>
                  <a:pt x="5461000" y="239268"/>
                </a:lnTo>
                <a:lnTo>
                  <a:pt x="5473700" y="236220"/>
                </a:lnTo>
                <a:lnTo>
                  <a:pt x="5473700" y="202692"/>
                </a:lnTo>
                <a:lnTo>
                  <a:pt x="5499100" y="190500"/>
                </a:lnTo>
                <a:lnTo>
                  <a:pt x="5499100" y="169164"/>
                </a:lnTo>
                <a:lnTo>
                  <a:pt x="5511800" y="158496"/>
                </a:lnTo>
                <a:lnTo>
                  <a:pt x="5511800" y="147828"/>
                </a:lnTo>
                <a:lnTo>
                  <a:pt x="5524500" y="138684"/>
                </a:lnTo>
                <a:lnTo>
                  <a:pt x="5524500" y="128016"/>
                </a:lnTo>
                <a:lnTo>
                  <a:pt x="5575300" y="91440"/>
                </a:lnTo>
                <a:lnTo>
                  <a:pt x="5600700" y="76200"/>
                </a:lnTo>
                <a:lnTo>
                  <a:pt x="5613400" y="67056"/>
                </a:lnTo>
                <a:lnTo>
                  <a:pt x="5664200" y="44196"/>
                </a:lnTo>
                <a:lnTo>
                  <a:pt x="5689600" y="32004"/>
                </a:lnTo>
                <a:lnTo>
                  <a:pt x="5765800" y="13716"/>
                </a:lnTo>
                <a:lnTo>
                  <a:pt x="5778500" y="12192"/>
                </a:lnTo>
                <a:lnTo>
                  <a:pt x="5816600" y="10668"/>
                </a:lnTo>
                <a:lnTo>
                  <a:pt x="5854700" y="10668"/>
                </a:lnTo>
                <a:lnTo>
                  <a:pt x="5880100" y="12192"/>
                </a:lnTo>
                <a:lnTo>
                  <a:pt x="5892800" y="15240"/>
                </a:lnTo>
                <a:lnTo>
                  <a:pt x="5905500" y="16764"/>
                </a:lnTo>
                <a:lnTo>
                  <a:pt x="5930900" y="21336"/>
                </a:lnTo>
                <a:lnTo>
                  <a:pt x="5956300" y="24384"/>
                </a:lnTo>
                <a:lnTo>
                  <a:pt x="5981700" y="33528"/>
                </a:lnTo>
                <a:lnTo>
                  <a:pt x="6007100" y="45720"/>
                </a:lnTo>
                <a:lnTo>
                  <a:pt x="6057900" y="68580"/>
                </a:lnTo>
                <a:lnTo>
                  <a:pt x="6083300" y="86868"/>
                </a:lnTo>
                <a:lnTo>
                  <a:pt x="6083300" y="97536"/>
                </a:lnTo>
                <a:lnTo>
                  <a:pt x="6108700" y="108204"/>
                </a:lnTo>
                <a:lnTo>
                  <a:pt x="6108700" y="100584"/>
                </a:lnTo>
                <a:lnTo>
                  <a:pt x="6108700" y="95250"/>
                </a:lnTo>
                <a:close/>
              </a:path>
              <a:path w="8382000" h="1370329" extrusionOk="0">
                <a:moveTo>
                  <a:pt x="8089900" y="489204"/>
                </a:moveTo>
                <a:lnTo>
                  <a:pt x="8064500" y="470916"/>
                </a:lnTo>
                <a:lnTo>
                  <a:pt x="8064500" y="432816"/>
                </a:lnTo>
                <a:lnTo>
                  <a:pt x="8051800" y="416052"/>
                </a:lnTo>
                <a:lnTo>
                  <a:pt x="8039100" y="397764"/>
                </a:lnTo>
                <a:lnTo>
                  <a:pt x="8039100" y="381000"/>
                </a:lnTo>
                <a:lnTo>
                  <a:pt x="8013700" y="347472"/>
                </a:lnTo>
                <a:lnTo>
                  <a:pt x="7962900" y="301752"/>
                </a:lnTo>
                <a:lnTo>
                  <a:pt x="7912100" y="260604"/>
                </a:lnTo>
                <a:lnTo>
                  <a:pt x="7899400" y="248412"/>
                </a:lnTo>
                <a:lnTo>
                  <a:pt x="7874000" y="237744"/>
                </a:lnTo>
                <a:lnTo>
                  <a:pt x="7861300" y="225552"/>
                </a:lnTo>
                <a:lnTo>
                  <a:pt x="7810500" y="207264"/>
                </a:lnTo>
                <a:lnTo>
                  <a:pt x="7797800" y="198120"/>
                </a:lnTo>
                <a:lnTo>
                  <a:pt x="7759700" y="190500"/>
                </a:lnTo>
                <a:lnTo>
                  <a:pt x="7747000" y="182880"/>
                </a:lnTo>
                <a:lnTo>
                  <a:pt x="7670800" y="167640"/>
                </a:lnTo>
                <a:lnTo>
                  <a:pt x="7645400" y="164592"/>
                </a:lnTo>
                <a:lnTo>
                  <a:pt x="7594600" y="161544"/>
                </a:lnTo>
                <a:lnTo>
                  <a:pt x="7556500" y="161544"/>
                </a:lnTo>
                <a:lnTo>
                  <a:pt x="7493000" y="166116"/>
                </a:lnTo>
                <a:lnTo>
                  <a:pt x="7442200" y="172212"/>
                </a:lnTo>
                <a:lnTo>
                  <a:pt x="7353300" y="199644"/>
                </a:lnTo>
                <a:lnTo>
                  <a:pt x="7327900" y="207264"/>
                </a:lnTo>
                <a:lnTo>
                  <a:pt x="7315200" y="210527"/>
                </a:lnTo>
                <a:lnTo>
                  <a:pt x="7289800" y="188976"/>
                </a:lnTo>
                <a:lnTo>
                  <a:pt x="7277100" y="164592"/>
                </a:lnTo>
                <a:lnTo>
                  <a:pt x="7264400" y="152400"/>
                </a:lnTo>
                <a:lnTo>
                  <a:pt x="7213600" y="120396"/>
                </a:lnTo>
                <a:lnTo>
                  <a:pt x="7200900" y="111252"/>
                </a:lnTo>
                <a:lnTo>
                  <a:pt x="7188200" y="103632"/>
                </a:lnTo>
                <a:lnTo>
                  <a:pt x="7175500" y="94488"/>
                </a:lnTo>
                <a:lnTo>
                  <a:pt x="7137400" y="88392"/>
                </a:lnTo>
                <a:lnTo>
                  <a:pt x="7124700" y="80772"/>
                </a:lnTo>
                <a:lnTo>
                  <a:pt x="7112000" y="74676"/>
                </a:lnTo>
                <a:lnTo>
                  <a:pt x="7073900" y="65532"/>
                </a:lnTo>
                <a:lnTo>
                  <a:pt x="7048500" y="60960"/>
                </a:lnTo>
                <a:lnTo>
                  <a:pt x="7023100" y="54864"/>
                </a:lnTo>
                <a:lnTo>
                  <a:pt x="6972300" y="51816"/>
                </a:lnTo>
                <a:lnTo>
                  <a:pt x="6908800" y="51816"/>
                </a:lnTo>
                <a:lnTo>
                  <a:pt x="6896100" y="54864"/>
                </a:lnTo>
                <a:lnTo>
                  <a:pt x="6883400" y="56388"/>
                </a:lnTo>
                <a:lnTo>
                  <a:pt x="6819900" y="68580"/>
                </a:lnTo>
                <a:lnTo>
                  <a:pt x="6794500" y="80772"/>
                </a:lnTo>
                <a:lnTo>
                  <a:pt x="6756400" y="88392"/>
                </a:lnTo>
                <a:lnTo>
                  <a:pt x="6743700" y="99060"/>
                </a:lnTo>
                <a:lnTo>
                  <a:pt x="6718300" y="111252"/>
                </a:lnTo>
                <a:lnTo>
                  <a:pt x="6692900" y="124968"/>
                </a:lnTo>
                <a:lnTo>
                  <a:pt x="6667500" y="140208"/>
                </a:lnTo>
                <a:lnTo>
                  <a:pt x="6667500" y="131064"/>
                </a:lnTo>
                <a:lnTo>
                  <a:pt x="6654800" y="118872"/>
                </a:lnTo>
                <a:lnTo>
                  <a:pt x="6642100" y="97536"/>
                </a:lnTo>
                <a:lnTo>
                  <a:pt x="6616700" y="88392"/>
                </a:lnTo>
                <a:lnTo>
                  <a:pt x="6616700" y="79248"/>
                </a:lnTo>
                <a:lnTo>
                  <a:pt x="6565900" y="47244"/>
                </a:lnTo>
                <a:lnTo>
                  <a:pt x="6515100" y="22860"/>
                </a:lnTo>
                <a:lnTo>
                  <a:pt x="6438900" y="4572"/>
                </a:lnTo>
                <a:lnTo>
                  <a:pt x="6388100" y="0"/>
                </a:lnTo>
                <a:lnTo>
                  <a:pt x="6362700" y="0"/>
                </a:lnTo>
                <a:lnTo>
                  <a:pt x="6350000" y="1524"/>
                </a:lnTo>
                <a:lnTo>
                  <a:pt x="6337300" y="1524"/>
                </a:lnTo>
                <a:lnTo>
                  <a:pt x="6311900" y="3048"/>
                </a:lnTo>
                <a:lnTo>
                  <a:pt x="6235700" y="21336"/>
                </a:lnTo>
                <a:lnTo>
                  <a:pt x="6210300" y="33528"/>
                </a:lnTo>
                <a:lnTo>
                  <a:pt x="6197600" y="41148"/>
                </a:lnTo>
                <a:lnTo>
                  <a:pt x="6146800" y="68580"/>
                </a:lnTo>
                <a:lnTo>
                  <a:pt x="6108700" y="95250"/>
                </a:lnTo>
                <a:lnTo>
                  <a:pt x="6121400" y="100584"/>
                </a:lnTo>
                <a:lnTo>
                  <a:pt x="6121400" y="108204"/>
                </a:lnTo>
                <a:lnTo>
                  <a:pt x="6155436" y="134112"/>
                </a:lnTo>
                <a:lnTo>
                  <a:pt x="6179820" y="169164"/>
                </a:lnTo>
                <a:lnTo>
                  <a:pt x="6187440" y="164592"/>
                </a:lnTo>
                <a:lnTo>
                  <a:pt x="6163056" y="128016"/>
                </a:lnTo>
                <a:lnTo>
                  <a:pt x="6147816" y="111252"/>
                </a:lnTo>
                <a:lnTo>
                  <a:pt x="6133312" y="96761"/>
                </a:lnTo>
                <a:lnTo>
                  <a:pt x="6134100" y="96012"/>
                </a:lnTo>
                <a:lnTo>
                  <a:pt x="6134100" y="86868"/>
                </a:lnTo>
                <a:lnTo>
                  <a:pt x="6146800" y="76200"/>
                </a:lnTo>
                <a:lnTo>
                  <a:pt x="6184900" y="57912"/>
                </a:lnTo>
                <a:lnTo>
                  <a:pt x="6210300" y="42672"/>
                </a:lnTo>
                <a:lnTo>
                  <a:pt x="6235700" y="30480"/>
                </a:lnTo>
                <a:lnTo>
                  <a:pt x="6299200" y="15240"/>
                </a:lnTo>
                <a:lnTo>
                  <a:pt x="6350000" y="10668"/>
                </a:lnTo>
                <a:lnTo>
                  <a:pt x="6413500" y="10668"/>
                </a:lnTo>
                <a:lnTo>
                  <a:pt x="6438900" y="13716"/>
                </a:lnTo>
                <a:lnTo>
                  <a:pt x="6489700" y="22860"/>
                </a:lnTo>
                <a:lnTo>
                  <a:pt x="6515100" y="32004"/>
                </a:lnTo>
                <a:lnTo>
                  <a:pt x="6527800" y="42672"/>
                </a:lnTo>
                <a:lnTo>
                  <a:pt x="6565900" y="54864"/>
                </a:lnTo>
                <a:lnTo>
                  <a:pt x="6591300" y="70104"/>
                </a:lnTo>
                <a:lnTo>
                  <a:pt x="6604000" y="86868"/>
                </a:lnTo>
                <a:lnTo>
                  <a:pt x="6642100" y="114300"/>
                </a:lnTo>
                <a:lnTo>
                  <a:pt x="6654800" y="124968"/>
                </a:lnTo>
                <a:lnTo>
                  <a:pt x="6654800" y="135636"/>
                </a:lnTo>
                <a:lnTo>
                  <a:pt x="6667500" y="147828"/>
                </a:lnTo>
                <a:lnTo>
                  <a:pt x="6682740" y="139598"/>
                </a:lnTo>
                <a:lnTo>
                  <a:pt x="6678168" y="143256"/>
                </a:lnTo>
                <a:lnTo>
                  <a:pt x="6687312" y="156972"/>
                </a:lnTo>
                <a:lnTo>
                  <a:pt x="6693408" y="170688"/>
                </a:lnTo>
                <a:lnTo>
                  <a:pt x="6705600" y="201168"/>
                </a:lnTo>
                <a:lnTo>
                  <a:pt x="6714744" y="198120"/>
                </a:lnTo>
                <a:lnTo>
                  <a:pt x="6702552" y="167640"/>
                </a:lnTo>
                <a:lnTo>
                  <a:pt x="6694932" y="152400"/>
                </a:lnTo>
                <a:lnTo>
                  <a:pt x="6686143" y="137769"/>
                </a:lnTo>
                <a:lnTo>
                  <a:pt x="6718300" y="120396"/>
                </a:lnTo>
                <a:lnTo>
                  <a:pt x="6819900" y="77724"/>
                </a:lnTo>
                <a:lnTo>
                  <a:pt x="6883400" y="65532"/>
                </a:lnTo>
                <a:lnTo>
                  <a:pt x="6946900" y="60960"/>
                </a:lnTo>
                <a:lnTo>
                  <a:pt x="6972300" y="60960"/>
                </a:lnTo>
                <a:lnTo>
                  <a:pt x="7023100" y="64008"/>
                </a:lnTo>
                <a:lnTo>
                  <a:pt x="7048500" y="70104"/>
                </a:lnTo>
                <a:lnTo>
                  <a:pt x="7112000" y="83820"/>
                </a:lnTo>
                <a:lnTo>
                  <a:pt x="7137400" y="96012"/>
                </a:lnTo>
                <a:lnTo>
                  <a:pt x="7175500" y="111252"/>
                </a:lnTo>
                <a:lnTo>
                  <a:pt x="7213600" y="138684"/>
                </a:lnTo>
                <a:lnTo>
                  <a:pt x="7264400" y="170688"/>
                </a:lnTo>
                <a:lnTo>
                  <a:pt x="7289800" y="195072"/>
                </a:lnTo>
                <a:lnTo>
                  <a:pt x="7302500" y="222504"/>
                </a:lnTo>
                <a:lnTo>
                  <a:pt x="7302500" y="224028"/>
                </a:lnTo>
                <a:lnTo>
                  <a:pt x="7306691" y="223189"/>
                </a:lnTo>
                <a:lnTo>
                  <a:pt x="7298436" y="227076"/>
                </a:lnTo>
                <a:lnTo>
                  <a:pt x="7272528" y="240792"/>
                </a:lnTo>
                <a:lnTo>
                  <a:pt x="7248144" y="256032"/>
                </a:lnTo>
                <a:lnTo>
                  <a:pt x="7225284" y="272796"/>
                </a:lnTo>
                <a:lnTo>
                  <a:pt x="7231380" y="280416"/>
                </a:lnTo>
                <a:lnTo>
                  <a:pt x="7254240" y="263652"/>
                </a:lnTo>
                <a:lnTo>
                  <a:pt x="7277100" y="249936"/>
                </a:lnTo>
                <a:lnTo>
                  <a:pt x="7303008" y="236220"/>
                </a:lnTo>
                <a:lnTo>
                  <a:pt x="7328916" y="224028"/>
                </a:lnTo>
                <a:lnTo>
                  <a:pt x="7326503" y="219227"/>
                </a:lnTo>
                <a:lnTo>
                  <a:pt x="7327900" y="218948"/>
                </a:lnTo>
                <a:lnTo>
                  <a:pt x="7353300" y="208788"/>
                </a:lnTo>
                <a:lnTo>
                  <a:pt x="7442200" y="181356"/>
                </a:lnTo>
                <a:lnTo>
                  <a:pt x="7480300" y="178308"/>
                </a:lnTo>
                <a:lnTo>
                  <a:pt x="7493000" y="175260"/>
                </a:lnTo>
                <a:lnTo>
                  <a:pt x="7556500" y="170688"/>
                </a:lnTo>
                <a:lnTo>
                  <a:pt x="7594600" y="170688"/>
                </a:lnTo>
                <a:lnTo>
                  <a:pt x="7645400" y="173736"/>
                </a:lnTo>
                <a:lnTo>
                  <a:pt x="7658100" y="176784"/>
                </a:lnTo>
                <a:lnTo>
                  <a:pt x="7721600" y="185928"/>
                </a:lnTo>
                <a:lnTo>
                  <a:pt x="7734300" y="192024"/>
                </a:lnTo>
                <a:lnTo>
                  <a:pt x="7810500" y="214884"/>
                </a:lnTo>
                <a:lnTo>
                  <a:pt x="7823200" y="224028"/>
                </a:lnTo>
                <a:lnTo>
                  <a:pt x="7861300" y="234696"/>
                </a:lnTo>
                <a:lnTo>
                  <a:pt x="7886700" y="256032"/>
                </a:lnTo>
                <a:lnTo>
                  <a:pt x="7899400" y="268224"/>
                </a:lnTo>
                <a:lnTo>
                  <a:pt x="7937500" y="281940"/>
                </a:lnTo>
                <a:lnTo>
                  <a:pt x="7950200" y="294132"/>
                </a:lnTo>
                <a:lnTo>
                  <a:pt x="7962900" y="307848"/>
                </a:lnTo>
                <a:lnTo>
                  <a:pt x="8013700" y="353568"/>
                </a:lnTo>
                <a:lnTo>
                  <a:pt x="8013700" y="368808"/>
                </a:lnTo>
                <a:lnTo>
                  <a:pt x="8039100" y="402336"/>
                </a:lnTo>
                <a:lnTo>
                  <a:pt x="8039100" y="419100"/>
                </a:lnTo>
                <a:lnTo>
                  <a:pt x="8051800" y="437388"/>
                </a:lnTo>
                <a:lnTo>
                  <a:pt x="8051800" y="454152"/>
                </a:lnTo>
                <a:lnTo>
                  <a:pt x="8064500" y="472440"/>
                </a:lnTo>
                <a:lnTo>
                  <a:pt x="8064500" y="492252"/>
                </a:lnTo>
                <a:lnTo>
                  <a:pt x="8089900" y="528828"/>
                </a:lnTo>
                <a:lnTo>
                  <a:pt x="8089900" y="489204"/>
                </a:lnTo>
                <a:close/>
              </a:path>
              <a:path w="8382000" h="1370329" extrusionOk="0">
                <a:moveTo>
                  <a:pt x="8305800" y="1304544"/>
                </a:moveTo>
                <a:lnTo>
                  <a:pt x="8290560" y="1328928"/>
                </a:lnTo>
                <a:lnTo>
                  <a:pt x="8290560" y="1339596"/>
                </a:lnTo>
                <a:lnTo>
                  <a:pt x="8275320" y="1351788"/>
                </a:lnTo>
                <a:lnTo>
                  <a:pt x="8262252" y="1370076"/>
                </a:lnTo>
                <a:lnTo>
                  <a:pt x="8275320" y="1370076"/>
                </a:lnTo>
                <a:lnTo>
                  <a:pt x="8275320" y="1367028"/>
                </a:lnTo>
                <a:lnTo>
                  <a:pt x="8290560" y="1356360"/>
                </a:lnTo>
                <a:lnTo>
                  <a:pt x="8290560" y="1344168"/>
                </a:lnTo>
                <a:lnTo>
                  <a:pt x="8305800" y="1333500"/>
                </a:lnTo>
                <a:lnTo>
                  <a:pt x="8305800" y="1304544"/>
                </a:lnTo>
                <a:close/>
              </a:path>
              <a:path w="8382000" h="1370329" extrusionOk="0">
                <a:moveTo>
                  <a:pt x="8321040" y="1225296"/>
                </a:moveTo>
                <a:lnTo>
                  <a:pt x="8305800" y="1211580"/>
                </a:lnTo>
                <a:lnTo>
                  <a:pt x="8305800" y="1295400"/>
                </a:lnTo>
                <a:lnTo>
                  <a:pt x="8321040" y="1281684"/>
                </a:lnTo>
                <a:lnTo>
                  <a:pt x="8321040" y="1225296"/>
                </a:lnTo>
                <a:close/>
              </a:path>
              <a:path w="8382000" h="1370329" extrusionOk="0">
                <a:moveTo>
                  <a:pt x="8366760" y="947928"/>
                </a:moveTo>
                <a:lnTo>
                  <a:pt x="8351520" y="958596"/>
                </a:lnTo>
                <a:lnTo>
                  <a:pt x="8351520" y="969264"/>
                </a:lnTo>
                <a:lnTo>
                  <a:pt x="8336280" y="979932"/>
                </a:lnTo>
                <a:lnTo>
                  <a:pt x="8336280" y="990600"/>
                </a:lnTo>
                <a:lnTo>
                  <a:pt x="8321040" y="1001268"/>
                </a:lnTo>
                <a:lnTo>
                  <a:pt x="8321040" y="1010412"/>
                </a:lnTo>
                <a:lnTo>
                  <a:pt x="8305800" y="1021080"/>
                </a:lnTo>
                <a:lnTo>
                  <a:pt x="8290560" y="1030224"/>
                </a:lnTo>
                <a:lnTo>
                  <a:pt x="8290560" y="1037844"/>
                </a:lnTo>
                <a:lnTo>
                  <a:pt x="8275320" y="1046988"/>
                </a:lnTo>
                <a:lnTo>
                  <a:pt x="8229600" y="1069848"/>
                </a:lnTo>
                <a:lnTo>
                  <a:pt x="8224342" y="1071956"/>
                </a:lnTo>
                <a:lnTo>
                  <a:pt x="8223504" y="1069848"/>
                </a:lnTo>
                <a:lnTo>
                  <a:pt x="8200644" y="1077468"/>
                </a:lnTo>
                <a:lnTo>
                  <a:pt x="8179308" y="1086612"/>
                </a:lnTo>
                <a:lnTo>
                  <a:pt x="8154924" y="1092708"/>
                </a:lnTo>
                <a:lnTo>
                  <a:pt x="8132064" y="1097280"/>
                </a:lnTo>
                <a:lnTo>
                  <a:pt x="8083296" y="1103376"/>
                </a:lnTo>
                <a:lnTo>
                  <a:pt x="8033004" y="1103376"/>
                </a:lnTo>
                <a:lnTo>
                  <a:pt x="8033004" y="1112520"/>
                </a:lnTo>
                <a:lnTo>
                  <a:pt x="8083296" y="1112520"/>
                </a:lnTo>
                <a:lnTo>
                  <a:pt x="8107680" y="1109472"/>
                </a:lnTo>
                <a:lnTo>
                  <a:pt x="8133588" y="1106424"/>
                </a:lnTo>
                <a:lnTo>
                  <a:pt x="8157972" y="1101852"/>
                </a:lnTo>
                <a:lnTo>
                  <a:pt x="8180832" y="1095756"/>
                </a:lnTo>
                <a:lnTo>
                  <a:pt x="8214360" y="1082344"/>
                </a:lnTo>
                <a:lnTo>
                  <a:pt x="8214360" y="1085088"/>
                </a:lnTo>
                <a:lnTo>
                  <a:pt x="8229600" y="1094232"/>
                </a:lnTo>
                <a:lnTo>
                  <a:pt x="8244840" y="1115568"/>
                </a:lnTo>
                <a:lnTo>
                  <a:pt x="8260080" y="1127760"/>
                </a:lnTo>
                <a:lnTo>
                  <a:pt x="8275320" y="1138428"/>
                </a:lnTo>
                <a:lnTo>
                  <a:pt x="8275320" y="1150620"/>
                </a:lnTo>
                <a:lnTo>
                  <a:pt x="8290560" y="1175004"/>
                </a:lnTo>
                <a:lnTo>
                  <a:pt x="8290560" y="1188720"/>
                </a:lnTo>
                <a:lnTo>
                  <a:pt x="8305800" y="1200912"/>
                </a:lnTo>
                <a:lnTo>
                  <a:pt x="8305800" y="1171956"/>
                </a:lnTo>
                <a:lnTo>
                  <a:pt x="8290560" y="1158240"/>
                </a:lnTo>
                <a:lnTo>
                  <a:pt x="8260080" y="1109472"/>
                </a:lnTo>
                <a:lnTo>
                  <a:pt x="8244840" y="1098804"/>
                </a:lnTo>
                <a:lnTo>
                  <a:pt x="8233829" y="1083386"/>
                </a:lnTo>
                <a:lnTo>
                  <a:pt x="8244840" y="1078992"/>
                </a:lnTo>
                <a:lnTo>
                  <a:pt x="8244840" y="1071372"/>
                </a:lnTo>
                <a:lnTo>
                  <a:pt x="8260080" y="1062228"/>
                </a:lnTo>
                <a:lnTo>
                  <a:pt x="8275320" y="1054608"/>
                </a:lnTo>
                <a:lnTo>
                  <a:pt x="8305800" y="1036320"/>
                </a:lnTo>
                <a:lnTo>
                  <a:pt x="8321040" y="1018032"/>
                </a:lnTo>
                <a:lnTo>
                  <a:pt x="8336280" y="1007364"/>
                </a:lnTo>
                <a:lnTo>
                  <a:pt x="8336280" y="996696"/>
                </a:lnTo>
                <a:lnTo>
                  <a:pt x="8351520" y="986028"/>
                </a:lnTo>
                <a:lnTo>
                  <a:pt x="8351520" y="975360"/>
                </a:lnTo>
                <a:lnTo>
                  <a:pt x="8366760" y="964692"/>
                </a:lnTo>
                <a:lnTo>
                  <a:pt x="8366760" y="947928"/>
                </a:lnTo>
                <a:close/>
              </a:path>
              <a:path w="8382000" h="1370329" extrusionOk="0">
                <a:moveTo>
                  <a:pt x="8382000" y="902208"/>
                </a:moveTo>
                <a:lnTo>
                  <a:pt x="8366760" y="914400"/>
                </a:lnTo>
                <a:lnTo>
                  <a:pt x="8366760" y="940308"/>
                </a:lnTo>
                <a:lnTo>
                  <a:pt x="8382000" y="929640"/>
                </a:lnTo>
                <a:lnTo>
                  <a:pt x="8382000" y="902208"/>
                </a:lnTo>
                <a:close/>
              </a:path>
              <a:path w="8382000" h="1370329" extrusionOk="0">
                <a:moveTo>
                  <a:pt x="8382000" y="794004"/>
                </a:moveTo>
                <a:lnTo>
                  <a:pt x="8366760" y="780288"/>
                </a:lnTo>
                <a:lnTo>
                  <a:pt x="8366760" y="757428"/>
                </a:lnTo>
                <a:lnTo>
                  <a:pt x="8336280" y="733044"/>
                </a:lnTo>
                <a:lnTo>
                  <a:pt x="8305800" y="696468"/>
                </a:lnTo>
                <a:lnTo>
                  <a:pt x="8229600" y="647700"/>
                </a:lnTo>
                <a:lnTo>
                  <a:pt x="8183880" y="626364"/>
                </a:lnTo>
                <a:lnTo>
                  <a:pt x="8122920" y="612648"/>
                </a:lnTo>
                <a:lnTo>
                  <a:pt x="8107680" y="611124"/>
                </a:lnTo>
                <a:lnTo>
                  <a:pt x="8096834" y="608965"/>
                </a:lnTo>
                <a:lnTo>
                  <a:pt x="8097012" y="608076"/>
                </a:lnTo>
                <a:lnTo>
                  <a:pt x="8092440" y="607314"/>
                </a:lnTo>
                <a:lnTo>
                  <a:pt x="8092440" y="566928"/>
                </a:lnTo>
                <a:lnTo>
                  <a:pt x="8077200" y="586740"/>
                </a:lnTo>
                <a:lnTo>
                  <a:pt x="8077200" y="615696"/>
                </a:lnTo>
                <a:lnTo>
                  <a:pt x="8085696" y="617397"/>
                </a:lnTo>
                <a:lnTo>
                  <a:pt x="8081772" y="637032"/>
                </a:lnTo>
                <a:lnTo>
                  <a:pt x="8077200" y="650748"/>
                </a:lnTo>
                <a:lnTo>
                  <a:pt x="8071104" y="665988"/>
                </a:lnTo>
                <a:lnTo>
                  <a:pt x="8080248" y="669036"/>
                </a:lnTo>
                <a:lnTo>
                  <a:pt x="8086344" y="655320"/>
                </a:lnTo>
                <a:lnTo>
                  <a:pt x="8090916" y="640080"/>
                </a:lnTo>
                <a:lnTo>
                  <a:pt x="8093964" y="623316"/>
                </a:lnTo>
                <a:lnTo>
                  <a:pt x="8094827" y="618985"/>
                </a:lnTo>
                <a:lnTo>
                  <a:pt x="8183880" y="635508"/>
                </a:lnTo>
                <a:lnTo>
                  <a:pt x="8244840" y="664464"/>
                </a:lnTo>
                <a:lnTo>
                  <a:pt x="8321040" y="714756"/>
                </a:lnTo>
                <a:lnTo>
                  <a:pt x="8336280" y="739140"/>
                </a:lnTo>
                <a:lnTo>
                  <a:pt x="8336280" y="749808"/>
                </a:lnTo>
                <a:lnTo>
                  <a:pt x="8351520" y="762000"/>
                </a:lnTo>
                <a:lnTo>
                  <a:pt x="8351520" y="772668"/>
                </a:lnTo>
                <a:lnTo>
                  <a:pt x="8366760" y="784860"/>
                </a:lnTo>
                <a:lnTo>
                  <a:pt x="8366760" y="807720"/>
                </a:lnTo>
                <a:lnTo>
                  <a:pt x="8382000" y="819912"/>
                </a:lnTo>
                <a:lnTo>
                  <a:pt x="8382000" y="7940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 txBox="1">
            <a:spLocks noGrp="1"/>
          </p:cNvSpPr>
          <p:nvPr>
            <p:ph type="title"/>
          </p:nvPr>
        </p:nvSpPr>
        <p:spPr>
          <a:xfrm>
            <a:off x="3665208" y="435348"/>
            <a:ext cx="5062473" cy="87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Conhecimento</a:t>
            </a:r>
            <a:r>
              <a:rPr lang="en-US" dirty="0"/>
              <a:t> de </a:t>
            </a:r>
            <a:r>
              <a:rPr lang="en-US" dirty="0" err="1"/>
              <a:t>psicologia</a:t>
            </a:r>
            <a:r>
              <a:rPr lang="en-US" dirty="0"/>
              <a:t> </a:t>
            </a:r>
            <a:r>
              <a:rPr lang="en-US" dirty="0" err="1"/>
              <a:t>cognitiva</a:t>
            </a:r>
            <a:r>
              <a:rPr lang="en-US" dirty="0"/>
              <a:t> para IHC</a:t>
            </a:r>
            <a:endParaRPr dirty="0"/>
          </a:p>
        </p:txBody>
      </p:sp>
      <p:sp>
        <p:nvSpPr>
          <p:cNvPr id="68" name="Google Shape;68;p3"/>
          <p:cNvSpPr txBox="1"/>
          <p:nvPr/>
        </p:nvSpPr>
        <p:spPr>
          <a:xfrm>
            <a:off x="1320672" y="1642363"/>
            <a:ext cx="747331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Cognição: o que se passa na mente do usuário enquanto realiza suas atividades?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811400" y="2594863"/>
            <a:ext cx="1383625" cy="123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-1904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perceber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…</a:t>
            </a:r>
          </a:p>
          <a:p>
            <a:pPr marL="12700" marR="5080" lvl="0" indent="-1904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pensar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...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lembrar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...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aprender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...</a:t>
            </a:r>
            <a:endParaRPr sz="18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7145397" y="2704591"/>
            <a:ext cx="1894205" cy="128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26034" marR="2159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entender pessoas, conversar com pessoas,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manipular pessoas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3" name="Google Shape;83;p3"/>
          <p:cNvGrpSpPr/>
          <p:nvPr/>
        </p:nvGrpSpPr>
        <p:grpSpPr>
          <a:xfrm>
            <a:off x="731520" y="4066619"/>
            <a:ext cx="9372600" cy="3225038"/>
            <a:chOff x="772405" y="3778008"/>
            <a:chExt cx="9145648" cy="3428987"/>
          </a:xfrm>
        </p:grpSpPr>
        <p:sp>
          <p:nvSpPr>
            <p:cNvPr id="84" name="Google Shape;84;p3"/>
            <p:cNvSpPr/>
            <p:nvPr/>
          </p:nvSpPr>
          <p:spPr>
            <a:xfrm>
              <a:off x="1589392" y="3778008"/>
              <a:ext cx="1586865" cy="241300"/>
            </a:xfrm>
            <a:custGeom>
              <a:avLst/>
              <a:gdLst/>
              <a:ahLst/>
              <a:cxnLst/>
              <a:rect l="l" t="t" r="r" b="b"/>
              <a:pathLst>
                <a:path w="1586864" h="241300" extrusionOk="0">
                  <a:moveTo>
                    <a:pt x="576072" y="74676"/>
                  </a:moveTo>
                  <a:lnTo>
                    <a:pt x="565404" y="59436"/>
                  </a:lnTo>
                  <a:lnTo>
                    <a:pt x="556260" y="42672"/>
                  </a:lnTo>
                  <a:lnTo>
                    <a:pt x="547116" y="27432"/>
                  </a:lnTo>
                  <a:lnTo>
                    <a:pt x="539496" y="10668"/>
                  </a:lnTo>
                  <a:lnTo>
                    <a:pt x="530352" y="15240"/>
                  </a:lnTo>
                  <a:lnTo>
                    <a:pt x="548640" y="48768"/>
                  </a:lnTo>
                  <a:lnTo>
                    <a:pt x="557784" y="64008"/>
                  </a:lnTo>
                  <a:lnTo>
                    <a:pt x="568452" y="79248"/>
                  </a:lnTo>
                  <a:lnTo>
                    <a:pt x="576072" y="74676"/>
                  </a:lnTo>
                  <a:close/>
                </a:path>
                <a:path w="1586864" h="241300" extrusionOk="0">
                  <a:moveTo>
                    <a:pt x="1251204" y="0"/>
                  </a:moveTo>
                  <a:lnTo>
                    <a:pt x="1235964" y="0"/>
                  </a:lnTo>
                  <a:lnTo>
                    <a:pt x="1235964" y="24384"/>
                  </a:lnTo>
                  <a:lnTo>
                    <a:pt x="1205484" y="54864"/>
                  </a:lnTo>
                  <a:lnTo>
                    <a:pt x="1205484" y="68580"/>
                  </a:lnTo>
                  <a:lnTo>
                    <a:pt x="1175004" y="109728"/>
                  </a:lnTo>
                  <a:lnTo>
                    <a:pt x="1159764" y="121920"/>
                  </a:lnTo>
                  <a:lnTo>
                    <a:pt x="1144524" y="132588"/>
                  </a:lnTo>
                  <a:lnTo>
                    <a:pt x="1129284" y="144780"/>
                  </a:lnTo>
                  <a:lnTo>
                    <a:pt x="1068324" y="182880"/>
                  </a:lnTo>
                  <a:lnTo>
                    <a:pt x="1007364" y="210312"/>
                  </a:lnTo>
                  <a:lnTo>
                    <a:pt x="961644" y="224028"/>
                  </a:lnTo>
                  <a:lnTo>
                    <a:pt x="900684" y="230124"/>
                  </a:lnTo>
                  <a:lnTo>
                    <a:pt x="870204" y="230124"/>
                  </a:lnTo>
                  <a:lnTo>
                    <a:pt x="824484" y="227076"/>
                  </a:lnTo>
                  <a:lnTo>
                    <a:pt x="763524" y="211836"/>
                  </a:lnTo>
                  <a:lnTo>
                    <a:pt x="748284" y="205740"/>
                  </a:lnTo>
                  <a:lnTo>
                    <a:pt x="733044" y="201168"/>
                  </a:lnTo>
                  <a:lnTo>
                    <a:pt x="717804" y="195072"/>
                  </a:lnTo>
                  <a:lnTo>
                    <a:pt x="656844" y="164592"/>
                  </a:lnTo>
                  <a:lnTo>
                    <a:pt x="626364" y="146304"/>
                  </a:lnTo>
                  <a:lnTo>
                    <a:pt x="611124" y="126492"/>
                  </a:lnTo>
                  <a:lnTo>
                    <a:pt x="580644" y="103632"/>
                  </a:lnTo>
                  <a:lnTo>
                    <a:pt x="565404" y="80772"/>
                  </a:lnTo>
                  <a:lnTo>
                    <a:pt x="565404" y="79248"/>
                  </a:lnTo>
                  <a:lnTo>
                    <a:pt x="550164" y="89916"/>
                  </a:lnTo>
                  <a:lnTo>
                    <a:pt x="519684" y="97536"/>
                  </a:lnTo>
                  <a:lnTo>
                    <a:pt x="504444" y="106680"/>
                  </a:lnTo>
                  <a:lnTo>
                    <a:pt x="489204" y="112776"/>
                  </a:lnTo>
                  <a:lnTo>
                    <a:pt x="458724" y="118872"/>
                  </a:lnTo>
                  <a:lnTo>
                    <a:pt x="428244" y="128016"/>
                  </a:lnTo>
                  <a:lnTo>
                    <a:pt x="382524" y="132588"/>
                  </a:lnTo>
                  <a:lnTo>
                    <a:pt x="352044" y="134112"/>
                  </a:lnTo>
                  <a:lnTo>
                    <a:pt x="321564" y="134112"/>
                  </a:lnTo>
                  <a:lnTo>
                    <a:pt x="291084" y="132588"/>
                  </a:lnTo>
                  <a:lnTo>
                    <a:pt x="275844" y="131064"/>
                  </a:lnTo>
                  <a:lnTo>
                    <a:pt x="260604" y="126492"/>
                  </a:lnTo>
                  <a:lnTo>
                    <a:pt x="230124" y="123444"/>
                  </a:lnTo>
                  <a:lnTo>
                    <a:pt x="214884" y="118872"/>
                  </a:lnTo>
                  <a:lnTo>
                    <a:pt x="199644" y="112776"/>
                  </a:lnTo>
                  <a:lnTo>
                    <a:pt x="169164" y="105156"/>
                  </a:lnTo>
                  <a:lnTo>
                    <a:pt x="153924" y="99060"/>
                  </a:lnTo>
                  <a:lnTo>
                    <a:pt x="108204" y="71628"/>
                  </a:lnTo>
                  <a:lnTo>
                    <a:pt x="92964" y="60960"/>
                  </a:lnTo>
                  <a:lnTo>
                    <a:pt x="47244" y="36576"/>
                  </a:lnTo>
                  <a:lnTo>
                    <a:pt x="32004" y="24384"/>
                  </a:lnTo>
                  <a:lnTo>
                    <a:pt x="16764" y="10668"/>
                  </a:lnTo>
                  <a:lnTo>
                    <a:pt x="11430" y="0"/>
                  </a:lnTo>
                  <a:lnTo>
                    <a:pt x="0" y="0"/>
                  </a:lnTo>
                  <a:lnTo>
                    <a:pt x="16764" y="16764"/>
                  </a:lnTo>
                  <a:lnTo>
                    <a:pt x="47244" y="44196"/>
                  </a:lnTo>
                  <a:lnTo>
                    <a:pt x="77724" y="68580"/>
                  </a:lnTo>
                  <a:lnTo>
                    <a:pt x="123444" y="89916"/>
                  </a:lnTo>
                  <a:lnTo>
                    <a:pt x="138684" y="99060"/>
                  </a:lnTo>
                  <a:lnTo>
                    <a:pt x="169164" y="114300"/>
                  </a:lnTo>
                  <a:lnTo>
                    <a:pt x="199644" y="121920"/>
                  </a:lnTo>
                  <a:lnTo>
                    <a:pt x="214884" y="128016"/>
                  </a:lnTo>
                  <a:lnTo>
                    <a:pt x="230124" y="132588"/>
                  </a:lnTo>
                  <a:lnTo>
                    <a:pt x="260604" y="137160"/>
                  </a:lnTo>
                  <a:lnTo>
                    <a:pt x="275844" y="140208"/>
                  </a:lnTo>
                  <a:lnTo>
                    <a:pt x="336804" y="144780"/>
                  </a:lnTo>
                  <a:lnTo>
                    <a:pt x="352044" y="143256"/>
                  </a:lnTo>
                  <a:lnTo>
                    <a:pt x="382524" y="143256"/>
                  </a:lnTo>
                  <a:lnTo>
                    <a:pt x="428244" y="137160"/>
                  </a:lnTo>
                  <a:lnTo>
                    <a:pt x="458724" y="128016"/>
                  </a:lnTo>
                  <a:lnTo>
                    <a:pt x="489204" y="121920"/>
                  </a:lnTo>
                  <a:lnTo>
                    <a:pt x="519684" y="106680"/>
                  </a:lnTo>
                  <a:lnTo>
                    <a:pt x="550164" y="97536"/>
                  </a:lnTo>
                  <a:lnTo>
                    <a:pt x="565404" y="88392"/>
                  </a:lnTo>
                  <a:lnTo>
                    <a:pt x="565404" y="86868"/>
                  </a:lnTo>
                  <a:lnTo>
                    <a:pt x="580644" y="111252"/>
                  </a:lnTo>
                  <a:lnTo>
                    <a:pt x="626364" y="153924"/>
                  </a:lnTo>
                  <a:lnTo>
                    <a:pt x="656844" y="172212"/>
                  </a:lnTo>
                  <a:lnTo>
                    <a:pt x="672084" y="188976"/>
                  </a:lnTo>
                  <a:lnTo>
                    <a:pt x="702564" y="202692"/>
                  </a:lnTo>
                  <a:lnTo>
                    <a:pt x="748284" y="220980"/>
                  </a:lnTo>
                  <a:lnTo>
                    <a:pt x="763524" y="225552"/>
                  </a:lnTo>
                  <a:lnTo>
                    <a:pt x="794004" y="230124"/>
                  </a:lnTo>
                  <a:lnTo>
                    <a:pt x="839724" y="239268"/>
                  </a:lnTo>
                  <a:lnTo>
                    <a:pt x="870204" y="239268"/>
                  </a:lnTo>
                  <a:lnTo>
                    <a:pt x="885444" y="240792"/>
                  </a:lnTo>
                  <a:lnTo>
                    <a:pt x="915924" y="237744"/>
                  </a:lnTo>
                  <a:lnTo>
                    <a:pt x="946404" y="236220"/>
                  </a:lnTo>
                  <a:lnTo>
                    <a:pt x="961644" y="233172"/>
                  </a:lnTo>
                  <a:lnTo>
                    <a:pt x="1007364" y="219456"/>
                  </a:lnTo>
                  <a:lnTo>
                    <a:pt x="1053084" y="207264"/>
                  </a:lnTo>
                  <a:lnTo>
                    <a:pt x="1068324" y="199644"/>
                  </a:lnTo>
                  <a:lnTo>
                    <a:pt x="1129284" y="163068"/>
                  </a:lnTo>
                  <a:lnTo>
                    <a:pt x="1144524" y="150876"/>
                  </a:lnTo>
                  <a:lnTo>
                    <a:pt x="1159764" y="140208"/>
                  </a:lnTo>
                  <a:lnTo>
                    <a:pt x="1175004" y="115824"/>
                  </a:lnTo>
                  <a:lnTo>
                    <a:pt x="1205484" y="88392"/>
                  </a:lnTo>
                  <a:lnTo>
                    <a:pt x="1205484" y="73152"/>
                  </a:lnTo>
                  <a:lnTo>
                    <a:pt x="1220724" y="59436"/>
                  </a:lnTo>
                  <a:lnTo>
                    <a:pt x="1235964" y="44196"/>
                  </a:lnTo>
                  <a:lnTo>
                    <a:pt x="1251204" y="10668"/>
                  </a:lnTo>
                  <a:lnTo>
                    <a:pt x="1251204" y="0"/>
                  </a:lnTo>
                  <a:close/>
                </a:path>
                <a:path w="1586864" h="241300" extrusionOk="0">
                  <a:moveTo>
                    <a:pt x="1586484" y="0"/>
                  </a:moveTo>
                  <a:lnTo>
                    <a:pt x="1567434" y="0"/>
                  </a:lnTo>
                  <a:lnTo>
                    <a:pt x="1540764" y="10668"/>
                  </a:lnTo>
                  <a:lnTo>
                    <a:pt x="1495044" y="24384"/>
                  </a:lnTo>
                  <a:lnTo>
                    <a:pt x="1479804" y="27432"/>
                  </a:lnTo>
                  <a:lnTo>
                    <a:pt x="1434084" y="32004"/>
                  </a:lnTo>
                  <a:lnTo>
                    <a:pt x="1388364" y="32004"/>
                  </a:lnTo>
                  <a:lnTo>
                    <a:pt x="1373124" y="28956"/>
                  </a:lnTo>
                  <a:lnTo>
                    <a:pt x="1342644" y="25908"/>
                  </a:lnTo>
                  <a:lnTo>
                    <a:pt x="1327404" y="21336"/>
                  </a:lnTo>
                  <a:lnTo>
                    <a:pt x="1312164" y="15240"/>
                  </a:lnTo>
                  <a:lnTo>
                    <a:pt x="1281684" y="7620"/>
                  </a:lnTo>
                  <a:lnTo>
                    <a:pt x="1268984" y="0"/>
                  </a:lnTo>
                  <a:lnTo>
                    <a:pt x="1255560" y="0"/>
                  </a:lnTo>
                  <a:lnTo>
                    <a:pt x="1266444" y="7620"/>
                  </a:lnTo>
                  <a:lnTo>
                    <a:pt x="1281684" y="16764"/>
                  </a:lnTo>
                  <a:lnTo>
                    <a:pt x="1312164" y="24384"/>
                  </a:lnTo>
                  <a:lnTo>
                    <a:pt x="1327404" y="30480"/>
                  </a:lnTo>
                  <a:lnTo>
                    <a:pt x="1342644" y="35052"/>
                  </a:lnTo>
                  <a:lnTo>
                    <a:pt x="1388364" y="41148"/>
                  </a:lnTo>
                  <a:lnTo>
                    <a:pt x="1449324" y="41148"/>
                  </a:lnTo>
                  <a:lnTo>
                    <a:pt x="1464564" y="38100"/>
                  </a:lnTo>
                  <a:lnTo>
                    <a:pt x="1479804" y="36576"/>
                  </a:lnTo>
                  <a:lnTo>
                    <a:pt x="1495044" y="33528"/>
                  </a:lnTo>
                  <a:lnTo>
                    <a:pt x="1540764" y="19812"/>
                  </a:lnTo>
                  <a:lnTo>
                    <a:pt x="1571244" y="7620"/>
                  </a:lnTo>
                  <a:lnTo>
                    <a:pt x="15864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5" name="Google Shape;85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72405" y="3828288"/>
              <a:ext cx="9145648" cy="33787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3"/>
          <p:cNvSpPr txBox="1"/>
          <p:nvPr/>
        </p:nvSpPr>
        <p:spPr>
          <a:xfrm>
            <a:off x="7360281" y="5295389"/>
            <a:ext cx="200469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-635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tomar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decisões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, resolver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problemas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sonhar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acordado</a:t>
            </a:r>
            <a:endParaRPr sz="18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261236" y="5213094"/>
            <a:ext cx="2283460" cy="125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planejar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uma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refeição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imaginar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uma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viagem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escrever</a:t>
            </a:r>
            <a:r>
              <a:rPr lang="en-US" sz="1800" dirty="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800" dirty="0" err="1">
                <a:latin typeface="Tahoma"/>
                <a:ea typeface="Tahoma"/>
                <a:cs typeface="Tahoma"/>
                <a:sym typeface="Tahoma"/>
              </a:rPr>
              <a:t>pintar</a:t>
            </a:r>
            <a:endParaRPr sz="1800" dirty="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Cognição Experiencial e Reflexiva (Norman, 1993)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1310004" y="2282516"/>
            <a:ext cx="3834129" cy="3141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Experiencial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56285" marR="20320" lvl="1" indent="-287019" algn="l" rtl="0">
              <a:lnSpc>
                <a:spcPct val="108000"/>
              </a:lnSpc>
              <a:spcBef>
                <a:spcPts val="515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quando pensamos, agimos e reagimos de forma eficiente e sem esforço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marR="5080" lvl="1" indent="-287020" algn="l" rtl="0">
              <a:lnSpc>
                <a:spcPct val="108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quando fazemos algo certo e bem sem nos darmos conta de que o fazemos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ações rápidas e intuitivas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marR="754380" lvl="1" indent="-287020" algn="l" rtl="0">
              <a:lnSpc>
                <a:spcPct val="108000"/>
              </a:lnSpc>
              <a:spcBef>
                <a:spcPts val="509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requer experiência e engajamento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505574" y="2322067"/>
            <a:ext cx="151574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Reflexiva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962774" y="2686302"/>
            <a:ext cx="3256915" cy="380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800" rIns="0" bIns="0" anchor="t" anchorCtr="0">
            <a:spAutoFit/>
          </a:bodyPr>
          <a:lstStyle/>
          <a:p>
            <a:pPr marL="299085" marR="564515" lvl="0" indent="-287019" algn="l" rtl="0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quanto pensamos, comparamos, tomamos decisões</a:t>
            </a:r>
          </a:p>
          <a:p>
            <a:pPr marL="299085" marR="5080" lvl="0" indent="-287019" algn="l" rtl="0">
              <a:lnSpc>
                <a:spcPct val="107722"/>
              </a:lnSpc>
              <a:spcBef>
                <a:spcPts val="44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quando fazemos algo certo e bem por causa de termos raciocinado e decidido (ou descoberto) como agir</a:t>
            </a:r>
          </a:p>
          <a:p>
            <a:pPr marL="300355" lvl="0" indent="-286385" algn="l" rtl="0">
              <a:lnSpc>
                <a:spcPct val="113888"/>
              </a:lnSpc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ideias e criatividade </a:t>
            </a:r>
            <a:endParaRPr lang="pt-BR" sz="1800" dirty="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00355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ym typeface="Arial"/>
              </a:rPr>
              <a:t>progresso científico</a:t>
            </a:r>
          </a:p>
          <a:p>
            <a:pPr marL="300355" marR="867410" lvl="0" indent="-287019" algn="l" rtl="0">
              <a:lnSpc>
                <a:spcPct val="107722"/>
              </a:lnSpc>
              <a:spcBef>
                <a:spcPts val="46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importante diante de imprevistos e do desconhecido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Experiencial ou Reflexiva?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1310004" y="2434843"/>
            <a:ext cx="7334884" cy="229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2425" marR="5080" lvl="0" indent="-34036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Esses dois tipos de cognição são essenciais para a 	vida quotidiana</a:t>
            </a:r>
          </a:p>
          <a:p>
            <a:pPr marL="469265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–  cada um requer tipos diferentes de apoio tecnológico</a:t>
            </a:r>
          </a:p>
          <a:p>
            <a:pPr marL="354330" marR="54610" lvl="0" indent="-340360" algn="just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Não é verdade que as interfaces de usuário devam sempre ser projetadas para maximizar um ou outro tipo de cognição. Sempre depende.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Principais processos cognitivos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1310004" y="2216911"/>
            <a:ext cx="6830059" cy="4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A</a:t>
            </a:r>
            <a:r>
              <a:rPr lang="pt-BR" sz="2400" dirty="0">
                <a:sym typeface="Arial"/>
              </a:rPr>
              <a:t>tenção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P</a:t>
            </a:r>
            <a:r>
              <a:rPr lang="pt-BR" sz="2400" dirty="0">
                <a:sym typeface="Arial"/>
              </a:rPr>
              <a:t>ercepção (e reconhecimento)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M</a:t>
            </a:r>
            <a:r>
              <a:rPr lang="pt-BR" sz="2400" dirty="0">
                <a:sym typeface="Arial"/>
              </a:rPr>
              <a:t>emória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A</a:t>
            </a:r>
            <a:r>
              <a:rPr lang="pt-BR" sz="2400" dirty="0">
                <a:sym typeface="Arial"/>
              </a:rPr>
              <a:t>prendizado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L</a:t>
            </a:r>
            <a:r>
              <a:rPr lang="pt-BR" sz="2400" dirty="0">
                <a:sym typeface="Arial"/>
              </a:rPr>
              <a:t>er, escrever, falar e ouvir</a:t>
            </a:r>
          </a:p>
          <a:p>
            <a:pPr marL="356870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R</a:t>
            </a:r>
            <a:r>
              <a:rPr lang="pt-BR" sz="2400" dirty="0">
                <a:sym typeface="Arial"/>
              </a:rPr>
              <a:t>esolver problemas, planejar, raciocinar e tomar decisões</a:t>
            </a:r>
          </a:p>
          <a:p>
            <a:pPr marL="356870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endParaRPr lang="pt-BR" sz="2400" dirty="0"/>
          </a:p>
          <a:p>
            <a:pPr marL="356870" marR="5080" lvl="0" indent="-342900">
              <a:spcBef>
                <a:spcPts val="575"/>
              </a:spcBef>
              <a:buSzPts val="2400"/>
              <a:buFont typeface="Arial"/>
              <a:buChar char="•"/>
            </a:pPr>
            <a:r>
              <a:rPr lang="pt-BR" sz="2400" dirty="0"/>
              <a:t>Eles são interdependentes: vários podem estar envolvidos em uma determinada atividade</a:t>
            </a:r>
            <a:endParaRPr lang="pt-BR" sz="2400" dirty="0"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3913102" y="786082"/>
            <a:ext cx="310959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</a:t>
            </a:r>
            <a:endParaRPr dirty="0"/>
          </a:p>
        </p:txBody>
      </p:sp>
      <p:sp>
        <p:nvSpPr>
          <p:cNvPr id="123" name="Google Shape;123;p7"/>
          <p:cNvSpPr txBox="1"/>
          <p:nvPr/>
        </p:nvSpPr>
        <p:spPr>
          <a:xfrm>
            <a:off x="1310004" y="1570735"/>
            <a:ext cx="8557010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>
              <a:buSzPts val="2400"/>
              <a:buFont typeface="Arial"/>
              <a:buChar char="•"/>
            </a:pPr>
            <a:r>
              <a:rPr lang="pt-BR" sz="2400" dirty="0"/>
              <a:t>Mecanismo que utilizamos para concentrar nossa capacidade cognitiva em alguma atividade(s) 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m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630" y="2929011"/>
            <a:ext cx="5036185" cy="31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– Como </a:t>
            </a:r>
            <a:r>
              <a:rPr lang="en-US" dirty="0" err="1"/>
              <a:t>Facilitar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137" name="Google Shape;137;p8"/>
          <p:cNvSpPr txBox="1"/>
          <p:nvPr/>
        </p:nvSpPr>
        <p:spPr>
          <a:xfrm>
            <a:off x="1310004" y="2227963"/>
            <a:ext cx="7599045" cy="383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9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pt-BR" sz="2000" b="1" dirty="0">
                <a:latin typeface="Arial"/>
                <a:ea typeface="Arial"/>
                <a:cs typeface="Arial"/>
                <a:sym typeface="Arial"/>
              </a:rPr>
              <a:t>Pelo Objetivo</a:t>
            </a: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: Atenção focada e dividida</a:t>
            </a:r>
          </a:p>
          <a:p>
            <a:pPr marL="756285" marR="5080" lvl="1" indent="-287019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a cada momento e com tudo ao nosso redor, selecionamos em que vamos nos concentrar</a:t>
            </a:r>
          </a:p>
          <a:p>
            <a:pPr marL="756285" lvl="1" indent="-287019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nos permite ser seletivos em termos dos estímulos concorrentes</a:t>
            </a:r>
          </a:p>
          <a:p>
            <a:pPr marL="756285" lvl="1" indent="-287019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limita nossa capacidade de acompanhar todos os eventos</a:t>
            </a:r>
          </a:p>
          <a:p>
            <a:pPr marL="356870" marR="194945" lvl="0" indent="-342900" algn="l" rtl="0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pt-BR" sz="2000" b="1" dirty="0">
                <a:latin typeface="Arial"/>
                <a:ea typeface="Arial"/>
                <a:cs typeface="Arial"/>
                <a:sym typeface="Arial"/>
              </a:rPr>
              <a:t>Pela Apresentação</a:t>
            </a: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: A forma como a informação está apresentada pode influenciar o quanto é fácil ou difícil focar as unidades de informação adequadas</a:t>
            </a:r>
          </a:p>
          <a:p>
            <a:pPr marL="757555" marR="1004569" lvl="1" indent="-28702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Se temos objetivos claros, tentamos combinar isso com a informação disponível</a:t>
            </a:r>
          </a:p>
          <a:p>
            <a:pPr marL="757555" marR="536575" lvl="1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Senão, varremos a informação, permitindo que ela guie nossa atenção para os itens interessantes, destacados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1310004" y="1622551"/>
            <a:ext cx="592264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– Implicações para o Design</a:t>
            </a:r>
            <a:endParaRPr dirty="0"/>
          </a:p>
        </p:txBody>
      </p:sp>
      <p:sp>
        <p:nvSpPr>
          <p:cNvPr id="144" name="Google Shape;144;p9"/>
          <p:cNvSpPr txBox="1"/>
          <p:nvPr/>
        </p:nvSpPr>
        <p:spPr>
          <a:xfrm>
            <a:off x="1310004" y="2025197"/>
            <a:ext cx="7410450" cy="327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76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O que se deve fazer?</a:t>
            </a:r>
          </a:p>
          <a:p>
            <a:pPr marL="756285" marR="5080" lvl="1" indent="-287019" algn="l" rtl="0">
              <a:lnSpc>
                <a:spcPct val="120000"/>
              </a:lnSpc>
              <a:spcBef>
                <a:spcPts val="545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Informação na interface deve ser estruturada para capturar a atenção dos usuários para os itens importantes a cada momento</a:t>
            </a:r>
          </a:p>
          <a:p>
            <a:pPr marL="757555" marR="156210" lvl="1" indent="-28702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Torne a informação saliente quando requerer atenção em determinado momento</a:t>
            </a:r>
          </a:p>
          <a:p>
            <a:pPr marL="1156970" lvl="2" indent="-22860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Quais são esses "momentos"?</a:t>
            </a:r>
          </a:p>
          <a:p>
            <a:pPr marL="1156970" lvl="2" indent="-228600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O que é importante a cada momento?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– Implicações para o Design</a:t>
            </a:r>
            <a:endParaRPr dirty="0"/>
          </a:p>
        </p:txBody>
      </p:sp>
      <p:sp>
        <p:nvSpPr>
          <p:cNvPr id="153" name="Google Shape;153;p10"/>
          <p:cNvSpPr txBox="1"/>
          <p:nvPr/>
        </p:nvSpPr>
        <p:spPr>
          <a:xfrm>
            <a:off x="1310004" y="2141366"/>
            <a:ext cx="7379970" cy="432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>
                <a:sym typeface="Arial"/>
              </a:rPr>
              <a:t>Como chamar a atenção?</a:t>
            </a:r>
          </a:p>
          <a:p>
            <a:pPr marL="756285" marR="154305" lvl="1" indent="-287019">
              <a:lnSpc>
                <a:spcPct val="100200"/>
              </a:lnSpc>
              <a:spcBef>
                <a:spcPts val="775"/>
              </a:spcBef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e.g.: </a:t>
            </a:r>
            <a:r>
              <a:rPr lang="pt-BR" sz="2000" dirty="0"/>
              <a:t>Uso de limites perceptuais (janelas), gráficos, </a:t>
            </a:r>
            <a:r>
              <a:rPr lang="pt-BR" sz="2000" dirty="0">
                <a:sym typeface="Arial"/>
              </a:rPr>
              <a:t>cores, agrupamento e ordenação de itens, espacejamento, sublinhado, sequenciação de diferentes informações, animação, fronteiras de percepção (janelas, quadros), som, luzes </a:t>
            </a:r>
            <a:r>
              <a:rPr lang="pt-BR" sz="2000" dirty="0" err="1">
                <a:sym typeface="Arial"/>
              </a:rPr>
              <a:t>piscantes</a:t>
            </a:r>
            <a:endParaRPr lang="pt-BR" sz="2000" dirty="0">
              <a:sym typeface="Arial"/>
            </a:endParaRPr>
          </a:p>
          <a:p>
            <a:pPr marL="356870" marR="508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>
                <a:sym typeface="Arial"/>
              </a:rPr>
              <a:t>Evite sobrecarregar a interface com informação demais (poluição visual) ou utilizar recursos “demais”, só porque o software permite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e.g.: variação excessiva de cor, som, gráficos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>
                <a:sym typeface="Arial"/>
              </a:rPr>
              <a:t>Ferramentas de buscas. “Quanto mais simples, melhor”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e.g.: Google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– Atividade:</a:t>
            </a:r>
            <a:endParaRPr dirty="0"/>
          </a:p>
        </p:txBody>
      </p:sp>
      <p:sp>
        <p:nvSpPr>
          <p:cNvPr id="162" name="Google Shape;162;p11"/>
          <p:cNvSpPr txBox="1"/>
          <p:nvPr/>
        </p:nvSpPr>
        <p:spPr>
          <a:xfrm>
            <a:off x="1310004" y="2355595"/>
            <a:ext cx="7268209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Encontre na seguinte lista o preço do quarto duplo (double) no hotel Holiday Inn em Bradley.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/>
          </p:nvPr>
        </p:nvSpPr>
        <p:spPr>
          <a:xfrm>
            <a:off x="3532942" y="707100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– Atividade:</a:t>
            </a:r>
            <a:endParaRPr dirty="0"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943" y="1734208"/>
            <a:ext cx="8073391" cy="5393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8929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>
            <a:spLocks noGrp="1"/>
          </p:cNvSpPr>
          <p:nvPr>
            <p:ph type="title"/>
          </p:nvPr>
        </p:nvSpPr>
        <p:spPr>
          <a:xfrm>
            <a:off x="3372720" y="632305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- Atividade:</a:t>
            </a:r>
            <a:endParaRPr dirty="0"/>
          </a:p>
        </p:txBody>
      </p:sp>
      <p:sp>
        <p:nvSpPr>
          <p:cNvPr id="172" name="Google Shape;172;p12"/>
          <p:cNvSpPr txBox="1"/>
          <p:nvPr/>
        </p:nvSpPr>
        <p:spPr>
          <a:xfrm>
            <a:off x="1310004" y="1598675"/>
            <a:ext cx="7268209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Encontre o preço do quarto duplo (double) no hotel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Quality Inn em Columbia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344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>
            <a:spLocks noGrp="1"/>
          </p:cNvSpPr>
          <p:nvPr>
            <p:ph type="title"/>
          </p:nvPr>
        </p:nvSpPr>
        <p:spPr>
          <a:xfrm>
            <a:off x="3372720" y="632305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Atenção - Atividade:</a:t>
            </a:r>
            <a:endParaRPr dirty="0"/>
          </a:p>
        </p:txBody>
      </p:sp>
      <p:pic>
        <p:nvPicPr>
          <p:cNvPr id="175" name="Google Shape;17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3014" y="1560786"/>
            <a:ext cx="7527371" cy="49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/>
          <p:cNvSpPr/>
          <p:nvPr/>
        </p:nvSpPr>
        <p:spPr>
          <a:xfrm>
            <a:off x="1035936" y="6704527"/>
            <a:ext cx="9171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Qual das duas atividades exigiu menos esforço cognitivo? </a:t>
            </a:r>
          </a:p>
          <a:p>
            <a:r>
              <a:rPr lang="pt-BR" sz="2400" dirty="0"/>
              <a:t>Por que?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3202600" y="738631"/>
            <a:ext cx="8073391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pt-BR" dirty="0"/>
              <a:t>Multitarefa e atenção</a:t>
            </a:r>
          </a:p>
        </p:txBody>
      </p:sp>
      <p:sp>
        <p:nvSpPr>
          <p:cNvPr id="182" name="Google Shape;182;p13"/>
          <p:cNvSpPr txBox="1"/>
          <p:nvPr/>
        </p:nvSpPr>
        <p:spPr>
          <a:xfrm>
            <a:off x="1310004" y="2355595"/>
            <a:ext cx="8553201" cy="407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Em ambientes normais de trabalho, os usuários sofrem constantes distrações (conversa com colegas, telefone, chefe batendo na porta, etc.) e quando retornam para a atividade suspendida eles podem: esquecer o que estavam fazendo esquecer se eles completaram ou não a tarefa.</a:t>
            </a:r>
          </a:p>
          <a:p>
            <a:pPr marL="457200" indent="-457200">
              <a:buFont typeface="+mj-lt"/>
              <a:buAutoNum type="arabicPeriod"/>
            </a:pPr>
            <a:endParaRPr lang="pt-BR" sz="2400" dirty="0"/>
          </a:p>
          <a:p>
            <a:pPr marL="457200" indent="-457200">
              <a:buFont typeface="+mj-lt"/>
              <a:buAutoNum type="arabicPeriod"/>
            </a:pPr>
            <a:endParaRPr lang="pt-BR" sz="2400" dirty="0"/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O usuário deve ser capaz de alternar rapidamente entre tarefas. Tarefas primárias x secundárias. As primárias são mais importantes no momento</a:t>
            </a:r>
          </a:p>
          <a:p>
            <a:endParaRPr lang="pt-BR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1292662"/>
          </a:xfrm>
        </p:spPr>
        <p:txBody>
          <a:bodyPr/>
          <a:lstStyle/>
          <a:p>
            <a:r>
              <a:rPr lang="pt-BR" dirty="0"/>
              <a:t>Recomendação para tratar interrupções e </a:t>
            </a:r>
            <a:r>
              <a:rPr lang="pt-BR" dirty="0" err="1"/>
              <a:t>multiprocessamento</a:t>
            </a:r>
            <a:r>
              <a:rPr lang="pt-BR" dirty="0"/>
              <a:t>: 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64284" y="2675634"/>
            <a:ext cx="7521575" cy="923330"/>
          </a:xfrm>
        </p:spPr>
        <p:txBody>
          <a:bodyPr/>
          <a:lstStyle/>
          <a:p>
            <a:pPr marL="685800" indent="-457200">
              <a:buFont typeface="+mj-lt"/>
              <a:buAutoNum type="arabicPeriod"/>
            </a:pPr>
            <a:r>
              <a:rPr lang="pt-BR" dirty="0"/>
              <a:t>Disponibilize alguma ajuda cognitiva. Recordações ou representações externas com o propósito de ganhar a atenção do usuário em momentos relevantes</a:t>
            </a:r>
          </a:p>
        </p:txBody>
      </p:sp>
    </p:spTree>
    <p:extLst>
      <p:ext uri="{BB962C8B-B14F-4D97-AF65-F5344CB8AC3E}">
        <p14:creationId xmlns:p14="http://schemas.microsoft.com/office/powerpoint/2010/main" val="329523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3431412" y="784345"/>
            <a:ext cx="350583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Percepção</a:t>
            </a:r>
            <a:endParaRPr dirty="0"/>
          </a:p>
        </p:txBody>
      </p:sp>
      <p:sp>
        <p:nvSpPr>
          <p:cNvPr id="191" name="Google Shape;191;p14"/>
          <p:cNvSpPr txBox="1"/>
          <p:nvPr/>
        </p:nvSpPr>
        <p:spPr>
          <a:xfrm>
            <a:off x="1310004" y="1715515"/>
            <a:ext cx="8663336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Como a informação é adquirida do mundo e transformada em experiências– através dos sentidos (e.g.: visão, audição, tato)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Pessoas que enxergam: visão é o sentido dominante, seguido de audição e tato.</a:t>
            </a:r>
          </a:p>
        </p:txBody>
      </p:sp>
      <p:pic>
        <p:nvPicPr>
          <p:cNvPr id="8" name="Imagem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395" y="3778250"/>
            <a:ext cx="5134610" cy="315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Percepção – Implicações para o Design</a:t>
            </a:r>
            <a:endParaRPr dirty="0"/>
          </a:p>
        </p:txBody>
      </p: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1310004" y="2218434"/>
            <a:ext cx="7521575" cy="4280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Projete representações de informação diretamente perceptíveis e reconhecíveis</a:t>
            </a:r>
          </a:p>
          <a:p>
            <a:pPr marL="756285" lvl="1" indent="-287019">
              <a:spcBef>
                <a:spcPts val="440"/>
              </a:spcBef>
              <a:buSzPts val="1800"/>
              <a:buFont typeface="Arial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ícones e imagens devem ser fáceis de enxergar e de diferenciar 	uns dos outros</a:t>
            </a:r>
          </a:p>
          <a:p>
            <a:pPr marL="756285" lvl="1" indent="-287019">
              <a:spcBef>
                <a:spcPts val="440"/>
              </a:spcBef>
              <a:buSzPts val="1800"/>
              <a:buFont typeface="Arial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As bordas e espaçamento agrupam a informação facilita a percepção e localização de itens</a:t>
            </a:r>
          </a:p>
          <a:p>
            <a:pPr marL="757555" marR="878839" lvl="1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sons devem ser audíveis e distintos, para que os usuários entendam o que representam</a:t>
            </a:r>
          </a:p>
          <a:p>
            <a:pPr marL="757555" marR="40005" lvl="1" indent="-28702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saída de voz deve permitir que os usuários diferenciem o conjunto de palavras faladas</a:t>
            </a:r>
          </a:p>
          <a:p>
            <a:pPr marL="756285" lvl="1" indent="-287019">
              <a:spcBef>
                <a:spcPts val="440"/>
              </a:spcBef>
              <a:buSzPts val="1800"/>
              <a:buFont typeface="Arial"/>
              <a:buChar char="–"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texto deve ser legível e distinto do fundo</a:t>
            </a:r>
          </a:p>
          <a:p>
            <a:pPr marL="1155065" lvl="2">
              <a:spcBef>
                <a:spcPts val="395"/>
              </a:spcBef>
              <a:buSzPts val="1600"/>
              <a:buFont typeface="Arial"/>
              <a:buChar char="•"/>
            </a:pP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uso de alinhamento, contraste, proporções</a:t>
            </a:r>
            <a:endParaRPr lang="pt-BR" sz="1800" dirty="0">
              <a:latin typeface="Arial"/>
              <a:ea typeface="Arial"/>
              <a:cs typeface="Arial"/>
              <a:sym typeface="Arial"/>
            </a:endParaRPr>
          </a:p>
          <a:p>
            <a:pPr marL="757555" marR="257175" lvl="1" indent="-28702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feedback tátil deve permitir reconhecer o significado de diversas sensações de toque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>
            <a:spLocks noGrp="1"/>
          </p:cNvSpPr>
          <p:nvPr>
            <p:ph type="title"/>
          </p:nvPr>
        </p:nvSpPr>
        <p:spPr>
          <a:xfrm>
            <a:off x="3727316" y="799514"/>
            <a:ext cx="350583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Percepção  e Cores</a:t>
            </a:r>
            <a:endParaRPr dirty="0"/>
          </a:p>
        </p:txBody>
      </p:sp>
      <p:sp>
        <p:nvSpPr>
          <p:cNvPr id="231" name="Google Shape;231;p18"/>
          <p:cNvSpPr txBox="1"/>
          <p:nvPr/>
        </p:nvSpPr>
        <p:spPr>
          <a:xfrm>
            <a:off x="1310004" y="1570735"/>
            <a:ext cx="7486015" cy="222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pt-BR" sz="2400" dirty="0"/>
              <a:t>Cuidado com contraste, brilho. Pessoas com deficiências na visão de cores.</a:t>
            </a:r>
          </a:p>
          <a:p>
            <a:endParaRPr lang="pt-BR" sz="2400" dirty="0"/>
          </a:p>
          <a:p>
            <a:r>
              <a:rPr lang="pt-BR" sz="2400" b="1" dirty="0" err="1"/>
              <a:t>Estereoscopia</a:t>
            </a:r>
            <a:r>
              <a:rPr lang="pt-BR" sz="2400" dirty="0"/>
              <a:t> de cor: o vermelho e o azul parecem estar em planos distintos:</a:t>
            </a:r>
          </a:p>
          <a:p>
            <a:endParaRPr lang="pt-BR" sz="2400" dirty="0"/>
          </a:p>
        </p:txBody>
      </p:sp>
      <p:pic>
        <p:nvPicPr>
          <p:cNvPr id="8" name="Imagem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81" y="4039859"/>
            <a:ext cx="5447031" cy="2469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12" y="3196191"/>
            <a:ext cx="362659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tângulo 2"/>
          <p:cNvSpPr/>
          <p:nvPr/>
        </p:nvSpPr>
        <p:spPr>
          <a:xfrm>
            <a:off x="1216333" y="6343503"/>
            <a:ext cx="85718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Alguns estudos indicam que certas tarefas ficam mais eficientes se implementadas SEM o uso de cor.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Memória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1310004" y="2192527"/>
            <a:ext cx="7492365" cy="393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800" rIns="0" bIns="0" anchor="t" anchorCtr="0">
            <a:spAutoFit/>
          </a:bodyPr>
          <a:lstStyle/>
          <a:p>
            <a:pPr marL="354965" marR="273685" lvl="0" indent="-342900" algn="l" rtl="0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Envolve codificar e recuperar vários tipos de conhecimento que nos permitam agir de forma adequada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Não nos lembramos de tudo – envolve filtragem e processamento</a:t>
            </a:r>
          </a:p>
          <a:p>
            <a:pPr marL="756285" marR="427990" lvl="1" indent="-287019" algn="l" rtl="0">
              <a:lnSpc>
                <a:spcPct val="108124"/>
              </a:lnSpc>
              <a:spcBef>
                <a:spcPts val="415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quanto mais prestamos atenção em algo, e o quanto mais aquilo é processado (pensado, comparado), mais chances de nos lembrarmos daquilo depois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Contexto </a:t>
            </a: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influencia nossa memória de forma importante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Reconhecemos melhor do que lembramos</a:t>
            </a:r>
          </a:p>
          <a:p>
            <a:pPr marL="757555" marR="140335" lvl="1" indent="-287020" algn="l" rtl="0">
              <a:lnSpc>
                <a:spcPct val="108124"/>
              </a:lnSpc>
              <a:spcBef>
                <a:spcPts val="415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vantagens de </a:t>
            </a:r>
            <a:r>
              <a:rPr lang="pt-BR" sz="1600" dirty="0" err="1">
                <a:latin typeface="Arial"/>
                <a:ea typeface="Arial"/>
                <a:cs typeface="Arial"/>
                <a:sym typeface="Arial"/>
              </a:rPr>
              <a:t>GUIs</a:t>
            </a: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1600" i="1" dirty="0" err="1">
                <a:latin typeface="Arial"/>
                <a:ea typeface="Arial"/>
                <a:cs typeface="Arial"/>
                <a:sym typeface="Arial"/>
              </a:rPr>
              <a:t>graphical</a:t>
            </a:r>
            <a:r>
              <a:rPr lang="pt-BR" sz="16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600" i="1" dirty="0" err="1"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pt-BR" sz="1600" i="1" dirty="0">
                <a:latin typeface="Arial"/>
                <a:ea typeface="Arial"/>
                <a:cs typeface="Arial"/>
                <a:sym typeface="Arial"/>
              </a:rPr>
              <a:t> interfaces</a:t>
            </a: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) sobre interfaces baseadas em comandos</a:t>
            </a:r>
          </a:p>
          <a:p>
            <a:pPr marL="356870" marR="5080" lvl="0" indent="-342900" algn="l" rtl="0">
              <a:lnSpc>
                <a:spcPct val="107722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Somos melhores em nos lembrar de dicas visuais (cores, imagens) do que de informações simbólicas (números, palavras)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Segurança da informação vs. sobrecarga de memória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Memória - O problema do ‘7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±</a:t>
            </a:r>
            <a:r>
              <a:rPr lang="en-US"/>
              <a:t>2’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310004" y="2290063"/>
            <a:ext cx="7265034" cy="404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241300" indent="-342900">
              <a:buSzPts val="2400"/>
              <a:buFont typeface="Arial"/>
              <a:buChar char="•"/>
            </a:pPr>
            <a:r>
              <a:rPr lang="pt-BR" sz="2400" dirty="0"/>
              <a:t>Aglomerados ou </a:t>
            </a:r>
            <a:r>
              <a:rPr lang="pt-BR" sz="2400" dirty="0" err="1"/>
              <a:t>chunks</a:t>
            </a:r>
            <a:r>
              <a:rPr lang="pt-BR" sz="2400" dirty="0"/>
              <a:t> de informações podem ser armazenadas na memória de curto prazo segundo Miller (1956)</a:t>
            </a:r>
          </a:p>
          <a:p>
            <a:pPr marL="354965" lvl="0" indent="-342265">
              <a:spcBef>
                <a:spcPts val="575"/>
              </a:spcBef>
              <a:buSzPts val="2400"/>
              <a:buFont typeface="Arial"/>
              <a:buChar char="•"/>
            </a:pPr>
            <a:r>
              <a:rPr lang="pt-BR" sz="2400" dirty="0"/>
              <a:t>Aglomerado: números, dígito, item, palavra, letra, etc.</a:t>
            </a:r>
          </a:p>
          <a:p>
            <a:pPr marL="354965" lvl="4" indent="-342265">
              <a:spcBef>
                <a:spcPts val="575"/>
              </a:spcBef>
              <a:buSzPts val="2400"/>
              <a:buFont typeface="Arial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pessoas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podem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2000" b="1" dirty="0" err="1">
                <a:latin typeface="Arial"/>
                <a:ea typeface="Arial"/>
                <a:cs typeface="Arial"/>
                <a:sym typeface="Arial"/>
              </a:rPr>
              <a:t>lembrar</a:t>
            </a:r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de 7±2 “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pedaços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	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informação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”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1156970" marR="5080" lvl="2" indent="-22860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unidades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daquilo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para o que a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nossa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atenção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cognição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se dirige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56870" marR="343535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Muitos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projetistas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foram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levados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crer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esse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achado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útil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para o design da 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interação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1310004" y="2216911"/>
            <a:ext cx="7251700" cy="47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354965" indent="-342265"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Aplicação inadequada da teoria </a:t>
            </a:r>
            <a:r>
              <a:rPr lang="pt-BR" sz="2400" dirty="0"/>
              <a:t>e assim os projetistas 7 opções num menu– 7 ícones numa barra de ferramentas. </a:t>
            </a:r>
            <a:endParaRPr lang="pt-BR" sz="2400" dirty="0"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Memória ≠ Reconhecimento</a:t>
            </a:r>
          </a:p>
          <a:p>
            <a:pPr marL="756285" marR="270510" lvl="1" indent="-287019" algn="l" rtl="0">
              <a:lnSpc>
                <a:spcPct val="108000"/>
              </a:lnSpc>
              <a:spcBef>
                <a:spcPts val="515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As pessoas podem varrer listas de itens, abas, itens de menu, até que possam ver aquilo que querem</a:t>
            </a:r>
          </a:p>
          <a:p>
            <a:pPr marL="757555" marR="99060" lvl="1" indent="-287020" algn="l" rtl="0">
              <a:lnSpc>
                <a:spcPct val="108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Elas não precisam trazer isso da memória tendo visto ou ouvido isso por muito pouco tempo</a:t>
            </a:r>
          </a:p>
          <a:p>
            <a:pPr marL="356870" marR="5080" lvl="0" indent="-342900" algn="l" rtl="0">
              <a:lnSpc>
                <a:spcPct val="107916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Algumas vezes um número pequeno de itens é um bom design</a:t>
            </a:r>
          </a:p>
          <a:p>
            <a:pPr marL="356870" marR="543560" lvl="0" indent="-342900" algn="l" rtl="0">
              <a:lnSpc>
                <a:spcPct val="107916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Mas depende da tarefa e da disponibilidade de espaço na tela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Teoria de Miller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Memória</a:t>
            </a:r>
            <a:r>
              <a:rPr lang="en-US" dirty="0"/>
              <a:t> – Implicações para o design</a:t>
            </a:r>
            <a:endParaRPr dirty="0"/>
          </a:p>
        </p:txBody>
      </p:sp>
      <p:sp>
        <p:nvSpPr>
          <p:cNvPr id="306" name="Google Shape;306;p23"/>
          <p:cNvSpPr txBox="1"/>
          <p:nvPr/>
        </p:nvSpPr>
        <p:spPr>
          <a:xfrm>
            <a:off x="1310004" y="2218434"/>
            <a:ext cx="7142480" cy="358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Não sobrecarregue a memória dos usuários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6285" lvl="1" indent="-287019" algn="l" rtl="0">
              <a:lnSpc>
                <a:spcPct val="100000"/>
              </a:lnSpc>
              <a:spcBef>
                <a:spcPts val="181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evite procedimentos complicados para realizar tarefas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Promova o reconhecimento em vez de lembrança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marR="752475" lvl="1" indent="-28702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utilize menus, ícones, e objetos (posicionados de forma consistente)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57555" marR="5080" lvl="1" indent="-28702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ofereça aos usuários diversas formas de codificar e armazenar informação eletrônica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156970" marR="122554" lvl="2" indent="-228600" algn="l" rtl="0">
              <a:lnSpc>
                <a:spcPct val="100000"/>
              </a:lnSpc>
              <a:spcBef>
                <a:spcPts val="1805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e.g. arquivos, mensagens e imagens, identificados por cores, marcadores, carimbos de tempo, ícones etc.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381642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Mais um experimento A próxima tela mostra um número Sua tarefa é memorizá-lo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Você tem 5 segundos para isso Pronto?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228600" indent="0" algn="ctr"/>
            <a:r>
              <a:rPr lang="pt-BR" sz="4400" dirty="0"/>
              <a:t>3002200210020002</a:t>
            </a:r>
          </a:p>
          <a:p>
            <a:pPr marL="8001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999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5355312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Mais um experimento A próxima tela mostra um número Sua tarefa é memorizá-lo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Você tem 5 segundos para isso Pronto?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228600" indent="0"/>
            <a:r>
              <a:rPr lang="pt-BR" sz="4400" dirty="0"/>
              <a:t>3002200210020002</a:t>
            </a:r>
          </a:p>
          <a:p>
            <a:pPr marL="8001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Cerca de 50% das pessoas é capaz de lembrar o número. Por que?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Existe um padrão de dígitos no número Aos que não identificaram o padrão, existem 16 aglomerados de informação para recordar, ou seja, mais que a capacidade típica de memorização Aos que identificaram o padrão, somente um aglomerado.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De trás para frente 2000, 2001, 2002, 2003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5039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861774"/>
          </a:xfrm>
        </p:spPr>
        <p:txBody>
          <a:bodyPr/>
          <a:lstStyle/>
          <a:p>
            <a:r>
              <a:rPr lang="pt-BR" dirty="0"/>
              <a:t>Reconhecimento x recordação 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4001095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Nós conseguimos reconhecer um material muito mais facilmente que podemos recordá-lo Implicações óbvias para o projeto de interfaces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Torne os objetos visíveis, facilitando o reconhecimento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Compare: menus vs. linha de comando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Reconhecimento: o conhecimento está no ambiente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Recordação: o conhecimento está na cabeça do usuário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266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Aprendizado</a:t>
            </a:r>
            <a:endParaRPr dirty="0"/>
          </a:p>
        </p:txBody>
      </p:sp>
      <p:sp>
        <p:nvSpPr>
          <p:cNvPr id="344" name="Google Shape;344;p27"/>
          <p:cNvSpPr txBox="1"/>
          <p:nvPr/>
        </p:nvSpPr>
        <p:spPr>
          <a:xfrm>
            <a:off x="1310004" y="2361837"/>
            <a:ext cx="7589520" cy="262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Pode ser considerado em dois aspectos: aprendizado de tecnologia vs. apoiado por tecnologia</a:t>
            </a:r>
          </a:p>
          <a:p>
            <a:pPr marL="756285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como utilizar uma aplicação computacional</a:t>
            </a:r>
          </a:p>
          <a:p>
            <a:pPr marL="756285" marR="47498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utilizar uma aplicação computacional para entender algo (e.g. aprender sobre um processo)</a:t>
            </a:r>
          </a:p>
          <a:p>
            <a:pPr marL="756285" marR="47498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endParaRPr lang="en-US" sz="2000" dirty="0"/>
          </a:p>
          <a:p>
            <a:pPr marL="756285" marR="47498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a90aa379a_0_6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funciona o cérebro?</a:t>
            </a:r>
            <a:endParaRPr/>
          </a:p>
        </p:txBody>
      </p:sp>
      <p:sp>
        <p:nvSpPr>
          <p:cNvPr id="355" name="Google Shape;355;g37a90aa379a_0_6"/>
          <p:cNvSpPr txBox="1">
            <a:spLocks noGrp="1"/>
          </p:cNvSpPr>
          <p:nvPr>
            <p:ph type="body" idx="1"/>
          </p:nvPr>
        </p:nvSpPr>
        <p:spPr>
          <a:xfrm>
            <a:off x="1310004" y="2218434"/>
            <a:ext cx="7521600" cy="184665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O cérebro não lê letra por letra, mas reconhece padrões e a forma da palavra.  </a:t>
            </a:r>
            <a:r>
              <a:rPr lang="pt-BR" sz="2400" dirty="0">
                <a:solidFill>
                  <a:srgbClr val="FF0000"/>
                </a:solidFill>
              </a:rPr>
              <a:t>Aprendeu</a:t>
            </a:r>
            <a:r>
              <a:rPr lang="pt-BR" sz="2400" dirty="0"/>
              <a:t> a ler, seu cérebro criou “atalhos” para reconhecer palavras inteiras, em vez de soletrar letra por letra. Memória (vocabulário) e Previsão (antecipação cognitiva).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Aprendizado</a:t>
            </a:r>
            <a:endParaRPr dirty="0"/>
          </a:p>
        </p:txBody>
      </p:sp>
      <p:sp>
        <p:nvSpPr>
          <p:cNvPr id="373" name="Google Shape;373;p28"/>
          <p:cNvSpPr txBox="1"/>
          <p:nvPr/>
        </p:nvSpPr>
        <p:spPr>
          <a:xfrm>
            <a:off x="1310004" y="2290063"/>
            <a:ext cx="7596505" cy="3879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74104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muitas pessoas têm dificuldade de aprender um conjunto de instruções num manual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preferem “aprender fazendo”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756285" marR="15875" lvl="1" indent="-287019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GUIs e interfaces de manipulação direta apóiam exploração, 	permitem desfazer (“undo”) ações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marR="5080" lvl="1" indent="-2870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“training-wheels”: restringir funções possíveis ao básico e estender esse conjunto na medida em que o novato se torna experiente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lvl="1" indent="-28638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ajuda contextualizada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757555" marR="60325" lvl="1" indent="-2870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uso de multimídia interativa para usuários explorarem idéias e conceitos de diferentes formas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Aprendizado – Implicações para o Design</a:t>
            </a:r>
            <a:endParaRPr dirty="0"/>
          </a:p>
        </p:txBody>
      </p:sp>
      <p:sp>
        <p:nvSpPr>
          <p:cNvPr id="380" name="Google Shape;380;p29"/>
          <p:cNvSpPr txBox="1"/>
          <p:nvPr/>
        </p:nvSpPr>
        <p:spPr>
          <a:xfrm>
            <a:off x="1310004" y="2145429"/>
            <a:ext cx="7551420" cy="401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Projete interfaces que motivem a exploração</a:t>
            </a:r>
          </a:p>
          <a:p>
            <a:pPr marL="756285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ações facilmente reversíveis (</a:t>
            </a:r>
            <a:r>
              <a:rPr lang="pt-BR" sz="2000" i="1" dirty="0" err="1">
                <a:sym typeface="Arial"/>
              </a:rPr>
              <a:t>undo</a:t>
            </a:r>
            <a:r>
              <a:rPr lang="pt-BR" sz="2000" dirty="0">
                <a:sym typeface="Arial"/>
              </a:rPr>
              <a:t>)</a:t>
            </a:r>
          </a:p>
          <a:p>
            <a:pPr marL="354965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Projete interfaces que limitem e orientem os usuários a selecionarem ações adequadas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sym typeface="Arial"/>
              </a:rPr>
              <a:t>assistentes (</a:t>
            </a:r>
            <a:r>
              <a:rPr lang="pt-BR" sz="2000" i="1" dirty="0" err="1">
                <a:sym typeface="Arial"/>
              </a:rPr>
              <a:t>wizards</a:t>
            </a:r>
            <a:r>
              <a:rPr lang="pt-BR" sz="2000" dirty="0">
                <a:sym typeface="Arial"/>
              </a:rPr>
              <a:t>)</a:t>
            </a:r>
          </a:p>
          <a:p>
            <a:pPr marL="356870" marR="86995" lvl="0" indent="-34290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sym typeface="Arial"/>
              </a:rPr>
              <a:t>Ofereça instruções contextualizadas e em diferentes mídias</a:t>
            </a:r>
          </a:p>
          <a:p>
            <a:pPr marL="356870" marR="86995" lvl="0" indent="-34290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/>
              <a:t>Faça uma ligação dinâmica de representações concretas e conceitos abstratos para  facilitar a aprendizagem de material complexo</a:t>
            </a:r>
            <a:endParaRPr lang="pt-BR" sz="2400" dirty="0"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Ler, escrever, falar e ouvir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1310004" y="2145283"/>
            <a:ext cx="7016115" cy="420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São três  formas de processar a linguagem com propriedades semelhantes e  diferentes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semelhanças: o significado das sentenças é o mesmo independentemente do modo que é transmitido.</a:t>
            </a:r>
          </a:p>
          <a:p>
            <a:pPr marL="354965" marR="938530" lvl="0" indent="-342900" algn="l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diferenças: facilidade de processamento e preferências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Algumas pessoas preferem ler a ouvir, outras não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Algumas pessoas preferem falar a escrever, outras não</a:t>
            </a:r>
          </a:p>
          <a:p>
            <a:pPr marL="757555" marR="492125" lvl="1" indent="-287020" algn="l" rtl="0">
              <a:lnSpc>
                <a:spcPct val="108000"/>
              </a:lnSpc>
              <a:spcBef>
                <a:spcPts val="509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Pessoas com dificuldades de audição ou visão têm restrições sobre como processam a linguagem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Linguagem </a:t>
            </a:r>
            <a:r>
              <a:rPr lang="en-US" dirty="0" err="1"/>
              <a:t>falada</a:t>
            </a:r>
            <a:r>
              <a:rPr lang="en-US" dirty="0"/>
              <a:t> vs. </a:t>
            </a:r>
            <a:r>
              <a:rPr lang="en-US" dirty="0" err="1"/>
              <a:t>escrita</a:t>
            </a:r>
            <a:endParaRPr dirty="0"/>
          </a:p>
        </p:txBody>
      </p:sp>
      <p:sp>
        <p:nvSpPr>
          <p:cNvPr id="398" name="Google Shape;398;p31"/>
          <p:cNvSpPr txBox="1"/>
          <p:nvPr/>
        </p:nvSpPr>
        <p:spPr>
          <a:xfrm>
            <a:off x="1310004" y="2286057"/>
            <a:ext cx="4318635" cy="33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>
                <a:latin typeface="Arial"/>
                <a:ea typeface="Arial"/>
                <a:cs typeface="Arial"/>
                <a:sym typeface="Arial"/>
              </a:rPr>
              <a:t>linguagem falada	•</a:t>
            </a:r>
          </a:p>
          <a:p>
            <a:pPr marL="756285" lvl="1" indent="-28701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transiente</a:t>
            </a:r>
          </a:p>
          <a:p>
            <a:pPr marL="1155065" marR="749300" lvl="2" indent="-22860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a informação é dada e “vai embora”</a:t>
            </a:r>
          </a:p>
          <a:p>
            <a:pPr marL="757555" marR="467994" lvl="1" indent="-28702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o acesso é sequencial (temos de esperar o informante produzir a fala com a informação)</a:t>
            </a:r>
          </a:p>
          <a:p>
            <a:pPr marL="757555" marR="889000" lvl="1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mais “erros de gramática”, que costumam passar despercebidos</a:t>
            </a:r>
          </a:p>
        </p:txBody>
      </p:sp>
      <p:sp>
        <p:nvSpPr>
          <p:cNvPr id="399" name="Google Shape;399;p31"/>
          <p:cNvSpPr txBox="1"/>
          <p:nvPr/>
        </p:nvSpPr>
        <p:spPr>
          <a:xfrm>
            <a:off x="5848474" y="2286057"/>
            <a:ext cx="3469640" cy="305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latin typeface="Arial"/>
                <a:ea typeface="Arial"/>
                <a:cs typeface="Arial"/>
                <a:sym typeface="Arial"/>
              </a:rPr>
              <a:t>linguagem escrita</a:t>
            </a:r>
          </a:p>
          <a:p>
            <a:pPr marL="412115" lvl="0" indent="-285750" algn="just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permanente</a:t>
            </a:r>
          </a:p>
          <a:p>
            <a:pPr marL="812165" marR="5080" lvl="1" indent="-228600" algn="just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	informação pode ser relida quantas vezes for necessário</a:t>
            </a:r>
          </a:p>
          <a:p>
            <a:pPr marL="413384" marR="64769" lvl="0" indent="-285750" algn="just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podemos consultar um índice ou varrer títulos e ir direto ao que nos interessa</a:t>
            </a:r>
          </a:p>
          <a:p>
            <a:pPr marL="414655" marR="180340" lvl="0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menos “erros de gramática”, que costumam ser mais percebidos</a:t>
            </a:r>
          </a:p>
        </p:txBody>
      </p:sp>
      <p:sp>
        <p:nvSpPr>
          <p:cNvPr id="2" name="Retângulo 1"/>
          <p:cNvSpPr/>
          <p:nvPr/>
        </p:nvSpPr>
        <p:spPr>
          <a:xfrm>
            <a:off x="1947406" y="6112379"/>
            <a:ext cx="7802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Ouvir exige menos esforço cognitivo do que ler ou falar.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>
            <a:spLocks noGrp="1"/>
          </p:cNvSpPr>
          <p:nvPr>
            <p:ph type="title"/>
          </p:nvPr>
        </p:nvSpPr>
        <p:spPr>
          <a:xfrm>
            <a:off x="1310004" y="1622551"/>
            <a:ext cx="313245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Linguagem - E </a:t>
            </a:r>
            <a:r>
              <a:rPr lang="en-US" dirty="0" err="1"/>
              <a:t>daí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408" name="Google Shape;408;p32"/>
          <p:cNvSpPr txBox="1"/>
          <p:nvPr/>
        </p:nvSpPr>
        <p:spPr>
          <a:xfrm>
            <a:off x="1310004" y="2075325"/>
            <a:ext cx="7486015" cy="420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Diferenças entre linguagem falada e escrita</a:t>
            </a:r>
          </a:p>
          <a:p>
            <a:pPr marL="756285" marR="160020" lvl="1" indent="-28701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impacto no projeto de sistemas que podem ser acessados pela web ou por  voz</a:t>
            </a:r>
          </a:p>
          <a:p>
            <a:pPr marL="354965" marR="19685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Pessoas com dificuldades para ouvir e enxergar têm 	algumas restrições na maneira de processar a 	linguagem</a:t>
            </a:r>
          </a:p>
          <a:p>
            <a:pPr marL="757555" lvl="1" indent="-286385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 dirty="0">
                <a:latin typeface="Arial"/>
                <a:ea typeface="Arial"/>
                <a:cs typeface="Arial"/>
                <a:sym typeface="Arial"/>
              </a:rPr>
              <a:t>impacto no projeto de um website de órgãos públicos</a:t>
            </a:r>
          </a:p>
          <a:p>
            <a:pPr marL="356870" marR="5080" lvl="0" indent="-34290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Quando você estiver projetando aquele website multimídia sensacional, pense nas mídias e nas restrições ou vantagens de processamento cognitivo que cada uma traz consigo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Linguagem - Implicações para o Design</a:t>
            </a:r>
            <a:endParaRPr dirty="0"/>
          </a:p>
        </p:txBody>
      </p:sp>
      <p:sp>
        <p:nvSpPr>
          <p:cNvPr id="421" name="Google Shape;421;p33"/>
          <p:cNvSpPr txBox="1">
            <a:spLocks noGrp="1"/>
          </p:cNvSpPr>
          <p:nvPr>
            <p:ph type="body" idx="1"/>
          </p:nvPr>
        </p:nvSpPr>
        <p:spPr>
          <a:xfrm>
            <a:off x="1310004" y="2218434"/>
            <a:ext cx="8553201" cy="367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50" rIns="0" bIns="0" anchor="t" anchorCtr="0">
            <a:spAutoFit/>
          </a:bodyPr>
          <a:lstStyle/>
          <a:p>
            <a:pPr marL="228600" indent="0"/>
            <a:r>
              <a:rPr lang="pt-BR" sz="2400" dirty="0"/>
              <a:t>Mantenha o comprimento de menus de voz reduzido. Pessoas têm dificuldade de acompanhar menus de voz com mais do que 4 opções, e não se lembram de instruções que tenham muitas partes </a:t>
            </a:r>
          </a:p>
          <a:p>
            <a:pPr marL="354965" marR="106679" lvl="0" indent="-342900" algn="l" rtl="0">
              <a:lnSpc>
                <a:spcPct val="107916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/>
              <a:t>Acentue a entonação de vozes geradas  artificialmente, pois são mais difíceis de entender do 	que vozes humanas</a:t>
            </a:r>
          </a:p>
          <a:p>
            <a:pPr marL="356870" marR="91440" lvl="0" indent="-342900" algn="l" rtl="0">
              <a:lnSpc>
                <a:spcPct val="107916"/>
              </a:lnSpc>
              <a:spcBef>
                <a:spcPts val="5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/>
              <a:t>Ofereça oportunidades de tornar o texto maior numa tela, sem afetar a formatação, para as pessoas que não conseguem ler textos em letras pequenas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Raciocinar e Decidir</a:t>
            </a:r>
            <a:endParaRPr/>
          </a:p>
        </p:txBody>
      </p:sp>
      <p:sp>
        <p:nvSpPr>
          <p:cNvPr id="428" name="Google Shape;428;p34"/>
          <p:cNvSpPr txBox="1"/>
          <p:nvPr/>
        </p:nvSpPr>
        <p:spPr>
          <a:xfrm>
            <a:off x="1310004" y="2363215"/>
            <a:ext cx="7343775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marR="419734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/>
              <a:t>R</a:t>
            </a:r>
            <a:r>
              <a:rPr lang="pt-BR" sz="2200" dirty="0">
                <a:sym typeface="Arial"/>
              </a:rPr>
              <a:t>esolver problemas, planejar, raciocinar e decidir são processos que envolvem a cognição reflexiva</a:t>
            </a:r>
          </a:p>
          <a:p>
            <a:pPr marL="756285" marR="5080" lvl="1" indent="-287019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pensar sobre o que fazer e quais são as opções, comparar as opções, pensar nas consequências de realizar uma ação, decidir</a:t>
            </a:r>
          </a:p>
          <a:p>
            <a:pPr marL="356870" marR="12700" lvl="0" indent="-34290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pt-BR" sz="2200" dirty="0"/>
              <a:t>E</a:t>
            </a:r>
            <a:r>
              <a:rPr lang="pt-BR" sz="2200" dirty="0">
                <a:sym typeface="Arial"/>
              </a:rPr>
              <a:t>nvolvem processos conscientes, discussão com os outros, e o uso de diversos artefatos (e.g. mapas, livros, papel e lápis)</a:t>
            </a:r>
          </a:p>
          <a:p>
            <a:pPr marL="757555" marR="191770" lvl="1" indent="-28702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explorar diferentes cenários e decidir qual é a melhor opção ou solução para um problema</a:t>
            </a:r>
          </a:p>
          <a:p>
            <a:pPr marL="757555" marR="931544" lvl="1" indent="-28702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sym typeface="Arial"/>
              </a:rPr>
              <a:t>comparar diferentes fontes de informação (para adquirir conhecimento sobre prós e contras)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Raciocinar</a:t>
            </a:r>
            <a:r>
              <a:rPr lang="en-US" dirty="0"/>
              <a:t> e </a:t>
            </a:r>
            <a:r>
              <a:rPr lang="en-US" dirty="0" err="1"/>
              <a:t>Decidir</a:t>
            </a:r>
            <a:r>
              <a:rPr lang="en-US" dirty="0"/>
              <a:t> – Implicações para o Design</a:t>
            </a:r>
            <a:endParaRPr dirty="0"/>
          </a:p>
        </p:txBody>
      </p:sp>
      <p:sp>
        <p:nvSpPr>
          <p:cNvPr id="441" name="Google Shape;441;p35"/>
          <p:cNvSpPr txBox="1"/>
          <p:nvPr/>
        </p:nvSpPr>
        <p:spPr>
          <a:xfrm>
            <a:off x="1310004" y="2214879"/>
            <a:ext cx="7433945" cy="381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6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novatos vs. especialistas (experientes)</a:t>
            </a:r>
          </a:p>
          <a:p>
            <a:pPr marL="756285" marR="878839" lvl="1" indent="-287019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novatos tendem a agir na “tentativa-e-erro”, explorando e experimentando, agindo "irracionalmente"</a:t>
            </a:r>
          </a:p>
          <a:p>
            <a:pPr marL="756285" marR="259079" lvl="1" indent="-287019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especialistas são capazes de selecionar estratégias otimizadas para realizar suas tarefas; podem planejar com antecedência, considerar as consequências antes de optar por uma solução particular</a:t>
            </a:r>
          </a:p>
          <a:p>
            <a:pPr marL="356870" lvl="0" indent="-342900" algn="l" rtl="0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 dirty="0">
                <a:latin typeface="Arial"/>
                <a:ea typeface="Arial"/>
                <a:cs typeface="Arial"/>
                <a:sym typeface="Arial"/>
              </a:rPr>
              <a:t>Como ajudar a um novato se tornar especialista?</a:t>
            </a:r>
          </a:p>
          <a:p>
            <a:pPr marL="757555" marR="5080" lvl="1" indent="-28702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1800"/>
              <a:buFont typeface="Arial"/>
              <a:buChar char="–"/>
            </a:pPr>
            <a:r>
              <a:rPr lang="pt-BR" sz="1800" dirty="0">
                <a:latin typeface="Arial"/>
                <a:ea typeface="Arial"/>
                <a:cs typeface="Arial"/>
                <a:sym typeface="Arial"/>
              </a:rPr>
              <a:t>Forneça informações e opções adicionais (inicialmente ocultas, mas que sejam fáceis de acessar) para os usuários que quiserem saber mais sobre como realizar uma atividade de forma mais eficiente (e.g. busca na web)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6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Resumo</a:t>
            </a:r>
            <a:endParaRPr dirty="0"/>
          </a:p>
        </p:txBody>
      </p:sp>
      <p:sp>
        <p:nvSpPr>
          <p:cNvPr id="452" name="Google Shape;452;p36"/>
          <p:cNvSpPr txBox="1"/>
          <p:nvPr/>
        </p:nvSpPr>
        <p:spPr>
          <a:xfrm>
            <a:off x="1310004" y="2363215"/>
            <a:ext cx="7434580" cy="229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819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Cognição envolve muitos processos, incluindo atenção, memória, percepção e aprendizado.</a:t>
            </a:r>
          </a:p>
          <a:p>
            <a:pPr marL="354965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A forma como uma interface é projetada pode afetar muito o quanto os usuários conseguem perceber, focar, aprender e se lembrar sobre como realizar suas tarefas.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0969C-7F02-4FD5-9905-F602C61F2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 - Atenção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E2D7B7-6D18-4F30-B362-8A1896824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004" y="2229359"/>
            <a:ext cx="7521575" cy="2462213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Experimento. Descrição: Ache um voluntário e um cronômetro. Serão apresentadas duas telas, cada tela contém duas listas de letras em cores diferentes, meça o tempo que o seu voluntário leva para dizer em voz alta as cores que aparecem na tela. Quando a próxima tela aparecer, diga as cores o mais rápido que puder, e ao final diga FIM.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0566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/>
          </p:nvPr>
        </p:nvGraphicFramePr>
        <p:xfrm>
          <a:off x="3436302" y="1767839"/>
          <a:ext cx="3820795" cy="543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Bitmap Image" r:id="rId3" imgW="2800741" imgH="3982006" progId="Paint.Picture">
                  <p:embed/>
                </p:oleObj>
              </mc:Choice>
              <mc:Fallback>
                <p:oleObj name="Bitmap Image" r:id="rId3" imgW="2800741" imgH="3982006" progId="Paint.Picture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302" y="1767839"/>
                        <a:ext cx="3820795" cy="5432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5212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/>
          </p:nvPr>
        </p:nvGraphicFramePr>
        <p:xfrm>
          <a:off x="3615055" y="1905000"/>
          <a:ext cx="3463290" cy="5463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Bitmap Image" r:id="rId3" imgW="2457143" imgH="3877216" progId="Paint.Picture">
                  <p:embed/>
                </p:oleObj>
              </mc:Choice>
              <mc:Fallback>
                <p:oleObj name="Bitmap Image" r:id="rId3" imgW="2457143" imgH="3877216" progId="Paint.Picture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5055" y="1905000"/>
                        <a:ext cx="3463290" cy="54634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1352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9DE91-CC3B-4FE1-A808-BBD0C8E3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724" y="989903"/>
            <a:ext cx="170065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04826462-0F5A-41A0-9BCC-4B9D84284D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83724" y="989904"/>
          <a:ext cx="4256690" cy="6407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Imagem de Bitmap" r:id="rId3" imgW="2676899" imgH="4029637" progId="Paint.Picture">
                  <p:embed/>
                </p:oleObj>
              </mc:Choice>
              <mc:Fallback>
                <p:oleObj name="Imagem de Bitmap" r:id="rId3" imgW="2676899" imgH="4029637" progId="Paint.Picture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4826462-0F5A-41A0-9BCC-4B9D84284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724" y="989904"/>
                        <a:ext cx="4256690" cy="6407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9201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/>
          </p:nvPr>
        </p:nvGraphicFramePr>
        <p:xfrm>
          <a:off x="3642360" y="1517650"/>
          <a:ext cx="4227195" cy="603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Bitmap Image" r:id="rId3" imgW="2734057" imgH="3905795" progId="Paint.Picture">
                  <p:embed/>
                </p:oleObj>
              </mc:Choice>
              <mc:Fallback>
                <p:oleObj name="Bitmap Image" r:id="rId3" imgW="2734057" imgH="3905795" progId="Paint.Picture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360" y="1517650"/>
                        <a:ext cx="4227195" cy="6038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7984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8379B-474A-4766-8D20-AFBBBF28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 </a:t>
            </a:r>
            <a:r>
              <a:rPr lang="en-US" dirty="0"/>
              <a:t>Percepção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7D7987-AAA3-4D26-84A7-836A7D57E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307777"/>
          </a:xfrm>
        </p:spPr>
        <p:txBody>
          <a:bodyPr/>
          <a:lstStyle/>
          <a:p>
            <a:r>
              <a:rPr lang="pt-BR" dirty="0"/>
              <a:t>Legibilidade: o que é mais fácil de ler?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6FC02C-EAE0-46F5-95C3-63BA558F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312" y="2895576"/>
            <a:ext cx="7202267" cy="381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73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91" cy="452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Percepção</a:t>
            </a:r>
            <a:endParaRPr dirty="0"/>
          </a:p>
        </p:txBody>
      </p:sp>
      <p:sp>
        <p:nvSpPr>
          <p:cNvPr id="201" name="Google Shape;201;p15"/>
          <p:cNvSpPr txBox="1"/>
          <p:nvPr/>
        </p:nvSpPr>
        <p:spPr>
          <a:xfrm>
            <a:off x="1247516" y="2218435"/>
            <a:ext cx="8103626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pt-BR" sz="2400" dirty="0"/>
              <a:t>±8% dos homens têm alguma forma de daltonismo (1 em 12)</a:t>
            </a:r>
          </a:p>
        </p:txBody>
      </p:sp>
      <p:pic>
        <p:nvPicPr>
          <p:cNvPr id="7" name="Imagem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459" y="3501345"/>
            <a:ext cx="4572000" cy="2637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6058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50510-B4F7-4506-A995-A68B5EE1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430887"/>
          </a:xfrm>
        </p:spPr>
        <p:txBody>
          <a:bodyPr/>
          <a:lstStyle/>
          <a:p>
            <a:r>
              <a:rPr lang="pt-BR" dirty="0"/>
              <a:t>Experimento de </a:t>
            </a:r>
            <a:r>
              <a:rPr lang="en-US" dirty="0"/>
              <a:t>Percepção de </a:t>
            </a:r>
            <a:r>
              <a:rPr lang="pt-BR" dirty="0"/>
              <a:t>Gestalt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AD533D-BC98-465F-88D1-DB811CF2A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307777"/>
          </a:xfrm>
        </p:spPr>
        <p:txBody>
          <a:bodyPr/>
          <a:lstStyle/>
          <a:p>
            <a:r>
              <a:rPr lang="pt-BR" dirty="0"/>
              <a:t>https://ned.unifenas.br/cursosgratuitos/Gestalt/Gestalt.aspx</a:t>
            </a:r>
          </a:p>
        </p:txBody>
      </p:sp>
    </p:spTree>
    <p:extLst>
      <p:ext uri="{BB962C8B-B14F-4D97-AF65-F5344CB8AC3E}">
        <p14:creationId xmlns:p14="http://schemas.microsoft.com/office/powerpoint/2010/main" val="23755011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75964" y="662431"/>
            <a:ext cx="8073391" cy="430887"/>
          </a:xfrm>
        </p:spPr>
        <p:txBody>
          <a:bodyPr/>
          <a:lstStyle/>
          <a:p>
            <a:r>
              <a:rPr lang="pt-BR" dirty="0"/>
              <a:t>Experimento Gestalt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4651629" cy="307777"/>
          </a:xfrm>
        </p:spPr>
        <p:txBody>
          <a:bodyPr/>
          <a:lstStyle/>
          <a:p>
            <a:r>
              <a:rPr lang="pt-BR" dirty="0"/>
              <a:t>Que tenho aqui?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398" y="3026728"/>
            <a:ext cx="49625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79077"/>
            <a:ext cx="51911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697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75964" y="662431"/>
            <a:ext cx="8073391" cy="430887"/>
          </a:xfrm>
        </p:spPr>
        <p:txBody>
          <a:bodyPr/>
          <a:lstStyle/>
          <a:p>
            <a:r>
              <a:rPr lang="pt-BR" dirty="0"/>
              <a:t>Experimento Gestalt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4651629" cy="307777"/>
          </a:xfrm>
        </p:spPr>
        <p:txBody>
          <a:bodyPr/>
          <a:lstStyle/>
          <a:p>
            <a:r>
              <a:rPr lang="pt-BR" dirty="0"/>
              <a:t>Que tenho aqui?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443" y="2823845"/>
            <a:ext cx="402907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5307"/>
            <a:ext cx="536257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450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8364" y="662431"/>
            <a:ext cx="8073391" cy="430887"/>
          </a:xfrm>
        </p:spPr>
        <p:txBody>
          <a:bodyPr/>
          <a:lstStyle/>
          <a:p>
            <a:r>
              <a:rPr lang="pt-BR" dirty="0" err="1"/>
              <a:t>Expermiento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58" y="2668588"/>
            <a:ext cx="221932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64902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0004" y="1653031"/>
            <a:ext cx="8073391" cy="861774"/>
          </a:xfrm>
        </p:spPr>
        <p:txBody>
          <a:bodyPr/>
          <a:lstStyle/>
          <a:p>
            <a:r>
              <a:rPr lang="pt-BR" dirty="0"/>
              <a:t>Experimento Memória: recorde este número</a:t>
            </a:r>
            <a:br>
              <a:rPr lang="pt-BR" dirty="0"/>
            </a:br>
            <a:r>
              <a:rPr lang="pt-BR" dirty="0"/>
              <a:t>Você tem 5 segundos.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2954655"/>
          </a:xfrm>
        </p:spPr>
        <p:txBody>
          <a:bodyPr/>
          <a:lstStyle/>
          <a:p>
            <a:pPr algn="ctr"/>
            <a:endParaRPr lang="pt-BR" sz="4800" dirty="0"/>
          </a:p>
          <a:p>
            <a:pPr algn="ctr"/>
            <a:endParaRPr lang="pt-BR" sz="4800" dirty="0"/>
          </a:p>
          <a:p>
            <a:pPr algn="ctr"/>
            <a:r>
              <a:rPr lang="pt-BR" sz="4800" dirty="0"/>
              <a:t>275433002617</a:t>
            </a:r>
          </a:p>
          <a:p>
            <a:pPr algn="ctr"/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916253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89DF15-0C2A-40E5-9E9C-A3659FFAB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004" y="2218434"/>
            <a:ext cx="7521575" cy="2523768"/>
          </a:xfrm>
        </p:spPr>
        <p:txBody>
          <a:bodyPr/>
          <a:lstStyle/>
          <a:p>
            <a:pPr algn="ctr"/>
            <a:endParaRPr lang="pt-BR" sz="6000" dirty="0"/>
          </a:p>
          <a:p>
            <a:pPr algn="ctr"/>
            <a:r>
              <a:rPr lang="pt-BR" sz="6000" dirty="0"/>
              <a:t>27 543 300 26 17</a:t>
            </a: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493034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a90aa379a_0_6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Aprendizado</a:t>
            </a:r>
            <a:endParaRPr dirty="0"/>
          </a:p>
        </p:txBody>
      </p:sp>
      <p:pic>
        <p:nvPicPr>
          <p:cNvPr id="356" name="Google Shape;356;g37a90aa379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508" y="2437658"/>
            <a:ext cx="7846383" cy="4099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7663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a90aa379a_0_0"/>
          <p:cNvSpPr txBox="1">
            <a:spLocks noGrp="1"/>
          </p:cNvSpPr>
          <p:nvPr>
            <p:ph type="title"/>
          </p:nvPr>
        </p:nvSpPr>
        <p:spPr>
          <a:xfrm>
            <a:off x="1310004" y="1653031"/>
            <a:ext cx="80733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Ler</a:t>
            </a:r>
            <a:endParaRPr dirty="0"/>
          </a:p>
        </p:txBody>
      </p:sp>
      <p:pic>
        <p:nvPicPr>
          <p:cNvPr id="363" name="Google Shape;363;g37a90aa379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429" y="2417377"/>
            <a:ext cx="6584541" cy="4157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1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2403</Words>
  <Application>Microsoft Office PowerPoint</Application>
  <PresentationFormat>Personalizar</PresentationFormat>
  <Paragraphs>243</Paragraphs>
  <Slides>52</Slides>
  <Notes>36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52</vt:i4>
      </vt:variant>
    </vt:vector>
  </HeadingPairs>
  <TitlesOfParts>
    <vt:vector size="60" baseType="lpstr">
      <vt:lpstr>Noto Sans Symbols</vt:lpstr>
      <vt:lpstr>Verdana</vt:lpstr>
      <vt:lpstr>Tahoma</vt:lpstr>
      <vt:lpstr>Arial</vt:lpstr>
      <vt:lpstr>Calibri</vt:lpstr>
      <vt:lpstr>Office Theme</vt:lpstr>
      <vt:lpstr>Bitmap Image</vt:lpstr>
      <vt:lpstr>Imagem de Bitmap</vt:lpstr>
      <vt:lpstr>      ASPECTOS COGNITIVOS</vt:lpstr>
      <vt:lpstr>Visão geral</vt:lpstr>
      <vt:lpstr>Conhecimento de psicologia cognitiva para IHC</vt:lpstr>
      <vt:lpstr>Cognição Experiencial e Reflexiva (Norman, 1993)</vt:lpstr>
      <vt:lpstr>Experiencial ou Reflexiva?</vt:lpstr>
      <vt:lpstr>Principais processos cognitivos</vt:lpstr>
      <vt:lpstr>Atenção</vt:lpstr>
      <vt:lpstr>Atenção – Como Facilitar?</vt:lpstr>
      <vt:lpstr>Atenção – Implicações para o Design</vt:lpstr>
      <vt:lpstr>Atenção – Implicações para o Design</vt:lpstr>
      <vt:lpstr>Atenção – Atividade:</vt:lpstr>
      <vt:lpstr>Atenção – Atividade:</vt:lpstr>
      <vt:lpstr>Atenção - Atividade:</vt:lpstr>
      <vt:lpstr>Atenção - Atividade:</vt:lpstr>
      <vt:lpstr>Multitarefa e atenção</vt:lpstr>
      <vt:lpstr>Recomendação para tratar interrupções e multiprocessamento:  </vt:lpstr>
      <vt:lpstr>Percepção</vt:lpstr>
      <vt:lpstr>Percepção – Implicações para o Design</vt:lpstr>
      <vt:lpstr>Percepção  e Cores</vt:lpstr>
      <vt:lpstr>Memória</vt:lpstr>
      <vt:lpstr>Memória - O problema do ‘7±2’</vt:lpstr>
      <vt:lpstr>Teoria de Miller</vt:lpstr>
      <vt:lpstr>Memória – Implicações para o design</vt:lpstr>
      <vt:lpstr>Experimento</vt:lpstr>
      <vt:lpstr>Experimento</vt:lpstr>
      <vt:lpstr>Reconhecimento x recordação  </vt:lpstr>
      <vt:lpstr>Aprendizado</vt:lpstr>
      <vt:lpstr>Como funciona o cérebro?</vt:lpstr>
      <vt:lpstr>Aprendizado</vt:lpstr>
      <vt:lpstr>Aprendizado – Implicações para o Design</vt:lpstr>
      <vt:lpstr>Ler, escrever, falar e ouvir</vt:lpstr>
      <vt:lpstr>Linguagem falada vs. escrita</vt:lpstr>
      <vt:lpstr>Linguagem - E daí?</vt:lpstr>
      <vt:lpstr>Linguagem - Implicações para o Design</vt:lpstr>
      <vt:lpstr>Raciocinar e Decidir</vt:lpstr>
      <vt:lpstr>Raciocinar e Decidir – Implicações para o Design</vt:lpstr>
      <vt:lpstr>Resumo</vt:lpstr>
      <vt:lpstr>Experimento - Atenção</vt:lpstr>
      <vt:lpstr>Experimento</vt:lpstr>
      <vt:lpstr>Experimento</vt:lpstr>
      <vt:lpstr>Experimento</vt:lpstr>
      <vt:lpstr>Experimento</vt:lpstr>
      <vt:lpstr>Experimento Percepção</vt:lpstr>
      <vt:lpstr>Percepção</vt:lpstr>
      <vt:lpstr>Experimento de Percepção de Gestalt</vt:lpstr>
      <vt:lpstr>Experimento Gestalt</vt:lpstr>
      <vt:lpstr>Experimento Gestalt</vt:lpstr>
      <vt:lpstr>Expermiento</vt:lpstr>
      <vt:lpstr>Experimento Memória: recorde este número Você tem 5 segundos.</vt:lpstr>
      <vt:lpstr>Apresentação do PowerPoint</vt:lpstr>
      <vt:lpstr>Aprendizado</vt:lpstr>
      <vt:lpstr>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INF1403 – Introdução a Interação</dc:title>
  <dc:creator>abraposo</dc:creator>
  <cp:lastModifiedBy>CECILIA SOSA ARIAS PEIXOTO</cp:lastModifiedBy>
  <cp:revision>42</cp:revision>
  <dcterms:created xsi:type="dcterms:W3CDTF">2025-09-01T23:41:58Z</dcterms:created>
  <dcterms:modified xsi:type="dcterms:W3CDTF">2025-09-09T23:41:45Z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2014-03-17T00:00:00Z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2025-09-01T00:00:00Z</vt:filetime>
  </property>
  <property fmtid="{D5CDD505-2E9C-101B-9397-08002B2CF9AE}" pid="5" name="Producer">
    <vt:lpwstr>GPL Ghostscript 8.15</vt:lpwstr>
  </property>
</Properties>
</file>