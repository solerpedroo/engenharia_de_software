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73" r:id="rId2"/>
  </p:sldMasterIdLst>
  <p:notesMasterIdLst>
    <p:notesMasterId r:id="rId93"/>
  </p:notesMasterIdLst>
  <p:sldIdLst>
    <p:sldId id="256" r:id="rId3"/>
    <p:sldId id="34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41" r:id="rId23"/>
    <p:sldId id="343" r:id="rId24"/>
    <p:sldId id="369" r:id="rId25"/>
    <p:sldId id="370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47" r:id="rId36"/>
    <p:sldId id="345" r:id="rId37"/>
    <p:sldId id="346" r:id="rId38"/>
    <p:sldId id="344" r:id="rId39"/>
    <p:sldId id="312" r:id="rId40"/>
    <p:sldId id="313" r:id="rId41"/>
    <p:sldId id="314" r:id="rId42"/>
    <p:sldId id="349" r:id="rId43"/>
    <p:sldId id="350" r:id="rId44"/>
    <p:sldId id="351" r:id="rId45"/>
    <p:sldId id="352" r:id="rId46"/>
    <p:sldId id="355" r:id="rId47"/>
    <p:sldId id="356" r:id="rId48"/>
    <p:sldId id="357" r:id="rId49"/>
    <p:sldId id="358" r:id="rId50"/>
    <p:sldId id="266" r:id="rId51"/>
    <p:sldId id="270" r:id="rId52"/>
    <p:sldId id="315" r:id="rId53"/>
    <p:sldId id="316" r:id="rId54"/>
    <p:sldId id="371" r:id="rId55"/>
    <p:sldId id="372" r:id="rId56"/>
    <p:sldId id="373" r:id="rId57"/>
    <p:sldId id="374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1" r:id="rId72"/>
    <p:sldId id="332" r:id="rId73"/>
    <p:sldId id="333" r:id="rId74"/>
    <p:sldId id="359" r:id="rId75"/>
    <p:sldId id="360" r:id="rId76"/>
    <p:sldId id="361" r:id="rId77"/>
    <p:sldId id="362" r:id="rId78"/>
    <p:sldId id="363" r:id="rId79"/>
    <p:sldId id="364" r:id="rId80"/>
    <p:sldId id="334" r:id="rId81"/>
    <p:sldId id="365" r:id="rId82"/>
    <p:sldId id="366" r:id="rId83"/>
    <p:sldId id="367" r:id="rId84"/>
    <p:sldId id="368" r:id="rId85"/>
    <p:sldId id="354" r:id="rId86"/>
    <p:sldId id="335" r:id="rId87"/>
    <p:sldId id="336" r:id="rId88"/>
    <p:sldId id="337" r:id="rId89"/>
    <p:sldId id="338" r:id="rId90"/>
    <p:sldId id="339" r:id="rId91"/>
    <p:sldId id="340" r:id="rId92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94"/>
      <p:bold r:id="rId95"/>
      <p:italic r:id="rId96"/>
      <p:boldItalic r:id="rId97"/>
    </p:embeddedFont>
    <p:embeddedFont>
      <p:font typeface="Calibri" panose="020F0502020204030204" pitchFamily="34" charset="0"/>
      <p:regular r:id="rId98"/>
      <p:bold r:id="rId99"/>
      <p:italic r:id="rId100"/>
      <p:boldItalic r:id="rId101"/>
    </p:embeddedFont>
    <p:embeddedFont>
      <p:font typeface="Comic Sans MS" panose="030F0702030302020204" pitchFamily="66" charset="0"/>
      <p:regular r:id="rId102"/>
      <p:bold r:id="rId103"/>
      <p:italic r:id="rId104"/>
      <p:boldItalic r:id="rId105"/>
    </p:embeddedFont>
    <p:embeddedFont>
      <p:font typeface="MV Boli" panose="02000500030200090000" pitchFamily="2" charset="0"/>
      <p:regular r:id="rId106"/>
    </p:embeddedFont>
    <p:embeddedFont>
      <p:font typeface="Segoe UI" panose="020B0502040204020203" pitchFamily="34" charset="0"/>
      <p:regular r:id="rId107"/>
      <p:bold r:id="rId108"/>
      <p:italic r:id="rId109"/>
      <p:boldItalic r:id="rId110"/>
    </p:embeddedFont>
    <p:embeddedFont>
      <p:font typeface="Tahoma" panose="020B0604030504040204" pitchFamily="34" charset="0"/>
      <p:regular r:id="rId111"/>
      <p:bold r:id="rId112"/>
    </p:embeddedFont>
    <p:embeddedFont>
      <p:font typeface="Verdana" panose="020B0604030504040204" pitchFamily="34" charset="0"/>
      <p:regular r:id="rId113"/>
      <p:bold r:id="rId114"/>
      <p:italic r:id="rId115"/>
      <p:boldItalic r:id="rId116"/>
    </p:embeddedFont>
    <p:embeddedFont>
      <p:font typeface="Webdings" panose="05030102010509060703" pitchFamily="18" charset="2"/>
      <p:regular r:id="rId1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8" roundtripDataSignature="AMtx7mhHNwP3urIr9gzmm5qxfTKLQpDy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B36B58-D790-4100-9D16-017C47366C89}">
  <a:tblStyle styleId="{5AB36B58-D790-4100-9D16-017C47366C8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TxStyle/>
      <a:tcStyle>
        <a:tcBdr/>
        <a:fill>
          <a:solidFill>
            <a:srgbClr val="CAECD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CD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085FEB-06EA-4B87-B1C0-2A6BB46CB8D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7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font" Target="fonts/font24.fntdata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font" Target="fonts/font19.fntdata"/><Relationship Id="rId16" Type="http://schemas.openxmlformats.org/officeDocument/2006/relationships/slide" Target="slides/slide14.xml"/><Relationship Id="rId107" Type="http://schemas.openxmlformats.org/officeDocument/2006/relationships/font" Target="fonts/font14.fntdata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font" Target="fonts/font9.fntdata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font" Target="fonts/font2.fntdata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font" Target="fonts/font20.fntdata"/><Relationship Id="rId118" Type="http://customschemas.google.com/relationships/presentationmetadata" Target="metadata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font" Target="fonts/font10.fntdata"/><Relationship Id="rId108" Type="http://schemas.openxmlformats.org/officeDocument/2006/relationships/font" Target="fonts/font15.fntdata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font" Target="fonts/font21.fntdata"/><Relationship Id="rId119" Type="http://schemas.openxmlformats.org/officeDocument/2006/relationships/presProps" Target="presProps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font" Target="fonts/font16.fntdata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font" Target="fonts/font4.fntdata"/><Relationship Id="rId104" Type="http://schemas.openxmlformats.org/officeDocument/2006/relationships/font" Target="fonts/font11.fntdata"/><Relationship Id="rId120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font" Target="fonts/font17.fntdata"/><Relationship Id="rId115" Type="http://schemas.openxmlformats.org/officeDocument/2006/relationships/font" Target="fonts/font22.fntdata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font" Target="fonts/font7.fntdata"/><Relationship Id="rId105" Type="http://schemas.openxmlformats.org/officeDocument/2006/relationships/font" Target="fonts/font12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notesMaster" Target="notesMasters/notesMaster1.xml"/><Relationship Id="rId98" Type="http://schemas.openxmlformats.org/officeDocument/2006/relationships/font" Target="fonts/font5.fntdata"/><Relationship Id="rId121" Type="http://schemas.openxmlformats.org/officeDocument/2006/relationships/theme" Target="theme/theme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font" Target="fonts/font2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font" Target="fonts/font18.fntdata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font" Target="fonts/font13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font" Target="fonts/font1.fntdata"/><Relationship Id="rId99" Type="http://schemas.openxmlformats.org/officeDocument/2006/relationships/font" Target="fonts/font6.fntdata"/><Relationship Id="rId101" Type="http://schemas.openxmlformats.org/officeDocument/2006/relationships/font" Target="fonts/font8.fntdata"/><Relationship Id="rId1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409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8542662-A77D-49D5-A920-E9A4B0C85948}" type="slidenum">
              <a:rPr lang="en-GB" altLang="pt-BR" smtClean="0"/>
              <a:pPr eaLnBrk="1" hangingPunct="1">
                <a:spcBef>
                  <a:spcPct val="0"/>
                </a:spcBef>
              </a:pPr>
              <a:t>2</a:t>
            </a:fld>
            <a:endParaRPr lang="en-GB" altLang="pt-BR"/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2251075" y="709613"/>
            <a:ext cx="2357438" cy="34559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30000"/>
              </a:spcBef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None/>
            </a:pPr>
            <a:endParaRPr lang="pt-BR" altLang="pt-BR" sz="18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70388"/>
            <a:ext cx="5027613" cy="4065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B323271-177A-4D81-8787-C71C314CE596}" type="slidenum">
              <a:rPr lang="en-GB" altLang="pt-BR" smtClean="0"/>
              <a:pPr eaLnBrk="1" hangingPunct="1">
                <a:spcBef>
                  <a:spcPct val="0"/>
                </a:spcBef>
              </a:pPr>
              <a:t>22</a:t>
            </a:fld>
            <a:endParaRPr lang="en-GB" altLang="pt-BR"/>
          </a:p>
        </p:txBody>
      </p:sp>
      <p:sp>
        <p:nvSpPr>
          <p:cNvPr id="33795" name="Text Box 1"/>
          <p:cNvSpPr txBox="1">
            <a:spLocks noChangeArrowheads="1"/>
          </p:cNvSpPr>
          <p:nvPr/>
        </p:nvSpPr>
        <p:spPr bwMode="auto">
          <a:xfrm>
            <a:off x="2251075" y="709613"/>
            <a:ext cx="2357438" cy="34559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30000"/>
              </a:spcBef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None/>
            </a:pPr>
            <a:endParaRPr lang="pt-BR" altLang="pt-BR" sz="18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70388"/>
            <a:ext cx="5027613" cy="4065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5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5AE452-8459-48B2-A2A8-C0F717E78607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49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4DA267-733F-46B6-A949-938AB92760F0}" type="slidenum">
              <a:rPr lang="pt-BR" sz="1200" b="0" strike="noStrike" spc="-1">
                <a:solidFill>
                  <a:srgbClr val="000000"/>
                </a:solidFill>
                <a:latin typeface="Times New Roman"/>
              </a:rPr>
              <a:t>50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6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FONTE: https://www.devmedia.com.br/ciclos-de-vida-do-software/21099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84</a:t>
            </a:fld>
            <a:endParaRPr lang="pt-BR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4764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7" name="Google Shape;1097;p8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4" name="Google Shape;1104;p8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8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88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1" name="Google Shape;1111;p8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8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8" name="Google Shape;1118;p8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</a:t>
            </a:fld>
            <a:endParaRPr sz="12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7" name="Google Shape;1147;p8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0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0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7" name="Google Shape;77;p10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8" name="Google Shape;78;p1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5" name="Google Shape;85;p10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0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7" name="Google Shape;87;p10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0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0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0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0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10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1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0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0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10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0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0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0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0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0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0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1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0EF6B-3390-4804-A962-5FF362DACB7D}" type="datetime1">
              <a:rPr lang="en-US"/>
              <a:pPr>
                <a:defRPr/>
              </a:pPr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B05A4-6756-41C3-8612-B06641989E69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1950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DC1B2-A2DD-4F16-8B5E-F039C7AA7F16}" type="datetime1">
              <a:rPr lang="en-US"/>
              <a:pPr>
                <a:defRPr/>
              </a:pPr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8C92AB-3152-4B82-942B-9E4A1BB3EF87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91604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E2768-6FA1-4D10-A253-5729E03C9AD8}" type="datetime1">
              <a:rPr lang="en-US"/>
              <a:pPr>
                <a:defRPr/>
              </a:pPr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D3E84F-4C6C-4AFF-9537-F4AACDB17ACF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018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05EA6-85DC-45F8-83D7-D1E505E9E31E}" type="datetime1">
              <a:rPr lang="en-US"/>
              <a:pPr>
                <a:defRPr/>
              </a:pPr>
              <a:t>8/28/2024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4DC73-1CBB-4D41-B3AF-49E408A0958C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8768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9050F-3495-4DF0-9219-486690FF0FA2}" type="datetime1">
              <a:rPr lang="en-US"/>
              <a:pPr>
                <a:defRPr/>
              </a:pPr>
              <a:t>8/28/2024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6B0CF7-969C-4516-88C3-17598C15EE15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0394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9D01F-FF1C-46BF-B18C-C94BE3381AF6}" type="datetime1">
              <a:rPr lang="en-US"/>
              <a:pPr>
                <a:defRPr/>
              </a:pPr>
              <a:t>8/28/2024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4AD50-2CC9-4DAB-86BD-BCC4C1F1FA56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715823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894D4-58F9-4C21-B169-9664D3A010EE}" type="datetime1">
              <a:rPr lang="en-US"/>
              <a:pPr>
                <a:defRPr/>
              </a:pPr>
              <a:t>8/28/2024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3793F-7911-4742-B168-1B2C7BD1E057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398378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D7F82-CAA4-4A01-AC9D-D77982175787}" type="datetime1">
              <a:rPr lang="en-US"/>
              <a:pPr>
                <a:defRPr/>
              </a:pPr>
              <a:t>8/28/2024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73186-5A95-48BC-8E77-5CD59DE03A29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1761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B83D2-7380-41EC-A5A5-5DA487D8180F}" type="datetime1">
              <a:rPr lang="en-US"/>
              <a:pPr>
                <a:defRPr/>
              </a:pPr>
              <a:t>8/28/2024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EF799-FFA2-4593-94FF-9EBC6CD42228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883586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4D663-F850-40C3-BA17-07E878618CF0}" type="datetime1">
              <a:rPr lang="en-US"/>
              <a:pPr>
                <a:defRPr/>
              </a:pPr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C67D4-7F8D-47B4-98AF-945381D9FBD7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05389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58BD9-6991-4751-BC95-02412D02A87A}" type="datetime1">
              <a:rPr lang="en-US"/>
              <a:pPr>
                <a:defRPr/>
              </a:pPr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60233-C039-485C-BAF1-3E5EEE12B2A2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009668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46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9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9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9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título Mestre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de texto Mestres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8ECFCA8-F711-4755-BC64-26EC2929BBA3}" type="datetime1">
              <a:rPr lang="en-US"/>
              <a:pPr>
                <a:defRPr/>
              </a:pPr>
              <a:t>8/28/2024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6B19500-AB0F-4E5D-9D98-247C7D240DDD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9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aI2xtwMqcM" TargetMode="External"/><Relationship Id="rId2" Type="http://schemas.openxmlformats.org/officeDocument/2006/relationships/hyperlink" Target="https://www.youtube.com/watch?v=xSZUUIe5NpI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recantodasletras.com.br/resenhasdefilmes/143303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eerp.usp.br/rlae" TargetMode="External"/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eerp.usp.br/rlae" TargetMode="Externa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6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6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.br/imgres?imgurl=http://s294.photobucket.com/albums/mm96/sabater_wb/supermensagens/Garfield/ga075.gif&amp;imgrefurl=http://www.hi5.com/friend/46458699--Paty--Profile-html&amp;usg=__toidCYEF3x7MrKc_s3SEn5lXcY0=&amp;h=427&amp;w=500&amp;sz=58&amp;hl=pt-BR&amp;start=71&amp;sig2=oMYFHpCfTqhiiGLDqm-OAQ&amp;tbnid=QwQEjBqIr1fzVM:&amp;tbnh=111&amp;tbnw=130&amp;ei=O9iBSdibDYP87AO1yZHbDg&amp;prev=/images?q=tico+e+teco+chorando&amp;start=54&amp;gbv=2&amp;ndsp=18&amp;hl=pt-BR&amp;sa=N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jpg"/><Relationship Id="rId5" Type="http://schemas.openxmlformats.org/officeDocument/2006/relationships/hyperlink" Target="http://images.google.com.br/imgres?imgurl=http://www.mundo-dos-animais.com/assets/images/caes/odie.PNG&amp;imgrefurl=http://www.mundo-dos-animais.com/caes/caes-celebres.html&amp;usg=__LYq72PGPEKVEXSkLVRfJa8f9o58=&amp;h=150&amp;w=150&amp;sz=8&amp;hl=pt-BR&amp;start=96&amp;sig2=qika5ZtDf_D2zIw7RBeI4A&amp;tbnid=_dm0g71xUFulcM:&amp;tbnh=96&amp;tbnw=96&amp;ei=0tmBSZr0A4vK6gPjv-njDg&amp;prev=/images?q=garfield+idiota&amp;start=90&amp;gbv=2&amp;ndsp=18&amp;hl=pt-BR&amp;sa=N" TargetMode="External"/><Relationship Id="rId4" Type="http://schemas.openxmlformats.org/officeDocument/2006/relationships/image" Target="../media/image19.jp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.br/imgres?imgurl=http://s294.photobucket.com/albums/mm96/sabater_wb/supermensagens/Garfield/ga075.gif&amp;imgrefurl=http://www.hi5.com/friend/46458699--Paty--Profile-html&amp;usg=__toidCYEF3x7MrKc_s3SEn5lXcY0=&amp;h=427&amp;w=500&amp;sz=58&amp;hl=pt-BR&amp;start=71&amp;sig2=oMYFHpCfTqhiiGLDqm-OAQ&amp;tbnid=QwQEjBqIr1fzVM:&amp;tbnh=111&amp;tbnw=130&amp;ei=O9iBSdibDYP87AO1yZHbDg&amp;prev=/images?q=tico+e+teco+chorando&amp;start=54&amp;gbv=2&amp;ndsp=18&amp;hl=pt-BR&amp;sa=N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"/>
          <p:cNvSpPr txBox="1">
            <a:spLocks noGrp="1"/>
          </p:cNvSpPr>
          <p:nvPr>
            <p:ph type="ctrTitle"/>
          </p:nvPr>
        </p:nvSpPr>
        <p:spPr>
          <a:xfrm>
            <a:off x="304800" y="1066800"/>
            <a:ext cx="8534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 dirty="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pt-BR" sz="4500" b="1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4500" b="1" dirty="0">
                <a:latin typeface="Arial"/>
                <a:ea typeface="Arial"/>
                <a:cs typeface="Arial"/>
                <a:sym typeface="Arial"/>
              </a:rPr>
              <a:t>Métodos de Engenharia de Software</a:t>
            </a:r>
            <a:br>
              <a:rPr lang="pt-BR" sz="4000" b="1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131" name="Google Shape;131;p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pt-BR" dirty="0"/>
              <a:t>Aula 1</a:t>
            </a:r>
            <a:endParaRPr dirty="0"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pt-BR" dirty="0"/>
              <a:t>Fundamentos Básicos da Engenharia de Software</a:t>
            </a: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pt-BR" dirty="0"/>
              <a:t>Prof. Cecilia </a:t>
            </a:r>
            <a:r>
              <a:rPr lang="pt-BR" dirty="0" err="1"/>
              <a:t>Sosa</a:t>
            </a:r>
            <a:r>
              <a:rPr lang="pt-BR" dirty="0"/>
              <a:t> Arias Peixoto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420" y="197949"/>
            <a:ext cx="2212975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696200" cy="1143000"/>
          </a:xfrm>
        </p:spPr>
        <p:txBody>
          <a:bodyPr lIns="90000" tIns="46800" rIns="90000" bIns="46800" anchor="b"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pt-BR"/>
              <a:t>Introdução à Engenharia de Software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696200" cy="4978400"/>
          </a:xfrm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775"/>
              </a:spcBef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pt-BR" dirty="0"/>
              <a:t>Perguntas </a:t>
            </a:r>
            <a:r>
              <a:rPr lang="en-GB" altLang="pt-BR" dirty="0" err="1"/>
              <a:t>importantes</a:t>
            </a:r>
            <a:r>
              <a:rPr lang="en-GB" altLang="pt-BR" dirty="0"/>
              <a:t>:</a:t>
            </a:r>
          </a:p>
          <a:p>
            <a:pPr lvl="1" eaLnBrk="1" hangingPunct="1">
              <a:lnSpc>
                <a:spcPct val="100000"/>
              </a:lnSpc>
              <a:spcBef>
                <a:spcPts val="650"/>
              </a:spcBef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pt-BR" dirty="0"/>
              <a:t>O que é software?</a:t>
            </a:r>
          </a:p>
          <a:p>
            <a:pPr lvl="2" eaLnBrk="1" hangingPunct="1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SzPct val="150000"/>
              <a:buFont typeface="Arial" charset="0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pt-BR" sz="2000" dirty="0"/>
              <a:t>R. </a:t>
            </a:r>
            <a:r>
              <a:rPr lang="en-GB" altLang="pt-BR" sz="2000" dirty="0" err="1"/>
              <a:t>Não</a:t>
            </a:r>
            <a:r>
              <a:rPr lang="en-GB" altLang="pt-BR" sz="2000" dirty="0"/>
              <a:t> </a:t>
            </a:r>
            <a:r>
              <a:rPr lang="en-GB" altLang="pt-BR" sz="2000" dirty="0" err="1"/>
              <a:t>são</a:t>
            </a:r>
            <a:r>
              <a:rPr lang="en-GB" altLang="pt-BR" sz="2000" dirty="0"/>
              <a:t> </a:t>
            </a:r>
            <a:r>
              <a:rPr lang="en-GB" altLang="pt-BR" sz="2000" dirty="0" err="1"/>
              <a:t>só</a:t>
            </a:r>
            <a:r>
              <a:rPr lang="en-GB" altLang="pt-BR" sz="2000" dirty="0"/>
              <a:t> </a:t>
            </a:r>
            <a:r>
              <a:rPr lang="en-GB" altLang="pt-BR" sz="2000" dirty="0" err="1"/>
              <a:t>programas</a:t>
            </a:r>
            <a:r>
              <a:rPr lang="en-GB" altLang="pt-BR" sz="2000" dirty="0"/>
              <a:t>, mas </a:t>
            </a:r>
            <a:r>
              <a:rPr lang="en-GB" altLang="pt-BR" sz="2000" dirty="0" err="1"/>
              <a:t>tudo</a:t>
            </a:r>
            <a:r>
              <a:rPr lang="en-GB" altLang="pt-BR" sz="2000" dirty="0"/>
              <a:t> o que o </a:t>
            </a:r>
            <a:r>
              <a:rPr lang="en-GB" altLang="pt-BR" sz="2000" dirty="0" err="1"/>
              <a:t>possibilita</a:t>
            </a:r>
            <a:r>
              <a:rPr lang="en-GB" altLang="pt-BR" sz="2000" dirty="0"/>
              <a:t> </a:t>
            </a:r>
            <a:r>
              <a:rPr lang="en-GB" altLang="pt-BR" sz="2000" dirty="0" err="1"/>
              <a:t>funcionar</a:t>
            </a:r>
            <a:r>
              <a:rPr lang="en-GB" altLang="pt-BR" sz="2000" dirty="0"/>
              <a:t> e </a:t>
            </a:r>
            <a:r>
              <a:rPr lang="en-GB" altLang="pt-BR" sz="2000" dirty="0" err="1"/>
              <a:t>ser</a:t>
            </a:r>
            <a:r>
              <a:rPr lang="en-GB" altLang="pt-BR" sz="2000" dirty="0"/>
              <a:t> </a:t>
            </a:r>
            <a:r>
              <a:rPr lang="en-GB" altLang="pt-BR" sz="2000" dirty="0" err="1"/>
              <a:t>mantido</a:t>
            </a:r>
            <a:r>
              <a:rPr lang="en-GB" altLang="pt-BR" sz="2000" dirty="0"/>
              <a:t>.</a:t>
            </a:r>
          </a:p>
          <a:p>
            <a:pPr lvl="1" eaLnBrk="1" hangingPunct="1">
              <a:lnSpc>
                <a:spcPct val="100000"/>
              </a:lnSpc>
              <a:spcBef>
                <a:spcPts val="650"/>
              </a:spcBef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pt-BR" dirty="0"/>
              <a:t>O que é </a:t>
            </a:r>
            <a:r>
              <a:rPr lang="en-GB" altLang="pt-BR" dirty="0" err="1"/>
              <a:t>engenharia</a:t>
            </a:r>
            <a:r>
              <a:rPr lang="en-GB" altLang="pt-BR" dirty="0"/>
              <a:t> de software?</a:t>
            </a:r>
          </a:p>
          <a:p>
            <a:pPr lvl="2" eaLnBrk="1" hangingPunct="1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SzPct val="150000"/>
              <a:buFont typeface="Arial" charset="0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pt-BR" sz="2000" dirty="0"/>
              <a:t>R. </a:t>
            </a:r>
            <a:r>
              <a:rPr lang="en-GB" altLang="pt-BR" sz="2000" dirty="0" err="1"/>
              <a:t>Disciplina</a:t>
            </a:r>
            <a:r>
              <a:rPr lang="en-GB" altLang="pt-BR" sz="2000" dirty="0"/>
              <a:t> que se </a:t>
            </a:r>
            <a:r>
              <a:rPr lang="en-GB" altLang="pt-BR" sz="2000" dirty="0" err="1"/>
              <a:t>ocupa</a:t>
            </a:r>
            <a:r>
              <a:rPr lang="en-GB" altLang="pt-BR" sz="2000" dirty="0"/>
              <a:t> de </a:t>
            </a:r>
            <a:r>
              <a:rPr lang="en-GB" altLang="pt-BR" sz="2000" dirty="0" err="1"/>
              <a:t>todos</a:t>
            </a:r>
            <a:r>
              <a:rPr lang="en-GB" altLang="pt-BR" sz="2000" dirty="0"/>
              <a:t> </a:t>
            </a:r>
            <a:r>
              <a:rPr lang="en-GB" altLang="pt-BR" sz="2000" dirty="0" err="1"/>
              <a:t>os</a:t>
            </a:r>
            <a:r>
              <a:rPr lang="en-GB" altLang="pt-BR" sz="2000" dirty="0"/>
              <a:t> </a:t>
            </a:r>
            <a:r>
              <a:rPr lang="en-GB" altLang="pt-BR" sz="2000" dirty="0" err="1"/>
              <a:t>aspectos</a:t>
            </a:r>
            <a:r>
              <a:rPr lang="en-GB" altLang="pt-BR" sz="2000" dirty="0"/>
              <a:t> da </a:t>
            </a:r>
            <a:r>
              <a:rPr lang="en-GB" altLang="pt-BR" sz="2000" dirty="0" err="1"/>
              <a:t>produção</a:t>
            </a:r>
            <a:r>
              <a:rPr lang="en-GB" altLang="pt-BR" sz="2000" dirty="0"/>
              <a:t> de software.</a:t>
            </a:r>
          </a:p>
          <a:p>
            <a:pPr lvl="1" eaLnBrk="1" hangingPunct="1">
              <a:lnSpc>
                <a:spcPct val="100000"/>
              </a:lnSpc>
              <a:spcBef>
                <a:spcPts val="650"/>
              </a:spcBef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pt-BR" dirty="0"/>
              <a:t>O que é um </a:t>
            </a:r>
            <a:r>
              <a:rPr lang="en-GB" altLang="pt-BR" dirty="0" err="1"/>
              <a:t>processo</a:t>
            </a:r>
            <a:r>
              <a:rPr lang="en-GB" altLang="pt-BR" dirty="0"/>
              <a:t> de software?</a:t>
            </a:r>
          </a:p>
          <a:p>
            <a:pPr lvl="2" eaLnBrk="1" hangingPunct="1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SzPct val="150000"/>
              <a:buFont typeface="Arial" charset="0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pt-BR" sz="2000" dirty="0"/>
              <a:t>R. </a:t>
            </a:r>
            <a:r>
              <a:rPr lang="en-GB" altLang="pt-BR" sz="2000" dirty="0" err="1"/>
              <a:t>Conjunto</a:t>
            </a:r>
            <a:r>
              <a:rPr lang="en-GB" altLang="pt-BR" sz="2000" dirty="0"/>
              <a:t> de </a:t>
            </a:r>
            <a:r>
              <a:rPr lang="en-GB" altLang="pt-BR" sz="2000" dirty="0" err="1"/>
              <a:t>atividades</a:t>
            </a:r>
            <a:r>
              <a:rPr lang="en-GB" altLang="pt-BR" sz="2000" dirty="0"/>
              <a:t> e </a:t>
            </a:r>
            <a:r>
              <a:rPr lang="en-GB" altLang="pt-BR" sz="2000" dirty="0" err="1"/>
              <a:t>resultados</a:t>
            </a:r>
            <a:r>
              <a:rPr lang="en-GB" altLang="pt-BR" sz="2000" dirty="0"/>
              <a:t> </a:t>
            </a:r>
            <a:r>
              <a:rPr lang="en-GB" altLang="pt-BR" sz="2000" dirty="0" err="1"/>
              <a:t>associados</a:t>
            </a:r>
            <a:r>
              <a:rPr lang="en-GB" altLang="pt-BR" sz="2000" dirty="0"/>
              <a:t> que </a:t>
            </a:r>
            <a:r>
              <a:rPr lang="en-GB" altLang="pt-BR" sz="2000" dirty="0" err="1"/>
              <a:t>geram</a:t>
            </a:r>
            <a:r>
              <a:rPr lang="en-GB" altLang="pt-BR" sz="2000" dirty="0"/>
              <a:t> um </a:t>
            </a:r>
            <a:r>
              <a:rPr lang="en-GB" altLang="pt-BR" sz="2000" dirty="0" err="1"/>
              <a:t>produto</a:t>
            </a:r>
            <a:r>
              <a:rPr lang="en-GB" altLang="pt-BR" sz="2000" dirty="0"/>
              <a:t> de software.</a:t>
            </a:r>
          </a:p>
          <a:p>
            <a:pPr lvl="1" eaLnBrk="1" hangingPunct="1">
              <a:lnSpc>
                <a:spcPct val="100000"/>
              </a:lnSpc>
              <a:spcBef>
                <a:spcPts val="650"/>
              </a:spcBef>
              <a:buFont typeface="Webdings" pitchFamily="16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GB" altLang="pt-BR" dirty="0"/>
          </a:p>
          <a:p>
            <a:pPr lvl="1" eaLnBrk="1" hangingPunct="1">
              <a:lnSpc>
                <a:spcPct val="100000"/>
              </a:lnSpc>
              <a:spcBef>
                <a:spcPts val="650"/>
              </a:spcBef>
              <a:buFont typeface="Webdings" pitchFamily="16" charset="2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endParaRPr lang="en-GB" altLang="pt-BR" dirty="0"/>
          </a:p>
        </p:txBody>
      </p:sp>
    </p:spTree>
    <p:extLst>
      <p:ext uri="{BB962C8B-B14F-4D97-AF65-F5344CB8AC3E}">
        <p14:creationId xmlns:p14="http://schemas.microsoft.com/office/powerpoint/2010/main" val="8252550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Engenharia de Software </a:t>
            </a:r>
            <a:br>
              <a:rPr lang="pt-BR"/>
            </a:br>
            <a:endParaRPr/>
          </a:p>
        </p:txBody>
      </p:sp>
      <p:sp>
        <p:nvSpPr>
          <p:cNvPr id="350" name="Google Shape;350;p2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 IEEE Standard Glossary of Software Engineering terminology: 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Engenharia de software é uma abordagem sistemática para o desenvolvimento, operação, manutenção de software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Software: 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pt-BR"/>
              <a:t>Programas de computador, procedimentos, regras, documentação  possivelmente associada, e dados sobre sua operação.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Principais Metas</a:t>
            </a:r>
            <a:endParaRPr/>
          </a:p>
        </p:txBody>
      </p:sp>
      <p:sp>
        <p:nvSpPr>
          <p:cNvPr id="356" name="Google Shape;356;p2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Melhorar a qualidade de produtos de software, aumentar a produtividade do pessoal técnico e aumentar a satisfação do cliente.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Elementos</a:t>
            </a:r>
            <a:endParaRPr/>
          </a:p>
        </p:txBody>
      </p:sp>
      <p:sp>
        <p:nvSpPr>
          <p:cNvPr id="362" name="Google Shape;362;p3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Abrange um conjunto de três elementos fundamentais: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Métodos, Ferramentas e Procedimentos 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Métodos</a:t>
            </a:r>
            <a:endParaRPr/>
          </a:p>
        </p:txBody>
      </p:sp>
      <p:sp>
        <p:nvSpPr>
          <p:cNvPr id="368" name="Google Shape;368;p3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Proporcionam os detalhes de como fazer para construir o software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Alguns Métodos </a:t>
            </a:r>
            <a:endParaRPr/>
          </a:p>
        </p:txBody>
      </p:sp>
      <p:sp>
        <p:nvSpPr>
          <p:cNvPr id="374" name="Google Shape;374;p3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Planejamento e estimativa de projeto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Análise de requisitos de sistemas e de software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Projeto da estrutura de dados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Algoritmo de processamento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Codificação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Teste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Manutenção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Ferramentas </a:t>
            </a:r>
            <a:endParaRPr/>
          </a:p>
        </p:txBody>
      </p:sp>
      <p:sp>
        <p:nvSpPr>
          <p:cNvPr id="380" name="Google Shape;380;p3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Dão suporte automatizado aos métodos.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Existem atualmente ferramentas para sustentar cada um dos métodos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Quando as ferramentas são integradas é estabelecido um sistema de suporte ao desenvolvimento de software chamado CASE - Computer Aided Software Engineering</a:t>
            </a:r>
            <a:endParaRPr/>
          </a:p>
        </p:txBody>
      </p:sp>
      <p:graphicFrame>
        <p:nvGraphicFramePr>
          <p:cNvPr id="381" name="Google Shape;381;p33"/>
          <p:cNvGraphicFramePr/>
          <p:nvPr/>
        </p:nvGraphicFramePr>
        <p:xfrm>
          <a:off x="251520" y="5373216"/>
          <a:ext cx="147955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4" imgW="1479550" imgH="1233488" progId="MS_ClipArt_Gallery.2">
                  <p:embed/>
                </p:oleObj>
              </mc:Choice>
              <mc:Fallback>
                <p:oleObj r:id="rId4" imgW="1479550" imgH="1233488" progId="MS_ClipArt_Gallery.2">
                  <p:embed/>
                  <p:pic>
                    <p:nvPicPr>
                      <p:cNvPr id="381" name="Google Shape;381;p3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251520" y="5373216"/>
                        <a:ext cx="1479550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Procedimentos </a:t>
            </a:r>
            <a:endParaRPr/>
          </a:p>
        </p:txBody>
      </p:sp>
      <p:sp>
        <p:nvSpPr>
          <p:cNvPr id="387" name="Google Shape;387;p3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Constituem o elo de ligação entre os métodos e ferramentas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Define a sequência em que os métodos serão aplicados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Produz artefatos que precisam ser entregues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Possui controles que ajudam  assegurar a qualidade e coordenar as alterações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Estabelecem marcos de referência que possibilitam administrar o progresso do software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  <p:sp>
        <p:nvSpPr>
          <p:cNvPr id="393" name="Google Shape;393;p3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O conjunto de métodos, procedimentos e ferramentas definem ATIVIDADE que são componentes dos PARADIGMAS da Engenharia de Software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Paradigmas de ES</a:t>
            </a:r>
            <a:endParaRPr/>
          </a:p>
        </p:txBody>
      </p:sp>
      <p:sp>
        <p:nvSpPr>
          <p:cNvPr id="399" name="Google Shape;399;p3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 dirty="0"/>
              <a:t>São </a:t>
            </a:r>
            <a:r>
              <a:rPr lang="pt-BR" dirty="0">
                <a:solidFill>
                  <a:srgbClr val="FF0000"/>
                </a:solidFill>
              </a:rPr>
              <a:t>os modelos de processos</a:t>
            </a:r>
            <a:endParaRPr dirty="0">
              <a:solidFill>
                <a:srgbClr val="FF0000"/>
              </a:solidFill>
            </a:endParaRPr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 dirty="0"/>
              <a:t>Possibilitam ao Gerente controlar o processo de desenvolvimento de sistemas de software e ao Desenvolvedor obter a base para produzir, de maneira eficiente, software que satisfaça os requisitos preestabelecidos (Pressman)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 dirty="0"/>
              <a:t>Deve ser escolhido de acordo com: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 dirty="0"/>
              <a:t>Natureza do projeto e do produto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 dirty="0"/>
              <a:t>Métodos e ferramentas utilizados 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 dirty="0"/>
              <a:t>Controles e Produtos intermediários desejados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Google Shape;410;p38"/>
          <p:cNvGrpSpPr/>
          <p:nvPr/>
        </p:nvGrpSpPr>
        <p:grpSpPr>
          <a:xfrm>
            <a:off x="1447800" y="2057400"/>
            <a:ext cx="6629400" cy="3962400"/>
            <a:chOff x="912" y="1296"/>
            <a:chExt cx="4176" cy="2496"/>
          </a:xfrm>
        </p:grpSpPr>
        <p:sp>
          <p:nvSpPr>
            <p:cNvPr id="411" name="Google Shape;411;p38"/>
            <p:cNvSpPr/>
            <p:nvPr/>
          </p:nvSpPr>
          <p:spPr>
            <a:xfrm>
              <a:off x="912" y="1296"/>
              <a:ext cx="1167" cy="62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07763" dir="8100000" algn="ctr" rotWithShape="0">
                <a:srgbClr val="80808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>
                  <a:solidFill>
                    <a:srgbClr val="80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Engenharia de Sistemas</a:t>
              </a:r>
              <a:endParaRPr sz="1800" b="0" i="0" u="none" strike="noStrike" cap="none">
                <a:solidFill>
                  <a:srgbClr val="800000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12" name="Google Shape;412;p38"/>
            <p:cNvSpPr/>
            <p:nvPr/>
          </p:nvSpPr>
          <p:spPr>
            <a:xfrm>
              <a:off x="1710" y="1643"/>
              <a:ext cx="1167" cy="62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07763" dir="8100000" algn="ctr" rotWithShape="0">
                <a:srgbClr val="80808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>
                  <a:solidFill>
                    <a:srgbClr val="80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Análise  de Requisitos </a:t>
              </a:r>
              <a:endParaRPr sz="1800" b="0" i="0" u="none" strike="noStrike" cap="none">
                <a:solidFill>
                  <a:srgbClr val="800000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13" name="Google Shape;413;p38"/>
            <p:cNvSpPr/>
            <p:nvPr/>
          </p:nvSpPr>
          <p:spPr>
            <a:xfrm>
              <a:off x="2447" y="1989"/>
              <a:ext cx="1167" cy="62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07763" dir="8100000" algn="ctr" rotWithShape="0">
                <a:srgbClr val="80808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>
                  <a:solidFill>
                    <a:srgbClr val="80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Projeto  </a:t>
              </a:r>
              <a:endParaRPr/>
            </a:p>
          </p:txBody>
        </p:sp>
        <p:sp>
          <p:nvSpPr>
            <p:cNvPr id="414" name="Google Shape;414;p38"/>
            <p:cNvSpPr/>
            <p:nvPr/>
          </p:nvSpPr>
          <p:spPr>
            <a:xfrm>
              <a:off x="2877" y="2336"/>
              <a:ext cx="1167" cy="62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07763" dir="8100000" algn="ctr" rotWithShape="0">
                <a:srgbClr val="80808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>
                  <a:solidFill>
                    <a:srgbClr val="80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Codificação </a:t>
              </a:r>
              <a:endParaRPr/>
            </a:p>
          </p:txBody>
        </p:sp>
        <p:sp>
          <p:nvSpPr>
            <p:cNvPr id="415" name="Google Shape;415;p38"/>
            <p:cNvSpPr/>
            <p:nvPr/>
          </p:nvSpPr>
          <p:spPr>
            <a:xfrm>
              <a:off x="3368" y="2683"/>
              <a:ext cx="1167" cy="62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07763" dir="8100000" algn="ctr" rotWithShape="0">
                <a:srgbClr val="80808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>
                  <a:solidFill>
                    <a:srgbClr val="80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Testes </a:t>
              </a:r>
              <a:endParaRPr/>
            </a:p>
          </p:txBody>
        </p:sp>
        <p:sp>
          <p:nvSpPr>
            <p:cNvPr id="416" name="Google Shape;416;p38"/>
            <p:cNvSpPr/>
            <p:nvPr/>
          </p:nvSpPr>
          <p:spPr>
            <a:xfrm>
              <a:off x="3921" y="2960"/>
              <a:ext cx="1167" cy="62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07763" dir="8100000" algn="ctr" rotWithShape="0">
                <a:srgbClr val="80808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>
                  <a:solidFill>
                    <a:srgbClr val="80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Manutenção</a:t>
              </a:r>
              <a:r>
                <a:rPr lang="pt-BR" sz="1800" b="0" i="0" u="none" strike="noStrike" cap="none">
                  <a:solidFill>
                    <a:srgbClr val="80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 </a:t>
              </a:r>
              <a:endParaRPr/>
            </a:p>
          </p:txBody>
        </p:sp>
        <p:cxnSp>
          <p:nvCxnSpPr>
            <p:cNvPr id="417" name="Google Shape;417;p38"/>
            <p:cNvCxnSpPr/>
            <p:nvPr/>
          </p:nvCxnSpPr>
          <p:spPr>
            <a:xfrm>
              <a:off x="2079" y="1504"/>
              <a:ext cx="307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Google Shape;418;p38"/>
            <p:cNvCxnSpPr/>
            <p:nvPr/>
          </p:nvCxnSpPr>
          <p:spPr>
            <a:xfrm>
              <a:off x="2877" y="1781"/>
              <a:ext cx="184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" name="Google Shape;419;p38"/>
            <p:cNvCxnSpPr/>
            <p:nvPr/>
          </p:nvCxnSpPr>
          <p:spPr>
            <a:xfrm>
              <a:off x="3614" y="2128"/>
              <a:ext cx="184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0" name="Google Shape;420;p38"/>
            <p:cNvCxnSpPr/>
            <p:nvPr/>
          </p:nvCxnSpPr>
          <p:spPr>
            <a:xfrm>
              <a:off x="4044" y="2475"/>
              <a:ext cx="184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1" name="Google Shape;421;p38"/>
            <p:cNvCxnSpPr/>
            <p:nvPr/>
          </p:nvCxnSpPr>
          <p:spPr>
            <a:xfrm>
              <a:off x="4535" y="2821"/>
              <a:ext cx="246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2" name="Google Shape;422;p38"/>
            <p:cNvCxnSpPr/>
            <p:nvPr/>
          </p:nvCxnSpPr>
          <p:spPr>
            <a:xfrm>
              <a:off x="2386" y="1504"/>
              <a:ext cx="0" cy="139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3" name="Google Shape;423;p38"/>
            <p:cNvCxnSpPr/>
            <p:nvPr/>
          </p:nvCxnSpPr>
          <p:spPr>
            <a:xfrm>
              <a:off x="3061" y="1781"/>
              <a:ext cx="0" cy="208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4" name="Google Shape;424;p38"/>
            <p:cNvCxnSpPr/>
            <p:nvPr/>
          </p:nvCxnSpPr>
          <p:spPr>
            <a:xfrm>
              <a:off x="3798" y="2128"/>
              <a:ext cx="0" cy="208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5" name="Google Shape;425;p38"/>
            <p:cNvCxnSpPr/>
            <p:nvPr/>
          </p:nvCxnSpPr>
          <p:spPr>
            <a:xfrm>
              <a:off x="4228" y="2475"/>
              <a:ext cx="0" cy="208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6" name="Google Shape;426;p38"/>
            <p:cNvCxnSpPr/>
            <p:nvPr/>
          </p:nvCxnSpPr>
          <p:spPr>
            <a:xfrm>
              <a:off x="4781" y="2821"/>
              <a:ext cx="0" cy="139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7" name="Google Shape;427;p38"/>
            <p:cNvCxnSpPr/>
            <p:nvPr/>
          </p:nvCxnSpPr>
          <p:spPr>
            <a:xfrm>
              <a:off x="4474" y="3584"/>
              <a:ext cx="0" cy="208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38"/>
            <p:cNvCxnSpPr/>
            <p:nvPr/>
          </p:nvCxnSpPr>
          <p:spPr>
            <a:xfrm>
              <a:off x="1342" y="3792"/>
              <a:ext cx="3132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p38"/>
            <p:cNvCxnSpPr/>
            <p:nvPr/>
          </p:nvCxnSpPr>
          <p:spPr>
            <a:xfrm>
              <a:off x="1342" y="1920"/>
              <a:ext cx="0" cy="187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30" name="Google Shape;430;p38"/>
            <p:cNvCxnSpPr/>
            <p:nvPr/>
          </p:nvCxnSpPr>
          <p:spPr>
            <a:xfrm>
              <a:off x="2140" y="2267"/>
              <a:ext cx="0" cy="1525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31" name="Google Shape;431;p38"/>
            <p:cNvCxnSpPr/>
            <p:nvPr/>
          </p:nvCxnSpPr>
          <p:spPr>
            <a:xfrm>
              <a:off x="2754" y="2613"/>
              <a:ext cx="0" cy="1179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32" name="Google Shape;432;p38"/>
            <p:cNvCxnSpPr/>
            <p:nvPr/>
          </p:nvCxnSpPr>
          <p:spPr>
            <a:xfrm>
              <a:off x="3184" y="2960"/>
              <a:ext cx="0" cy="83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33" name="Google Shape;433;p38"/>
            <p:cNvCxnSpPr/>
            <p:nvPr/>
          </p:nvCxnSpPr>
          <p:spPr>
            <a:xfrm>
              <a:off x="3676" y="3307"/>
              <a:ext cx="0" cy="485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434" name="Google Shape;434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Modelo mais antigo: Ciclo de Vida Clássico ou Cascata</a:t>
            </a:r>
            <a:br>
              <a:rPr lang="pt-BR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"/>
          <p:cNvSpPr/>
          <p:nvPr/>
        </p:nvSpPr>
        <p:spPr>
          <a:xfrm>
            <a:off x="4343400" y="6021388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39"/>
          <p:cNvSpPr/>
          <p:nvPr/>
        </p:nvSpPr>
        <p:spPr>
          <a:xfrm>
            <a:off x="4343400" y="1600200"/>
            <a:ext cx="48006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441" name="Google Shape;441;p39"/>
          <p:cNvGrpSpPr/>
          <p:nvPr/>
        </p:nvGrpSpPr>
        <p:grpSpPr>
          <a:xfrm>
            <a:off x="2495550" y="4062413"/>
            <a:ext cx="4248150" cy="2505075"/>
            <a:chOff x="0" y="1676400"/>
            <a:chExt cx="5715000" cy="3368675"/>
          </a:xfrm>
        </p:grpSpPr>
        <p:sp>
          <p:nvSpPr>
            <p:cNvPr id="442" name="Google Shape;442;p39"/>
            <p:cNvSpPr/>
            <p:nvPr/>
          </p:nvSpPr>
          <p:spPr>
            <a:xfrm>
              <a:off x="1067825" y="1676400"/>
              <a:ext cx="914058" cy="913684"/>
            </a:xfrm>
            <a:prstGeom prst="irregularSeal2">
              <a:avLst/>
            </a:prstGeom>
            <a:noFill/>
            <a:ln w="12700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43" name="Google Shape;443;p39"/>
            <p:cNvGrpSpPr/>
            <p:nvPr/>
          </p:nvGrpSpPr>
          <p:grpSpPr>
            <a:xfrm>
              <a:off x="0" y="1981200"/>
              <a:ext cx="5715000" cy="3063875"/>
              <a:chOff x="1728" y="1728"/>
              <a:chExt cx="9792" cy="5184"/>
            </a:xfrm>
          </p:grpSpPr>
          <p:sp>
            <p:nvSpPr>
              <p:cNvPr id="444" name="Google Shape;444;p39"/>
              <p:cNvSpPr/>
              <p:nvPr/>
            </p:nvSpPr>
            <p:spPr>
              <a:xfrm>
                <a:off x="1728" y="172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Engenharia de Sistemas</a:t>
                </a:r>
                <a:endParaRPr/>
              </a:p>
            </p:txBody>
          </p:sp>
          <p:sp>
            <p:nvSpPr>
              <p:cNvPr id="445" name="Google Shape;445;p39"/>
              <p:cNvSpPr/>
              <p:nvPr/>
            </p:nvSpPr>
            <p:spPr>
              <a:xfrm>
                <a:off x="3600" y="244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Análise  de Requisitos </a:t>
                </a:r>
                <a:endParaRPr/>
              </a:p>
            </p:txBody>
          </p:sp>
          <p:sp>
            <p:nvSpPr>
              <p:cNvPr id="446" name="Google Shape;446;p39"/>
              <p:cNvSpPr/>
              <p:nvPr/>
            </p:nvSpPr>
            <p:spPr>
              <a:xfrm>
                <a:off x="5328" y="316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Projeto  </a:t>
                </a:r>
                <a:endParaRPr/>
              </a:p>
            </p:txBody>
          </p:sp>
          <p:sp>
            <p:nvSpPr>
              <p:cNvPr id="447" name="Google Shape;447;p39"/>
              <p:cNvSpPr/>
              <p:nvPr/>
            </p:nvSpPr>
            <p:spPr>
              <a:xfrm>
                <a:off x="6336" y="388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Codificação </a:t>
                </a:r>
                <a:endParaRPr/>
              </a:p>
            </p:txBody>
          </p:sp>
          <p:sp>
            <p:nvSpPr>
              <p:cNvPr id="448" name="Google Shape;448;p39"/>
              <p:cNvSpPr/>
              <p:nvPr/>
            </p:nvSpPr>
            <p:spPr>
              <a:xfrm>
                <a:off x="7488" y="460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Testes </a:t>
                </a:r>
                <a:endParaRPr/>
              </a:p>
            </p:txBody>
          </p:sp>
          <p:sp>
            <p:nvSpPr>
              <p:cNvPr id="449" name="Google Shape;449;p39"/>
              <p:cNvSpPr/>
              <p:nvPr/>
            </p:nvSpPr>
            <p:spPr>
              <a:xfrm>
                <a:off x="8784" y="5304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Manutenção</a:t>
                </a:r>
                <a:endParaRPr/>
              </a:p>
            </p:txBody>
          </p:sp>
          <p:cxnSp>
            <p:nvCxnSpPr>
              <p:cNvPr id="450" name="Google Shape;450;p39"/>
              <p:cNvCxnSpPr/>
              <p:nvPr/>
            </p:nvCxnSpPr>
            <p:spPr>
              <a:xfrm>
                <a:off x="4465" y="2162"/>
                <a:ext cx="717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1" name="Google Shape;451;p39"/>
              <p:cNvCxnSpPr/>
              <p:nvPr/>
            </p:nvCxnSpPr>
            <p:spPr>
              <a:xfrm>
                <a:off x="6335" y="2737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2" name="Google Shape;452;p39"/>
              <p:cNvCxnSpPr/>
              <p:nvPr/>
            </p:nvCxnSpPr>
            <p:spPr>
              <a:xfrm>
                <a:off x="8066" y="3455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3" name="Google Shape;453;p39"/>
              <p:cNvCxnSpPr/>
              <p:nvPr/>
            </p:nvCxnSpPr>
            <p:spPr>
              <a:xfrm>
                <a:off x="9072" y="4178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4" name="Google Shape;454;p39"/>
              <p:cNvCxnSpPr/>
              <p:nvPr/>
            </p:nvCxnSpPr>
            <p:spPr>
              <a:xfrm>
                <a:off x="10225" y="4897"/>
                <a:ext cx="574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5" name="Google Shape;455;p39"/>
              <p:cNvCxnSpPr/>
              <p:nvPr/>
            </p:nvCxnSpPr>
            <p:spPr>
              <a:xfrm>
                <a:off x="5182" y="2162"/>
                <a:ext cx="0" cy="285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56" name="Google Shape;456;p39"/>
              <p:cNvCxnSpPr/>
              <p:nvPr/>
            </p:nvCxnSpPr>
            <p:spPr>
              <a:xfrm>
                <a:off x="6767" y="2737"/>
                <a:ext cx="0" cy="433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57" name="Google Shape;457;p39"/>
              <p:cNvCxnSpPr/>
              <p:nvPr/>
            </p:nvCxnSpPr>
            <p:spPr>
              <a:xfrm>
                <a:off x="8498" y="3455"/>
                <a:ext cx="0" cy="433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58" name="Google Shape;458;p39"/>
              <p:cNvCxnSpPr/>
              <p:nvPr/>
            </p:nvCxnSpPr>
            <p:spPr>
              <a:xfrm>
                <a:off x="9504" y="4178"/>
                <a:ext cx="0" cy="43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59" name="Google Shape;459;p39"/>
              <p:cNvCxnSpPr/>
              <p:nvPr/>
            </p:nvCxnSpPr>
            <p:spPr>
              <a:xfrm>
                <a:off x="10799" y="4897"/>
                <a:ext cx="0" cy="426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60" name="Google Shape;460;p39"/>
              <p:cNvCxnSpPr/>
              <p:nvPr/>
            </p:nvCxnSpPr>
            <p:spPr>
              <a:xfrm>
                <a:off x="10042" y="6601"/>
                <a:ext cx="0" cy="311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1" name="Google Shape;461;p39"/>
              <p:cNvCxnSpPr/>
              <p:nvPr/>
            </p:nvCxnSpPr>
            <p:spPr>
              <a:xfrm>
                <a:off x="2734" y="6912"/>
                <a:ext cx="7344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2" name="Google Shape;462;p39"/>
              <p:cNvCxnSpPr/>
              <p:nvPr/>
            </p:nvCxnSpPr>
            <p:spPr>
              <a:xfrm>
                <a:off x="2734" y="3026"/>
                <a:ext cx="0" cy="3886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463" name="Google Shape;463;p39"/>
              <p:cNvCxnSpPr/>
              <p:nvPr/>
            </p:nvCxnSpPr>
            <p:spPr>
              <a:xfrm>
                <a:off x="4608" y="3744"/>
                <a:ext cx="0" cy="316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464" name="Google Shape;464;p39"/>
              <p:cNvCxnSpPr/>
              <p:nvPr/>
            </p:nvCxnSpPr>
            <p:spPr>
              <a:xfrm>
                <a:off x="6050" y="4463"/>
                <a:ext cx="0" cy="2449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465" name="Google Shape;465;p39"/>
              <p:cNvCxnSpPr/>
              <p:nvPr/>
            </p:nvCxnSpPr>
            <p:spPr>
              <a:xfrm>
                <a:off x="7056" y="5185"/>
                <a:ext cx="0" cy="172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466" name="Google Shape;466;p39"/>
              <p:cNvCxnSpPr/>
              <p:nvPr/>
            </p:nvCxnSpPr>
            <p:spPr>
              <a:xfrm>
                <a:off x="8208" y="5904"/>
                <a:ext cx="0" cy="100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</p:grpSp>
      <p:sp>
        <p:nvSpPr>
          <p:cNvPr id="467" name="Google Shape;467;p39"/>
          <p:cNvSpPr txBox="1">
            <a:spLocks noGrp="1"/>
          </p:cNvSpPr>
          <p:nvPr>
            <p:ph type="title"/>
          </p:nvPr>
        </p:nvSpPr>
        <p:spPr>
          <a:xfrm>
            <a:off x="410248" y="-7261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do Cascata</a:t>
            </a:r>
            <a:br>
              <a:rPr lang="pt-BR"/>
            </a:br>
            <a:r>
              <a:rPr lang="pt-BR"/>
              <a:t>Ciclo de Vida Clássico</a:t>
            </a:r>
            <a:endParaRPr/>
          </a:p>
        </p:txBody>
      </p:sp>
      <p:sp>
        <p:nvSpPr>
          <p:cNvPr id="468" name="Google Shape;468;p39"/>
          <p:cNvSpPr txBox="1">
            <a:spLocks noGrp="1"/>
          </p:cNvSpPr>
          <p:nvPr>
            <p:ph idx="1"/>
          </p:nvPr>
        </p:nvSpPr>
        <p:spPr>
          <a:xfrm>
            <a:off x="457200" y="1600201"/>
            <a:ext cx="8498114" cy="280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 dirty="0"/>
              <a:t>ANÁLISE E ENGENHARIA DE SISTEMAS</a:t>
            </a:r>
            <a:endParaRPr dirty="0"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Envolve a coleta de requisitos em nível do sistema, pouco projeto e a análise é de alto nível</a:t>
            </a:r>
            <a:endParaRPr dirty="0"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Visão essencial quando o software deve fazer interface com outros elementos (hardware, pessoas e banco de dados)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do Cascata</a:t>
            </a:r>
            <a:br>
              <a:rPr lang="pt-BR"/>
            </a:br>
            <a:endParaRPr/>
          </a:p>
        </p:txBody>
      </p:sp>
      <p:sp>
        <p:nvSpPr>
          <p:cNvPr id="474" name="Google Shape;474;p4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ANÁLISE DE REQUISITOS DE SOFTWARE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A coleta de requisitos é intensificada e focada no software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Concentra-se em entender o domínio da informação, a função, desempenho e interfaces exigidos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Os requisitos de sistema e de software são documentados e revistos com o cliente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/>
          </a:p>
        </p:txBody>
      </p:sp>
      <p:sp>
        <p:nvSpPr>
          <p:cNvPr id="475" name="Google Shape;475;p40"/>
          <p:cNvSpPr/>
          <p:nvPr/>
        </p:nvSpPr>
        <p:spPr>
          <a:xfrm>
            <a:off x="4419600" y="1676400"/>
            <a:ext cx="4724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76" name="Google Shape;476;p40"/>
          <p:cNvGrpSpPr/>
          <p:nvPr/>
        </p:nvGrpSpPr>
        <p:grpSpPr>
          <a:xfrm>
            <a:off x="5083268" y="5447329"/>
            <a:ext cx="4248150" cy="2278062"/>
            <a:chOff x="-1" y="2362200"/>
            <a:chExt cx="5714999" cy="3063875"/>
          </a:xfrm>
        </p:grpSpPr>
        <p:sp>
          <p:nvSpPr>
            <p:cNvPr id="477" name="Google Shape;477;p40"/>
            <p:cNvSpPr/>
            <p:nvPr/>
          </p:nvSpPr>
          <p:spPr>
            <a:xfrm>
              <a:off x="2056630" y="2439064"/>
              <a:ext cx="916195" cy="913825"/>
            </a:xfrm>
            <a:prstGeom prst="irregularSeal2">
              <a:avLst/>
            </a:prstGeom>
            <a:noFill/>
            <a:ln w="12700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78" name="Google Shape;478;p40"/>
            <p:cNvGrpSpPr/>
            <p:nvPr/>
          </p:nvGrpSpPr>
          <p:grpSpPr>
            <a:xfrm>
              <a:off x="-1" y="2362200"/>
              <a:ext cx="5714999" cy="3063875"/>
              <a:chOff x="1728" y="1728"/>
              <a:chExt cx="9792" cy="5184"/>
            </a:xfrm>
          </p:grpSpPr>
          <p:sp>
            <p:nvSpPr>
              <p:cNvPr id="479" name="Google Shape;479;p40"/>
              <p:cNvSpPr/>
              <p:nvPr/>
            </p:nvSpPr>
            <p:spPr>
              <a:xfrm>
                <a:off x="1728" y="172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Engenharia de Sistemas</a:t>
                </a:r>
                <a:endParaRPr/>
              </a:p>
            </p:txBody>
          </p:sp>
          <p:sp>
            <p:nvSpPr>
              <p:cNvPr id="480" name="Google Shape;480;p40"/>
              <p:cNvSpPr/>
              <p:nvPr/>
            </p:nvSpPr>
            <p:spPr>
              <a:xfrm>
                <a:off x="3600" y="244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Análise  de Requisitos </a:t>
                </a:r>
                <a:endParaRPr/>
              </a:p>
            </p:txBody>
          </p:sp>
          <p:sp>
            <p:nvSpPr>
              <p:cNvPr id="481" name="Google Shape;481;p40"/>
              <p:cNvSpPr/>
              <p:nvPr/>
            </p:nvSpPr>
            <p:spPr>
              <a:xfrm>
                <a:off x="5328" y="316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Projeto  </a:t>
                </a:r>
                <a:endParaRPr/>
              </a:p>
            </p:txBody>
          </p:sp>
          <p:sp>
            <p:nvSpPr>
              <p:cNvPr id="482" name="Google Shape;482;p40"/>
              <p:cNvSpPr/>
              <p:nvPr/>
            </p:nvSpPr>
            <p:spPr>
              <a:xfrm>
                <a:off x="6336" y="388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Codificação </a:t>
                </a:r>
                <a:endParaRPr/>
              </a:p>
            </p:txBody>
          </p:sp>
          <p:sp>
            <p:nvSpPr>
              <p:cNvPr id="483" name="Google Shape;483;p40"/>
              <p:cNvSpPr/>
              <p:nvPr/>
            </p:nvSpPr>
            <p:spPr>
              <a:xfrm>
                <a:off x="7488" y="460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Testes </a:t>
                </a:r>
                <a:endParaRPr/>
              </a:p>
            </p:txBody>
          </p:sp>
          <p:sp>
            <p:nvSpPr>
              <p:cNvPr id="484" name="Google Shape;484;p40"/>
              <p:cNvSpPr/>
              <p:nvPr/>
            </p:nvSpPr>
            <p:spPr>
              <a:xfrm>
                <a:off x="8784" y="5304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Manutenção</a:t>
                </a:r>
                <a:endParaRPr/>
              </a:p>
            </p:txBody>
          </p:sp>
          <p:cxnSp>
            <p:nvCxnSpPr>
              <p:cNvPr id="485" name="Google Shape;485;p40"/>
              <p:cNvCxnSpPr/>
              <p:nvPr/>
            </p:nvCxnSpPr>
            <p:spPr>
              <a:xfrm>
                <a:off x="4465" y="2162"/>
                <a:ext cx="717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40"/>
              <p:cNvCxnSpPr/>
              <p:nvPr/>
            </p:nvCxnSpPr>
            <p:spPr>
              <a:xfrm>
                <a:off x="6335" y="2736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40"/>
              <p:cNvCxnSpPr/>
              <p:nvPr/>
            </p:nvCxnSpPr>
            <p:spPr>
              <a:xfrm>
                <a:off x="8066" y="3455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40"/>
              <p:cNvCxnSpPr/>
              <p:nvPr/>
            </p:nvCxnSpPr>
            <p:spPr>
              <a:xfrm>
                <a:off x="9072" y="4177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9" name="Google Shape;489;p40"/>
              <p:cNvCxnSpPr/>
              <p:nvPr/>
            </p:nvCxnSpPr>
            <p:spPr>
              <a:xfrm>
                <a:off x="10225" y="4896"/>
                <a:ext cx="574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" name="Google Shape;490;p40"/>
              <p:cNvCxnSpPr/>
              <p:nvPr/>
            </p:nvCxnSpPr>
            <p:spPr>
              <a:xfrm>
                <a:off x="5182" y="2162"/>
                <a:ext cx="0" cy="285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1" name="Google Shape;491;p40"/>
              <p:cNvCxnSpPr/>
              <p:nvPr/>
            </p:nvCxnSpPr>
            <p:spPr>
              <a:xfrm>
                <a:off x="6767" y="2736"/>
                <a:ext cx="0" cy="43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2" name="Google Shape;492;p40"/>
              <p:cNvCxnSpPr/>
              <p:nvPr/>
            </p:nvCxnSpPr>
            <p:spPr>
              <a:xfrm>
                <a:off x="8498" y="3455"/>
                <a:ext cx="0" cy="43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3" name="Google Shape;493;p40"/>
              <p:cNvCxnSpPr/>
              <p:nvPr/>
            </p:nvCxnSpPr>
            <p:spPr>
              <a:xfrm>
                <a:off x="9504" y="4177"/>
                <a:ext cx="0" cy="43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4" name="Google Shape;494;p40"/>
              <p:cNvCxnSpPr/>
              <p:nvPr/>
            </p:nvCxnSpPr>
            <p:spPr>
              <a:xfrm>
                <a:off x="10799" y="4896"/>
                <a:ext cx="0" cy="426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5" name="Google Shape;495;p40"/>
              <p:cNvCxnSpPr/>
              <p:nvPr/>
            </p:nvCxnSpPr>
            <p:spPr>
              <a:xfrm>
                <a:off x="10042" y="6601"/>
                <a:ext cx="0" cy="311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6" name="Google Shape;496;p40"/>
              <p:cNvCxnSpPr/>
              <p:nvPr/>
            </p:nvCxnSpPr>
            <p:spPr>
              <a:xfrm>
                <a:off x="2734" y="6912"/>
                <a:ext cx="7344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7" name="Google Shape;497;p40"/>
              <p:cNvCxnSpPr/>
              <p:nvPr/>
            </p:nvCxnSpPr>
            <p:spPr>
              <a:xfrm>
                <a:off x="2734" y="3025"/>
                <a:ext cx="0" cy="388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498" name="Google Shape;498;p40"/>
              <p:cNvCxnSpPr/>
              <p:nvPr/>
            </p:nvCxnSpPr>
            <p:spPr>
              <a:xfrm>
                <a:off x="4608" y="3744"/>
                <a:ext cx="0" cy="316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499" name="Google Shape;499;p40"/>
              <p:cNvCxnSpPr/>
              <p:nvPr/>
            </p:nvCxnSpPr>
            <p:spPr>
              <a:xfrm>
                <a:off x="6050" y="4463"/>
                <a:ext cx="0" cy="2449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00" name="Google Shape;500;p40"/>
              <p:cNvCxnSpPr/>
              <p:nvPr/>
            </p:nvCxnSpPr>
            <p:spPr>
              <a:xfrm>
                <a:off x="7056" y="5185"/>
                <a:ext cx="0" cy="172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01" name="Google Shape;501;p40"/>
              <p:cNvCxnSpPr/>
              <p:nvPr/>
            </p:nvCxnSpPr>
            <p:spPr>
              <a:xfrm>
                <a:off x="8208" y="5904"/>
                <a:ext cx="0" cy="100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do Cascata</a:t>
            </a:r>
            <a:endParaRPr/>
          </a:p>
        </p:txBody>
      </p:sp>
      <p:sp>
        <p:nvSpPr>
          <p:cNvPr id="507" name="Google Shape;507;p4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PROJETO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Tradução dos requisitos do software para um conjunto de representações que podem ser avaliadas quanto à qualidade, antes que a codificação se inicie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Concentra-se nos 4 atributos do programa: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pt-BR"/>
              <a:t>Estrutura de Dados, 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pt-BR"/>
              <a:t>Arquitetura de Software, 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pt-BR"/>
              <a:t>Detalhes Procedimentais e 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pt-BR"/>
              <a:t>Caracterização de Interfaces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/>
          </a:p>
        </p:txBody>
      </p:sp>
      <p:grpSp>
        <p:nvGrpSpPr>
          <p:cNvPr id="508" name="Google Shape;508;p41"/>
          <p:cNvGrpSpPr/>
          <p:nvPr/>
        </p:nvGrpSpPr>
        <p:grpSpPr>
          <a:xfrm>
            <a:off x="4675188" y="4389438"/>
            <a:ext cx="4248150" cy="2278062"/>
            <a:chOff x="0" y="2971800"/>
            <a:chExt cx="5715000" cy="3063875"/>
          </a:xfrm>
        </p:grpSpPr>
        <p:sp>
          <p:nvSpPr>
            <p:cNvPr id="509" name="Google Shape;509;p41"/>
            <p:cNvSpPr/>
            <p:nvPr/>
          </p:nvSpPr>
          <p:spPr>
            <a:xfrm>
              <a:off x="3047572" y="3505576"/>
              <a:ext cx="914058" cy="913825"/>
            </a:xfrm>
            <a:prstGeom prst="irregularSeal2">
              <a:avLst/>
            </a:prstGeom>
            <a:noFill/>
            <a:ln w="12700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10" name="Google Shape;510;p41"/>
            <p:cNvGrpSpPr/>
            <p:nvPr/>
          </p:nvGrpSpPr>
          <p:grpSpPr>
            <a:xfrm>
              <a:off x="0" y="2971800"/>
              <a:ext cx="5715000" cy="3063875"/>
              <a:chOff x="1728" y="1728"/>
              <a:chExt cx="9792" cy="5184"/>
            </a:xfrm>
          </p:grpSpPr>
          <p:sp>
            <p:nvSpPr>
              <p:cNvPr id="511" name="Google Shape;511;p41"/>
              <p:cNvSpPr/>
              <p:nvPr/>
            </p:nvSpPr>
            <p:spPr>
              <a:xfrm>
                <a:off x="1728" y="172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Engenharia de Sistemas</a:t>
                </a:r>
                <a:endParaRPr/>
              </a:p>
            </p:txBody>
          </p:sp>
          <p:sp>
            <p:nvSpPr>
              <p:cNvPr id="512" name="Google Shape;512;p41"/>
              <p:cNvSpPr/>
              <p:nvPr/>
            </p:nvSpPr>
            <p:spPr>
              <a:xfrm>
                <a:off x="3600" y="244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Análise  de Requisitos </a:t>
                </a:r>
                <a:endParaRPr/>
              </a:p>
            </p:txBody>
          </p:sp>
          <p:sp>
            <p:nvSpPr>
              <p:cNvPr id="513" name="Google Shape;513;p41"/>
              <p:cNvSpPr/>
              <p:nvPr/>
            </p:nvSpPr>
            <p:spPr>
              <a:xfrm>
                <a:off x="5328" y="316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Projeto  </a:t>
                </a:r>
                <a:endParaRPr/>
              </a:p>
            </p:txBody>
          </p:sp>
          <p:sp>
            <p:nvSpPr>
              <p:cNvPr id="514" name="Google Shape;514;p41"/>
              <p:cNvSpPr/>
              <p:nvPr/>
            </p:nvSpPr>
            <p:spPr>
              <a:xfrm>
                <a:off x="6336" y="388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Codificação </a:t>
                </a:r>
                <a:endParaRPr/>
              </a:p>
            </p:txBody>
          </p:sp>
          <p:sp>
            <p:nvSpPr>
              <p:cNvPr id="515" name="Google Shape;515;p41"/>
              <p:cNvSpPr/>
              <p:nvPr/>
            </p:nvSpPr>
            <p:spPr>
              <a:xfrm>
                <a:off x="7488" y="460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Testes </a:t>
                </a:r>
                <a:endParaRPr/>
              </a:p>
            </p:txBody>
          </p:sp>
          <p:sp>
            <p:nvSpPr>
              <p:cNvPr id="516" name="Google Shape;516;p41"/>
              <p:cNvSpPr/>
              <p:nvPr/>
            </p:nvSpPr>
            <p:spPr>
              <a:xfrm>
                <a:off x="8784" y="5304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Manutenção</a:t>
                </a:r>
                <a:endParaRPr/>
              </a:p>
            </p:txBody>
          </p:sp>
          <p:cxnSp>
            <p:nvCxnSpPr>
              <p:cNvPr id="517" name="Google Shape;517;p41"/>
              <p:cNvCxnSpPr/>
              <p:nvPr/>
            </p:nvCxnSpPr>
            <p:spPr>
              <a:xfrm>
                <a:off x="4465" y="2162"/>
                <a:ext cx="717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8" name="Google Shape;518;p41"/>
              <p:cNvCxnSpPr/>
              <p:nvPr/>
            </p:nvCxnSpPr>
            <p:spPr>
              <a:xfrm>
                <a:off x="6335" y="2736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9" name="Google Shape;519;p41"/>
              <p:cNvCxnSpPr/>
              <p:nvPr/>
            </p:nvCxnSpPr>
            <p:spPr>
              <a:xfrm>
                <a:off x="8066" y="3455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41"/>
              <p:cNvCxnSpPr/>
              <p:nvPr/>
            </p:nvCxnSpPr>
            <p:spPr>
              <a:xfrm>
                <a:off x="9072" y="4177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1" name="Google Shape;521;p41"/>
              <p:cNvCxnSpPr/>
              <p:nvPr/>
            </p:nvCxnSpPr>
            <p:spPr>
              <a:xfrm>
                <a:off x="10225" y="4896"/>
                <a:ext cx="574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" name="Google Shape;522;p41"/>
              <p:cNvCxnSpPr/>
              <p:nvPr/>
            </p:nvCxnSpPr>
            <p:spPr>
              <a:xfrm>
                <a:off x="5182" y="2162"/>
                <a:ext cx="0" cy="285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23" name="Google Shape;523;p41"/>
              <p:cNvCxnSpPr/>
              <p:nvPr/>
            </p:nvCxnSpPr>
            <p:spPr>
              <a:xfrm>
                <a:off x="6767" y="2736"/>
                <a:ext cx="0" cy="43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24" name="Google Shape;524;p41"/>
              <p:cNvCxnSpPr/>
              <p:nvPr/>
            </p:nvCxnSpPr>
            <p:spPr>
              <a:xfrm>
                <a:off x="8498" y="3455"/>
                <a:ext cx="0" cy="43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25" name="Google Shape;525;p41"/>
              <p:cNvCxnSpPr/>
              <p:nvPr/>
            </p:nvCxnSpPr>
            <p:spPr>
              <a:xfrm>
                <a:off x="9504" y="4177"/>
                <a:ext cx="0" cy="43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26" name="Google Shape;526;p41"/>
              <p:cNvCxnSpPr/>
              <p:nvPr/>
            </p:nvCxnSpPr>
            <p:spPr>
              <a:xfrm>
                <a:off x="10799" y="4896"/>
                <a:ext cx="0" cy="426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27" name="Google Shape;527;p41"/>
              <p:cNvCxnSpPr/>
              <p:nvPr/>
            </p:nvCxnSpPr>
            <p:spPr>
              <a:xfrm>
                <a:off x="10042" y="6601"/>
                <a:ext cx="0" cy="311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8" name="Google Shape;528;p41"/>
              <p:cNvCxnSpPr/>
              <p:nvPr/>
            </p:nvCxnSpPr>
            <p:spPr>
              <a:xfrm>
                <a:off x="2734" y="6912"/>
                <a:ext cx="7344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9" name="Google Shape;529;p41"/>
              <p:cNvCxnSpPr/>
              <p:nvPr/>
            </p:nvCxnSpPr>
            <p:spPr>
              <a:xfrm>
                <a:off x="2734" y="3025"/>
                <a:ext cx="0" cy="388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30" name="Google Shape;530;p41"/>
              <p:cNvCxnSpPr/>
              <p:nvPr/>
            </p:nvCxnSpPr>
            <p:spPr>
              <a:xfrm>
                <a:off x="4608" y="3744"/>
                <a:ext cx="0" cy="316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31" name="Google Shape;531;p41"/>
              <p:cNvCxnSpPr/>
              <p:nvPr/>
            </p:nvCxnSpPr>
            <p:spPr>
              <a:xfrm>
                <a:off x="6050" y="4463"/>
                <a:ext cx="0" cy="2449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32" name="Google Shape;532;p41"/>
              <p:cNvCxnSpPr/>
              <p:nvPr/>
            </p:nvCxnSpPr>
            <p:spPr>
              <a:xfrm>
                <a:off x="7056" y="5185"/>
                <a:ext cx="0" cy="172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33" name="Google Shape;533;p41"/>
              <p:cNvCxnSpPr/>
              <p:nvPr/>
            </p:nvCxnSpPr>
            <p:spPr>
              <a:xfrm>
                <a:off x="8208" y="5904"/>
                <a:ext cx="0" cy="100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do Cascata </a:t>
            </a:r>
            <a:br>
              <a:rPr lang="pt-BR"/>
            </a:br>
            <a:endParaRPr/>
          </a:p>
        </p:txBody>
      </p:sp>
      <p:sp>
        <p:nvSpPr>
          <p:cNvPr id="539" name="Google Shape;539;p4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CODIFICAÇÃO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Tradução das representações do projeto para uma linguagem “artificial” resultando em instruções executáveis pelo computador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/>
          </a:p>
        </p:txBody>
      </p:sp>
      <p:grpSp>
        <p:nvGrpSpPr>
          <p:cNvPr id="540" name="Google Shape;540;p42"/>
          <p:cNvGrpSpPr/>
          <p:nvPr/>
        </p:nvGrpSpPr>
        <p:grpSpPr>
          <a:xfrm>
            <a:off x="2624138" y="4081463"/>
            <a:ext cx="4248150" cy="2278062"/>
            <a:chOff x="0" y="2971800"/>
            <a:chExt cx="5715000" cy="3063875"/>
          </a:xfrm>
        </p:grpSpPr>
        <p:sp>
          <p:nvSpPr>
            <p:cNvPr id="541" name="Google Shape;541;p42"/>
            <p:cNvSpPr/>
            <p:nvPr/>
          </p:nvSpPr>
          <p:spPr>
            <a:xfrm>
              <a:off x="3658368" y="3962489"/>
              <a:ext cx="914058" cy="913825"/>
            </a:xfrm>
            <a:prstGeom prst="irregularSeal2">
              <a:avLst/>
            </a:prstGeom>
            <a:noFill/>
            <a:ln w="12700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42" name="Google Shape;542;p42"/>
            <p:cNvGrpSpPr/>
            <p:nvPr/>
          </p:nvGrpSpPr>
          <p:grpSpPr>
            <a:xfrm>
              <a:off x="0" y="2971800"/>
              <a:ext cx="5715000" cy="3063875"/>
              <a:chOff x="1728" y="1728"/>
              <a:chExt cx="9792" cy="5184"/>
            </a:xfrm>
          </p:grpSpPr>
          <p:sp>
            <p:nvSpPr>
              <p:cNvPr id="543" name="Google Shape;543;p42"/>
              <p:cNvSpPr/>
              <p:nvPr/>
            </p:nvSpPr>
            <p:spPr>
              <a:xfrm>
                <a:off x="1728" y="172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Engenharia de Sistemas</a:t>
                </a:r>
                <a:endParaRPr/>
              </a:p>
            </p:txBody>
          </p:sp>
          <p:sp>
            <p:nvSpPr>
              <p:cNvPr id="544" name="Google Shape;544;p42"/>
              <p:cNvSpPr/>
              <p:nvPr/>
            </p:nvSpPr>
            <p:spPr>
              <a:xfrm>
                <a:off x="3600" y="244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Análise  de Requisitos </a:t>
                </a:r>
                <a:endParaRPr/>
              </a:p>
            </p:txBody>
          </p:sp>
          <p:sp>
            <p:nvSpPr>
              <p:cNvPr id="545" name="Google Shape;545;p42"/>
              <p:cNvSpPr/>
              <p:nvPr/>
            </p:nvSpPr>
            <p:spPr>
              <a:xfrm>
                <a:off x="5328" y="316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Projeto  </a:t>
                </a:r>
                <a:endParaRPr/>
              </a:p>
            </p:txBody>
          </p:sp>
          <p:sp>
            <p:nvSpPr>
              <p:cNvPr id="546" name="Google Shape;546;p42"/>
              <p:cNvSpPr/>
              <p:nvPr/>
            </p:nvSpPr>
            <p:spPr>
              <a:xfrm>
                <a:off x="6336" y="388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Codificação </a:t>
                </a:r>
                <a:endParaRPr/>
              </a:p>
            </p:txBody>
          </p:sp>
          <p:sp>
            <p:nvSpPr>
              <p:cNvPr id="547" name="Google Shape;547;p42"/>
              <p:cNvSpPr/>
              <p:nvPr/>
            </p:nvSpPr>
            <p:spPr>
              <a:xfrm>
                <a:off x="7488" y="460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Testes </a:t>
                </a:r>
                <a:endParaRPr/>
              </a:p>
            </p:txBody>
          </p:sp>
          <p:sp>
            <p:nvSpPr>
              <p:cNvPr id="548" name="Google Shape;548;p42"/>
              <p:cNvSpPr/>
              <p:nvPr/>
            </p:nvSpPr>
            <p:spPr>
              <a:xfrm>
                <a:off x="8784" y="5304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Manutenção</a:t>
                </a:r>
                <a:endParaRPr/>
              </a:p>
            </p:txBody>
          </p:sp>
          <p:cxnSp>
            <p:nvCxnSpPr>
              <p:cNvPr id="549" name="Google Shape;549;p42"/>
              <p:cNvCxnSpPr/>
              <p:nvPr/>
            </p:nvCxnSpPr>
            <p:spPr>
              <a:xfrm>
                <a:off x="4465" y="2162"/>
                <a:ext cx="717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0" name="Google Shape;550;p42"/>
              <p:cNvCxnSpPr/>
              <p:nvPr/>
            </p:nvCxnSpPr>
            <p:spPr>
              <a:xfrm>
                <a:off x="6335" y="2736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1" name="Google Shape;551;p42"/>
              <p:cNvCxnSpPr/>
              <p:nvPr/>
            </p:nvCxnSpPr>
            <p:spPr>
              <a:xfrm>
                <a:off x="8066" y="3455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2" name="Google Shape;552;p42"/>
              <p:cNvCxnSpPr/>
              <p:nvPr/>
            </p:nvCxnSpPr>
            <p:spPr>
              <a:xfrm>
                <a:off x="9072" y="4177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3" name="Google Shape;553;p42"/>
              <p:cNvCxnSpPr/>
              <p:nvPr/>
            </p:nvCxnSpPr>
            <p:spPr>
              <a:xfrm>
                <a:off x="10225" y="4896"/>
                <a:ext cx="574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4" name="Google Shape;554;p42"/>
              <p:cNvCxnSpPr/>
              <p:nvPr/>
            </p:nvCxnSpPr>
            <p:spPr>
              <a:xfrm>
                <a:off x="5182" y="2162"/>
                <a:ext cx="0" cy="285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55" name="Google Shape;555;p42"/>
              <p:cNvCxnSpPr/>
              <p:nvPr/>
            </p:nvCxnSpPr>
            <p:spPr>
              <a:xfrm>
                <a:off x="6767" y="2736"/>
                <a:ext cx="0" cy="43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56" name="Google Shape;556;p42"/>
              <p:cNvCxnSpPr/>
              <p:nvPr/>
            </p:nvCxnSpPr>
            <p:spPr>
              <a:xfrm>
                <a:off x="8498" y="3455"/>
                <a:ext cx="0" cy="43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57" name="Google Shape;557;p42"/>
              <p:cNvCxnSpPr/>
              <p:nvPr/>
            </p:nvCxnSpPr>
            <p:spPr>
              <a:xfrm>
                <a:off x="9504" y="4177"/>
                <a:ext cx="0" cy="43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58" name="Google Shape;558;p42"/>
              <p:cNvCxnSpPr/>
              <p:nvPr/>
            </p:nvCxnSpPr>
            <p:spPr>
              <a:xfrm>
                <a:off x="10799" y="4896"/>
                <a:ext cx="0" cy="426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59" name="Google Shape;559;p42"/>
              <p:cNvCxnSpPr/>
              <p:nvPr/>
            </p:nvCxnSpPr>
            <p:spPr>
              <a:xfrm>
                <a:off x="10042" y="6601"/>
                <a:ext cx="0" cy="311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0" name="Google Shape;560;p42"/>
              <p:cNvCxnSpPr/>
              <p:nvPr/>
            </p:nvCxnSpPr>
            <p:spPr>
              <a:xfrm>
                <a:off x="2734" y="6912"/>
                <a:ext cx="7344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1" name="Google Shape;561;p42"/>
              <p:cNvCxnSpPr/>
              <p:nvPr/>
            </p:nvCxnSpPr>
            <p:spPr>
              <a:xfrm>
                <a:off x="2734" y="3025"/>
                <a:ext cx="0" cy="388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62" name="Google Shape;562;p42"/>
              <p:cNvCxnSpPr/>
              <p:nvPr/>
            </p:nvCxnSpPr>
            <p:spPr>
              <a:xfrm>
                <a:off x="4608" y="3744"/>
                <a:ext cx="0" cy="316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63" name="Google Shape;563;p42"/>
              <p:cNvCxnSpPr/>
              <p:nvPr/>
            </p:nvCxnSpPr>
            <p:spPr>
              <a:xfrm>
                <a:off x="6050" y="4463"/>
                <a:ext cx="0" cy="2449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64" name="Google Shape;564;p42"/>
              <p:cNvCxnSpPr/>
              <p:nvPr/>
            </p:nvCxnSpPr>
            <p:spPr>
              <a:xfrm>
                <a:off x="7056" y="5185"/>
                <a:ext cx="0" cy="172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65" name="Google Shape;565;p42"/>
              <p:cNvCxnSpPr/>
              <p:nvPr/>
            </p:nvCxnSpPr>
            <p:spPr>
              <a:xfrm>
                <a:off x="8208" y="5904"/>
                <a:ext cx="0" cy="100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do Cascata</a:t>
            </a:r>
            <a:endParaRPr/>
          </a:p>
        </p:txBody>
      </p:sp>
      <p:sp>
        <p:nvSpPr>
          <p:cNvPr id="571" name="Google Shape;571;p43"/>
          <p:cNvSpPr txBox="1">
            <a:spLocks noGrp="1"/>
          </p:cNvSpPr>
          <p:nvPr>
            <p:ph idx="1"/>
          </p:nvPr>
        </p:nvSpPr>
        <p:spPr>
          <a:xfrm>
            <a:off x="312272" y="127408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TESTES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Concentram-se: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pt-BR"/>
              <a:t>Nos aspectos lógicos internos do software, garantindo que todas as instruções tenham sido testadas   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pt-BR"/>
              <a:t>Nos aspectos funcionais externos, para descobrir erros e garantir que a entrada definida produza resultados que concordem com os esperados.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/>
          </a:p>
        </p:txBody>
      </p:sp>
      <p:grpSp>
        <p:nvGrpSpPr>
          <p:cNvPr id="572" name="Google Shape;572;p43"/>
          <p:cNvGrpSpPr/>
          <p:nvPr/>
        </p:nvGrpSpPr>
        <p:grpSpPr>
          <a:xfrm>
            <a:off x="2717800" y="4365625"/>
            <a:ext cx="4248150" cy="2278063"/>
            <a:chOff x="0" y="2438400"/>
            <a:chExt cx="5715000" cy="3063875"/>
          </a:xfrm>
        </p:grpSpPr>
        <p:sp>
          <p:nvSpPr>
            <p:cNvPr id="573" name="Google Shape;573;p43"/>
            <p:cNvSpPr/>
            <p:nvPr/>
          </p:nvSpPr>
          <p:spPr>
            <a:xfrm>
              <a:off x="4343913" y="3809137"/>
              <a:ext cx="914058" cy="915960"/>
            </a:xfrm>
            <a:prstGeom prst="irregularSeal2">
              <a:avLst/>
            </a:prstGeom>
            <a:noFill/>
            <a:ln w="12700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74" name="Google Shape;574;p43"/>
            <p:cNvGrpSpPr/>
            <p:nvPr/>
          </p:nvGrpSpPr>
          <p:grpSpPr>
            <a:xfrm>
              <a:off x="0" y="2438400"/>
              <a:ext cx="5715000" cy="3063875"/>
              <a:chOff x="1728" y="1728"/>
              <a:chExt cx="9792" cy="5184"/>
            </a:xfrm>
          </p:grpSpPr>
          <p:sp>
            <p:nvSpPr>
              <p:cNvPr id="575" name="Google Shape;575;p43"/>
              <p:cNvSpPr/>
              <p:nvPr/>
            </p:nvSpPr>
            <p:spPr>
              <a:xfrm>
                <a:off x="1728" y="172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Engenharia de Sistemas</a:t>
                </a:r>
                <a:endParaRPr/>
              </a:p>
            </p:txBody>
          </p:sp>
          <p:sp>
            <p:nvSpPr>
              <p:cNvPr id="576" name="Google Shape;576;p43"/>
              <p:cNvSpPr/>
              <p:nvPr/>
            </p:nvSpPr>
            <p:spPr>
              <a:xfrm>
                <a:off x="3600" y="244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Análise  de Requisitos </a:t>
                </a:r>
                <a:endParaRPr/>
              </a:p>
            </p:txBody>
          </p:sp>
          <p:sp>
            <p:nvSpPr>
              <p:cNvPr id="577" name="Google Shape;577;p43"/>
              <p:cNvSpPr/>
              <p:nvPr/>
            </p:nvSpPr>
            <p:spPr>
              <a:xfrm>
                <a:off x="5328" y="316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Projeto  </a:t>
                </a:r>
                <a:endParaRPr/>
              </a:p>
            </p:txBody>
          </p:sp>
          <p:sp>
            <p:nvSpPr>
              <p:cNvPr id="578" name="Google Shape;578;p43"/>
              <p:cNvSpPr/>
              <p:nvPr/>
            </p:nvSpPr>
            <p:spPr>
              <a:xfrm>
                <a:off x="6336" y="388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Codificação </a:t>
                </a:r>
                <a:endParaRPr/>
              </a:p>
            </p:txBody>
          </p:sp>
          <p:sp>
            <p:nvSpPr>
              <p:cNvPr id="579" name="Google Shape;579;p43"/>
              <p:cNvSpPr/>
              <p:nvPr/>
            </p:nvSpPr>
            <p:spPr>
              <a:xfrm>
                <a:off x="7488" y="460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Testes </a:t>
                </a:r>
                <a:endParaRPr/>
              </a:p>
            </p:txBody>
          </p:sp>
          <p:sp>
            <p:nvSpPr>
              <p:cNvPr id="580" name="Google Shape;580;p43"/>
              <p:cNvSpPr/>
              <p:nvPr/>
            </p:nvSpPr>
            <p:spPr>
              <a:xfrm>
                <a:off x="8784" y="5304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Manutenção</a:t>
                </a:r>
                <a:endParaRPr/>
              </a:p>
            </p:txBody>
          </p:sp>
          <p:cxnSp>
            <p:nvCxnSpPr>
              <p:cNvPr id="581" name="Google Shape;581;p43"/>
              <p:cNvCxnSpPr/>
              <p:nvPr/>
            </p:nvCxnSpPr>
            <p:spPr>
              <a:xfrm>
                <a:off x="4465" y="2162"/>
                <a:ext cx="717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2" name="Google Shape;582;p43"/>
              <p:cNvCxnSpPr/>
              <p:nvPr/>
            </p:nvCxnSpPr>
            <p:spPr>
              <a:xfrm>
                <a:off x="6335" y="2736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3" name="Google Shape;583;p43"/>
              <p:cNvCxnSpPr/>
              <p:nvPr/>
            </p:nvCxnSpPr>
            <p:spPr>
              <a:xfrm>
                <a:off x="8066" y="3455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4" name="Google Shape;584;p43"/>
              <p:cNvCxnSpPr/>
              <p:nvPr/>
            </p:nvCxnSpPr>
            <p:spPr>
              <a:xfrm>
                <a:off x="9072" y="4177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5" name="Google Shape;585;p43"/>
              <p:cNvCxnSpPr/>
              <p:nvPr/>
            </p:nvCxnSpPr>
            <p:spPr>
              <a:xfrm>
                <a:off x="10225" y="4896"/>
                <a:ext cx="574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6" name="Google Shape;586;p43"/>
              <p:cNvCxnSpPr/>
              <p:nvPr/>
            </p:nvCxnSpPr>
            <p:spPr>
              <a:xfrm>
                <a:off x="5182" y="2162"/>
                <a:ext cx="0" cy="285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87" name="Google Shape;587;p43"/>
              <p:cNvCxnSpPr/>
              <p:nvPr/>
            </p:nvCxnSpPr>
            <p:spPr>
              <a:xfrm>
                <a:off x="6767" y="2736"/>
                <a:ext cx="0" cy="43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88" name="Google Shape;588;p43"/>
              <p:cNvCxnSpPr/>
              <p:nvPr/>
            </p:nvCxnSpPr>
            <p:spPr>
              <a:xfrm>
                <a:off x="8498" y="3455"/>
                <a:ext cx="0" cy="43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89" name="Google Shape;589;p43"/>
              <p:cNvCxnSpPr/>
              <p:nvPr/>
            </p:nvCxnSpPr>
            <p:spPr>
              <a:xfrm>
                <a:off x="9504" y="4177"/>
                <a:ext cx="0" cy="43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90" name="Google Shape;590;p43"/>
              <p:cNvCxnSpPr/>
              <p:nvPr/>
            </p:nvCxnSpPr>
            <p:spPr>
              <a:xfrm>
                <a:off x="10799" y="4896"/>
                <a:ext cx="0" cy="426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91" name="Google Shape;591;p43"/>
              <p:cNvCxnSpPr/>
              <p:nvPr/>
            </p:nvCxnSpPr>
            <p:spPr>
              <a:xfrm>
                <a:off x="10042" y="6601"/>
                <a:ext cx="0" cy="311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2" name="Google Shape;592;p43"/>
              <p:cNvCxnSpPr/>
              <p:nvPr/>
            </p:nvCxnSpPr>
            <p:spPr>
              <a:xfrm>
                <a:off x="2734" y="6912"/>
                <a:ext cx="7344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3" name="Google Shape;593;p43"/>
              <p:cNvCxnSpPr/>
              <p:nvPr/>
            </p:nvCxnSpPr>
            <p:spPr>
              <a:xfrm>
                <a:off x="2734" y="3025"/>
                <a:ext cx="0" cy="388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94" name="Google Shape;594;p43"/>
              <p:cNvCxnSpPr/>
              <p:nvPr/>
            </p:nvCxnSpPr>
            <p:spPr>
              <a:xfrm>
                <a:off x="4608" y="3744"/>
                <a:ext cx="0" cy="316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95" name="Google Shape;595;p43"/>
              <p:cNvCxnSpPr/>
              <p:nvPr/>
            </p:nvCxnSpPr>
            <p:spPr>
              <a:xfrm>
                <a:off x="6050" y="4463"/>
                <a:ext cx="0" cy="2449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96" name="Google Shape;596;p43"/>
              <p:cNvCxnSpPr/>
              <p:nvPr/>
            </p:nvCxnSpPr>
            <p:spPr>
              <a:xfrm>
                <a:off x="7056" y="5185"/>
                <a:ext cx="0" cy="172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97" name="Google Shape;597;p43"/>
              <p:cNvCxnSpPr/>
              <p:nvPr/>
            </p:nvCxnSpPr>
            <p:spPr>
              <a:xfrm>
                <a:off x="8208" y="5904"/>
                <a:ext cx="0" cy="100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do Cascata</a:t>
            </a:r>
            <a:endParaRPr/>
          </a:p>
        </p:txBody>
      </p:sp>
      <p:sp>
        <p:nvSpPr>
          <p:cNvPr id="603" name="Google Shape;603;p4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MANUTENÇÃO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o software deverá sofrer mudanças depois que for entregue ao cliente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Causas das mudanças: 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pt-BR"/>
              <a:t>Erros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pt-BR"/>
              <a:t>Mudanças no ambiente</a:t>
            </a: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pt-BR"/>
              <a:t>Exigência do cliente para acréscimos funcionais e de desempenho</a:t>
            </a:r>
            <a:endParaRPr/>
          </a:p>
        </p:txBody>
      </p:sp>
      <p:grpSp>
        <p:nvGrpSpPr>
          <p:cNvPr id="604" name="Google Shape;604;p44"/>
          <p:cNvGrpSpPr/>
          <p:nvPr/>
        </p:nvGrpSpPr>
        <p:grpSpPr>
          <a:xfrm>
            <a:off x="4932040" y="2815227"/>
            <a:ext cx="4117950" cy="2095907"/>
            <a:chOff x="0" y="2209800"/>
            <a:chExt cx="6019800" cy="3063875"/>
          </a:xfrm>
        </p:grpSpPr>
        <p:sp>
          <p:nvSpPr>
            <p:cNvPr id="605" name="Google Shape;605;p44"/>
            <p:cNvSpPr/>
            <p:nvPr/>
          </p:nvSpPr>
          <p:spPr>
            <a:xfrm>
              <a:off x="5106482" y="4038676"/>
              <a:ext cx="913318" cy="913314"/>
            </a:xfrm>
            <a:prstGeom prst="irregularSeal2">
              <a:avLst/>
            </a:prstGeom>
            <a:noFill/>
            <a:ln w="12700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06" name="Google Shape;606;p44"/>
            <p:cNvGrpSpPr/>
            <p:nvPr/>
          </p:nvGrpSpPr>
          <p:grpSpPr>
            <a:xfrm>
              <a:off x="0" y="2209800"/>
              <a:ext cx="5715000" cy="3063875"/>
              <a:chOff x="1728" y="1728"/>
              <a:chExt cx="9792" cy="5184"/>
            </a:xfrm>
          </p:grpSpPr>
          <p:sp>
            <p:nvSpPr>
              <p:cNvPr id="607" name="Google Shape;607;p44"/>
              <p:cNvSpPr/>
              <p:nvPr/>
            </p:nvSpPr>
            <p:spPr>
              <a:xfrm>
                <a:off x="1728" y="172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Engenharia de Sistemas</a:t>
                </a:r>
                <a:endParaRPr/>
              </a:p>
            </p:txBody>
          </p:sp>
          <p:sp>
            <p:nvSpPr>
              <p:cNvPr id="608" name="Google Shape;608;p44"/>
              <p:cNvSpPr/>
              <p:nvPr/>
            </p:nvSpPr>
            <p:spPr>
              <a:xfrm>
                <a:off x="3600" y="244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Análise  de Requisitos </a:t>
                </a:r>
                <a:endParaRPr/>
              </a:p>
            </p:txBody>
          </p:sp>
          <p:sp>
            <p:nvSpPr>
              <p:cNvPr id="609" name="Google Shape;609;p44"/>
              <p:cNvSpPr/>
              <p:nvPr/>
            </p:nvSpPr>
            <p:spPr>
              <a:xfrm>
                <a:off x="5328" y="316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Projeto  </a:t>
                </a:r>
                <a:endParaRPr/>
              </a:p>
            </p:txBody>
          </p:sp>
          <p:sp>
            <p:nvSpPr>
              <p:cNvPr id="610" name="Google Shape;610;p44"/>
              <p:cNvSpPr/>
              <p:nvPr/>
            </p:nvSpPr>
            <p:spPr>
              <a:xfrm>
                <a:off x="6336" y="388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Codificação </a:t>
                </a:r>
                <a:endParaRPr/>
              </a:p>
            </p:txBody>
          </p:sp>
          <p:sp>
            <p:nvSpPr>
              <p:cNvPr id="611" name="Google Shape;611;p44"/>
              <p:cNvSpPr/>
              <p:nvPr/>
            </p:nvSpPr>
            <p:spPr>
              <a:xfrm>
                <a:off x="7488" y="4608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Testes </a:t>
                </a:r>
                <a:endParaRPr/>
              </a:p>
            </p:txBody>
          </p:sp>
          <p:sp>
            <p:nvSpPr>
              <p:cNvPr id="612" name="Google Shape;612;p44"/>
              <p:cNvSpPr/>
              <p:nvPr/>
            </p:nvSpPr>
            <p:spPr>
              <a:xfrm>
                <a:off x="8784" y="5304"/>
                <a:ext cx="2736" cy="129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 i="0" u="none" strike="noStrike" cap="none">
                    <a:solidFill>
                      <a:srgbClr val="80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Manutenção</a:t>
                </a:r>
                <a:endParaRPr/>
              </a:p>
            </p:txBody>
          </p:sp>
          <p:cxnSp>
            <p:nvCxnSpPr>
              <p:cNvPr id="613" name="Google Shape;613;p44"/>
              <p:cNvCxnSpPr/>
              <p:nvPr/>
            </p:nvCxnSpPr>
            <p:spPr>
              <a:xfrm>
                <a:off x="4465" y="2162"/>
                <a:ext cx="721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4" name="Google Shape;614;p44"/>
              <p:cNvCxnSpPr/>
              <p:nvPr/>
            </p:nvCxnSpPr>
            <p:spPr>
              <a:xfrm>
                <a:off x="6338" y="2737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44"/>
              <p:cNvCxnSpPr/>
              <p:nvPr/>
            </p:nvCxnSpPr>
            <p:spPr>
              <a:xfrm>
                <a:off x="8065" y="3456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44"/>
              <p:cNvCxnSpPr/>
              <p:nvPr/>
            </p:nvCxnSpPr>
            <p:spPr>
              <a:xfrm>
                <a:off x="9074" y="4175"/>
                <a:ext cx="432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7" name="Google Shape;617;p44"/>
              <p:cNvCxnSpPr/>
              <p:nvPr/>
            </p:nvCxnSpPr>
            <p:spPr>
              <a:xfrm>
                <a:off x="10227" y="4895"/>
                <a:ext cx="574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8" name="Google Shape;618;p44"/>
              <p:cNvCxnSpPr/>
              <p:nvPr/>
            </p:nvCxnSpPr>
            <p:spPr>
              <a:xfrm>
                <a:off x="5185" y="2162"/>
                <a:ext cx="0" cy="285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19" name="Google Shape;619;p44"/>
              <p:cNvCxnSpPr/>
              <p:nvPr/>
            </p:nvCxnSpPr>
            <p:spPr>
              <a:xfrm>
                <a:off x="6769" y="2737"/>
                <a:ext cx="0" cy="43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20" name="Google Shape;620;p44"/>
              <p:cNvCxnSpPr/>
              <p:nvPr/>
            </p:nvCxnSpPr>
            <p:spPr>
              <a:xfrm>
                <a:off x="8496" y="3456"/>
                <a:ext cx="0" cy="43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21" name="Google Shape;621;p44"/>
              <p:cNvCxnSpPr/>
              <p:nvPr/>
            </p:nvCxnSpPr>
            <p:spPr>
              <a:xfrm>
                <a:off x="9506" y="4175"/>
                <a:ext cx="0" cy="43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22" name="Google Shape;622;p44"/>
              <p:cNvCxnSpPr/>
              <p:nvPr/>
            </p:nvCxnSpPr>
            <p:spPr>
              <a:xfrm>
                <a:off x="10801" y="4895"/>
                <a:ext cx="0" cy="43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23" name="Google Shape;623;p44"/>
              <p:cNvCxnSpPr/>
              <p:nvPr/>
            </p:nvCxnSpPr>
            <p:spPr>
              <a:xfrm>
                <a:off x="10042" y="6600"/>
                <a:ext cx="0" cy="312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44"/>
              <p:cNvCxnSpPr/>
              <p:nvPr/>
            </p:nvCxnSpPr>
            <p:spPr>
              <a:xfrm>
                <a:off x="2738" y="6912"/>
                <a:ext cx="7343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5" name="Google Shape;625;p44"/>
              <p:cNvCxnSpPr/>
              <p:nvPr/>
            </p:nvCxnSpPr>
            <p:spPr>
              <a:xfrm>
                <a:off x="2738" y="3026"/>
                <a:ext cx="0" cy="3886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626" name="Google Shape;626;p44"/>
              <p:cNvCxnSpPr/>
              <p:nvPr/>
            </p:nvCxnSpPr>
            <p:spPr>
              <a:xfrm>
                <a:off x="4607" y="3745"/>
                <a:ext cx="0" cy="316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627" name="Google Shape;627;p44"/>
              <p:cNvCxnSpPr/>
              <p:nvPr/>
            </p:nvCxnSpPr>
            <p:spPr>
              <a:xfrm>
                <a:off x="6049" y="4465"/>
                <a:ext cx="0" cy="244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628" name="Google Shape;628;p44"/>
              <p:cNvCxnSpPr/>
              <p:nvPr/>
            </p:nvCxnSpPr>
            <p:spPr>
              <a:xfrm>
                <a:off x="7059" y="5184"/>
                <a:ext cx="0" cy="1728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629" name="Google Shape;629;p44"/>
              <p:cNvCxnSpPr/>
              <p:nvPr/>
            </p:nvCxnSpPr>
            <p:spPr>
              <a:xfrm>
                <a:off x="8211" y="5903"/>
                <a:ext cx="0" cy="1009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Problemas com cascata</a:t>
            </a:r>
            <a:endParaRPr/>
          </a:p>
        </p:txBody>
      </p:sp>
      <p:sp>
        <p:nvSpPr>
          <p:cNvPr id="635" name="Google Shape;635;p4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Projetos reais raramente </a:t>
            </a:r>
            <a:r>
              <a:rPr lang="pt-BR">
                <a:solidFill>
                  <a:srgbClr val="FF0000"/>
                </a:solidFill>
              </a:rPr>
              <a:t>seguem o fluxo sequencial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No início do processo </a:t>
            </a:r>
            <a:r>
              <a:rPr lang="pt-BR">
                <a:solidFill>
                  <a:srgbClr val="FF0000"/>
                </a:solidFill>
              </a:rPr>
              <a:t>é difícil </a:t>
            </a:r>
            <a:r>
              <a:rPr lang="pt-BR"/>
              <a:t>estabelecer explicitamente todos os requisitos.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No começo dos projetos sempre existe uma </a:t>
            </a:r>
            <a:r>
              <a:rPr lang="pt-BR">
                <a:solidFill>
                  <a:srgbClr val="FF0000"/>
                </a:solidFill>
              </a:rPr>
              <a:t>incerteza</a:t>
            </a:r>
            <a:r>
              <a:rPr lang="pt-BR"/>
              <a:t> natural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O cliente deve ter paciência.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Uma versão executável do software só fica </a:t>
            </a:r>
            <a:r>
              <a:rPr lang="pt-BR">
                <a:solidFill>
                  <a:srgbClr val="FF0000"/>
                </a:solidFill>
              </a:rPr>
              <a:t>disponível</a:t>
            </a:r>
            <a:r>
              <a:rPr lang="pt-BR"/>
              <a:t> numa etapa avançada do desenvolvimento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Ciclo de Vida Clássico </a:t>
            </a:r>
            <a:br>
              <a:rPr lang="pt-BR"/>
            </a:br>
            <a:endParaRPr/>
          </a:p>
        </p:txBody>
      </p:sp>
      <p:sp>
        <p:nvSpPr>
          <p:cNvPr id="641" name="Google Shape;641;p4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Embora o Ciclo de Vida Clássico tenha fragilidades, ele é significativamente </a:t>
            </a:r>
            <a:r>
              <a:rPr lang="pt-BR">
                <a:solidFill>
                  <a:srgbClr val="FF0000"/>
                </a:solidFill>
              </a:rPr>
              <a:t>melhor</a:t>
            </a:r>
            <a:r>
              <a:rPr lang="pt-BR"/>
              <a:t> do que uma abordagem casual de desenvolvimento de software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 deu errado neste sistema?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 o vídeo: </a:t>
            </a:r>
            <a:r>
              <a:rPr lang="pt-BR" dirty="0">
                <a:hlinkClick r:id="rId2"/>
              </a:rPr>
              <a:t>https://www.youtube.com/watch?v=xSZUUIe5NpI</a:t>
            </a:r>
            <a:endParaRPr lang="pt-BR" dirty="0"/>
          </a:p>
          <a:p>
            <a:r>
              <a:rPr lang="en-US" dirty="0">
                <a:hlinkClick r:id="rId3"/>
              </a:rPr>
              <a:t>Minority Report (2002) - Official Trailer (youtube.com)</a:t>
            </a:r>
            <a:endParaRPr lang="pt-BR" dirty="0"/>
          </a:p>
          <a:p>
            <a:r>
              <a:rPr lang="pt-BR" dirty="0" err="1">
                <a:hlinkClick r:id="rId4"/>
              </a:rPr>
              <a:t>Minority</a:t>
            </a:r>
            <a:r>
              <a:rPr lang="pt-BR" dirty="0">
                <a:hlinkClick r:id="rId4"/>
              </a:rPr>
              <a:t> </a:t>
            </a:r>
            <a:r>
              <a:rPr lang="pt-BR" dirty="0" err="1">
                <a:hlinkClick r:id="rId4"/>
              </a:rPr>
              <a:t>Report</a:t>
            </a:r>
            <a:r>
              <a:rPr lang="pt-BR" dirty="0">
                <a:hlinkClick r:id="rId4"/>
              </a:rPr>
              <a:t> - Resenha sobre características da Modernidade (recantodasletras.com.br)</a:t>
            </a:r>
            <a:endParaRPr lang="pt-BR" dirty="0"/>
          </a:p>
          <a:p>
            <a:r>
              <a:rPr lang="pt-BR" dirty="0"/>
              <a:t>Análise? </a:t>
            </a:r>
            <a:r>
              <a:rPr lang="pt-BR"/>
              <a:t>Projeto? Codificação</a:t>
            </a:r>
            <a:r>
              <a:rPr lang="pt-BR" dirty="0"/>
              <a:t>?</a:t>
            </a:r>
          </a:p>
          <a:p>
            <a:r>
              <a:rPr lang="pt-BR" dirty="0"/>
              <a:t>Teste?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7396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696200" cy="1143000"/>
          </a:xfrm>
        </p:spPr>
        <p:txBody>
          <a:bodyPr lIns="90000" tIns="46800" rIns="90000" bIns="46800" anchor="b"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pt-BR"/>
              <a:t>Introdução à Engenharia de Software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696200" cy="4038600"/>
          </a:xfrm>
        </p:spPr>
        <p:txBody>
          <a:bodyPr lIns="90000" tIns="46800" rIns="90000" bIns="4680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775"/>
              </a:spcBef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pt-BR" dirty="0"/>
              <a:t>Perguntas </a:t>
            </a:r>
            <a:r>
              <a:rPr lang="en-GB" altLang="pt-BR" dirty="0" err="1"/>
              <a:t>importantes</a:t>
            </a:r>
            <a:r>
              <a:rPr lang="en-GB" altLang="pt-BR" dirty="0"/>
              <a:t> </a:t>
            </a:r>
            <a:r>
              <a:rPr lang="en-GB" altLang="pt-BR" sz="1800" dirty="0"/>
              <a:t>(</a:t>
            </a:r>
            <a:r>
              <a:rPr lang="en-GB" altLang="pt-BR" sz="1800" dirty="0" err="1"/>
              <a:t>continuação</a:t>
            </a:r>
            <a:r>
              <a:rPr lang="en-GB" altLang="pt-BR" sz="1800" dirty="0"/>
              <a:t>)</a:t>
            </a:r>
            <a:r>
              <a:rPr lang="en-GB" altLang="pt-BR" dirty="0"/>
              <a:t>:</a:t>
            </a:r>
          </a:p>
          <a:p>
            <a:pPr lvl="1" eaLnBrk="1" hangingPunct="1">
              <a:lnSpc>
                <a:spcPct val="100000"/>
              </a:lnSpc>
              <a:spcBef>
                <a:spcPts val="650"/>
              </a:spcBef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pt-BR" dirty="0"/>
              <a:t>O que é um </a:t>
            </a:r>
            <a:r>
              <a:rPr lang="en-GB" altLang="pt-BR" dirty="0" err="1"/>
              <a:t>paradigma</a:t>
            </a:r>
            <a:r>
              <a:rPr lang="en-GB" altLang="pt-BR" dirty="0"/>
              <a:t> de </a:t>
            </a:r>
            <a:r>
              <a:rPr lang="en-GB" altLang="pt-BR" dirty="0" err="1"/>
              <a:t>processo</a:t>
            </a:r>
            <a:r>
              <a:rPr lang="en-GB" altLang="pt-BR" dirty="0"/>
              <a:t> de software?</a:t>
            </a:r>
          </a:p>
          <a:p>
            <a:pPr lvl="2" eaLnBrk="1" hangingPunct="1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SzPct val="150000"/>
              <a:buFont typeface="Arial" charset="0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pt-BR" sz="2000" dirty="0"/>
              <a:t>R. Uma </a:t>
            </a:r>
            <a:r>
              <a:rPr lang="en-GB" altLang="pt-BR" sz="2000" dirty="0" err="1"/>
              <a:t>estratégia</a:t>
            </a:r>
            <a:r>
              <a:rPr lang="en-GB" altLang="pt-BR" sz="2000" dirty="0"/>
              <a:t> de </a:t>
            </a:r>
            <a:r>
              <a:rPr lang="en-GB" altLang="pt-BR" sz="2000" dirty="0" err="1"/>
              <a:t>processo</a:t>
            </a:r>
            <a:r>
              <a:rPr lang="en-GB" altLang="pt-BR" sz="2000" dirty="0"/>
              <a:t> de software com </a:t>
            </a:r>
            <a:r>
              <a:rPr lang="en-GB" altLang="pt-BR" sz="2000" dirty="0" err="1"/>
              <a:t>características</a:t>
            </a:r>
            <a:r>
              <a:rPr lang="en-GB" altLang="pt-BR" sz="2000" dirty="0"/>
              <a:t> </a:t>
            </a:r>
            <a:r>
              <a:rPr lang="en-GB" altLang="pt-BR" sz="2000" dirty="0" err="1"/>
              <a:t>bem</a:t>
            </a:r>
            <a:r>
              <a:rPr lang="en-GB" altLang="pt-BR" sz="2000" dirty="0"/>
              <a:t> </a:t>
            </a:r>
            <a:r>
              <a:rPr lang="en-GB" altLang="pt-BR" sz="2000" dirty="0" err="1"/>
              <a:t>definidas</a:t>
            </a:r>
            <a:r>
              <a:rPr lang="en-GB" altLang="pt-BR" sz="2000" dirty="0"/>
              <a:t>.</a:t>
            </a:r>
          </a:p>
          <a:p>
            <a:pPr lvl="1" eaLnBrk="1" hangingPunct="1">
              <a:lnSpc>
                <a:spcPct val="100000"/>
              </a:lnSpc>
              <a:spcBef>
                <a:spcPts val="650"/>
              </a:spcBef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pt-BR" dirty="0" err="1"/>
              <a:t>Quais</a:t>
            </a:r>
            <a:r>
              <a:rPr lang="en-GB" altLang="pt-BR" dirty="0"/>
              <a:t> </a:t>
            </a:r>
            <a:r>
              <a:rPr lang="en-GB" altLang="pt-BR" dirty="0" err="1"/>
              <a:t>são</a:t>
            </a:r>
            <a:r>
              <a:rPr lang="en-GB" altLang="pt-BR" dirty="0"/>
              <a:t> </a:t>
            </a:r>
            <a:r>
              <a:rPr lang="en-GB" altLang="pt-BR" dirty="0" err="1"/>
              <a:t>os</a:t>
            </a:r>
            <a:r>
              <a:rPr lang="en-GB" altLang="pt-BR" dirty="0"/>
              <a:t> </a:t>
            </a:r>
            <a:r>
              <a:rPr lang="en-GB" altLang="pt-BR" dirty="0" err="1"/>
              <a:t>principais</a:t>
            </a:r>
            <a:r>
              <a:rPr lang="en-GB" altLang="pt-BR" dirty="0"/>
              <a:t> </a:t>
            </a:r>
            <a:r>
              <a:rPr lang="en-GB" altLang="pt-BR" dirty="0" err="1"/>
              <a:t>desafios</a:t>
            </a:r>
            <a:r>
              <a:rPr lang="en-GB" altLang="pt-BR" dirty="0"/>
              <a:t> </a:t>
            </a:r>
            <a:r>
              <a:rPr lang="en-GB" altLang="pt-BR" dirty="0" err="1"/>
              <a:t>enfrentados</a:t>
            </a:r>
            <a:r>
              <a:rPr lang="en-GB" altLang="pt-BR" dirty="0"/>
              <a:t> pela </a:t>
            </a:r>
            <a:r>
              <a:rPr lang="en-GB" altLang="pt-BR" dirty="0" err="1"/>
              <a:t>engenharia</a:t>
            </a:r>
            <a:r>
              <a:rPr lang="en-GB" altLang="pt-BR" dirty="0"/>
              <a:t> de software?</a:t>
            </a:r>
          </a:p>
          <a:p>
            <a:pPr lvl="2" eaLnBrk="1" hangingPunct="1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SzPct val="150000"/>
              <a:buFont typeface="Arial" charset="0"/>
              <a:buNone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en-GB" altLang="pt-BR" sz="2000" dirty="0"/>
              <a:t>R. O </a:t>
            </a:r>
            <a:r>
              <a:rPr lang="en-GB" altLang="pt-BR" sz="2000" dirty="0" err="1"/>
              <a:t>legado</a:t>
            </a:r>
            <a:r>
              <a:rPr lang="en-GB" altLang="pt-BR" sz="2000" dirty="0"/>
              <a:t>, a </a:t>
            </a:r>
            <a:r>
              <a:rPr lang="en-GB" altLang="pt-BR" sz="2000" dirty="0" err="1"/>
              <a:t>heterogeneidade</a:t>
            </a:r>
            <a:r>
              <a:rPr lang="en-GB" altLang="pt-BR" sz="2000" dirty="0"/>
              <a:t> e o </a:t>
            </a:r>
            <a:r>
              <a:rPr lang="en-GB" altLang="pt-BR" sz="2000" dirty="0" err="1"/>
              <a:t>desafio</a:t>
            </a:r>
            <a:r>
              <a:rPr lang="en-GB" altLang="pt-BR" sz="2000" dirty="0"/>
              <a:t> do </a:t>
            </a:r>
            <a:r>
              <a:rPr lang="en-GB" altLang="pt-BR" sz="2000" dirty="0" err="1"/>
              <a:t>fornecimento</a:t>
            </a:r>
            <a:endParaRPr lang="en-GB" altLang="pt-BR" sz="2000" dirty="0"/>
          </a:p>
        </p:txBody>
      </p:sp>
    </p:spTree>
    <p:extLst>
      <p:ext uri="{BB962C8B-B14F-4D97-AF65-F5344CB8AC3E}">
        <p14:creationId xmlns:p14="http://schemas.microsoft.com/office/powerpoint/2010/main" val="18626908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23D26-1241-6D39-30EC-AEE18B708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processo evolucionário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4FC2F-FB27-AA11-3C51-B0EBBB320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conjunto do produto essencial ou das necessidades do sistema está bem compreendido, entretanto, detalhes de extensões do produto ou do sistema ainda devem ser definidos.</a:t>
            </a:r>
          </a:p>
          <a:p>
            <a:r>
              <a:rPr lang="pt-BR" dirty="0"/>
              <a:t>Processo que tenha sido projetado especificamente para desenvolver um produto que evolua ao longo do tempo.</a:t>
            </a:r>
          </a:p>
        </p:txBody>
      </p:sp>
    </p:spTree>
    <p:extLst>
      <p:ext uri="{BB962C8B-B14F-4D97-AF65-F5344CB8AC3E}">
        <p14:creationId xmlns:p14="http://schemas.microsoft.com/office/powerpoint/2010/main" val="3880575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DD428-A68D-FC4C-A2E3-975C69A8A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evolucionários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9A46A-3C3F-69E6-A81B-D81A54EBD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Modelos evolucionários são iterativos.</a:t>
            </a:r>
          </a:p>
          <a:p>
            <a:r>
              <a:rPr lang="pt-BR" dirty="0"/>
              <a:t>Entre eles encontramos:</a:t>
            </a:r>
          </a:p>
          <a:p>
            <a:r>
              <a:rPr lang="pt-BR" dirty="0"/>
              <a:t>Prototipação</a:t>
            </a:r>
          </a:p>
          <a:p>
            <a:r>
              <a:rPr lang="pt-BR" dirty="0"/>
              <a:t>Espiral</a:t>
            </a:r>
          </a:p>
        </p:txBody>
      </p:sp>
    </p:spTree>
    <p:extLst>
      <p:ext uri="{BB962C8B-B14F-4D97-AF65-F5344CB8AC3E}">
        <p14:creationId xmlns:p14="http://schemas.microsoft.com/office/powerpoint/2010/main" val="3207370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Prototipação</a:t>
            </a:r>
            <a:endParaRPr/>
          </a:p>
        </p:txBody>
      </p:sp>
      <p:sp>
        <p:nvSpPr>
          <p:cNvPr id="653" name="Google Shape;653;p4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Possibilita ao desenvolvedor criar um modelo do software a construído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Idealmente, protótipo serve como um mecanismo para identificar os requisitos de software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Apropriado para quando o cliente definiu um conjunto de objetivos gerais para o software, mas não </a:t>
            </a:r>
            <a:r>
              <a:rPr lang="pt-BR">
                <a:solidFill>
                  <a:srgbClr val="FF0000"/>
                </a:solidFill>
              </a:rPr>
              <a:t>identificou em detalhes os requisitos de entrada, processamento e saída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8" name="Google Shape;658;p49"/>
          <p:cNvGrpSpPr/>
          <p:nvPr/>
        </p:nvGrpSpPr>
        <p:grpSpPr>
          <a:xfrm>
            <a:off x="2124075" y="1557338"/>
            <a:ext cx="5167313" cy="4637087"/>
            <a:chOff x="1430" y="1149"/>
            <a:chExt cx="3255" cy="2921"/>
          </a:xfrm>
        </p:grpSpPr>
        <p:sp>
          <p:nvSpPr>
            <p:cNvPr id="659" name="Google Shape;659;p49"/>
            <p:cNvSpPr txBox="1"/>
            <p:nvPr/>
          </p:nvSpPr>
          <p:spPr>
            <a:xfrm>
              <a:off x="1430" y="1505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fim</a:t>
              </a:r>
              <a:endParaRPr sz="1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60" name="Google Shape;660;p49"/>
            <p:cNvSpPr txBox="1"/>
            <p:nvPr/>
          </p:nvSpPr>
          <p:spPr>
            <a:xfrm>
              <a:off x="2211" y="1149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início</a:t>
              </a:r>
              <a:endParaRPr sz="1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61" name="Google Shape;661;p49"/>
            <p:cNvSpPr txBox="1"/>
            <p:nvPr/>
          </p:nvSpPr>
          <p:spPr>
            <a:xfrm>
              <a:off x="1488" y="2160"/>
              <a:ext cx="117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</a:t>
              </a:r>
              <a:r>
                <a:rPr lang="pt-BR" sz="1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produto</a:t>
              </a:r>
              <a:endPara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9"/>
            <p:cNvSpPr txBox="1"/>
            <p:nvPr/>
          </p:nvSpPr>
          <p:spPr>
            <a:xfrm>
              <a:off x="1560" y="3001"/>
              <a:ext cx="1107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refinamento</a:t>
              </a:r>
              <a:r>
                <a:rPr lang="pt-BR" sz="1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protótipo</a:t>
              </a:r>
              <a:endPara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9"/>
            <p:cNvSpPr txBox="1"/>
            <p:nvPr/>
          </p:nvSpPr>
          <p:spPr>
            <a:xfrm>
              <a:off x="2667" y="3429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avaliação</a:t>
              </a:r>
              <a:r>
                <a:rPr lang="pt-BR" sz="1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protótipo</a:t>
              </a:r>
              <a:endPara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9"/>
            <p:cNvSpPr txBox="1"/>
            <p:nvPr/>
          </p:nvSpPr>
          <p:spPr>
            <a:xfrm>
              <a:off x="3448" y="2930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</a:t>
              </a:r>
              <a:r>
                <a:rPr lang="pt-BR" sz="1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protótipo</a:t>
              </a:r>
              <a:endPara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9"/>
            <p:cNvSpPr txBox="1"/>
            <p:nvPr/>
          </p:nvSpPr>
          <p:spPr>
            <a:xfrm>
              <a:off x="3578" y="2146"/>
              <a:ext cx="91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projeto</a:t>
              </a:r>
              <a:r>
                <a:rPr lang="pt-BR" sz="1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rápido</a:t>
              </a:r>
              <a:endPara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9"/>
            <p:cNvSpPr txBox="1"/>
            <p:nvPr/>
          </p:nvSpPr>
          <p:spPr>
            <a:xfrm>
              <a:off x="2537" y="1648"/>
              <a:ext cx="1041" cy="7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obtenção</a:t>
              </a:r>
              <a:r>
                <a:rPr lang="pt-BR" sz="1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dos</a:t>
              </a:r>
              <a:r>
                <a:rPr lang="pt-BR" sz="1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lang="pt-BR" sz="1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requisitos</a:t>
              </a:r>
              <a:endPara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9"/>
            <p:cNvSpPr/>
            <p:nvPr/>
          </p:nvSpPr>
          <p:spPr>
            <a:xfrm>
              <a:off x="1430" y="1576"/>
              <a:ext cx="3125" cy="249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8" name="Google Shape;668;p49"/>
            <p:cNvSpPr/>
            <p:nvPr/>
          </p:nvSpPr>
          <p:spPr>
            <a:xfrm>
              <a:off x="2537" y="2360"/>
              <a:ext cx="1041" cy="855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69" name="Google Shape;669;p49"/>
            <p:cNvCxnSpPr/>
            <p:nvPr/>
          </p:nvCxnSpPr>
          <p:spPr>
            <a:xfrm>
              <a:off x="2276" y="1719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0" name="Google Shape;670;p49"/>
            <p:cNvCxnSpPr/>
            <p:nvPr/>
          </p:nvCxnSpPr>
          <p:spPr>
            <a:xfrm flipH="1">
              <a:off x="3383" y="1790"/>
              <a:ext cx="456" cy="641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1" name="Google Shape;671;p49"/>
            <p:cNvCxnSpPr/>
            <p:nvPr/>
          </p:nvCxnSpPr>
          <p:spPr>
            <a:xfrm>
              <a:off x="3578" y="2788"/>
              <a:ext cx="977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2" name="Google Shape;672;p49"/>
            <p:cNvCxnSpPr/>
            <p:nvPr/>
          </p:nvCxnSpPr>
          <p:spPr>
            <a:xfrm>
              <a:off x="3383" y="3144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3" name="Google Shape;673;p49"/>
            <p:cNvCxnSpPr/>
            <p:nvPr/>
          </p:nvCxnSpPr>
          <p:spPr>
            <a:xfrm flipH="1">
              <a:off x="2341" y="3215"/>
              <a:ext cx="521" cy="713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4" name="Google Shape;674;p49"/>
            <p:cNvCxnSpPr/>
            <p:nvPr/>
          </p:nvCxnSpPr>
          <p:spPr>
            <a:xfrm rot="10800000">
              <a:off x="1430" y="2788"/>
              <a:ext cx="1107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5" name="Google Shape;675;p49"/>
            <p:cNvSpPr/>
            <p:nvPr/>
          </p:nvSpPr>
          <p:spPr>
            <a:xfrm rot="-1632726">
              <a:off x="2797" y="2645"/>
              <a:ext cx="521" cy="3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 extrusionOk="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 extrusionOk="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folHlink"/>
            </a:solidFill>
            <a:ln w="38100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76" name="Google Shape;676;p49"/>
            <p:cNvCxnSpPr/>
            <p:nvPr/>
          </p:nvCxnSpPr>
          <p:spPr>
            <a:xfrm rot="10800000" flipH="1">
              <a:off x="2537" y="2431"/>
              <a:ext cx="846" cy="357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677" name="Google Shape;677;p49"/>
            <p:cNvCxnSpPr/>
            <p:nvPr/>
          </p:nvCxnSpPr>
          <p:spPr>
            <a:xfrm rot="10800000" flipH="1">
              <a:off x="2862" y="2788"/>
              <a:ext cx="716" cy="427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678" name="Google Shape;678;p49"/>
            <p:cNvCxnSpPr/>
            <p:nvPr/>
          </p:nvCxnSpPr>
          <p:spPr>
            <a:xfrm rot="10800000">
              <a:off x="1821" y="1648"/>
              <a:ext cx="130" cy="213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9" name="Google Shape;679;p49"/>
            <p:cNvCxnSpPr/>
            <p:nvPr/>
          </p:nvCxnSpPr>
          <p:spPr>
            <a:xfrm>
              <a:off x="2341" y="1363"/>
              <a:ext cx="131" cy="213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80" name="Google Shape;680;p49"/>
            <p:cNvSpPr/>
            <p:nvPr/>
          </p:nvSpPr>
          <p:spPr>
            <a:xfrm>
              <a:off x="3969" y="1650"/>
              <a:ext cx="716" cy="853"/>
            </a:xfrm>
            <a:custGeom>
              <a:avLst/>
              <a:gdLst/>
              <a:ahLst/>
              <a:cxnLst/>
              <a:rect l="l" t="t" r="r" b="b"/>
              <a:pathLst>
                <a:path w="20874" h="21584" fill="none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</a:path>
                <a:path w="20874" h="21584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  <a:lnTo>
                    <a:pt x="0" y="21584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81" name="Google Shape;681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Prototipação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0"/>
          <p:cNvSpPr txBox="1">
            <a:spLocks noGrp="1"/>
          </p:cNvSpPr>
          <p:nvPr>
            <p:ph type="title"/>
          </p:nvPr>
        </p:nvSpPr>
        <p:spPr>
          <a:xfrm>
            <a:off x="-406710" y="35388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da Prototipação</a:t>
            </a:r>
            <a:endParaRPr/>
          </a:p>
        </p:txBody>
      </p:sp>
      <p:sp>
        <p:nvSpPr>
          <p:cNvPr id="687" name="Google Shape;687;p50"/>
          <p:cNvSpPr txBox="1">
            <a:spLocks noGrp="1"/>
          </p:cNvSpPr>
          <p:nvPr>
            <p:ph idx="1"/>
          </p:nvPr>
        </p:nvSpPr>
        <p:spPr>
          <a:xfrm>
            <a:off x="269971" y="128008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Obtenção dos Requisitos: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desenvolvedor e cliente definem os objetivos gerais do software, identificam quais requisitos são conhecidos e as áreas que necessitam de definições adicionais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Projeto Rápido: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representação dos aspectos do software que são </a:t>
            </a:r>
            <a:r>
              <a:rPr lang="pt-BR">
                <a:solidFill>
                  <a:srgbClr val="FF0000"/>
                </a:solidFill>
              </a:rPr>
              <a:t>visíveis</a:t>
            </a:r>
            <a:r>
              <a:rPr lang="pt-BR"/>
              <a:t> ao usuário (abordagens de entrada e formatos de saída)</a:t>
            </a:r>
            <a:endParaRPr/>
          </a:p>
        </p:txBody>
      </p:sp>
      <p:grpSp>
        <p:nvGrpSpPr>
          <p:cNvPr id="688" name="Google Shape;688;p50"/>
          <p:cNvGrpSpPr/>
          <p:nvPr/>
        </p:nvGrpSpPr>
        <p:grpSpPr>
          <a:xfrm>
            <a:off x="6876256" y="4744011"/>
            <a:ext cx="2124075" cy="2124075"/>
            <a:chOff x="1430" y="1149"/>
            <a:chExt cx="3255" cy="2921"/>
          </a:xfrm>
        </p:grpSpPr>
        <p:sp>
          <p:nvSpPr>
            <p:cNvPr id="689" name="Google Shape;689;p50"/>
            <p:cNvSpPr txBox="1"/>
            <p:nvPr/>
          </p:nvSpPr>
          <p:spPr>
            <a:xfrm>
              <a:off x="1430" y="1505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fim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90" name="Google Shape;690;p50"/>
            <p:cNvSpPr txBox="1"/>
            <p:nvPr/>
          </p:nvSpPr>
          <p:spPr>
            <a:xfrm>
              <a:off x="2211" y="1149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início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91" name="Google Shape;691;p50"/>
            <p:cNvSpPr txBox="1"/>
            <p:nvPr/>
          </p:nvSpPr>
          <p:spPr>
            <a:xfrm>
              <a:off x="1488" y="2160"/>
              <a:ext cx="117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</a:t>
              </a:r>
              <a:r>
                <a:rPr lang="pt-BR"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produto</a:t>
              </a:r>
              <a:endParaRPr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0"/>
            <p:cNvSpPr txBox="1"/>
            <p:nvPr/>
          </p:nvSpPr>
          <p:spPr>
            <a:xfrm>
              <a:off x="1560" y="3001"/>
              <a:ext cx="1107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refinamento</a:t>
              </a:r>
              <a:r>
                <a:rPr lang="pt-BR"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protótipo</a:t>
              </a:r>
              <a:endParaRPr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0"/>
            <p:cNvSpPr txBox="1"/>
            <p:nvPr/>
          </p:nvSpPr>
          <p:spPr>
            <a:xfrm>
              <a:off x="2667" y="3429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avaliação</a:t>
              </a:r>
              <a:r>
                <a:rPr lang="pt-BR"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protótipo</a:t>
              </a:r>
              <a:endParaRPr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0"/>
            <p:cNvSpPr txBox="1"/>
            <p:nvPr/>
          </p:nvSpPr>
          <p:spPr>
            <a:xfrm>
              <a:off x="3448" y="2930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</a:t>
              </a:r>
              <a:r>
                <a:rPr lang="pt-BR"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protótipo</a:t>
              </a:r>
              <a:endParaRPr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0"/>
            <p:cNvSpPr txBox="1"/>
            <p:nvPr/>
          </p:nvSpPr>
          <p:spPr>
            <a:xfrm>
              <a:off x="3578" y="2146"/>
              <a:ext cx="91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projeto rápido</a:t>
              </a:r>
              <a:endParaRPr/>
            </a:p>
          </p:txBody>
        </p:sp>
        <p:sp>
          <p:nvSpPr>
            <p:cNvPr id="696" name="Google Shape;696;p50"/>
            <p:cNvSpPr txBox="1"/>
            <p:nvPr/>
          </p:nvSpPr>
          <p:spPr>
            <a:xfrm>
              <a:off x="2537" y="1648"/>
              <a:ext cx="1041" cy="7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obtenção dos   requisitos</a:t>
              </a:r>
              <a:endParaRPr/>
            </a:p>
          </p:txBody>
        </p:sp>
        <p:sp>
          <p:nvSpPr>
            <p:cNvPr id="697" name="Google Shape;697;p50"/>
            <p:cNvSpPr/>
            <p:nvPr/>
          </p:nvSpPr>
          <p:spPr>
            <a:xfrm>
              <a:off x="1430" y="1577"/>
              <a:ext cx="3126" cy="2493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8" name="Google Shape;698;p50"/>
            <p:cNvSpPr/>
            <p:nvPr/>
          </p:nvSpPr>
          <p:spPr>
            <a:xfrm>
              <a:off x="2537" y="2361"/>
              <a:ext cx="1041" cy="854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99" name="Google Shape;699;p50"/>
            <p:cNvCxnSpPr/>
            <p:nvPr/>
          </p:nvCxnSpPr>
          <p:spPr>
            <a:xfrm>
              <a:off x="2277" y="1719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Google Shape;700;p50"/>
            <p:cNvCxnSpPr/>
            <p:nvPr/>
          </p:nvCxnSpPr>
          <p:spPr>
            <a:xfrm flipH="1">
              <a:off x="3383" y="1791"/>
              <a:ext cx="455" cy="64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Google Shape;701;p50"/>
            <p:cNvCxnSpPr/>
            <p:nvPr/>
          </p:nvCxnSpPr>
          <p:spPr>
            <a:xfrm>
              <a:off x="3578" y="2789"/>
              <a:ext cx="978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2" name="Google Shape;702;p50"/>
            <p:cNvCxnSpPr/>
            <p:nvPr/>
          </p:nvCxnSpPr>
          <p:spPr>
            <a:xfrm>
              <a:off x="3383" y="3144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3" name="Google Shape;703;p50"/>
            <p:cNvCxnSpPr/>
            <p:nvPr/>
          </p:nvCxnSpPr>
          <p:spPr>
            <a:xfrm flipH="1">
              <a:off x="2340" y="3214"/>
              <a:ext cx="523" cy="7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4" name="Google Shape;704;p50"/>
            <p:cNvCxnSpPr/>
            <p:nvPr/>
          </p:nvCxnSpPr>
          <p:spPr>
            <a:xfrm rot="10800000">
              <a:off x="1430" y="2789"/>
              <a:ext cx="1107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5" name="Google Shape;705;p50"/>
            <p:cNvSpPr/>
            <p:nvPr/>
          </p:nvSpPr>
          <p:spPr>
            <a:xfrm rot="-1632726">
              <a:off x="2797" y="2644"/>
              <a:ext cx="521" cy="3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 extrusionOk="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 extrusionOk="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folHlink"/>
            </a:solidFill>
            <a:ln w="38100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06" name="Google Shape;706;p50"/>
            <p:cNvCxnSpPr/>
            <p:nvPr/>
          </p:nvCxnSpPr>
          <p:spPr>
            <a:xfrm rot="10800000" flipH="1">
              <a:off x="2537" y="2430"/>
              <a:ext cx="847" cy="358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707" name="Google Shape;707;p50"/>
            <p:cNvCxnSpPr/>
            <p:nvPr/>
          </p:nvCxnSpPr>
          <p:spPr>
            <a:xfrm rot="10800000" flipH="1">
              <a:off x="2863" y="2789"/>
              <a:ext cx="715" cy="426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708" name="Google Shape;708;p50"/>
            <p:cNvCxnSpPr/>
            <p:nvPr/>
          </p:nvCxnSpPr>
          <p:spPr>
            <a:xfrm rot="10800000">
              <a:off x="1822" y="1649"/>
              <a:ext cx="129" cy="2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09" name="Google Shape;709;p50"/>
            <p:cNvCxnSpPr/>
            <p:nvPr/>
          </p:nvCxnSpPr>
          <p:spPr>
            <a:xfrm>
              <a:off x="2340" y="1363"/>
              <a:ext cx="131" cy="2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10" name="Google Shape;710;p50"/>
            <p:cNvSpPr/>
            <p:nvPr/>
          </p:nvSpPr>
          <p:spPr>
            <a:xfrm>
              <a:off x="3970" y="1649"/>
              <a:ext cx="715" cy="854"/>
            </a:xfrm>
            <a:custGeom>
              <a:avLst/>
              <a:gdLst/>
              <a:ahLst/>
              <a:cxnLst/>
              <a:rect l="l" t="t" r="r" b="b"/>
              <a:pathLst>
                <a:path w="20874" h="21584" fill="none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</a:path>
                <a:path w="20874" h="21584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  <a:lnTo>
                    <a:pt x="0" y="21584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da Prototipação</a:t>
            </a:r>
            <a:endParaRPr/>
          </a:p>
        </p:txBody>
      </p:sp>
      <p:sp>
        <p:nvSpPr>
          <p:cNvPr id="716" name="Google Shape;716;p5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Construção Protótipo: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–"/>
            </a:pPr>
            <a:r>
              <a:rPr lang="pt-BR">
                <a:solidFill>
                  <a:srgbClr val="FF0000"/>
                </a:solidFill>
              </a:rPr>
              <a:t>Implementação  do projeto rápido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Avaliação do Protótipo: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Cliente e desenvolvedor avaliam o protótipo </a:t>
            </a:r>
            <a:endParaRPr/>
          </a:p>
        </p:txBody>
      </p:sp>
      <p:grpSp>
        <p:nvGrpSpPr>
          <p:cNvPr id="717" name="Google Shape;717;p51"/>
          <p:cNvGrpSpPr/>
          <p:nvPr/>
        </p:nvGrpSpPr>
        <p:grpSpPr>
          <a:xfrm>
            <a:off x="3529013" y="3805238"/>
            <a:ext cx="2506027" cy="2651833"/>
            <a:chOff x="1430" y="1149"/>
            <a:chExt cx="3255" cy="2921"/>
          </a:xfrm>
        </p:grpSpPr>
        <p:sp>
          <p:nvSpPr>
            <p:cNvPr id="718" name="Google Shape;718;p51"/>
            <p:cNvSpPr txBox="1"/>
            <p:nvPr/>
          </p:nvSpPr>
          <p:spPr>
            <a:xfrm>
              <a:off x="1430" y="1505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fim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19" name="Google Shape;719;p51"/>
            <p:cNvSpPr txBox="1"/>
            <p:nvPr/>
          </p:nvSpPr>
          <p:spPr>
            <a:xfrm>
              <a:off x="2211" y="1149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início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20" name="Google Shape;720;p51"/>
            <p:cNvSpPr txBox="1"/>
            <p:nvPr/>
          </p:nvSpPr>
          <p:spPr>
            <a:xfrm>
              <a:off x="1488" y="2160"/>
              <a:ext cx="117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</a:t>
              </a:r>
              <a:r>
                <a:rPr lang="pt-BR"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produto</a:t>
              </a:r>
              <a:endParaRPr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1"/>
            <p:cNvSpPr txBox="1"/>
            <p:nvPr/>
          </p:nvSpPr>
          <p:spPr>
            <a:xfrm>
              <a:off x="1560" y="3001"/>
              <a:ext cx="1107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 dirty="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refinamento</a:t>
              </a:r>
              <a:r>
                <a:rPr lang="pt-BR" sz="8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800" b="1" i="0" u="none" strike="noStrike" cap="none" dirty="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protótipo</a:t>
              </a:r>
              <a:endParaRPr sz="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1"/>
            <p:cNvSpPr txBox="1"/>
            <p:nvPr/>
          </p:nvSpPr>
          <p:spPr>
            <a:xfrm>
              <a:off x="2667" y="3429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avaliação protótipo</a:t>
              </a:r>
              <a:endParaRPr/>
            </a:p>
          </p:txBody>
        </p:sp>
        <p:sp>
          <p:nvSpPr>
            <p:cNvPr id="723" name="Google Shape;723;p51"/>
            <p:cNvSpPr txBox="1"/>
            <p:nvPr/>
          </p:nvSpPr>
          <p:spPr>
            <a:xfrm>
              <a:off x="3448" y="2930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construção protótipo</a:t>
              </a:r>
              <a:endParaRPr/>
            </a:p>
          </p:txBody>
        </p:sp>
        <p:sp>
          <p:nvSpPr>
            <p:cNvPr id="724" name="Google Shape;724;p51"/>
            <p:cNvSpPr txBox="1"/>
            <p:nvPr/>
          </p:nvSpPr>
          <p:spPr>
            <a:xfrm>
              <a:off x="3578" y="2146"/>
              <a:ext cx="91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projeto rápido</a:t>
              </a:r>
              <a:endParaRPr/>
            </a:p>
          </p:txBody>
        </p:sp>
        <p:sp>
          <p:nvSpPr>
            <p:cNvPr id="725" name="Google Shape;725;p51"/>
            <p:cNvSpPr txBox="1"/>
            <p:nvPr/>
          </p:nvSpPr>
          <p:spPr>
            <a:xfrm>
              <a:off x="2537" y="1648"/>
              <a:ext cx="1041" cy="7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obtenção dos   requisitos</a:t>
              </a:r>
              <a:endParaRPr/>
            </a:p>
          </p:txBody>
        </p:sp>
        <p:sp>
          <p:nvSpPr>
            <p:cNvPr id="726" name="Google Shape;726;p51"/>
            <p:cNvSpPr/>
            <p:nvPr/>
          </p:nvSpPr>
          <p:spPr>
            <a:xfrm>
              <a:off x="1430" y="1577"/>
              <a:ext cx="3126" cy="2493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7" name="Google Shape;727;p51"/>
            <p:cNvSpPr/>
            <p:nvPr/>
          </p:nvSpPr>
          <p:spPr>
            <a:xfrm>
              <a:off x="2537" y="2361"/>
              <a:ext cx="1041" cy="854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28" name="Google Shape;728;p51"/>
            <p:cNvCxnSpPr/>
            <p:nvPr/>
          </p:nvCxnSpPr>
          <p:spPr>
            <a:xfrm>
              <a:off x="2277" y="1719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9" name="Google Shape;729;p51"/>
            <p:cNvCxnSpPr/>
            <p:nvPr/>
          </p:nvCxnSpPr>
          <p:spPr>
            <a:xfrm flipH="1">
              <a:off x="3383" y="1791"/>
              <a:ext cx="455" cy="64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0" name="Google Shape;730;p51"/>
            <p:cNvCxnSpPr/>
            <p:nvPr/>
          </p:nvCxnSpPr>
          <p:spPr>
            <a:xfrm>
              <a:off x="3578" y="2789"/>
              <a:ext cx="978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1" name="Google Shape;731;p51"/>
            <p:cNvCxnSpPr/>
            <p:nvPr/>
          </p:nvCxnSpPr>
          <p:spPr>
            <a:xfrm>
              <a:off x="3383" y="3144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2" name="Google Shape;732;p51"/>
            <p:cNvCxnSpPr/>
            <p:nvPr/>
          </p:nvCxnSpPr>
          <p:spPr>
            <a:xfrm flipH="1">
              <a:off x="2340" y="3214"/>
              <a:ext cx="523" cy="7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3" name="Google Shape;733;p51"/>
            <p:cNvCxnSpPr/>
            <p:nvPr/>
          </p:nvCxnSpPr>
          <p:spPr>
            <a:xfrm rot="10800000">
              <a:off x="1430" y="2789"/>
              <a:ext cx="1107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34" name="Google Shape;734;p51"/>
            <p:cNvSpPr/>
            <p:nvPr/>
          </p:nvSpPr>
          <p:spPr>
            <a:xfrm rot="-1632726">
              <a:off x="2797" y="2644"/>
              <a:ext cx="521" cy="3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 extrusionOk="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 extrusionOk="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folHlink"/>
            </a:solidFill>
            <a:ln w="38100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35" name="Google Shape;735;p51"/>
            <p:cNvCxnSpPr/>
            <p:nvPr/>
          </p:nvCxnSpPr>
          <p:spPr>
            <a:xfrm rot="10800000" flipH="1">
              <a:off x="2537" y="2430"/>
              <a:ext cx="847" cy="358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736" name="Google Shape;736;p51"/>
            <p:cNvCxnSpPr/>
            <p:nvPr/>
          </p:nvCxnSpPr>
          <p:spPr>
            <a:xfrm rot="10800000" flipH="1">
              <a:off x="2863" y="2789"/>
              <a:ext cx="715" cy="426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737" name="Google Shape;737;p51"/>
            <p:cNvCxnSpPr/>
            <p:nvPr/>
          </p:nvCxnSpPr>
          <p:spPr>
            <a:xfrm rot="10800000">
              <a:off x="1822" y="1649"/>
              <a:ext cx="129" cy="2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38" name="Google Shape;738;p51"/>
            <p:cNvCxnSpPr/>
            <p:nvPr/>
          </p:nvCxnSpPr>
          <p:spPr>
            <a:xfrm>
              <a:off x="2340" y="1363"/>
              <a:ext cx="131" cy="2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39" name="Google Shape;739;p51"/>
            <p:cNvSpPr/>
            <p:nvPr/>
          </p:nvSpPr>
          <p:spPr>
            <a:xfrm>
              <a:off x="3970" y="1649"/>
              <a:ext cx="715" cy="854"/>
            </a:xfrm>
            <a:custGeom>
              <a:avLst/>
              <a:gdLst/>
              <a:ahLst/>
              <a:cxnLst/>
              <a:rect l="l" t="t" r="r" b="b"/>
              <a:pathLst>
                <a:path w="20874" h="21584" fill="none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</a:path>
                <a:path w="20874" h="21584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  <a:lnTo>
                    <a:pt x="0" y="21584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da Prototipação</a:t>
            </a:r>
            <a:endParaRPr/>
          </a:p>
        </p:txBody>
      </p:sp>
      <p:sp>
        <p:nvSpPr>
          <p:cNvPr id="745" name="Google Shape;745;p52"/>
          <p:cNvSpPr txBox="1">
            <a:spLocks noGrp="1"/>
          </p:cNvSpPr>
          <p:nvPr>
            <p:ph idx="1"/>
          </p:nvPr>
        </p:nvSpPr>
        <p:spPr>
          <a:xfrm>
            <a:off x="342925" y="133689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Refinamento dos Requisitos: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Cliente e desenvolvedor </a:t>
            </a:r>
            <a:r>
              <a:rPr lang="pt-BR">
                <a:solidFill>
                  <a:srgbClr val="FF0000"/>
                </a:solidFill>
              </a:rPr>
              <a:t>refinam</a:t>
            </a:r>
            <a:r>
              <a:rPr lang="pt-BR"/>
              <a:t> os requisitos do software a ser desenvolvido.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Ocorre neste ponto um processo de iteração que pode conduzir a 1a. atividade até que as necessidades do cliente sejam satisfeitas e o desenvolvedor compreenda o que precisa ser feito.</a:t>
            </a:r>
            <a:endParaRPr/>
          </a:p>
        </p:txBody>
      </p:sp>
      <p:grpSp>
        <p:nvGrpSpPr>
          <p:cNvPr id="746" name="Google Shape;746;p52"/>
          <p:cNvGrpSpPr/>
          <p:nvPr/>
        </p:nvGrpSpPr>
        <p:grpSpPr>
          <a:xfrm>
            <a:off x="6804248" y="4773912"/>
            <a:ext cx="2124075" cy="2124075"/>
            <a:chOff x="1430" y="1149"/>
            <a:chExt cx="3255" cy="2921"/>
          </a:xfrm>
        </p:grpSpPr>
        <p:sp>
          <p:nvSpPr>
            <p:cNvPr id="747" name="Google Shape;747;p52"/>
            <p:cNvSpPr txBox="1"/>
            <p:nvPr/>
          </p:nvSpPr>
          <p:spPr>
            <a:xfrm>
              <a:off x="1430" y="1505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fim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48" name="Google Shape;748;p52"/>
            <p:cNvSpPr txBox="1"/>
            <p:nvPr/>
          </p:nvSpPr>
          <p:spPr>
            <a:xfrm>
              <a:off x="2211" y="1149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início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49" name="Google Shape;749;p52"/>
            <p:cNvSpPr txBox="1"/>
            <p:nvPr/>
          </p:nvSpPr>
          <p:spPr>
            <a:xfrm>
              <a:off x="1488" y="2160"/>
              <a:ext cx="117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</a:t>
              </a:r>
              <a:r>
                <a:rPr lang="pt-BR"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produto</a:t>
              </a:r>
              <a:endParaRPr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2"/>
            <p:cNvSpPr txBox="1"/>
            <p:nvPr/>
          </p:nvSpPr>
          <p:spPr>
            <a:xfrm>
              <a:off x="1560" y="3001"/>
              <a:ext cx="1107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refinamento protótipo</a:t>
              </a:r>
              <a:endParaRPr/>
            </a:p>
          </p:txBody>
        </p:sp>
        <p:sp>
          <p:nvSpPr>
            <p:cNvPr id="751" name="Google Shape;751;p52"/>
            <p:cNvSpPr txBox="1"/>
            <p:nvPr/>
          </p:nvSpPr>
          <p:spPr>
            <a:xfrm>
              <a:off x="2667" y="3429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avaliação protótipo</a:t>
              </a:r>
              <a:endParaRPr/>
            </a:p>
          </p:txBody>
        </p:sp>
        <p:sp>
          <p:nvSpPr>
            <p:cNvPr id="752" name="Google Shape;752;p52"/>
            <p:cNvSpPr txBox="1"/>
            <p:nvPr/>
          </p:nvSpPr>
          <p:spPr>
            <a:xfrm>
              <a:off x="3448" y="2930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 protótipo</a:t>
              </a:r>
              <a:endParaRPr/>
            </a:p>
          </p:txBody>
        </p:sp>
        <p:sp>
          <p:nvSpPr>
            <p:cNvPr id="753" name="Google Shape;753;p52"/>
            <p:cNvSpPr txBox="1"/>
            <p:nvPr/>
          </p:nvSpPr>
          <p:spPr>
            <a:xfrm>
              <a:off x="3578" y="2146"/>
              <a:ext cx="91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projeto rápido</a:t>
              </a:r>
              <a:endParaRPr/>
            </a:p>
          </p:txBody>
        </p:sp>
        <p:sp>
          <p:nvSpPr>
            <p:cNvPr id="754" name="Google Shape;754;p52"/>
            <p:cNvSpPr txBox="1"/>
            <p:nvPr/>
          </p:nvSpPr>
          <p:spPr>
            <a:xfrm>
              <a:off x="2537" y="1648"/>
              <a:ext cx="1041" cy="7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obtenção dos   requisitos</a:t>
              </a:r>
              <a:endParaRPr/>
            </a:p>
          </p:txBody>
        </p:sp>
        <p:sp>
          <p:nvSpPr>
            <p:cNvPr id="755" name="Google Shape;755;p52"/>
            <p:cNvSpPr/>
            <p:nvPr/>
          </p:nvSpPr>
          <p:spPr>
            <a:xfrm>
              <a:off x="1430" y="1577"/>
              <a:ext cx="3126" cy="2493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6" name="Google Shape;756;p52"/>
            <p:cNvSpPr/>
            <p:nvPr/>
          </p:nvSpPr>
          <p:spPr>
            <a:xfrm>
              <a:off x="2537" y="2361"/>
              <a:ext cx="1041" cy="854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57" name="Google Shape;757;p52"/>
            <p:cNvCxnSpPr/>
            <p:nvPr/>
          </p:nvCxnSpPr>
          <p:spPr>
            <a:xfrm>
              <a:off x="2277" y="1719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8" name="Google Shape;758;p52"/>
            <p:cNvCxnSpPr/>
            <p:nvPr/>
          </p:nvCxnSpPr>
          <p:spPr>
            <a:xfrm flipH="1">
              <a:off x="3383" y="1791"/>
              <a:ext cx="455" cy="64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9" name="Google Shape;759;p52"/>
            <p:cNvCxnSpPr/>
            <p:nvPr/>
          </p:nvCxnSpPr>
          <p:spPr>
            <a:xfrm>
              <a:off x="3578" y="2789"/>
              <a:ext cx="978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0" name="Google Shape;760;p52"/>
            <p:cNvCxnSpPr/>
            <p:nvPr/>
          </p:nvCxnSpPr>
          <p:spPr>
            <a:xfrm>
              <a:off x="3383" y="3144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1" name="Google Shape;761;p52"/>
            <p:cNvCxnSpPr/>
            <p:nvPr/>
          </p:nvCxnSpPr>
          <p:spPr>
            <a:xfrm flipH="1">
              <a:off x="2340" y="3214"/>
              <a:ext cx="523" cy="7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2" name="Google Shape;762;p52"/>
            <p:cNvCxnSpPr/>
            <p:nvPr/>
          </p:nvCxnSpPr>
          <p:spPr>
            <a:xfrm rot="10800000">
              <a:off x="1430" y="2789"/>
              <a:ext cx="1107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63" name="Google Shape;763;p52"/>
            <p:cNvSpPr/>
            <p:nvPr/>
          </p:nvSpPr>
          <p:spPr>
            <a:xfrm rot="-1632726">
              <a:off x="2797" y="2644"/>
              <a:ext cx="521" cy="3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 extrusionOk="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 extrusionOk="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folHlink"/>
            </a:solidFill>
            <a:ln w="38100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64" name="Google Shape;764;p52"/>
            <p:cNvCxnSpPr/>
            <p:nvPr/>
          </p:nvCxnSpPr>
          <p:spPr>
            <a:xfrm rot="10800000" flipH="1">
              <a:off x="2537" y="2430"/>
              <a:ext cx="847" cy="358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765" name="Google Shape;765;p52"/>
            <p:cNvCxnSpPr/>
            <p:nvPr/>
          </p:nvCxnSpPr>
          <p:spPr>
            <a:xfrm rot="10800000" flipH="1">
              <a:off x="2863" y="2789"/>
              <a:ext cx="715" cy="426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766" name="Google Shape;766;p52"/>
            <p:cNvCxnSpPr/>
            <p:nvPr/>
          </p:nvCxnSpPr>
          <p:spPr>
            <a:xfrm rot="10800000">
              <a:off x="1822" y="1649"/>
              <a:ext cx="129" cy="2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67" name="Google Shape;767;p52"/>
            <p:cNvCxnSpPr/>
            <p:nvPr/>
          </p:nvCxnSpPr>
          <p:spPr>
            <a:xfrm>
              <a:off x="2340" y="1363"/>
              <a:ext cx="131" cy="2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68" name="Google Shape;768;p52"/>
            <p:cNvSpPr/>
            <p:nvPr/>
          </p:nvSpPr>
          <p:spPr>
            <a:xfrm>
              <a:off x="3970" y="1649"/>
              <a:ext cx="715" cy="854"/>
            </a:xfrm>
            <a:custGeom>
              <a:avLst/>
              <a:gdLst/>
              <a:ahLst/>
              <a:cxnLst/>
              <a:rect l="l" t="t" r="r" b="b"/>
              <a:pathLst>
                <a:path w="20874" h="21584" fill="none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</a:path>
                <a:path w="20874" h="21584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  <a:lnTo>
                    <a:pt x="0" y="21584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" name="Google Shape;773;p53"/>
          <p:cNvGrpSpPr/>
          <p:nvPr/>
        </p:nvGrpSpPr>
        <p:grpSpPr>
          <a:xfrm>
            <a:off x="2843808" y="3500438"/>
            <a:ext cx="2934245" cy="2934245"/>
            <a:chOff x="1430" y="1149"/>
            <a:chExt cx="3255" cy="2921"/>
          </a:xfrm>
        </p:grpSpPr>
        <p:sp>
          <p:nvSpPr>
            <p:cNvPr id="774" name="Google Shape;774;p53"/>
            <p:cNvSpPr txBox="1"/>
            <p:nvPr/>
          </p:nvSpPr>
          <p:spPr>
            <a:xfrm>
              <a:off x="1430" y="1505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fim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75" name="Google Shape;775;p53"/>
            <p:cNvSpPr txBox="1"/>
            <p:nvPr/>
          </p:nvSpPr>
          <p:spPr>
            <a:xfrm>
              <a:off x="2211" y="1149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início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76" name="Google Shape;776;p53"/>
            <p:cNvSpPr txBox="1"/>
            <p:nvPr/>
          </p:nvSpPr>
          <p:spPr>
            <a:xfrm>
              <a:off x="1488" y="2160"/>
              <a:ext cx="117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construção produto</a:t>
              </a:r>
              <a:endParaRPr/>
            </a:p>
          </p:txBody>
        </p:sp>
        <p:sp>
          <p:nvSpPr>
            <p:cNvPr id="777" name="Google Shape;777;p53"/>
            <p:cNvSpPr txBox="1"/>
            <p:nvPr/>
          </p:nvSpPr>
          <p:spPr>
            <a:xfrm>
              <a:off x="1560" y="3001"/>
              <a:ext cx="1107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refinamento protótipo</a:t>
              </a:r>
              <a:endParaRPr/>
            </a:p>
          </p:txBody>
        </p:sp>
        <p:sp>
          <p:nvSpPr>
            <p:cNvPr id="778" name="Google Shape;778;p53"/>
            <p:cNvSpPr txBox="1"/>
            <p:nvPr/>
          </p:nvSpPr>
          <p:spPr>
            <a:xfrm>
              <a:off x="2667" y="3429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avaliação protótipo</a:t>
              </a:r>
              <a:endParaRPr/>
            </a:p>
          </p:txBody>
        </p:sp>
        <p:sp>
          <p:nvSpPr>
            <p:cNvPr id="779" name="Google Shape;779;p53"/>
            <p:cNvSpPr txBox="1"/>
            <p:nvPr/>
          </p:nvSpPr>
          <p:spPr>
            <a:xfrm>
              <a:off x="3448" y="2930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 protótipo</a:t>
              </a:r>
              <a:endParaRPr/>
            </a:p>
          </p:txBody>
        </p:sp>
        <p:sp>
          <p:nvSpPr>
            <p:cNvPr id="780" name="Google Shape;780;p53"/>
            <p:cNvSpPr txBox="1"/>
            <p:nvPr/>
          </p:nvSpPr>
          <p:spPr>
            <a:xfrm>
              <a:off x="3578" y="2146"/>
              <a:ext cx="91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projeto rápido</a:t>
              </a:r>
              <a:endParaRPr/>
            </a:p>
          </p:txBody>
        </p:sp>
        <p:sp>
          <p:nvSpPr>
            <p:cNvPr id="781" name="Google Shape;781;p53"/>
            <p:cNvSpPr txBox="1"/>
            <p:nvPr/>
          </p:nvSpPr>
          <p:spPr>
            <a:xfrm>
              <a:off x="2537" y="1648"/>
              <a:ext cx="1041" cy="7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obtenção dos   requisitos</a:t>
              </a:r>
              <a:endParaRPr/>
            </a:p>
          </p:txBody>
        </p:sp>
        <p:sp>
          <p:nvSpPr>
            <p:cNvPr id="782" name="Google Shape;782;p53"/>
            <p:cNvSpPr/>
            <p:nvPr/>
          </p:nvSpPr>
          <p:spPr>
            <a:xfrm>
              <a:off x="1430" y="1577"/>
              <a:ext cx="3126" cy="2493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3" name="Google Shape;783;p53"/>
            <p:cNvSpPr/>
            <p:nvPr/>
          </p:nvSpPr>
          <p:spPr>
            <a:xfrm>
              <a:off x="2537" y="2361"/>
              <a:ext cx="1041" cy="854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84" name="Google Shape;784;p53"/>
            <p:cNvCxnSpPr/>
            <p:nvPr/>
          </p:nvCxnSpPr>
          <p:spPr>
            <a:xfrm>
              <a:off x="2277" y="1719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5" name="Google Shape;785;p53"/>
            <p:cNvCxnSpPr/>
            <p:nvPr/>
          </p:nvCxnSpPr>
          <p:spPr>
            <a:xfrm flipH="1">
              <a:off x="3383" y="1791"/>
              <a:ext cx="455" cy="64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6" name="Google Shape;786;p53"/>
            <p:cNvCxnSpPr/>
            <p:nvPr/>
          </p:nvCxnSpPr>
          <p:spPr>
            <a:xfrm>
              <a:off x="3578" y="2789"/>
              <a:ext cx="978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7" name="Google Shape;787;p53"/>
            <p:cNvCxnSpPr/>
            <p:nvPr/>
          </p:nvCxnSpPr>
          <p:spPr>
            <a:xfrm>
              <a:off x="3383" y="3144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8" name="Google Shape;788;p53"/>
            <p:cNvCxnSpPr/>
            <p:nvPr/>
          </p:nvCxnSpPr>
          <p:spPr>
            <a:xfrm flipH="1">
              <a:off x="2340" y="3214"/>
              <a:ext cx="523" cy="7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9" name="Google Shape;789;p53"/>
            <p:cNvCxnSpPr/>
            <p:nvPr/>
          </p:nvCxnSpPr>
          <p:spPr>
            <a:xfrm rot="10800000">
              <a:off x="1430" y="2789"/>
              <a:ext cx="1107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90" name="Google Shape;790;p53"/>
            <p:cNvSpPr/>
            <p:nvPr/>
          </p:nvSpPr>
          <p:spPr>
            <a:xfrm rot="-1632726">
              <a:off x="2797" y="2644"/>
              <a:ext cx="521" cy="3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 extrusionOk="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 extrusionOk="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folHlink"/>
            </a:solidFill>
            <a:ln w="38100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91" name="Google Shape;791;p53"/>
            <p:cNvCxnSpPr/>
            <p:nvPr/>
          </p:nvCxnSpPr>
          <p:spPr>
            <a:xfrm rot="10800000" flipH="1">
              <a:off x="2537" y="2430"/>
              <a:ext cx="847" cy="358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792" name="Google Shape;792;p53"/>
            <p:cNvCxnSpPr/>
            <p:nvPr/>
          </p:nvCxnSpPr>
          <p:spPr>
            <a:xfrm rot="10800000" flipH="1">
              <a:off x="2863" y="2789"/>
              <a:ext cx="715" cy="426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793" name="Google Shape;793;p53"/>
            <p:cNvCxnSpPr/>
            <p:nvPr/>
          </p:nvCxnSpPr>
          <p:spPr>
            <a:xfrm rot="10800000">
              <a:off x="1822" y="1649"/>
              <a:ext cx="129" cy="2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4" name="Google Shape;794;p53"/>
            <p:cNvCxnSpPr/>
            <p:nvPr/>
          </p:nvCxnSpPr>
          <p:spPr>
            <a:xfrm>
              <a:off x="2340" y="1363"/>
              <a:ext cx="131" cy="2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95" name="Google Shape;795;p53"/>
            <p:cNvSpPr/>
            <p:nvPr/>
          </p:nvSpPr>
          <p:spPr>
            <a:xfrm>
              <a:off x="3970" y="1649"/>
              <a:ext cx="715" cy="854"/>
            </a:xfrm>
            <a:custGeom>
              <a:avLst/>
              <a:gdLst/>
              <a:ahLst/>
              <a:cxnLst/>
              <a:rect l="l" t="t" r="r" b="b"/>
              <a:pathLst>
                <a:path w="20874" h="21584" fill="none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</a:path>
                <a:path w="20874" h="21584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  <a:lnTo>
                    <a:pt x="0" y="21584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96" name="Google Shape;796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da Prototipação</a:t>
            </a:r>
            <a:endParaRPr/>
          </a:p>
        </p:txBody>
      </p:sp>
      <p:sp>
        <p:nvSpPr>
          <p:cNvPr id="797" name="Google Shape;797;p53"/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8229600" cy="190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Construção Produto: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Identificados os requisitos, o </a:t>
            </a:r>
            <a:r>
              <a:rPr lang="pt-BR">
                <a:solidFill>
                  <a:srgbClr val="FF0000"/>
                </a:solidFill>
              </a:rPr>
              <a:t>protótipo</a:t>
            </a:r>
            <a:r>
              <a:rPr lang="pt-BR"/>
              <a:t> deve ser descartado e a versão de produção deve ser construída considerando os critérios de qualidade. 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Problemas com a Prototipação</a:t>
            </a:r>
            <a:endParaRPr/>
          </a:p>
        </p:txBody>
      </p:sp>
      <p:sp>
        <p:nvSpPr>
          <p:cNvPr id="803" name="Google Shape;803;p54"/>
          <p:cNvSpPr txBox="1">
            <a:spLocks noGrp="1"/>
          </p:cNvSpPr>
          <p:nvPr>
            <p:ph idx="1"/>
          </p:nvPr>
        </p:nvSpPr>
        <p:spPr>
          <a:xfrm>
            <a:off x="30733" y="140512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Cliente não sabe que o software que ele vê não considerou, durante o desenvolvimento, a </a:t>
            </a:r>
            <a:r>
              <a:rPr lang="pt-BR">
                <a:solidFill>
                  <a:srgbClr val="FF0000"/>
                </a:solidFill>
              </a:rPr>
              <a:t>qualidade global e a manutenibilidade a longo prazo.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Não aceita bem a ideia que a versão final do software vai ser construída e "força" a utilização do protótipo como produto final</a:t>
            </a:r>
            <a:endParaRPr/>
          </a:p>
        </p:txBody>
      </p:sp>
      <p:grpSp>
        <p:nvGrpSpPr>
          <p:cNvPr id="804" name="Google Shape;804;p54"/>
          <p:cNvGrpSpPr/>
          <p:nvPr/>
        </p:nvGrpSpPr>
        <p:grpSpPr>
          <a:xfrm>
            <a:off x="6978529" y="4733925"/>
            <a:ext cx="2124075" cy="2124075"/>
            <a:chOff x="1430" y="1149"/>
            <a:chExt cx="3255" cy="2921"/>
          </a:xfrm>
        </p:grpSpPr>
        <p:sp>
          <p:nvSpPr>
            <p:cNvPr id="805" name="Google Shape;805;p54"/>
            <p:cNvSpPr txBox="1"/>
            <p:nvPr/>
          </p:nvSpPr>
          <p:spPr>
            <a:xfrm>
              <a:off x="1430" y="1505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fim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06" name="Google Shape;806;p54"/>
            <p:cNvSpPr txBox="1"/>
            <p:nvPr/>
          </p:nvSpPr>
          <p:spPr>
            <a:xfrm>
              <a:off x="2211" y="1149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início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07" name="Google Shape;807;p54"/>
            <p:cNvSpPr txBox="1"/>
            <p:nvPr/>
          </p:nvSpPr>
          <p:spPr>
            <a:xfrm>
              <a:off x="1488" y="2160"/>
              <a:ext cx="117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construção produto</a:t>
              </a:r>
              <a:endParaRPr/>
            </a:p>
          </p:txBody>
        </p:sp>
        <p:sp>
          <p:nvSpPr>
            <p:cNvPr id="808" name="Google Shape;808;p54"/>
            <p:cNvSpPr txBox="1"/>
            <p:nvPr/>
          </p:nvSpPr>
          <p:spPr>
            <a:xfrm>
              <a:off x="1560" y="3001"/>
              <a:ext cx="1107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refinamento protótipo</a:t>
              </a:r>
              <a:endParaRPr/>
            </a:p>
          </p:txBody>
        </p:sp>
        <p:sp>
          <p:nvSpPr>
            <p:cNvPr id="809" name="Google Shape;809;p54"/>
            <p:cNvSpPr txBox="1"/>
            <p:nvPr/>
          </p:nvSpPr>
          <p:spPr>
            <a:xfrm>
              <a:off x="2667" y="3429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avaliação protótipo</a:t>
              </a:r>
              <a:endParaRPr/>
            </a:p>
          </p:txBody>
        </p:sp>
        <p:sp>
          <p:nvSpPr>
            <p:cNvPr id="810" name="Google Shape;810;p54"/>
            <p:cNvSpPr txBox="1"/>
            <p:nvPr/>
          </p:nvSpPr>
          <p:spPr>
            <a:xfrm>
              <a:off x="3448" y="2930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 protótipo</a:t>
              </a:r>
              <a:endParaRPr/>
            </a:p>
          </p:txBody>
        </p:sp>
        <p:sp>
          <p:nvSpPr>
            <p:cNvPr id="811" name="Google Shape;811;p54"/>
            <p:cNvSpPr txBox="1"/>
            <p:nvPr/>
          </p:nvSpPr>
          <p:spPr>
            <a:xfrm>
              <a:off x="3578" y="2146"/>
              <a:ext cx="91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projeto rápido</a:t>
              </a:r>
              <a:endParaRPr/>
            </a:p>
          </p:txBody>
        </p:sp>
        <p:sp>
          <p:nvSpPr>
            <p:cNvPr id="812" name="Google Shape;812;p54"/>
            <p:cNvSpPr txBox="1"/>
            <p:nvPr/>
          </p:nvSpPr>
          <p:spPr>
            <a:xfrm>
              <a:off x="2537" y="1648"/>
              <a:ext cx="1041" cy="7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obtenção dos   requisitos</a:t>
              </a:r>
              <a:endParaRPr/>
            </a:p>
          </p:txBody>
        </p:sp>
        <p:sp>
          <p:nvSpPr>
            <p:cNvPr id="813" name="Google Shape;813;p54"/>
            <p:cNvSpPr/>
            <p:nvPr/>
          </p:nvSpPr>
          <p:spPr>
            <a:xfrm>
              <a:off x="1430" y="1577"/>
              <a:ext cx="3126" cy="2493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4" name="Google Shape;814;p54"/>
            <p:cNvSpPr/>
            <p:nvPr/>
          </p:nvSpPr>
          <p:spPr>
            <a:xfrm>
              <a:off x="2537" y="2361"/>
              <a:ext cx="1041" cy="854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15" name="Google Shape;815;p54"/>
            <p:cNvCxnSpPr/>
            <p:nvPr/>
          </p:nvCxnSpPr>
          <p:spPr>
            <a:xfrm>
              <a:off x="2277" y="1719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6" name="Google Shape;816;p54"/>
            <p:cNvCxnSpPr/>
            <p:nvPr/>
          </p:nvCxnSpPr>
          <p:spPr>
            <a:xfrm flipH="1">
              <a:off x="3383" y="1791"/>
              <a:ext cx="455" cy="64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7" name="Google Shape;817;p54"/>
            <p:cNvCxnSpPr/>
            <p:nvPr/>
          </p:nvCxnSpPr>
          <p:spPr>
            <a:xfrm>
              <a:off x="3578" y="2789"/>
              <a:ext cx="978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8" name="Google Shape;818;p54"/>
            <p:cNvCxnSpPr/>
            <p:nvPr/>
          </p:nvCxnSpPr>
          <p:spPr>
            <a:xfrm>
              <a:off x="3383" y="3144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9" name="Google Shape;819;p54"/>
            <p:cNvCxnSpPr/>
            <p:nvPr/>
          </p:nvCxnSpPr>
          <p:spPr>
            <a:xfrm flipH="1">
              <a:off x="2340" y="3214"/>
              <a:ext cx="523" cy="7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" name="Google Shape;820;p54"/>
            <p:cNvCxnSpPr/>
            <p:nvPr/>
          </p:nvCxnSpPr>
          <p:spPr>
            <a:xfrm rot="10800000">
              <a:off x="1430" y="2789"/>
              <a:ext cx="1107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21" name="Google Shape;821;p54"/>
            <p:cNvSpPr/>
            <p:nvPr/>
          </p:nvSpPr>
          <p:spPr>
            <a:xfrm rot="-1632726">
              <a:off x="2797" y="2644"/>
              <a:ext cx="521" cy="3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 extrusionOk="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 extrusionOk="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folHlink"/>
            </a:solidFill>
            <a:ln w="38100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22" name="Google Shape;822;p54"/>
            <p:cNvCxnSpPr/>
            <p:nvPr/>
          </p:nvCxnSpPr>
          <p:spPr>
            <a:xfrm rot="10800000" flipH="1">
              <a:off x="2537" y="2430"/>
              <a:ext cx="847" cy="358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23" name="Google Shape;823;p54"/>
            <p:cNvCxnSpPr/>
            <p:nvPr/>
          </p:nvCxnSpPr>
          <p:spPr>
            <a:xfrm rot="10800000" flipH="1">
              <a:off x="2863" y="2789"/>
              <a:ext cx="715" cy="426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24" name="Google Shape;824;p54"/>
            <p:cNvCxnSpPr/>
            <p:nvPr/>
          </p:nvCxnSpPr>
          <p:spPr>
            <a:xfrm rot="10800000">
              <a:off x="1822" y="1649"/>
              <a:ext cx="129" cy="2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25" name="Google Shape;825;p54"/>
            <p:cNvCxnSpPr/>
            <p:nvPr/>
          </p:nvCxnSpPr>
          <p:spPr>
            <a:xfrm>
              <a:off x="2340" y="1363"/>
              <a:ext cx="131" cy="2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26" name="Google Shape;826;p54"/>
            <p:cNvSpPr/>
            <p:nvPr/>
          </p:nvSpPr>
          <p:spPr>
            <a:xfrm>
              <a:off x="3970" y="1649"/>
              <a:ext cx="715" cy="854"/>
            </a:xfrm>
            <a:custGeom>
              <a:avLst/>
              <a:gdLst/>
              <a:ahLst/>
              <a:cxnLst/>
              <a:rect l="l" t="t" r="r" b="b"/>
              <a:pathLst>
                <a:path w="20874" h="21584" fill="none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</a:path>
                <a:path w="20874" h="21584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  <a:lnTo>
                    <a:pt x="0" y="21584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Problemas com a Prototipação</a:t>
            </a:r>
            <a:endParaRPr/>
          </a:p>
        </p:txBody>
      </p:sp>
      <p:sp>
        <p:nvSpPr>
          <p:cNvPr id="832" name="Google Shape;832;p5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Desenvolvedor normalmente utiliza o que está </a:t>
            </a:r>
            <a:r>
              <a:rPr lang="pt-BR">
                <a:solidFill>
                  <a:srgbClr val="FF0000"/>
                </a:solidFill>
              </a:rPr>
              <a:t>disponível</a:t>
            </a:r>
            <a:r>
              <a:rPr lang="pt-BR"/>
              <a:t> com o objetivo de produzir rapidamente um protótipo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Com o tempo acostuma-se com isso e esquece que essa abordagem </a:t>
            </a:r>
            <a:r>
              <a:rPr lang="pt-BR">
                <a:solidFill>
                  <a:srgbClr val="FF0000"/>
                </a:solidFill>
              </a:rPr>
              <a:t>não</a:t>
            </a:r>
            <a:r>
              <a:rPr lang="pt-BR"/>
              <a:t> é apropriada para o </a:t>
            </a:r>
            <a:r>
              <a:rPr lang="pt-BR">
                <a:solidFill>
                  <a:srgbClr val="FF0000"/>
                </a:solidFill>
              </a:rPr>
              <a:t>desenvolvimento do produto final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/>
          </a:p>
        </p:txBody>
      </p:sp>
      <p:grpSp>
        <p:nvGrpSpPr>
          <p:cNvPr id="833" name="Google Shape;833;p55"/>
          <p:cNvGrpSpPr/>
          <p:nvPr/>
        </p:nvGrpSpPr>
        <p:grpSpPr>
          <a:xfrm>
            <a:off x="6732240" y="4252612"/>
            <a:ext cx="2124075" cy="2124075"/>
            <a:chOff x="1430" y="1149"/>
            <a:chExt cx="3255" cy="2921"/>
          </a:xfrm>
        </p:grpSpPr>
        <p:sp>
          <p:nvSpPr>
            <p:cNvPr id="834" name="Google Shape;834;p55"/>
            <p:cNvSpPr txBox="1"/>
            <p:nvPr/>
          </p:nvSpPr>
          <p:spPr>
            <a:xfrm>
              <a:off x="1430" y="1505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fim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35" name="Google Shape;835;p55"/>
            <p:cNvSpPr txBox="1"/>
            <p:nvPr/>
          </p:nvSpPr>
          <p:spPr>
            <a:xfrm>
              <a:off x="2211" y="1149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início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36" name="Google Shape;836;p55"/>
            <p:cNvSpPr txBox="1"/>
            <p:nvPr/>
          </p:nvSpPr>
          <p:spPr>
            <a:xfrm>
              <a:off x="1488" y="2160"/>
              <a:ext cx="117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construção produto</a:t>
              </a:r>
              <a:endParaRPr/>
            </a:p>
          </p:txBody>
        </p:sp>
        <p:sp>
          <p:nvSpPr>
            <p:cNvPr id="837" name="Google Shape;837;p55"/>
            <p:cNvSpPr txBox="1"/>
            <p:nvPr/>
          </p:nvSpPr>
          <p:spPr>
            <a:xfrm>
              <a:off x="1560" y="3001"/>
              <a:ext cx="1107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refinamento protótipo</a:t>
              </a:r>
              <a:endParaRPr/>
            </a:p>
          </p:txBody>
        </p:sp>
        <p:sp>
          <p:nvSpPr>
            <p:cNvPr id="838" name="Google Shape;838;p55"/>
            <p:cNvSpPr txBox="1"/>
            <p:nvPr/>
          </p:nvSpPr>
          <p:spPr>
            <a:xfrm>
              <a:off x="2667" y="3429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avaliação protótipo</a:t>
              </a:r>
              <a:endParaRPr/>
            </a:p>
          </p:txBody>
        </p:sp>
        <p:sp>
          <p:nvSpPr>
            <p:cNvPr id="839" name="Google Shape;839;p55"/>
            <p:cNvSpPr txBox="1"/>
            <p:nvPr/>
          </p:nvSpPr>
          <p:spPr>
            <a:xfrm>
              <a:off x="3448" y="2930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 protótipo</a:t>
              </a:r>
              <a:endParaRPr/>
            </a:p>
          </p:txBody>
        </p:sp>
        <p:sp>
          <p:nvSpPr>
            <p:cNvPr id="840" name="Google Shape;840;p55"/>
            <p:cNvSpPr txBox="1"/>
            <p:nvPr/>
          </p:nvSpPr>
          <p:spPr>
            <a:xfrm>
              <a:off x="3578" y="2146"/>
              <a:ext cx="91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projeto rápido</a:t>
              </a:r>
              <a:endParaRPr/>
            </a:p>
          </p:txBody>
        </p:sp>
        <p:sp>
          <p:nvSpPr>
            <p:cNvPr id="841" name="Google Shape;841;p55"/>
            <p:cNvSpPr txBox="1"/>
            <p:nvPr/>
          </p:nvSpPr>
          <p:spPr>
            <a:xfrm>
              <a:off x="2537" y="1648"/>
              <a:ext cx="1041" cy="7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obtenção dos   requisitos</a:t>
              </a:r>
              <a:endParaRPr/>
            </a:p>
          </p:txBody>
        </p:sp>
        <p:sp>
          <p:nvSpPr>
            <p:cNvPr id="842" name="Google Shape;842;p55"/>
            <p:cNvSpPr/>
            <p:nvPr/>
          </p:nvSpPr>
          <p:spPr>
            <a:xfrm>
              <a:off x="1430" y="1577"/>
              <a:ext cx="3126" cy="2493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3" name="Google Shape;843;p55"/>
            <p:cNvSpPr/>
            <p:nvPr/>
          </p:nvSpPr>
          <p:spPr>
            <a:xfrm>
              <a:off x="2537" y="2361"/>
              <a:ext cx="1041" cy="854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44" name="Google Shape;844;p55"/>
            <p:cNvCxnSpPr/>
            <p:nvPr/>
          </p:nvCxnSpPr>
          <p:spPr>
            <a:xfrm>
              <a:off x="2277" y="1719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5" name="Google Shape;845;p55"/>
            <p:cNvCxnSpPr/>
            <p:nvPr/>
          </p:nvCxnSpPr>
          <p:spPr>
            <a:xfrm flipH="1">
              <a:off x="3383" y="1791"/>
              <a:ext cx="455" cy="64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6" name="Google Shape;846;p55"/>
            <p:cNvCxnSpPr/>
            <p:nvPr/>
          </p:nvCxnSpPr>
          <p:spPr>
            <a:xfrm>
              <a:off x="3578" y="2789"/>
              <a:ext cx="978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7" name="Google Shape;847;p55"/>
            <p:cNvCxnSpPr/>
            <p:nvPr/>
          </p:nvCxnSpPr>
          <p:spPr>
            <a:xfrm>
              <a:off x="3383" y="3144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8" name="Google Shape;848;p55"/>
            <p:cNvCxnSpPr/>
            <p:nvPr/>
          </p:nvCxnSpPr>
          <p:spPr>
            <a:xfrm flipH="1">
              <a:off x="2340" y="3214"/>
              <a:ext cx="523" cy="7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9" name="Google Shape;849;p55"/>
            <p:cNvCxnSpPr/>
            <p:nvPr/>
          </p:nvCxnSpPr>
          <p:spPr>
            <a:xfrm rot="10800000">
              <a:off x="1430" y="2789"/>
              <a:ext cx="1107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50" name="Google Shape;850;p55"/>
            <p:cNvSpPr/>
            <p:nvPr/>
          </p:nvSpPr>
          <p:spPr>
            <a:xfrm rot="-1632726">
              <a:off x="2797" y="2644"/>
              <a:ext cx="521" cy="3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 extrusionOk="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 extrusionOk="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folHlink"/>
            </a:solidFill>
            <a:ln w="38100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51" name="Google Shape;851;p55"/>
            <p:cNvCxnSpPr/>
            <p:nvPr/>
          </p:nvCxnSpPr>
          <p:spPr>
            <a:xfrm rot="10800000" flipH="1">
              <a:off x="2537" y="2430"/>
              <a:ext cx="847" cy="358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52" name="Google Shape;852;p55"/>
            <p:cNvCxnSpPr/>
            <p:nvPr/>
          </p:nvCxnSpPr>
          <p:spPr>
            <a:xfrm rot="10800000" flipH="1">
              <a:off x="2863" y="2789"/>
              <a:ext cx="715" cy="426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53" name="Google Shape;853;p55"/>
            <p:cNvCxnSpPr/>
            <p:nvPr/>
          </p:nvCxnSpPr>
          <p:spPr>
            <a:xfrm rot="10800000">
              <a:off x="1822" y="1649"/>
              <a:ext cx="129" cy="2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54" name="Google Shape;854;p55"/>
            <p:cNvCxnSpPr/>
            <p:nvPr/>
          </p:nvCxnSpPr>
          <p:spPr>
            <a:xfrm>
              <a:off x="2340" y="1363"/>
              <a:ext cx="131" cy="2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55" name="Google Shape;855;p55"/>
            <p:cNvSpPr/>
            <p:nvPr/>
          </p:nvSpPr>
          <p:spPr>
            <a:xfrm>
              <a:off x="3970" y="1649"/>
              <a:ext cx="715" cy="854"/>
            </a:xfrm>
            <a:custGeom>
              <a:avLst/>
              <a:gdLst/>
              <a:ahLst/>
              <a:cxnLst/>
              <a:rect l="l" t="t" r="r" b="b"/>
              <a:pathLst>
                <a:path w="20874" h="21584" fill="none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</a:path>
                <a:path w="20874" h="21584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  <a:lnTo>
                    <a:pt x="0" y="21584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Prototipação </a:t>
            </a:r>
            <a:br>
              <a:rPr lang="pt-BR"/>
            </a:br>
            <a:endParaRPr/>
          </a:p>
        </p:txBody>
      </p:sp>
      <p:sp>
        <p:nvSpPr>
          <p:cNvPr id="861" name="Google Shape;861;p5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Ainda que possam ocorrer problemas, a prototipação é um ciclo de vida eficiente 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 chave é definir as regras do jogo logo no começo 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O cliente e o desenvolvedor devem concordar que o protótipo seja construído para auxiliar na descoberta de requisitos </a:t>
            </a:r>
            <a:endParaRPr/>
          </a:p>
        </p:txBody>
      </p:sp>
      <p:grpSp>
        <p:nvGrpSpPr>
          <p:cNvPr id="862" name="Google Shape;862;p56"/>
          <p:cNvGrpSpPr/>
          <p:nvPr/>
        </p:nvGrpSpPr>
        <p:grpSpPr>
          <a:xfrm>
            <a:off x="6562725" y="4733925"/>
            <a:ext cx="2124075" cy="2124075"/>
            <a:chOff x="1430" y="1149"/>
            <a:chExt cx="3255" cy="2921"/>
          </a:xfrm>
        </p:grpSpPr>
        <p:sp>
          <p:nvSpPr>
            <p:cNvPr id="863" name="Google Shape;863;p56"/>
            <p:cNvSpPr txBox="1"/>
            <p:nvPr/>
          </p:nvSpPr>
          <p:spPr>
            <a:xfrm>
              <a:off x="1430" y="1505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fim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64" name="Google Shape;864;p56"/>
            <p:cNvSpPr txBox="1"/>
            <p:nvPr/>
          </p:nvSpPr>
          <p:spPr>
            <a:xfrm>
              <a:off x="2211" y="1149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início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65" name="Google Shape;865;p56"/>
            <p:cNvSpPr txBox="1"/>
            <p:nvPr/>
          </p:nvSpPr>
          <p:spPr>
            <a:xfrm>
              <a:off x="1488" y="2160"/>
              <a:ext cx="117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construção produto</a:t>
              </a:r>
              <a:endParaRPr/>
            </a:p>
          </p:txBody>
        </p:sp>
        <p:sp>
          <p:nvSpPr>
            <p:cNvPr id="866" name="Google Shape;866;p56"/>
            <p:cNvSpPr txBox="1"/>
            <p:nvPr/>
          </p:nvSpPr>
          <p:spPr>
            <a:xfrm>
              <a:off x="1560" y="3001"/>
              <a:ext cx="1107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refinamento protótipo</a:t>
              </a:r>
              <a:endParaRPr/>
            </a:p>
          </p:txBody>
        </p:sp>
        <p:sp>
          <p:nvSpPr>
            <p:cNvPr id="867" name="Google Shape;867;p56"/>
            <p:cNvSpPr txBox="1"/>
            <p:nvPr/>
          </p:nvSpPr>
          <p:spPr>
            <a:xfrm>
              <a:off x="2667" y="3429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avaliação protótipo</a:t>
              </a:r>
              <a:endParaRPr/>
            </a:p>
          </p:txBody>
        </p:sp>
        <p:sp>
          <p:nvSpPr>
            <p:cNvPr id="868" name="Google Shape;868;p56"/>
            <p:cNvSpPr txBox="1"/>
            <p:nvPr/>
          </p:nvSpPr>
          <p:spPr>
            <a:xfrm>
              <a:off x="3448" y="2930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 protótipo</a:t>
              </a:r>
              <a:endParaRPr/>
            </a:p>
          </p:txBody>
        </p:sp>
        <p:sp>
          <p:nvSpPr>
            <p:cNvPr id="869" name="Google Shape;869;p56"/>
            <p:cNvSpPr txBox="1"/>
            <p:nvPr/>
          </p:nvSpPr>
          <p:spPr>
            <a:xfrm>
              <a:off x="3578" y="2146"/>
              <a:ext cx="91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projeto rápido</a:t>
              </a:r>
              <a:endParaRPr/>
            </a:p>
          </p:txBody>
        </p:sp>
        <p:sp>
          <p:nvSpPr>
            <p:cNvPr id="870" name="Google Shape;870;p56"/>
            <p:cNvSpPr txBox="1"/>
            <p:nvPr/>
          </p:nvSpPr>
          <p:spPr>
            <a:xfrm>
              <a:off x="2537" y="1648"/>
              <a:ext cx="1041" cy="7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obtenção dos   requisitos</a:t>
              </a:r>
              <a:endParaRPr/>
            </a:p>
          </p:txBody>
        </p:sp>
        <p:sp>
          <p:nvSpPr>
            <p:cNvPr id="871" name="Google Shape;871;p56"/>
            <p:cNvSpPr/>
            <p:nvPr/>
          </p:nvSpPr>
          <p:spPr>
            <a:xfrm>
              <a:off x="1430" y="1577"/>
              <a:ext cx="3126" cy="2493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2" name="Google Shape;872;p56"/>
            <p:cNvSpPr/>
            <p:nvPr/>
          </p:nvSpPr>
          <p:spPr>
            <a:xfrm>
              <a:off x="2537" y="2361"/>
              <a:ext cx="1041" cy="854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73" name="Google Shape;873;p56"/>
            <p:cNvCxnSpPr/>
            <p:nvPr/>
          </p:nvCxnSpPr>
          <p:spPr>
            <a:xfrm>
              <a:off x="2277" y="1719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4" name="Google Shape;874;p56"/>
            <p:cNvCxnSpPr/>
            <p:nvPr/>
          </p:nvCxnSpPr>
          <p:spPr>
            <a:xfrm flipH="1">
              <a:off x="3383" y="1791"/>
              <a:ext cx="455" cy="64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5" name="Google Shape;875;p56"/>
            <p:cNvCxnSpPr/>
            <p:nvPr/>
          </p:nvCxnSpPr>
          <p:spPr>
            <a:xfrm>
              <a:off x="3578" y="2789"/>
              <a:ext cx="978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6" name="Google Shape;876;p56"/>
            <p:cNvCxnSpPr/>
            <p:nvPr/>
          </p:nvCxnSpPr>
          <p:spPr>
            <a:xfrm>
              <a:off x="3383" y="3144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7" name="Google Shape;877;p56"/>
            <p:cNvCxnSpPr/>
            <p:nvPr/>
          </p:nvCxnSpPr>
          <p:spPr>
            <a:xfrm flipH="1">
              <a:off x="2340" y="3214"/>
              <a:ext cx="523" cy="7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8" name="Google Shape;878;p56"/>
            <p:cNvCxnSpPr/>
            <p:nvPr/>
          </p:nvCxnSpPr>
          <p:spPr>
            <a:xfrm rot="10800000">
              <a:off x="1430" y="2789"/>
              <a:ext cx="1107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79" name="Google Shape;879;p56"/>
            <p:cNvSpPr/>
            <p:nvPr/>
          </p:nvSpPr>
          <p:spPr>
            <a:xfrm rot="-1632726">
              <a:off x="2797" y="2644"/>
              <a:ext cx="521" cy="3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 extrusionOk="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 extrusionOk="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folHlink"/>
            </a:solidFill>
            <a:ln w="38100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80" name="Google Shape;880;p56"/>
            <p:cNvCxnSpPr/>
            <p:nvPr/>
          </p:nvCxnSpPr>
          <p:spPr>
            <a:xfrm rot="10800000" flipH="1">
              <a:off x="2537" y="2430"/>
              <a:ext cx="847" cy="358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81" name="Google Shape;881;p56"/>
            <p:cNvCxnSpPr/>
            <p:nvPr/>
          </p:nvCxnSpPr>
          <p:spPr>
            <a:xfrm rot="10800000" flipH="1">
              <a:off x="2863" y="2789"/>
              <a:ext cx="715" cy="426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82" name="Google Shape;882;p56"/>
            <p:cNvCxnSpPr/>
            <p:nvPr/>
          </p:nvCxnSpPr>
          <p:spPr>
            <a:xfrm rot="10800000">
              <a:off x="1822" y="1649"/>
              <a:ext cx="129" cy="2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83" name="Google Shape;883;p56"/>
            <p:cNvCxnSpPr/>
            <p:nvPr/>
          </p:nvCxnSpPr>
          <p:spPr>
            <a:xfrm>
              <a:off x="2340" y="1363"/>
              <a:ext cx="131" cy="2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84" name="Google Shape;884;p56"/>
            <p:cNvSpPr/>
            <p:nvPr/>
          </p:nvSpPr>
          <p:spPr>
            <a:xfrm>
              <a:off x="3970" y="1649"/>
              <a:ext cx="715" cy="854"/>
            </a:xfrm>
            <a:custGeom>
              <a:avLst/>
              <a:gdLst/>
              <a:ahLst/>
              <a:cxnLst/>
              <a:rect l="l" t="t" r="r" b="b"/>
              <a:pathLst>
                <a:path w="20874" h="21584" fill="none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</a:path>
                <a:path w="20874" h="21584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  <a:lnTo>
                    <a:pt x="0" y="21584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42966-645B-4101-82D3-8F0EF4BA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ACA5F1-68FA-41FA-993E-5E83BBED1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PROTÓTIPO DE PLANEJAMENTO DE APOSENTADURIA</a:t>
            </a:r>
          </a:p>
        </p:txBody>
      </p:sp>
    </p:spTree>
    <p:extLst>
      <p:ext uri="{BB962C8B-B14F-4D97-AF65-F5344CB8AC3E}">
        <p14:creationId xmlns:p14="http://schemas.microsoft.com/office/powerpoint/2010/main" val="14383957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0995" y="6554140"/>
            <a:ext cx="0" cy="153124"/>
          </a:xfrm>
          <a:custGeom>
            <a:avLst/>
            <a:gdLst/>
            <a:ahLst/>
            <a:cxnLst/>
            <a:rect l="l" t="t" r="r" b="b"/>
            <a:pathLst>
              <a:path h="238759">
                <a:moveTo>
                  <a:pt x="0" y="0"/>
                </a:moveTo>
                <a:lnTo>
                  <a:pt x="0" y="238404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6051" y="6588112"/>
            <a:ext cx="1204856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6D6E71"/>
                </a:solidFill>
                <a:latin typeface="Verdana"/>
                <a:cs typeface="Verdana"/>
                <a:hlinkClick r:id="rId2"/>
              </a:rPr>
              <a:t>www.eerp.usp.br/rlae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0042" y="207074"/>
            <a:ext cx="123713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0" dirty="0">
                <a:solidFill>
                  <a:srgbClr val="6D6E71"/>
                </a:solidFill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492868" y="177548"/>
            <a:ext cx="0" cy="153124"/>
          </a:xfrm>
          <a:custGeom>
            <a:avLst/>
            <a:gdLst/>
            <a:ahLst/>
            <a:cxnLst/>
            <a:rect l="l" t="t" r="r" b="b"/>
            <a:pathLst>
              <a:path h="238759">
                <a:moveTo>
                  <a:pt x="0" y="0"/>
                </a:moveTo>
                <a:lnTo>
                  <a:pt x="0" y="238404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94708" y="215296"/>
            <a:ext cx="4177041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231F20"/>
                </a:solidFill>
                <a:latin typeface="Segoe UI"/>
                <a:cs typeface="Segoe UI"/>
              </a:rPr>
              <a:t>Pissinati</a:t>
            </a:r>
            <a:r>
              <a:rPr sz="800" spc="-15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231F20"/>
                </a:solidFill>
                <a:latin typeface="Segoe UI"/>
                <a:cs typeface="Segoe UI"/>
              </a:rPr>
              <a:t>PSC,</a:t>
            </a:r>
            <a:r>
              <a:rPr sz="800" spc="-5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231F20"/>
                </a:solidFill>
                <a:latin typeface="Segoe UI"/>
                <a:cs typeface="Segoe UI"/>
              </a:rPr>
              <a:t>Évora</a:t>
            </a:r>
            <a:r>
              <a:rPr sz="800" spc="-10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231F20"/>
                </a:solidFill>
                <a:latin typeface="Segoe UI"/>
                <a:cs typeface="Segoe UI"/>
              </a:rPr>
              <a:t>YDM,</a:t>
            </a:r>
            <a:r>
              <a:rPr sz="800" spc="-5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Segoe UI"/>
                <a:cs typeface="Segoe UI"/>
              </a:rPr>
              <a:t>Rossaneis</a:t>
            </a:r>
            <a:r>
              <a:rPr sz="800" spc="-15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231F20"/>
                </a:solidFill>
                <a:latin typeface="Segoe UI"/>
                <a:cs typeface="Segoe UI"/>
              </a:rPr>
              <a:t>MA,</a:t>
            </a:r>
            <a:r>
              <a:rPr sz="800" spc="-5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231F20"/>
                </a:solidFill>
                <a:latin typeface="Segoe UI"/>
                <a:cs typeface="Segoe UI"/>
              </a:rPr>
              <a:t>Gvozd</a:t>
            </a:r>
            <a:r>
              <a:rPr sz="800" spc="-10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231F20"/>
                </a:solidFill>
                <a:latin typeface="Segoe UI"/>
                <a:cs typeface="Segoe UI"/>
              </a:rPr>
              <a:t>R,</a:t>
            </a:r>
            <a:r>
              <a:rPr sz="800" spc="-5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231F20"/>
                </a:solidFill>
                <a:latin typeface="Segoe UI"/>
                <a:cs typeface="Segoe UI"/>
              </a:rPr>
              <a:t>Santos</a:t>
            </a:r>
            <a:r>
              <a:rPr sz="800" spc="-15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231F20"/>
                </a:solidFill>
                <a:latin typeface="Segoe UI"/>
                <a:cs typeface="Segoe UI"/>
              </a:rPr>
              <a:t>MS,</a:t>
            </a:r>
            <a:r>
              <a:rPr sz="800" spc="-5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231F20"/>
                </a:solidFill>
                <a:latin typeface="Segoe UI"/>
                <a:cs typeface="Segoe UI"/>
              </a:rPr>
              <a:t>Haddad</a:t>
            </a:r>
            <a:r>
              <a:rPr sz="800" spc="-10" dirty="0">
                <a:solidFill>
                  <a:srgbClr val="231F20"/>
                </a:solidFill>
                <a:latin typeface="Segoe UI"/>
                <a:cs typeface="Segoe UI"/>
              </a:rPr>
              <a:t> MCFL.</a:t>
            </a:r>
            <a:endParaRPr sz="8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17810"/>
            <a:ext cx="6638469" cy="51240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31099" y="5764497"/>
            <a:ext cx="7219150" cy="644151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600" b="1" spc="-10" dirty="0">
                <a:solidFill>
                  <a:schemeClr val="tx1"/>
                </a:solidFill>
                <a:latin typeface="Verdana"/>
                <a:cs typeface="Verdana"/>
              </a:rPr>
              <a:t>*TCLE:</a:t>
            </a:r>
            <a:r>
              <a:rPr sz="600" b="1" spc="-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600" b="1" spc="-20" dirty="0">
                <a:solidFill>
                  <a:schemeClr val="tx1"/>
                </a:solidFill>
                <a:latin typeface="Verdana"/>
                <a:cs typeface="Verdana"/>
              </a:rPr>
              <a:t>Termo</a:t>
            </a:r>
            <a:r>
              <a:rPr sz="600" b="1" dirty="0">
                <a:solidFill>
                  <a:schemeClr val="tx1"/>
                </a:solidFill>
                <a:latin typeface="Verdana"/>
                <a:cs typeface="Verdana"/>
              </a:rPr>
              <a:t> de</a:t>
            </a:r>
            <a:r>
              <a:rPr sz="600" b="1" spc="-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600" b="1" spc="-10" dirty="0">
                <a:solidFill>
                  <a:schemeClr val="tx1"/>
                </a:solidFill>
                <a:latin typeface="Verdana"/>
                <a:cs typeface="Verdana"/>
              </a:rPr>
              <a:t>Consentimento</a:t>
            </a:r>
            <a:r>
              <a:rPr sz="600" b="1" dirty="0">
                <a:solidFill>
                  <a:schemeClr val="tx1"/>
                </a:solidFill>
                <a:latin typeface="Verdana"/>
                <a:cs typeface="Verdana"/>
              </a:rPr>
              <a:t> Livre</a:t>
            </a:r>
            <a:r>
              <a:rPr sz="600" b="1" spc="-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600" b="1" dirty="0">
                <a:solidFill>
                  <a:schemeClr val="tx1"/>
                </a:solidFill>
                <a:latin typeface="Verdana"/>
                <a:cs typeface="Verdana"/>
              </a:rPr>
              <a:t>e </a:t>
            </a:r>
            <a:r>
              <a:rPr sz="600" b="1" spc="-10" dirty="0">
                <a:solidFill>
                  <a:schemeClr val="tx1"/>
                </a:solidFill>
                <a:latin typeface="Verdana"/>
                <a:cs typeface="Verdana"/>
              </a:rPr>
              <a:t>Esclarecido;</a:t>
            </a:r>
            <a:r>
              <a:rPr sz="600" b="1" spc="-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600" b="1" spc="-10" dirty="0">
                <a:solidFill>
                  <a:schemeClr val="tx1"/>
                </a:solidFill>
                <a:latin typeface="Verdana"/>
                <a:cs typeface="Verdana"/>
              </a:rPr>
              <a:t>†SOCIO/OCUP:</a:t>
            </a:r>
            <a:r>
              <a:rPr sz="600" b="1" dirty="0">
                <a:solidFill>
                  <a:schemeClr val="tx1"/>
                </a:solidFill>
                <a:latin typeface="Verdana"/>
                <a:cs typeface="Verdana"/>
              </a:rPr>
              <a:t> sociodemográfico</a:t>
            </a:r>
            <a:r>
              <a:rPr sz="600" b="1" spc="-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600" b="1" dirty="0">
                <a:solidFill>
                  <a:schemeClr val="tx1"/>
                </a:solidFill>
                <a:latin typeface="Verdana"/>
                <a:cs typeface="Verdana"/>
              </a:rPr>
              <a:t>e </a:t>
            </a:r>
            <a:r>
              <a:rPr sz="600" b="1" spc="-10" dirty="0">
                <a:solidFill>
                  <a:schemeClr val="tx1"/>
                </a:solidFill>
                <a:latin typeface="Verdana"/>
                <a:cs typeface="Verdana"/>
              </a:rPr>
              <a:t>ocupacional;</a:t>
            </a:r>
            <a:r>
              <a:rPr sz="600" b="1" spc="-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600" b="1" dirty="0">
                <a:solidFill>
                  <a:schemeClr val="tx1"/>
                </a:solidFill>
                <a:latin typeface="Verdana"/>
                <a:cs typeface="Verdana"/>
              </a:rPr>
              <a:t>‡IRA: Inventário</a:t>
            </a:r>
            <a:r>
              <a:rPr sz="600" b="1" spc="-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600" b="1" dirty="0">
                <a:solidFill>
                  <a:schemeClr val="tx1"/>
                </a:solidFill>
                <a:latin typeface="Verdana"/>
                <a:cs typeface="Verdana"/>
              </a:rPr>
              <a:t>de Recursos para</a:t>
            </a:r>
            <a:r>
              <a:rPr sz="600" b="1" spc="-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600" b="1" dirty="0">
                <a:solidFill>
                  <a:schemeClr val="tx1"/>
                </a:solidFill>
                <a:latin typeface="Verdana"/>
                <a:cs typeface="Verdana"/>
              </a:rPr>
              <a:t>a </a:t>
            </a:r>
            <a:r>
              <a:rPr sz="600" b="1" spc="-10" dirty="0">
                <a:solidFill>
                  <a:schemeClr val="tx1"/>
                </a:solidFill>
                <a:latin typeface="Verdana"/>
                <a:cs typeface="Verdana"/>
              </a:rPr>
              <a:t>Aposentadoria;</a:t>
            </a:r>
            <a:endParaRPr sz="600" b="1" dirty="0">
              <a:solidFill>
                <a:schemeClr val="tx1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600" b="1" spc="-20" dirty="0">
                <a:solidFill>
                  <a:schemeClr val="tx1"/>
                </a:solidFill>
                <a:latin typeface="Verdana"/>
                <a:cs typeface="Verdana"/>
              </a:rPr>
              <a:t>§RT:</a:t>
            </a:r>
            <a:r>
              <a:rPr sz="600" b="1" spc="-2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600" b="1" spc="-10" dirty="0">
                <a:solidFill>
                  <a:schemeClr val="tx1"/>
                </a:solidFill>
                <a:latin typeface="Verdana"/>
                <a:cs typeface="Verdana"/>
              </a:rPr>
              <a:t>Recurso</a:t>
            </a:r>
            <a:endParaRPr sz="600" b="1" dirty="0">
              <a:solidFill>
                <a:schemeClr val="tx1"/>
              </a:solidFill>
              <a:latin typeface="Verdana"/>
              <a:cs typeface="Verdana"/>
            </a:endParaRPr>
          </a:p>
          <a:p>
            <a:pPr marL="12700" marR="5080">
              <a:lnSpc>
                <a:spcPct val="145800"/>
              </a:lnSpc>
              <a:spcBef>
                <a:spcPts val="320"/>
              </a:spcBef>
            </a:pP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Figura</a:t>
            </a:r>
            <a:r>
              <a:rPr sz="800" b="1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1</a:t>
            </a:r>
            <a:r>
              <a:rPr sz="800" b="1" spc="-1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-</a:t>
            </a:r>
            <a:r>
              <a:rPr sz="800" b="1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Fluxograma</a:t>
            </a:r>
            <a:r>
              <a:rPr sz="800" b="1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de</a:t>
            </a:r>
            <a:r>
              <a:rPr sz="800" b="1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funcionamento</a:t>
            </a:r>
            <a:r>
              <a:rPr sz="800" b="1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do</a:t>
            </a:r>
            <a:r>
              <a:rPr sz="800" b="1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protótipo</a:t>
            </a:r>
            <a:r>
              <a:rPr sz="800" b="1" spc="-1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do</a:t>
            </a:r>
            <a:r>
              <a:rPr sz="800" b="1" spc="-1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i="1" dirty="0">
                <a:solidFill>
                  <a:schemeClr val="tx1"/>
                </a:solidFill>
                <a:latin typeface="Verdana"/>
                <a:cs typeface="Verdana"/>
              </a:rPr>
              <a:t>web</a:t>
            </a:r>
            <a:r>
              <a:rPr sz="800" b="1" i="1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i="1" dirty="0">
                <a:solidFill>
                  <a:schemeClr val="tx1"/>
                </a:solidFill>
                <a:latin typeface="Verdana"/>
                <a:cs typeface="Verdana"/>
              </a:rPr>
              <a:t>software</a:t>
            </a:r>
            <a:r>
              <a:rPr sz="800" b="1" i="1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de</a:t>
            </a:r>
            <a:r>
              <a:rPr sz="800" b="1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apoio</a:t>
            </a:r>
            <a:r>
              <a:rPr sz="800" b="1" spc="-1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ao</a:t>
            </a:r>
            <a:r>
              <a:rPr sz="800" b="1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planejamento</a:t>
            </a:r>
            <a:r>
              <a:rPr sz="800" b="1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da</a:t>
            </a:r>
            <a:r>
              <a:rPr sz="800" b="1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spc="-10" dirty="0">
                <a:solidFill>
                  <a:schemeClr val="tx1"/>
                </a:solidFill>
                <a:latin typeface="Verdana"/>
                <a:cs typeface="Verdana"/>
              </a:rPr>
              <a:t>aposentadoria.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Maringá,</a:t>
            </a:r>
            <a:r>
              <a:rPr sz="800" b="1" spc="-1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PR,</a:t>
            </a:r>
            <a:r>
              <a:rPr sz="800" b="1" spc="-1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dirty="0">
                <a:solidFill>
                  <a:schemeClr val="tx1"/>
                </a:solidFill>
                <a:latin typeface="Verdana"/>
                <a:cs typeface="Verdana"/>
              </a:rPr>
              <a:t>Brasil,</a:t>
            </a:r>
            <a:r>
              <a:rPr sz="800" b="1" spc="-1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800" b="1" spc="-20" dirty="0">
                <a:solidFill>
                  <a:schemeClr val="tx1"/>
                </a:solidFill>
                <a:latin typeface="Verdana"/>
                <a:cs typeface="Verdana"/>
              </a:rPr>
              <a:t>2018</a:t>
            </a:r>
            <a:endParaRPr sz="800" b="1" dirty="0">
              <a:solidFill>
                <a:schemeClr val="tx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2436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57238" y="6554140"/>
            <a:ext cx="0" cy="153124"/>
          </a:xfrm>
          <a:custGeom>
            <a:avLst/>
            <a:gdLst/>
            <a:ahLst/>
            <a:cxnLst/>
            <a:rect l="l" t="t" r="r" b="b"/>
            <a:pathLst>
              <a:path h="238759">
                <a:moveTo>
                  <a:pt x="0" y="0"/>
                </a:moveTo>
                <a:lnTo>
                  <a:pt x="0" y="238404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55892" y="6206296"/>
            <a:ext cx="7219150" cy="718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Figura</a:t>
            </a:r>
            <a:r>
              <a:rPr sz="800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3 –</a:t>
            </a:r>
            <a:r>
              <a:rPr sz="800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Tela de pontuação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final</a:t>
            </a:r>
            <a:r>
              <a:rPr sz="800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e materiais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de apoio</a:t>
            </a:r>
            <a:r>
              <a:rPr sz="800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do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protótipo do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231F20"/>
                </a:solidFill>
                <a:latin typeface="Verdana"/>
                <a:cs typeface="Verdana"/>
              </a:rPr>
              <a:t>Web</a:t>
            </a:r>
            <a:r>
              <a:rPr sz="800" i="1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231F20"/>
                </a:solidFill>
                <a:latin typeface="Verdana"/>
                <a:cs typeface="Verdana"/>
              </a:rPr>
              <a:t>Software</a:t>
            </a:r>
            <a:r>
              <a:rPr sz="800" i="1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de</a:t>
            </a:r>
            <a:r>
              <a:rPr sz="800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apoio</a:t>
            </a:r>
            <a:r>
              <a:rPr sz="800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ao</a:t>
            </a:r>
            <a:r>
              <a:rPr sz="800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planejamento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25" dirty="0">
                <a:solidFill>
                  <a:srgbClr val="231F20"/>
                </a:solidFill>
                <a:latin typeface="Verdana"/>
                <a:cs typeface="Verdana"/>
              </a:rPr>
              <a:t>da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aposentadoria.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Maringá,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PR,</a:t>
            </a:r>
            <a:r>
              <a:rPr sz="800" spc="-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31F20"/>
                </a:solidFill>
                <a:latin typeface="Verdana"/>
                <a:cs typeface="Verdana"/>
              </a:rPr>
              <a:t>Brasil,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231F20"/>
                </a:solidFill>
                <a:latin typeface="Verdana"/>
                <a:cs typeface="Verdana"/>
              </a:rPr>
              <a:t>2018</a:t>
            </a:r>
            <a:endParaRPr sz="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800">
              <a:latin typeface="Verdana"/>
              <a:cs typeface="Verdana"/>
            </a:endParaRPr>
          </a:p>
          <a:p>
            <a:pPr marR="48260" algn="r">
              <a:lnSpc>
                <a:spcPct val="100000"/>
              </a:lnSpc>
            </a:pPr>
            <a:r>
              <a:rPr sz="700" spc="-10" dirty="0">
                <a:solidFill>
                  <a:srgbClr val="6D6E71"/>
                </a:solidFill>
                <a:latin typeface="Verdana"/>
                <a:cs typeface="Verdana"/>
                <a:hlinkClick r:id="rId2"/>
              </a:rPr>
              <a:t>www.eerp.usp.br/rlae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482" y="207068"/>
            <a:ext cx="123713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D6E71"/>
                </a:solidFill>
                <a:latin typeface="MV Boli"/>
                <a:cs typeface="MV Boli"/>
              </a:rPr>
              <a:t>6</a:t>
            </a:r>
            <a:endParaRPr sz="900">
              <a:latin typeface="MV Boli"/>
              <a:cs typeface="MV Bol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3723" y="173463"/>
            <a:ext cx="0" cy="155567"/>
          </a:xfrm>
          <a:custGeom>
            <a:avLst/>
            <a:gdLst/>
            <a:ahLst/>
            <a:cxnLst/>
            <a:rect l="l" t="t" r="r" b="b"/>
            <a:pathLst>
              <a:path h="242570">
                <a:moveTo>
                  <a:pt x="0" y="0"/>
                </a:moveTo>
                <a:lnTo>
                  <a:pt x="0" y="242531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8838" y="215296"/>
            <a:ext cx="2434302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231F20"/>
                </a:solidFill>
                <a:latin typeface="Segoe UI"/>
                <a:cs typeface="Segoe UI"/>
              </a:rPr>
              <a:t>Rev.</a:t>
            </a:r>
            <a:r>
              <a:rPr sz="800" spc="10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Segoe UI"/>
                <a:cs typeface="Segoe UI"/>
              </a:rPr>
              <a:t>Latino-</a:t>
            </a:r>
            <a:r>
              <a:rPr sz="800" dirty="0">
                <a:solidFill>
                  <a:srgbClr val="231F20"/>
                </a:solidFill>
                <a:latin typeface="Segoe UI"/>
                <a:cs typeface="Segoe UI"/>
              </a:rPr>
              <a:t>Am.</a:t>
            </a:r>
            <a:r>
              <a:rPr sz="800" spc="15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Segoe UI"/>
                <a:cs typeface="Segoe UI"/>
              </a:rPr>
              <a:t>Enfermagem</a:t>
            </a:r>
            <a:r>
              <a:rPr sz="800" spc="5" dirty="0">
                <a:solidFill>
                  <a:srgbClr val="231F20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Segoe UI"/>
                <a:cs typeface="Segoe UI"/>
              </a:rPr>
              <a:t>2019;27:e3169.</a:t>
            </a:r>
            <a:endParaRPr sz="8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8354" y="461760"/>
            <a:ext cx="5874119" cy="160845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55891" y="2134027"/>
            <a:ext cx="7218381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0" dirty="0">
                <a:solidFill>
                  <a:srgbClr val="231F20"/>
                </a:solidFill>
                <a:latin typeface="Verdana"/>
                <a:cs typeface="Verdana"/>
              </a:rPr>
              <a:t>Figura</a:t>
            </a:r>
            <a:r>
              <a:rPr sz="800" spc="-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2</a:t>
            </a:r>
            <a:r>
              <a:rPr sz="800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–</a:t>
            </a:r>
            <a:r>
              <a:rPr sz="800" spc="-45" dirty="0">
                <a:solidFill>
                  <a:srgbClr val="231F20"/>
                </a:solidFill>
                <a:latin typeface="Verdana"/>
                <a:cs typeface="Verdana"/>
              </a:rPr>
              <a:t> Tela</a:t>
            </a:r>
            <a:r>
              <a:rPr sz="800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30" dirty="0">
                <a:solidFill>
                  <a:srgbClr val="231F20"/>
                </a:solidFill>
                <a:latin typeface="Verdana"/>
                <a:cs typeface="Verdana"/>
              </a:rPr>
              <a:t>inicial</a:t>
            </a:r>
            <a:r>
              <a:rPr sz="800" spc="-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231F20"/>
                </a:solidFill>
                <a:latin typeface="Verdana"/>
                <a:cs typeface="Verdana"/>
              </a:rPr>
              <a:t>do</a:t>
            </a:r>
            <a:r>
              <a:rPr sz="800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30" dirty="0">
                <a:solidFill>
                  <a:srgbClr val="231F20"/>
                </a:solidFill>
                <a:latin typeface="Verdana"/>
                <a:cs typeface="Verdana"/>
              </a:rPr>
              <a:t>protótipo</a:t>
            </a:r>
            <a:r>
              <a:rPr sz="800" spc="-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231F20"/>
                </a:solidFill>
                <a:latin typeface="Verdana"/>
                <a:cs typeface="Verdana"/>
              </a:rPr>
              <a:t>do</a:t>
            </a:r>
            <a:r>
              <a:rPr sz="800" spc="-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i="1" spc="-20" dirty="0">
                <a:solidFill>
                  <a:srgbClr val="231F20"/>
                </a:solidFill>
                <a:latin typeface="Verdana"/>
                <a:cs typeface="Verdana"/>
              </a:rPr>
              <a:t>Web</a:t>
            </a:r>
            <a:r>
              <a:rPr sz="800" i="1" spc="-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231F20"/>
                </a:solidFill>
                <a:latin typeface="Verdana"/>
                <a:cs typeface="Verdana"/>
              </a:rPr>
              <a:t>Software</a:t>
            </a:r>
            <a:r>
              <a:rPr sz="800" i="1" spc="-5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de</a:t>
            </a:r>
            <a:r>
              <a:rPr sz="800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30" dirty="0">
                <a:solidFill>
                  <a:srgbClr val="231F20"/>
                </a:solidFill>
                <a:latin typeface="Verdana"/>
                <a:cs typeface="Verdana"/>
              </a:rPr>
              <a:t>apoio</a:t>
            </a:r>
            <a:r>
              <a:rPr sz="800" spc="-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ao</a:t>
            </a:r>
            <a:r>
              <a:rPr sz="800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30" dirty="0">
                <a:solidFill>
                  <a:srgbClr val="231F20"/>
                </a:solidFill>
                <a:latin typeface="Verdana"/>
                <a:cs typeface="Verdana"/>
              </a:rPr>
              <a:t>planejamento</a:t>
            </a:r>
            <a:r>
              <a:rPr sz="800" spc="-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Verdana"/>
                <a:cs typeface="Verdana"/>
              </a:rPr>
              <a:t>da</a:t>
            </a:r>
            <a:r>
              <a:rPr sz="800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25" dirty="0">
                <a:solidFill>
                  <a:srgbClr val="231F20"/>
                </a:solidFill>
                <a:latin typeface="Verdana"/>
                <a:cs typeface="Verdana"/>
              </a:rPr>
              <a:t>aposentadoria.</a:t>
            </a:r>
            <a:r>
              <a:rPr sz="800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25" dirty="0">
                <a:solidFill>
                  <a:srgbClr val="231F20"/>
                </a:solidFill>
                <a:latin typeface="Verdana"/>
                <a:cs typeface="Verdana"/>
              </a:rPr>
              <a:t>Maringá,</a:t>
            </a:r>
            <a:r>
              <a:rPr sz="800" spc="-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25" dirty="0">
                <a:solidFill>
                  <a:srgbClr val="231F20"/>
                </a:solidFill>
                <a:latin typeface="Verdana"/>
                <a:cs typeface="Verdana"/>
              </a:rPr>
              <a:t>PR,</a:t>
            </a:r>
            <a:r>
              <a:rPr sz="800" spc="-40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30" dirty="0">
                <a:solidFill>
                  <a:srgbClr val="231F20"/>
                </a:solidFill>
                <a:latin typeface="Verdana"/>
                <a:cs typeface="Verdana"/>
              </a:rPr>
              <a:t>Brasil,</a:t>
            </a:r>
            <a:r>
              <a:rPr sz="800" spc="-4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231F20"/>
                </a:solidFill>
                <a:latin typeface="Verdana"/>
                <a:cs typeface="Verdana"/>
              </a:rPr>
              <a:t>2018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474" y="2354965"/>
            <a:ext cx="6465473" cy="384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25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4978" y="1435382"/>
            <a:ext cx="6643539" cy="4452098"/>
          </a:xfrm>
        </p:spPr>
        <p:txBody>
          <a:bodyPr/>
          <a:lstStyle/>
          <a:p>
            <a:r>
              <a:rPr lang="pt-BR" dirty="0"/>
              <a:t>Desenvolvimento de um protótipo web software de apoio ao planejamento da vida de estudante (disciplinas, cursos, festas....).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Fase de avaliação mostrar para o outro grupo que será o cliente. Um integrante do grupo do protótipo fará o registro da avaliação,  dos comentários e linguagem não verbal.</a:t>
            </a:r>
          </a:p>
        </p:txBody>
      </p:sp>
      <p:grpSp>
        <p:nvGrpSpPr>
          <p:cNvPr id="4" name="Google Shape;688;p50">
            <a:extLst>
              <a:ext uri="{FF2B5EF4-FFF2-40B4-BE49-F238E27FC236}">
                <a16:creationId xmlns:a16="http://schemas.microsoft.com/office/drawing/2014/main" id="{47EF5352-686E-4E91-8D4C-AAD61E731AE1}"/>
              </a:ext>
            </a:extLst>
          </p:cNvPr>
          <p:cNvGrpSpPr/>
          <p:nvPr/>
        </p:nvGrpSpPr>
        <p:grpSpPr>
          <a:xfrm>
            <a:off x="7005711" y="3232201"/>
            <a:ext cx="2841675" cy="1649288"/>
            <a:chOff x="1430" y="1149"/>
            <a:chExt cx="3255" cy="2921"/>
          </a:xfrm>
        </p:grpSpPr>
        <p:sp>
          <p:nvSpPr>
            <p:cNvPr id="5" name="Google Shape;689;p50">
              <a:extLst>
                <a:ext uri="{FF2B5EF4-FFF2-40B4-BE49-F238E27FC236}">
                  <a16:creationId xmlns:a16="http://schemas.microsoft.com/office/drawing/2014/main" id="{519A3713-B431-4242-97EC-DDF875A883B9}"/>
                </a:ext>
              </a:extLst>
            </p:cNvPr>
            <p:cNvSpPr txBox="1"/>
            <p:nvPr/>
          </p:nvSpPr>
          <p:spPr>
            <a:xfrm>
              <a:off x="1430" y="1505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fim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" name="Google Shape;690;p50">
              <a:extLst>
                <a:ext uri="{FF2B5EF4-FFF2-40B4-BE49-F238E27FC236}">
                  <a16:creationId xmlns:a16="http://schemas.microsoft.com/office/drawing/2014/main" id="{1E1998ED-B9C4-4AC9-BC80-7663D5896FA4}"/>
                </a:ext>
              </a:extLst>
            </p:cNvPr>
            <p:cNvSpPr txBox="1"/>
            <p:nvPr/>
          </p:nvSpPr>
          <p:spPr>
            <a:xfrm>
              <a:off x="2211" y="1149"/>
              <a:ext cx="716" cy="3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 b="0" i="1" u="none" strike="noStrike" cap="none">
                  <a:solidFill>
                    <a:schemeClr val="hlink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início</a:t>
              </a:r>
              <a:endParaRPr sz="800" b="1" i="1" u="none" strike="noStrike" cap="none">
                <a:solidFill>
                  <a:srgbClr val="00808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" name="Google Shape;691;p50">
              <a:extLst>
                <a:ext uri="{FF2B5EF4-FFF2-40B4-BE49-F238E27FC236}">
                  <a16:creationId xmlns:a16="http://schemas.microsoft.com/office/drawing/2014/main" id="{5EA3F7F0-695E-4783-BA55-5589E5ACA1E5}"/>
                </a:ext>
              </a:extLst>
            </p:cNvPr>
            <p:cNvSpPr txBox="1"/>
            <p:nvPr/>
          </p:nvSpPr>
          <p:spPr>
            <a:xfrm>
              <a:off x="1488" y="2160"/>
              <a:ext cx="117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</a:t>
              </a:r>
              <a:r>
                <a:rPr lang="pt-BR"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produto</a:t>
              </a:r>
              <a:endParaRPr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92;p50">
              <a:extLst>
                <a:ext uri="{FF2B5EF4-FFF2-40B4-BE49-F238E27FC236}">
                  <a16:creationId xmlns:a16="http://schemas.microsoft.com/office/drawing/2014/main" id="{B9DDE4A7-35C9-4DA6-828B-3A5130EB5A68}"/>
                </a:ext>
              </a:extLst>
            </p:cNvPr>
            <p:cNvSpPr txBox="1"/>
            <p:nvPr/>
          </p:nvSpPr>
          <p:spPr>
            <a:xfrm>
              <a:off x="1560" y="3001"/>
              <a:ext cx="1107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refinamento</a:t>
              </a:r>
              <a:r>
                <a:rPr lang="pt-BR"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protótipo</a:t>
              </a:r>
              <a:endParaRPr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93;p50">
              <a:extLst>
                <a:ext uri="{FF2B5EF4-FFF2-40B4-BE49-F238E27FC236}">
                  <a16:creationId xmlns:a16="http://schemas.microsoft.com/office/drawing/2014/main" id="{95C5CF27-A8D1-47FA-AC0B-39CDD12E6EE6}"/>
                </a:ext>
              </a:extLst>
            </p:cNvPr>
            <p:cNvSpPr txBox="1"/>
            <p:nvPr/>
          </p:nvSpPr>
          <p:spPr>
            <a:xfrm>
              <a:off x="2667" y="3429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avaliação</a:t>
              </a:r>
              <a:r>
                <a:rPr lang="pt-BR"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protótipo</a:t>
              </a:r>
              <a:endParaRPr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94;p50">
              <a:extLst>
                <a:ext uri="{FF2B5EF4-FFF2-40B4-BE49-F238E27FC236}">
                  <a16:creationId xmlns:a16="http://schemas.microsoft.com/office/drawing/2014/main" id="{3E8450D7-7FF3-4C61-9BF9-81B3B9AA7EF6}"/>
                </a:ext>
              </a:extLst>
            </p:cNvPr>
            <p:cNvSpPr txBox="1"/>
            <p:nvPr/>
          </p:nvSpPr>
          <p:spPr>
            <a:xfrm>
              <a:off x="3448" y="2930"/>
              <a:ext cx="104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construção</a:t>
              </a:r>
              <a:r>
                <a:rPr lang="pt-BR" sz="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pt-BR" sz="800" b="1" i="0" u="none" strike="noStrike" cap="non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protótipo</a:t>
              </a:r>
              <a:endParaRPr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695;p50">
              <a:extLst>
                <a:ext uri="{FF2B5EF4-FFF2-40B4-BE49-F238E27FC236}">
                  <a16:creationId xmlns:a16="http://schemas.microsoft.com/office/drawing/2014/main" id="{F503611F-6D54-4EA5-B823-BFF23CEDD29D}"/>
                </a:ext>
              </a:extLst>
            </p:cNvPr>
            <p:cNvSpPr txBox="1"/>
            <p:nvPr/>
          </p:nvSpPr>
          <p:spPr>
            <a:xfrm>
              <a:off x="3578" y="2146"/>
              <a:ext cx="912" cy="5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projeto rápido</a:t>
              </a:r>
              <a:endParaRPr/>
            </a:p>
          </p:txBody>
        </p:sp>
        <p:sp>
          <p:nvSpPr>
            <p:cNvPr id="12" name="Google Shape;696;p50">
              <a:extLst>
                <a:ext uri="{FF2B5EF4-FFF2-40B4-BE49-F238E27FC236}">
                  <a16:creationId xmlns:a16="http://schemas.microsoft.com/office/drawing/2014/main" id="{8658D698-7169-47F6-9419-B1755B9F3F9E}"/>
                </a:ext>
              </a:extLst>
            </p:cNvPr>
            <p:cNvSpPr txBox="1"/>
            <p:nvPr/>
          </p:nvSpPr>
          <p:spPr>
            <a:xfrm>
              <a:off x="2537" y="1648"/>
              <a:ext cx="1041" cy="7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 b="1" i="0" u="none" strike="noStrike" cap="none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obtenção dos   requisitos</a:t>
              </a:r>
              <a:endParaRPr dirty="0"/>
            </a:p>
          </p:txBody>
        </p:sp>
        <p:sp>
          <p:nvSpPr>
            <p:cNvPr id="13" name="Google Shape;697;p50">
              <a:extLst>
                <a:ext uri="{FF2B5EF4-FFF2-40B4-BE49-F238E27FC236}">
                  <a16:creationId xmlns:a16="http://schemas.microsoft.com/office/drawing/2014/main" id="{77E5EF42-92E5-4B57-8FA4-2F514A3288CA}"/>
                </a:ext>
              </a:extLst>
            </p:cNvPr>
            <p:cNvSpPr/>
            <p:nvPr/>
          </p:nvSpPr>
          <p:spPr>
            <a:xfrm>
              <a:off x="1430" y="1577"/>
              <a:ext cx="3126" cy="2493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698;p50">
              <a:extLst>
                <a:ext uri="{FF2B5EF4-FFF2-40B4-BE49-F238E27FC236}">
                  <a16:creationId xmlns:a16="http://schemas.microsoft.com/office/drawing/2014/main" id="{990B64C6-5859-4B5B-925F-2008C3B00DEE}"/>
                </a:ext>
              </a:extLst>
            </p:cNvPr>
            <p:cNvSpPr/>
            <p:nvPr/>
          </p:nvSpPr>
          <p:spPr>
            <a:xfrm>
              <a:off x="2537" y="2361"/>
              <a:ext cx="1041" cy="854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5" name="Google Shape;699;p50">
              <a:extLst>
                <a:ext uri="{FF2B5EF4-FFF2-40B4-BE49-F238E27FC236}">
                  <a16:creationId xmlns:a16="http://schemas.microsoft.com/office/drawing/2014/main" id="{CC4F7FEF-6974-484D-9BB5-9B67D5C8884D}"/>
                </a:ext>
              </a:extLst>
            </p:cNvPr>
            <p:cNvCxnSpPr/>
            <p:nvPr/>
          </p:nvCxnSpPr>
          <p:spPr>
            <a:xfrm>
              <a:off x="2277" y="1719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700;p50">
              <a:extLst>
                <a:ext uri="{FF2B5EF4-FFF2-40B4-BE49-F238E27FC236}">
                  <a16:creationId xmlns:a16="http://schemas.microsoft.com/office/drawing/2014/main" id="{D1BE84EA-08C7-468D-AE9C-A85610C37797}"/>
                </a:ext>
              </a:extLst>
            </p:cNvPr>
            <p:cNvCxnSpPr/>
            <p:nvPr/>
          </p:nvCxnSpPr>
          <p:spPr>
            <a:xfrm flipH="1">
              <a:off x="3383" y="1791"/>
              <a:ext cx="455" cy="64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701;p50">
              <a:extLst>
                <a:ext uri="{FF2B5EF4-FFF2-40B4-BE49-F238E27FC236}">
                  <a16:creationId xmlns:a16="http://schemas.microsoft.com/office/drawing/2014/main" id="{03F17B96-0FA8-49C2-934E-6831E532F93C}"/>
                </a:ext>
              </a:extLst>
            </p:cNvPr>
            <p:cNvCxnSpPr/>
            <p:nvPr/>
          </p:nvCxnSpPr>
          <p:spPr>
            <a:xfrm>
              <a:off x="3578" y="2789"/>
              <a:ext cx="978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702;p50">
              <a:extLst>
                <a:ext uri="{FF2B5EF4-FFF2-40B4-BE49-F238E27FC236}">
                  <a16:creationId xmlns:a16="http://schemas.microsoft.com/office/drawing/2014/main" id="{175B4FA8-6AE9-4175-8644-6A2869880D38}"/>
                </a:ext>
              </a:extLst>
            </p:cNvPr>
            <p:cNvCxnSpPr/>
            <p:nvPr/>
          </p:nvCxnSpPr>
          <p:spPr>
            <a:xfrm>
              <a:off x="3383" y="3144"/>
              <a:ext cx="521" cy="7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703;p50">
              <a:extLst>
                <a:ext uri="{FF2B5EF4-FFF2-40B4-BE49-F238E27FC236}">
                  <a16:creationId xmlns:a16="http://schemas.microsoft.com/office/drawing/2014/main" id="{46CA74AC-118F-4DEF-AE1A-B7738C589296}"/>
                </a:ext>
              </a:extLst>
            </p:cNvPr>
            <p:cNvCxnSpPr/>
            <p:nvPr/>
          </p:nvCxnSpPr>
          <p:spPr>
            <a:xfrm flipH="1">
              <a:off x="2340" y="3214"/>
              <a:ext cx="523" cy="7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704;p50">
              <a:extLst>
                <a:ext uri="{FF2B5EF4-FFF2-40B4-BE49-F238E27FC236}">
                  <a16:creationId xmlns:a16="http://schemas.microsoft.com/office/drawing/2014/main" id="{99340303-3E73-42A1-B47C-4DE82862C3EA}"/>
                </a:ext>
              </a:extLst>
            </p:cNvPr>
            <p:cNvCxnSpPr/>
            <p:nvPr/>
          </p:nvCxnSpPr>
          <p:spPr>
            <a:xfrm rot="10800000">
              <a:off x="1430" y="2789"/>
              <a:ext cx="1107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Google Shape;705;p50">
              <a:extLst>
                <a:ext uri="{FF2B5EF4-FFF2-40B4-BE49-F238E27FC236}">
                  <a16:creationId xmlns:a16="http://schemas.microsoft.com/office/drawing/2014/main" id="{6DB11814-2586-4A04-B317-BFAF7121076E}"/>
                </a:ext>
              </a:extLst>
            </p:cNvPr>
            <p:cNvSpPr/>
            <p:nvPr/>
          </p:nvSpPr>
          <p:spPr>
            <a:xfrm rot="-1632726">
              <a:off x="2797" y="2644"/>
              <a:ext cx="521" cy="3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 extrusionOk="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 extrusionOk="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folHlink"/>
            </a:solidFill>
            <a:ln w="38100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2" name="Google Shape;706;p50">
              <a:extLst>
                <a:ext uri="{FF2B5EF4-FFF2-40B4-BE49-F238E27FC236}">
                  <a16:creationId xmlns:a16="http://schemas.microsoft.com/office/drawing/2014/main" id="{C2E2C5D8-B1B0-4D7F-8E7F-9B4C06E78EF3}"/>
                </a:ext>
              </a:extLst>
            </p:cNvPr>
            <p:cNvCxnSpPr/>
            <p:nvPr/>
          </p:nvCxnSpPr>
          <p:spPr>
            <a:xfrm rot="10800000" flipH="1">
              <a:off x="2537" y="2430"/>
              <a:ext cx="847" cy="358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707;p50">
              <a:extLst>
                <a:ext uri="{FF2B5EF4-FFF2-40B4-BE49-F238E27FC236}">
                  <a16:creationId xmlns:a16="http://schemas.microsoft.com/office/drawing/2014/main" id="{F6913EB3-1F3E-45C2-AF8D-B411667A417E}"/>
                </a:ext>
              </a:extLst>
            </p:cNvPr>
            <p:cNvCxnSpPr/>
            <p:nvPr/>
          </p:nvCxnSpPr>
          <p:spPr>
            <a:xfrm rot="10800000" flipH="1">
              <a:off x="2863" y="2789"/>
              <a:ext cx="715" cy="426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708;p50">
              <a:extLst>
                <a:ext uri="{FF2B5EF4-FFF2-40B4-BE49-F238E27FC236}">
                  <a16:creationId xmlns:a16="http://schemas.microsoft.com/office/drawing/2014/main" id="{F9683360-6EB4-4951-A1C0-BB1E868476D5}"/>
                </a:ext>
              </a:extLst>
            </p:cNvPr>
            <p:cNvCxnSpPr/>
            <p:nvPr/>
          </p:nvCxnSpPr>
          <p:spPr>
            <a:xfrm rot="10800000">
              <a:off x="1822" y="1649"/>
              <a:ext cx="129" cy="212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Google Shape;709;p50">
              <a:extLst>
                <a:ext uri="{FF2B5EF4-FFF2-40B4-BE49-F238E27FC236}">
                  <a16:creationId xmlns:a16="http://schemas.microsoft.com/office/drawing/2014/main" id="{D0AD0B22-40E0-4130-8410-D906860E6306}"/>
                </a:ext>
              </a:extLst>
            </p:cNvPr>
            <p:cNvCxnSpPr/>
            <p:nvPr/>
          </p:nvCxnSpPr>
          <p:spPr>
            <a:xfrm>
              <a:off x="2340" y="1363"/>
              <a:ext cx="131" cy="214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" name="Google Shape;710;p50">
              <a:extLst>
                <a:ext uri="{FF2B5EF4-FFF2-40B4-BE49-F238E27FC236}">
                  <a16:creationId xmlns:a16="http://schemas.microsoft.com/office/drawing/2014/main" id="{97169F46-B14E-4892-880B-10C5E8E9E0BC}"/>
                </a:ext>
              </a:extLst>
            </p:cNvPr>
            <p:cNvSpPr/>
            <p:nvPr/>
          </p:nvSpPr>
          <p:spPr>
            <a:xfrm>
              <a:off x="3970" y="1649"/>
              <a:ext cx="715" cy="854"/>
            </a:xfrm>
            <a:custGeom>
              <a:avLst/>
              <a:gdLst/>
              <a:ahLst/>
              <a:cxnLst/>
              <a:rect l="l" t="t" r="r" b="b"/>
              <a:pathLst>
                <a:path w="20874" h="21584" fill="none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</a:path>
                <a:path w="20874" h="21584" extrusionOk="0">
                  <a:moveTo>
                    <a:pt x="842" y="0"/>
                  </a:moveTo>
                  <a:cubicBezTo>
                    <a:pt x="10313" y="370"/>
                    <a:pt x="18437" y="6871"/>
                    <a:pt x="20874" y="16030"/>
                  </a:cubicBezTo>
                  <a:lnTo>
                    <a:pt x="0" y="21584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8165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Ciclo de Vida em Espiral</a:t>
            </a:r>
            <a:endParaRPr/>
          </a:p>
        </p:txBody>
      </p:sp>
      <p:sp>
        <p:nvSpPr>
          <p:cNvPr id="890" name="Google Shape;890;p5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pt-BR"/>
              <a:t>Engloba as melhores características do ciclo de vida Clássico e da Prototipação, adicionando um novo elemento: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Char char="–"/>
            </a:pPr>
            <a:r>
              <a:rPr lang="pt-BR">
                <a:solidFill>
                  <a:srgbClr val="FF0000"/>
                </a:solidFill>
              </a:rPr>
              <a:t>Análise de Riscos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pt-BR"/>
              <a:t>Segue a abordagem de passos sistemáticos do Ciclo de Vida Clássico incorporando-os numa estrutura </a:t>
            </a:r>
            <a:r>
              <a:rPr lang="pt-BR">
                <a:solidFill>
                  <a:srgbClr val="FF0000"/>
                </a:solidFill>
              </a:rPr>
              <a:t>iterativa</a:t>
            </a:r>
            <a:r>
              <a:rPr lang="pt-BR"/>
              <a:t> que reflete mais realisticamente o mundo real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pt-BR"/>
              <a:t>Usa a </a:t>
            </a:r>
            <a:r>
              <a:rPr lang="pt-BR">
                <a:solidFill>
                  <a:srgbClr val="FF0000"/>
                </a:solidFill>
              </a:rPr>
              <a:t>Prototipação</a:t>
            </a:r>
            <a:r>
              <a:rPr lang="pt-BR"/>
              <a:t>, em qualquer etapa da evolução do produto, como mecanismo de redução de riscos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Ciclo de Vida em Espiral</a:t>
            </a:r>
            <a:endParaRPr/>
          </a:p>
        </p:txBody>
      </p:sp>
      <p:grpSp>
        <p:nvGrpSpPr>
          <p:cNvPr id="896" name="Google Shape;896;p58"/>
          <p:cNvGrpSpPr/>
          <p:nvPr/>
        </p:nvGrpSpPr>
        <p:grpSpPr>
          <a:xfrm>
            <a:off x="838200" y="1411288"/>
            <a:ext cx="8302625" cy="4972050"/>
            <a:chOff x="76200" y="838200"/>
            <a:chExt cx="9798004" cy="5867400"/>
          </a:xfrm>
        </p:grpSpPr>
        <p:grpSp>
          <p:nvGrpSpPr>
            <p:cNvPr id="897" name="Google Shape;897;p58"/>
            <p:cNvGrpSpPr/>
            <p:nvPr/>
          </p:nvGrpSpPr>
          <p:grpSpPr>
            <a:xfrm>
              <a:off x="1141413" y="838200"/>
              <a:ext cx="6858000" cy="5867400"/>
              <a:chOff x="719" y="624"/>
              <a:chExt cx="4320" cy="3696"/>
            </a:xfrm>
          </p:grpSpPr>
          <p:sp>
            <p:nvSpPr>
              <p:cNvPr id="898" name="Google Shape;898;p58"/>
              <p:cNvSpPr/>
              <p:nvPr/>
            </p:nvSpPr>
            <p:spPr>
              <a:xfrm>
                <a:off x="719" y="624"/>
                <a:ext cx="4320" cy="3696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99" name="Google Shape;899;p58"/>
              <p:cNvSpPr/>
              <p:nvPr/>
            </p:nvSpPr>
            <p:spPr>
              <a:xfrm rot="895740">
                <a:off x="1439" y="1104"/>
                <a:ext cx="2705" cy="2712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712" extrusionOk="0">
                    <a:moveTo>
                      <a:pt x="1160" y="1296"/>
                    </a:moveTo>
                    <a:cubicBezTo>
                      <a:pt x="1180" y="1100"/>
                      <a:pt x="1200" y="904"/>
                      <a:pt x="1304" y="864"/>
                    </a:cubicBezTo>
                    <a:cubicBezTo>
                      <a:pt x="1408" y="824"/>
                      <a:pt x="1736" y="952"/>
                      <a:pt x="1784" y="1056"/>
                    </a:cubicBezTo>
                    <a:cubicBezTo>
                      <a:pt x="1832" y="1160"/>
                      <a:pt x="1712" y="1384"/>
                      <a:pt x="1592" y="1488"/>
                    </a:cubicBezTo>
                    <a:cubicBezTo>
                      <a:pt x="1472" y="1592"/>
                      <a:pt x="1184" y="1712"/>
                      <a:pt x="1064" y="1680"/>
                    </a:cubicBezTo>
                    <a:cubicBezTo>
                      <a:pt x="944" y="1648"/>
                      <a:pt x="896" y="1416"/>
                      <a:pt x="872" y="1296"/>
                    </a:cubicBezTo>
                    <a:cubicBezTo>
                      <a:pt x="848" y="1176"/>
                      <a:pt x="880" y="1064"/>
                      <a:pt x="920" y="960"/>
                    </a:cubicBezTo>
                    <a:cubicBezTo>
                      <a:pt x="960" y="856"/>
                      <a:pt x="1016" y="736"/>
                      <a:pt x="1112" y="672"/>
                    </a:cubicBezTo>
                    <a:cubicBezTo>
                      <a:pt x="1208" y="608"/>
                      <a:pt x="1368" y="576"/>
                      <a:pt x="1496" y="576"/>
                    </a:cubicBezTo>
                    <a:cubicBezTo>
                      <a:pt x="1624" y="576"/>
                      <a:pt x="1784" y="608"/>
                      <a:pt x="1880" y="672"/>
                    </a:cubicBezTo>
                    <a:cubicBezTo>
                      <a:pt x="1976" y="736"/>
                      <a:pt x="2040" y="856"/>
                      <a:pt x="2072" y="960"/>
                    </a:cubicBezTo>
                    <a:cubicBezTo>
                      <a:pt x="2104" y="1064"/>
                      <a:pt x="2096" y="1200"/>
                      <a:pt x="2072" y="1296"/>
                    </a:cubicBezTo>
                    <a:cubicBezTo>
                      <a:pt x="2048" y="1392"/>
                      <a:pt x="2016" y="1440"/>
                      <a:pt x="1928" y="1536"/>
                    </a:cubicBezTo>
                    <a:cubicBezTo>
                      <a:pt x="1840" y="1632"/>
                      <a:pt x="1704" y="1800"/>
                      <a:pt x="1544" y="1872"/>
                    </a:cubicBezTo>
                    <a:cubicBezTo>
                      <a:pt x="1384" y="1944"/>
                      <a:pt x="1120" y="2048"/>
                      <a:pt x="968" y="1968"/>
                    </a:cubicBezTo>
                    <a:cubicBezTo>
                      <a:pt x="816" y="1888"/>
                      <a:pt x="688" y="1568"/>
                      <a:pt x="632" y="1392"/>
                    </a:cubicBezTo>
                    <a:cubicBezTo>
                      <a:pt x="576" y="1216"/>
                      <a:pt x="600" y="1032"/>
                      <a:pt x="632" y="912"/>
                    </a:cubicBezTo>
                    <a:cubicBezTo>
                      <a:pt x="664" y="792"/>
                      <a:pt x="712" y="768"/>
                      <a:pt x="824" y="672"/>
                    </a:cubicBezTo>
                    <a:cubicBezTo>
                      <a:pt x="936" y="576"/>
                      <a:pt x="1120" y="376"/>
                      <a:pt x="1304" y="336"/>
                    </a:cubicBezTo>
                    <a:cubicBezTo>
                      <a:pt x="1488" y="296"/>
                      <a:pt x="1776" y="368"/>
                      <a:pt x="1928" y="432"/>
                    </a:cubicBezTo>
                    <a:cubicBezTo>
                      <a:pt x="2080" y="496"/>
                      <a:pt x="2144" y="560"/>
                      <a:pt x="2216" y="720"/>
                    </a:cubicBezTo>
                    <a:cubicBezTo>
                      <a:pt x="2288" y="880"/>
                      <a:pt x="2384" y="1200"/>
                      <a:pt x="2360" y="1392"/>
                    </a:cubicBezTo>
                    <a:cubicBezTo>
                      <a:pt x="2336" y="1584"/>
                      <a:pt x="2224" y="1720"/>
                      <a:pt x="2072" y="1872"/>
                    </a:cubicBezTo>
                    <a:cubicBezTo>
                      <a:pt x="1920" y="2024"/>
                      <a:pt x="1688" y="2272"/>
                      <a:pt x="1448" y="2304"/>
                    </a:cubicBezTo>
                    <a:cubicBezTo>
                      <a:pt x="1208" y="2336"/>
                      <a:pt x="816" y="2160"/>
                      <a:pt x="632" y="2064"/>
                    </a:cubicBezTo>
                    <a:cubicBezTo>
                      <a:pt x="448" y="1968"/>
                      <a:pt x="392" y="1928"/>
                      <a:pt x="344" y="1728"/>
                    </a:cubicBezTo>
                    <a:cubicBezTo>
                      <a:pt x="296" y="1528"/>
                      <a:pt x="280" y="1088"/>
                      <a:pt x="344" y="864"/>
                    </a:cubicBezTo>
                    <a:cubicBezTo>
                      <a:pt x="408" y="640"/>
                      <a:pt x="576" y="520"/>
                      <a:pt x="728" y="384"/>
                    </a:cubicBezTo>
                    <a:cubicBezTo>
                      <a:pt x="880" y="248"/>
                      <a:pt x="1040" y="88"/>
                      <a:pt x="1256" y="48"/>
                    </a:cubicBezTo>
                    <a:cubicBezTo>
                      <a:pt x="1472" y="8"/>
                      <a:pt x="1800" y="24"/>
                      <a:pt x="2024" y="144"/>
                    </a:cubicBezTo>
                    <a:cubicBezTo>
                      <a:pt x="2248" y="264"/>
                      <a:pt x="2496" y="576"/>
                      <a:pt x="2600" y="768"/>
                    </a:cubicBezTo>
                    <a:cubicBezTo>
                      <a:pt x="2704" y="960"/>
                      <a:pt x="2688" y="1072"/>
                      <a:pt x="2648" y="1296"/>
                    </a:cubicBezTo>
                    <a:cubicBezTo>
                      <a:pt x="2608" y="1520"/>
                      <a:pt x="2528" y="1888"/>
                      <a:pt x="2360" y="2112"/>
                    </a:cubicBezTo>
                    <a:cubicBezTo>
                      <a:pt x="2192" y="2336"/>
                      <a:pt x="1888" y="2568"/>
                      <a:pt x="1640" y="2640"/>
                    </a:cubicBezTo>
                    <a:cubicBezTo>
                      <a:pt x="1392" y="2712"/>
                      <a:pt x="1080" y="2600"/>
                      <a:pt x="872" y="2544"/>
                    </a:cubicBezTo>
                    <a:cubicBezTo>
                      <a:pt x="664" y="2488"/>
                      <a:pt x="520" y="2400"/>
                      <a:pt x="392" y="2304"/>
                    </a:cubicBezTo>
                    <a:cubicBezTo>
                      <a:pt x="264" y="2208"/>
                      <a:pt x="168" y="2128"/>
                      <a:pt x="104" y="1968"/>
                    </a:cubicBezTo>
                    <a:cubicBezTo>
                      <a:pt x="40" y="1808"/>
                      <a:pt x="0" y="1568"/>
                      <a:pt x="8" y="1344"/>
                    </a:cubicBezTo>
                    <a:cubicBezTo>
                      <a:pt x="16" y="1120"/>
                      <a:pt x="48" y="848"/>
                      <a:pt x="152" y="624"/>
                    </a:cubicBezTo>
                    <a:cubicBezTo>
                      <a:pt x="256" y="400"/>
                      <a:pt x="552" y="104"/>
                      <a:pt x="632" y="0"/>
                    </a:cubicBezTo>
                  </a:path>
                </a:pathLst>
              </a:cu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900" name="Google Shape;900;p58"/>
              <p:cNvCxnSpPr/>
              <p:nvPr/>
            </p:nvCxnSpPr>
            <p:spPr>
              <a:xfrm>
                <a:off x="719" y="2352"/>
                <a:ext cx="432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1" name="Google Shape;901;p58"/>
              <p:cNvCxnSpPr/>
              <p:nvPr/>
            </p:nvCxnSpPr>
            <p:spPr>
              <a:xfrm>
                <a:off x="2880" y="624"/>
                <a:ext cx="0" cy="36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02" name="Google Shape;902;p58"/>
              <p:cNvSpPr/>
              <p:nvPr/>
            </p:nvSpPr>
            <p:spPr>
              <a:xfrm>
                <a:off x="719" y="624"/>
                <a:ext cx="1466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000" b="0" i="0" u="none" strike="noStrike" cap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Planejamento</a:t>
                </a:r>
                <a:endParaRPr/>
              </a:p>
            </p:txBody>
          </p:sp>
        </p:grpSp>
        <p:sp>
          <p:nvSpPr>
            <p:cNvPr id="903" name="Google Shape;903;p58"/>
            <p:cNvSpPr txBox="1"/>
            <p:nvPr/>
          </p:nvSpPr>
          <p:spPr>
            <a:xfrm>
              <a:off x="4737277" y="838200"/>
              <a:ext cx="2744566" cy="472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Análise de riscos</a:t>
              </a:r>
              <a:endParaRPr/>
            </a:p>
          </p:txBody>
        </p:sp>
        <p:sp>
          <p:nvSpPr>
            <p:cNvPr id="904" name="Google Shape;904;p58"/>
            <p:cNvSpPr txBox="1"/>
            <p:nvPr/>
          </p:nvSpPr>
          <p:spPr>
            <a:xfrm>
              <a:off x="5758294" y="6192296"/>
              <a:ext cx="1931499" cy="473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Construção</a:t>
              </a:r>
              <a:endParaRPr/>
            </a:p>
          </p:txBody>
        </p:sp>
        <p:sp>
          <p:nvSpPr>
            <p:cNvPr id="905" name="Google Shape;905;p58"/>
            <p:cNvSpPr txBox="1"/>
            <p:nvPr/>
          </p:nvSpPr>
          <p:spPr>
            <a:xfrm>
              <a:off x="1142178" y="6192296"/>
              <a:ext cx="3248516" cy="473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Avaliação do cliente</a:t>
              </a:r>
              <a:endParaRPr/>
            </a:p>
          </p:txBody>
        </p:sp>
        <p:sp>
          <p:nvSpPr>
            <p:cNvPr id="906" name="Google Shape;906;p58"/>
            <p:cNvSpPr txBox="1"/>
            <p:nvPr/>
          </p:nvSpPr>
          <p:spPr>
            <a:xfrm>
              <a:off x="76200" y="1447045"/>
              <a:ext cx="2027044" cy="11258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Coleta inicial dos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requisitos 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planejamento do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projeto</a:t>
              </a:r>
              <a:endParaRPr/>
            </a:p>
          </p:txBody>
        </p:sp>
        <p:cxnSp>
          <p:nvCxnSpPr>
            <p:cNvPr id="907" name="Google Shape;907;p58"/>
            <p:cNvCxnSpPr/>
            <p:nvPr/>
          </p:nvCxnSpPr>
          <p:spPr>
            <a:xfrm>
              <a:off x="1599294" y="1980957"/>
              <a:ext cx="2667755" cy="129637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08" name="Google Shape;908;p58"/>
            <p:cNvSpPr txBox="1"/>
            <p:nvPr/>
          </p:nvSpPr>
          <p:spPr>
            <a:xfrm>
              <a:off x="6934803" y="1829213"/>
              <a:ext cx="2939401" cy="6163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Análise de riscos baseada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nos requisitos iniciais</a:t>
              </a:r>
              <a:endParaRPr/>
            </a:p>
          </p:txBody>
        </p:sp>
        <p:cxnSp>
          <p:nvCxnSpPr>
            <p:cNvPr id="909" name="Google Shape;909;p58"/>
            <p:cNvCxnSpPr/>
            <p:nvPr/>
          </p:nvCxnSpPr>
          <p:spPr>
            <a:xfrm rot="-165299" flipH="1">
              <a:off x="5029531" y="2132699"/>
              <a:ext cx="1751651" cy="106782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0" name="Google Shape;910;p58"/>
            <p:cNvSpPr txBox="1"/>
            <p:nvPr/>
          </p:nvSpPr>
          <p:spPr>
            <a:xfrm>
              <a:off x="6934803" y="2514867"/>
              <a:ext cx="2939401" cy="6163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Análise de riscos baseada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na reação do cliente</a:t>
              </a:r>
              <a:endParaRPr/>
            </a:p>
          </p:txBody>
        </p:sp>
        <p:cxnSp>
          <p:nvCxnSpPr>
            <p:cNvPr id="911" name="Google Shape;911;p58"/>
            <p:cNvCxnSpPr/>
            <p:nvPr/>
          </p:nvCxnSpPr>
          <p:spPr>
            <a:xfrm rot="-439219" flipH="1">
              <a:off x="5638394" y="2820227"/>
              <a:ext cx="1142788" cy="38029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2" name="Google Shape;912;p58"/>
            <p:cNvSpPr txBox="1"/>
            <p:nvPr/>
          </p:nvSpPr>
          <p:spPr>
            <a:xfrm>
              <a:off x="6934803" y="3901162"/>
              <a:ext cx="1856562" cy="8729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Protótipo de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software inicial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913" name="Google Shape;913;p58"/>
            <p:cNvCxnSpPr/>
            <p:nvPr/>
          </p:nvCxnSpPr>
          <p:spPr>
            <a:xfrm rot="10800000">
              <a:off x="5104468" y="3734433"/>
              <a:ext cx="1753524" cy="38029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4" name="Google Shape;914;p58"/>
            <p:cNvSpPr txBox="1"/>
            <p:nvPr/>
          </p:nvSpPr>
          <p:spPr>
            <a:xfrm>
              <a:off x="6934803" y="4603677"/>
              <a:ext cx="1716056" cy="8711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Protótipo no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nível seguinte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915" name="Google Shape;915;p58"/>
            <p:cNvCxnSpPr/>
            <p:nvPr/>
          </p:nvCxnSpPr>
          <p:spPr>
            <a:xfrm rot="10800000">
              <a:off x="5334900" y="4191535"/>
              <a:ext cx="1523093" cy="60884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6" name="Google Shape;916;p58"/>
            <p:cNvSpPr txBox="1"/>
            <p:nvPr/>
          </p:nvSpPr>
          <p:spPr>
            <a:xfrm>
              <a:off x="6934803" y="5289331"/>
              <a:ext cx="2266842" cy="618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Sistema construído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pela engenharia</a:t>
              </a:r>
              <a:endParaRPr/>
            </a:p>
          </p:txBody>
        </p:sp>
        <p:cxnSp>
          <p:nvCxnSpPr>
            <p:cNvPr id="917" name="Google Shape;917;p58"/>
            <p:cNvCxnSpPr/>
            <p:nvPr/>
          </p:nvCxnSpPr>
          <p:spPr>
            <a:xfrm rot="10800000">
              <a:off x="5486647" y="4723573"/>
              <a:ext cx="1448157" cy="7624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8" name="Google Shape;918;p58"/>
            <p:cNvSpPr txBox="1"/>
            <p:nvPr/>
          </p:nvSpPr>
          <p:spPr>
            <a:xfrm>
              <a:off x="6857992" y="3309177"/>
              <a:ext cx="2682835" cy="61744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i="0" u="none" strike="noStrike" cap="none">
                  <a:solidFill>
                    <a:srgbClr val="002060"/>
                  </a:solidFill>
                  <a:latin typeface="Tahoma"/>
                  <a:ea typeface="Tahoma"/>
                  <a:cs typeface="Tahoma"/>
                  <a:sym typeface="Tahoma"/>
                </a:rPr>
                <a:t>Decisão de prosseguir/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i="0" u="none" strike="noStrike" cap="none">
                  <a:solidFill>
                    <a:srgbClr val="002060"/>
                  </a:solidFill>
                  <a:latin typeface="Tahoma"/>
                  <a:ea typeface="Tahoma"/>
                  <a:cs typeface="Tahoma"/>
                  <a:sym typeface="Tahoma"/>
                </a:rPr>
                <a:t>não prosseguir</a:t>
              </a:r>
              <a:endParaRPr/>
            </a:p>
          </p:txBody>
        </p:sp>
        <p:sp>
          <p:nvSpPr>
            <p:cNvPr id="919" name="Google Shape;919;p58"/>
            <p:cNvSpPr txBox="1"/>
            <p:nvPr/>
          </p:nvSpPr>
          <p:spPr>
            <a:xfrm>
              <a:off x="169871" y="4375126"/>
              <a:ext cx="2343653" cy="363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Avaliação do cliente</a:t>
              </a:r>
              <a:endParaRPr/>
            </a:p>
          </p:txBody>
        </p:sp>
        <p:cxnSp>
          <p:nvCxnSpPr>
            <p:cNvPr id="920" name="Google Shape;920;p58"/>
            <p:cNvCxnSpPr/>
            <p:nvPr/>
          </p:nvCxnSpPr>
          <p:spPr>
            <a:xfrm rot="10800000" flipH="1">
              <a:off x="1981472" y="3886175"/>
              <a:ext cx="1751650" cy="60884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1" name="Google Shape;921;p58"/>
            <p:cNvCxnSpPr/>
            <p:nvPr/>
          </p:nvCxnSpPr>
          <p:spPr>
            <a:xfrm rot="10800000" flipH="1">
              <a:off x="1981472" y="4266470"/>
              <a:ext cx="1448156" cy="22855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2" name="Google Shape;922;p58"/>
            <p:cNvCxnSpPr/>
            <p:nvPr/>
          </p:nvCxnSpPr>
          <p:spPr>
            <a:xfrm>
              <a:off x="1981472" y="4495021"/>
              <a:ext cx="1065977" cy="7680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23" name="Google Shape;923;p58"/>
            <p:cNvSpPr txBox="1"/>
            <p:nvPr/>
          </p:nvSpPr>
          <p:spPr>
            <a:xfrm>
              <a:off x="76200" y="2743418"/>
              <a:ext cx="2650895" cy="871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Planejamento baseado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nos comentários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do cliente</a:t>
              </a:r>
              <a:endParaRPr/>
            </a:p>
          </p:txBody>
        </p:sp>
        <p:cxnSp>
          <p:nvCxnSpPr>
            <p:cNvPr id="924" name="Google Shape;924;p58"/>
            <p:cNvCxnSpPr/>
            <p:nvPr/>
          </p:nvCxnSpPr>
          <p:spPr>
            <a:xfrm>
              <a:off x="2058282" y="2971970"/>
              <a:ext cx="1674840" cy="3053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5" name="Google Shape;925;p58"/>
            <p:cNvCxnSpPr/>
            <p:nvPr/>
          </p:nvCxnSpPr>
          <p:spPr>
            <a:xfrm>
              <a:off x="2058282" y="2971970"/>
              <a:ext cx="1217725" cy="38029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6" name="Google Shape;926;p58"/>
            <p:cNvCxnSpPr/>
            <p:nvPr/>
          </p:nvCxnSpPr>
          <p:spPr>
            <a:xfrm>
              <a:off x="2058282" y="2971970"/>
              <a:ext cx="760610" cy="38029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</a:t>
            </a:r>
            <a:endParaRPr/>
          </a:p>
        </p:txBody>
      </p:sp>
      <p:sp>
        <p:nvSpPr>
          <p:cNvPr id="932" name="Google Shape;932;p59"/>
          <p:cNvSpPr txBox="1"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Planejamento: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Determinação dos objetivos, alternativas e restrições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Análise de Risco: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Análise de alternativas e identificação / resolução de riscos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Construção: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Desenvolvimento do produto no nível seguinte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Avaliação do Cliente: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Avaliação do produto e planejamento das novas fases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9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9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AFCF9-691A-4BFA-8A9E-D15ABEFE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29DE26-02F4-4D16-BF73-9F5A78039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Cada iteração ou volta é dedicada a uma fase do processo de vida de um software (viabilidade do projeto, definição de requisitos, desenvolvimento e teste,...). Ao mesmo tempo, cada volta é seccionada em 4 setores, da seguinte forma:</a:t>
            </a:r>
          </a:p>
        </p:txBody>
      </p:sp>
    </p:spTree>
    <p:extLst>
      <p:ext uri="{BB962C8B-B14F-4D97-AF65-F5344CB8AC3E}">
        <p14:creationId xmlns:p14="http://schemas.microsoft.com/office/powerpoint/2010/main" val="2330301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A8629-C3FB-45B1-B284-8FA69E34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PRIMEIRA ITERAÇÃO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A7AB9-BBB8-46E1-B2B2-EBECF9EB1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Iteração #1: Viabilidade do projeto:</a:t>
            </a:r>
          </a:p>
          <a:p>
            <a:pPr lvl="1"/>
            <a:r>
              <a:rPr lang="pt-BR" dirty="0"/>
              <a:t>1.1. Definição de objetivos;</a:t>
            </a:r>
          </a:p>
          <a:p>
            <a:pPr lvl="1"/>
            <a:r>
              <a:rPr lang="pt-BR" dirty="0"/>
              <a:t>1.2. Avaliação e redução de riscos;</a:t>
            </a:r>
          </a:p>
          <a:p>
            <a:pPr lvl="1"/>
            <a:r>
              <a:rPr lang="pt-BR" dirty="0"/>
              <a:t>1.3. Desenvolvimento e validação;</a:t>
            </a:r>
          </a:p>
          <a:p>
            <a:pPr lvl="1"/>
            <a:r>
              <a:rPr lang="pt-BR" dirty="0"/>
              <a:t>1.4. Planejamento da próxima fase;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47929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A8629-C3FB-45B1-B284-8FA69E34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SEGUNDA ITERAÇÃO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A7AB9-BBB8-46E1-B2B2-EBECF9EB1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Iteração #2: Definição de requisitos do sistema:</a:t>
            </a:r>
          </a:p>
          <a:p>
            <a:pPr lvl="1"/>
            <a:r>
              <a:rPr lang="pt-BR" dirty="0"/>
              <a:t>2.1. Definição dos objetivos;</a:t>
            </a:r>
          </a:p>
          <a:p>
            <a:pPr lvl="1"/>
            <a:r>
              <a:rPr lang="pt-BR" dirty="0"/>
              <a:t>2.2. Avaliação e redução de riscos;</a:t>
            </a:r>
          </a:p>
          <a:p>
            <a:pPr lvl="1"/>
            <a:r>
              <a:rPr lang="pt-BR" dirty="0"/>
              <a:t>2.3. Desenvolvimento e validação;</a:t>
            </a:r>
          </a:p>
          <a:p>
            <a:pPr lvl="1"/>
            <a:r>
              <a:rPr lang="pt-BR" dirty="0"/>
              <a:t>2.4. Planejamento da próxima fase;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48617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A8629-C3FB-45B1-B284-8FA69E34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OUTRAS ITERAÇÕES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A7AB9-BBB8-46E1-B2B2-EBECF9EB1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pic>
        <p:nvPicPr>
          <p:cNvPr id="3074" name="Picture 2" descr="Modelo Espiral">
            <a:extLst>
              <a:ext uri="{FF2B5EF4-FFF2-40B4-BE49-F238E27FC236}">
                <a16:creationId xmlns:a16="http://schemas.microsoft.com/office/drawing/2014/main" id="{F7174F99-5300-423A-9A6D-4BFE372A8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75" y="1600200"/>
            <a:ext cx="619169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9617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2821B-2EE8-6EDA-3AC4-8CB61745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Alguns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9D6B62-9669-08CD-0483-A3BD3BD8C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Kendall et al., 2007 </a:t>
            </a:r>
          </a:p>
          <a:p>
            <a:r>
              <a:rPr lang="pt-BR" sz="2400" dirty="0"/>
              <a:t>A.  Riscos do Ciclo de Desenvolvimento  - Riscos de Requisitos - Riscos de Projeto (Design) - Riscos de Implementação - Riscos de Teste e Avaliação  </a:t>
            </a:r>
          </a:p>
          <a:p>
            <a:r>
              <a:rPr lang="pt-BR" sz="2400" dirty="0"/>
              <a:t>B.  Riscos do Ambiente de Desenvolvimento - Riscos do Processo de Desenvolvimento - Riscos do Desenvolvimento do sistema - Riscos de Gestão do Processo - Riscos de Métodos de Gestão - Riscos do Ambiente de Trabalho </a:t>
            </a:r>
          </a:p>
          <a:p>
            <a:r>
              <a:rPr lang="pt-BR" sz="2400" dirty="0"/>
              <a:t>C. Riscos Programáticos - Riscos Relacionados a Recursos  - Riscos Relacionados a Contratos - Riscos de Interface (Comunicação).</a:t>
            </a:r>
          </a:p>
        </p:txBody>
      </p:sp>
    </p:spTree>
    <p:extLst>
      <p:ext uri="{BB962C8B-B14F-4D97-AF65-F5344CB8AC3E}">
        <p14:creationId xmlns:p14="http://schemas.microsoft.com/office/powerpoint/2010/main" val="22024680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2DAF2-4379-2AB1-CC87-D2F120DF0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8ACFB-ADA0-8A14-62AD-2482A47CF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Barki et al. (2001)  </a:t>
            </a:r>
          </a:p>
          <a:p>
            <a:r>
              <a:rPr lang="pt-BR" dirty="0"/>
              <a:t>Novidade Tecnológica, </a:t>
            </a:r>
          </a:p>
          <a:p>
            <a:r>
              <a:rPr lang="pt-BR" dirty="0"/>
              <a:t>Tamanho da Aplicação, </a:t>
            </a:r>
          </a:p>
          <a:p>
            <a:r>
              <a:rPr lang="pt-BR" dirty="0"/>
              <a:t>Falta de Expertise, </a:t>
            </a:r>
          </a:p>
          <a:p>
            <a:r>
              <a:rPr lang="pt-BR" dirty="0"/>
              <a:t>Complexidade da Aplicação, </a:t>
            </a:r>
          </a:p>
          <a:p>
            <a:r>
              <a:rPr lang="pt-BR" dirty="0"/>
              <a:t>Ambiente Organizacional </a:t>
            </a:r>
          </a:p>
        </p:txBody>
      </p:sp>
    </p:spTree>
    <p:extLst>
      <p:ext uri="{BB962C8B-B14F-4D97-AF65-F5344CB8AC3E}">
        <p14:creationId xmlns:p14="http://schemas.microsoft.com/office/powerpoint/2010/main" val="42282395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4B304-2EE5-944C-7CE6-7D65CB48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23F4C1-13E1-C1C4-5228-49C19ED6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Schmidt et al.(2001)  Ambiente, Relação com o patrocinador/ proprietário do sistema, Relacionamento com o Usuário, Gerenciamento, Escopo do Sistema, Requerimentos, Gerenciamento de Recursos, Controle de Recursos, Processo, Habilidades, Pessoal, Tecnologia, Ambiente de Desenvolvimento e Planejamento (Classificação em 14 tipos, de acordo com a fonte ou natureza do risco) </a:t>
            </a:r>
          </a:p>
        </p:txBody>
      </p:sp>
    </p:spTree>
    <p:extLst>
      <p:ext uri="{BB962C8B-B14F-4D97-AF65-F5344CB8AC3E}">
        <p14:creationId xmlns:p14="http://schemas.microsoft.com/office/powerpoint/2010/main" val="41805634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green and black text on a green background&#10;&#10;Description automatically generated">
            <a:extLst>
              <a:ext uri="{FF2B5EF4-FFF2-40B4-BE49-F238E27FC236}">
                <a16:creationId xmlns:a16="http://schemas.microsoft.com/office/drawing/2014/main" id="{CDAA12B6-FC9F-CD67-7D1F-249D687A51E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/>
        </p:blipFill>
        <p:spPr>
          <a:xfrm>
            <a:off x="90488" y="1199448"/>
            <a:ext cx="8963025" cy="445910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9212469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1102708" y="868860"/>
            <a:ext cx="7201710" cy="78624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pt-BR" sz="2400" cap="all" spc="-1" dirty="0">
                <a:solidFill>
                  <a:srgbClr val="000000"/>
                </a:solidFill>
                <a:latin typeface="Calibri (Headings)"/>
              </a:rPr>
              <a:t>Análise do Risco</a:t>
            </a:r>
            <a:endParaRPr lang="pt-BR" sz="2400" spc="-1" dirty="0">
              <a:solidFill>
                <a:srgbClr val="000000"/>
              </a:solidFill>
              <a:latin typeface="Calibri (Headings)"/>
            </a:endParaRPr>
          </a:p>
        </p:txBody>
      </p:sp>
      <p:pic>
        <p:nvPicPr>
          <p:cNvPr id="299" name="Picture 3"/>
          <p:cNvPicPr/>
          <p:nvPr/>
        </p:nvPicPr>
        <p:blipFill>
          <a:blip r:embed="rId3"/>
          <a:stretch/>
        </p:blipFill>
        <p:spPr>
          <a:xfrm>
            <a:off x="1814130" y="2452410"/>
            <a:ext cx="5205600" cy="2859570"/>
          </a:xfrm>
          <a:prstGeom prst="rect">
            <a:avLst/>
          </a:prstGeom>
          <a:ln w="9525">
            <a:noFill/>
          </a:ln>
        </p:spPr>
      </p:pic>
      <p:sp>
        <p:nvSpPr>
          <p:cNvPr id="300" name="Speech Bubble: Rectangle with Corners Rounded 299"/>
          <p:cNvSpPr/>
          <p:nvPr/>
        </p:nvSpPr>
        <p:spPr>
          <a:xfrm>
            <a:off x="270000" y="2747250"/>
            <a:ext cx="1214730" cy="674730"/>
          </a:xfrm>
          <a:prstGeom prst="wedgeRoundRectCallout">
            <a:avLst>
              <a:gd name="adj1" fmla="val 73925"/>
              <a:gd name="adj2" fmla="val 104893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350" spc="-1">
                <a:latin typeface="Arial"/>
                <a:ea typeface="DejaVu Sans"/>
              </a:rPr>
              <a:t>Estar preparado</a:t>
            </a:r>
            <a:endParaRPr lang="pt-BR" sz="1350" spc="-1">
              <a:latin typeface="Arial"/>
            </a:endParaRPr>
          </a:p>
        </p:txBody>
      </p:sp>
      <p:sp>
        <p:nvSpPr>
          <p:cNvPr id="301" name="Speech Bubble: Rectangle with Corners Rounded 300"/>
          <p:cNvSpPr/>
          <p:nvPr/>
        </p:nvSpPr>
        <p:spPr>
          <a:xfrm>
            <a:off x="7020000" y="2612250"/>
            <a:ext cx="1484730" cy="674730"/>
          </a:xfrm>
          <a:prstGeom prst="wedgeRoundRectCallout">
            <a:avLst>
              <a:gd name="adj1" fmla="val -84462"/>
              <a:gd name="adj2" fmla="val 54037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350" spc="-1">
                <a:latin typeface="Arial"/>
                <a:ea typeface="DejaVu Sans"/>
              </a:rPr>
              <a:t>Plano de contingência</a:t>
            </a:r>
            <a:endParaRPr lang="pt-BR" sz="1350" spc="-1">
              <a:latin typeface="Arial"/>
            </a:endParaRPr>
          </a:p>
        </p:txBody>
      </p:sp>
      <p:sp>
        <p:nvSpPr>
          <p:cNvPr id="302" name="Speech Bubble: Rectangle with Corners Rounded 301"/>
          <p:cNvSpPr/>
          <p:nvPr/>
        </p:nvSpPr>
        <p:spPr>
          <a:xfrm>
            <a:off x="6885000" y="3827250"/>
            <a:ext cx="2159730" cy="674730"/>
          </a:xfrm>
          <a:prstGeom prst="wedgeRoundRectCallout">
            <a:avLst>
              <a:gd name="adj1" fmla="val -61083"/>
              <a:gd name="adj2" fmla="val 12930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350" spc="-1">
                <a:latin typeface="Arial"/>
                <a:ea typeface="DejaVu Sans"/>
              </a:rPr>
              <a:t>Depende da política da empresa (adversa ou não aos riscos)</a:t>
            </a:r>
            <a:endParaRPr lang="pt-BR" sz="1350" spc="-1">
              <a:latin typeface="Arial"/>
            </a:endParaRPr>
          </a:p>
        </p:txBody>
      </p:sp>
      <p:sp>
        <p:nvSpPr>
          <p:cNvPr id="303" name="Speech Bubble: Rectangle with Corners Rounded 302"/>
          <p:cNvSpPr/>
          <p:nvPr/>
        </p:nvSpPr>
        <p:spPr>
          <a:xfrm>
            <a:off x="2295000" y="1802250"/>
            <a:ext cx="2159730" cy="674730"/>
          </a:xfrm>
          <a:prstGeom prst="wedgeRoundRectCallout">
            <a:avLst>
              <a:gd name="adj1" fmla="val -1208"/>
              <a:gd name="adj2" fmla="val 77907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350" spc="-1">
                <a:latin typeface="Arial"/>
                <a:ea typeface="DejaVu Sans"/>
              </a:rPr>
              <a:t>Depende da política da empresa (adversa ou não aos riscos)</a:t>
            </a:r>
            <a:endParaRPr lang="pt-BR" sz="1350" spc="-1">
              <a:latin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1088640" y="1460700"/>
            <a:ext cx="7201710" cy="78624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pt-BR" sz="2400" cap="all" spc="-1" dirty="0">
                <a:solidFill>
                  <a:srgbClr val="000000"/>
                </a:solidFill>
              </a:rPr>
              <a:t>Tabela de Riscos</a:t>
            </a:r>
            <a:endParaRPr lang="pt-BR" sz="2400" spc="-1" dirty="0">
              <a:solidFill>
                <a:srgbClr val="000000"/>
              </a:solidFill>
            </a:endParaRPr>
          </a:p>
        </p:txBody>
      </p:sp>
      <p:graphicFrame>
        <p:nvGraphicFramePr>
          <p:cNvPr id="313" name="Group 3"/>
          <p:cNvGraphicFramePr/>
          <p:nvPr>
            <p:extLst>
              <p:ext uri="{D42A27DB-BD31-4B8C-83A1-F6EECF244321}">
                <p14:modId xmlns:p14="http://schemas.microsoft.com/office/powerpoint/2010/main" val="2314749834"/>
              </p:ext>
            </p:extLst>
          </p:nvPr>
        </p:nvGraphicFramePr>
        <p:xfrm>
          <a:off x="664200" y="2520450"/>
          <a:ext cx="7598070" cy="3000060"/>
        </p:xfrm>
        <a:graphic>
          <a:graphicData uri="http://schemas.openxmlformats.org/drawingml/2006/table">
            <a:tbl>
              <a:tblPr/>
              <a:tblGrid>
                <a:gridCol w="3042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1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Risco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1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Probabilidade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1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Efeitos</a:t>
                      </a:r>
                      <a:r>
                        <a:rPr lang="en-US" sz="21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US" sz="2100" b="1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ou</a:t>
                      </a:r>
                      <a:r>
                        <a:rPr lang="en-US" sz="21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US" sz="2100" b="1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Impacto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Pessoal doente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Moderada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Sério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Tamanho</a:t>
                      </a:r>
                      <a:r>
                        <a:rPr lang="en-US" sz="21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do software </a:t>
                      </a:r>
                      <a:r>
                        <a:rPr lang="en-US" sz="21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desconhecido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Alta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Tolerável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...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…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…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Pessoal qualificado não disponível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Alta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Catastrófico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Ciclo de Vida em Espiral</a:t>
            </a:r>
            <a:br>
              <a:rPr lang="pt-BR"/>
            </a:br>
            <a:endParaRPr/>
          </a:p>
        </p:txBody>
      </p:sp>
      <p:sp>
        <p:nvSpPr>
          <p:cNvPr id="938" name="Google Shape;938;p6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 dirty="0"/>
              <a:t>Usa uma abordagem que capacita o desenvolvedor e o cliente a entender e reagir aos </a:t>
            </a:r>
            <a:r>
              <a:rPr lang="pt-BR" dirty="0">
                <a:solidFill>
                  <a:srgbClr val="FF0000"/>
                </a:solidFill>
              </a:rPr>
              <a:t>riscos</a:t>
            </a:r>
            <a:r>
              <a:rPr lang="pt-BR" dirty="0"/>
              <a:t> em cada etapa evolutiva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 dirty="0"/>
              <a:t>Pode ser difícil convencer os clientes que uma abordagem "evolutiva" é controlável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 dirty="0"/>
              <a:t>Exige considerável experiência na determinação de riscos e depende dessa experiência para ter sucesso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Ciclo de Vida em Espiral</a:t>
            </a:r>
            <a:br>
              <a:rPr lang="pt-BR"/>
            </a:br>
            <a:endParaRPr/>
          </a:p>
        </p:txBody>
      </p:sp>
      <p:sp>
        <p:nvSpPr>
          <p:cNvPr id="944" name="Google Shape;944;p6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Não tem sido amplamente usado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Demorará muitos anos até que a eficácia desse modelo possa ser determinada com certeza absoluta.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D3CDE-3DEF-7870-FC0D-EB19DBF2A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1"/>
              <a:t>Desvantagem dos modelos evolucionários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436D3-E897-C685-A972-FD5FF6FCD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primeira delas é que a prototipação [e outros processos evolucionários mais sofisticados traz um problema para o planejamento do projeto devido ao número incerto de ciclos necessários para construir o produto.</a:t>
            </a:r>
          </a:p>
          <a:p>
            <a:r>
              <a:rPr lang="pt-BR" dirty="0"/>
              <a:t>Não estabelecem a velocidade máxima da evolução. Se for </a:t>
            </a:r>
            <a:r>
              <a:rPr lang="pt-BR" dirty="0" err="1"/>
              <a:t>rápidapode</a:t>
            </a:r>
            <a:r>
              <a:rPr lang="pt-BR" dirty="0"/>
              <a:t> comprometer a qualidade, se for muito lenta, a produtividade poderia ser afetada...</a:t>
            </a:r>
          </a:p>
        </p:txBody>
      </p:sp>
    </p:spTree>
    <p:extLst>
      <p:ext uri="{BB962C8B-B14F-4D97-AF65-F5344CB8AC3E}">
        <p14:creationId xmlns:p14="http://schemas.microsoft.com/office/powerpoint/2010/main" val="4626128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59E1-B9A2-78B8-29E8-B1812545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B230D-1EBE-B49B-3B06-C2C491B68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Variação na representação do modelo cascata.</a:t>
            </a:r>
          </a:p>
          <a:p>
            <a:r>
              <a:rPr lang="pt-BR" dirty="0"/>
              <a:t>Descreve a relação entre ações de garantia da qualidade e as ações associadas à comunicação, modelagem e atividades de construção iniciais. </a:t>
            </a:r>
          </a:p>
          <a:p>
            <a:r>
              <a:rPr lang="pt-BR" dirty="0"/>
              <a:t>À medida que a equipe de software desce em direção ao lado esquerdo do V, os requisitos básicos do problema são refinados em representações cada vez mais detalhadas e técnicas do problema e de sua solução.</a:t>
            </a:r>
          </a:p>
        </p:txBody>
      </p:sp>
    </p:spTree>
    <p:extLst>
      <p:ext uri="{BB962C8B-B14F-4D97-AF65-F5344CB8AC3E}">
        <p14:creationId xmlns:p14="http://schemas.microsoft.com/office/powerpoint/2010/main" val="21254463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8F7EA-26C7-2590-C406-3FDDD79CF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r>
              <a:rPr lang="pt-BR" dirty="0"/>
              <a:t>Modelo V</a:t>
            </a:r>
          </a:p>
        </p:txBody>
      </p:sp>
      <p:pic>
        <p:nvPicPr>
          <p:cNvPr id="5" name="Content Placeholder 4" descr="A diagram of software testing&#10;&#10;Description automatically generated">
            <a:extLst>
              <a:ext uri="{FF2B5EF4-FFF2-40B4-BE49-F238E27FC236}">
                <a16:creationId xmlns:a16="http://schemas.microsoft.com/office/drawing/2014/main" id="{E7CD1308-2C5C-C089-59A0-1987DB080F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884268"/>
            <a:ext cx="4038600" cy="3957827"/>
          </a:xfr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8640AB2-0650-A58B-A321-993FF78DA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r>
              <a:rPr lang="pt-BR" dirty="0"/>
              <a:t>lado direito do V, uma série de testes (ações de garantia da qualidade) que validem cada um dos modelos criados à medida que a equipe se desloca para</a:t>
            </a:r>
          </a:p>
          <a:p>
            <a:r>
              <a:rPr lang="pt-BR" dirty="0"/>
              <a:t>baixo, no lado esquerdo do V.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62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1CC82-EDB4-049E-236A-237F465D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36BCB-B7BC-9618-0F1F-788F8FDDD8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Vantagem</a:t>
            </a:r>
          </a:p>
          <a:p>
            <a:r>
              <a:rPr lang="pt-BR" dirty="0"/>
              <a:t>O modelo V fornece uma forma para visualizar como a verificação e as ações de validação são aplicadas ao trabalho de engenharia anterior.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15144-EFFF-C5BC-88FA-03254C69CE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noProof="1"/>
              <a:t>Desvantagem</a:t>
            </a:r>
          </a:p>
          <a:p>
            <a:r>
              <a:rPr lang="pt-BR" dirty="0"/>
              <a:t>Não existe uma diferença fundamental entre o ciclo de vida clássico e o modelo V.</a:t>
            </a:r>
          </a:p>
        </p:txBody>
      </p:sp>
    </p:spTree>
    <p:extLst>
      <p:ext uri="{BB962C8B-B14F-4D97-AF65-F5344CB8AC3E}">
        <p14:creationId xmlns:p14="http://schemas.microsoft.com/office/powerpoint/2010/main" val="40534433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Técnicas de 4a Geração</a:t>
            </a:r>
            <a:endParaRPr/>
          </a:p>
        </p:txBody>
      </p:sp>
      <p:sp>
        <p:nvSpPr>
          <p:cNvPr id="950" name="Google Shape;950;p6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Concentra-se na capacidade de se especificar o software para uma máquina em um nível que esteja próximo à linguagem natural.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Engloba um conjunto de ferramentas de software que possibilitam que: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o sistema seja especificado em uma linguagem de alto nível e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o código fonte seja gerado automaticamente a partir dessas especificações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5" name="Google Shape;955;p63"/>
          <p:cNvGrpSpPr/>
          <p:nvPr/>
        </p:nvGrpSpPr>
        <p:grpSpPr>
          <a:xfrm>
            <a:off x="1835150" y="2133600"/>
            <a:ext cx="5997575" cy="3662363"/>
            <a:chOff x="1251" y="1168"/>
            <a:chExt cx="3778" cy="2307"/>
          </a:xfrm>
        </p:grpSpPr>
        <p:sp>
          <p:nvSpPr>
            <p:cNvPr id="956" name="Google Shape;956;p63">
              <a:hlinkClick r:id="rId3" action="ppaction://hlinksldjump"/>
            </p:cNvPr>
            <p:cNvSpPr/>
            <p:nvPr/>
          </p:nvSpPr>
          <p:spPr>
            <a:xfrm>
              <a:off x="2928" y="1824"/>
              <a:ext cx="960" cy="48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accent1"/>
            </a:solidFill>
            <a:ln w="12700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7" name="Google Shape;957;p63">
              <a:hlinkClick r:id="rId4" action="ppaction://hlinksldjump"/>
            </p:cNvPr>
            <p:cNvSpPr/>
            <p:nvPr/>
          </p:nvSpPr>
          <p:spPr>
            <a:xfrm>
              <a:off x="2112" y="1536"/>
              <a:ext cx="1008" cy="48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accent1"/>
            </a:solidFill>
            <a:ln w="12700" cap="sq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8" name="Google Shape;958;p63"/>
            <p:cNvSpPr/>
            <p:nvPr/>
          </p:nvSpPr>
          <p:spPr>
            <a:xfrm>
              <a:off x="1251" y="1168"/>
              <a:ext cx="1238" cy="57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07763" dir="8100000" algn="ctr" rotWithShape="0">
                <a:srgbClr val="80808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 i="0" u="none" strike="noStrike" cap="none">
                  <a:solidFill>
                    <a:srgbClr val="FF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Obtenção dos Requisitos</a:t>
              </a:r>
              <a:endParaRPr/>
            </a:p>
          </p:txBody>
        </p:sp>
        <p:sp>
          <p:nvSpPr>
            <p:cNvPr id="959" name="Google Shape;959;p63"/>
            <p:cNvSpPr/>
            <p:nvPr/>
          </p:nvSpPr>
          <p:spPr>
            <a:xfrm>
              <a:off x="2098" y="1489"/>
              <a:ext cx="1238" cy="57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07763" dir="8100000" algn="ctr" rotWithShape="0">
                <a:srgbClr val="80808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 i="0" u="none" strike="noStrike" cap="none">
                  <a:solidFill>
                    <a:srgbClr val="FF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Estratégia do “Projeto” </a:t>
              </a:r>
              <a:endParaRPr/>
            </a:p>
          </p:txBody>
        </p:sp>
        <p:sp>
          <p:nvSpPr>
            <p:cNvPr id="960" name="Google Shape;960;p63"/>
            <p:cNvSpPr/>
            <p:nvPr/>
          </p:nvSpPr>
          <p:spPr>
            <a:xfrm>
              <a:off x="2880" y="1809"/>
              <a:ext cx="1238" cy="57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07763" dir="8100000" algn="ctr" rotWithShape="0">
                <a:srgbClr val="80808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 i="0" u="none" strike="noStrike" cap="none">
                  <a:solidFill>
                    <a:srgbClr val="FF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Implementação usando 4GL  </a:t>
              </a:r>
              <a:endParaRPr/>
            </a:p>
          </p:txBody>
        </p:sp>
        <p:sp>
          <p:nvSpPr>
            <p:cNvPr id="961" name="Google Shape;961;p63"/>
            <p:cNvSpPr/>
            <p:nvPr/>
          </p:nvSpPr>
          <p:spPr>
            <a:xfrm>
              <a:off x="3792" y="2129"/>
              <a:ext cx="1237" cy="57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07763" dir="8100000" algn="ctr" rotWithShape="0">
                <a:srgbClr val="808080"/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 dirty="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 </a:t>
              </a:r>
              <a:r>
                <a:rPr lang="pt-BR" sz="2000" b="1" i="0" u="none" strike="noStrike" cap="none" dirty="0">
                  <a:solidFill>
                    <a:srgbClr val="FF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Testes</a:t>
              </a:r>
              <a:r>
                <a:rPr lang="pt-BR" sz="1800" b="1" i="0" u="none" strike="noStrike" cap="none" dirty="0">
                  <a:solidFill>
                    <a:srgbClr val="FF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 </a:t>
              </a:r>
              <a:endParaRPr b="1" dirty="0"/>
            </a:p>
          </p:txBody>
        </p:sp>
        <p:cxnSp>
          <p:nvCxnSpPr>
            <p:cNvPr id="962" name="Google Shape;962;p63"/>
            <p:cNvCxnSpPr/>
            <p:nvPr/>
          </p:nvCxnSpPr>
          <p:spPr>
            <a:xfrm>
              <a:off x="2489" y="1360"/>
              <a:ext cx="326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3" name="Google Shape;963;p63"/>
            <p:cNvCxnSpPr/>
            <p:nvPr/>
          </p:nvCxnSpPr>
          <p:spPr>
            <a:xfrm>
              <a:off x="3336" y="1617"/>
              <a:ext cx="195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4" name="Google Shape;964;p63"/>
            <p:cNvCxnSpPr/>
            <p:nvPr/>
          </p:nvCxnSpPr>
          <p:spPr>
            <a:xfrm>
              <a:off x="4118" y="1937"/>
              <a:ext cx="195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5" name="Google Shape;965;p63"/>
            <p:cNvCxnSpPr/>
            <p:nvPr/>
          </p:nvCxnSpPr>
          <p:spPr>
            <a:xfrm>
              <a:off x="2815" y="1360"/>
              <a:ext cx="0" cy="12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66" name="Google Shape;966;p63"/>
            <p:cNvCxnSpPr/>
            <p:nvPr/>
          </p:nvCxnSpPr>
          <p:spPr>
            <a:xfrm>
              <a:off x="3531" y="1617"/>
              <a:ext cx="0" cy="192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67" name="Google Shape;967;p63"/>
            <p:cNvCxnSpPr/>
            <p:nvPr/>
          </p:nvCxnSpPr>
          <p:spPr>
            <a:xfrm>
              <a:off x="4313" y="1937"/>
              <a:ext cx="0" cy="192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68" name="Google Shape;968;p63"/>
            <p:cNvCxnSpPr/>
            <p:nvPr/>
          </p:nvCxnSpPr>
          <p:spPr>
            <a:xfrm>
              <a:off x="1707" y="3475"/>
              <a:ext cx="2476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9" name="Google Shape;969;p63"/>
            <p:cNvCxnSpPr/>
            <p:nvPr/>
          </p:nvCxnSpPr>
          <p:spPr>
            <a:xfrm>
              <a:off x="1707" y="1745"/>
              <a:ext cx="0" cy="173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70" name="Google Shape;970;p63"/>
            <p:cNvCxnSpPr/>
            <p:nvPr/>
          </p:nvCxnSpPr>
          <p:spPr>
            <a:xfrm>
              <a:off x="2554" y="2065"/>
              <a:ext cx="0" cy="141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71" name="Google Shape;971;p63"/>
            <p:cNvCxnSpPr/>
            <p:nvPr/>
          </p:nvCxnSpPr>
          <p:spPr>
            <a:xfrm>
              <a:off x="3206" y="2386"/>
              <a:ext cx="0" cy="108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72" name="Google Shape;972;p63"/>
            <p:cNvCxnSpPr/>
            <p:nvPr/>
          </p:nvCxnSpPr>
          <p:spPr>
            <a:xfrm>
              <a:off x="4183" y="2706"/>
              <a:ext cx="0" cy="769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973" name="Google Shape;973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Técnicas de 4a Geração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Ferramentas do ambiente de 4GL</a:t>
            </a:r>
            <a:endParaRPr/>
          </a:p>
        </p:txBody>
      </p:sp>
      <p:sp>
        <p:nvSpPr>
          <p:cNvPr id="979" name="Google Shape;979;p64"/>
          <p:cNvSpPr txBox="1"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O ambiente de desenvolvimento de software que sustenta o ciclo de vida de 4a geração inclui as ferramentas: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Linguagens não procedimentais para consulta de banco de  dados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Geração de relatórios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Manipulação de dados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Interação e definição de telas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Geração de códigos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Capacidade gráfica de alto nível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Capacidade de planilhas eletrônicas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5"/>
          <p:cNvSpPr txBox="1">
            <a:spLocks noGrp="1"/>
          </p:cNvSpPr>
          <p:nvPr>
            <p:ph type="title"/>
          </p:nvPr>
        </p:nvSpPr>
        <p:spPr>
          <a:xfrm>
            <a:off x="323528" y="1603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das Técnicas de 4aGL</a:t>
            </a:r>
            <a:endParaRPr/>
          </a:p>
        </p:txBody>
      </p:sp>
      <p:sp>
        <p:nvSpPr>
          <p:cNvPr id="985" name="Google Shape;985;p6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 dirty="0"/>
              <a:t>Obtenção dos Requisitos: 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 dirty="0"/>
              <a:t>o cliente descreve os requisitos os quais são traduzidos para um protótipo operacional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 dirty="0"/>
              <a:t>Problemas: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 dirty="0"/>
              <a:t>O cliente pode não conhecer os requisitos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 dirty="0"/>
              <a:t>O cliente pode ser incapaz de especificar as informações para a ferramenta 4GL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 dirty="0"/>
              <a:t>As 4GLs atuais não são sofisticadas suficientemente para acomodar a verdadeira "linguagem natural"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das Técnicas de 4aGL  </a:t>
            </a:r>
            <a:endParaRPr/>
          </a:p>
        </p:txBody>
      </p:sp>
      <p:sp>
        <p:nvSpPr>
          <p:cNvPr id="991" name="Google Shape;991;p6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Estratégia de "Projeto":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Para pequenas aplicações é possível mover-se do passo de  Obtenção dos Requisitos para o passo de Implementação usando uma Linguagem de 4G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Problemas: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Para grandes projetos é necessário desenvolver uma estratégia de projeto. 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pt-BR"/>
              <a:t>De outro modo ocorrerão os mesmos problemas encontrados quando se usa abordagem convencional (baixa qualidade)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</a:t>
            </a:r>
            <a:br>
              <a:rPr lang="pt-BR"/>
            </a:br>
            <a:endParaRPr/>
          </a:p>
        </p:txBody>
      </p:sp>
      <p:sp>
        <p:nvSpPr>
          <p:cNvPr id="997" name="Google Shape;997;p6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Implementação usando 4GL: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Os resultados desejados são representados de modo que haja geração automática de código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Deve existir uma estrutura de dados com informações relevantes e que seja acessível pela 4GL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</a:t>
            </a:r>
            <a:br>
              <a:rPr lang="pt-BR"/>
            </a:br>
            <a:endParaRPr/>
          </a:p>
        </p:txBody>
      </p:sp>
      <p:sp>
        <p:nvSpPr>
          <p:cNvPr id="1003" name="Google Shape;1003;p6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Teste: 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O desenvolvedor deve efetuar testes e desenvolver uma documentação significativa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O software desenvolvido deve ser construído de maneira que a manutenção possa ser efetuada prontamente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Técnicas de 4a Geração </a:t>
            </a:r>
            <a:br>
              <a:rPr lang="pt-BR"/>
            </a:br>
            <a:endParaRPr/>
          </a:p>
        </p:txBody>
      </p:sp>
      <p:sp>
        <p:nvSpPr>
          <p:cNvPr id="1009" name="Google Shape;1009;p6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PROPONENTES: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Redução dramática no tempo de desenvolvimento do software (aumento de produtividade)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OPONENTES: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As 4GL atuais não são mais fáceis de usar do que as linguagens de programação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O código fonte produzido é ineficiente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A manutenibilidade de sistemas usando técnicas 4G ainda é questionável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Baseada em componentes</a:t>
            </a:r>
            <a:endParaRPr/>
          </a:p>
        </p:txBody>
      </p:sp>
      <p:sp>
        <p:nvSpPr>
          <p:cNvPr id="1015" name="Google Shape;1015;p7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pt-BR" dirty="0"/>
              <a:t>Baseado em reuso sistemático onde sistemas são integrados a partir de componentes existentes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pt-BR" dirty="0"/>
              <a:t>Estágios do processo</a:t>
            </a:r>
            <a:endParaRPr dirty="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pt-BR" dirty="0"/>
              <a:t>Análise de componentes</a:t>
            </a:r>
            <a:endParaRPr dirty="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pt-BR" dirty="0"/>
              <a:t>Modificação de requisitos</a:t>
            </a:r>
            <a:endParaRPr dirty="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pt-BR" dirty="0"/>
              <a:t>Projeto de sistema com reuso</a:t>
            </a:r>
            <a:endParaRPr dirty="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pt-BR" dirty="0"/>
              <a:t>Desenvolvimento e integração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pt-BR" dirty="0"/>
              <a:t>Esta abordagem está se tornando cada vez mais usada à medida que padrões de componentes têm surgido</a:t>
            </a:r>
            <a:endParaRPr dirty="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pt-BR" dirty="0"/>
              <a:t>Reuso acidental vs. Reuso planejado</a:t>
            </a:r>
            <a:endParaRPr dirty="0"/>
          </a:p>
        </p:txBody>
      </p:sp>
      <p:pic>
        <p:nvPicPr>
          <p:cNvPr id="1016" name="Google Shape;1016;p70" descr="https://encrypted-tbn2.gstatic.com/images?q=tbn:ANd9GcQHVaONJ3_CEp8dhDfIrJByDd8Whv8hSgdNl78pJ5hfPKjn9wuDR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0063" y="2636838"/>
            <a:ext cx="26289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Processos Iterativos</a:t>
            </a:r>
            <a:endParaRPr/>
          </a:p>
        </p:txBody>
      </p:sp>
      <p:sp>
        <p:nvSpPr>
          <p:cNvPr id="1022" name="Google Shape;1022;p7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Requisitos de sistema sempre evoluem no curso de um projeto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Algum retrabalho é necessário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 abordagem iterativa pode ser aplicada a qualquer um dos modelos genéricos do processo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Duas abordagens (relacionadas)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Desenvolvimento espiral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Entrega incremental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 incremental</a:t>
            </a:r>
            <a:endParaRPr/>
          </a:p>
        </p:txBody>
      </p:sp>
      <p:sp>
        <p:nvSpPr>
          <p:cNvPr id="1028" name="Google Shape;1028;p72"/>
          <p:cNvSpPr txBox="1">
            <a:spLocks noGrp="1"/>
          </p:cNvSpPr>
          <p:nvPr>
            <p:ph idx="1"/>
          </p:nvPr>
        </p:nvSpPr>
        <p:spPr>
          <a:xfrm>
            <a:off x="395536" y="105273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O sistema é entregue ao cliente em incrementos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Cada incremento fornece parte da funcionalidade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Os requisitos são priorizados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Requisitos de prioridade mais alta são incluídos nos incrementos iniciais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Uma vez que o desenvolvimento de um incremento é iniciado, os requisitos são congelados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Os requisitos para os incrementos posteriores podem continuar evoluindo (e incluir requisitos já implementados)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Desenvolvimento incremental</a:t>
            </a:r>
            <a:endParaRPr/>
          </a:p>
        </p:txBody>
      </p:sp>
      <p:grpSp>
        <p:nvGrpSpPr>
          <p:cNvPr id="1034" name="Google Shape;1034;p73"/>
          <p:cNvGrpSpPr/>
          <p:nvPr/>
        </p:nvGrpSpPr>
        <p:grpSpPr>
          <a:xfrm>
            <a:off x="242888" y="1808163"/>
            <a:ext cx="8649591" cy="3492500"/>
            <a:chOff x="368296" y="1788864"/>
            <a:chExt cx="8650413" cy="3492673"/>
          </a:xfrm>
        </p:grpSpPr>
        <p:sp>
          <p:nvSpPr>
            <p:cNvPr id="1035" name="Google Shape;1035;p73"/>
            <p:cNvSpPr/>
            <p:nvPr/>
          </p:nvSpPr>
          <p:spPr>
            <a:xfrm>
              <a:off x="368296" y="1788864"/>
              <a:ext cx="1511444" cy="971598"/>
            </a:xfrm>
            <a:prstGeom prst="rect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Definir requisitos iniciais</a:t>
              </a:r>
              <a:endParaRPr/>
            </a:p>
          </p:txBody>
        </p:sp>
        <p:sp>
          <p:nvSpPr>
            <p:cNvPr id="1036" name="Google Shape;1036;p73"/>
            <p:cNvSpPr/>
            <p:nvPr/>
          </p:nvSpPr>
          <p:spPr>
            <a:xfrm>
              <a:off x="2468758" y="1788864"/>
              <a:ext cx="1513032" cy="971598"/>
            </a:xfrm>
            <a:prstGeom prst="rect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Atribuir requisitos aos incrementos</a:t>
              </a:r>
              <a:endParaRPr/>
            </a:p>
          </p:txBody>
        </p:sp>
        <p:sp>
          <p:nvSpPr>
            <p:cNvPr id="1037" name="Google Shape;1037;p73"/>
            <p:cNvSpPr/>
            <p:nvPr/>
          </p:nvSpPr>
          <p:spPr>
            <a:xfrm>
              <a:off x="4570807" y="1788864"/>
              <a:ext cx="1511444" cy="971598"/>
            </a:xfrm>
            <a:prstGeom prst="rect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Projetar a arquitetura do sistema</a:t>
              </a:r>
              <a:endParaRPr/>
            </a:p>
          </p:txBody>
        </p:sp>
        <p:sp>
          <p:nvSpPr>
            <p:cNvPr id="1038" name="Google Shape;1038;p73"/>
            <p:cNvSpPr/>
            <p:nvPr/>
          </p:nvSpPr>
          <p:spPr>
            <a:xfrm>
              <a:off x="368296" y="3439946"/>
              <a:ext cx="1511444" cy="971598"/>
            </a:xfrm>
            <a:prstGeom prst="rect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Desenvolver incremento do sistema</a:t>
              </a:r>
              <a:endParaRPr/>
            </a:p>
          </p:txBody>
        </p:sp>
        <p:sp>
          <p:nvSpPr>
            <p:cNvPr id="1039" name="Google Shape;1039;p73"/>
            <p:cNvSpPr/>
            <p:nvPr/>
          </p:nvSpPr>
          <p:spPr>
            <a:xfrm>
              <a:off x="2468758" y="3439946"/>
              <a:ext cx="1513032" cy="971598"/>
            </a:xfrm>
            <a:prstGeom prst="rect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Validar incremento</a:t>
              </a:r>
              <a:endParaRPr/>
            </a:p>
          </p:txBody>
        </p:sp>
        <p:sp>
          <p:nvSpPr>
            <p:cNvPr id="1040" name="Google Shape;1040;p73"/>
            <p:cNvSpPr/>
            <p:nvPr/>
          </p:nvSpPr>
          <p:spPr>
            <a:xfrm>
              <a:off x="4570807" y="3439946"/>
              <a:ext cx="1511444" cy="971598"/>
            </a:xfrm>
            <a:prstGeom prst="rect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Integrar incremento</a:t>
              </a:r>
              <a:endParaRPr/>
            </a:p>
          </p:txBody>
        </p:sp>
        <p:sp>
          <p:nvSpPr>
            <p:cNvPr id="1041" name="Google Shape;1041;p73"/>
            <p:cNvSpPr/>
            <p:nvPr/>
          </p:nvSpPr>
          <p:spPr>
            <a:xfrm>
              <a:off x="6671270" y="3439946"/>
              <a:ext cx="1511444" cy="971598"/>
            </a:xfrm>
            <a:prstGeom prst="rect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Validar sistema</a:t>
              </a:r>
              <a:endParaRPr/>
            </a:p>
          </p:txBody>
        </p:sp>
        <p:cxnSp>
          <p:nvCxnSpPr>
            <p:cNvPr id="1042" name="Google Shape;1042;p73"/>
            <p:cNvCxnSpPr>
              <a:stCxn id="1035" idx="3"/>
              <a:endCxn id="1036" idx="1"/>
            </p:cNvCxnSpPr>
            <p:nvPr/>
          </p:nvCxnSpPr>
          <p:spPr>
            <a:xfrm>
              <a:off x="1879740" y="2274663"/>
              <a:ext cx="588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43" name="Google Shape;1043;p73"/>
            <p:cNvCxnSpPr>
              <a:stCxn id="1036" idx="3"/>
              <a:endCxn id="1037" idx="1"/>
            </p:cNvCxnSpPr>
            <p:nvPr/>
          </p:nvCxnSpPr>
          <p:spPr>
            <a:xfrm>
              <a:off x="3981790" y="2274663"/>
              <a:ext cx="588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44" name="Google Shape;1044;p73"/>
            <p:cNvCxnSpPr>
              <a:stCxn id="1038" idx="3"/>
              <a:endCxn id="1039" idx="1"/>
            </p:cNvCxnSpPr>
            <p:nvPr/>
          </p:nvCxnSpPr>
          <p:spPr>
            <a:xfrm>
              <a:off x="1879740" y="3925745"/>
              <a:ext cx="588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45" name="Google Shape;1045;p73"/>
            <p:cNvCxnSpPr>
              <a:stCxn id="1039" idx="3"/>
              <a:endCxn id="1040" idx="1"/>
            </p:cNvCxnSpPr>
            <p:nvPr/>
          </p:nvCxnSpPr>
          <p:spPr>
            <a:xfrm>
              <a:off x="3981790" y="3925745"/>
              <a:ext cx="588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46" name="Google Shape;1046;p73"/>
            <p:cNvCxnSpPr>
              <a:stCxn id="1040" idx="3"/>
              <a:endCxn id="1041" idx="1"/>
            </p:cNvCxnSpPr>
            <p:nvPr/>
          </p:nvCxnSpPr>
          <p:spPr>
            <a:xfrm>
              <a:off x="6082251" y="3925745"/>
              <a:ext cx="588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47" name="Google Shape;1047;p73"/>
            <p:cNvCxnSpPr>
              <a:stCxn id="1041" idx="2"/>
              <a:endCxn id="1038" idx="2"/>
            </p:cNvCxnSpPr>
            <p:nvPr/>
          </p:nvCxnSpPr>
          <p:spPr>
            <a:xfrm rot="5400000">
              <a:off x="4275192" y="1260344"/>
              <a:ext cx="600" cy="6303000"/>
            </a:xfrm>
            <a:prstGeom prst="bentConnector3">
              <a:avLst>
                <a:gd name="adj1" fmla="val 3329237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048" name="Google Shape;1048;p73"/>
            <p:cNvCxnSpPr>
              <a:stCxn id="1041" idx="3"/>
            </p:cNvCxnSpPr>
            <p:nvPr/>
          </p:nvCxnSpPr>
          <p:spPr>
            <a:xfrm>
              <a:off x="8182714" y="3925745"/>
              <a:ext cx="588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049" name="Google Shape;1049;p73"/>
            <p:cNvSpPr txBox="1"/>
            <p:nvPr/>
          </p:nvSpPr>
          <p:spPr>
            <a:xfrm>
              <a:off x="8016388" y="4450540"/>
              <a:ext cx="1002321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Sistema 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final</a:t>
              </a:r>
              <a:endPara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1050" name="Google Shape;1050;p73"/>
            <p:cNvCxnSpPr>
              <a:stCxn id="1037" idx="2"/>
              <a:endCxn id="1038" idx="0"/>
            </p:cNvCxnSpPr>
            <p:nvPr/>
          </p:nvCxnSpPr>
          <p:spPr>
            <a:xfrm rot="5400000">
              <a:off x="2885579" y="999012"/>
              <a:ext cx="679500" cy="4202400"/>
            </a:xfrm>
            <a:prstGeom prst="bentConnector3">
              <a:avLst>
                <a:gd name="adj1" fmla="val 47169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051" name="Google Shape;1051;p73"/>
            <p:cNvSpPr txBox="1"/>
            <p:nvPr/>
          </p:nvSpPr>
          <p:spPr>
            <a:xfrm>
              <a:off x="3404842" y="4912205"/>
              <a:ext cx="18389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Sistema incompleto</a:t>
              </a:r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Desenvolvimento Incremental</a:t>
            </a:r>
            <a:br>
              <a:rPr lang="pt-BR"/>
            </a:br>
            <a:r>
              <a:rPr lang="pt-BR"/>
              <a:t>Vantagens</a:t>
            </a:r>
            <a:endParaRPr/>
          </a:p>
        </p:txBody>
      </p:sp>
      <p:sp>
        <p:nvSpPr>
          <p:cNvPr id="1057" name="Google Shape;1057;p7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Incrementos podem ser entregues regularmente ao cliente e, desse modo, a funcionalidade de sistema é disponibilizada mais cedo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Os incrementos iniciais agem como protótipos para elucidar os requisitos para incrementos posteriores do sistema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Menor risco de falha geral do projeto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Os serviços de sistema de mais alta prioridade tendem a receber mais testes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Processo Unificado </a:t>
            </a:r>
            <a:br>
              <a:rPr lang="pt-BR"/>
            </a:br>
            <a:r>
              <a:rPr lang="pt-BR"/>
              <a:t>(RUP –</a:t>
            </a:r>
            <a:r>
              <a:rPr lang="pt-BR" i="1"/>
              <a:t>Rational UnifiedProcess</a:t>
            </a:r>
            <a:r>
              <a:rPr lang="pt-BR"/>
              <a:t>)</a:t>
            </a:r>
            <a:endParaRPr/>
          </a:p>
        </p:txBody>
      </p:sp>
      <p:sp>
        <p:nvSpPr>
          <p:cNvPr id="1069" name="Google Shape;1069;p7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É um processo baseado na UML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Tenta cobrir todos os aspectos do desenvolvimento de software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Fortemente focado na documentação do sistema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Normalmente descrito a partir de três perspectivas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Dinâmica: mostra as fases ao longo do tempo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Estática: mostra atividades de processo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Prática: sugere bons princípios e práticas de desenvolvimento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de fases do RUP</a:t>
            </a:r>
            <a:endParaRPr/>
          </a:p>
        </p:txBody>
      </p:sp>
      <p:pic>
        <p:nvPicPr>
          <p:cNvPr id="1075" name="Google Shape;1075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13" y="1268413"/>
            <a:ext cx="7019925" cy="526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Fases do RUP ou PU</a:t>
            </a:r>
            <a:endParaRPr dirty="0"/>
          </a:p>
        </p:txBody>
      </p:sp>
      <p:sp>
        <p:nvSpPr>
          <p:cNvPr id="1081" name="Google Shape;1081;p7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Concepção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Estabelecer o domínio de negócio para o sistema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Elaboração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Desenvolver um entendimento do domínio do problema e a arquitetura do sistema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Construção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Projeto, programação e teste de sistema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Transição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Implantar o sistema no seu ambiente operacional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and white document with black text&#10;&#10;Description automatically generated">
            <a:extLst>
              <a:ext uri="{FF2B5EF4-FFF2-40B4-BE49-F238E27FC236}">
                <a16:creationId xmlns:a16="http://schemas.microsoft.com/office/drawing/2014/main" id="{251F982F-BD5E-41A3-3D2B-731F524F4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88" y="504814"/>
            <a:ext cx="8963025" cy="5848373"/>
          </a:xfrm>
          <a:noFill/>
        </p:spPr>
      </p:pic>
    </p:spTree>
    <p:extLst>
      <p:ext uri="{BB962C8B-B14F-4D97-AF65-F5344CB8AC3E}">
        <p14:creationId xmlns:p14="http://schemas.microsoft.com/office/powerpoint/2010/main" val="9332805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E0F153-31E9-5B90-494D-C89F79856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900"/>
            <a:ext cx="12974945" cy="66720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52805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and white document with black text&#10;&#10;Description automatically generated">
            <a:extLst>
              <a:ext uri="{FF2B5EF4-FFF2-40B4-BE49-F238E27FC236}">
                <a16:creationId xmlns:a16="http://schemas.microsoft.com/office/drawing/2014/main" id="{91C5C295-ADB0-28C2-34E4-3BF8D3C9A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88" y="157497"/>
            <a:ext cx="8963025" cy="6543007"/>
          </a:xfrm>
          <a:noFill/>
        </p:spPr>
      </p:pic>
    </p:spTree>
    <p:extLst>
      <p:ext uri="{BB962C8B-B14F-4D97-AF65-F5344CB8AC3E}">
        <p14:creationId xmlns:p14="http://schemas.microsoft.com/office/powerpoint/2010/main" val="31690790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and white list with black text&#10;&#10;Description automatically generated">
            <a:extLst>
              <a:ext uri="{FF2B5EF4-FFF2-40B4-BE49-F238E27FC236}">
                <a16:creationId xmlns:a16="http://schemas.microsoft.com/office/drawing/2014/main" id="{0E3377AE-FFCE-806D-2027-2D480315E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88" y="471202"/>
            <a:ext cx="8963025" cy="5915596"/>
          </a:xfrm>
          <a:noFill/>
        </p:spPr>
      </p:pic>
    </p:spTree>
    <p:extLst>
      <p:ext uri="{BB962C8B-B14F-4D97-AF65-F5344CB8AC3E}">
        <p14:creationId xmlns:p14="http://schemas.microsoft.com/office/powerpoint/2010/main" val="15571645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3EED-CACE-8EEA-7A75-FDB2ECD8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FLUXO FASE TRANSIÇÃO</a:t>
            </a:r>
            <a:endParaRPr lang="pt-BR" dirty="0"/>
          </a:p>
        </p:txBody>
      </p:sp>
      <p:pic>
        <p:nvPicPr>
          <p:cNvPr id="5" name="Content Placeholder 4" descr="A diagram of a process&#10;&#10;Description automatically generated">
            <a:extLst>
              <a:ext uri="{FF2B5EF4-FFF2-40B4-BE49-F238E27FC236}">
                <a16:creationId xmlns:a16="http://schemas.microsoft.com/office/drawing/2014/main" id="{C13787F4-D3BE-DEAE-9A72-8CFA555D7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123" y="1039761"/>
            <a:ext cx="6522227" cy="6130894"/>
          </a:xfrm>
          <a:noFill/>
        </p:spPr>
      </p:pic>
    </p:spTree>
    <p:extLst>
      <p:ext uri="{BB962C8B-B14F-4D97-AF65-F5344CB8AC3E}">
        <p14:creationId xmlns:p14="http://schemas.microsoft.com/office/powerpoint/2010/main" val="310469921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F86B5FD-695A-836A-4F91-3BE4085DE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ARTEFATOS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12BA90-18E8-B5DA-43FC-0580EFA8E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08168"/>
            <a:ext cx="8229600" cy="2510027"/>
          </a:xfrm>
          <a:noFill/>
        </p:spPr>
      </p:pic>
    </p:spTree>
    <p:extLst>
      <p:ext uri="{BB962C8B-B14F-4D97-AF65-F5344CB8AC3E}">
        <p14:creationId xmlns:p14="http://schemas.microsoft.com/office/powerpoint/2010/main" val="34462752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Boas práticas do RUP</a:t>
            </a:r>
            <a:endParaRPr/>
          </a:p>
        </p:txBody>
      </p:sp>
      <p:sp>
        <p:nvSpPr>
          <p:cNvPr id="1087" name="Google Shape;1087;p7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Desenvolver o software iterativamente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Gerenciar requisitos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Usar arquiteturas baseadas em componentes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Modelar o software visualmente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Verificar a qualidade de software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Controlar as mudanças do software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3FB7-163A-D732-42F9-CED6FA6B6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processo incremental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A01BD-FFDD-8A9A-2BB4-5B2D1FF4C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requisitos iniciais do software são razoavelmente bem definidos, mas o uso de um processo puramente linear (cascata) não é utilizado.</a:t>
            </a:r>
          </a:p>
          <a:p>
            <a:r>
              <a:rPr lang="pt-BR" dirty="0"/>
              <a:t>Se faz necessário entregar um conjunto funcional (Software) aos usuários, para somente após esse fornecimento, refinar e expandir sua funcionalidade em versões de software posteriores. </a:t>
            </a:r>
          </a:p>
        </p:txBody>
      </p:sp>
    </p:spTree>
    <p:extLst>
      <p:ext uri="{BB962C8B-B14F-4D97-AF65-F5344CB8AC3E}">
        <p14:creationId xmlns:p14="http://schemas.microsoft.com/office/powerpoint/2010/main" val="255063427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04C6B-DF49-9090-60D9-627B46D33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74638"/>
            <a:ext cx="8686800" cy="4525963"/>
          </a:xfrm>
        </p:spPr>
        <p:txBody>
          <a:bodyPr/>
          <a:lstStyle/>
          <a:p>
            <a:r>
              <a:rPr lang="pt-BR" dirty="0"/>
              <a:t>Aplica sequências lineares, de forma escalonada, à medida que o tempo vai avançando. Cada sequência linear gera “incrementais” (entregáveis/aprovados/liberados) do software de maneira similar aos incrementais gerados por um fluxo de processos evolucionários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5D5C61-3F42-3F8E-7064-488150DD9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590" y="3429000"/>
            <a:ext cx="6930820" cy="376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796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736C2-F1F0-5C8E-2BB7-E1BD4295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Exercício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03B91-FB5D-8697-DD40-4EB169F91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1"/>
              <a:t>Como dividiria a entrega de um software editor de texto parecido com o WORD, mas com incrementos.</a:t>
            </a:r>
          </a:p>
          <a:p>
            <a:r>
              <a:rPr lang="pt-BR" noProof="1"/>
              <a:t>Lembrar que o primeiro incremento é um produto essencial.</a:t>
            </a:r>
          </a:p>
        </p:txBody>
      </p:sp>
    </p:spTree>
    <p:extLst>
      <p:ext uri="{BB962C8B-B14F-4D97-AF65-F5344CB8AC3E}">
        <p14:creationId xmlns:p14="http://schemas.microsoft.com/office/powerpoint/2010/main" val="134602042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B6A0-DDEA-C083-D7B2-60B3AA1C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1"/>
              <a:t>Vantagem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CC2B8-51F4-DC22-CC24-9D045035D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o cliente precisa da entrega até uma determinada data impossível de ser atendida, sugerir  a entrega de um ou mais incrementos até a data e o restante do software (incrementos adicionais) posteriormente.</a:t>
            </a:r>
          </a:p>
        </p:txBody>
      </p:sp>
    </p:spTree>
    <p:extLst>
      <p:ext uri="{BB962C8B-B14F-4D97-AF65-F5344CB8AC3E}">
        <p14:creationId xmlns:p14="http://schemas.microsoft.com/office/powerpoint/2010/main" val="23465476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9A1F8AD9-28F1-4320-91D0-D9F573E6A4C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2880" y="122569"/>
          <a:ext cx="8778240" cy="6612861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306118138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31460005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169911518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4269648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15502077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4768530"/>
                    </a:ext>
                  </a:extLst>
                </a:gridCol>
              </a:tblGrid>
              <a:tr h="683445"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Modelo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Foco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Requisitos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1ª versão p/ cliente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Gerenciamento (1=mais simples)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Sistemas (tamanhocomplexidademáximos)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003182"/>
                  </a:ext>
                </a:extLst>
              </a:tr>
              <a:tr h="525727"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Cascata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Documento e artefato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Bem conhecido/congelado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Fim do ciclo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1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Simples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597691"/>
                  </a:ext>
                </a:extLst>
              </a:tr>
              <a:tr h="525727"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V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Planejamento de testes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Bem conhecido/congelado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Fim do ciclo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2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Simples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3018227"/>
                  </a:ext>
                </a:extLst>
              </a:tr>
              <a:tr h="683445"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Incremental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Incrementos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Maior abstração / Tratado em módulos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Protótipos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3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Médio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177800"/>
                  </a:ext>
                </a:extLst>
              </a:tr>
              <a:tr h="525727"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Evolutivo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Evolução dos requisitos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Pouco conhecidos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Protótipos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4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Médio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966250"/>
                  </a:ext>
                </a:extLst>
              </a:tr>
              <a:tr h="998881"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RAD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Rapidez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Escopo restrito / Maior abstração / Tratado em módulos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Protótipos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4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Médio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938450"/>
                  </a:ext>
                </a:extLst>
              </a:tr>
              <a:tr h="683445"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Prototipagem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Dúvidas nos Requisitos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Abstratos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Protótipos não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5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Médio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325223"/>
                  </a:ext>
                </a:extLst>
              </a:tr>
              <a:tr h="841163"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Espiral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Análise de risco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Maior abstração / evoluídos com o tempo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Protótipos operacionais ou não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5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Complexos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273648"/>
                  </a:ext>
                </a:extLst>
              </a:tr>
              <a:tr h="841163"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RUP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Frameworks e boas práticas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Maior abstração / evoluídos com o tempo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Protótipos operacionais ou não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5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Complexos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914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9234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0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1093" name="Google Shape;1093;p8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8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Engenharia de Requisitos</a:t>
            </a:r>
            <a:endParaRPr/>
          </a:p>
        </p:txBody>
      </p:sp>
      <p:sp>
        <p:nvSpPr>
          <p:cNvPr id="1100" name="Google Shape;1100;p8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pt-BR"/>
              <a:t>Introdução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Definição de Requisito</a:t>
            </a:r>
            <a:endParaRPr/>
          </a:p>
        </p:txBody>
      </p:sp>
      <p:sp>
        <p:nvSpPr>
          <p:cNvPr id="1107" name="Google Shape;1107;p8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pt-BR"/>
              <a:t>Segundo Dorfman e Thayer (1990), um REQUISITO é:</a:t>
            </a:r>
            <a:endParaRPr/>
          </a:p>
          <a:p>
            <a:pPr marL="742950" lvl="1" indent="-28575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pt-BR"/>
              <a:t>Uma capacidade que o software precisa ter para atender às necessidades do cliente de resolver um problema e atingir seu objetivo.</a:t>
            </a:r>
            <a:endParaRPr/>
          </a:p>
          <a:p>
            <a:pPr marL="742950" lvl="1" indent="-28575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pt-BR"/>
              <a:t>Uma capacidade que o software do sistema ou de componentes do sistema deve ter para satisfazer um contrato, padrão, especificação, ou outros documentos formalmente impostos.</a:t>
            </a:r>
            <a:endParaRPr/>
          </a:p>
          <a:p>
            <a:pPr marL="742950" lvl="1" indent="-147955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pt-BR"/>
              <a:t>Com base nesta definição, podemos entender que o nosso objetivo é:</a:t>
            </a:r>
            <a:endParaRPr/>
          </a:p>
          <a:p>
            <a:pPr marL="742950" lvl="1" indent="-28575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pt-BR"/>
              <a:t>Levantar REQUISITOS de software que permita a construção de um sistema que atenda as NECESSIDADES do CLIENTE e, assim, resolva o seu PROBLEMA.</a:t>
            </a:r>
            <a:endParaRPr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endParaRPr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Pirâmide de Requisitos</a:t>
            </a:r>
            <a:endParaRPr/>
          </a:p>
        </p:txBody>
      </p:sp>
      <p:sp>
        <p:nvSpPr>
          <p:cNvPr id="1114" name="Google Shape;1114;p8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Para nos ajudar nesta Engenharia de Requisitos, usaremos a Pirâmide de Requisitos como um Mapa Mental para: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Obter os principais passos a seguir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Entender a lógica desses passos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0" name="Google Shape;1120;p84"/>
          <p:cNvGrpSpPr/>
          <p:nvPr/>
        </p:nvGrpSpPr>
        <p:grpSpPr>
          <a:xfrm>
            <a:off x="1258888" y="3697288"/>
            <a:ext cx="1590675" cy="2665412"/>
            <a:chOff x="793" y="2341"/>
            <a:chExt cx="1002" cy="1679"/>
          </a:xfrm>
        </p:grpSpPr>
        <p:sp>
          <p:nvSpPr>
            <p:cNvPr id="1121" name="Google Shape;1121;p84"/>
            <p:cNvSpPr/>
            <p:nvPr/>
          </p:nvSpPr>
          <p:spPr>
            <a:xfrm>
              <a:off x="793" y="2341"/>
              <a:ext cx="1002" cy="1679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122" name="Google Shape;1122;p84"/>
            <p:cNvGrpSpPr/>
            <p:nvPr/>
          </p:nvGrpSpPr>
          <p:grpSpPr>
            <a:xfrm>
              <a:off x="1044" y="2986"/>
              <a:ext cx="532" cy="652"/>
              <a:chOff x="901" y="2296"/>
              <a:chExt cx="578" cy="750"/>
            </a:xfrm>
          </p:grpSpPr>
          <p:sp>
            <p:nvSpPr>
              <p:cNvPr id="1123" name="Google Shape;1123;p84"/>
              <p:cNvSpPr txBox="1"/>
              <p:nvPr/>
            </p:nvSpPr>
            <p:spPr>
              <a:xfrm>
                <a:off x="908" y="2802"/>
                <a:ext cx="557" cy="2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Cliente</a:t>
                </a:r>
                <a:endParaRPr/>
              </a:p>
            </p:txBody>
          </p:sp>
          <p:pic>
            <p:nvPicPr>
              <p:cNvPr id="1124" name="Google Shape;1124;p84" descr="http://tbn0.google.com/images?q=tbn:QwQEjBqIr1fzVM:http://s294.photobucket.com/albums/mm96/sabater_wb/supermensagens/Garfield/ga075.gif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01" y="2296"/>
                <a:ext cx="578" cy="4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25" name="Google Shape;1125;p84"/>
          <p:cNvGrpSpPr/>
          <p:nvPr/>
        </p:nvGrpSpPr>
        <p:grpSpPr>
          <a:xfrm>
            <a:off x="6391275" y="3679825"/>
            <a:ext cx="1597025" cy="2701925"/>
            <a:chOff x="4030" y="2318"/>
            <a:chExt cx="1006" cy="1702"/>
          </a:xfrm>
        </p:grpSpPr>
        <p:sp>
          <p:nvSpPr>
            <p:cNvPr id="1126" name="Google Shape;1126;p84"/>
            <p:cNvSpPr/>
            <p:nvPr/>
          </p:nvSpPr>
          <p:spPr>
            <a:xfrm>
              <a:off x="4034" y="2318"/>
              <a:ext cx="1002" cy="1702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127" name="Google Shape;1127;p84"/>
            <p:cNvGrpSpPr/>
            <p:nvPr/>
          </p:nvGrpSpPr>
          <p:grpSpPr>
            <a:xfrm>
              <a:off x="4030" y="2939"/>
              <a:ext cx="967" cy="687"/>
              <a:chOff x="6786578" y="4000504"/>
              <a:chExt cx="1669195" cy="1239630"/>
            </a:xfrm>
          </p:grpSpPr>
          <p:pic>
            <p:nvPicPr>
              <p:cNvPr id="1128" name="Google Shape;1128;p84" descr="http://tbn0.google.com/images?q=tbn:_dm0g71xUFulcM:http://www.mundo-dos-animais.com/assets/images/caes/odie.PNG">
                <a:hlinkClick r:id="rId5"/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7072330" y="4000504"/>
                <a:ext cx="914400" cy="9144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29" name="Google Shape;1129;p84"/>
              <p:cNvSpPr txBox="1"/>
              <p:nvPr/>
            </p:nvSpPr>
            <p:spPr>
              <a:xfrm>
                <a:off x="6786578" y="4858155"/>
                <a:ext cx="1669195" cy="3819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Desenvolvedor</a:t>
                </a:r>
                <a:endParaRPr/>
              </a:p>
            </p:txBody>
          </p:sp>
        </p:grpSp>
      </p:grpSp>
      <p:grpSp>
        <p:nvGrpSpPr>
          <p:cNvPr id="1130" name="Google Shape;1130;p84"/>
          <p:cNvGrpSpPr/>
          <p:nvPr/>
        </p:nvGrpSpPr>
        <p:grpSpPr>
          <a:xfrm>
            <a:off x="3833813" y="3770313"/>
            <a:ext cx="1590675" cy="1168400"/>
            <a:chOff x="2296" y="2215"/>
            <a:chExt cx="1088" cy="835"/>
          </a:xfrm>
        </p:grpSpPr>
        <p:sp>
          <p:nvSpPr>
            <p:cNvPr id="1131" name="Google Shape;1131;p84"/>
            <p:cNvSpPr/>
            <p:nvPr/>
          </p:nvSpPr>
          <p:spPr>
            <a:xfrm>
              <a:off x="2296" y="2215"/>
              <a:ext cx="1088" cy="816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2" name="Google Shape;1132;p84"/>
            <p:cNvSpPr txBox="1"/>
            <p:nvPr/>
          </p:nvSpPr>
          <p:spPr>
            <a:xfrm>
              <a:off x="2461" y="2791"/>
              <a:ext cx="759" cy="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Problema</a:t>
              </a:r>
              <a:endParaRPr/>
            </a:p>
          </p:txBody>
        </p:sp>
      </p:grpSp>
      <p:sp>
        <p:nvSpPr>
          <p:cNvPr id="1133" name="Google Shape;1133;p84"/>
          <p:cNvSpPr/>
          <p:nvPr/>
        </p:nvSpPr>
        <p:spPr>
          <a:xfrm>
            <a:off x="2892425" y="4141788"/>
            <a:ext cx="898525" cy="427037"/>
          </a:xfrm>
          <a:prstGeom prst="rightArrow">
            <a:avLst>
              <a:gd name="adj1" fmla="val 50000"/>
              <a:gd name="adj2" fmla="val 52602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</a:t>
            </a:r>
            <a:endParaRPr/>
          </a:p>
        </p:txBody>
      </p:sp>
      <p:sp>
        <p:nvSpPr>
          <p:cNvPr id="1134" name="Google Shape;1134;p84"/>
          <p:cNvSpPr/>
          <p:nvPr/>
        </p:nvSpPr>
        <p:spPr>
          <a:xfrm>
            <a:off x="3832225" y="4956175"/>
            <a:ext cx="1592263" cy="88741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5" name="Google Shape;1135;p84"/>
          <p:cNvSpPr txBox="1"/>
          <p:nvPr/>
        </p:nvSpPr>
        <p:spPr>
          <a:xfrm>
            <a:off x="4097338" y="5524500"/>
            <a:ext cx="106203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</a:t>
            </a:r>
            <a:endParaRPr/>
          </a:p>
        </p:txBody>
      </p:sp>
      <p:sp>
        <p:nvSpPr>
          <p:cNvPr id="1136" name="Google Shape;1136;p84"/>
          <p:cNvSpPr/>
          <p:nvPr/>
        </p:nvSpPr>
        <p:spPr>
          <a:xfrm>
            <a:off x="5476875" y="4143375"/>
            <a:ext cx="900113" cy="427038"/>
          </a:xfrm>
          <a:prstGeom prst="rightArrow">
            <a:avLst>
              <a:gd name="adj1" fmla="val 50000"/>
              <a:gd name="adj2" fmla="val 5034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ENTENDE</a:t>
            </a:r>
            <a:endParaRPr/>
          </a:p>
        </p:txBody>
      </p:sp>
      <p:sp>
        <p:nvSpPr>
          <p:cNvPr id="1137" name="Google Shape;1137;p84"/>
          <p:cNvSpPr/>
          <p:nvPr/>
        </p:nvSpPr>
        <p:spPr>
          <a:xfrm>
            <a:off x="2892425" y="5861050"/>
            <a:ext cx="3481388" cy="428625"/>
          </a:xfrm>
          <a:prstGeom prst="rightArrow">
            <a:avLst>
              <a:gd name="adj1" fmla="val 45750"/>
              <a:gd name="adj2" fmla="val 53058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PAGA</a:t>
            </a:r>
            <a:endParaRPr/>
          </a:p>
        </p:txBody>
      </p:sp>
      <p:sp>
        <p:nvSpPr>
          <p:cNvPr id="1138" name="Google Shape;1138;p84"/>
          <p:cNvSpPr/>
          <p:nvPr/>
        </p:nvSpPr>
        <p:spPr>
          <a:xfrm flipH="1">
            <a:off x="2886075" y="5214938"/>
            <a:ext cx="900113" cy="427037"/>
          </a:xfrm>
          <a:prstGeom prst="rightArrow">
            <a:avLst>
              <a:gd name="adj1" fmla="val 50000"/>
              <a:gd name="adj2" fmla="val 5034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</a:t>
            </a:r>
            <a:endParaRPr/>
          </a:p>
        </p:txBody>
      </p:sp>
      <p:sp>
        <p:nvSpPr>
          <p:cNvPr id="1139" name="Google Shape;1139;p84"/>
          <p:cNvSpPr/>
          <p:nvPr/>
        </p:nvSpPr>
        <p:spPr>
          <a:xfrm flipH="1">
            <a:off x="5451475" y="5143500"/>
            <a:ext cx="900113" cy="427038"/>
          </a:xfrm>
          <a:prstGeom prst="rightArrow">
            <a:avLst>
              <a:gd name="adj1" fmla="val 50000"/>
              <a:gd name="adj2" fmla="val 50343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PRODUZ</a:t>
            </a:r>
            <a:endParaRPr/>
          </a:p>
        </p:txBody>
      </p:sp>
      <p:sp>
        <p:nvSpPr>
          <p:cNvPr id="1140" name="Google Shape;1140;p84"/>
          <p:cNvSpPr/>
          <p:nvPr/>
        </p:nvSpPr>
        <p:spPr>
          <a:xfrm>
            <a:off x="4033834" y="3857628"/>
            <a:ext cx="1214446" cy="785818"/>
          </a:xfrm>
          <a:prstGeom prst="cloud">
            <a:avLst/>
          </a:prstGeom>
          <a:solidFill>
            <a:schemeClr val="dk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</a:t>
            </a:r>
            <a:endParaRPr/>
          </a:p>
        </p:txBody>
      </p:sp>
      <p:sp>
        <p:nvSpPr>
          <p:cNvPr id="1141" name="Google Shape;1141;p84"/>
          <p:cNvSpPr/>
          <p:nvPr/>
        </p:nvSpPr>
        <p:spPr>
          <a:xfrm>
            <a:off x="4143372" y="5072074"/>
            <a:ext cx="998886" cy="49904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1414A6"/>
              </a:gs>
              <a:gs pos="80000">
                <a:srgbClr val="1A1ADB"/>
              </a:gs>
              <a:gs pos="100000">
                <a:srgbClr val="1616E0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1142" name="Google Shape;1142;p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Desenvolvemos software porque:</a:t>
            </a:r>
            <a:endParaRPr dirty="0"/>
          </a:p>
        </p:txBody>
      </p:sp>
      <p:sp>
        <p:nvSpPr>
          <p:cNvPr id="1143" name="Google Shape;1143;p84"/>
          <p:cNvSpPr txBox="1">
            <a:spLocks noGrp="1"/>
          </p:cNvSpPr>
          <p:nvPr>
            <p:ph idx="1"/>
          </p:nvPr>
        </p:nvSpPr>
        <p:spPr>
          <a:xfrm>
            <a:off x="280220" y="101441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Existe alguém que acredita que:</a:t>
            </a:r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O software é a SOLUÇÃO do seu PROBLEMA</a:t>
            </a:r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O software é a SOLUÇÃO para ganhar vantagem competitiva (OPORTUNIDADE de negócio)</a:t>
            </a:r>
            <a:endParaRPr dirty="0"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Existe alguém disposto a pagar por essa SOLUÇÃO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85"/>
          <p:cNvGrpSpPr/>
          <p:nvPr/>
        </p:nvGrpSpPr>
        <p:grpSpPr>
          <a:xfrm>
            <a:off x="2102623" y="3322656"/>
            <a:ext cx="3476627" cy="3175008"/>
            <a:chOff x="0" y="0"/>
            <a:chExt cx="3476627" cy="3175008"/>
          </a:xfrm>
        </p:grpSpPr>
        <p:sp>
          <p:nvSpPr>
            <p:cNvPr id="1150" name="Google Shape;1150;p85"/>
            <p:cNvSpPr/>
            <p:nvPr/>
          </p:nvSpPr>
          <p:spPr>
            <a:xfrm>
              <a:off x="1158876" y="0"/>
              <a:ext cx="1158875" cy="1058336"/>
            </a:xfrm>
            <a:prstGeom prst="trapezoid">
              <a:avLst>
                <a:gd name="adj" fmla="val 54750"/>
              </a:avLst>
            </a:prstGeom>
            <a:solidFill>
              <a:srgbClr val="CC33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85"/>
            <p:cNvSpPr txBox="1"/>
            <p:nvPr/>
          </p:nvSpPr>
          <p:spPr>
            <a:xfrm>
              <a:off x="1158876" y="0"/>
              <a:ext cx="1158875" cy="1058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625" tIns="40625" rIns="40625" bIns="40625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Times New Roman"/>
                <a:buNone/>
              </a:pPr>
              <a:r>
                <a:rPr lang="pt-BR" sz="3200" b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endParaRPr/>
            </a:p>
          </p:txBody>
        </p:sp>
        <p:sp>
          <p:nvSpPr>
            <p:cNvPr id="1152" name="Google Shape;1152;p85"/>
            <p:cNvSpPr/>
            <p:nvPr/>
          </p:nvSpPr>
          <p:spPr>
            <a:xfrm>
              <a:off x="579438" y="1058336"/>
              <a:ext cx="2317751" cy="1058336"/>
            </a:xfrm>
            <a:prstGeom prst="trapezoid">
              <a:avLst>
                <a:gd name="adj" fmla="val 54750"/>
              </a:avLst>
            </a:prstGeom>
            <a:solidFill>
              <a:srgbClr val="92D05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85"/>
            <p:cNvSpPr txBox="1"/>
            <p:nvPr/>
          </p:nvSpPr>
          <p:spPr>
            <a:xfrm>
              <a:off x="985044" y="1058336"/>
              <a:ext cx="1506538" cy="1058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625" tIns="40625" rIns="40625" bIns="40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Times New Roman"/>
                <a:buNone/>
              </a:pPr>
              <a:r>
                <a:rPr lang="pt-BR" sz="3200" b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154" name="Google Shape;1154;p85"/>
            <p:cNvSpPr/>
            <p:nvPr/>
          </p:nvSpPr>
          <p:spPr>
            <a:xfrm>
              <a:off x="0" y="2116672"/>
              <a:ext cx="3476627" cy="1058336"/>
            </a:xfrm>
            <a:prstGeom prst="trapezoid">
              <a:avLst>
                <a:gd name="adj" fmla="val 54750"/>
              </a:avLst>
            </a:prstGeom>
            <a:gradFill>
              <a:gsLst>
                <a:gs pos="0">
                  <a:srgbClr val="00AC7B"/>
                </a:gs>
                <a:gs pos="80000">
                  <a:srgbClr val="00E2A2"/>
                </a:gs>
                <a:gs pos="100000">
                  <a:srgbClr val="00E8A5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85"/>
            <p:cNvSpPr txBox="1"/>
            <p:nvPr/>
          </p:nvSpPr>
          <p:spPr>
            <a:xfrm>
              <a:off x="608409" y="2116672"/>
              <a:ext cx="2259808" cy="1058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625" tIns="40625" rIns="40625" bIns="40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Times New Roman"/>
                <a:buNone/>
              </a:pPr>
              <a:r>
                <a:rPr lang="pt-BR" sz="3200" b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</p:grpSp>
      <p:sp>
        <p:nvSpPr>
          <p:cNvPr id="1156" name="Google Shape;1156;p85"/>
          <p:cNvSpPr/>
          <p:nvPr/>
        </p:nvSpPr>
        <p:spPr>
          <a:xfrm>
            <a:off x="5495305" y="3251218"/>
            <a:ext cx="1214446" cy="785818"/>
          </a:xfrm>
          <a:prstGeom prst="cloud">
            <a:avLst/>
          </a:prstGeom>
          <a:solidFill>
            <a:schemeClr val="dk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</a:t>
            </a:r>
            <a:endParaRPr/>
          </a:p>
        </p:txBody>
      </p:sp>
      <p:cxnSp>
        <p:nvCxnSpPr>
          <p:cNvPr id="1157" name="Google Shape;1157;p85"/>
          <p:cNvCxnSpPr/>
          <p:nvPr/>
        </p:nvCxnSpPr>
        <p:spPr>
          <a:xfrm>
            <a:off x="4429125" y="4378325"/>
            <a:ext cx="3000375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8" name="Google Shape;1158;p85"/>
          <p:cNvSpPr/>
          <p:nvPr/>
        </p:nvSpPr>
        <p:spPr>
          <a:xfrm>
            <a:off x="1908175" y="4379913"/>
            <a:ext cx="4259263" cy="2432050"/>
          </a:xfrm>
          <a:custGeom>
            <a:avLst/>
            <a:gdLst/>
            <a:ahLst/>
            <a:cxnLst/>
            <a:rect l="l" t="t" r="r" b="b"/>
            <a:pathLst>
              <a:path w="4258733" h="2432074" extrusionOk="0">
                <a:moveTo>
                  <a:pt x="93133" y="2165374"/>
                </a:moveTo>
                <a:cubicBezTo>
                  <a:pt x="186266" y="2195007"/>
                  <a:pt x="365097" y="2234654"/>
                  <a:pt x="651933" y="2266974"/>
                </a:cubicBezTo>
                <a:cubicBezTo>
                  <a:pt x="782409" y="2281676"/>
                  <a:pt x="914357" y="2277100"/>
                  <a:pt x="1045633" y="2279674"/>
                </a:cubicBezTo>
                <a:lnTo>
                  <a:pt x="1947333" y="2292374"/>
                </a:lnTo>
                <a:cubicBezTo>
                  <a:pt x="2015066" y="2300841"/>
                  <a:pt x="2082571" y="2311403"/>
                  <a:pt x="2150533" y="2317774"/>
                </a:cubicBezTo>
                <a:cubicBezTo>
                  <a:pt x="2218102" y="2324109"/>
                  <a:pt x="2286084" y="2325062"/>
                  <a:pt x="2353733" y="2330474"/>
                </a:cubicBezTo>
                <a:cubicBezTo>
                  <a:pt x="2391945" y="2333531"/>
                  <a:pt x="2429933" y="2338941"/>
                  <a:pt x="2468033" y="2343174"/>
                </a:cubicBezTo>
                <a:cubicBezTo>
                  <a:pt x="2601104" y="2381194"/>
                  <a:pt x="2534232" y="2368304"/>
                  <a:pt x="2709333" y="2381274"/>
                </a:cubicBezTo>
                <a:cubicBezTo>
                  <a:pt x="2934562" y="2397958"/>
                  <a:pt x="2942878" y="2395768"/>
                  <a:pt x="3204633" y="2406674"/>
                </a:cubicBezTo>
                <a:cubicBezTo>
                  <a:pt x="3234698" y="2416696"/>
                  <a:pt x="3275582" y="2432074"/>
                  <a:pt x="3306233" y="2432074"/>
                </a:cubicBezTo>
                <a:cubicBezTo>
                  <a:pt x="3340363" y="2432074"/>
                  <a:pt x="3373778" y="2421644"/>
                  <a:pt x="3407833" y="2419374"/>
                </a:cubicBezTo>
                <a:cubicBezTo>
                  <a:pt x="3500856" y="2413172"/>
                  <a:pt x="3594100" y="2410907"/>
                  <a:pt x="3687233" y="2406674"/>
                </a:cubicBezTo>
                <a:cubicBezTo>
                  <a:pt x="3746500" y="2398207"/>
                  <a:pt x="3806952" y="2395794"/>
                  <a:pt x="3865033" y="2381274"/>
                </a:cubicBezTo>
                <a:cubicBezTo>
                  <a:pt x="3881966" y="2377041"/>
                  <a:pt x="3898592" y="2371296"/>
                  <a:pt x="3915833" y="2368574"/>
                </a:cubicBezTo>
                <a:cubicBezTo>
                  <a:pt x="3979111" y="2358583"/>
                  <a:pt x="4042833" y="2351641"/>
                  <a:pt x="4106333" y="2343174"/>
                </a:cubicBezTo>
                <a:cubicBezTo>
                  <a:pt x="4119033" y="2338941"/>
                  <a:pt x="4132459" y="2336461"/>
                  <a:pt x="4144433" y="2330474"/>
                </a:cubicBezTo>
                <a:cubicBezTo>
                  <a:pt x="4178138" y="2313622"/>
                  <a:pt x="4209898" y="2281615"/>
                  <a:pt x="4233333" y="2254274"/>
                </a:cubicBezTo>
                <a:cubicBezTo>
                  <a:pt x="4243266" y="2242685"/>
                  <a:pt x="4250266" y="2228874"/>
                  <a:pt x="4258733" y="2216174"/>
                </a:cubicBezTo>
                <a:cubicBezTo>
                  <a:pt x="4245591" y="2189891"/>
                  <a:pt x="4228448" y="2150354"/>
                  <a:pt x="4207933" y="2127274"/>
                </a:cubicBezTo>
                <a:cubicBezTo>
                  <a:pt x="4184068" y="2100426"/>
                  <a:pt x="4165811" y="2062433"/>
                  <a:pt x="4131733" y="2051074"/>
                </a:cubicBezTo>
                <a:lnTo>
                  <a:pt x="4093633" y="2038374"/>
                </a:lnTo>
                <a:cubicBezTo>
                  <a:pt x="4060759" y="2005500"/>
                  <a:pt x="4024905" y="1964665"/>
                  <a:pt x="3979333" y="1949474"/>
                </a:cubicBezTo>
                <a:cubicBezTo>
                  <a:pt x="3888653" y="1919247"/>
                  <a:pt x="3925410" y="1938926"/>
                  <a:pt x="3865033" y="1898674"/>
                </a:cubicBezTo>
                <a:cubicBezTo>
                  <a:pt x="3856566" y="1885974"/>
                  <a:pt x="3851120" y="1870625"/>
                  <a:pt x="3839633" y="1860574"/>
                </a:cubicBezTo>
                <a:cubicBezTo>
                  <a:pt x="3816659" y="1840472"/>
                  <a:pt x="3763433" y="1809774"/>
                  <a:pt x="3763433" y="1809774"/>
                </a:cubicBezTo>
                <a:cubicBezTo>
                  <a:pt x="3754966" y="1797074"/>
                  <a:pt x="3746123" y="1784617"/>
                  <a:pt x="3738033" y="1771674"/>
                </a:cubicBezTo>
                <a:cubicBezTo>
                  <a:pt x="3724950" y="1750742"/>
                  <a:pt x="3715088" y="1727659"/>
                  <a:pt x="3699933" y="1708174"/>
                </a:cubicBezTo>
                <a:cubicBezTo>
                  <a:pt x="3685231" y="1689271"/>
                  <a:pt x="3664718" y="1675556"/>
                  <a:pt x="3649133" y="1657374"/>
                </a:cubicBezTo>
                <a:cubicBezTo>
                  <a:pt x="3639200" y="1645785"/>
                  <a:pt x="3633944" y="1630619"/>
                  <a:pt x="3623733" y="1619274"/>
                </a:cubicBezTo>
                <a:cubicBezTo>
                  <a:pt x="3595698" y="1588124"/>
                  <a:pt x="3534833" y="1530374"/>
                  <a:pt x="3534833" y="1530374"/>
                </a:cubicBezTo>
                <a:cubicBezTo>
                  <a:pt x="3530600" y="1517674"/>
                  <a:pt x="3528120" y="1504248"/>
                  <a:pt x="3522133" y="1492274"/>
                </a:cubicBezTo>
                <a:cubicBezTo>
                  <a:pt x="3491093" y="1430193"/>
                  <a:pt x="3499994" y="1479918"/>
                  <a:pt x="3484033" y="1416074"/>
                </a:cubicBezTo>
                <a:cubicBezTo>
                  <a:pt x="3448131" y="1272468"/>
                  <a:pt x="3500424" y="1439848"/>
                  <a:pt x="3445933" y="1276374"/>
                </a:cubicBezTo>
                <a:cubicBezTo>
                  <a:pt x="3441700" y="1263674"/>
                  <a:pt x="3440659" y="1249413"/>
                  <a:pt x="3433233" y="1238274"/>
                </a:cubicBezTo>
                <a:lnTo>
                  <a:pt x="3407833" y="1200174"/>
                </a:lnTo>
                <a:cubicBezTo>
                  <a:pt x="3403600" y="1170541"/>
                  <a:pt x="3403579" y="1139992"/>
                  <a:pt x="3395133" y="1111274"/>
                </a:cubicBezTo>
                <a:cubicBezTo>
                  <a:pt x="3338886" y="920035"/>
                  <a:pt x="3369550" y="1038972"/>
                  <a:pt x="3318933" y="946174"/>
                </a:cubicBezTo>
                <a:cubicBezTo>
                  <a:pt x="3300802" y="912933"/>
                  <a:pt x="3287614" y="877042"/>
                  <a:pt x="3268133" y="844574"/>
                </a:cubicBezTo>
                <a:cubicBezTo>
                  <a:pt x="3255433" y="823407"/>
                  <a:pt x="3243285" y="801899"/>
                  <a:pt x="3230033" y="781074"/>
                </a:cubicBezTo>
                <a:cubicBezTo>
                  <a:pt x="3213644" y="755320"/>
                  <a:pt x="3179233" y="704874"/>
                  <a:pt x="3179233" y="704874"/>
                </a:cubicBezTo>
                <a:cubicBezTo>
                  <a:pt x="3170766" y="671007"/>
                  <a:pt x="3169445" y="634498"/>
                  <a:pt x="3153833" y="603274"/>
                </a:cubicBezTo>
                <a:cubicBezTo>
                  <a:pt x="3145366" y="586341"/>
                  <a:pt x="3135080" y="570201"/>
                  <a:pt x="3128433" y="552474"/>
                </a:cubicBezTo>
                <a:cubicBezTo>
                  <a:pt x="3122304" y="536131"/>
                  <a:pt x="3123539" y="517286"/>
                  <a:pt x="3115733" y="501674"/>
                </a:cubicBezTo>
                <a:cubicBezTo>
                  <a:pt x="3102081" y="474370"/>
                  <a:pt x="3074586" y="454434"/>
                  <a:pt x="3064933" y="425474"/>
                </a:cubicBezTo>
                <a:cubicBezTo>
                  <a:pt x="3060700" y="412774"/>
                  <a:pt x="3058734" y="399076"/>
                  <a:pt x="3052233" y="387374"/>
                </a:cubicBezTo>
                <a:cubicBezTo>
                  <a:pt x="3037408" y="360689"/>
                  <a:pt x="3018366" y="336574"/>
                  <a:pt x="3001433" y="311174"/>
                </a:cubicBezTo>
                <a:cubicBezTo>
                  <a:pt x="2992966" y="298474"/>
                  <a:pt x="2986826" y="283867"/>
                  <a:pt x="2976033" y="273074"/>
                </a:cubicBezTo>
                <a:lnTo>
                  <a:pt x="2937933" y="234974"/>
                </a:lnTo>
                <a:cubicBezTo>
                  <a:pt x="2933700" y="222274"/>
                  <a:pt x="2933014" y="207767"/>
                  <a:pt x="2925233" y="196874"/>
                </a:cubicBezTo>
                <a:cubicBezTo>
                  <a:pt x="2897236" y="157679"/>
                  <a:pt x="2872945" y="145082"/>
                  <a:pt x="2836333" y="120674"/>
                </a:cubicBezTo>
                <a:cubicBezTo>
                  <a:pt x="2796081" y="60297"/>
                  <a:pt x="2825413" y="87401"/>
                  <a:pt x="2734733" y="57174"/>
                </a:cubicBezTo>
                <a:lnTo>
                  <a:pt x="2496576" y="0"/>
                </a:lnTo>
                <a:lnTo>
                  <a:pt x="1356749" y="3174"/>
                </a:lnTo>
                <a:cubicBezTo>
                  <a:pt x="798138" y="3174"/>
                  <a:pt x="1240438" y="194076"/>
                  <a:pt x="1020233" y="120674"/>
                </a:cubicBezTo>
                <a:cubicBezTo>
                  <a:pt x="907758" y="165664"/>
                  <a:pt x="1002406" y="124412"/>
                  <a:pt x="867833" y="196874"/>
                </a:cubicBezTo>
                <a:cubicBezTo>
                  <a:pt x="843777" y="209827"/>
                  <a:pt x="779897" y="236406"/>
                  <a:pt x="753533" y="260374"/>
                </a:cubicBezTo>
                <a:cubicBezTo>
                  <a:pt x="570356" y="426898"/>
                  <a:pt x="719686" y="311159"/>
                  <a:pt x="601133" y="400074"/>
                </a:cubicBezTo>
                <a:cubicBezTo>
                  <a:pt x="592666" y="417007"/>
                  <a:pt x="585767" y="434820"/>
                  <a:pt x="575733" y="450874"/>
                </a:cubicBezTo>
                <a:cubicBezTo>
                  <a:pt x="564515" y="468823"/>
                  <a:pt x="549936" y="484450"/>
                  <a:pt x="537633" y="501674"/>
                </a:cubicBezTo>
                <a:cubicBezTo>
                  <a:pt x="528761" y="514094"/>
                  <a:pt x="520700" y="527074"/>
                  <a:pt x="512233" y="539774"/>
                </a:cubicBezTo>
                <a:cubicBezTo>
                  <a:pt x="508000" y="560941"/>
                  <a:pt x="503394" y="582036"/>
                  <a:pt x="499533" y="603274"/>
                </a:cubicBezTo>
                <a:cubicBezTo>
                  <a:pt x="494927" y="628609"/>
                  <a:pt x="491883" y="654224"/>
                  <a:pt x="486833" y="679474"/>
                </a:cubicBezTo>
                <a:cubicBezTo>
                  <a:pt x="480108" y="713099"/>
                  <a:pt x="455180" y="796610"/>
                  <a:pt x="448733" y="819174"/>
                </a:cubicBezTo>
                <a:cubicBezTo>
                  <a:pt x="444500" y="853041"/>
                  <a:pt x="442138" y="887194"/>
                  <a:pt x="436033" y="920774"/>
                </a:cubicBezTo>
                <a:cubicBezTo>
                  <a:pt x="433638" y="933945"/>
                  <a:pt x="427011" y="946002"/>
                  <a:pt x="423333" y="958874"/>
                </a:cubicBezTo>
                <a:cubicBezTo>
                  <a:pt x="418538" y="975657"/>
                  <a:pt x="414866" y="992741"/>
                  <a:pt x="410633" y="1009674"/>
                </a:cubicBezTo>
                <a:cubicBezTo>
                  <a:pt x="406400" y="1047774"/>
                  <a:pt x="401946" y="1085850"/>
                  <a:pt x="397933" y="1123974"/>
                </a:cubicBezTo>
                <a:cubicBezTo>
                  <a:pt x="393479" y="1166285"/>
                  <a:pt x="390856" y="1208803"/>
                  <a:pt x="385233" y="1250974"/>
                </a:cubicBezTo>
                <a:cubicBezTo>
                  <a:pt x="382380" y="1272370"/>
                  <a:pt x="376394" y="1293236"/>
                  <a:pt x="372533" y="1314474"/>
                </a:cubicBezTo>
                <a:cubicBezTo>
                  <a:pt x="347948" y="1449693"/>
                  <a:pt x="374411" y="1332363"/>
                  <a:pt x="334433" y="1492274"/>
                </a:cubicBezTo>
                <a:lnTo>
                  <a:pt x="321733" y="1543074"/>
                </a:lnTo>
                <a:cubicBezTo>
                  <a:pt x="317500" y="1560007"/>
                  <a:pt x="319506" y="1579910"/>
                  <a:pt x="309033" y="1593874"/>
                </a:cubicBezTo>
                <a:lnTo>
                  <a:pt x="270933" y="1644674"/>
                </a:lnTo>
                <a:cubicBezTo>
                  <a:pt x="240706" y="1735354"/>
                  <a:pt x="260385" y="1698597"/>
                  <a:pt x="220133" y="1758974"/>
                </a:cubicBezTo>
                <a:cubicBezTo>
                  <a:pt x="215900" y="1775907"/>
                  <a:pt x="214309" y="1793731"/>
                  <a:pt x="207433" y="1809774"/>
                </a:cubicBezTo>
                <a:cubicBezTo>
                  <a:pt x="201420" y="1823803"/>
                  <a:pt x="186860" y="1833394"/>
                  <a:pt x="182033" y="1847874"/>
                </a:cubicBezTo>
                <a:cubicBezTo>
                  <a:pt x="150369" y="1942867"/>
                  <a:pt x="202477" y="1913026"/>
                  <a:pt x="131233" y="1936774"/>
                </a:cubicBezTo>
                <a:cubicBezTo>
                  <a:pt x="122766" y="1953707"/>
                  <a:pt x="115226" y="1971136"/>
                  <a:pt x="105833" y="1987574"/>
                </a:cubicBezTo>
                <a:cubicBezTo>
                  <a:pt x="98260" y="2000826"/>
                  <a:pt x="82326" y="2010528"/>
                  <a:pt x="80433" y="2025674"/>
                </a:cubicBezTo>
                <a:cubicBezTo>
                  <a:pt x="77756" y="2047093"/>
                  <a:pt x="90456" y="2067755"/>
                  <a:pt x="93133" y="2089174"/>
                </a:cubicBezTo>
                <a:cubicBezTo>
                  <a:pt x="94708" y="2101776"/>
                  <a:pt x="0" y="2135741"/>
                  <a:pt x="93133" y="2165374"/>
                </a:cubicBezTo>
                <a:close/>
              </a:path>
            </a:pathLst>
          </a:cu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9" name="Google Shape;1159;p85" descr="http://tbn0.google.com/images?q=tbn:QwQEjBqIr1fzVM:http://s294.photobucket.com/albums/mm96/sabater_wb/supermensagens/Garfield/ga075.gif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85938" y="3571875"/>
            <a:ext cx="844550" cy="68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85"/>
          <p:cNvSpPr/>
          <p:nvPr/>
        </p:nvSpPr>
        <p:spPr>
          <a:xfrm>
            <a:off x="5495928" y="4754586"/>
            <a:ext cx="1213200" cy="784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1414A6"/>
              </a:gs>
              <a:gs pos="80000">
                <a:srgbClr val="1A1ADB"/>
              </a:gs>
              <a:gs pos="100000">
                <a:srgbClr val="1616E0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1161" name="Google Shape;1161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Pirâmide de Requisitos</a:t>
            </a:r>
            <a:endParaRPr/>
          </a:p>
        </p:txBody>
      </p:sp>
      <p:sp>
        <p:nvSpPr>
          <p:cNvPr id="1162" name="Google Shape;1162;p8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Para produzirmos uma SOLUÇÃO, precisamos, antes, entender o PROBLEMA e as NECESSIDADES do Cliente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cteh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ctehma" id="{8ED94DAC-17E3-4555-9F77-7B44656B8459}" vid="{328B2D33-3A7D-43D5-BC19-FC301EBEF4CC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3820</Words>
  <Application>Microsoft Office PowerPoint</Application>
  <PresentationFormat>Apresentação na tela (4:3)</PresentationFormat>
  <Paragraphs>613</Paragraphs>
  <Slides>90</Slides>
  <Notes>61</Notes>
  <HiddenSlides>0</HiddenSlides>
  <MMClips>0</MMClips>
  <ScaleCrop>false</ScaleCrop>
  <HeadingPairs>
    <vt:vector size="8" baseType="variant">
      <vt:variant>
        <vt:lpstr>Fontes usadas</vt:lpstr>
      </vt:variant>
      <vt:variant>
        <vt:i4>14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90</vt:i4>
      </vt:variant>
    </vt:vector>
  </HeadingPairs>
  <TitlesOfParts>
    <vt:vector size="107" baseType="lpstr">
      <vt:lpstr>Arial MT</vt:lpstr>
      <vt:lpstr>Times New Roman</vt:lpstr>
      <vt:lpstr>Calibri (Headings)</vt:lpstr>
      <vt:lpstr>Verdana</vt:lpstr>
      <vt:lpstr>MV Boli</vt:lpstr>
      <vt:lpstr>Comic Sans MS</vt:lpstr>
      <vt:lpstr>DejaVu Sans</vt:lpstr>
      <vt:lpstr>Segoe UI</vt:lpstr>
      <vt:lpstr>Tahoma</vt:lpstr>
      <vt:lpstr>Calibri</vt:lpstr>
      <vt:lpstr>Webdings</vt:lpstr>
      <vt:lpstr>Noto Sans Symbols</vt:lpstr>
      <vt:lpstr>Arial</vt:lpstr>
      <vt:lpstr>Arial Narrow</vt:lpstr>
      <vt:lpstr>Personalizar design</vt:lpstr>
      <vt:lpstr>puctehma</vt:lpstr>
      <vt:lpstr>MS_ClipArt_Gallery.2</vt:lpstr>
      <vt:lpstr>  Métodos de Engenharia de Software </vt:lpstr>
      <vt:lpstr>Introdução à Engenharia de Software</vt:lpstr>
      <vt:lpstr>Engenharia de Software  </vt:lpstr>
      <vt:lpstr>Principais Metas</vt:lpstr>
      <vt:lpstr>Elementos</vt:lpstr>
      <vt:lpstr>Métodos</vt:lpstr>
      <vt:lpstr>Alguns Métodos </vt:lpstr>
      <vt:lpstr>Ferramentas </vt:lpstr>
      <vt:lpstr>Procedimentos </vt:lpstr>
      <vt:lpstr>Atividade</vt:lpstr>
      <vt:lpstr>Paradigmas de ES</vt:lpstr>
      <vt:lpstr>Modelo mais antigo: Ciclo de Vida Clássico ou Cascata </vt:lpstr>
      <vt:lpstr>Atividades do Cascata Ciclo de Vida Clássico</vt:lpstr>
      <vt:lpstr>Atividades do Cascata </vt:lpstr>
      <vt:lpstr>Atividades do Cascata</vt:lpstr>
      <vt:lpstr>Atividades do Cascata  </vt:lpstr>
      <vt:lpstr>Atividades do Cascata</vt:lpstr>
      <vt:lpstr>Atividades do Cascata</vt:lpstr>
      <vt:lpstr>Problemas com cascata</vt:lpstr>
      <vt:lpstr> Ciclo de Vida Clássico  </vt:lpstr>
      <vt:lpstr>Que deu errado neste sistema?</vt:lpstr>
      <vt:lpstr>Introdução à Engenharia de Software</vt:lpstr>
      <vt:lpstr>Modelos de processo evolucionário</vt:lpstr>
      <vt:lpstr>Modelos evolucionários</vt:lpstr>
      <vt:lpstr> Prototipação</vt:lpstr>
      <vt:lpstr> Prototipação</vt:lpstr>
      <vt:lpstr>Atividades da Prototipação</vt:lpstr>
      <vt:lpstr>Atividades da Prototipação</vt:lpstr>
      <vt:lpstr>Atividades da Prototipação</vt:lpstr>
      <vt:lpstr>Atividades da Prototipação</vt:lpstr>
      <vt:lpstr>Problemas com a Prototipação</vt:lpstr>
      <vt:lpstr>Problemas com a Prototipação</vt:lpstr>
      <vt:lpstr>Prototipação  </vt:lpstr>
      <vt:lpstr>EXEMPLO</vt:lpstr>
      <vt:lpstr>Apresentação do PowerPoint</vt:lpstr>
      <vt:lpstr>Apresentação do PowerPoint</vt:lpstr>
      <vt:lpstr>Exercício</vt:lpstr>
      <vt:lpstr>Ciclo de Vida em Espiral</vt:lpstr>
      <vt:lpstr>Ciclo de Vida em Espiral</vt:lpstr>
      <vt:lpstr>Atividades </vt:lpstr>
      <vt:lpstr>CARACTERÍSTICAS</vt:lpstr>
      <vt:lpstr>PRIMEIRA ITERAÇÃO</vt:lpstr>
      <vt:lpstr>SEGUNDA ITERAÇÃO</vt:lpstr>
      <vt:lpstr>OUTRAS ITERAÇÕES</vt:lpstr>
      <vt:lpstr>Alguns Riscos</vt:lpstr>
      <vt:lpstr>Outros Riscos</vt:lpstr>
      <vt:lpstr>Outros Riscos</vt:lpstr>
      <vt:lpstr>Apresentação do PowerPoint</vt:lpstr>
      <vt:lpstr>Análise do Risco</vt:lpstr>
      <vt:lpstr>Tabela de Riscos</vt:lpstr>
      <vt:lpstr>Ciclo de Vida em Espiral </vt:lpstr>
      <vt:lpstr>Ciclo de Vida em Espiral </vt:lpstr>
      <vt:lpstr>Desvantagem dos modelos evolucionários</vt:lpstr>
      <vt:lpstr>Modelo V</vt:lpstr>
      <vt:lpstr>Modelo V</vt:lpstr>
      <vt:lpstr>Modelo V</vt:lpstr>
      <vt:lpstr>Técnicas de 4a Geração</vt:lpstr>
      <vt:lpstr>Técnicas de 4a Geração</vt:lpstr>
      <vt:lpstr>Ferramentas do ambiente de 4GL</vt:lpstr>
      <vt:lpstr>Atividades das Técnicas de 4aGL</vt:lpstr>
      <vt:lpstr>Atividades das Técnicas de 4aGL  </vt:lpstr>
      <vt:lpstr>Atividades  </vt:lpstr>
      <vt:lpstr>Atividades  </vt:lpstr>
      <vt:lpstr>Técnicas de 4a Geração  </vt:lpstr>
      <vt:lpstr>Baseada em componentes</vt:lpstr>
      <vt:lpstr>Processos Iterativos</vt:lpstr>
      <vt:lpstr>Entrega incremental</vt:lpstr>
      <vt:lpstr>Desenvolvimento incremental</vt:lpstr>
      <vt:lpstr>Desenvolvimento Incremental Vantagens</vt:lpstr>
      <vt:lpstr>O Processo Unificado  (RUP –Rational UnifiedProcess)</vt:lpstr>
      <vt:lpstr>Modelo de fases do RUP</vt:lpstr>
      <vt:lpstr>Fases do RUP ou PU</vt:lpstr>
      <vt:lpstr>Apresentação do PowerPoint</vt:lpstr>
      <vt:lpstr>Apresentação do PowerPoint</vt:lpstr>
      <vt:lpstr>Apresentação do PowerPoint</vt:lpstr>
      <vt:lpstr>Apresentação do PowerPoint</vt:lpstr>
      <vt:lpstr>FLUXO FASE TRANSIÇÃO</vt:lpstr>
      <vt:lpstr>ARTEFATOS</vt:lpstr>
      <vt:lpstr>Boas práticas do RUP</vt:lpstr>
      <vt:lpstr>Modelos de processo incremental</vt:lpstr>
      <vt:lpstr>Apresentação do PowerPoint</vt:lpstr>
      <vt:lpstr>Exercício</vt:lpstr>
      <vt:lpstr>Vantagem</vt:lpstr>
      <vt:lpstr>Apresentação do PowerPoint</vt:lpstr>
      <vt:lpstr>Obrigado!</vt:lpstr>
      <vt:lpstr>Engenharia de Requisitos</vt:lpstr>
      <vt:lpstr>Definição de Requisito</vt:lpstr>
      <vt:lpstr>A Pirâmide de Requisitos</vt:lpstr>
      <vt:lpstr>Desenvolvemos software porque:</vt:lpstr>
      <vt:lpstr>A Pirâmide de Requisitos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Engenharia de Software</dc:title>
  <dc:creator>Osvaldo Takai</dc:creator>
  <cp:lastModifiedBy>CECILIA SOSA ARIAS PEIXOTO</cp:lastModifiedBy>
  <cp:revision>44</cp:revision>
  <dcterms:created xsi:type="dcterms:W3CDTF">1998-01-26T12:56:26Z</dcterms:created>
  <dcterms:modified xsi:type="dcterms:W3CDTF">2024-08-28T12:37:58Z</dcterms:modified>
</cp:coreProperties>
</file>