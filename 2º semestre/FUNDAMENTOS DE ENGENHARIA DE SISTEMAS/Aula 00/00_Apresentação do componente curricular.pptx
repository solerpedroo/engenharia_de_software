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94" r:id="rId4"/>
    <p:sldId id="326" r:id="rId5"/>
    <p:sldId id="333" r:id="rId6"/>
    <p:sldId id="327" r:id="rId7"/>
    <p:sldId id="328" r:id="rId8"/>
    <p:sldId id="329" r:id="rId9"/>
    <p:sldId id="330" r:id="rId10"/>
    <p:sldId id="331" r:id="rId11"/>
    <p:sldId id="334" r:id="rId12"/>
    <p:sldId id="316" r:id="rId13"/>
    <p:sldId id="300" r:id="rId14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07" autoAdjust="0"/>
    <p:restoredTop sz="76599" autoAdjust="0"/>
  </p:normalViewPr>
  <p:slideViewPr>
    <p:cSldViewPr snapToGrid="0">
      <p:cViewPr varScale="1">
        <p:scale>
          <a:sx n="96" d="100"/>
          <a:sy n="96" d="100"/>
        </p:scale>
        <p:origin x="1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90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AB325C-A5FF-4D71-9EB6-4BDDC100CD28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73D5C-7984-4443-936E-E0CE90B435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360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114711C-B60C-45CC-8923-F3F1472B887B}" type="datetimeFigureOut">
              <a:rPr lang="pt-BR" smtClean="0"/>
              <a:t>03/08/2024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4A0BF36-E21C-47D0-A52E-04F4B36F86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613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0BF36-E21C-47D0-A52E-04F4B36F865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9856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0BF36-E21C-47D0-A52E-04F4B36F865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0373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0BF36-E21C-47D0-A52E-04F4B36F865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7574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0BF36-E21C-47D0-A52E-04F4B36F865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162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0BF36-E21C-47D0-A52E-04F4B36F865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968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0BF36-E21C-47D0-A52E-04F4B36F865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988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0BF36-E21C-47D0-A52E-04F4B36F865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65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A288C-642A-4346-AB4F-23C16C3F8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9678" y="2743199"/>
            <a:ext cx="7342495" cy="685801"/>
          </a:xfrm>
        </p:spPr>
        <p:txBody>
          <a:bodyPr anchor="b"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474A5D-C387-42A7-A470-A35E71BA7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7756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6450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72D02-5C18-4277-913C-3485BC69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4FF246-8308-4757-BCD0-4E012EBF4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0A4E0E7-C8F2-4D4D-B900-0CDDE2D79C42}"/>
              </a:ext>
            </a:extLst>
          </p:cNvPr>
          <p:cNvSpPr txBox="1"/>
          <p:nvPr userDrawn="1"/>
        </p:nvSpPr>
        <p:spPr>
          <a:xfrm>
            <a:off x="0" y="6276201"/>
            <a:ext cx="314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200" b="1" dirty="0">
                <a:solidFill>
                  <a:schemeClr val="bg1"/>
                </a:solidFill>
              </a:rPr>
              <a:t>TECNOLOGIAS EM TI</a:t>
            </a:r>
          </a:p>
        </p:txBody>
      </p:sp>
    </p:spTree>
    <p:extLst>
      <p:ext uri="{BB962C8B-B14F-4D97-AF65-F5344CB8AC3E}">
        <p14:creationId xmlns:p14="http://schemas.microsoft.com/office/powerpoint/2010/main" val="264767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801D5-4DAE-46C9-B95B-80D03323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896155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4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C8ED1A-CEAF-40FB-838F-707BF8BF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365125"/>
            <a:ext cx="2538483" cy="26510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0FC2956-BD08-44DD-8C7E-5A6BEDA54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600" y="365125"/>
            <a:ext cx="7712122" cy="5811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332101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FA796-81CF-4572-8E5E-414EFEC94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4258" y="3172692"/>
            <a:ext cx="7342495" cy="685801"/>
          </a:xfrm>
        </p:spPr>
        <p:txBody>
          <a:bodyPr>
            <a:noAutofit/>
          </a:bodyPr>
          <a:lstStyle/>
          <a:p>
            <a:r>
              <a:rPr lang="pt-BR" dirty="0"/>
              <a:t>Disciplina 12540 - FUNDAMENTOS DE ENGENHARIA DE SISTEMAS </a:t>
            </a:r>
            <a:br>
              <a:rPr lang="pt-BR" sz="3200" dirty="0"/>
            </a:br>
            <a:br>
              <a:rPr lang="pt-BR" altLang="en-US" sz="3200" b="1" dirty="0"/>
            </a:br>
            <a:r>
              <a:rPr lang="pt-BR" altLang="en-US" sz="4400" b="1" dirty="0"/>
              <a:t>Aula de Apresentação</a:t>
            </a:r>
            <a:endParaRPr lang="pt-BR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46FD98-FD99-4B74-BCE5-955C2FE4D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(</a:t>
            </a:r>
            <a:r>
              <a:rPr lang="pt-BR" dirty="0">
                <a:solidFill>
                  <a:schemeClr val="bg1"/>
                </a:solidFill>
              </a:rPr>
              <a:t>ENGENHARIA DE SOFTWARE</a:t>
            </a:r>
            <a:r>
              <a:rPr lang="pt-BR" sz="2400" dirty="0">
                <a:solidFill>
                  <a:schemeClr val="bg1"/>
                </a:solidFill>
              </a:rPr>
              <a:t>)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Prof. Me Sergio Marques</a:t>
            </a:r>
            <a:endParaRPr lang="pt-BR" b="1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72B16A6-7B05-4725-943E-567728949733}"/>
              </a:ext>
            </a:extLst>
          </p:cNvPr>
          <p:cNvSpPr/>
          <p:nvPr/>
        </p:nvSpPr>
        <p:spPr>
          <a:xfrm>
            <a:off x="521268" y="6488668"/>
            <a:ext cx="772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Aula 1</a:t>
            </a:r>
          </a:p>
        </p:txBody>
      </p:sp>
    </p:spTree>
    <p:extLst>
      <p:ext uri="{BB962C8B-B14F-4D97-AF65-F5344CB8AC3E}">
        <p14:creationId xmlns:p14="http://schemas.microsoft.com/office/powerpoint/2010/main" val="213332250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B3DFF-E106-423E-9447-F64E56ED4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365124"/>
            <a:ext cx="3983762" cy="4829727"/>
          </a:xfrm>
        </p:spPr>
        <p:txBody>
          <a:bodyPr/>
          <a:lstStyle/>
          <a:p>
            <a:pPr algn="ctr"/>
            <a:r>
              <a:rPr lang="pt-BR" dirty="0"/>
              <a:t>O que veremos hoje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8C6BFE-39A9-497D-B45A-459EF2F32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4000" dirty="0"/>
              <a:t>Plano de curso</a:t>
            </a:r>
          </a:p>
          <a:p>
            <a:pPr marL="0" indent="0">
              <a:buNone/>
            </a:pPr>
            <a:endParaRPr lang="pt-BR" sz="4000" dirty="0"/>
          </a:p>
        </p:txBody>
      </p:sp>
      <p:pic>
        <p:nvPicPr>
          <p:cNvPr id="4" name="Picture 2" descr="Resultado de imagem para imagem professora no quad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320" y="1538287"/>
            <a:ext cx="5962650" cy="463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826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904B2-3FB7-41CB-84EB-CEDD5E2D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365125"/>
            <a:ext cx="3591015" cy="2651030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+mn-lt"/>
              </a:rPr>
              <a:t>EMENTA</a:t>
            </a:r>
            <a:endParaRPr lang="pt-BR" sz="40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105586" y="983675"/>
            <a:ext cx="818526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>
                <a:effectLst/>
                <a:latin typeface="Helvetica" pitchFamily="2" charset="0"/>
              </a:rPr>
              <a:t>Apresenta as premissas para o desenvolvimento de sistemas artificiais de alta complexidade.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3200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>
                <a:effectLst/>
                <a:latin typeface="Helvetica" pitchFamily="2" charset="0"/>
              </a:rPr>
              <a:t>Discute a </a:t>
            </a:r>
            <a:r>
              <a:rPr lang="pt-BR" sz="3200" dirty="0" err="1">
                <a:effectLst/>
                <a:latin typeface="Helvetica" pitchFamily="2" charset="0"/>
              </a:rPr>
              <a:t>visão</a:t>
            </a:r>
            <a:r>
              <a:rPr lang="pt-BR" sz="3200" dirty="0">
                <a:effectLst/>
                <a:latin typeface="Helvetica" pitchFamily="2" charset="0"/>
              </a:rPr>
              <a:t> interdisciplinar de engenharia de sistemas, envolvendo a engenharia de software.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3200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>
                <a:effectLst/>
                <a:latin typeface="Helvetica" pitchFamily="2" charset="0"/>
              </a:rPr>
              <a:t>Discute a </a:t>
            </a:r>
            <a:r>
              <a:rPr lang="pt-BR" sz="3200" dirty="0" err="1">
                <a:effectLst/>
                <a:latin typeface="Helvetica" pitchFamily="2" charset="0"/>
              </a:rPr>
              <a:t>solução</a:t>
            </a:r>
            <a:r>
              <a:rPr lang="pt-BR" sz="3200" dirty="0">
                <a:effectLst/>
                <a:latin typeface="Helvetica" pitchFamily="2" charset="0"/>
              </a:rPr>
              <a:t> de problemas que lidam com planejamento complexo, </a:t>
            </a:r>
            <a:r>
              <a:rPr lang="pt-BR" sz="3200" dirty="0" err="1">
                <a:effectLst/>
                <a:latin typeface="Helvetica" pitchFamily="2" charset="0"/>
              </a:rPr>
              <a:t>otimização</a:t>
            </a:r>
            <a:r>
              <a:rPr lang="pt-BR" sz="3200" dirty="0">
                <a:effectLst/>
                <a:latin typeface="Helvetica" pitchFamily="2" charset="0"/>
              </a:rPr>
              <a:t>, </a:t>
            </a:r>
            <a:r>
              <a:rPr lang="pt-BR" sz="3200" dirty="0" err="1">
                <a:effectLst/>
                <a:latin typeface="Helvetica" pitchFamily="2" charset="0"/>
              </a:rPr>
              <a:t>simulação</a:t>
            </a:r>
            <a:r>
              <a:rPr lang="pt-BR" sz="3200" dirty="0">
                <a:effectLst/>
                <a:latin typeface="Helvetica" pitchFamily="2" charset="0"/>
              </a:rPr>
              <a:t> e heterogeneidade </a:t>
            </a:r>
            <a:r>
              <a:rPr lang="pt-BR" sz="3200" dirty="0" err="1">
                <a:effectLst/>
                <a:latin typeface="Helvetica" pitchFamily="2" charset="0"/>
              </a:rPr>
              <a:t>tecnológica</a:t>
            </a:r>
            <a:r>
              <a:rPr lang="pt-BR" sz="3200" dirty="0">
                <a:effectLst/>
                <a:latin typeface="Helvetica" pitchFamily="2" charset="0"/>
              </a:rPr>
              <a:t>. 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455494292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904B2-3FB7-41CB-84EB-CEDD5E2D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365125"/>
            <a:ext cx="3591015" cy="2651030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+mn-lt"/>
              </a:rPr>
              <a:t>Objetivos</a:t>
            </a:r>
            <a:endParaRPr lang="pt-BR" sz="40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4117570" y="997526"/>
            <a:ext cx="76698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altLang="en-US" b="1" dirty="0">
                <a:solidFill>
                  <a:srgbClr val="FF0000"/>
                </a:solidFill>
              </a:rPr>
              <a:t>Objetivo(s) Geral(</a:t>
            </a:r>
            <a:r>
              <a:rPr lang="pt-BR" altLang="en-US" b="1" dirty="0" err="1">
                <a:solidFill>
                  <a:srgbClr val="FF0000"/>
                </a:solidFill>
              </a:rPr>
              <a:t>is</a:t>
            </a:r>
            <a:r>
              <a:rPr lang="pt-BR" altLang="en-US" b="1" dirty="0">
                <a:solidFill>
                  <a:srgbClr val="FF0000"/>
                </a:solidFill>
              </a:rPr>
              <a:t>):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endParaRPr lang="pt-BR" altLang="en-US" b="1" dirty="0">
              <a:solidFill>
                <a:srgbClr val="FF000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pt-BR" sz="1800" dirty="0">
                <a:effectLst/>
                <a:latin typeface="Helvetica" pitchFamily="2" charset="0"/>
              </a:rPr>
              <a:t>Aplicar </a:t>
            </a:r>
            <a:r>
              <a:rPr lang="pt-BR" sz="1800" dirty="0" err="1">
                <a:effectLst/>
                <a:latin typeface="Helvetica" pitchFamily="2" charset="0"/>
              </a:rPr>
              <a:t>métodos</a:t>
            </a:r>
            <a:r>
              <a:rPr lang="pt-BR" sz="1800" dirty="0">
                <a:effectLst/>
                <a:latin typeface="Helvetica" pitchFamily="2" charset="0"/>
              </a:rPr>
              <a:t> para modelar, representar e ensaiar </a:t>
            </a:r>
            <a:r>
              <a:rPr lang="pt-BR" sz="1800" dirty="0" err="1">
                <a:effectLst/>
                <a:latin typeface="Helvetica" pitchFamily="2" charset="0"/>
              </a:rPr>
              <a:t>soluções</a:t>
            </a:r>
            <a:endParaRPr lang="pt-BR" sz="1800" dirty="0">
              <a:effectLst/>
              <a:latin typeface="Helvetic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pt-BR" sz="1800" dirty="0">
              <a:effectLst/>
              <a:latin typeface="Helvetic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pt-BR" sz="1800" dirty="0">
                <a:effectLst/>
                <a:latin typeface="Helvetica" pitchFamily="2" charset="0"/>
              </a:rPr>
              <a:t>Aplicar </a:t>
            </a:r>
            <a:r>
              <a:rPr lang="pt-BR" sz="1800" dirty="0" err="1">
                <a:effectLst/>
                <a:latin typeface="Helvetica" pitchFamily="2" charset="0"/>
              </a:rPr>
              <a:t>raciocínio</a:t>
            </a:r>
            <a:r>
              <a:rPr lang="pt-BR" sz="1800" dirty="0">
                <a:effectLst/>
                <a:latin typeface="Helvetica" pitchFamily="2" charset="0"/>
              </a:rPr>
              <a:t> </a:t>
            </a:r>
            <a:r>
              <a:rPr lang="pt-BR" sz="1800" dirty="0" err="1">
                <a:effectLst/>
                <a:latin typeface="Helvetica" pitchFamily="2" charset="0"/>
              </a:rPr>
              <a:t>lógico</a:t>
            </a:r>
            <a:r>
              <a:rPr lang="pt-BR" sz="1800" dirty="0">
                <a:effectLst/>
                <a:latin typeface="Helvetica" pitchFamily="2" charset="0"/>
              </a:rPr>
              <a:t> e abstrato</a:t>
            </a:r>
          </a:p>
          <a:p>
            <a:pPr marL="285750" indent="-285750">
              <a:buFont typeface="Wingdings" pitchFamily="2" charset="2"/>
              <a:buChar char="Ø"/>
            </a:pPr>
            <a:endParaRPr lang="pt-BR" sz="1800" dirty="0">
              <a:effectLst/>
              <a:latin typeface="Helvetic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pt-BR" sz="1800" dirty="0">
                <a:effectLst/>
                <a:latin typeface="Helvetica" pitchFamily="2" charset="0"/>
              </a:rPr>
              <a:t>Formular e selecionar dentre diferentes </a:t>
            </a:r>
            <a:r>
              <a:rPr lang="pt-BR" sz="1800" dirty="0" err="1">
                <a:effectLst/>
                <a:latin typeface="Helvetica" pitchFamily="2" charset="0"/>
              </a:rPr>
              <a:t>opções</a:t>
            </a:r>
            <a:r>
              <a:rPr lang="pt-BR" sz="1800" dirty="0">
                <a:effectLst/>
                <a:latin typeface="Helvetica" pitchFamily="2" charset="0"/>
              </a:rPr>
              <a:t> e/ou </a:t>
            </a:r>
            <a:r>
              <a:rPr lang="pt-BR" sz="1800" dirty="0" err="1">
                <a:effectLst/>
                <a:latin typeface="Helvetica" pitchFamily="2" charset="0"/>
              </a:rPr>
              <a:t>estratégias</a:t>
            </a:r>
            <a:r>
              <a:rPr lang="pt-BR" sz="1800" dirty="0">
                <a:effectLst/>
                <a:latin typeface="Helvetica" pitchFamily="2" charset="0"/>
              </a:rPr>
              <a:t> para atingir um objetivo, aplicando flexibilidade de </a:t>
            </a:r>
            <a:r>
              <a:rPr lang="pt-BR" sz="1800" dirty="0" err="1">
                <a:effectLst/>
                <a:latin typeface="Helvetica" pitchFamily="2" charset="0"/>
              </a:rPr>
              <a:t>raciocínio</a:t>
            </a:r>
            <a:r>
              <a:rPr lang="pt-BR" sz="1800" dirty="0">
                <a:effectLst/>
                <a:latin typeface="Helvetica" pitchFamily="2" charset="0"/>
              </a:rPr>
              <a:t> e capacidade de julgamento e tomada de </a:t>
            </a:r>
            <a:r>
              <a:rPr lang="pt-BR" sz="1800" dirty="0" err="1">
                <a:effectLst/>
                <a:latin typeface="Helvetica" pitchFamily="2" charset="0"/>
              </a:rPr>
              <a:t>decisões</a:t>
            </a:r>
            <a:r>
              <a:rPr lang="pt-BR" sz="1800" dirty="0">
                <a:effectLst/>
                <a:latin typeface="Helvetic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pt-BR" dirty="0">
              <a:latin typeface="Helvetic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pt-BR" sz="1800" dirty="0">
                <a:effectLst/>
                <a:latin typeface="Helvetica" pitchFamily="2" charset="0"/>
              </a:rPr>
              <a:t>Sintetizar ideias escritas e a </a:t>
            </a:r>
            <a:r>
              <a:rPr lang="pt-BR" sz="1800" dirty="0" err="1">
                <a:effectLst/>
                <a:latin typeface="Helvetica" pitchFamily="2" charset="0"/>
              </a:rPr>
              <a:t>representação</a:t>
            </a:r>
            <a:r>
              <a:rPr lang="pt-BR" sz="1800" dirty="0">
                <a:effectLst/>
                <a:latin typeface="Helvetica" pitchFamily="2" charset="0"/>
              </a:rPr>
              <a:t> de modelos e processos </a:t>
            </a:r>
            <a:endParaRPr lang="pt-BR" sz="28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831297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904B2-3FB7-41CB-84EB-CEDD5E2D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365125"/>
            <a:ext cx="3591015" cy="2651030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+mn-lt"/>
              </a:rPr>
              <a:t>Objetivos</a:t>
            </a:r>
            <a:endParaRPr lang="pt-BR" sz="40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3768436" y="365125"/>
            <a:ext cx="7547957" cy="5577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altLang="en-US" sz="2400" b="1" dirty="0">
                <a:solidFill>
                  <a:srgbClr val="FF0000"/>
                </a:solidFill>
              </a:rPr>
              <a:t>Objetivos Específicos: </a:t>
            </a:r>
          </a:p>
          <a:p>
            <a:pPr algn="just">
              <a:lnSpc>
                <a:spcPct val="150000"/>
              </a:lnSpc>
            </a:pPr>
            <a:endParaRPr lang="pt-BR" altLang="en-US" sz="24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effectLst/>
                <a:latin typeface="Helvetica" pitchFamily="2" charset="0"/>
              </a:rPr>
              <a:t>Captar a </a:t>
            </a:r>
            <a:r>
              <a:rPr lang="pt-BR" sz="2400" dirty="0" err="1">
                <a:effectLst/>
                <a:latin typeface="Helvetica" pitchFamily="2" charset="0"/>
              </a:rPr>
              <a:t>extensão</a:t>
            </a:r>
            <a:r>
              <a:rPr lang="pt-BR" sz="2400" dirty="0">
                <a:effectLst/>
                <a:latin typeface="Helvetica" pitchFamily="2" charset="0"/>
              </a:rPr>
              <a:t>, analisar e decompor problemas propondo </a:t>
            </a:r>
            <a:r>
              <a:rPr lang="pt-BR" sz="2400" dirty="0" err="1">
                <a:effectLst/>
                <a:latin typeface="Helvetica" pitchFamily="2" charset="0"/>
              </a:rPr>
              <a:t>soluções</a:t>
            </a:r>
            <a:endParaRPr lang="pt-BR" sz="2400" dirty="0">
              <a:effectLst/>
              <a:latin typeface="Helvetica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pt-BR" sz="2400" dirty="0">
              <a:effectLst/>
              <a:latin typeface="Helvetica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effectLst/>
                <a:latin typeface="Helvetica" pitchFamily="2" charset="0"/>
              </a:rPr>
              <a:t>Entender os fundamentos das Engenharias de sistemas e de software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pt-BR" sz="2400" dirty="0">
              <a:effectLst/>
              <a:latin typeface="Helvetica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effectLst/>
                <a:latin typeface="Helvetica" pitchFamily="2" charset="0"/>
              </a:rPr>
              <a:t>Entender softwares como sistemas, constituintes de outros sistemas como parte ou como todo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500675706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904B2-3FB7-41CB-84EB-CEDD5E2D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365125"/>
            <a:ext cx="3591015" cy="2651030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+mn-lt"/>
              </a:rPr>
              <a:t>Conteúdo</a:t>
            </a:r>
            <a:endParaRPr lang="pt-BR" sz="40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3337379" y="1261694"/>
            <a:ext cx="799684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1800" dirty="0">
                <a:effectLst/>
                <a:latin typeface="Helvetica" pitchFamily="2" charset="0"/>
              </a:rPr>
              <a:t>Engenharia de Sistemas: O que é. A </a:t>
            </a:r>
            <a:r>
              <a:rPr lang="pt-BR" sz="1800" dirty="0" err="1">
                <a:effectLst/>
                <a:latin typeface="Helvetica" pitchFamily="2" charset="0"/>
              </a:rPr>
              <a:t>Organização</a:t>
            </a:r>
            <a:r>
              <a:rPr lang="pt-BR" sz="1800" dirty="0">
                <a:effectLst/>
                <a:latin typeface="Helvetica" pitchFamily="2" charset="0"/>
              </a:rPr>
              <a:t> e estrutura de sistemas artificiais e </a:t>
            </a:r>
            <a:r>
              <a:rPr lang="pt-BR" sz="1800" dirty="0" err="1">
                <a:effectLst/>
                <a:latin typeface="Helvetica" pitchFamily="2" charset="0"/>
              </a:rPr>
              <a:t>sócio</a:t>
            </a:r>
            <a:r>
              <a:rPr lang="pt-BR" sz="1800" dirty="0">
                <a:effectLst/>
                <a:latin typeface="Helvetica" pitchFamily="2" charset="0"/>
              </a:rPr>
              <a:t> </a:t>
            </a:r>
            <a:r>
              <a:rPr lang="pt-BR" sz="1800" dirty="0" err="1">
                <a:effectLst/>
                <a:latin typeface="Helvetica" pitchFamily="2" charset="0"/>
              </a:rPr>
              <a:t>técnicos</a:t>
            </a:r>
            <a:r>
              <a:rPr lang="pt-BR" sz="1800" dirty="0">
                <a:effectLst/>
                <a:latin typeface="Helvetica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800" dirty="0" err="1">
                <a:effectLst/>
                <a:latin typeface="Helvetica" pitchFamily="2" charset="0"/>
              </a:rPr>
              <a:t>Percepção</a:t>
            </a:r>
            <a:r>
              <a:rPr lang="pt-BR" sz="1800" dirty="0">
                <a:effectLst/>
                <a:latin typeface="Helvetica" pitchFamily="2" charset="0"/>
              </a:rPr>
              <a:t> da </a:t>
            </a:r>
            <a:r>
              <a:rPr lang="pt-BR" sz="1800" dirty="0" err="1">
                <a:effectLst/>
                <a:latin typeface="Helvetica" pitchFamily="2" charset="0"/>
              </a:rPr>
              <a:t>extensão</a:t>
            </a:r>
            <a:r>
              <a:rPr lang="pt-BR" sz="1800" dirty="0">
                <a:effectLst/>
                <a:latin typeface="Helvetica" pitchFamily="2" charset="0"/>
              </a:rPr>
              <a:t>, analise e </a:t>
            </a:r>
            <a:r>
              <a:rPr lang="pt-BR" sz="1800" dirty="0" err="1">
                <a:effectLst/>
                <a:latin typeface="Helvetica" pitchFamily="2" charset="0"/>
              </a:rPr>
              <a:t>Decomposição</a:t>
            </a:r>
            <a:r>
              <a:rPr lang="pt-BR" sz="1800" dirty="0">
                <a:effectLst/>
                <a:latin typeface="Helvetica" pitchFamily="2" charset="0"/>
              </a:rPr>
              <a:t> problemas, propondo </a:t>
            </a:r>
            <a:r>
              <a:rPr lang="pt-BR" sz="1800" dirty="0" err="1">
                <a:effectLst/>
                <a:latin typeface="Helvetica" pitchFamily="2" charset="0"/>
              </a:rPr>
              <a:t>soluções</a:t>
            </a:r>
            <a:r>
              <a:rPr lang="pt-BR" sz="1800" dirty="0">
                <a:effectLst/>
                <a:latin typeface="Helvetica" pitchFamily="2" charset="0"/>
              </a:rPr>
              <a:t>. Engenharia cognitiva de sistemas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800" dirty="0">
                <a:effectLst/>
                <a:latin typeface="Helvetica" pitchFamily="2" charset="0"/>
              </a:rPr>
              <a:t>A Engenharia de Sistemas baseada em modelos e </a:t>
            </a:r>
            <a:r>
              <a:rPr lang="pt-BR" sz="1800" dirty="0" err="1">
                <a:effectLst/>
                <a:latin typeface="Helvetica" pitchFamily="2" charset="0"/>
              </a:rPr>
              <a:t>amodelagem</a:t>
            </a:r>
            <a:r>
              <a:rPr lang="pt-BR" sz="1800" dirty="0">
                <a:effectLst/>
                <a:latin typeface="Helvetica" pitchFamily="2" charset="0"/>
              </a:rPr>
              <a:t> de sistemas. 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 err="1">
                <a:effectLst/>
                <a:latin typeface="Helvetica" pitchFamily="2" charset="0"/>
              </a:rPr>
              <a:t>Métodos</a:t>
            </a:r>
            <a:r>
              <a:rPr lang="pt-BR" dirty="0">
                <a:effectLst/>
                <a:latin typeface="Helvetica" pitchFamily="2" charset="0"/>
              </a:rPr>
              <a:t> e Ferramentas. 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>
                <a:effectLst/>
                <a:latin typeface="Helvetica" pitchFamily="2" charset="0"/>
              </a:rPr>
              <a:t>Elementos e Diagramas da </a:t>
            </a:r>
            <a:r>
              <a:rPr lang="pt-BR" dirty="0" err="1">
                <a:effectLst/>
                <a:latin typeface="Helvetica" pitchFamily="2" charset="0"/>
              </a:rPr>
              <a:t>SysML</a:t>
            </a:r>
            <a:r>
              <a:rPr lang="pt-BR" dirty="0">
                <a:effectLst/>
                <a:latin typeface="Helvetica" pitchFamily="2" charset="0"/>
              </a:rPr>
              <a:t> para modelagem </a:t>
            </a:r>
            <a:r>
              <a:rPr lang="pt-BR" dirty="0" err="1">
                <a:effectLst/>
                <a:latin typeface="Helvetica" pitchFamily="2" charset="0"/>
              </a:rPr>
              <a:t>estática</a:t>
            </a:r>
            <a:r>
              <a:rPr lang="pt-BR" dirty="0">
                <a:effectLst/>
                <a:latin typeface="Helvetica" pitchFamily="2" charset="0"/>
              </a:rPr>
              <a:t> (</a:t>
            </a:r>
            <a:r>
              <a:rPr lang="pt-BR" dirty="0" err="1">
                <a:effectLst/>
                <a:latin typeface="Helvetica" pitchFamily="2" charset="0"/>
              </a:rPr>
              <a:t>IBDs</a:t>
            </a:r>
            <a:r>
              <a:rPr lang="pt-BR" dirty="0">
                <a:effectLst/>
                <a:latin typeface="Helvetica" pitchFamily="2" charset="0"/>
              </a:rPr>
              <a:t>) e </a:t>
            </a:r>
            <a:r>
              <a:rPr lang="pt-BR" dirty="0" err="1">
                <a:effectLst/>
                <a:latin typeface="Helvetica" pitchFamily="2" charset="0"/>
              </a:rPr>
              <a:t>dinâmica</a:t>
            </a:r>
            <a:r>
              <a:rPr lang="pt-BR" dirty="0">
                <a:effectLst/>
                <a:latin typeface="Helvetica" pitchFamily="2" charset="0"/>
              </a:rPr>
              <a:t> de sistemas (estados, atividades e sequencias). </a:t>
            </a:r>
            <a:endParaRPr lang="pt-BR" sz="2400" dirty="0"/>
          </a:p>
          <a:p>
            <a:pPr marL="800100" lvl="1" indent="-342900">
              <a:buFont typeface="+mj-lt"/>
              <a:buAutoNum type="arabicPeriod"/>
            </a:pPr>
            <a:r>
              <a:rPr lang="pt-BR" dirty="0" err="1">
                <a:effectLst/>
                <a:latin typeface="Helvetica" pitchFamily="2" charset="0"/>
              </a:rPr>
              <a:t>Exercícios</a:t>
            </a:r>
            <a:r>
              <a:rPr lang="pt-BR" dirty="0">
                <a:effectLst/>
                <a:latin typeface="Helvetica" pitchFamily="2" charset="0"/>
              </a:rPr>
              <a:t> de Modelagem.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effectLst/>
                <a:latin typeface="Helvetica" pitchFamily="2" charset="0"/>
              </a:rPr>
              <a:t>Modelar, representar e ensaiar </a:t>
            </a:r>
            <a:r>
              <a:rPr lang="pt-BR" dirty="0" err="1">
                <a:effectLst/>
                <a:latin typeface="Helvetica" pitchFamily="2" charset="0"/>
              </a:rPr>
              <a:t>soluções</a:t>
            </a:r>
            <a:r>
              <a:rPr lang="pt-BR" dirty="0">
                <a:effectLst/>
                <a:latin typeface="Helvetica" pitchFamily="2" charset="0"/>
              </a:rPr>
              <a:t> para sistemas. Sintetizar ideias escritas e a </a:t>
            </a:r>
            <a:r>
              <a:rPr lang="pt-BR" dirty="0" err="1">
                <a:effectLst/>
                <a:latin typeface="Helvetica" pitchFamily="2" charset="0"/>
              </a:rPr>
              <a:t>representação</a:t>
            </a:r>
            <a:r>
              <a:rPr lang="pt-BR" dirty="0">
                <a:effectLst/>
                <a:latin typeface="Helvetica" pitchFamily="2" charset="0"/>
              </a:rPr>
              <a:t> de modelos e processos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effectLst/>
                <a:latin typeface="Helvetica" pitchFamily="2" charset="0"/>
              </a:rPr>
              <a:t>Sistemas Complexos e Sistemas de Sistemas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effectLst/>
                <a:latin typeface="Helvetica" pitchFamily="2" charset="0"/>
              </a:rPr>
              <a:t>Estrutura do Corpo de conhecimento de engenharia de sistemas (Livro SE-BOK.) </a:t>
            </a:r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43625604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904B2-3FB7-41CB-84EB-CEDD5E2D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365125"/>
            <a:ext cx="3591015" cy="2651030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+mn-lt"/>
              </a:rPr>
              <a:t>Metodologia</a:t>
            </a:r>
            <a:endParaRPr lang="pt-BR" sz="40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4006734" y="365125"/>
            <a:ext cx="7996844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pt-BR" altLang="en-US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en-US" sz="2400" dirty="0"/>
              <a:t>Todo o material apresentado será disponibilizado no </a:t>
            </a:r>
            <a:r>
              <a:rPr lang="pt-BR" altLang="en-US" sz="2400" dirty="0" err="1"/>
              <a:t>Canvas</a:t>
            </a:r>
            <a:r>
              <a:rPr lang="pt-BR" altLang="en-US" sz="2400" dirty="0"/>
              <a:t>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pt-BR" alt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en-US" sz="2400" dirty="0"/>
              <a:t>Aulas presenciais.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pt-BR" alt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en-US" sz="2400" dirty="0" err="1"/>
              <a:t>Acompanhamento</a:t>
            </a:r>
            <a:r>
              <a:rPr lang="en-US" altLang="en-US" sz="2400" dirty="0"/>
              <a:t> das </a:t>
            </a:r>
            <a:r>
              <a:rPr lang="en-US" altLang="en-US" sz="2400" dirty="0" err="1"/>
              <a:t>atividades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individuais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grupo</a:t>
            </a:r>
            <a:r>
              <a:rPr lang="en-US" altLang="en-US" sz="2400" dirty="0"/>
              <a:t> : </a:t>
            </a:r>
            <a:r>
              <a:rPr lang="pt-BR" altLang="en-US" sz="2400" dirty="0"/>
              <a:t>pode ser feita pela ferramenta </a:t>
            </a:r>
            <a:r>
              <a:rPr lang="pt-BR" altLang="en-US" sz="2400" dirty="0" err="1"/>
              <a:t>Canvas</a:t>
            </a:r>
            <a:endParaRPr lang="pt-BR" alt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endParaRPr lang="pt-BR" alt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en-US" sz="2400" dirty="0"/>
              <a:t>Metodologias ativas PBL  </a:t>
            </a:r>
            <a:r>
              <a:rPr lang="pt-BR" sz="2000" dirty="0"/>
              <a:t>	(</a:t>
            </a:r>
            <a:r>
              <a:rPr lang="pt-BR" sz="2000" b="1" i="0" dirty="0" err="1">
                <a:solidFill>
                  <a:srgbClr val="353535"/>
                </a:solidFill>
                <a:effectLst/>
                <a:latin typeface="Georgia" panose="02040502050405020303" pitchFamily="18" charset="0"/>
              </a:rPr>
              <a:t>project-based</a:t>
            </a:r>
            <a:r>
              <a:rPr lang="pt-BR" sz="2000" b="1" i="0" dirty="0">
                <a:solidFill>
                  <a:srgbClr val="353535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pt-BR" sz="2000" b="1" i="0" dirty="0" err="1">
                <a:solidFill>
                  <a:srgbClr val="353535"/>
                </a:solidFill>
                <a:effectLst/>
                <a:latin typeface="Georgia" panose="02040502050405020303" pitchFamily="18" charset="0"/>
              </a:rPr>
              <a:t>learning</a:t>
            </a:r>
            <a:r>
              <a:rPr lang="pt-BR" sz="2000" b="1" i="0" dirty="0">
                <a:solidFill>
                  <a:srgbClr val="353535"/>
                </a:solidFill>
                <a:effectLst/>
                <a:latin typeface="Georgia" panose="02040502050405020303" pitchFamily="18" charset="0"/>
              </a:rPr>
              <a:t>)</a:t>
            </a:r>
          </a:p>
          <a:p>
            <a:pPr algn="just">
              <a:lnSpc>
                <a:spcPct val="150000"/>
              </a:lnSpc>
              <a:defRPr/>
            </a:pPr>
            <a:endParaRPr lang="pt-BR" sz="2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225014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904B2-3FB7-41CB-84EB-CEDD5E2D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365125"/>
            <a:ext cx="3591015" cy="265103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pt-BR" altLang="en-US" sz="4000" dirty="0"/>
              <a:t>Critérios de Avaliação: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3511827" y="365125"/>
            <a:ext cx="8491752" cy="750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pt-BR" sz="2800" dirty="0">
                <a:effectLst/>
                <a:latin typeface="Helvetica" pitchFamily="2" charset="0"/>
              </a:rPr>
              <a:t>A </a:t>
            </a:r>
            <a:r>
              <a:rPr lang="pt-BR" sz="2800" dirty="0" err="1">
                <a:effectLst/>
                <a:latin typeface="Helvetica" pitchFamily="2" charset="0"/>
              </a:rPr>
              <a:t>avaliação</a:t>
            </a:r>
            <a:r>
              <a:rPr lang="pt-BR" sz="2800" dirty="0">
                <a:effectLst/>
                <a:latin typeface="Helvetica" pitchFamily="2" charset="0"/>
              </a:rPr>
              <a:t> </a:t>
            </a:r>
            <a:r>
              <a:rPr lang="pt-BR" sz="2800" dirty="0" err="1">
                <a:effectLst/>
                <a:latin typeface="Helvetica" pitchFamily="2" charset="0"/>
              </a:rPr>
              <a:t>sera</a:t>
            </a:r>
            <a:r>
              <a:rPr lang="pt-BR" sz="2800" dirty="0">
                <a:effectLst/>
                <a:latin typeface="Helvetica" pitchFamily="2" charset="0"/>
              </a:rPr>
              <a:t>́ realizada da seguinte forma:</a:t>
            </a:r>
            <a:br>
              <a:rPr lang="pt-BR" sz="2800" dirty="0">
                <a:effectLst/>
                <a:latin typeface="Helvetica" pitchFamily="2" charset="0"/>
              </a:rPr>
            </a:br>
            <a:r>
              <a:rPr lang="pt-BR" sz="2800" dirty="0">
                <a:effectLst/>
                <a:latin typeface="Helvetica" pitchFamily="2" charset="0"/>
              </a:rPr>
              <a:t>	</a:t>
            </a:r>
            <a:r>
              <a:rPr lang="pt-BR" sz="1800" dirty="0" err="1">
                <a:effectLst/>
                <a:latin typeface="Helvetica" pitchFamily="2" charset="0"/>
              </a:rPr>
              <a:t>T</a:t>
            </a:r>
            <a:r>
              <a:rPr lang="pt-BR" sz="1800" dirty="0">
                <a:effectLst/>
                <a:latin typeface="Helvetica" pitchFamily="2" charset="0"/>
              </a:rPr>
              <a:t> = Nota do Teste Final Conceitual Individual;</a:t>
            </a:r>
            <a:br>
              <a:rPr lang="pt-BR" sz="1800" dirty="0">
                <a:effectLst/>
                <a:latin typeface="Helvetica" pitchFamily="2" charset="0"/>
              </a:rPr>
            </a:br>
            <a:r>
              <a:rPr lang="pt-BR" sz="1800" dirty="0">
                <a:effectLst/>
                <a:latin typeface="Helvetica" pitchFamily="2" charset="0"/>
              </a:rPr>
              <a:t>	AT = </a:t>
            </a:r>
            <a:r>
              <a:rPr lang="pt-BR" sz="1800" dirty="0" err="1">
                <a:effectLst/>
                <a:latin typeface="Helvetica" pitchFamily="2" charset="0"/>
              </a:rPr>
              <a:t>Média</a:t>
            </a:r>
            <a:r>
              <a:rPr lang="pt-BR" sz="1800" dirty="0">
                <a:effectLst/>
                <a:latin typeface="Helvetica" pitchFamily="2" charset="0"/>
              </a:rPr>
              <a:t> das Atividades Somativas (individual ou em equipe) 			ponderadas pelo respectivo peso </a:t>
            </a:r>
          </a:p>
          <a:p>
            <a:pPr>
              <a:lnSpc>
                <a:spcPct val="150000"/>
              </a:lnSpc>
              <a:defRPr/>
            </a:pPr>
            <a:r>
              <a:rPr lang="pt-BR" dirty="0">
                <a:latin typeface="Helvetica" pitchFamily="2" charset="0"/>
              </a:rPr>
              <a:t>	</a:t>
            </a:r>
            <a:r>
              <a:rPr lang="pt-BR" sz="1800" dirty="0">
                <a:effectLst/>
                <a:latin typeface="Helvetica" pitchFamily="2" charset="0"/>
              </a:rPr>
              <a:t>PI = Nota do Projeto Integrador</a:t>
            </a:r>
            <a:br>
              <a:rPr lang="pt-BR" sz="1800" dirty="0">
                <a:effectLst/>
                <a:latin typeface="Helvetica" pitchFamily="2" charset="0"/>
              </a:rPr>
            </a:br>
            <a:endParaRPr lang="pt-BR" sz="1800" dirty="0">
              <a:effectLst/>
              <a:latin typeface="Helvetica" pitchFamily="2" charset="0"/>
            </a:endParaRPr>
          </a:p>
          <a:p>
            <a:pPr>
              <a:lnSpc>
                <a:spcPct val="150000"/>
              </a:lnSpc>
              <a:defRPr/>
            </a:pPr>
            <a:r>
              <a:rPr lang="pt-BR" dirty="0">
                <a:latin typeface="Helvetica" pitchFamily="2" charset="0"/>
              </a:rPr>
              <a:t>	</a:t>
            </a:r>
            <a:r>
              <a:rPr lang="pt-BR" sz="2800" b="1" dirty="0">
                <a:solidFill>
                  <a:srgbClr val="FF0000"/>
                </a:solidFill>
                <a:effectLst/>
                <a:latin typeface="Helvetica" pitchFamily="2" charset="0"/>
              </a:rPr>
              <a:t>A </a:t>
            </a:r>
            <a:r>
              <a:rPr lang="pt-BR" sz="2800" b="1" dirty="0" err="1">
                <a:solidFill>
                  <a:srgbClr val="FF0000"/>
                </a:solidFill>
                <a:effectLst/>
                <a:latin typeface="Helvetica" pitchFamily="2" charset="0"/>
              </a:rPr>
              <a:t>média</a:t>
            </a:r>
            <a:r>
              <a:rPr lang="pt-BR" sz="2800" b="1" dirty="0">
                <a:solidFill>
                  <a:srgbClr val="FF0000"/>
                </a:solidFill>
                <a:effectLst/>
                <a:latin typeface="Helvetica" pitchFamily="2" charset="0"/>
              </a:rPr>
              <a:t> final (MF) </a:t>
            </a:r>
            <a:r>
              <a:rPr lang="pt-BR" sz="2800" b="1" dirty="0" err="1">
                <a:solidFill>
                  <a:srgbClr val="FF0000"/>
                </a:solidFill>
                <a:effectLst/>
                <a:latin typeface="Helvetica" pitchFamily="2" charset="0"/>
              </a:rPr>
              <a:t>sera</a:t>
            </a:r>
            <a:r>
              <a:rPr lang="pt-BR" sz="2800" b="1" dirty="0">
                <a:solidFill>
                  <a:srgbClr val="FF0000"/>
                </a:solidFill>
                <a:effectLst/>
                <a:latin typeface="Helvetica" pitchFamily="2" charset="0"/>
              </a:rPr>
              <a:t>́ , composta por:</a:t>
            </a:r>
            <a:br>
              <a:rPr lang="pt-BR" sz="1800" dirty="0">
                <a:effectLst/>
                <a:latin typeface="Helvetica" pitchFamily="2" charset="0"/>
              </a:rPr>
            </a:br>
            <a:endParaRPr lang="pt-BR" sz="1800" dirty="0">
              <a:effectLst/>
              <a:latin typeface="Helvetica" pitchFamily="2" charset="0"/>
            </a:endParaRPr>
          </a:p>
          <a:p>
            <a:pPr>
              <a:lnSpc>
                <a:spcPct val="150000"/>
              </a:lnSpc>
              <a:defRPr/>
            </a:pPr>
            <a:r>
              <a:rPr lang="pt-BR" dirty="0">
                <a:latin typeface="Helvetica" pitchFamily="2" charset="0"/>
              </a:rPr>
              <a:t>	</a:t>
            </a:r>
            <a:r>
              <a:rPr lang="pt-BR" sz="3200" b="1" dirty="0">
                <a:solidFill>
                  <a:srgbClr val="FF0000"/>
                </a:solidFill>
                <a:effectLst/>
                <a:latin typeface="Helvetica" pitchFamily="2" charset="0"/>
              </a:rPr>
              <a:t>MF = ( (</a:t>
            </a:r>
            <a:r>
              <a:rPr lang="pt-BR" sz="3200" b="1" dirty="0" err="1">
                <a:solidFill>
                  <a:srgbClr val="FF0000"/>
                </a:solidFill>
                <a:effectLst/>
                <a:latin typeface="Helvetica" pitchFamily="2" charset="0"/>
              </a:rPr>
              <a:t>T</a:t>
            </a:r>
            <a:r>
              <a:rPr lang="pt-BR" sz="3200" b="1" dirty="0">
                <a:solidFill>
                  <a:srgbClr val="FF0000"/>
                </a:solidFill>
                <a:effectLst/>
                <a:latin typeface="Helvetica" pitchFamily="2" charset="0"/>
              </a:rPr>
              <a:t> * 0,4) + (AT * 0,5) + (PI *0,1) </a:t>
            </a:r>
            <a:endParaRPr lang="pt-BR" sz="3600" b="1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pt-BR" altLang="en-US" sz="1900" b="1" dirty="0"/>
          </a:p>
          <a:p>
            <a:pPr algn="just">
              <a:lnSpc>
                <a:spcPct val="150000"/>
              </a:lnSpc>
              <a:defRPr/>
            </a:pPr>
            <a:r>
              <a:rPr lang="pt-BR" altLang="en-US" sz="1900" b="1" i="1" dirty="0">
                <a:solidFill>
                  <a:schemeClr val="accent2"/>
                </a:solidFill>
              </a:rPr>
              <a:t>“A cola ou o plágio em provas, exercícios e/ou trabalhos implicará na atribuição de nota ZERO na atividade.”</a:t>
            </a:r>
          </a:p>
          <a:p>
            <a:pPr algn="just">
              <a:lnSpc>
                <a:spcPct val="150000"/>
              </a:lnSpc>
              <a:defRPr/>
            </a:pPr>
            <a:endParaRPr lang="pt-BR" altLang="en-US" sz="1900" i="1" dirty="0">
              <a:solidFill>
                <a:schemeClr val="accent2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400" dirty="0"/>
              <a:t>	</a:t>
            </a:r>
          </a:p>
          <a:p>
            <a:endParaRPr lang="pt-BR" sz="2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5638437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904B2-3FB7-41CB-84EB-CEDD5E2D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365125"/>
            <a:ext cx="2950091" cy="2651030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  <a:defRPr/>
            </a:pPr>
            <a:br>
              <a:rPr lang="pt-BR" altLang="en-US" sz="4000" dirty="0"/>
            </a:br>
            <a:r>
              <a:rPr lang="pt-BR" altLang="en-US" sz="4000" dirty="0"/>
              <a:t>Estratégias de Recuperação: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023359" y="830638"/>
            <a:ext cx="799684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pt-BR" altLang="en-US" sz="2000" dirty="0"/>
          </a:p>
          <a:p>
            <a:pPr>
              <a:defRPr/>
            </a:pPr>
            <a:endParaRPr lang="pt-BR" altLang="en-US" b="1" dirty="0"/>
          </a:p>
          <a:p>
            <a:pPr algn="just">
              <a:lnSpc>
                <a:spcPct val="150000"/>
              </a:lnSpc>
            </a:pPr>
            <a:r>
              <a:rPr lang="pt-BR" sz="2400" dirty="0"/>
              <a:t>O processo de recuperação será realizado durante a execução dos exercícios aplicados e através dos trabalhos a serem desenvolvidos, sendo realizado o feedback do desempenho do aluno.	</a:t>
            </a:r>
          </a:p>
          <a:p>
            <a:pPr algn="just">
              <a:lnSpc>
                <a:spcPct val="150000"/>
              </a:lnSpc>
            </a:pPr>
            <a:endParaRPr lang="pt-BR" sz="2400" dirty="0"/>
          </a:p>
          <a:p>
            <a:pPr algn="just">
              <a:lnSpc>
                <a:spcPct val="150000"/>
              </a:lnSpc>
            </a:pPr>
            <a:r>
              <a:rPr lang="pt-BR" sz="2400" b="1" dirty="0" err="1"/>
              <a:t>Obs</a:t>
            </a:r>
            <a:r>
              <a:rPr lang="pt-BR" sz="2400" b="1" dirty="0"/>
              <a:t>: O conteúdo do presente Plano de Disciplina poderá sofrer alterações de acordo com a dinâmica do curso</a:t>
            </a:r>
          </a:p>
          <a:p>
            <a:endParaRPr lang="pt-BR" sz="2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9249848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904B2-3FB7-41CB-84EB-CEDD5E2D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2" y="365125"/>
            <a:ext cx="2599030" cy="2651030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  <a:defRPr/>
            </a:pPr>
            <a:br>
              <a:rPr lang="pt-BR" altLang="en-US" sz="4000" dirty="0"/>
            </a:br>
            <a:r>
              <a:rPr lang="pt-BR" altLang="en-US" sz="4000" dirty="0"/>
              <a:t>Bibliografia: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945837" y="1129139"/>
            <a:ext cx="8235142" cy="4599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altLang="en-US" sz="2000" b="1" dirty="0">
                <a:solidFill>
                  <a:srgbClr val="FF0000"/>
                </a:solidFill>
              </a:rPr>
              <a:t>Básica: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effectLst/>
                <a:latin typeface="Helvetica" pitchFamily="2" charset="0"/>
              </a:rPr>
              <a:t>SOMMERVILLE, Ian; BOSNIC, Ivan. </a:t>
            </a:r>
            <a:r>
              <a:rPr lang="pt-BR" sz="1800" b="1" dirty="0">
                <a:effectLst/>
                <a:latin typeface="Helvetica" pitchFamily="2" charset="0"/>
              </a:rPr>
              <a:t>Engenharia de software. </a:t>
            </a:r>
            <a:r>
              <a:rPr lang="pt-BR" sz="1800" dirty="0">
                <a:effectLst/>
                <a:latin typeface="Helvetica" pitchFamily="2" charset="0"/>
              </a:rPr>
              <a:t>10. ed. </a:t>
            </a:r>
            <a:r>
              <a:rPr lang="pt-BR" sz="1800" dirty="0" err="1">
                <a:effectLst/>
                <a:latin typeface="Helvetica" pitchFamily="2" charset="0"/>
              </a:rPr>
              <a:t>São</a:t>
            </a:r>
            <a:r>
              <a:rPr lang="pt-BR" sz="1800" dirty="0">
                <a:effectLst/>
                <a:latin typeface="Helvetica" pitchFamily="2" charset="0"/>
              </a:rPr>
              <a:t> Paulo, SP: Pearson, 2011. 768 p. ISBN 9788543024974 (</a:t>
            </a:r>
            <a:r>
              <a:rPr lang="pt-BR" sz="1800" dirty="0" err="1">
                <a:effectLst/>
                <a:latin typeface="Helvetica" pitchFamily="2" charset="0"/>
              </a:rPr>
              <a:t>Disponível</a:t>
            </a:r>
            <a:r>
              <a:rPr lang="pt-BR" sz="1800" dirty="0">
                <a:effectLst/>
                <a:latin typeface="Helvetica" pitchFamily="2" charset="0"/>
              </a:rPr>
              <a:t> na Biblioteca Digital).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effectLst/>
                <a:latin typeface="Helvetica" pitchFamily="2" charset="0"/>
              </a:rPr>
              <a:t>BKCASE EDITORIAL BOARD. The </a:t>
            </a:r>
            <a:r>
              <a:rPr lang="pt-BR" sz="1800" dirty="0" err="1">
                <a:effectLst/>
                <a:latin typeface="Helvetica" pitchFamily="2" charset="0"/>
              </a:rPr>
              <a:t>guide</a:t>
            </a:r>
            <a:r>
              <a:rPr lang="pt-BR" sz="1800" dirty="0">
                <a:effectLst/>
                <a:latin typeface="Helvetica" pitchFamily="2" charset="0"/>
              </a:rPr>
              <a:t> </a:t>
            </a:r>
            <a:r>
              <a:rPr lang="pt-BR" sz="1800" dirty="0" err="1">
                <a:effectLst/>
                <a:latin typeface="Helvetica" pitchFamily="2" charset="0"/>
              </a:rPr>
              <a:t>to</a:t>
            </a:r>
            <a:r>
              <a:rPr lang="pt-BR" sz="1800" dirty="0">
                <a:effectLst/>
                <a:latin typeface="Helvetica" pitchFamily="2" charset="0"/>
              </a:rPr>
              <a:t> </a:t>
            </a:r>
            <a:r>
              <a:rPr lang="pt-BR" sz="1800" dirty="0" err="1">
                <a:effectLst/>
                <a:latin typeface="Helvetica" pitchFamily="2" charset="0"/>
              </a:rPr>
              <a:t>the</a:t>
            </a:r>
            <a:r>
              <a:rPr lang="pt-BR" sz="1800" dirty="0">
                <a:effectLst/>
                <a:latin typeface="Helvetica" pitchFamily="2" charset="0"/>
              </a:rPr>
              <a:t> systems </a:t>
            </a:r>
            <a:r>
              <a:rPr lang="pt-BR" sz="1800" dirty="0" err="1">
                <a:effectLst/>
                <a:latin typeface="Helvetica" pitchFamily="2" charset="0"/>
              </a:rPr>
              <a:t>engineering</a:t>
            </a:r>
            <a:r>
              <a:rPr lang="pt-BR" sz="1800" dirty="0">
                <a:effectLst/>
                <a:latin typeface="Helvetica" pitchFamily="2" charset="0"/>
              </a:rPr>
              <a:t> body </a:t>
            </a:r>
            <a:r>
              <a:rPr lang="pt-BR" sz="1800" dirty="0" err="1">
                <a:effectLst/>
                <a:latin typeface="Helvetica" pitchFamily="2" charset="0"/>
              </a:rPr>
              <a:t>of</a:t>
            </a:r>
            <a:r>
              <a:rPr lang="pt-BR" sz="1800" dirty="0">
                <a:effectLst/>
                <a:latin typeface="Helvetica" pitchFamily="2" charset="0"/>
              </a:rPr>
              <a:t> </a:t>
            </a:r>
            <a:r>
              <a:rPr lang="pt-BR" sz="1800" dirty="0" err="1">
                <a:effectLst/>
                <a:latin typeface="Helvetica" pitchFamily="2" charset="0"/>
              </a:rPr>
              <a:t>knowledge</a:t>
            </a:r>
            <a:r>
              <a:rPr lang="pt-BR" sz="1800" dirty="0">
                <a:effectLst/>
                <a:latin typeface="Helvetica" pitchFamily="2" charset="0"/>
              </a:rPr>
              <a:t> (</a:t>
            </a:r>
            <a:r>
              <a:rPr lang="pt-BR" sz="1800" dirty="0" err="1">
                <a:effectLst/>
                <a:latin typeface="Helvetica" pitchFamily="2" charset="0"/>
              </a:rPr>
              <a:t>SEBoK</a:t>
            </a:r>
            <a:r>
              <a:rPr lang="pt-BR" sz="1800" dirty="0">
                <a:effectLst/>
                <a:latin typeface="Helvetica" pitchFamily="2" charset="0"/>
              </a:rPr>
              <a:t>). R.J. </a:t>
            </a:r>
            <a:r>
              <a:rPr lang="pt-BR" sz="1800" dirty="0" err="1">
                <a:effectLst/>
                <a:latin typeface="Helvetica" pitchFamily="2" charset="0"/>
              </a:rPr>
              <a:t>Cloutier</a:t>
            </a:r>
            <a:r>
              <a:rPr lang="pt-BR" sz="1800" dirty="0">
                <a:effectLst/>
                <a:latin typeface="Helvetica" pitchFamily="2" charset="0"/>
              </a:rPr>
              <a:t> (Editor in </a:t>
            </a:r>
            <a:r>
              <a:rPr lang="pt-BR" sz="1800" dirty="0" err="1">
                <a:effectLst/>
                <a:latin typeface="Helvetica" pitchFamily="2" charset="0"/>
              </a:rPr>
              <a:t>Chief</a:t>
            </a:r>
            <a:r>
              <a:rPr lang="pt-BR" sz="1800" dirty="0">
                <a:effectLst/>
                <a:latin typeface="Helvetica" pitchFamily="2" charset="0"/>
              </a:rPr>
              <a:t>). </a:t>
            </a:r>
            <a:r>
              <a:rPr lang="pt-BR" sz="1800" dirty="0" err="1">
                <a:effectLst/>
                <a:latin typeface="Helvetica" pitchFamily="2" charset="0"/>
              </a:rPr>
              <a:t>Hoboken</a:t>
            </a:r>
            <a:r>
              <a:rPr lang="pt-BR" sz="1800" dirty="0">
                <a:effectLst/>
                <a:latin typeface="Helvetica" pitchFamily="2" charset="0"/>
              </a:rPr>
              <a:t>, NJ: The </a:t>
            </a:r>
            <a:r>
              <a:rPr lang="pt-BR" sz="1800" dirty="0" err="1">
                <a:effectLst/>
                <a:latin typeface="Helvetica" pitchFamily="2" charset="0"/>
              </a:rPr>
              <a:t>Trustees</a:t>
            </a:r>
            <a:r>
              <a:rPr lang="pt-BR" sz="1800" dirty="0">
                <a:effectLst/>
                <a:latin typeface="Helvetica" pitchFamily="2" charset="0"/>
              </a:rPr>
              <a:t> </a:t>
            </a:r>
            <a:r>
              <a:rPr lang="pt-BR" sz="1800" dirty="0" err="1">
                <a:effectLst/>
                <a:latin typeface="Helvetica" pitchFamily="2" charset="0"/>
              </a:rPr>
              <a:t>of</a:t>
            </a:r>
            <a:r>
              <a:rPr lang="pt-BR" sz="1800" dirty="0">
                <a:effectLst/>
                <a:latin typeface="Helvetica" pitchFamily="2" charset="0"/>
              </a:rPr>
              <a:t> </a:t>
            </a:r>
            <a:r>
              <a:rPr lang="pt-BR" sz="1800" dirty="0" err="1">
                <a:effectLst/>
                <a:latin typeface="Helvetica" pitchFamily="2" charset="0"/>
              </a:rPr>
              <a:t>the</a:t>
            </a:r>
            <a:r>
              <a:rPr lang="pt-BR" sz="1800" dirty="0">
                <a:effectLst/>
                <a:latin typeface="Helvetica" pitchFamily="2" charset="0"/>
              </a:rPr>
              <a:t> Stevens </a:t>
            </a:r>
            <a:r>
              <a:rPr lang="pt-BR" sz="1800" dirty="0" err="1">
                <a:effectLst/>
                <a:latin typeface="Helvetica" pitchFamily="2" charset="0"/>
              </a:rPr>
              <a:t>Institute</a:t>
            </a:r>
            <a:r>
              <a:rPr lang="pt-BR" sz="1800" dirty="0">
                <a:effectLst/>
                <a:latin typeface="Helvetica" pitchFamily="2" charset="0"/>
              </a:rPr>
              <a:t> </a:t>
            </a:r>
            <a:r>
              <a:rPr lang="pt-BR" sz="1800" dirty="0" err="1">
                <a:effectLst/>
                <a:latin typeface="Helvetica" pitchFamily="2" charset="0"/>
              </a:rPr>
              <a:t>of</a:t>
            </a:r>
            <a:r>
              <a:rPr lang="pt-BR" sz="1800" dirty="0">
                <a:effectLst/>
                <a:latin typeface="Helvetica" pitchFamily="2" charset="0"/>
              </a:rPr>
              <a:t> Technology. 2021. </a:t>
            </a:r>
            <a:r>
              <a:rPr lang="pt-BR" sz="1800" dirty="0" err="1">
                <a:effectLst/>
                <a:latin typeface="Helvetica" pitchFamily="2" charset="0"/>
              </a:rPr>
              <a:t>Disponivel</a:t>
            </a:r>
            <a:r>
              <a:rPr lang="pt-BR" sz="1800" dirty="0">
                <a:effectLst/>
                <a:latin typeface="Helvetica" pitchFamily="2" charset="0"/>
              </a:rPr>
              <a:t> em: https: //</a:t>
            </a:r>
            <a:r>
              <a:rPr lang="pt-BR" sz="1800" dirty="0" err="1">
                <a:effectLst/>
                <a:latin typeface="Helvetica" pitchFamily="2" charset="0"/>
              </a:rPr>
              <a:t>www.sebokwiki.org</a:t>
            </a:r>
            <a:r>
              <a:rPr lang="pt-BR" sz="1800" dirty="0">
                <a:effectLst/>
                <a:latin typeface="Helvetica" pitchFamily="2" charset="0"/>
              </a:rPr>
              <a:t>/</a:t>
            </a:r>
            <a:r>
              <a:rPr lang="pt-BR" sz="1800" dirty="0" err="1">
                <a:effectLst/>
                <a:latin typeface="Helvetica" pitchFamily="2" charset="0"/>
              </a:rPr>
              <a:t>w</a:t>
            </a:r>
            <a:r>
              <a:rPr lang="pt-BR" sz="1800" dirty="0">
                <a:effectLst/>
                <a:latin typeface="Helvetica" pitchFamily="2" charset="0"/>
              </a:rPr>
              <a:t>/</a:t>
            </a:r>
            <a:r>
              <a:rPr lang="pt-BR" sz="1800" dirty="0" err="1">
                <a:effectLst/>
                <a:latin typeface="Helvetica" pitchFamily="2" charset="0"/>
              </a:rPr>
              <a:t>images</a:t>
            </a:r>
            <a:r>
              <a:rPr lang="pt-BR" sz="1800" dirty="0">
                <a:effectLst/>
                <a:latin typeface="Helvetica" pitchFamily="2" charset="0"/>
              </a:rPr>
              <a:t>/</a:t>
            </a:r>
            <a:r>
              <a:rPr lang="pt-BR" sz="1800" dirty="0" err="1">
                <a:effectLst/>
                <a:latin typeface="Helvetica" pitchFamily="2" charset="0"/>
              </a:rPr>
              <a:t>sebokwiki-farm!w</a:t>
            </a:r>
            <a:r>
              <a:rPr lang="pt-BR" sz="1800" dirty="0">
                <a:effectLst/>
                <a:latin typeface="Helvetica" pitchFamily="2" charset="0"/>
              </a:rPr>
              <a:t>/8/8d/SEBoKv1.4_full.pdf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800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effectLst/>
                <a:latin typeface="Helvetica" pitchFamily="2" charset="0"/>
              </a:rPr>
              <a:t>Freitas, Carlos Alberto de (org.). </a:t>
            </a:r>
            <a:r>
              <a:rPr lang="pt-BR" sz="1800" b="1" dirty="0">
                <a:effectLst/>
                <a:latin typeface="Helvetica" pitchFamily="2" charset="0"/>
              </a:rPr>
              <a:t>INTRODUÇÃO à Engenharia</a:t>
            </a:r>
            <a:r>
              <a:rPr lang="pt-BR" sz="1800" dirty="0">
                <a:effectLst/>
                <a:latin typeface="Helvetica" pitchFamily="2" charset="0"/>
              </a:rPr>
              <a:t>. 2a </a:t>
            </a:r>
            <a:r>
              <a:rPr lang="pt-BR" sz="1800" dirty="0" err="1">
                <a:effectLst/>
                <a:latin typeface="Helvetica" pitchFamily="2" charset="0"/>
              </a:rPr>
              <a:t>edição</a:t>
            </a:r>
            <a:r>
              <a:rPr lang="pt-BR" sz="1800" dirty="0">
                <a:effectLst/>
                <a:latin typeface="Helvetica" pitchFamily="2" charset="0"/>
              </a:rPr>
              <a:t>. </a:t>
            </a:r>
            <a:r>
              <a:rPr lang="pt-BR" sz="1800" dirty="0" err="1">
                <a:effectLst/>
                <a:latin typeface="Helvetica" pitchFamily="2" charset="0"/>
              </a:rPr>
              <a:t>São</a:t>
            </a:r>
            <a:r>
              <a:rPr lang="pt-BR" sz="1800" dirty="0">
                <a:effectLst/>
                <a:latin typeface="Helvetica" pitchFamily="2" charset="0"/>
              </a:rPr>
              <a:t> Paulo SP : Editora Pearson, 171p. ISBN 9788570160416. (</a:t>
            </a:r>
            <a:r>
              <a:rPr lang="pt-BR" sz="1800" dirty="0" err="1">
                <a:effectLst/>
                <a:latin typeface="Helvetica" pitchFamily="2" charset="0"/>
              </a:rPr>
              <a:t>Disponível</a:t>
            </a:r>
            <a:r>
              <a:rPr lang="pt-BR" sz="1800" dirty="0">
                <a:effectLst/>
                <a:latin typeface="Helvetica" pitchFamily="2" charset="0"/>
              </a:rPr>
              <a:t> na Biblioteca Digital) </a:t>
            </a:r>
            <a:endParaRPr lang="pt-BR" sz="2000" dirty="0"/>
          </a:p>
          <a:p>
            <a:pPr algn="just">
              <a:lnSpc>
                <a:spcPct val="150000"/>
              </a:lnSpc>
            </a:pPr>
            <a:endParaRPr lang="pt-B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895552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904B2-3FB7-41CB-84EB-CEDD5E2D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2" y="365125"/>
            <a:ext cx="2599030" cy="2651030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  <a:defRPr/>
            </a:pPr>
            <a:br>
              <a:rPr lang="pt-BR" altLang="en-US" sz="4000" dirty="0"/>
            </a:br>
            <a:r>
              <a:rPr lang="pt-BR" altLang="en-US" sz="4000" dirty="0"/>
              <a:t>Bibliografia: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776452" y="502470"/>
            <a:ext cx="8235142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>
                <a:solidFill>
                  <a:srgbClr val="FF0000"/>
                </a:solidFill>
              </a:rPr>
              <a:t>Complementar: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effectLst/>
                <a:latin typeface="Helvetica" pitchFamily="2" charset="0"/>
              </a:rPr>
              <a:t>BROCKMAN, Jay B. </a:t>
            </a:r>
            <a:r>
              <a:rPr lang="pt-BR" sz="1800" b="1" dirty="0" err="1">
                <a:effectLst/>
                <a:latin typeface="Helvetica" pitchFamily="2" charset="0"/>
              </a:rPr>
              <a:t>Introdução</a:t>
            </a:r>
            <a:r>
              <a:rPr lang="pt-BR" sz="1800" b="1" dirty="0">
                <a:effectLst/>
                <a:latin typeface="Helvetica" pitchFamily="2" charset="0"/>
              </a:rPr>
              <a:t> à engenharia: </a:t>
            </a:r>
            <a:r>
              <a:rPr lang="pt-BR" sz="1800" dirty="0">
                <a:effectLst/>
                <a:latin typeface="Helvetica" pitchFamily="2" charset="0"/>
              </a:rPr>
              <a:t>modelagem e </a:t>
            </a:r>
            <a:r>
              <a:rPr lang="pt-BR" sz="1800" dirty="0" err="1">
                <a:effectLst/>
                <a:latin typeface="Helvetica" pitchFamily="2" charset="0"/>
              </a:rPr>
              <a:t>solução</a:t>
            </a:r>
            <a:r>
              <a:rPr lang="pt-BR" sz="1800" dirty="0">
                <a:effectLst/>
                <a:latin typeface="Helvetica" pitchFamily="2" charset="0"/>
              </a:rPr>
              <a:t> de problemas. Rio de Janeiro, RJ: LTC, 2016, 2010. 294 p. ISBN 9788521617266 (</a:t>
            </a:r>
            <a:r>
              <a:rPr lang="pt-BR" sz="1800" dirty="0" err="1">
                <a:effectLst/>
                <a:latin typeface="Helvetica" pitchFamily="2" charset="0"/>
              </a:rPr>
              <a:t>broch</a:t>
            </a:r>
            <a:r>
              <a:rPr lang="pt-BR" sz="1800" dirty="0">
                <a:effectLst/>
                <a:latin typeface="Helvetica" pitchFamily="2" charset="0"/>
              </a:rPr>
              <a:t>.).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effectLst/>
                <a:latin typeface="Helvetica" pitchFamily="2" charset="0"/>
              </a:rPr>
              <a:t>FREITAS, Paulo. </a:t>
            </a:r>
            <a:r>
              <a:rPr lang="pt-BR" sz="1800" b="1" dirty="0" err="1">
                <a:effectLst/>
                <a:latin typeface="Helvetica" pitchFamily="2" charset="0"/>
              </a:rPr>
              <a:t>Introdução</a:t>
            </a:r>
            <a:r>
              <a:rPr lang="pt-BR" sz="1800" b="1" dirty="0">
                <a:effectLst/>
                <a:latin typeface="Helvetica" pitchFamily="2" charset="0"/>
              </a:rPr>
              <a:t> à modelagem e </a:t>
            </a:r>
            <a:r>
              <a:rPr lang="pt-BR" sz="1800" b="1" dirty="0" err="1">
                <a:effectLst/>
                <a:latin typeface="Helvetica" pitchFamily="2" charset="0"/>
              </a:rPr>
              <a:t>simulação</a:t>
            </a:r>
            <a:r>
              <a:rPr lang="pt-BR" sz="1800" b="1" dirty="0">
                <a:effectLst/>
                <a:latin typeface="Helvetica" pitchFamily="2" charset="0"/>
              </a:rPr>
              <a:t> de sistemas: </a:t>
            </a:r>
            <a:r>
              <a:rPr lang="pt-BR" sz="1800" dirty="0">
                <a:effectLst/>
                <a:latin typeface="Helvetica" pitchFamily="2" charset="0"/>
              </a:rPr>
              <a:t>com </a:t>
            </a:r>
            <a:r>
              <a:rPr lang="pt-BR" sz="1800" dirty="0" err="1">
                <a:effectLst/>
                <a:latin typeface="Helvetica" pitchFamily="2" charset="0"/>
              </a:rPr>
              <a:t>aplicações</a:t>
            </a:r>
            <a:r>
              <a:rPr lang="pt-BR" sz="1800" dirty="0">
                <a:effectLst/>
                <a:latin typeface="Helvetica" pitchFamily="2" charset="0"/>
              </a:rPr>
              <a:t> em Arena. 2.ed. </a:t>
            </a:r>
            <a:r>
              <a:rPr lang="pt-BR" sz="1800" dirty="0" err="1">
                <a:effectLst/>
                <a:latin typeface="Helvetica" pitchFamily="2" charset="0"/>
              </a:rPr>
              <a:t>Florianópolis</a:t>
            </a:r>
            <a:r>
              <a:rPr lang="pt-BR" sz="1800" dirty="0">
                <a:effectLst/>
                <a:latin typeface="Helvetica" pitchFamily="2" charset="0"/>
              </a:rPr>
              <a:t>, SC: Visual Books, 2008 372 p. ISBN 9788575022283: (</a:t>
            </a:r>
            <a:r>
              <a:rPr lang="pt-BR" sz="1800" dirty="0" err="1">
                <a:effectLst/>
                <a:latin typeface="Helvetica" pitchFamily="2" charset="0"/>
              </a:rPr>
              <a:t>broch</a:t>
            </a:r>
            <a:r>
              <a:rPr lang="pt-BR" sz="1800" dirty="0">
                <a:effectLst/>
                <a:latin typeface="Helvetica" pitchFamily="2" charset="0"/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effectLst/>
                <a:latin typeface="Helvetica" pitchFamily="2" charset="0"/>
              </a:rPr>
              <a:t>PRESSMAN, Roger S. </a:t>
            </a:r>
            <a:r>
              <a:rPr lang="pt-BR" sz="1800" b="1" dirty="0">
                <a:effectLst/>
                <a:latin typeface="Helvetica" pitchFamily="2" charset="0"/>
              </a:rPr>
              <a:t>Engenharia de software: </a:t>
            </a:r>
            <a:r>
              <a:rPr lang="pt-BR" sz="1800" dirty="0">
                <a:effectLst/>
                <a:latin typeface="Helvetica" pitchFamily="2" charset="0"/>
              </a:rPr>
              <a:t>uma abordagem profissional. Porto Alegre, RS: AMGH, 2016. 940 p. ISBN 9788580555332 (</a:t>
            </a:r>
            <a:r>
              <a:rPr lang="pt-BR" sz="1800" dirty="0" err="1">
                <a:effectLst/>
                <a:latin typeface="Helvetica" pitchFamily="2" charset="0"/>
              </a:rPr>
              <a:t>broch</a:t>
            </a:r>
            <a:r>
              <a:rPr lang="pt-BR" sz="1800" dirty="0">
                <a:effectLst/>
                <a:latin typeface="Helvetica" pitchFamily="2" charset="0"/>
              </a:rPr>
              <a:t>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effectLst/>
                <a:latin typeface="Helvetica" pitchFamily="2" charset="0"/>
              </a:rPr>
              <a:t> 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effectLst/>
                <a:latin typeface="Helvetica" pitchFamily="2" charset="0"/>
              </a:rPr>
              <a:t>BEZERRA, Eduardo. </a:t>
            </a:r>
            <a:r>
              <a:rPr lang="pt-BR" sz="1800" b="1" dirty="0" err="1">
                <a:effectLst/>
                <a:latin typeface="Helvetica" pitchFamily="2" charset="0"/>
              </a:rPr>
              <a:t>Princípios</a:t>
            </a:r>
            <a:r>
              <a:rPr lang="pt-BR" sz="1800" b="1" dirty="0">
                <a:effectLst/>
                <a:latin typeface="Helvetica" pitchFamily="2" charset="0"/>
              </a:rPr>
              <a:t> de </a:t>
            </a:r>
            <a:r>
              <a:rPr lang="pt-BR" sz="1800" b="1" dirty="0" err="1">
                <a:effectLst/>
                <a:latin typeface="Helvetica" pitchFamily="2" charset="0"/>
              </a:rPr>
              <a:t>análise</a:t>
            </a:r>
            <a:r>
              <a:rPr lang="pt-BR" sz="1800" b="1" dirty="0">
                <a:effectLst/>
                <a:latin typeface="Helvetica" pitchFamily="2" charset="0"/>
              </a:rPr>
              <a:t> e projeto de sistemas com UML. </a:t>
            </a:r>
            <a:r>
              <a:rPr lang="pt-BR" sz="1800" dirty="0">
                <a:effectLst/>
                <a:latin typeface="Helvetica" pitchFamily="2" charset="0"/>
              </a:rPr>
              <a:t>3. ed., rev. e </a:t>
            </a:r>
            <a:r>
              <a:rPr lang="pt-BR" sz="1800" dirty="0" err="1">
                <a:effectLst/>
                <a:latin typeface="Helvetica" pitchFamily="2" charset="0"/>
              </a:rPr>
              <a:t>ampl</a:t>
            </a:r>
            <a:r>
              <a:rPr lang="pt-BR" sz="1800" dirty="0">
                <a:effectLst/>
                <a:latin typeface="Helvetica" pitchFamily="2" charset="0"/>
              </a:rPr>
              <a:t>. Rio de Janeiro, RJ: Elsevier, 2015. </a:t>
            </a:r>
            <a:r>
              <a:rPr lang="pt-BR" sz="1800" dirty="0" err="1">
                <a:effectLst/>
                <a:latin typeface="Helvetica" pitchFamily="2" charset="0"/>
              </a:rPr>
              <a:t>xvii</a:t>
            </a:r>
            <a:r>
              <a:rPr lang="pt-BR" sz="1800" dirty="0">
                <a:effectLst/>
                <a:latin typeface="Helvetica" pitchFamily="2" charset="0"/>
              </a:rPr>
              <a:t>, 398p. ISBN 9788535226263 (</a:t>
            </a:r>
            <a:r>
              <a:rPr lang="pt-BR" sz="1800" dirty="0" err="1">
                <a:effectLst/>
                <a:latin typeface="Helvetica" pitchFamily="2" charset="0"/>
              </a:rPr>
              <a:t>broch</a:t>
            </a:r>
            <a:r>
              <a:rPr lang="pt-BR" sz="1800" dirty="0">
                <a:effectLst/>
                <a:latin typeface="Helvetica" pitchFamily="2" charset="0"/>
              </a:rPr>
              <a:t>.).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effectLst/>
                <a:latin typeface="Helvetica" pitchFamily="2" charset="0"/>
              </a:rPr>
              <a:t>BOOCH, </a:t>
            </a:r>
            <a:r>
              <a:rPr lang="pt-BR" sz="1800" dirty="0" err="1">
                <a:effectLst/>
                <a:latin typeface="Helvetica" pitchFamily="2" charset="0"/>
              </a:rPr>
              <a:t>Grady</a:t>
            </a:r>
            <a:r>
              <a:rPr lang="pt-BR" sz="1800" dirty="0">
                <a:effectLst/>
                <a:latin typeface="Helvetica" pitchFamily="2" charset="0"/>
              </a:rPr>
              <a:t>; RUMBAUGH, James; JACOBSON, Ivar. </a:t>
            </a:r>
            <a:r>
              <a:rPr lang="pt-BR" sz="1800" b="1" dirty="0">
                <a:effectLst/>
                <a:latin typeface="Helvetica" pitchFamily="2" charset="0"/>
              </a:rPr>
              <a:t>UML guia do </a:t>
            </a:r>
            <a:r>
              <a:rPr lang="pt-BR" sz="1800" b="1" dirty="0" err="1">
                <a:effectLst/>
                <a:latin typeface="Helvetica" pitchFamily="2" charset="0"/>
              </a:rPr>
              <a:t>usuário</a:t>
            </a:r>
            <a:r>
              <a:rPr lang="pt-BR" sz="1800" b="1" dirty="0">
                <a:effectLst/>
                <a:latin typeface="Helvetica" pitchFamily="2" charset="0"/>
              </a:rPr>
              <a:t>: </a:t>
            </a:r>
            <a:r>
              <a:rPr lang="pt-BR" sz="1800" dirty="0">
                <a:effectLst/>
                <a:latin typeface="Helvetica" pitchFamily="2" charset="0"/>
              </a:rPr>
              <a:t>o mais </a:t>
            </a:r>
            <a:r>
              <a:rPr lang="pt-BR" sz="1800" dirty="0" err="1">
                <a:effectLst/>
                <a:latin typeface="Helvetica" pitchFamily="2" charset="0"/>
              </a:rPr>
              <a:t>avançado</a:t>
            </a:r>
            <a:r>
              <a:rPr lang="pt-BR" sz="1800" dirty="0">
                <a:effectLst/>
                <a:latin typeface="Helvetica" pitchFamily="2" charset="0"/>
              </a:rPr>
              <a:t> tutorial sobre </a:t>
            </a:r>
            <a:r>
              <a:rPr lang="pt-BR" sz="1800" dirty="0" err="1">
                <a:effectLst/>
                <a:latin typeface="Helvetica" pitchFamily="2" charset="0"/>
              </a:rPr>
              <a:t>Unified</a:t>
            </a:r>
            <a:r>
              <a:rPr lang="pt-BR" sz="1800" dirty="0">
                <a:effectLst/>
                <a:latin typeface="Helvetica" pitchFamily="2" charset="0"/>
              </a:rPr>
              <a:t> </a:t>
            </a:r>
            <a:r>
              <a:rPr lang="pt-BR" sz="1800" dirty="0" err="1">
                <a:effectLst/>
                <a:latin typeface="Helvetica" pitchFamily="2" charset="0"/>
              </a:rPr>
              <a:t>Modeling</a:t>
            </a:r>
            <a:r>
              <a:rPr lang="pt-BR" sz="1800" dirty="0">
                <a:effectLst/>
                <a:latin typeface="Helvetica" pitchFamily="2" charset="0"/>
              </a:rPr>
              <a:t> </a:t>
            </a:r>
            <a:r>
              <a:rPr lang="pt-BR" sz="1800" dirty="0" err="1">
                <a:effectLst/>
                <a:latin typeface="Helvetica" pitchFamily="2" charset="0"/>
              </a:rPr>
              <a:t>Language</a:t>
            </a:r>
            <a:r>
              <a:rPr lang="pt-BR" sz="1800" dirty="0">
                <a:effectLst/>
                <a:latin typeface="Helvetica" pitchFamily="2" charset="0"/>
              </a:rPr>
              <a:t> (UML), elaborado pelos </a:t>
            </a:r>
            <a:r>
              <a:rPr lang="pt-BR" sz="1800" dirty="0" err="1">
                <a:effectLst/>
                <a:latin typeface="Helvetica" pitchFamily="2" charset="0"/>
              </a:rPr>
              <a:t>próprios</a:t>
            </a:r>
            <a:r>
              <a:rPr lang="pt-BR" sz="1800" dirty="0">
                <a:effectLst/>
                <a:latin typeface="Helvetica" pitchFamily="2" charset="0"/>
              </a:rPr>
              <a:t> criadores da linguagem. 2.ed. Rio de Janeiro, RJ: Elsevier: Campus, 2012. </a:t>
            </a:r>
            <a:r>
              <a:rPr lang="pt-BR" sz="1800" dirty="0" err="1">
                <a:effectLst/>
                <a:latin typeface="Helvetica" pitchFamily="2" charset="0"/>
              </a:rPr>
              <a:t>xxvii</a:t>
            </a:r>
            <a:r>
              <a:rPr lang="pt-BR" sz="1800" dirty="0">
                <a:effectLst/>
                <a:latin typeface="Helvetica" pitchFamily="2" charset="0"/>
              </a:rPr>
              <a:t>, 521 p. ISBN 9788535217841 : (</a:t>
            </a:r>
            <a:r>
              <a:rPr lang="pt-BR" sz="1800" dirty="0" err="1">
                <a:effectLst/>
                <a:latin typeface="Helvetica" pitchFamily="2" charset="0"/>
              </a:rPr>
              <a:t>broch</a:t>
            </a:r>
            <a:r>
              <a:rPr lang="pt-BR" sz="1800" dirty="0">
                <a:effectLst/>
                <a:latin typeface="Helvetica" pitchFamily="2" charset="0"/>
              </a:rPr>
              <a:t>.). </a:t>
            </a:r>
            <a:endParaRPr lang="pt-BR" dirty="0"/>
          </a:p>
          <a:p>
            <a:endParaRPr lang="pt-BR" sz="2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393256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468FF-4051-486D-A1C5-39023B388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64" y="563908"/>
            <a:ext cx="3599449" cy="2651030"/>
          </a:xfrm>
        </p:spPr>
        <p:txBody>
          <a:bodyPr>
            <a:normAutofit/>
          </a:bodyPr>
          <a:lstStyle/>
          <a:p>
            <a:r>
              <a:rPr lang="pt-BR" altLang="en-US" sz="4000" dirty="0"/>
              <a:t>Carga horária do componente curricular</a:t>
            </a:r>
            <a:endParaRPr lang="pt-BR" sz="4000" dirty="0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DFF9E885-9351-4C14-92D9-5403656A6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584" y="1145109"/>
            <a:ext cx="7712122" cy="45677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b="1" dirty="0"/>
              <a:t>Carga horária</a:t>
            </a:r>
          </a:p>
          <a:p>
            <a:pPr lvl="1"/>
            <a:r>
              <a:rPr lang="pt-BR" sz="2000" dirty="0"/>
              <a:t>2 aulas</a:t>
            </a:r>
          </a:p>
          <a:p>
            <a:pPr lvl="1"/>
            <a:endParaRPr lang="pt-BR" sz="2800" dirty="0"/>
          </a:p>
          <a:p>
            <a:pPr lvl="1"/>
            <a:endParaRPr lang="pt-BR" b="1" dirty="0"/>
          </a:p>
          <a:p>
            <a:pPr lvl="1"/>
            <a:r>
              <a:rPr lang="pt-BR" b="1" dirty="0"/>
              <a:t>Semana Integrada</a:t>
            </a:r>
          </a:p>
          <a:p>
            <a:pPr lvl="2"/>
            <a:r>
              <a:rPr lang="pt-BR" dirty="0"/>
              <a:t>10 a 12/09 a confirmar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Semana </a:t>
            </a:r>
            <a:r>
              <a:rPr lang="pt-BR" dirty="0" err="1"/>
              <a:t>Academica</a:t>
            </a:r>
            <a:endParaRPr lang="pt-BR" dirty="0"/>
          </a:p>
          <a:p>
            <a:pPr lvl="2"/>
            <a:r>
              <a:rPr lang="pt-BR" dirty="0"/>
              <a:t>21 a 25/10 a confirmar</a:t>
            </a:r>
          </a:p>
          <a:p>
            <a:pPr lvl="2"/>
            <a:endParaRPr lang="pt-BR" dirty="0"/>
          </a:p>
          <a:p>
            <a:pPr marL="914400" lvl="2" indent="0">
              <a:buNone/>
            </a:pPr>
            <a:endParaRPr lang="pt-BR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739814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09140-61DF-4F7D-A3CE-302DEFE80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dirty="0">
                <a:latin typeface="+mn-lt"/>
              </a:rPr>
              <a:t>Entrega de Notas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BE62BB-DE6B-4DB4-93F7-B311CBB76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defRPr/>
            </a:pPr>
            <a:endParaRPr lang="pt-BR" altLang="pt-BR" sz="2400" dirty="0">
              <a:latin typeface="+mn-lt"/>
              <a:cs typeface="Arial" panose="020B0604020202020204" pitchFamily="34" charset="0"/>
            </a:endParaRPr>
          </a:p>
          <a:p>
            <a:pPr algn="just">
              <a:defRPr/>
            </a:pPr>
            <a:endParaRPr lang="pt-BR" altLang="pt-BR" sz="2400" dirty="0"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pt-BR" altLang="pt-BR" sz="2400" dirty="0">
                <a:latin typeface="+mn-lt"/>
                <a:cs typeface="Arial" panose="020B0604020202020204" pitchFamily="34" charset="0"/>
              </a:rPr>
              <a:t>Para a entrega das notas referente a trabalho, exercícios, estudo de caso e avaliações serão utilizados, os seguintes documentos:</a:t>
            </a:r>
          </a:p>
          <a:p>
            <a:pPr algn="just">
              <a:defRPr/>
            </a:pPr>
            <a:endParaRPr lang="en-US" altLang="pt-BR" sz="2400" dirty="0">
              <a:latin typeface="+mn-lt"/>
              <a:cs typeface="Arial" panose="020B0604020202020204" pitchFamily="34" charset="0"/>
            </a:endParaRPr>
          </a:p>
          <a:p>
            <a:pPr algn="just">
              <a:buFontTx/>
              <a:buAutoNum type="arabicPeriod"/>
              <a:defRPr/>
            </a:pPr>
            <a:r>
              <a:rPr lang="en-US" altLang="pt-BR" sz="2400" dirty="0" err="1">
                <a:latin typeface="+mn-lt"/>
                <a:cs typeface="Arial" panose="020B0604020202020204" pitchFamily="34" charset="0"/>
              </a:rPr>
              <a:t>Termo</a:t>
            </a:r>
            <a:r>
              <a:rPr lang="en-US" altLang="pt-BR" sz="2400" dirty="0">
                <a:latin typeface="+mn-lt"/>
                <a:cs typeface="Arial" panose="020B0604020202020204" pitchFamily="34" charset="0"/>
              </a:rPr>
              <a:t> de </a:t>
            </a:r>
            <a:r>
              <a:rPr lang="pt-BR" altLang="pt-BR" sz="2400" dirty="0">
                <a:latin typeface="+mn-lt"/>
              </a:rPr>
              <a:t>“Devolução de Avaliação de Aprendizagem”</a:t>
            </a:r>
            <a:r>
              <a:rPr lang="en-US" altLang="pt-BR" sz="2400" dirty="0">
                <a:latin typeface="+mn-lt"/>
                <a:cs typeface="Arial" panose="020B0604020202020204" pitchFamily="34" charset="0"/>
              </a:rPr>
              <a:t>;</a:t>
            </a:r>
          </a:p>
          <a:p>
            <a:pPr algn="just">
              <a:buFontTx/>
              <a:buAutoNum type="arabicPeriod"/>
              <a:defRPr/>
            </a:pPr>
            <a:r>
              <a:rPr lang="en-US" altLang="pt-BR" sz="2400" dirty="0" err="1">
                <a:latin typeface="+mn-lt"/>
                <a:cs typeface="Arial" panose="020B0604020202020204" pitchFamily="34" charset="0"/>
              </a:rPr>
              <a:t>Termo</a:t>
            </a:r>
            <a:r>
              <a:rPr lang="en-US" altLang="pt-BR" sz="2400" dirty="0">
                <a:latin typeface="+mn-lt"/>
                <a:cs typeface="Arial" panose="020B0604020202020204" pitchFamily="34" charset="0"/>
              </a:rPr>
              <a:t> de </a:t>
            </a:r>
            <a:r>
              <a:rPr lang="pt-BR" altLang="pt-BR" sz="2400" dirty="0">
                <a:latin typeface="+mn-lt"/>
              </a:rPr>
              <a:t>“Ciência do Aluno da Nota Final” .</a:t>
            </a:r>
          </a:p>
          <a:p>
            <a:pPr algn="just">
              <a:buFontTx/>
              <a:buAutoNum type="arabicPeriod"/>
              <a:defRPr/>
            </a:pPr>
            <a:endParaRPr lang="en-US" altLang="pt-BR" sz="2400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buNone/>
              <a:defRPr/>
            </a:pPr>
            <a:r>
              <a:rPr lang="en-US" altLang="pt-BR" sz="2400" dirty="0">
                <a:cs typeface="Arial" panose="020B0604020202020204" pitchFamily="34" charset="0"/>
              </a:rPr>
              <a:t>	</a:t>
            </a:r>
            <a:r>
              <a:rPr lang="en-US" altLang="pt-BR" sz="2400" dirty="0" err="1">
                <a:latin typeface="+mn-lt"/>
                <a:cs typeface="Arial" panose="020B0604020202020204" pitchFamily="34" charset="0"/>
              </a:rPr>
              <a:t>Atendendo</a:t>
            </a:r>
            <a:r>
              <a:rPr lang="en-US" altLang="pt-BR" sz="2400" dirty="0">
                <a:latin typeface="+mn-lt"/>
                <a:cs typeface="Arial" panose="020B0604020202020204" pitchFamily="34" charset="0"/>
              </a:rPr>
              <a:t> </a:t>
            </a:r>
            <a:r>
              <a:rPr lang="en-US" altLang="pt-BR" sz="2400" dirty="0" err="1">
                <a:latin typeface="+mn-lt"/>
                <a:cs typeface="Arial" panose="020B0604020202020204" pitchFamily="34" charset="0"/>
              </a:rPr>
              <a:t>ao</a:t>
            </a:r>
            <a:r>
              <a:rPr lang="en-US" altLang="pt-BR" sz="2400" dirty="0">
                <a:latin typeface="+mn-lt"/>
                <a:cs typeface="Arial" panose="020B0604020202020204" pitchFamily="34" charset="0"/>
              </a:rPr>
              <a:t> </a:t>
            </a:r>
            <a:r>
              <a:rPr lang="en-US" altLang="pt-BR" sz="2400" dirty="0" err="1">
                <a:latin typeface="+mn-lt"/>
                <a:cs typeface="Arial" panose="020B0604020202020204" pitchFamily="34" charset="0"/>
              </a:rPr>
              <a:t>disposto</a:t>
            </a:r>
            <a:r>
              <a:rPr lang="en-US" altLang="pt-BR" sz="2400" dirty="0">
                <a:latin typeface="+mn-lt"/>
                <a:cs typeface="Arial" panose="020B0604020202020204" pitchFamily="34" charset="0"/>
              </a:rPr>
              <a:t> </a:t>
            </a:r>
            <a:r>
              <a:rPr lang="en-US" altLang="pt-BR" sz="2400" dirty="0" err="1">
                <a:latin typeface="+mn-lt"/>
                <a:cs typeface="Arial" panose="020B0604020202020204" pitchFamily="34" charset="0"/>
              </a:rPr>
              <a:t>na</a:t>
            </a:r>
            <a:r>
              <a:rPr lang="pt-BR" altLang="pt-BR" sz="2400" dirty="0">
                <a:latin typeface="+mn-lt"/>
              </a:rPr>
              <a:t> RN PUC 009/08.</a:t>
            </a:r>
            <a:endParaRPr lang="pt-BR" altLang="pt-BR" sz="2400" dirty="0">
              <a:latin typeface="+mn-l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Ou apresentação da nota em ambiente virtual</a:t>
            </a:r>
          </a:p>
        </p:txBody>
      </p:sp>
    </p:spTree>
    <p:extLst>
      <p:ext uri="{BB962C8B-B14F-4D97-AF65-F5344CB8AC3E}">
        <p14:creationId xmlns:p14="http://schemas.microsoft.com/office/powerpoint/2010/main" val="282228786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2157</TotalTime>
  <Words>986</Words>
  <Application>Microsoft Macintosh PowerPoint</Application>
  <PresentationFormat>Widescreen</PresentationFormat>
  <Paragraphs>115</Paragraphs>
  <Slides>13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Georgia</vt:lpstr>
      <vt:lpstr>Helvetica</vt:lpstr>
      <vt:lpstr>Wingdings</vt:lpstr>
      <vt:lpstr>Tema do Office</vt:lpstr>
      <vt:lpstr>Disciplina 12540 - FUNDAMENTOS DE ENGENHARIA DE SISTEMAS   Aula de Apresentação</vt:lpstr>
      <vt:lpstr>O que veremos hoje</vt:lpstr>
      <vt:lpstr>EMENTA</vt:lpstr>
      <vt:lpstr>Objetivos</vt:lpstr>
      <vt:lpstr>Objetivos</vt:lpstr>
      <vt:lpstr>Conteúdo</vt:lpstr>
      <vt:lpstr>Metodologia</vt:lpstr>
      <vt:lpstr>Critérios de Avaliação:</vt:lpstr>
      <vt:lpstr> Estratégias de Recuperação: </vt:lpstr>
      <vt:lpstr> Bibliografia: </vt:lpstr>
      <vt:lpstr> Bibliografia: </vt:lpstr>
      <vt:lpstr>Carga horária do componente curricular</vt:lpstr>
      <vt:lpstr>Entrega de Notas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de Contratos e Fornecedores de TI Aula de Apresentação</dc:title>
  <dc:creator>Jose Marcelo Traina Chacon</dc:creator>
  <cp:lastModifiedBy>Sergio Marques</cp:lastModifiedBy>
  <cp:revision>117</cp:revision>
  <cp:lastPrinted>2021-02-24T22:12:10Z</cp:lastPrinted>
  <dcterms:created xsi:type="dcterms:W3CDTF">2021-02-16T17:43:01Z</dcterms:created>
  <dcterms:modified xsi:type="dcterms:W3CDTF">2024-08-04T02:42:17Z</dcterms:modified>
</cp:coreProperties>
</file>