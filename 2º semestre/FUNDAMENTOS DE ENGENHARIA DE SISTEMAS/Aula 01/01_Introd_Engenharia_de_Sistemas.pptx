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69388" y="1666747"/>
            <a:ext cx="7253223" cy="1765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4007" y="0"/>
            <a:ext cx="7941883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5177" y="35051"/>
            <a:ext cx="10801350" cy="1567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3484" y="1732788"/>
            <a:ext cx="10048875" cy="1640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957070" marR="5080" indent="-1945005">
              <a:lnSpc>
                <a:spcPts val="6500"/>
              </a:lnSpc>
              <a:spcBef>
                <a:spcPts val="900"/>
              </a:spcBef>
            </a:pPr>
            <a:r>
              <a:rPr sz="6000" dirty="0"/>
              <a:t>Engenharia</a:t>
            </a:r>
            <a:r>
              <a:rPr sz="6000" spc="-130" dirty="0"/>
              <a:t> </a:t>
            </a:r>
            <a:r>
              <a:rPr sz="6000" dirty="0"/>
              <a:t>de</a:t>
            </a:r>
            <a:r>
              <a:rPr sz="6000" spc="-125" dirty="0"/>
              <a:t> </a:t>
            </a:r>
            <a:r>
              <a:rPr sz="6000" spc="-10" dirty="0"/>
              <a:t>Sistemas Introdução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3657600" y="3886200"/>
            <a:ext cx="5718875" cy="2338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560" marR="5080" indent="-150495">
              <a:lnSpc>
                <a:spcPct val="117500"/>
              </a:lnSpc>
              <a:spcBef>
                <a:spcPts val="100"/>
              </a:spcBef>
            </a:pPr>
            <a:r>
              <a:rPr lang="pt-BR" sz="3200" spc="-25" dirty="0">
                <a:latin typeface="Calibri"/>
                <a:cs typeface="Calibri"/>
              </a:rPr>
              <a:t>Prof. Sergio Marques </a:t>
            </a:r>
          </a:p>
          <a:p>
            <a:pPr marL="162560" marR="5080" indent="-150495">
              <a:lnSpc>
                <a:spcPct val="117500"/>
              </a:lnSpc>
              <a:spcBef>
                <a:spcPts val="100"/>
              </a:spcBef>
            </a:pPr>
            <a:r>
              <a:rPr lang="pt-BR" sz="3200" spc="-25" dirty="0">
                <a:latin typeface="Calibri"/>
                <a:cs typeface="Calibri"/>
              </a:rPr>
              <a:t>Originais : </a:t>
            </a:r>
          </a:p>
          <a:p>
            <a:pPr marL="162560" marR="5080" indent="-150495">
              <a:lnSpc>
                <a:spcPct val="117500"/>
              </a:lnSpc>
              <a:spcBef>
                <a:spcPts val="100"/>
              </a:spcBef>
            </a:pPr>
            <a:r>
              <a:rPr lang="pt-BR" sz="3200" spc="-25" dirty="0">
                <a:latin typeface="Calibri"/>
                <a:cs typeface="Calibri"/>
              </a:rPr>
              <a:t>		</a:t>
            </a:r>
            <a:r>
              <a:rPr sz="3200" spc="-25" dirty="0">
                <a:latin typeface="Calibri"/>
                <a:cs typeface="Calibri"/>
              </a:rPr>
              <a:t>Prof.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Ivan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Granja</a:t>
            </a:r>
            <a:endParaRPr lang="pt-BR" sz="3200" spc="-10" dirty="0">
              <a:latin typeface="Calibri"/>
              <a:cs typeface="Calibri"/>
            </a:endParaRPr>
          </a:p>
          <a:p>
            <a:pPr marL="162560" marR="5080" indent="-150495">
              <a:lnSpc>
                <a:spcPct val="117500"/>
              </a:lnSpc>
              <a:spcBef>
                <a:spcPts val="100"/>
              </a:spcBef>
            </a:pPr>
            <a:r>
              <a:rPr lang="pt-BR" sz="3200" spc="-10" dirty="0">
                <a:latin typeface="Calibri"/>
                <a:cs typeface="Calibri"/>
              </a:rPr>
              <a:t>			</a:t>
            </a:r>
            <a:r>
              <a:rPr sz="3200" spc="-10" dirty="0">
                <a:latin typeface="Calibri"/>
                <a:cs typeface="Calibri"/>
              </a:rPr>
              <a:t> PUC-Campinas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0" y="28030"/>
            <a:ext cx="6591305" cy="697627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indent="272415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Sistemas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que</a:t>
            </a:r>
            <a:r>
              <a:rPr spc="-30" dirty="0"/>
              <a:t> </a:t>
            </a:r>
            <a:r>
              <a:rPr spc="-20" dirty="0"/>
              <a:t>são?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548" y="662595"/>
            <a:ext cx="7883930" cy="6120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7659"/>
            <a:ext cx="6322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</a:t>
            </a:r>
            <a:r>
              <a:rPr spc="-85" dirty="0"/>
              <a:t> </a:t>
            </a:r>
            <a:r>
              <a:rPr dirty="0"/>
              <a:t>Conceito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Sistema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78203"/>
            <a:ext cx="10591165" cy="1214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inter-</a:t>
            </a:r>
            <a:r>
              <a:rPr sz="2800" dirty="0">
                <a:latin typeface="Calibri"/>
                <a:cs typeface="Calibri"/>
              </a:rPr>
              <a:t>relacionados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interagem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 </a:t>
            </a:r>
            <a:r>
              <a:rPr sz="2800" dirty="0">
                <a:latin typeface="Calibri"/>
                <a:cs typeface="Calibri"/>
              </a:rPr>
              <a:t>desempenho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tão </a:t>
            </a:r>
            <a:r>
              <a:rPr sz="2800" spc="-10" dirty="0">
                <a:latin typeface="Calibri"/>
                <a:cs typeface="Calibri"/>
              </a:rPr>
              <a:t>abrangente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variedade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contextos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84675" y="3176731"/>
            <a:ext cx="3676650" cy="2400300"/>
          </a:xfrm>
          <a:custGeom>
            <a:avLst/>
            <a:gdLst/>
            <a:ahLst/>
            <a:cxnLst/>
            <a:rect l="l" t="t" r="r" b="b"/>
            <a:pathLst>
              <a:path w="3676650" h="2400300">
                <a:moveTo>
                  <a:pt x="3676650" y="0"/>
                </a:moveTo>
                <a:lnTo>
                  <a:pt x="0" y="0"/>
                </a:lnTo>
                <a:lnTo>
                  <a:pt x="0" y="2400300"/>
                </a:lnTo>
                <a:lnTo>
                  <a:pt x="3676650" y="2400300"/>
                </a:lnTo>
                <a:lnTo>
                  <a:pt x="367665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0939" y="4263644"/>
            <a:ext cx="746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62390" y="4263644"/>
            <a:ext cx="522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54425" y="4405455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38100"/>
                </a:moveTo>
                <a:lnTo>
                  <a:pt x="457200" y="38100"/>
                </a:lnTo>
                <a:lnTo>
                  <a:pt x="457200" y="0"/>
                </a:lnTo>
                <a:lnTo>
                  <a:pt x="609600" y="76200"/>
                </a:lnTo>
                <a:lnTo>
                  <a:pt x="457200" y="152400"/>
                </a:lnTo>
                <a:lnTo>
                  <a:pt x="457200" y="114300"/>
                </a:lnTo>
                <a:lnTo>
                  <a:pt x="0" y="114300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53400" y="4405455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38100"/>
                </a:moveTo>
                <a:lnTo>
                  <a:pt x="457200" y="38100"/>
                </a:lnTo>
                <a:lnTo>
                  <a:pt x="457200" y="0"/>
                </a:lnTo>
                <a:lnTo>
                  <a:pt x="609600" y="76200"/>
                </a:lnTo>
                <a:lnTo>
                  <a:pt x="457200" y="152400"/>
                </a:lnTo>
                <a:lnTo>
                  <a:pt x="457200" y="114300"/>
                </a:lnTo>
                <a:lnTo>
                  <a:pt x="0" y="114300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67237" y="4695968"/>
            <a:ext cx="1284605" cy="4762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746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95"/>
              </a:spcBef>
            </a:pPr>
            <a:r>
              <a:rPr sz="1800" spc="-10" dirty="0">
                <a:latin typeface="Calibri"/>
                <a:cs typeface="Calibri"/>
              </a:rPr>
              <a:t>Entidade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1612" y="4695968"/>
            <a:ext cx="1284605" cy="4762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746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95"/>
              </a:spcBef>
            </a:pPr>
            <a:r>
              <a:rPr sz="1800" spc="-10" dirty="0">
                <a:latin typeface="Calibri"/>
                <a:cs typeface="Calibri"/>
              </a:rPr>
              <a:t>Entidade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1612" y="3781568"/>
            <a:ext cx="1284605" cy="4762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746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95"/>
              </a:spcBef>
            </a:pPr>
            <a:r>
              <a:rPr sz="1800" spc="-10" dirty="0">
                <a:latin typeface="Calibri"/>
                <a:cs typeface="Calibri"/>
              </a:rPr>
              <a:t>Entidade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67237" y="3781568"/>
            <a:ext cx="1284605" cy="4762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746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95"/>
              </a:spcBef>
            </a:pPr>
            <a:r>
              <a:rPr sz="1800" spc="-10" dirty="0">
                <a:latin typeface="Calibri"/>
                <a:cs typeface="Calibri"/>
              </a:rPr>
              <a:t>Entidade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76837" y="3933968"/>
            <a:ext cx="2066925" cy="1076325"/>
            <a:chOff x="5176837" y="3933968"/>
            <a:chExt cx="2066925" cy="1076325"/>
          </a:xfrm>
        </p:grpSpPr>
        <p:sp>
          <p:nvSpPr>
            <p:cNvPr id="14" name="object 14"/>
            <p:cNvSpPr/>
            <p:nvPr/>
          </p:nvSpPr>
          <p:spPr>
            <a:xfrm>
              <a:off x="5867400" y="3938730"/>
              <a:ext cx="685800" cy="152400"/>
            </a:xfrm>
            <a:custGeom>
              <a:avLst/>
              <a:gdLst/>
              <a:ahLst/>
              <a:cxnLst/>
              <a:rect l="l" t="t" r="r" b="b"/>
              <a:pathLst>
                <a:path w="685800" h="152400">
                  <a:moveTo>
                    <a:pt x="548639" y="0"/>
                  </a:moveTo>
                  <a:lnTo>
                    <a:pt x="548639" y="38100"/>
                  </a:lnTo>
                  <a:lnTo>
                    <a:pt x="137160" y="38100"/>
                  </a:lnTo>
                  <a:lnTo>
                    <a:pt x="137160" y="0"/>
                  </a:lnTo>
                  <a:lnTo>
                    <a:pt x="0" y="76200"/>
                  </a:lnTo>
                  <a:lnTo>
                    <a:pt x="137160" y="152400"/>
                  </a:lnTo>
                  <a:lnTo>
                    <a:pt x="137160" y="114300"/>
                  </a:lnTo>
                  <a:lnTo>
                    <a:pt x="548639" y="114300"/>
                  </a:lnTo>
                  <a:lnTo>
                    <a:pt x="548639" y="152400"/>
                  </a:lnTo>
                  <a:lnTo>
                    <a:pt x="685800" y="7620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67400" y="3938730"/>
              <a:ext cx="685800" cy="152400"/>
            </a:xfrm>
            <a:custGeom>
              <a:avLst/>
              <a:gdLst/>
              <a:ahLst/>
              <a:cxnLst/>
              <a:rect l="l" t="t" r="r" b="b"/>
              <a:pathLst>
                <a:path w="685800" h="152400">
                  <a:moveTo>
                    <a:pt x="0" y="76200"/>
                  </a:moveTo>
                  <a:lnTo>
                    <a:pt x="137160" y="0"/>
                  </a:lnTo>
                  <a:lnTo>
                    <a:pt x="137160" y="38100"/>
                  </a:lnTo>
                  <a:lnTo>
                    <a:pt x="548640" y="38100"/>
                  </a:lnTo>
                  <a:lnTo>
                    <a:pt x="548640" y="0"/>
                  </a:lnTo>
                  <a:lnTo>
                    <a:pt x="685800" y="76200"/>
                  </a:lnTo>
                  <a:lnTo>
                    <a:pt x="548640" y="152400"/>
                  </a:lnTo>
                  <a:lnTo>
                    <a:pt x="548640" y="114300"/>
                  </a:lnTo>
                  <a:lnTo>
                    <a:pt x="137160" y="114300"/>
                  </a:lnTo>
                  <a:lnTo>
                    <a:pt x="137160" y="1524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7400" y="4853130"/>
              <a:ext cx="685800" cy="152400"/>
            </a:xfrm>
            <a:custGeom>
              <a:avLst/>
              <a:gdLst/>
              <a:ahLst/>
              <a:cxnLst/>
              <a:rect l="l" t="t" r="r" b="b"/>
              <a:pathLst>
                <a:path w="685800" h="152400">
                  <a:moveTo>
                    <a:pt x="548639" y="0"/>
                  </a:moveTo>
                  <a:lnTo>
                    <a:pt x="548639" y="38100"/>
                  </a:lnTo>
                  <a:lnTo>
                    <a:pt x="137160" y="38100"/>
                  </a:lnTo>
                  <a:lnTo>
                    <a:pt x="137160" y="0"/>
                  </a:lnTo>
                  <a:lnTo>
                    <a:pt x="0" y="76200"/>
                  </a:lnTo>
                  <a:lnTo>
                    <a:pt x="137160" y="152400"/>
                  </a:lnTo>
                  <a:lnTo>
                    <a:pt x="137160" y="114300"/>
                  </a:lnTo>
                  <a:lnTo>
                    <a:pt x="548639" y="114300"/>
                  </a:lnTo>
                  <a:lnTo>
                    <a:pt x="548639" y="152400"/>
                  </a:lnTo>
                  <a:lnTo>
                    <a:pt x="685800" y="7620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67400" y="4853130"/>
              <a:ext cx="685800" cy="152400"/>
            </a:xfrm>
            <a:custGeom>
              <a:avLst/>
              <a:gdLst/>
              <a:ahLst/>
              <a:cxnLst/>
              <a:rect l="l" t="t" r="r" b="b"/>
              <a:pathLst>
                <a:path w="685800" h="152400">
                  <a:moveTo>
                    <a:pt x="0" y="76200"/>
                  </a:moveTo>
                  <a:lnTo>
                    <a:pt x="137160" y="0"/>
                  </a:lnTo>
                  <a:lnTo>
                    <a:pt x="137160" y="38100"/>
                  </a:lnTo>
                  <a:lnTo>
                    <a:pt x="548640" y="38100"/>
                  </a:lnTo>
                  <a:lnTo>
                    <a:pt x="548640" y="0"/>
                  </a:lnTo>
                  <a:lnTo>
                    <a:pt x="685800" y="76200"/>
                  </a:lnTo>
                  <a:lnTo>
                    <a:pt x="548640" y="152400"/>
                  </a:lnTo>
                  <a:lnTo>
                    <a:pt x="548640" y="114300"/>
                  </a:lnTo>
                  <a:lnTo>
                    <a:pt x="137160" y="114300"/>
                  </a:lnTo>
                  <a:lnTo>
                    <a:pt x="137160" y="1524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81600" y="4284805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76200" y="0"/>
                  </a:moveTo>
                  <a:lnTo>
                    <a:pt x="0" y="76200"/>
                  </a:lnTo>
                  <a:lnTo>
                    <a:pt x="38100" y="7620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76200" y="381000"/>
                  </a:lnTo>
                  <a:lnTo>
                    <a:pt x="152400" y="304800"/>
                  </a:lnTo>
                  <a:lnTo>
                    <a:pt x="114300" y="304800"/>
                  </a:lnTo>
                  <a:lnTo>
                    <a:pt x="114300" y="76200"/>
                  </a:lnTo>
                  <a:lnTo>
                    <a:pt x="1524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81600" y="4284805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114300" y="76200"/>
                  </a:lnTo>
                  <a:lnTo>
                    <a:pt x="114300" y="304800"/>
                  </a:lnTo>
                  <a:lnTo>
                    <a:pt x="152400" y="304800"/>
                  </a:lnTo>
                  <a:lnTo>
                    <a:pt x="76200" y="381000"/>
                  </a:lnTo>
                  <a:lnTo>
                    <a:pt x="0" y="304800"/>
                  </a:lnTo>
                  <a:lnTo>
                    <a:pt x="38100" y="30480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86600" y="4302268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76200" y="0"/>
                  </a:moveTo>
                  <a:lnTo>
                    <a:pt x="0" y="76200"/>
                  </a:lnTo>
                  <a:lnTo>
                    <a:pt x="38100" y="76200"/>
                  </a:lnTo>
                  <a:lnTo>
                    <a:pt x="38100" y="304800"/>
                  </a:lnTo>
                  <a:lnTo>
                    <a:pt x="0" y="304800"/>
                  </a:lnTo>
                  <a:lnTo>
                    <a:pt x="76200" y="381000"/>
                  </a:lnTo>
                  <a:lnTo>
                    <a:pt x="152400" y="304800"/>
                  </a:lnTo>
                  <a:lnTo>
                    <a:pt x="114300" y="304800"/>
                  </a:lnTo>
                  <a:lnTo>
                    <a:pt x="114300" y="76200"/>
                  </a:lnTo>
                  <a:lnTo>
                    <a:pt x="1524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6600" y="4302268"/>
              <a:ext cx="152400" cy="381000"/>
            </a:xfrm>
            <a:custGeom>
              <a:avLst/>
              <a:gdLst/>
              <a:ahLst/>
              <a:cxnLst/>
              <a:rect l="l" t="t" r="r" b="b"/>
              <a:pathLst>
                <a:path w="152400" h="381000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114300" y="76200"/>
                  </a:lnTo>
                  <a:lnTo>
                    <a:pt x="114300" y="304800"/>
                  </a:lnTo>
                  <a:lnTo>
                    <a:pt x="152400" y="304800"/>
                  </a:lnTo>
                  <a:lnTo>
                    <a:pt x="76200" y="381000"/>
                  </a:lnTo>
                  <a:lnTo>
                    <a:pt x="0" y="304800"/>
                  </a:lnTo>
                  <a:lnTo>
                    <a:pt x="38100" y="30480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19588" y="4290288"/>
              <a:ext cx="581660" cy="363855"/>
            </a:xfrm>
            <a:custGeom>
              <a:avLst/>
              <a:gdLst/>
              <a:ahLst/>
              <a:cxnLst/>
              <a:rect l="l" t="t" r="r" b="b"/>
              <a:pathLst>
                <a:path w="581660" h="363854">
                  <a:moveTo>
                    <a:pt x="0" y="0"/>
                  </a:moveTo>
                  <a:lnTo>
                    <a:pt x="75874" y="137340"/>
                  </a:lnTo>
                  <a:lnTo>
                    <a:pt x="96079" y="105037"/>
                  </a:lnTo>
                  <a:lnTo>
                    <a:pt x="444935" y="323249"/>
                  </a:lnTo>
                  <a:lnTo>
                    <a:pt x="424729" y="355550"/>
                  </a:lnTo>
                  <a:lnTo>
                    <a:pt x="581425" y="363684"/>
                  </a:lnTo>
                  <a:lnTo>
                    <a:pt x="505548" y="226344"/>
                  </a:lnTo>
                  <a:lnTo>
                    <a:pt x="485344" y="258645"/>
                  </a:lnTo>
                  <a:lnTo>
                    <a:pt x="136489" y="40435"/>
                  </a:lnTo>
                  <a:lnTo>
                    <a:pt x="156693" y="8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19587" y="4290288"/>
              <a:ext cx="581660" cy="363855"/>
            </a:xfrm>
            <a:custGeom>
              <a:avLst/>
              <a:gdLst/>
              <a:ahLst/>
              <a:cxnLst/>
              <a:rect l="l" t="t" r="r" b="b"/>
              <a:pathLst>
                <a:path w="581660" h="363854">
                  <a:moveTo>
                    <a:pt x="581425" y="363684"/>
                  </a:moveTo>
                  <a:lnTo>
                    <a:pt x="424730" y="355550"/>
                  </a:lnTo>
                  <a:lnTo>
                    <a:pt x="444935" y="323248"/>
                  </a:lnTo>
                  <a:lnTo>
                    <a:pt x="96080" y="105038"/>
                  </a:lnTo>
                  <a:lnTo>
                    <a:pt x="75875" y="137339"/>
                  </a:lnTo>
                  <a:lnTo>
                    <a:pt x="0" y="0"/>
                  </a:lnTo>
                  <a:lnTo>
                    <a:pt x="156694" y="8134"/>
                  </a:lnTo>
                  <a:lnTo>
                    <a:pt x="136489" y="40435"/>
                  </a:lnTo>
                  <a:lnTo>
                    <a:pt x="485344" y="258646"/>
                  </a:lnTo>
                  <a:lnTo>
                    <a:pt x="505549" y="226344"/>
                  </a:lnTo>
                  <a:lnTo>
                    <a:pt x="581425" y="3636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25317" y="4281434"/>
              <a:ext cx="570230" cy="381635"/>
            </a:xfrm>
            <a:custGeom>
              <a:avLst/>
              <a:gdLst/>
              <a:ahLst/>
              <a:cxnLst/>
              <a:rect l="l" t="t" r="r" b="b"/>
              <a:pathLst>
                <a:path w="570229" h="381635">
                  <a:moveTo>
                    <a:pt x="569965" y="0"/>
                  </a:moveTo>
                  <a:lnTo>
                    <a:pt x="413595" y="12948"/>
                  </a:lnTo>
                  <a:lnTo>
                    <a:pt x="434784" y="44613"/>
                  </a:lnTo>
                  <a:lnTo>
                    <a:pt x="92803" y="273450"/>
                  </a:lnTo>
                  <a:lnTo>
                    <a:pt x="71615" y="241785"/>
                  </a:lnTo>
                  <a:lnTo>
                    <a:pt x="0" y="381392"/>
                  </a:lnTo>
                  <a:lnTo>
                    <a:pt x="156370" y="368443"/>
                  </a:lnTo>
                  <a:lnTo>
                    <a:pt x="135181" y="336778"/>
                  </a:lnTo>
                  <a:lnTo>
                    <a:pt x="477160" y="107943"/>
                  </a:lnTo>
                  <a:lnTo>
                    <a:pt x="498349" y="139608"/>
                  </a:lnTo>
                  <a:lnTo>
                    <a:pt x="569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25316" y="4281433"/>
              <a:ext cx="570230" cy="381635"/>
            </a:xfrm>
            <a:custGeom>
              <a:avLst/>
              <a:gdLst/>
              <a:ahLst/>
              <a:cxnLst/>
              <a:rect l="l" t="t" r="r" b="b"/>
              <a:pathLst>
                <a:path w="570229" h="381635">
                  <a:moveTo>
                    <a:pt x="0" y="381392"/>
                  </a:moveTo>
                  <a:lnTo>
                    <a:pt x="71616" y="241784"/>
                  </a:lnTo>
                  <a:lnTo>
                    <a:pt x="92804" y="273449"/>
                  </a:lnTo>
                  <a:lnTo>
                    <a:pt x="434784" y="44613"/>
                  </a:lnTo>
                  <a:lnTo>
                    <a:pt x="413596" y="12948"/>
                  </a:lnTo>
                  <a:lnTo>
                    <a:pt x="569966" y="0"/>
                  </a:lnTo>
                  <a:lnTo>
                    <a:pt x="498349" y="139608"/>
                  </a:lnTo>
                  <a:lnTo>
                    <a:pt x="477161" y="107943"/>
                  </a:lnTo>
                  <a:lnTo>
                    <a:pt x="135181" y="336778"/>
                  </a:lnTo>
                  <a:lnTo>
                    <a:pt x="156370" y="368443"/>
                  </a:lnTo>
                  <a:lnTo>
                    <a:pt x="0" y="38139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384675" y="3176731"/>
            <a:ext cx="3676650" cy="2400300"/>
          </a:xfrm>
          <a:prstGeom prst="rect">
            <a:avLst/>
          </a:prstGeom>
          <a:ln w="28575">
            <a:solidFill>
              <a:srgbClr val="5B9BD5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R="398780" algn="ctr">
              <a:lnSpc>
                <a:spcPct val="100000"/>
              </a:lnSpc>
              <a:spcBef>
                <a:spcPts val="254"/>
              </a:spcBef>
            </a:pPr>
            <a:r>
              <a:rPr sz="1800" b="1" spc="-10" dirty="0">
                <a:latin typeface="Calibri"/>
                <a:cs typeface="Calibri"/>
              </a:rPr>
              <a:t>Sistema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777793" y="4564231"/>
            <a:ext cx="6720840" cy="1501775"/>
            <a:chOff x="2777793" y="4564231"/>
            <a:chExt cx="6720840" cy="1501775"/>
          </a:xfrm>
        </p:grpSpPr>
        <p:sp>
          <p:nvSpPr>
            <p:cNvPr id="28" name="object 28"/>
            <p:cNvSpPr/>
            <p:nvPr/>
          </p:nvSpPr>
          <p:spPr>
            <a:xfrm>
              <a:off x="9080855" y="4570581"/>
              <a:ext cx="411480" cy="1206500"/>
            </a:xfrm>
            <a:custGeom>
              <a:avLst/>
              <a:gdLst/>
              <a:ahLst/>
              <a:cxnLst/>
              <a:rect l="l" t="t" r="r" b="b"/>
              <a:pathLst>
                <a:path w="411479" h="1206500">
                  <a:moveTo>
                    <a:pt x="308372" y="0"/>
                  </a:moveTo>
                  <a:lnTo>
                    <a:pt x="102791" y="0"/>
                  </a:lnTo>
                  <a:lnTo>
                    <a:pt x="102791" y="1000893"/>
                  </a:lnTo>
                  <a:lnTo>
                    <a:pt x="0" y="1000893"/>
                  </a:lnTo>
                  <a:lnTo>
                    <a:pt x="205581" y="1206474"/>
                  </a:lnTo>
                  <a:lnTo>
                    <a:pt x="411163" y="1000893"/>
                  </a:lnTo>
                  <a:lnTo>
                    <a:pt x="308372" y="1000893"/>
                  </a:lnTo>
                  <a:lnTo>
                    <a:pt x="308372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80855" y="4570581"/>
              <a:ext cx="411480" cy="1206500"/>
            </a:xfrm>
            <a:custGeom>
              <a:avLst/>
              <a:gdLst/>
              <a:ahLst/>
              <a:cxnLst/>
              <a:rect l="l" t="t" r="r" b="b"/>
              <a:pathLst>
                <a:path w="411479" h="1206500">
                  <a:moveTo>
                    <a:pt x="0" y="1000894"/>
                  </a:moveTo>
                  <a:lnTo>
                    <a:pt x="102790" y="1000894"/>
                  </a:lnTo>
                  <a:lnTo>
                    <a:pt x="102790" y="0"/>
                  </a:lnTo>
                  <a:lnTo>
                    <a:pt x="308372" y="0"/>
                  </a:lnTo>
                  <a:lnTo>
                    <a:pt x="308372" y="1000894"/>
                  </a:lnTo>
                  <a:lnTo>
                    <a:pt x="411163" y="1000894"/>
                  </a:lnTo>
                  <a:lnTo>
                    <a:pt x="205581" y="1206475"/>
                  </a:lnTo>
                  <a:lnTo>
                    <a:pt x="0" y="1000894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84143" y="4732115"/>
              <a:ext cx="340360" cy="1163955"/>
            </a:xfrm>
            <a:custGeom>
              <a:avLst/>
              <a:gdLst/>
              <a:ahLst/>
              <a:cxnLst/>
              <a:rect l="l" t="t" r="r" b="b"/>
              <a:pathLst>
                <a:path w="340360" h="1163954">
                  <a:moveTo>
                    <a:pt x="170028" y="0"/>
                  </a:moveTo>
                  <a:lnTo>
                    <a:pt x="0" y="170028"/>
                  </a:lnTo>
                  <a:lnTo>
                    <a:pt x="85013" y="170028"/>
                  </a:lnTo>
                  <a:lnTo>
                    <a:pt x="85013" y="1163826"/>
                  </a:lnTo>
                  <a:lnTo>
                    <a:pt x="255042" y="1163826"/>
                  </a:lnTo>
                  <a:lnTo>
                    <a:pt x="255042" y="170028"/>
                  </a:lnTo>
                  <a:lnTo>
                    <a:pt x="340056" y="170028"/>
                  </a:lnTo>
                  <a:lnTo>
                    <a:pt x="170028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84143" y="4732115"/>
              <a:ext cx="340360" cy="1163955"/>
            </a:xfrm>
            <a:custGeom>
              <a:avLst/>
              <a:gdLst/>
              <a:ahLst/>
              <a:cxnLst/>
              <a:rect l="l" t="t" r="r" b="b"/>
              <a:pathLst>
                <a:path w="340360" h="1163954">
                  <a:moveTo>
                    <a:pt x="0" y="170029"/>
                  </a:moveTo>
                  <a:lnTo>
                    <a:pt x="170029" y="0"/>
                  </a:lnTo>
                  <a:lnTo>
                    <a:pt x="340057" y="170029"/>
                  </a:lnTo>
                  <a:lnTo>
                    <a:pt x="255043" y="170029"/>
                  </a:lnTo>
                  <a:lnTo>
                    <a:pt x="255043" y="1163827"/>
                  </a:lnTo>
                  <a:lnTo>
                    <a:pt x="85013" y="1163827"/>
                  </a:lnTo>
                  <a:lnTo>
                    <a:pt x="85013" y="170029"/>
                  </a:lnTo>
                  <a:lnTo>
                    <a:pt x="0" y="17002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97720" y="5705441"/>
              <a:ext cx="6281420" cy="354330"/>
            </a:xfrm>
            <a:custGeom>
              <a:avLst/>
              <a:gdLst/>
              <a:ahLst/>
              <a:cxnLst/>
              <a:rect l="l" t="t" r="r" b="b"/>
              <a:pathLst>
                <a:path w="6281420" h="354329">
                  <a:moveTo>
                    <a:pt x="177082" y="0"/>
                  </a:moveTo>
                  <a:lnTo>
                    <a:pt x="0" y="177082"/>
                  </a:lnTo>
                  <a:lnTo>
                    <a:pt x="177082" y="354164"/>
                  </a:lnTo>
                  <a:lnTo>
                    <a:pt x="177082" y="265626"/>
                  </a:lnTo>
                  <a:lnTo>
                    <a:pt x="6281216" y="265626"/>
                  </a:lnTo>
                  <a:lnTo>
                    <a:pt x="6281216" y="88544"/>
                  </a:lnTo>
                  <a:lnTo>
                    <a:pt x="177082" y="88544"/>
                  </a:lnTo>
                  <a:lnTo>
                    <a:pt x="177082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97720" y="5705441"/>
              <a:ext cx="6281420" cy="354330"/>
            </a:xfrm>
            <a:custGeom>
              <a:avLst/>
              <a:gdLst/>
              <a:ahLst/>
              <a:cxnLst/>
              <a:rect l="l" t="t" r="r" b="b"/>
              <a:pathLst>
                <a:path w="6281420" h="354329">
                  <a:moveTo>
                    <a:pt x="0" y="177082"/>
                  </a:moveTo>
                  <a:lnTo>
                    <a:pt x="177081" y="0"/>
                  </a:lnTo>
                  <a:lnTo>
                    <a:pt x="177081" y="88544"/>
                  </a:lnTo>
                  <a:lnTo>
                    <a:pt x="6281217" y="88544"/>
                  </a:lnTo>
                  <a:lnTo>
                    <a:pt x="6281217" y="265626"/>
                  </a:lnTo>
                  <a:lnTo>
                    <a:pt x="177081" y="265626"/>
                  </a:lnTo>
                  <a:lnTo>
                    <a:pt x="177081" y="354164"/>
                  </a:lnTo>
                  <a:lnTo>
                    <a:pt x="0" y="177082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18988" y="5720588"/>
            <a:ext cx="2927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 T R</a:t>
            </a:r>
            <a:r>
              <a:rPr sz="1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 A Ç Ã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b="1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(FEED-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BACK)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9115" y="6296659"/>
            <a:ext cx="293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Fonte: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WETHERBE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(1987),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38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01846" y="3602228"/>
            <a:ext cx="95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Ambiente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70001" y="3135884"/>
            <a:ext cx="95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Ambiente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15190" y="4249796"/>
            <a:ext cx="3843654" cy="1703070"/>
            <a:chOff x="7615190" y="4249796"/>
            <a:chExt cx="3843654" cy="1703070"/>
          </a:xfrm>
        </p:grpSpPr>
        <p:sp>
          <p:nvSpPr>
            <p:cNvPr id="3" name="object 3"/>
            <p:cNvSpPr/>
            <p:nvPr/>
          </p:nvSpPr>
          <p:spPr>
            <a:xfrm>
              <a:off x="8090160" y="4264083"/>
              <a:ext cx="2898140" cy="1674495"/>
            </a:xfrm>
            <a:custGeom>
              <a:avLst/>
              <a:gdLst/>
              <a:ahLst/>
              <a:cxnLst/>
              <a:rect l="l" t="t" r="r" b="b"/>
              <a:pathLst>
                <a:path w="2898140" h="1674495">
                  <a:moveTo>
                    <a:pt x="2897874" y="0"/>
                  </a:moveTo>
                  <a:lnTo>
                    <a:pt x="0" y="0"/>
                  </a:lnTo>
                  <a:lnTo>
                    <a:pt x="0" y="1674202"/>
                  </a:lnTo>
                  <a:lnTo>
                    <a:pt x="2897874" y="1674202"/>
                  </a:lnTo>
                  <a:lnTo>
                    <a:pt x="289787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90160" y="4264083"/>
              <a:ext cx="2898140" cy="1674495"/>
            </a:xfrm>
            <a:custGeom>
              <a:avLst/>
              <a:gdLst/>
              <a:ahLst/>
              <a:cxnLst/>
              <a:rect l="l" t="t" r="r" b="b"/>
              <a:pathLst>
                <a:path w="2898140" h="1674495">
                  <a:moveTo>
                    <a:pt x="0" y="0"/>
                  </a:moveTo>
                  <a:lnTo>
                    <a:pt x="2897874" y="0"/>
                  </a:lnTo>
                  <a:lnTo>
                    <a:pt x="2897874" y="1674203"/>
                  </a:lnTo>
                  <a:lnTo>
                    <a:pt x="0" y="1674203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9952" y="5121115"/>
              <a:ext cx="446405" cy="106680"/>
            </a:xfrm>
            <a:custGeom>
              <a:avLst/>
              <a:gdLst/>
              <a:ahLst/>
              <a:cxnLst/>
              <a:rect l="l" t="t" r="r" b="b"/>
              <a:pathLst>
                <a:path w="446404" h="106679">
                  <a:moveTo>
                    <a:pt x="0" y="26574"/>
                  </a:moveTo>
                  <a:lnTo>
                    <a:pt x="339528" y="26574"/>
                  </a:lnTo>
                  <a:lnTo>
                    <a:pt x="339528" y="0"/>
                  </a:lnTo>
                  <a:lnTo>
                    <a:pt x="445827" y="53149"/>
                  </a:lnTo>
                  <a:lnTo>
                    <a:pt x="339528" y="106299"/>
                  </a:lnTo>
                  <a:lnTo>
                    <a:pt x="339528" y="79724"/>
                  </a:lnTo>
                  <a:lnTo>
                    <a:pt x="0" y="79724"/>
                  </a:lnTo>
                  <a:lnTo>
                    <a:pt x="0" y="2657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07771" y="5134403"/>
              <a:ext cx="446405" cy="106680"/>
            </a:xfrm>
            <a:custGeom>
              <a:avLst/>
              <a:gdLst/>
              <a:ahLst/>
              <a:cxnLst/>
              <a:rect l="l" t="t" r="r" b="b"/>
              <a:pathLst>
                <a:path w="446404" h="106679">
                  <a:moveTo>
                    <a:pt x="0" y="26574"/>
                  </a:moveTo>
                  <a:lnTo>
                    <a:pt x="339528" y="26574"/>
                  </a:lnTo>
                  <a:lnTo>
                    <a:pt x="339528" y="0"/>
                  </a:lnTo>
                  <a:lnTo>
                    <a:pt x="445827" y="53149"/>
                  </a:lnTo>
                  <a:lnTo>
                    <a:pt x="339528" y="106299"/>
                  </a:lnTo>
                  <a:lnTo>
                    <a:pt x="339528" y="79724"/>
                  </a:lnTo>
                  <a:lnTo>
                    <a:pt x="0" y="79724"/>
                  </a:lnTo>
                  <a:lnTo>
                    <a:pt x="0" y="2657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5702" y="5314889"/>
              <a:ext cx="1248410" cy="370205"/>
            </a:xfrm>
            <a:custGeom>
              <a:avLst/>
              <a:gdLst/>
              <a:ahLst/>
              <a:cxnLst/>
              <a:rect l="l" t="t" r="r" b="b"/>
              <a:pathLst>
                <a:path w="1248409" h="370204">
                  <a:moveTo>
                    <a:pt x="1248083" y="0"/>
                  </a:moveTo>
                  <a:lnTo>
                    <a:pt x="0" y="0"/>
                  </a:lnTo>
                  <a:lnTo>
                    <a:pt x="0" y="369830"/>
                  </a:lnTo>
                  <a:lnTo>
                    <a:pt x="1248083" y="369830"/>
                  </a:lnTo>
                  <a:lnTo>
                    <a:pt x="1248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5702" y="5314889"/>
              <a:ext cx="1248410" cy="370205"/>
            </a:xfrm>
            <a:custGeom>
              <a:avLst/>
              <a:gdLst/>
              <a:ahLst/>
              <a:cxnLst/>
              <a:rect l="l" t="t" r="r" b="b"/>
              <a:pathLst>
                <a:path w="1248409" h="370204">
                  <a:moveTo>
                    <a:pt x="0" y="0"/>
                  </a:moveTo>
                  <a:lnTo>
                    <a:pt x="1248083" y="0"/>
                  </a:lnTo>
                  <a:lnTo>
                    <a:pt x="1248083" y="369831"/>
                  </a:lnTo>
                  <a:lnTo>
                    <a:pt x="0" y="36983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04447" y="5336540"/>
            <a:ext cx="1264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Subsistema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10926" y="5327068"/>
            <a:ext cx="1248410" cy="370205"/>
          </a:xfrm>
          <a:custGeom>
            <a:avLst/>
            <a:gdLst/>
            <a:ahLst/>
            <a:cxnLst/>
            <a:rect l="l" t="t" r="r" b="b"/>
            <a:pathLst>
              <a:path w="1248409" h="370204">
                <a:moveTo>
                  <a:pt x="0" y="0"/>
                </a:moveTo>
                <a:lnTo>
                  <a:pt x="1248083" y="0"/>
                </a:lnTo>
                <a:lnTo>
                  <a:pt x="1248083" y="369831"/>
                </a:lnTo>
                <a:lnTo>
                  <a:pt x="0" y="369831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06164" y="5322305"/>
            <a:ext cx="1257935" cy="3797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latin typeface="Calibri"/>
                <a:cs typeface="Calibri"/>
              </a:rPr>
              <a:t>Subsistema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696994" y="4673776"/>
            <a:ext cx="1248410" cy="370205"/>
          </a:xfrm>
          <a:custGeom>
            <a:avLst/>
            <a:gdLst/>
            <a:ahLst/>
            <a:cxnLst/>
            <a:rect l="l" t="t" r="r" b="b"/>
            <a:pathLst>
              <a:path w="1248409" h="370204">
                <a:moveTo>
                  <a:pt x="0" y="0"/>
                </a:moveTo>
                <a:lnTo>
                  <a:pt x="1248083" y="0"/>
                </a:lnTo>
                <a:lnTo>
                  <a:pt x="1248083" y="369831"/>
                </a:lnTo>
                <a:lnTo>
                  <a:pt x="0" y="369831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692232" y="4669013"/>
            <a:ext cx="1282065" cy="3797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83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90"/>
              </a:spcBef>
            </a:pPr>
            <a:r>
              <a:rPr sz="1800" spc="-10" dirty="0">
                <a:latin typeface="Calibri"/>
                <a:cs typeface="Calibri"/>
              </a:rPr>
              <a:t>Subsistema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99331" y="4669013"/>
            <a:ext cx="1138555" cy="348615"/>
            <a:chOff x="8099331" y="4669013"/>
            <a:chExt cx="1138555" cy="348615"/>
          </a:xfrm>
        </p:grpSpPr>
        <p:sp>
          <p:nvSpPr>
            <p:cNvPr id="15" name="object 15"/>
            <p:cNvSpPr/>
            <p:nvPr/>
          </p:nvSpPr>
          <p:spPr>
            <a:xfrm>
              <a:off x="8104093" y="4673776"/>
              <a:ext cx="1129030" cy="339090"/>
            </a:xfrm>
            <a:custGeom>
              <a:avLst/>
              <a:gdLst/>
              <a:ahLst/>
              <a:cxnLst/>
              <a:rect l="l" t="t" r="r" b="b"/>
              <a:pathLst>
                <a:path w="1129029" h="339089">
                  <a:moveTo>
                    <a:pt x="1128499" y="0"/>
                  </a:moveTo>
                  <a:lnTo>
                    <a:pt x="0" y="0"/>
                  </a:lnTo>
                  <a:lnTo>
                    <a:pt x="0" y="338825"/>
                  </a:lnTo>
                  <a:lnTo>
                    <a:pt x="1128499" y="338825"/>
                  </a:lnTo>
                  <a:lnTo>
                    <a:pt x="11284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04093" y="4673776"/>
              <a:ext cx="1129030" cy="339090"/>
            </a:xfrm>
            <a:custGeom>
              <a:avLst/>
              <a:gdLst/>
              <a:ahLst/>
              <a:cxnLst/>
              <a:rect l="l" t="t" r="r" b="b"/>
              <a:pathLst>
                <a:path w="1129029" h="339089">
                  <a:moveTo>
                    <a:pt x="0" y="0"/>
                  </a:moveTo>
                  <a:lnTo>
                    <a:pt x="1128499" y="0"/>
                  </a:lnTo>
                  <a:lnTo>
                    <a:pt x="1128499" y="338827"/>
                  </a:lnTo>
                  <a:lnTo>
                    <a:pt x="0" y="33882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06651" y="4694428"/>
            <a:ext cx="11309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Subsistema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700731" y="4790813"/>
            <a:ext cx="1514475" cy="753745"/>
            <a:chOff x="8700731" y="4790813"/>
            <a:chExt cx="1514475" cy="753745"/>
          </a:xfrm>
        </p:grpSpPr>
        <p:sp>
          <p:nvSpPr>
            <p:cNvPr id="19" name="object 19"/>
            <p:cNvSpPr/>
            <p:nvPr/>
          </p:nvSpPr>
          <p:spPr>
            <a:xfrm>
              <a:off x="9207050" y="4795575"/>
              <a:ext cx="501650" cy="106680"/>
            </a:xfrm>
            <a:custGeom>
              <a:avLst/>
              <a:gdLst/>
              <a:ahLst/>
              <a:cxnLst/>
              <a:rect l="l" t="t" r="r" b="b"/>
              <a:pathLst>
                <a:path w="501650" h="106679">
                  <a:moveTo>
                    <a:pt x="405885" y="0"/>
                  </a:moveTo>
                  <a:lnTo>
                    <a:pt x="405885" y="26574"/>
                  </a:lnTo>
                  <a:lnTo>
                    <a:pt x="95667" y="26574"/>
                  </a:lnTo>
                  <a:lnTo>
                    <a:pt x="95667" y="0"/>
                  </a:lnTo>
                  <a:lnTo>
                    <a:pt x="0" y="53149"/>
                  </a:lnTo>
                  <a:lnTo>
                    <a:pt x="95667" y="106299"/>
                  </a:lnTo>
                  <a:lnTo>
                    <a:pt x="95667" y="79724"/>
                  </a:lnTo>
                  <a:lnTo>
                    <a:pt x="405885" y="79724"/>
                  </a:lnTo>
                  <a:lnTo>
                    <a:pt x="405885" y="106299"/>
                  </a:lnTo>
                  <a:lnTo>
                    <a:pt x="501554" y="53149"/>
                  </a:lnTo>
                  <a:lnTo>
                    <a:pt x="4058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07050" y="4795575"/>
              <a:ext cx="501650" cy="106680"/>
            </a:xfrm>
            <a:custGeom>
              <a:avLst/>
              <a:gdLst/>
              <a:ahLst/>
              <a:cxnLst/>
              <a:rect l="l" t="t" r="r" b="b"/>
              <a:pathLst>
                <a:path w="501650" h="106679">
                  <a:moveTo>
                    <a:pt x="0" y="53149"/>
                  </a:moveTo>
                  <a:lnTo>
                    <a:pt x="95668" y="0"/>
                  </a:lnTo>
                  <a:lnTo>
                    <a:pt x="95668" y="26574"/>
                  </a:lnTo>
                  <a:lnTo>
                    <a:pt x="405886" y="26574"/>
                  </a:lnTo>
                  <a:lnTo>
                    <a:pt x="405886" y="0"/>
                  </a:lnTo>
                  <a:lnTo>
                    <a:pt x="501555" y="53149"/>
                  </a:lnTo>
                  <a:lnTo>
                    <a:pt x="405886" y="106299"/>
                  </a:lnTo>
                  <a:lnTo>
                    <a:pt x="405886" y="79724"/>
                  </a:lnTo>
                  <a:lnTo>
                    <a:pt x="95668" y="79724"/>
                  </a:lnTo>
                  <a:lnTo>
                    <a:pt x="95668" y="106299"/>
                  </a:lnTo>
                  <a:lnTo>
                    <a:pt x="0" y="531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07050" y="5433367"/>
              <a:ext cx="501650" cy="106680"/>
            </a:xfrm>
            <a:custGeom>
              <a:avLst/>
              <a:gdLst/>
              <a:ahLst/>
              <a:cxnLst/>
              <a:rect l="l" t="t" r="r" b="b"/>
              <a:pathLst>
                <a:path w="501650" h="106679">
                  <a:moveTo>
                    <a:pt x="405885" y="0"/>
                  </a:moveTo>
                  <a:lnTo>
                    <a:pt x="405885" y="26574"/>
                  </a:lnTo>
                  <a:lnTo>
                    <a:pt x="95667" y="26574"/>
                  </a:lnTo>
                  <a:lnTo>
                    <a:pt x="95667" y="0"/>
                  </a:lnTo>
                  <a:lnTo>
                    <a:pt x="0" y="53149"/>
                  </a:lnTo>
                  <a:lnTo>
                    <a:pt x="95667" y="106298"/>
                  </a:lnTo>
                  <a:lnTo>
                    <a:pt x="95667" y="79724"/>
                  </a:lnTo>
                  <a:lnTo>
                    <a:pt x="405885" y="79724"/>
                  </a:lnTo>
                  <a:lnTo>
                    <a:pt x="405885" y="106298"/>
                  </a:lnTo>
                  <a:lnTo>
                    <a:pt x="501554" y="53149"/>
                  </a:lnTo>
                  <a:lnTo>
                    <a:pt x="4058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07050" y="5433367"/>
              <a:ext cx="501650" cy="106680"/>
            </a:xfrm>
            <a:custGeom>
              <a:avLst/>
              <a:gdLst/>
              <a:ahLst/>
              <a:cxnLst/>
              <a:rect l="l" t="t" r="r" b="b"/>
              <a:pathLst>
                <a:path w="501650" h="106679">
                  <a:moveTo>
                    <a:pt x="0" y="53149"/>
                  </a:moveTo>
                  <a:lnTo>
                    <a:pt x="95668" y="0"/>
                  </a:lnTo>
                  <a:lnTo>
                    <a:pt x="95668" y="26574"/>
                  </a:lnTo>
                  <a:lnTo>
                    <a:pt x="405886" y="26574"/>
                  </a:lnTo>
                  <a:lnTo>
                    <a:pt x="405886" y="0"/>
                  </a:lnTo>
                  <a:lnTo>
                    <a:pt x="501555" y="53149"/>
                  </a:lnTo>
                  <a:lnTo>
                    <a:pt x="405886" y="106299"/>
                  </a:lnTo>
                  <a:lnTo>
                    <a:pt x="405886" y="79724"/>
                  </a:lnTo>
                  <a:lnTo>
                    <a:pt x="95668" y="79724"/>
                  </a:lnTo>
                  <a:lnTo>
                    <a:pt x="95668" y="106299"/>
                  </a:lnTo>
                  <a:lnTo>
                    <a:pt x="0" y="531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05494" y="5036962"/>
              <a:ext cx="111760" cy="266065"/>
            </a:xfrm>
            <a:custGeom>
              <a:avLst/>
              <a:gdLst/>
              <a:ahLst/>
              <a:cxnLst/>
              <a:rect l="l" t="t" r="r" b="b"/>
              <a:pathLst>
                <a:path w="111759" h="266064">
                  <a:moveTo>
                    <a:pt x="55728" y="0"/>
                  </a:moveTo>
                  <a:lnTo>
                    <a:pt x="0" y="55727"/>
                  </a:lnTo>
                  <a:lnTo>
                    <a:pt x="27865" y="55727"/>
                  </a:lnTo>
                  <a:lnTo>
                    <a:pt x="27865" y="210018"/>
                  </a:lnTo>
                  <a:lnTo>
                    <a:pt x="0" y="210018"/>
                  </a:lnTo>
                  <a:lnTo>
                    <a:pt x="55728" y="265746"/>
                  </a:lnTo>
                  <a:lnTo>
                    <a:pt x="111457" y="210018"/>
                  </a:lnTo>
                  <a:lnTo>
                    <a:pt x="83592" y="210018"/>
                  </a:lnTo>
                  <a:lnTo>
                    <a:pt x="83592" y="55727"/>
                  </a:lnTo>
                  <a:lnTo>
                    <a:pt x="111457" y="55727"/>
                  </a:lnTo>
                  <a:lnTo>
                    <a:pt x="55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05494" y="5036962"/>
              <a:ext cx="111760" cy="266065"/>
            </a:xfrm>
            <a:custGeom>
              <a:avLst/>
              <a:gdLst/>
              <a:ahLst/>
              <a:cxnLst/>
              <a:rect l="l" t="t" r="r" b="b"/>
              <a:pathLst>
                <a:path w="111759" h="266064">
                  <a:moveTo>
                    <a:pt x="0" y="55728"/>
                  </a:moveTo>
                  <a:lnTo>
                    <a:pt x="55728" y="0"/>
                  </a:lnTo>
                  <a:lnTo>
                    <a:pt x="111457" y="55728"/>
                  </a:lnTo>
                  <a:lnTo>
                    <a:pt x="83592" y="55728"/>
                  </a:lnTo>
                  <a:lnTo>
                    <a:pt x="83592" y="210018"/>
                  </a:lnTo>
                  <a:lnTo>
                    <a:pt x="111457" y="210018"/>
                  </a:lnTo>
                  <a:lnTo>
                    <a:pt x="55728" y="265747"/>
                  </a:lnTo>
                  <a:lnTo>
                    <a:pt x="0" y="210018"/>
                  </a:lnTo>
                  <a:lnTo>
                    <a:pt x="27864" y="210018"/>
                  </a:lnTo>
                  <a:lnTo>
                    <a:pt x="27864" y="55728"/>
                  </a:lnTo>
                  <a:lnTo>
                    <a:pt x="0" y="557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98703" y="5049141"/>
              <a:ext cx="111760" cy="266065"/>
            </a:xfrm>
            <a:custGeom>
              <a:avLst/>
              <a:gdLst/>
              <a:ahLst/>
              <a:cxnLst/>
              <a:rect l="l" t="t" r="r" b="b"/>
              <a:pathLst>
                <a:path w="111759" h="266064">
                  <a:moveTo>
                    <a:pt x="55728" y="0"/>
                  </a:moveTo>
                  <a:lnTo>
                    <a:pt x="0" y="55728"/>
                  </a:lnTo>
                  <a:lnTo>
                    <a:pt x="27865" y="55728"/>
                  </a:lnTo>
                  <a:lnTo>
                    <a:pt x="27865" y="210018"/>
                  </a:lnTo>
                  <a:lnTo>
                    <a:pt x="0" y="210018"/>
                  </a:lnTo>
                  <a:lnTo>
                    <a:pt x="55728" y="265747"/>
                  </a:lnTo>
                  <a:lnTo>
                    <a:pt x="111457" y="210018"/>
                  </a:lnTo>
                  <a:lnTo>
                    <a:pt x="83592" y="210018"/>
                  </a:lnTo>
                  <a:lnTo>
                    <a:pt x="83592" y="55728"/>
                  </a:lnTo>
                  <a:lnTo>
                    <a:pt x="111457" y="55728"/>
                  </a:lnTo>
                  <a:lnTo>
                    <a:pt x="55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98703" y="5049141"/>
              <a:ext cx="111760" cy="266065"/>
            </a:xfrm>
            <a:custGeom>
              <a:avLst/>
              <a:gdLst/>
              <a:ahLst/>
              <a:cxnLst/>
              <a:rect l="l" t="t" r="r" b="b"/>
              <a:pathLst>
                <a:path w="111759" h="266064">
                  <a:moveTo>
                    <a:pt x="0" y="55728"/>
                  </a:moveTo>
                  <a:lnTo>
                    <a:pt x="55728" y="0"/>
                  </a:lnTo>
                  <a:lnTo>
                    <a:pt x="111457" y="55728"/>
                  </a:lnTo>
                  <a:lnTo>
                    <a:pt x="83592" y="55728"/>
                  </a:lnTo>
                  <a:lnTo>
                    <a:pt x="83592" y="210018"/>
                  </a:lnTo>
                  <a:lnTo>
                    <a:pt x="111457" y="210018"/>
                  </a:lnTo>
                  <a:lnTo>
                    <a:pt x="55728" y="265747"/>
                  </a:lnTo>
                  <a:lnTo>
                    <a:pt x="0" y="210018"/>
                  </a:lnTo>
                  <a:lnTo>
                    <a:pt x="27864" y="210018"/>
                  </a:lnTo>
                  <a:lnTo>
                    <a:pt x="27864" y="55728"/>
                  </a:lnTo>
                  <a:lnTo>
                    <a:pt x="0" y="557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45216" y="5034633"/>
              <a:ext cx="425450" cy="266065"/>
            </a:xfrm>
            <a:custGeom>
              <a:avLst/>
              <a:gdLst/>
              <a:ahLst/>
              <a:cxnLst/>
              <a:rect l="l" t="t" r="r" b="b"/>
              <a:pathLst>
                <a:path w="425450" h="266064">
                  <a:moveTo>
                    <a:pt x="0" y="0"/>
                  </a:moveTo>
                  <a:lnTo>
                    <a:pt x="52923" y="95793"/>
                  </a:lnTo>
                  <a:lnTo>
                    <a:pt x="67015" y="73263"/>
                  </a:lnTo>
                  <a:lnTo>
                    <a:pt x="330020" y="237774"/>
                  </a:lnTo>
                  <a:lnTo>
                    <a:pt x="315927" y="260304"/>
                  </a:lnTo>
                  <a:lnTo>
                    <a:pt x="425221" y="265977"/>
                  </a:lnTo>
                  <a:lnTo>
                    <a:pt x="372299" y="170183"/>
                  </a:lnTo>
                  <a:lnTo>
                    <a:pt x="358206" y="192713"/>
                  </a:lnTo>
                  <a:lnTo>
                    <a:pt x="95201" y="28202"/>
                  </a:lnTo>
                  <a:lnTo>
                    <a:pt x="109293" y="5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245216" y="5034632"/>
              <a:ext cx="425450" cy="266065"/>
            </a:xfrm>
            <a:custGeom>
              <a:avLst/>
              <a:gdLst/>
              <a:ahLst/>
              <a:cxnLst/>
              <a:rect l="l" t="t" r="r" b="b"/>
              <a:pathLst>
                <a:path w="425450" h="266064">
                  <a:moveTo>
                    <a:pt x="425221" y="265978"/>
                  </a:moveTo>
                  <a:lnTo>
                    <a:pt x="315927" y="260304"/>
                  </a:lnTo>
                  <a:lnTo>
                    <a:pt x="330020" y="237774"/>
                  </a:lnTo>
                  <a:lnTo>
                    <a:pt x="67015" y="73263"/>
                  </a:lnTo>
                  <a:lnTo>
                    <a:pt x="52922" y="95794"/>
                  </a:lnTo>
                  <a:lnTo>
                    <a:pt x="0" y="0"/>
                  </a:lnTo>
                  <a:lnTo>
                    <a:pt x="109293" y="5673"/>
                  </a:lnTo>
                  <a:lnTo>
                    <a:pt x="95201" y="28203"/>
                  </a:lnTo>
                  <a:lnTo>
                    <a:pt x="358205" y="192714"/>
                  </a:lnTo>
                  <a:lnTo>
                    <a:pt x="372298" y="170183"/>
                  </a:lnTo>
                  <a:lnTo>
                    <a:pt x="425221" y="26597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249407" y="5028157"/>
              <a:ext cx="417195" cy="279400"/>
            </a:xfrm>
            <a:custGeom>
              <a:avLst/>
              <a:gdLst/>
              <a:ahLst/>
              <a:cxnLst/>
              <a:rect l="l" t="t" r="r" b="b"/>
              <a:pathLst>
                <a:path w="417195" h="279400">
                  <a:moveTo>
                    <a:pt x="416840" y="0"/>
                  </a:moveTo>
                  <a:lnTo>
                    <a:pt x="307773" y="9030"/>
                  </a:lnTo>
                  <a:lnTo>
                    <a:pt x="322552" y="31117"/>
                  </a:lnTo>
                  <a:lnTo>
                    <a:pt x="64730" y="203638"/>
                  </a:lnTo>
                  <a:lnTo>
                    <a:pt x="49951" y="181551"/>
                  </a:lnTo>
                  <a:lnTo>
                    <a:pt x="0" y="278928"/>
                  </a:lnTo>
                  <a:lnTo>
                    <a:pt x="109067" y="269896"/>
                  </a:lnTo>
                  <a:lnTo>
                    <a:pt x="94288" y="247810"/>
                  </a:lnTo>
                  <a:lnTo>
                    <a:pt x="352110" y="75289"/>
                  </a:lnTo>
                  <a:lnTo>
                    <a:pt x="366889" y="97375"/>
                  </a:lnTo>
                  <a:lnTo>
                    <a:pt x="416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249407" y="5028156"/>
              <a:ext cx="417195" cy="279400"/>
            </a:xfrm>
            <a:custGeom>
              <a:avLst/>
              <a:gdLst/>
              <a:ahLst/>
              <a:cxnLst/>
              <a:rect l="l" t="t" r="r" b="b"/>
              <a:pathLst>
                <a:path w="417195" h="279400">
                  <a:moveTo>
                    <a:pt x="0" y="278928"/>
                  </a:moveTo>
                  <a:lnTo>
                    <a:pt x="49951" y="181552"/>
                  </a:lnTo>
                  <a:lnTo>
                    <a:pt x="64730" y="203638"/>
                  </a:lnTo>
                  <a:lnTo>
                    <a:pt x="322552" y="31117"/>
                  </a:lnTo>
                  <a:lnTo>
                    <a:pt x="307773" y="9031"/>
                  </a:lnTo>
                  <a:lnTo>
                    <a:pt x="416840" y="0"/>
                  </a:lnTo>
                  <a:lnTo>
                    <a:pt x="366888" y="97376"/>
                  </a:lnTo>
                  <a:lnTo>
                    <a:pt x="352110" y="75290"/>
                  </a:lnTo>
                  <a:lnTo>
                    <a:pt x="94288" y="247810"/>
                  </a:lnTo>
                  <a:lnTo>
                    <a:pt x="109067" y="269897"/>
                  </a:lnTo>
                  <a:lnTo>
                    <a:pt x="0" y="27892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059393" y="4284979"/>
            <a:ext cx="766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Sistema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5781" y="5229940"/>
            <a:ext cx="4918710" cy="1051560"/>
            <a:chOff x="6945781" y="5229940"/>
            <a:chExt cx="4918710" cy="1051560"/>
          </a:xfrm>
        </p:grpSpPr>
        <p:sp>
          <p:nvSpPr>
            <p:cNvPr id="33" name="object 33"/>
            <p:cNvSpPr/>
            <p:nvPr/>
          </p:nvSpPr>
          <p:spPr>
            <a:xfrm>
              <a:off x="11557189" y="5236290"/>
              <a:ext cx="300990" cy="842010"/>
            </a:xfrm>
            <a:custGeom>
              <a:avLst/>
              <a:gdLst/>
              <a:ahLst/>
              <a:cxnLst/>
              <a:rect l="l" t="t" r="r" b="b"/>
              <a:pathLst>
                <a:path w="300990" h="842010">
                  <a:moveTo>
                    <a:pt x="225525" y="0"/>
                  </a:moveTo>
                  <a:lnTo>
                    <a:pt x="75175" y="0"/>
                  </a:lnTo>
                  <a:lnTo>
                    <a:pt x="75175" y="691163"/>
                  </a:lnTo>
                  <a:lnTo>
                    <a:pt x="0" y="691163"/>
                  </a:lnTo>
                  <a:lnTo>
                    <a:pt x="150350" y="841512"/>
                  </a:lnTo>
                  <a:lnTo>
                    <a:pt x="300700" y="691163"/>
                  </a:lnTo>
                  <a:lnTo>
                    <a:pt x="225525" y="691163"/>
                  </a:lnTo>
                  <a:lnTo>
                    <a:pt x="225525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557189" y="5236290"/>
              <a:ext cx="300990" cy="842010"/>
            </a:xfrm>
            <a:custGeom>
              <a:avLst/>
              <a:gdLst/>
              <a:ahLst/>
              <a:cxnLst/>
              <a:rect l="l" t="t" r="r" b="b"/>
              <a:pathLst>
                <a:path w="300990" h="842010">
                  <a:moveTo>
                    <a:pt x="0" y="691163"/>
                  </a:moveTo>
                  <a:lnTo>
                    <a:pt x="75175" y="691163"/>
                  </a:lnTo>
                  <a:lnTo>
                    <a:pt x="75175" y="0"/>
                  </a:lnTo>
                  <a:lnTo>
                    <a:pt x="225526" y="0"/>
                  </a:lnTo>
                  <a:lnTo>
                    <a:pt x="225526" y="691163"/>
                  </a:lnTo>
                  <a:lnTo>
                    <a:pt x="300701" y="691163"/>
                  </a:lnTo>
                  <a:lnTo>
                    <a:pt x="150351" y="841513"/>
                  </a:lnTo>
                  <a:lnTo>
                    <a:pt x="0" y="691163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52131" y="5348959"/>
              <a:ext cx="248920" cy="812165"/>
            </a:xfrm>
            <a:custGeom>
              <a:avLst/>
              <a:gdLst/>
              <a:ahLst/>
              <a:cxnLst/>
              <a:rect l="l" t="t" r="r" b="b"/>
              <a:pathLst>
                <a:path w="248920" h="812164">
                  <a:moveTo>
                    <a:pt x="124349" y="0"/>
                  </a:moveTo>
                  <a:lnTo>
                    <a:pt x="0" y="124348"/>
                  </a:lnTo>
                  <a:lnTo>
                    <a:pt x="62174" y="124348"/>
                  </a:lnTo>
                  <a:lnTo>
                    <a:pt x="62174" y="811765"/>
                  </a:lnTo>
                  <a:lnTo>
                    <a:pt x="186523" y="811765"/>
                  </a:lnTo>
                  <a:lnTo>
                    <a:pt x="186523" y="124348"/>
                  </a:lnTo>
                  <a:lnTo>
                    <a:pt x="248697" y="124348"/>
                  </a:lnTo>
                  <a:lnTo>
                    <a:pt x="12434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52131" y="5348959"/>
              <a:ext cx="248920" cy="812165"/>
            </a:xfrm>
            <a:custGeom>
              <a:avLst/>
              <a:gdLst/>
              <a:ahLst/>
              <a:cxnLst/>
              <a:rect l="l" t="t" r="r" b="b"/>
              <a:pathLst>
                <a:path w="248920" h="812164">
                  <a:moveTo>
                    <a:pt x="0" y="124349"/>
                  </a:moveTo>
                  <a:lnTo>
                    <a:pt x="124349" y="0"/>
                  </a:lnTo>
                  <a:lnTo>
                    <a:pt x="248698" y="124349"/>
                  </a:lnTo>
                  <a:lnTo>
                    <a:pt x="186523" y="124349"/>
                  </a:lnTo>
                  <a:lnTo>
                    <a:pt x="186523" y="811766"/>
                  </a:lnTo>
                  <a:lnTo>
                    <a:pt x="62174" y="811766"/>
                  </a:lnTo>
                  <a:lnTo>
                    <a:pt x="62174" y="124349"/>
                  </a:lnTo>
                  <a:lnTo>
                    <a:pt x="0" y="12434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08330" y="6027852"/>
              <a:ext cx="4594225" cy="247650"/>
            </a:xfrm>
            <a:custGeom>
              <a:avLst/>
              <a:gdLst/>
              <a:ahLst/>
              <a:cxnLst/>
              <a:rect l="l" t="t" r="r" b="b"/>
              <a:pathLst>
                <a:path w="4594225" h="247650">
                  <a:moveTo>
                    <a:pt x="123513" y="0"/>
                  </a:moveTo>
                  <a:lnTo>
                    <a:pt x="0" y="123516"/>
                  </a:lnTo>
                  <a:lnTo>
                    <a:pt x="123513" y="247027"/>
                  </a:lnTo>
                  <a:lnTo>
                    <a:pt x="123513" y="185269"/>
                  </a:lnTo>
                  <a:lnTo>
                    <a:pt x="4593724" y="185269"/>
                  </a:lnTo>
                  <a:lnTo>
                    <a:pt x="4593724" y="61758"/>
                  </a:lnTo>
                  <a:lnTo>
                    <a:pt x="123513" y="61758"/>
                  </a:lnTo>
                  <a:lnTo>
                    <a:pt x="123513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08330" y="6027852"/>
              <a:ext cx="4594225" cy="247650"/>
            </a:xfrm>
            <a:custGeom>
              <a:avLst/>
              <a:gdLst/>
              <a:ahLst/>
              <a:cxnLst/>
              <a:rect l="l" t="t" r="r" b="b"/>
              <a:pathLst>
                <a:path w="4594225" h="247650">
                  <a:moveTo>
                    <a:pt x="0" y="123516"/>
                  </a:moveTo>
                  <a:lnTo>
                    <a:pt x="123514" y="0"/>
                  </a:lnTo>
                  <a:lnTo>
                    <a:pt x="123514" y="61758"/>
                  </a:lnTo>
                  <a:lnTo>
                    <a:pt x="4593725" y="61758"/>
                  </a:lnTo>
                  <a:lnTo>
                    <a:pt x="4593725" y="185269"/>
                  </a:lnTo>
                  <a:lnTo>
                    <a:pt x="123514" y="185269"/>
                  </a:lnTo>
                  <a:lnTo>
                    <a:pt x="123514" y="247028"/>
                  </a:lnTo>
                  <a:lnTo>
                    <a:pt x="0" y="123516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1154887" y="4568444"/>
            <a:ext cx="95313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Ambiente</a:t>
            </a:r>
            <a:endParaRPr sz="1800">
              <a:latin typeface="Calibri"/>
              <a:cs typeface="Calibri"/>
            </a:endParaRPr>
          </a:p>
          <a:p>
            <a:pPr marL="349250">
              <a:lnSpc>
                <a:spcPct val="100000"/>
              </a:lnSpc>
              <a:spcBef>
                <a:spcPts val="1460"/>
              </a:spcBef>
            </a:pP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16673" y="4242307"/>
            <a:ext cx="95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Ambiente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916939" y="327659"/>
            <a:ext cx="6527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Supersistemas</a:t>
            </a:r>
            <a:r>
              <a:rPr spc="-95" dirty="0"/>
              <a:t> </a:t>
            </a:r>
            <a:r>
              <a:rPr dirty="0"/>
              <a:t>e</a:t>
            </a:r>
            <a:r>
              <a:rPr spc="-90" dirty="0"/>
              <a:t> </a:t>
            </a:r>
            <a:r>
              <a:rPr spc="-10" dirty="0"/>
              <a:t>Subsistemas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412849" y="1378203"/>
            <a:ext cx="11037570" cy="3338093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caracterização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sistema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considerações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sobre </a:t>
            </a:r>
            <a:r>
              <a:rPr sz="2000" dirty="0">
                <a:latin typeface="Calibri"/>
                <a:cs typeface="Calibri"/>
              </a:rPr>
              <a:t>sua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posição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hierarquia.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Cada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sistema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formado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componentes </a:t>
            </a:r>
            <a:r>
              <a:rPr sz="2000" dirty="0">
                <a:latin typeface="Calibri"/>
                <a:cs typeface="Calibri"/>
              </a:rPr>
              <a:t>(entidades)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decompostos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outros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menores,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até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nível </a:t>
            </a:r>
            <a:r>
              <a:rPr sz="2000" dirty="0">
                <a:latin typeface="Calibri"/>
                <a:cs typeface="Calibri"/>
              </a:rPr>
              <a:t>mais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elementar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(atômico,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sem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 err="1">
                <a:latin typeface="Calibri"/>
                <a:cs typeface="Calibri"/>
              </a:rPr>
              <a:t>divisão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lang="pt-BR" sz="2000" spc="-10" dirty="0">
              <a:latin typeface="Calibri"/>
              <a:cs typeface="Calibri"/>
            </a:endParaRPr>
          </a:p>
          <a:p>
            <a:pPr marL="241300" marR="5080" indent="-228600"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000" dirty="0">
                <a:latin typeface="Calibri"/>
                <a:cs typeface="Calibri"/>
              </a:rPr>
              <a:t>Se</a:t>
            </a:r>
            <a:r>
              <a:rPr lang="pt-BR" sz="2000" spc="-6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há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níveis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de</a:t>
            </a:r>
            <a:r>
              <a:rPr lang="pt-BR" sz="2000" spc="-6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hierarquia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envolvidos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com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cooperação/autonomia,</a:t>
            </a:r>
          </a:p>
          <a:p>
            <a:pPr marL="241300">
              <a:spcBef>
                <a:spcPts val="845"/>
              </a:spcBef>
            </a:pPr>
            <a:r>
              <a:rPr lang="pt-BR" sz="2000" dirty="0">
                <a:latin typeface="Calibri"/>
                <a:cs typeface="Calibri"/>
              </a:rPr>
              <a:t>podemos</a:t>
            </a:r>
            <a:r>
              <a:rPr lang="pt-BR" sz="2000" spc="-4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dizer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que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o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nível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agregador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é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o</a:t>
            </a:r>
            <a:r>
              <a:rPr lang="pt-BR" sz="2000" spc="-45" dirty="0">
                <a:latin typeface="Calibri"/>
                <a:cs typeface="Calibri"/>
              </a:rPr>
              <a:t> </a:t>
            </a:r>
            <a:r>
              <a:rPr lang="pt-BR" sz="2000" spc="-10" dirty="0" err="1">
                <a:latin typeface="Calibri"/>
                <a:cs typeface="Calibri"/>
              </a:rPr>
              <a:t>supersistema</a:t>
            </a:r>
            <a:r>
              <a:rPr lang="pt-BR" sz="2000" spc="-10" dirty="0">
                <a:latin typeface="Calibri"/>
                <a:cs typeface="Calibri"/>
              </a:rPr>
              <a:t>,</a:t>
            </a:r>
            <a:r>
              <a:rPr lang="pt-BR" sz="2000" spc="-4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ao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passo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que</a:t>
            </a:r>
            <a:r>
              <a:rPr lang="pt-BR" sz="2000" spc="-50" dirty="0">
                <a:latin typeface="Calibri"/>
                <a:cs typeface="Calibri"/>
              </a:rPr>
              <a:t> </a:t>
            </a:r>
            <a:r>
              <a:rPr lang="pt-BR" sz="2000" spc="-25" dirty="0">
                <a:latin typeface="Calibri"/>
                <a:cs typeface="Calibri"/>
              </a:rPr>
              <a:t>os </a:t>
            </a:r>
            <a:r>
              <a:rPr lang="pt-BR" sz="2000" spc="-10" dirty="0">
                <a:latin typeface="Calibri"/>
                <a:cs typeface="Calibri"/>
              </a:rPr>
              <a:t>agregados</a:t>
            </a:r>
            <a:r>
              <a:rPr lang="pt-BR" sz="2000" spc="-3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são</a:t>
            </a:r>
            <a:r>
              <a:rPr lang="pt-BR" sz="2000" spc="-4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os</a:t>
            </a:r>
            <a:r>
              <a:rPr lang="pt-BR" sz="2000" spc="-3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subsistemas</a:t>
            </a:r>
            <a:endParaRPr lang="pt-BR" sz="2000" dirty="0">
              <a:latin typeface="Calibri"/>
              <a:cs typeface="Calibri"/>
            </a:endParaRPr>
          </a:p>
          <a:p>
            <a:pPr marL="240665" indent="-227965">
              <a:spcBef>
                <a:spcPts val="740"/>
              </a:spcBef>
              <a:buFont typeface="Arial"/>
              <a:buChar char="•"/>
              <a:tabLst>
                <a:tab pos="240665" algn="l"/>
              </a:tabLst>
            </a:pPr>
            <a:r>
              <a:rPr lang="pt-BR" sz="2000" dirty="0">
                <a:latin typeface="Calibri"/>
                <a:cs typeface="Calibri"/>
              </a:rPr>
              <a:t>Sobre</a:t>
            </a:r>
            <a:r>
              <a:rPr lang="pt-BR" sz="2000" spc="-6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subsistemas: </a:t>
            </a:r>
          </a:p>
          <a:p>
            <a:pPr marL="12700" lvl="2">
              <a:spcBef>
                <a:spcPts val="740"/>
              </a:spcBef>
              <a:tabLst>
                <a:tab pos="240665" algn="l"/>
              </a:tabLst>
            </a:pPr>
            <a:r>
              <a:rPr lang="pt-BR" sz="2000" spc="-10" dirty="0">
                <a:latin typeface="Calibri"/>
                <a:cs typeface="Calibri"/>
              </a:rPr>
              <a:t>		* </a:t>
            </a:r>
            <a:r>
              <a:rPr lang="pt-BR" sz="2000" dirty="0">
                <a:latin typeface="Calibri"/>
                <a:cs typeface="Calibri"/>
              </a:rPr>
              <a:t>Podem</a:t>
            </a:r>
            <a:r>
              <a:rPr lang="pt-BR" sz="2000" spc="-6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estar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no</a:t>
            </a:r>
            <a:r>
              <a:rPr lang="pt-BR" sz="2000" spc="-6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mesmo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nível</a:t>
            </a:r>
            <a:r>
              <a:rPr lang="pt-BR" sz="2000" spc="-6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da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hierarquia </a:t>
            </a:r>
            <a:r>
              <a:rPr lang="pt-BR" sz="2000" dirty="0">
                <a:latin typeface="Calibri"/>
                <a:cs typeface="Calibri"/>
              </a:rPr>
              <a:t>e</a:t>
            </a:r>
            <a:r>
              <a:rPr lang="pt-BR" sz="2000" spc="-7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ainda</a:t>
            </a:r>
            <a:r>
              <a:rPr lang="pt-BR" sz="2000" spc="-7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assim</a:t>
            </a:r>
            <a:r>
              <a:rPr lang="pt-BR" sz="2000" spc="-7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manter</a:t>
            </a:r>
            <a:r>
              <a:rPr lang="pt-BR" sz="2000" spc="-7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autonomia</a:t>
            </a:r>
            <a:r>
              <a:rPr lang="pt-BR" sz="2000" spc="-7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entre</a:t>
            </a:r>
            <a:r>
              <a:rPr lang="pt-BR" sz="2000" spc="-6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si </a:t>
            </a:r>
          </a:p>
          <a:p>
            <a:pPr marL="12700" lvl="2">
              <a:spcBef>
                <a:spcPts val="740"/>
              </a:spcBef>
              <a:tabLst>
                <a:tab pos="240665" algn="l"/>
              </a:tabLst>
            </a:pPr>
            <a:r>
              <a:rPr lang="pt-BR" sz="2000" spc="-10" dirty="0">
                <a:latin typeface="Calibri"/>
                <a:cs typeface="Calibri"/>
              </a:rPr>
              <a:t>		* </a:t>
            </a:r>
            <a:r>
              <a:rPr lang="pt-BR" sz="2000" dirty="0">
                <a:latin typeface="Calibri"/>
                <a:cs typeface="Calibri"/>
              </a:rPr>
              <a:t>E</a:t>
            </a:r>
            <a:r>
              <a:rPr lang="pt-BR" sz="2000" spc="-6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ainda</a:t>
            </a:r>
            <a:r>
              <a:rPr lang="pt-BR" sz="2000" spc="-6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assim</a:t>
            </a:r>
            <a:r>
              <a:rPr lang="pt-BR" sz="2000" spc="-6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contribuir</a:t>
            </a:r>
            <a:r>
              <a:rPr lang="pt-BR" sz="2000" spc="-60" dirty="0">
                <a:latin typeface="Calibri"/>
                <a:cs typeface="Calibri"/>
              </a:rPr>
              <a:t> </a:t>
            </a:r>
            <a:r>
              <a:rPr lang="pt-BR" sz="2000" dirty="0" err="1">
                <a:latin typeface="Calibri"/>
                <a:cs typeface="Calibri"/>
              </a:rPr>
              <a:t>p</a:t>
            </a:r>
            <a:r>
              <a:rPr lang="pt-BR" sz="2000" dirty="0">
                <a:latin typeface="Calibri"/>
                <a:cs typeface="Calibri"/>
              </a:rPr>
              <a:t>/o</a:t>
            </a:r>
            <a:r>
              <a:rPr lang="pt-BR" sz="2000" spc="-65" dirty="0">
                <a:latin typeface="Calibri"/>
                <a:cs typeface="Calibri"/>
              </a:rPr>
              <a:t> </a:t>
            </a:r>
            <a:r>
              <a:rPr lang="pt-BR" sz="2000" spc="-10" dirty="0" err="1">
                <a:latin typeface="Calibri"/>
                <a:cs typeface="Calibri"/>
              </a:rPr>
              <a:t>supersistema</a:t>
            </a:r>
            <a:endParaRPr lang="pt-BR" sz="2000" spc="-10" dirty="0">
              <a:latin typeface="Calibri"/>
              <a:cs typeface="Calibri"/>
            </a:endParaRPr>
          </a:p>
          <a:p>
            <a:pPr marL="240665" lvl="1" indent="-227965">
              <a:spcBef>
                <a:spcPts val="740"/>
              </a:spcBef>
              <a:buFont typeface="Arial"/>
              <a:buChar char="•"/>
              <a:tabLst>
                <a:tab pos="240665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82933" y="5191628"/>
            <a:ext cx="83197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pt-BR" sz="2700" spc="-15" baseline="50925" dirty="0">
                <a:latin typeface="Calibri"/>
                <a:cs typeface="Calibri"/>
              </a:rPr>
              <a:t>Entrada</a:t>
            </a:r>
            <a:endParaRPr lang="pt-BR" sz="2700" baseline="50925" dirty="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972459" y="5955284"/>
            <a:ext cx="2927350" cy="64135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 T R</a:t>
            </a:r>
            <a:r>
              <a:rPr sz="1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 A Ç Ã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b="1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(FEED-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BACK)</a:t>
            </a:r>
            <a:endParaRPr sz="1800" dirty="0">
              <a:latin typeface="Calibri"/>
              <a:cs typeface="Calibri"/>
            </a:endParaRPr>
          </a:p>
          <a:p>
            <a:pPr marL="1189355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latin typeface="Calibri"/>
                <a:cs typeface="Calibri"/>
              </a:rPr>
              <a:t>Fonte: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XXXXXXXX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221" y="145106"/>
            <a:ext cx="4043679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00" spc="95" dirty="0"/>
              <a:t>Outros</a:t>
            </a:r>
            <a:r>
              <a:rPr sz="4300" spc="110" dirty="0"/>
              <a:t> </a:t>
            </a:r>
            <a:r>
              <a:rPr sz="4300" spc="100" dirty="0"/>
              <a:t>Conceitos</a:t>
            </a:r>
            <a:endParaRPr sz="4300" dirty="0"/>
          </a:p>
        </p:txBody>
      </p:sp>
      <p:sp>
        <p:nvSpPr>
          <p:cNvPr id="3" name="object 3"/>
          <p:cNvSpPr txBox="1"/>
          <p:nvPr/>
        </p:nvSpPr>
        <p:spPr>
          <a:xfrm>
            <a:off x="550617" y="767819"/>
            <a:ext cx="4963275" cy="68326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39065" marR="5080" indent="-127000">
              <a:lnSpc>
                <a:spcPts val="4800"/>
              </a:lnSpc>
              <a:spcBef>
                <a:spcPts val="570"/>
              </a:spcBef>
            </a:pPr>
            <a:r>
              <a:rPr sz="4300" b="0" spc="80" dirty="0">
                <a:latin typeface="Calibri Light"/>
                <a:cs typeface="Calibri Light"/>
              </a:rPr>
              <a:t>correlatos </a:t>
            </a:r>
            <a:r>
              <a:rPr sz="4300" b="0" dirty="0">
                <a:latin typeface="Calibri Light"/>
                <a:cs typeface="Calibri Light"/>
              </a:rPr>
              <a:t>a</a:t>
            </a:r>
            <a:r>
              <a:rPr sz="4300" b="0" spc="160" dirty="0">
                <a:latin typeface="Calibri Light"/>
                <a:cs typeface="Calibri Light"/>
              </a:rPr>
              <a:t> </a:t>
            </a:r>
            <a:r>
              <a:rPr sz="4300" b="0" spc="85" dirty="0">
                <a:latin typeface="Calibri Light"/>
                <a:cs typeface="Calibri Light"/>
              </a:rPr>
              <a:t>sistema</a:t>
            </a:r>
            <a:endParaRPr sz="43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49103" y="43308"/>
            <a:ext cx="2689225" cy="1674495"/>
          </a:xfrm>
          <a:custGeom>
            <a:avLst/>
            <a:gdLst/>
            <a:ahLst/>
            <a:cxnLst/>
            <a:rect l="l" t="t" r="r" b="b"/>
            <a:pathLst>
              <a:path w="2689225" h="1674495">
                <a:moveTo>
                  <a:pt x="2688893" y="0"/>
                </a:moveTo>
                <a:lnTo>
                  <a:pt x="0" y="0"/>
                </a:lnTo>
                <a:lnTo>
                  <a:pt x="0" y="1674202"/>
                </a:lnTo>
                <a:lnTo>
                  <a:pt x="2688893" y="1674202"/>
                </a:lnTo>
                <a:lnTo>
                  <a:pt x="268889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80067" y="807211"/>
            <a:ext cx="746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Entrada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46388" y="900339"/>
            <a:ext cx="446405" cy="106680"/>
          </a:xfrm>
          <a:custGeom>
            <a:avLst/>
            <a:gdLst/>
            <a:ahLst/>
            <a:cxnLst/>
            <a:rect l="l" t="t" r="r" b="b"/>
            <a:pathLst>
              <a:path w="446404" h="106680">
                <a:moveTo>
                  <a:pt x="0" y="26574"/>
                </a:moveTo>
                <a:lnTo>
                  <a:pt x="339528" y="26574"/>
                </a:lnTo>
                <a:lnTo>
                  <a:pt x="339528" y="0"/>
                </a:lnTo>
                <a:lnTo>
                  <a:pt x="445827" y="53149"/>
                </a:lnTo>
                <a:lnTo>
                  <a:pt x="339528" y="106299"/>
                </a:lnTo>
                <a:lnTo>
                  <a:pt x="339528" y="79724"/>
                </a:lnTo>
                <a:lnTo>
                  <a:pt x="0" y="79724"/>
                </a:lnTo>
                <a:lnTo>
                  <a:pt x="0" y="2657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05336" y="900339"/>
            <a:ext cx="446405" cy="106680"/>
          </a:xfrm>
          <a:custGeom>
            <a:avLst/>
            <a:gdLst/>
            <a:ahLst/>
            <a:cxnLst/>
            <a:rect l="l" t="t" r="r" b="b"/>
            <a:pathLst>
              <a:path w="446404" h="106680">
                <a:moveTo>
                  <a:pt x="0" y="26574"/>
                </a:moveTo>
                <a:lnTo>
                  <a:pt x="339528" y="26574"/>
                </a:lnTo>
                <a:lnTo>
                  <a:pt x="339528" y="0"/>
                </a:lnTo>
                <a:lnTo>
                  <a:pt x="445827" y="53149"/>
                </a:lnTo>
                <a:lnTo>
                  <a:pt x="339528" y="106299"/>
                </a:lnTo>
                <a:lnTo>
                  <a:pt x="339528" y="79724"/>
                </a:lnTo>
                <a:lnTo>
                  <a:pt x="0" y="79724"/>
                </a:lnTo>
                <a:lnTo>
                  <a:pt x="0" y="2657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81341" y="1101531"/>
            <a:ext cx="942340" cy="3352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latin typeface="Calibri"/>
                <a:cs typeface="Calibri"/>
              </a:rPr>
              <a:t>Entidade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32598" y="1101531"/>
            <a:ext cx="942340" cy="3352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latin typeface="Calibri"/>
                <a:cs typeface="Calibri"/>
              </a:rPr>
              <a:t>Entidade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32598" y="463739"/>
            <a:ext cx="942340" cy="3352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latin typeface="Calibri"/>
                <a:cs typeface="Calibri"/>
              </a:rPr>
              <a:t>Entidade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1341" y="463739"/>
            <a:ext cx="942340" cy="3352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latin typeface="Calibri"/>
                <a:cs typeface="Calibri"/>
              </a:rPr>
              <a:t>Entidade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27167" y="570038"/>
            <a:ext cx="1514475" cy="753745"/>
            <a:chOff x="8727167" y="570038"/>
            <a:chExt cx="1514475" cy="753745"/>
          </a:xfrm>
        </p:grpSpPr>
        <p:sp>
          <p:nvSpPr>
            <p:cNvPr id="13" name="object 13"/>
            <p:cNvSpPr/>
            <p:nvPr/>
          </p:nvSpPr>
          <p:spPr>
            <a:xfrm>
              <a:off x="9233485" y="574800"/>
              <a:ext cx="501650" cy="106680"/>
            </a:xfrm>
            <a:custGeom>
              <a:avLst/>
              <a:gdLst/>
              <a:ahLst/>
              <a:cxnLst/>
              <a:rect l="l" t="t" r="r" b="b"/>
              <a:pathLst>
                <a:path w="501650" h="106679">
                  <a:moveTo>
                    <a:pt x="405885" y="0"/>
                  </a:moveTo>
                  <a:lnTo>
                    <a:pt x="405885" y="26574"/>
                  </a:lnTo>
                  <a:lnTo>
                    <a:pt x="95667" y="26574"/>
                  </a:lnTo>
                  <a:lnTo>
                    <a:pt x="95667" y="0"/>
                  </a:lnTo>
                  <a:lnTo>
                    <a:pt x="0" y="53149"/>
                  </a:lnTo>
                  <a:lnTo>
                    <a:pt x="95667" y="106299"/>
                  </a:lnTo>
                  <a:lnTo>
                    <a:pt x="95667" y="79724"/>
                  </a:lnTo>
                  <a:lnTo>
                    <a:pt x="405885" y="79724"/>
                  </a:lnTo>
                  <a:lnTo>
                    <a:pt x="405885" y="106299"/>
                  </a:lnTo>
                  <a:lnTo>
                    <a:pt x="501554" y="53149"/>
                  </a:lnTo>
                  <a:lnTo>
                    <a:pt x="4058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33485" y="574800"/>
              <a:ext cx="501650" cy="106680"/>
            </a:xfrm>
            <a:custGeom>
              <a:avLst/>
              <a:gdLst/>
              <a:ahLst/>
              <a:cxnLst/>
              <a:rect l="l" t="t" r="r" b="b"/>
              <a:pathLst>
                <a:path w="501650" h="106679">
                  <a:moveTo>
                    <a:pt x="0" y="53149"/>
                  </a:moveTo>
                  <a:lnTo>
                    <a:pt x="95668" y="0"/>
                  </a:lnTo>
                  <a:lnTo>
                    <a:pt x="95668" y="26574"/>
                  </a:lnTo>
                  <a:lnTo>
                    <a:pt x="405886" y="26574"/>
                  </a:lnTo>
                  <a:lnTo>
                    <a:pt x="405886" y="0"/>
                  </a:lnTo>
                  <a:lnTo>
                    <a:pt x="501555" y="53149"/>
                  </a:lnTo>
                  <a:lnTo>
                    <a:pt x="405886" y="106299"/>
                  </a:lnTo>
                  <a:lnTo>
                    <a:pt x="405886" y="79724"/>
                  </a:lnTo>
                  <a:lnTo>
                    <a:pt x="95668" y="79724"/>
                  </a:lnTo>
                  <a:lnTo>
                    <a:pt x="95668" y="106299"/>
                  </a:lnTo>
                  <a:lnTo>
                    <a:pt x="0" y="531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33485" y="1212593"/>
              <a:ext cx="501650" cy="106680"/>
            </a:xfrm>
            <a:custGeom>
              <a:avLst/>
              <a:gdLst/>
              <a:ahLst/>
              <a:cxnLst/>
              <a:rect l="l" t="t" r="r" b="b"/>
              <a:pathLst>
                <a:path w="501650" h="106680">
                  <a:moveTo>
                    <a:pt x="405885" y="0"/>
                  </a:moveTo>
                  <a:lnTo>
                    <a:pt x="405885" y="26574"/>
                  </a:lnTo>
                  <a:lnTo>
                    <a:pt x="95667" y="26574"/>
                  </a:lnTo>
                  <a:lnTo>
                    <a:pt x="95667" y="0"/>
                  </a:lnTo>
                  <a:lnTo>
                    <a:pt x="0" y="53149"/>
                  </a:lnTo>
                  <a:lnTo>
                    <a:pt x="95667" y="106299"/>
                  </a:lnTo>
                  <a:lnTo>
                    <a:pt x="95667" y="79724"/>
                  </a:lnTo>
                  <a:lnTo>
                    <a:pt x="405885" y="79724"/>
                  </a:lnTo>
                  <a:lnTo>
                    <a:pt x="405885" y="106299"/>
                  </a:lnTo>
                  <a:lnTo>
                    <a:pt x="501554" y="53149"/>
                  </a:lnTo>
                  <a:lnTo>
                    <a:pt x="4058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33485" y="1212593"/>
              <a:ext cx="501650" cy="106680"/>
            </a:xfrm>
            <a:custGeom>
              <a:avLst/>
              <a:gdLst/>
              <a:ahLst/>
              <a:cxnLst/>
              <a:rect l="l" t="t" r="r" b="b"/>
              <a:pathLst>
                <a:path w="501650" h="106680">
                  <a:moveTo>
                    <a:pt x="0" y="53149"/>
                  </a:moveTo>
                  <a:lnTo>
                    <a:pt x="95668" y="0"/>
                  </a:lnTo>
                  <a:lnTo>
                    <a:pt x="95668" y="26574"/>
                  </a:lnTo>
                  <a:lnTo>
                    <a:pt x="405886" y="26574"/>
                  </a:lnTo>
                  <a:lnTo>
                    <a:pt x="405886" y="0"/>
                  </a:lnTo>
                  <a:lnTo>
                    <a:pt x="501555" y="53149"/>
                  </a:lnTo>
                  <a:lnTo>
                    <a:pt x="405886" y="106299"/>
                  </a:lnTo>
                  <a:lnTo>
                    <a:pt x="405886" y="79724"/>
                  </a:lnTo>
                  <a:lnTo>
                    <a:pt x="95668" y="79724"/>
                  </a:lnTo>
                  <a:lnTo>
                    <a:pt x="95668" y="106299"/>
                  </a:lnTo>
                  <a:lnTo>
                    <a:pt x="0" y="5314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31929" y="816187"/>
              <a:ext cx="111760" cy="266065"/>
            </a:xfrm>
            <a:custGeom>
              <a:avLst/>
              <a:gdLst/>
              <a:ahLst/>
              <a:cxnLst/>
              <a:rect l="l" t="t" r="r" b="b"/>
              <a:pathLst>
                <a:path w="111759" h="266065">
                  <a:moveTo>
                    <a:pt x="55728" y="0"/>
                  </a:moveTo>
                  <a:lnTo>
                    <a:pt x="0" y="55728"/>
                  </a:lnTo>
                  <a:lnTo>
                    <a:pt x="27865" y="55728"/>
                  </a:lnTo>
                  <a:lnTo>
                    <a:pt x="27865" y="210018"/>
                  </a:lnTo>
                  <a:lnTo>
                    <a:pt x="0" y="210018"/>
                  </a:lnTo>
                  <a:lnTo>
                    <a:pt x="55728" y="265747"/>
                  </a:lnTo>
                  <a:lnTo>
                    <a:pt x="111457" y="210018"/>
                  </a:lnTo>
                  <a:lnTo>
                    <a:pt x="83592" y="210018"/>
                  </a:lnTo>
                  <a:lnTo>
                    <a:pt x="83592" y="55728"/>
                  </a:lnTo>
                  <a:lnTo>
                    <a:pt x="111457" y="55728"/>
                  </a:lnTo>
                  <a:lnTo>
                    <a:pt x="55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31929" y="816187"/>
              <a:ext cx="111760" cy="266065"/>
            </a:xfrm>
            <a:custGeom>
              <a:avLst/>
              <a:gdLst/>
              <a:ahLst/>
              <a:cxnLst/>
              <a:rect l="l" t="t" r="r" b="b"/>
              <a:pathLst>
                <a:path w="111759" h="266065">
                  <a:moveTo>
                    <a:pt x="0" y="55728"/>
                  </a:moveTo>
                  <a:lnTo>
                    <a:pt x="55728" y="0"/>
                  </a:lnTo>
                  <a:lnTo>
                    <a:pt x="111457" y="55728"/>
                  </a:lnTo>
                  <a:lnTo>
                    <a:pt x="83592" y="55728"/>
                  </a:lnTo>
                  <a:lnTo>
                    <a:pt x="83592" y="210018"/>
                  </a:lnTo>
                  <a:lnTo>
                    <a:pt x="111457" y="210018"/>
                  </a:lnTo>
                  <a:lnTo>
                    <a:pt x="55728" y="265747"/>
                  </a:lnTo>
                  <a:lnTo>
                    <a:pt x="0" y="210018"/>
                  </a:lnTo>
                  <a:lnTo>
                    <a:pt x="27864" y="210018"/>
                  </a:lnTo>
                  <a:lnTo>
                    <a:pt x="27864" y="55728"/>
                  </a:lnTo>
                  <a:lnTo>
                    <a:pt x="0" y="557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25138" y="828366"/>
              <a:ext cx="111760" cy="266065"/>
            </a:xfrm>
            <a:custGeom>
              <a:avLst/>
              <a:gdLst/>
              <a:ahLst/>
              <a:cxnLst/>
              <a:rect l="l" t="t" r="r" b="b"/>
              <a:pathLst>
                <a:path w="111759" h="266065">
                  <a:moveTo>
                    <a:pt x="55728" y="0"/>
                  </a:moveTo>
                  <a:lnTo>
                    <a:pt x="0" y="55728"/>
                  </a:lnTo>
                  <a:lnTo>
                    <a:pt x="27865" y="55728"/>
                  </a:lnTo>
                  <a:lnTo>
                    <a:pt x="27865" y="210018"/>
                  </a:lnTo>
                  <a:lnTo>
                    <a:pt x="0" y="210018"/>
                  </a:lnTo>
                  <a:lnTo>
                    <a:pt x="55728" y="265747"/>
                  </a:lnTo>
                  <a:lnTo>
                    <a:pt x="111457" y="210018"/>
                  </a:lnTo>
                  <a:lnTo>
                    <a:pt x="83592" y="210018"/>
                  </a:lnTo>
                  <a:lnTo>
                    <a:pt x="83592" y="55728"/>
                  </a:lnTo>
                  <a:lnTo>
                    <a:pt x="111457" y="55728"/>
                  </a:lnTo>
                  <a:lnTo>
                    <a:pt x="55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125138" y="828366"/>
              <a:ext cx="111760" cy="266065"/>
            </a:xfrm>
            <a:custGeom>
              <a:avLst/>
              <a:gdLst/>
              <a:ahLst/>
              <a:cxnLst/>
              <a:rect l="l" t="t" r="r" b="b"/>
              <a:pathLst>
                <a:path w="111759" h="266065">
                  <a:moveTo>
                    <a:pt x="0" y="55728"/>
                  </a:moveTo>
                  <a:lnTo>
                    <a:pt x="55728" y="0"/>
                  </a:lnTo>
                  <a:lnTo>
                    <a:pt x="111457" y="55728"/>
                  </a:lnTo>
                  <a:lnTo>
                    <a:pt x="83592" y="55728"/>
                  </a:lnTo>
                  <a:lnTo>
                    <a:pt x="83592" y="210018"/>
                  </a:lnTo>
                  <a:lnTo>
                    <a:pt x="111457" y="210018"/>
                  </a:lnTo>
                  <a:lnTo>
                    <a:pt x="55728" y="265747"/>
                  </a:lnTo>
                  <a:lnTo>
                    <a:pt x="0" y="210018"/>
                  </a:lnTo>
                  <a:lnTo>
                    <a:pt x="27864" y="210018"/>
                  </a:lnTo>
                  <a:lnTo>
                    <a:pt x="27864" y="55728"/>
                  </a:lnTo>
                  <a:lnTo>
                    <a:pt x="0" y="557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1651" y="813857"/>
              <a:ext cx="425450" cy="266065"/>
            </a:xfrm>
            <a:custGeom>
              <a:avLst/>
              <a:gdLst/>
              <a:ahLst/>
              <a:cxnLst/>
              <a:rect l="l" t="t" r="r" b="b"/>
              <a:pathLst>
                <a:path w="425450" h="266065">
                  <a:moveTo>
                    <a:pt x="0" y="0"/>
                  </a:moveTo>
                  <a:lnTo>
                    <a:pt x="52923" y="95793"/>
                  </a:lnTo>
                  <a:lnTo>
                    <a:pt x="67015" y="73263"/>
                  </a:lnTo>
                  <a:lnTo>
                    <a:pt x="330020" y="237774"/>
                  </a:lnTo>
                  <a:lnTo>
                    <a:pt x="315927" y="260304"/>
                  </a:lnTo>
                  <a:lnTo>
                    <a:pt x="425221" y="265977"/>
                  </a:lnTo>
                  <a:lnTo>
                    <a:pt x="372299" y="170183"/>
                  </a:lnTo>
                  <a:lnTo>
                    <a:pt x="358206" y="192713"/>
                  </a:lnTo>
                  <a:lnTo>
                    <a:pt x="95201" y="28202"/>
                  </a:lnTo>
                  <a:lnTo>
                    <a:pt x="109293" y="5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71652" y="813857"/>
              <a:ext cx="425450" cy="266065"/>
            </a:xfrm>
            <a:custGeom>
              <a:avLst/>
              <a:gdLst/>
              <a:ahLst/>
              <a:cxnLst/>
              <a:rect l="l" t="t" r="r" b="b"/>
              <a:pathLst>
                <a:path w="425450" h="266065">
                  <a:moveTo>
                    <a:pt x="425221" y="265978"/>
                  </a:moveTo>
                  <a:lnTo>
                    <a:pt x="315927" y="260304"/>
                  </a:lnTo>
                  <a:lnTo>
                    <a:pt x="330020" y="237774"/>
                  </a:lnTo>
                  <a:lnTo>
                    <a:pt x="67015" y="73263"/>
                  </a:lnTo>
                  <a:lnTo>
                    <a:pt x="52922" y="95794"/>
                  </a:lnTo>
                  <a:lnTo>
                    <a:pt x="0" y="0"/>
                  </a:lnTo>
                  <a:lnTo>
                    <a:pt x="109293" y="5673"/>
                  </a:lnTo>
                  <a:lnTo>
                    <a:pt x="95201" y="28203"/>
                  </a:lnTo>
                  <a:lnTo>
                    <a:pt x="358205" y="192714"/>
                  </a:lnTo>
                  <a:lnTo>
                    <a:pt x="372298" y="170183"/>
                  </a:lnTo>
                  <a:lnTo>
                    <a:pt x="425221" y="26597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75842" y="807382"/>
              <a:ext cx="417195" cy="279400"/>
            </a:xfrm>
            <a:custGeom>
              <a:avLst/>
              <a:gdLst/>
              <a:ahLst/>
              <a:cxnLst/>
              <a:rect l="l" t="t" r="r" b="b"/>
              <a:pathLst>
                <a:path w="417195" h="279400">
                  <a:moveTo>
                    <a:pt x="416840" y="0"/>
                  </a:moveTo>
                  <a:lnTo>
                    <a:pt x="307773" y="9030"/>
                  </a:lnTo>
                  <a:lnTo>
                    <a:pt x="322552" y="31117"/>
                  </a:lnTo>
                  <a:lnTo>
                    <a:pt x="64730" y="203638"/>
                  </a:lnTo>
                  <a:lnTo>
                    <a:pt x="49951" y="181552"/>
                  </a:lnTo>
                  <a:lnTo>
                    <a:pt x="0" y="278928"/>
                  </a:lnTo>
                  <a:lnTo>
                    <a:pt x="109067" y="269896"/>
                  </a:lnTo>
                  <a:lnTo>
                    <a:pt x="94288" y="247811"/>
                  </a:lnTo>
                  <a:lnTo>
                    <a:pt x="352110" y="75290"/>
                  </a:lnTo>
                  <a:lnTo>
                    <a:pt x="366889" y="97375"/>
                  </a:lnTo>
                  <a:lnTo>
                    <a:pt x="4168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275842" y="807381"/>
              <a:ext cx="417195" cy="279400"/>
            </a:xfrm>
            <a:custGeom>
              <a:avLst/>
              <a:gdLst/>
              <a:ahLst/>
              <a:cxnLst/>
              <a:rect l="l" t="t" r="r" b="b"/>
              <a:pathLst>
                <a:path w="417195" h="279400">
                  <a:moveTo>
                    <a:pt x="0" y="278928"/>
                  </a:moveTo>
                  <a:lnTo>
                    <a:pt x="49951" y="181552"/>
                  </a:lnTo>
                  <a:lnTo>
                    <a:pt x="64730" y="203638"/>
                  </a:lnTo>
                  <a:lnTo>
                    <a:pt x="322552" y="31117"/>
                  </a:lnTo>
                  <a:lnTo>
                    <a:pt x="307773" y="9031"/>
                  </a:lnTo>
                  <a:lnTo>
                    <a:pt x="416840" y="0"/>
                  </a:lnTo>
                  <a:lnTo>
                    <a:pt x="366888" y="97376"/>
                  </a:lnTo>
                  <a:lnTo>
                    <a:pt x="352110" y="75290"/>
                  </a:lnTo>
                  <a:lnTo>
                    <a:pt x="94288" y="247810"/>
                  </a:lnTo>
                  <a:lnTo>
                    <a:pt x="109067" y="269897"/>
                  </a:lnTo>
                  <a:lnTo>
                    <a:pt x="0" y="27892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149103" y="43308"/>
            <a:ext cx="2689225" cy="1674495"/>
          </a:xfrm>
          <a:prstGeom prst="rect">
            <a:avLst/>
          </a:prstGeom>
          <a:ln w="28575">
            <a:solidFill>
              <a:srgbClr val="5B9BD5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R="41275" algn="ctr">
              <a:lnSpc>
                <a:spcPct val="100000"/>
              </a:lnSpc>
              <a:spcBef>
                <a:spcPts val="254"/>
              </a:spcBef>
            </a:pPr>
            <a:r>
              <a:rPr sz="1800" b="1" spc="-10" dirty="0">
                <a:latin typeface="Calibri"/>
                <a:cs typeface="Calibri"/>
              </a:rPr>
              <a:t>Sistema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72214" y="1009164"/>
            <a:ext cx="4918710" cy="1051560"/>
            <a:chOff x="6972214" y="1009164"/>
            <a:chExt cx="4918710" cy="1051560"/>
          </a:xfrm>
        </p:grpSpPr>
        <p:sp>
          <p:nvSpPr>
            <p:cNvPr id="27" name="object 27"/>
            <p:cNvSpPr/>
            <p:nvPr/>
          </p:nvSpPr>
          <p:spPr>
            <a:xfrm>
              <a:off x="11583623" y="1015514"/>
              <a:ext cx="300990" cy="842010"/>
            </a:xfrm>
            <a:custGeom>
              <a:avLst/>
              <a:gdLst/>
              <a:ahLst/>
              <a:cxnLst/>
              <a:rect l="l" t="t" r="r" b="b"/>
              <a:pathLst>
                <a:path w="300990" h="842010">
                  <a:moveTo>
                    <a:pt x="225525" y="0"/>
                  </a:moveTo>
                  <a:lnTo>
                    <a:pt x="75175" y="0"/>
                  </a:lnTo>
                  <a:lnTo>
                    <a:pt x="75175" y="691163"/>
                  </a:lnTo>
                  <a:lnTo>
                    <a:pt x="0" y="691163"/>
                  </a:lnTo>
                  <a:lnTo>
                    <a:pt x="150350" y="841513"/>
                  </a:lnTo>
                  <a:lnTo>
                    <a:pt x="300700" y="691163"/>
                  </a:lnTo>
                  <a:lnTo>
                    <a:pt x="225525" y="691163"/>
                  </a:lnTo>
                  <a:lnTo>
                    <a:pt x="225525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583623" y="1015514"/>
              <a:ext cx="300990" cy="842010"/>
            </a:xfrm>
            <a:custGeom>
              <a:avLst/>
              <a:gdLst/>
              <a:ahLst/>
              <a:cxnLst/>
              <a:rect l="l" t="t" r="r" b="b"/>
              <a:pathLst>
                <a:path w="300990" h="842010">
                  <a:moveTo>
                    <a:pt x="0" y="691163"/>
                  </a:moveTo>
                  <a:lnTo>
                    <a:pt x="75175" y="691163"/>
                  </a:lnTo>
                  <a:lnTo>
                    <a:pt x="75175" y="0"/>
                  </a:lnTo>
                  <a:lnTo>
                    <a:pt x="225526" y="0"/>
                  </a:lnTo>
                  <a:lnTo>
                    <a:pt x="225526" y="691163"/>
                  </a:lnTo>
                  <a:lnTo>
                    <a:pt x="300701" y="691163"/>
                  </a:lnTo>
                  <a:lnTo>
                    <a:pt x="150351" y="841513"/>
                  </a:lnTo>
                  <a:lnTo>
                    <a:pt x="0" y="691163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78564" y="1128184"/>
              <a:ext cx="248920" cy="812165"/>
            </a:xfrm>
            <a:custGeom>
              <a:avLst/>
              <a:gdLst/>
              <a:ahLst/>
              <a:cxnLst/>
              <a:rect l="l" t="t" r="r" b="b"/>
              <a:pathLst>
                <a:path w="248920" h="812164">
                  <a:moveTo>
                    <a:pt x="124349" y="0"/>
                  </a:moveTo>
                  <a:lnTo>
                    <a:pt x="0" y="124349"/>
                  </a:lnTo>
                  <a:lnTo>
                    <a:pt x="62175" y="124349"/>
                  </a:lnTo>
                  <a:lnTo>
                    <a:pt x="62175" y="811766"/>
                  </a:lnTo>
                  <a:lnTo>
                    <a:pt x="186524" y="811766"/>
                  </a:lnTo>
                  <a:lnTo>
                    <a:pt x="186524" y="124349"/>
                  </a:lnTo>
                  <a:lnTo>
                    <a:pt x="248699" y="124349"/>
                  </a:lnTo>
                  <a:lnTo>
                    <a:pt x="124349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78564" y="1128184"/>
              <a:ext cx="248920" cy="812165"/>
            </a:xfrm>
            <a:custGeom>
              <a:avLst/>
              <a:gdLst/>
              <a:ahLst/>
              <a:cxnLst/>
              <a:rect l="l" t="t" r="r" b="b"/>
              <a:pathLst>
                <a:path w="248920" h="812164">
                  <a:moveTo>
                    <a:pt x="0" y="124349"/>
                  </a:moveTo>
                  <a:lnTo>
                    <a:pt x="124349" y="0"/>
                  </a:lnTo>
                  <a:lnTo>
                    <a:pt x="248698" y="124349"/>
                  </a:lnTo>
                  <a:lnTo>
                    <a:pt x="186523" y="124349"/>
                  </a:lnTo>
                  <a:lnTo>
                    <a:pt x="186523" y="811766"/>
                  </a:lnTo>
                  <a:lnTo>
                    <a:pt x="62174" y="811766"/>
                  </a:lnTo>
                  <a:lnTo>
                    <a:pt x="62174" y="124349"/>
                  </a:lnTo>
                  <a:lnTo>
                    <a:pt x="0" y="124349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34764" y="1807077"/>
              <a:ext cx="4594225" cy="247650"/>
            </a:xfrm>
            <a:custGeom>
              <a:avLst/>
              <a:gdLst/>
              <a:ahLst/>
              <a:cxnLst/>
              <a:rect l="l" t="t" r="r" b="b"/>
              <a:pathLst>
                <a:path w="4594225" h="247650">
                  <a:moveTo>
                    <a:pt x="123513" y="0"/>
                  </a:moveTo>
                  <a:lnTo>
                    <a:pt x="0" y="123516"/>
                  </a:lnTo>
                  <a:lnTo>
                    <a:pt x="123513" y="247027"/>
                  </a:lnTo>
                  <a:lnTo>
                    <a:pt x="123513" y="185270"/>
                  </a:lnTo>
                  <a:lnTo>
                    <a:pt x="4593725" y="185270"/>
                  </a:lnTo>
                  <a:lnTo>
                    <a:pt x="4593725" y="61758"/>
                  </a:lnTo>
                  <a:lnTo>
                    <a:pt x="123513" y="61758"/>
                  </a:lnTo>
                  <a:lnTo>
                    <a:pt x="123513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34764" y="1807077"/>
              <a:ext cx="4594225" cy="247650"/>
            </a:xfrm>
            <a:custGeom>
              <a:avLst/>
              <a:gdLst/>
              <a:ahLst/>
              <a:cxnLst/>
              <a:rect l="l" t="t" r="r" b="b"/>
              <a:pathLst>
                <a:path w="4594225" h="247650">
                  <a:moveTo>
                    <a:pt x="0" y="123516"/>
                  </a:moveTo>
                  <a:lnTo>
                    <a:pt x="123514" y="0"/>
                  </a:lnTo>
                  <a:lnTo>
                    <a:pt x="123514" y="61758"/>
                  </a:lnTo>
                  <a:lnTo>
                    <a:pt x="4593725" y="61758"/>
                  </a:lnTo>
                  <a:lnTo>
                    <a:pt x="4593725" y="185269"/>
                  </a:lnTo>
                  <a:lnTo>
                    <a:pt x="123514" y="185269"/>
                  </a:lnTo>
                  <a:lnTo>
                    <a:pt x="123514" y="247028"/>
                  </a:lnTo>
                  <a:lnTo>
                    <a:pt x="0" y="123516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8739" y="1749044"/>
            <a:ext cx="11792585" cy="504761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R="949960" algn="r">
              <a:lnSpc>
                <a:spcPct val="100000"/>
              </a:lnSpc>
              <a:spcBef>
                <a:spcPts val="244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 T R</a:t>
            </a:r>
            <a:r>
              <a:rPr sz="1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 A Ç Ã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b="1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(FEED-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BACK)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ts val="2965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Retroação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mecanismo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segundo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energia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</a:t>
            </a:r>
            <a:endParaRPr sz="2600">
              <a:latin typeface="Calibri"/>
              <a:cs typeface="Calibri"/>
            </a:endParaRPr>
          </a:p>
          <a:p>
            <a:pPr marL="241300" marR="69215">
              <a:lnSpc>
                <a:spcPct val="89600"/>
              </a:lnSpc>
              <a:spcBef>
                <a:spcPts val="170"/>
              </a:spcBef>
            </a:pPr>
            <a:r>
              <a:rPr sz="2600" dirty="0">
                <a:latin typeface="Calibri"/>
                <a:cs typeface="Calibri"/>
              </a:rPr>
              <a:t>um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volta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entrada.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retroação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(do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inglês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feedback)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servomecanismo,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retroalimentação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realimentação,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comparar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maneira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funciona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padrão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estabelecido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funcionar</a:t>
            </a:r>
            <a:endParaRPr sz="2600">
              <a:latin typeface="Calibri"/>
              <a:cs typeface="Calibri"/>
            </a:endParaRPr>
          </a:p>
          <a:p>
            <a:pPr marL="241300" marR="1245870" indent="-228600">
              <a:lnSpc>
                <a:spcPts val="2810"/>
              </a:lnSpc>
              <a:spcBef>
                <a:spcPts val="29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Homestase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tendência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agir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manter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própria estabilidade,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sob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condições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adversas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expostas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alterações.</a:t>
            </a:r>
            <a:endParaRPr sz="2600">
              <a:latin typeface="Calibri"/>
              <a:cs typeface="Calibri"/>
            </a:endParaRPr>
          </a:p>
          <a:p>
            <a:pPr marL="241300" marR="153670" indent="-228600">
              <a:lnSpc>
                <a:spcPts val="2810"/>
              </a:lnSpc>
              <a:spcBef>
                <a:spcPts val="28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Entropia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(conceito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física):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desordem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ausência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sinergia.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funcionar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adequadamente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ocorre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entropia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interna.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28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Sinergia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convergência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(Cooperação)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objetivo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chegar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resultado.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possibilita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funcionar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adequadamente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181322" y="346963"/>
            <a:ext cx="95313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Ambiente</a:t>
            </a:r>
            <a:endParaRPr sz="1800">
              <a:latin typeface="Calibri"/>
              <a:cs typeface="Calibri"/>
            </a:endParaRPr>
          </a:p>
          <a:p>
            <a:pPr marL="349250">
              <a:lnSpc>
                <a:spcPct val="100000"/>
              </a:lnSpc>
              <a:spcBef>
                <a:spcPts val="1465"/>
              </a:spcBef>
            </a:pPr>
            <a:r>
              <a:rPr sz="1800" spc="-10" dirty="0">
                <a:latin typeface="Calibri"/>
                <a:cs typeface="Calibri"/>
              </a:rPr>
              <a:t>Saída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43109" y="20828"/>
            <a:ext cx="95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Ambiente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300" rIns="0" bIns="0" rtlCol="0">
            <a:spAutoFit/>
          </a:bodyPr>
          <a:lstStyle/>
          <a:p>
            <a:pPr marL="1774825" marR="5080" indent="-951230">
              <a:lnSpc>
                <a:spcPts val="4700"/>
              </a:lnSpc>
              <a:spcBef>
                <a:spcPts val="740"/>
              </a:spcBef>
            </a:pPr>
            <a:r>
              <a:rPr dirty="0"/>
              <a:t>Tipos</a:t>
            </a:r>
            <a:r>
              <a:rPr spc="-105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Sistemas</a:t>
            </a:r>
            <a:r>
              <a:rPr spc="-110" dirty="0"/>
              <a:t> </a:t>
            </a:r>
            <a:r>
              <a:rPr dirty="0"/>
              <a:t>–</a:t>
            </a:r>
            <a:r>
              <a:rPr spc="-105" dirty="0"/>
              <a:t> </a:t>
            </a:r>
            <a:r>
              <a:rPr dirty="0"/>
              <a:t>Classificação</a:t>
            </a:r>
            <a:r>
              <a:rPr spc="-95" dirty="0"/>
              <a:t> </a:t>
            </a:r>
            <a:r>
              <a:rPr spc="-10" dirty="0"/>
              <a:t>segundo interação</a:t>
            </a:r>
            <a:r>
              <a:rPr spc="-90" dirty="0"/>
              <a:t> </a:t>
            </a:r>
            <a:r>
              <a:rPr dirty="0"/>
              <a:t>com</a:t>
            </a:r>
            <a:r>
              <a:rPr spc="-90" dirty="0"/>
              <a:t> </a:t>
            </a:r>
            <a:r>
              <a:rPr dirty="0"/>
              <a:t>o</a:t>
            </a:r>
            <a:r>
              <a:rPr spc="-85" dirty="0"/>
              <a:t> </a:t>
            </a:r>
            <a:r>
              <a:rPr dirty="0"/>
              <a:t>meio</a:t>
            </a:r>
            <a:r>
              <a:rPr spc="-85" dirty="0"/>
              <a:t> </a:t>
            </a:r>
            <a:r>
              <a:rPr spc="-10" dirty="0"/>
              <a:t>(ambiente)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10211435" cy="356107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Abertos</a:t>
            </a:r>
            <a:endParaRPr sz="2800">
              <a:latin typeface="Calibri"/>
              <a:cs typeface="Calibri"/>
            </a:endParaRPr>
          </a:p>
          <a:p>
            <a:pPr marL="697230" marR="254635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Mantém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intercâmbio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entradas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meio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qual 	</a:t>
            </a:r>
            <a:r>
              <a:rPr sz="2400" dirty="0">
                <a:latin typeface="Calibri"/>
                <a:cs typeface="Calibri"/>
              </a:rPr>
              <a:t>estão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inseridos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Fechados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interagem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meio</a:t>
            </a:r>
            <a:endParaRPr sz="24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6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Como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sistemas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estritamente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fechados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construções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teóricas,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dizemos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que 	</a:t>
            </a:r>
            <a:r>
              <a:rPr sz="2400" dirty="0">
                <a:latin typeface="Calibri"/>
                <a:cs typeface="Calibri"/>
              </a:rPr>
              <a:t>sistema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fechados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aqueles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mantém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baixo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grau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intercâmbio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	</a:t>
            </a:r>
            <a:r>
              <a:rPr sz="2400" spc="-10" dirty="0">
                <a:latin typeface="Calibri"/>
                <a:cs typeface="Calibri"/>
              </a:rPr>
              <a:t>meio.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300" rIns="0" bIns="0" rtlCol="0">
            <a:spAutoFit/>
          </a:bodyPr>
          <a:lstStyle/>
          <a:p>
            <a:pPr marL="4534535" marR="5080" indent="-4159250">
              <a:lnSpc>
                <a:spcPts val="4700"/>
              </a:lnSpc>
              <a:spcBef>
                <a:spcPts val="740"/>
              </a:spcBef>
            </a:pPr>
            <a:r>
              <a:rPr dirty="0"/>
              <a:t>Tipos</a:t>
            </a:r>
            <a:r>
              <a:rPr spc="-105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dirty="0"/>
              <a:t>Sistemas</a:t>
            </a:r>
            <a:r>
              <a:rPr spc="-110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dirty="0"/>
              <a:t>Classificação</a:t>
            </a:r>
            <a:r>
              <a:rPr spc="-95" dirty="0"/>
              <a:t> </a:t>
            </a:r>
            <a:r>
              <a:rPr dirty="0"/>
              <a:t>segundo</a:t>
            </a:r>
            <a:r>
              <a:rPr spc="-95" dirty="0"/>
              <a:t> </a:t>
            </a:r>
            <a:r>
              <a:rPr spc="-25" dirty="0"/>
              <a:t>sua </a:t>
            </a:r>
            <a:r>
              <a:rPr spc="-10" dirty="0"/>
              <a:t>natureza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9715500" cy="451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3329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Naturais</a:t>
            </a:r>
            <a:endParaRPr sz="2800">
              <a:latin typeface="Calibri"/>
              <a:cs typeface="Calibri"/>
            </a:endParaRPr>
          </a:p>
          <a:p>
            <a:pPr marL="697230" marR="343535" lvl="1" indent="-227329">
              <a:lnSpc>
                <a:spcPts val="2400"/>
              </a:lnSpc>
              <a:spcBef>
                <a:spcPts val="450"/>
              </a:spcBef>
              <a:buChar char="•"/>
              <a:tabLst>
                <a:tab pos="698500" algn="l"/>
              </a:tabLst>
            </a:pP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É</a:t>
            </a:r>
            <a:r>
              <a:rPr sz="2400" spc="-8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todo</a:t>
            </a:r>
            <a:r>
              <a:rPr sz="2400" spc="-6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aquele</a:t>
            </a:r>
            <a:r>
              <a:rPr sz="2400" spc="-7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que</a:t>
            </a:r>
            <a:r>
              <a:rPr sz="2400" spc="-6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ordena</a:t>
            </a:r>
            <a:r>
              <a:rPr sz="2400" spc="-6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naturalmente</a:t>
            </a:r>
            <a:r>
              <a:rPr sz="2400" spc="-7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os</a:t>
            </a:r>
            <a:r>
              <a:rPr sz="2400" spc="-6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organismos,</a:t>
            </a:r>
            <a:r>
              <a:rPr sz="2400" spc="-7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02124"/>
                </a:solidFill>
                <a:latin typeface="Arial"/>
                <a:cs typeface="Arial"/>
              </a:rPr>
              <a:t>visando 	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estabelecer</a:t>
            </a:r>
            <a:r>
              <a:rPr sz="2400" spc="-8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uma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relação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de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parentesco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entre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02124"/>
                </a:solidFill>
                <a:latin typeface="Arial"/>
                <a:cs typeface="Arial"/>
              </a:rPr>
              <a:t>eles.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buClr>
                <a:srgbClr val="202124"/>
              </a:buClr>
              <a:buFont typeface="Arial"/>
              <a:buChar char="•"/>
            </a:pP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ts val="332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Artificiais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ts val="2400"/>
              </a:lnSpc>
              <a:spcBef>
                <a:spcPts val="439"/>
              </a:spcBef>
              <a:buChar char="•"/>
              <a:tabLst>
                <a:tab pos="698500" algn="l"/>
              </a:tabLst>
            </a:pP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Podemos</a:t>
            </a:r>
            <a:r>
              <a:rPr sz="2400" spc="-8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categorizar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os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02124"/>
                </a:solidFill>
                <a:latin typeface="Arial"/>
                <a:cs typeface="Arial"/>
              </a:rPr>
              <a:t>sistemas</a:t>
            </a:r>
            <a:r>
              <a:rPr sz="2400" b="1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artificiais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como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aqueles</a:t>
            </a:r>
            <a:r>
              <a:rPr sz="2400" spc="-8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02124"/>
                </a:solidFill>
                <a:latin typeface="Arial"/>
                <a:cs typeface="Arial"/>
              </a:rPr>
              <a:t>criados 	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pelo</a:t>
            </a:r>
            <a:r>
              <a:rPr sz="2400" spc="-5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02124"/>
                </a:solidFill>
                <a:latin typeface="Arial"/>
                <a:cs typeface="Arial"/>
              </a:rPr>
              <a:t>ser</a:t>
            </a:r>
            <a:r>
              <a:rPr sz="2400" spc="-4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02124"/>
                </a:solidFill>
                <a:latin typeface="Arial"/>
                <a:cs typeface="Arial"/>
              </a:rPr>
              <a:t>humano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320"/>
              </a:spcBef>
              <a:buClr>
                <a:srgbClr val="202124"/>
              </a:buClr>
              <a:buFont typeface="Arial"/>
              <a:buChar char="•"/>
            </a:pPr>
            <a:endParaRPr sz="2400">
              <a:latin typeface="Arial"/>
              <a:cs typeface="Arial"/>
            </a:endParaRPr>
          </a:p>
          <a:p>
            <a:pPr marL="241300" marR="290195" indent="-228600">
              <a:lnSpc>
                <a:spcPct val="78100"/>
              </a:lnSpc>
              <a:buFont typeface="Arial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O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sistema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solar,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Biosfera,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sistema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digestivo,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etc.,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são </a:t>
            </a:r>
            <a:r>
              <a:rPr sz="3200" dirty="0">
                <a:latin typeface="Calibri"/>
                <a:cs typeface="Calibri"/>
              </a:rPr>
              <a:t>sistemas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naturais.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240665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injeção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eletrônica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Internet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são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sistemas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artificiais.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100"/>
              </a:spcBef>
            </a:pPr>
            <a:r>
              <a:rPr dirty="0"/>
              <a:t>As</a:t>
            </a:r>
            <a:r>
              <a:rPr spc="-85" dirty="0"/>
              <a:t> </a:t>
            </a:r>
            <a:r>
              <a:rPr spc="-10" dirty="0"/>
              <a:t>Entradas</a:t>
            </a:r>
            <a:r>
              <a:rPr spc="-85" dirty="0"/>
              <a:t> </a:t>
            </a:r>
            <a:r>
              <a:rPr dirty="0"/>
              <a:t>e</a:t>
            </a:r>
            <a:r>
              <a:rPr spc="-80" dirty="0"/>
              <a:t> </a:t>
            </a:r>
            <a:r>
              <a:rPr dirty="0"/>
              <a:t>Saídas</a:t>
            </a:r>
            <a:r>
              <a:rPr spc="-85" dirty="0"/>
              <a:t> </a:t>
            </a:r>
            <a:r>
              <a:rPr dirty="0"/>
              <a:t>dos</a:t>
            </a:r>
            <a:r>
              <a:rPr spc="-80" dirty="0"/>
              <a:t> </a:t>
            </a:r>
            <a:r>
              <a:rPr dirty="0"/>
              <a:t>Sistemas</a:t>
            </a:r>
            <a:r>
              <a:rPr spc="-85" dirty="0"/>
              <a:t> </a:t>
            </a:r>
            <a:r>
              <a:rPr spc="-10" dirty="0"/>
              <a:t>Abertos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653395" cy="48615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exumos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(saídas)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insumos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(entrada)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teia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inter-</a:t>
            </a:r>
            <a:r>
              <a:rPr sz="2800" dirty="0">
                <a:latin typeface="Calibri"/>
                <a:cs typeface="Calibri"/>
              </a:rPr>
              <a:t>relacionada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“infinita”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associados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Entradas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saída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ser: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Energia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Matéria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Prima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Informação</a:t>
            </a:r>
            <a:endParaRPr sz="2400">
              <a:latin typeface="Calibri"/>
              <a:cs typeface="Calibri"/>
            </a:endParaRPr>
          </a:p>
          <a:p>
            <a:pPr marL="241300" marR="1623060" indent="-228600">
              <a:lnSpc>
                <a:spcPts val="31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cujas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entradas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saídas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informações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são </a:t>
            </a:r>
            <a:r>
              <a:rPr sz="2800" dirty="0">
                <a:latin typeface="Calibri"/>
                <a:cs typeface="Calibri"/>
              </a:rPr>
              <a:t>denominados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sistemas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informação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Esta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característica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predomina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sistemas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software</a:t>
            </a:r>
            <a:endParaRPr sz="2400">
              <a:latin typeface="Calibri"/>
              <a:cs typeface="Calibri"/>
            </a:endParaRPr>
          </a:p>
          <a:p>
            <a:pPr marL="697230" marR="74295" lvl="1" indent="-227329">
              <a:lnSpc>
                <a:spcPct val="90400"/>
              </a:lnSpc>
              <a:spcBef>
                <a:spcPts val="39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sistemas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acaba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confundindo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caracterizando 	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empresa,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informatização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seus 	</a:t>
            </a:r>
            <a:r>
              <a:rPr sz="2400" dirty="0">
                <a:latin typeface="Calibri"/>
                <a:cs typeface="Calibri"/>
              </a:rPr>
              <a:t>processos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negócio.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652" rIns="0" bIns="0" rtlCol="0">
            <a:spAutoFit/>
          </a:bodyPr>
          <a:lstStyle/>
          <a:p>
            <a:pPr marL="1403350" marR="5080" indent="118745">
              <a:lnSpc>
                <a:spcPts val="4700"/>
              </a:lnSpc>
              <a:spcBef>
                <a:spcPts val="740"/>
              </a:spcBef>
            </a:pPr>
            <a:r>
              <a:rPr dirty="0"/>
              <a:t>Tipos</a:t>
            </a:r>
            <a:r>
              <a:rPr spc="-5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spc="-10" dirty="0"/>
              <a:t>exemplo</a:t>
            </a:r>
            <a:r>
              <a:rPr spc="-3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10" dirty="0"/>
              <a:t>Sistemas </a:t>
            </a:r>
            <a:r>
              <a:rPr dirty="0"/>
              <a:t>Classificação</a:t>
            </a:r>
            <a:r>
              <a:rPr spc="-135" dirty="0"/>
              <a:t> </a:t>
            </a:r>
            <a:r>
              <a:rPr spc="-20" dirty="0"/>
              <a:t>hierárquica</a:t>
            </a:r>
            <a:r>
              <a:rPr spc="-130" dirty="0"/>
              <a:t> </a:t>
            </a:r>
            <a:r>
              <a:rPr dirty="0"/>
              <a:t>de</a:t>
            </a:r>
            <a:r>
              <a:rPr spc="-135" dirty="0"/>
              <a:t> </a:t>
            </a:r>
            <a:r>
              <a:rPr spc="-10" dirty="0"/>
              <a:t>sistemas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b="1" spc="-10" dirty="0">
                <a:latin typeface="Calibri"/>
                <a:cs typeface="Calibri"/>
              </a:rPr>
              <a:t>Estáticos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Uma</a:t>
            </a:r>
            <a:r>
              <a:rPr spc="-35" dirty="0"/>
              <a:t> </a:t>
            </a:r>
            <a:r>
              <a:rPr spc="-10" dirty="0"/>
              <a:t>cadeira</a:t>
            </a: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b="1" dirty="0">
                <a:latin typeface="Calibri"/>
                <a:cs typeface="Calibri"/>
              </a:rPr>
              <a:t>Dinâmicos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Um</a:t>
            </a:r>
            <a:r>
              <a:rPr spc="-35" dirty="0"/>
              <a:t> </a:t>
            </a:r>
            <a:r>
              <a:rPr spc="-10" dirty="0"/>
              <a:t>relógio</a:t>
            </a: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b="1" dirty="0">
                <a:latin typeface="Calibri"/>
                <a:cs typeface="Calibri"/>
              </a:rPr>
              <a:t>Cibernético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dirty="0"/>
              <a:t>simples</a:t>
            </a:r>
            <a:r>
              <a:rPr spc="-6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Ar</a:t>
            </a:r>
            <a:r>
              <a:rPr spc="-50" dirty="0"/>
              <a:t> </a:t>
            </a:r>
            <a:r>
              <a:rPr dirty="0"/>
              <a:t>condicionado</a:t>
            </a:r>
            <a:r>
              <a:rPr spc="-50" dirty="0"/>
              <a:t> </a:t>
            </a:r>
            <a:r>
              <a:rPr dirty="0"/>
              <a:t>que</a:t>
            </a:r>
            <a:r>
              <a:rPr spc="-65" dirty="0"/>
              <a:t> </a:t>
            </a:r>
            <a:r>
              <a:rPr dirty="0"/>
              <a:t>mantém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temperatura</a:t>
            </a:r>
          </a:p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  <a:tab pos="4578985" algn="l"/>
              </a:tabLst>
            </a:pPr>
            <a:r>
              <a:rPr b="1" spc="-10" dirty="0">
                <a:latin typeface="Calibri"/>
                <a:cs typeface="Calibri"/>
              </a:rPr>
              <a:t>Complexos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dirty="0"/>
              <a:t>ou</a:t>
            </a:r>
            <a:r>
              <a:rPr spc="-60" dirty="0"/>
              <a:t> </a:t>
            </a:r>
            <a:r>
              <a:rPr dirty="0"/>
              <a:t>hiper</a:t>
            </a:r>
            <a:r>
              <a:rPr spc="-55" dirty="0"/>
              <a:t> </a:t>
            </a:r>
            <a:r>
              <a:rPr spc="-10" dirty="0"/>
              <a:t>complexos</a:t>
            </a:r>
            <a:r>
              <a:rPr dirty="0"/>
              <a:t>	–</a:t>
            </a:r>
            <a:r>
              <a:rPr spc="-45" dirty="0"/>
              <a:t> </a:t>
            </a:r>
            <a:r>
              <a:rPr dirty="0"/>
              <a:t>Um</a:t>
            </a:r>
            <a:r>
              <a:rPr spc="-45" dirty="0"/>
              <a:t> </a:t>
            </a:r>
            <a:r>
              <a:rPr spc="-10" dirty="0"/>
              <a:t>avião,</a:t>
            </a:r>
            <a:r>
              <a:rPr spc="-40" dirty="0"/>
              <a:t> </a:t>
            </a:r>
            <a:r>
              <a:rPr dirty="0"/>
              <a:t>produto</a:t>
            </a:r>
            <a:r>
              <a:rPr spc="-45" dirty="0"/>
              <a:t> </a:t>
            </a:r>
            <a:r>
              <a:rPr dirty="0"/>
              <a:t>da</a:t>
            </a:r>
            <a:r>
              <a:rPr spc="-40" dirty="0"/>
              <a:t> </a:t>
            </a:r>
            <a:r>
              <a:rPr dirty="0"/>
              <a:t>Eng.</a:t>
            </a:r>
            <a:r>
              <a:rPr spc="-3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3484" y="3762755"/>
            <a:ext cx="7018020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311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Animais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espécime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espécie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canis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familiaris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110"/>
              </a:lnSpc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Humanos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espécime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espécie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homo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sapiens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484" y="4969764"/>
            <a:ext cx="100082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Sociais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colmeia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abelhas,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empresa,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economia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país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84" y="5783580"/>
            <a:ext cx="8683625" cy="8274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40665" marR="5080" indent="-228600">
              <a:lnSpc>
                <a:spcPct val="102299"/>
              </a:lnSpc>
              <a:spcBef>
                <a:spcPts val="25"/>
              </a:spcBef>
              <a:buFont typeface="Arial"/>
              <a:buChar char="•"/>
              <a:tabLst>
                <a:tab pos="385445" algn="l"/>
              </a:tabLst>
            </a:pPr>
            <a:r>
              <a:rPr sz="2600" b="1" spc="-25" dirty="0">
                <a:latin typeface="Calibri"/>
                <a:cs typeface="Calibri"/>
              </a:rPr>
              <a:t>Transcendentais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ou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Simbólicos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Religião,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teoria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não 	</a:t>
            </a:r>
            <a:r>
              <a:rPr sz="2600" spc="-10" dirty="0">
                <a:latin typeface="Calibri"/>
                <a:cs typeface="Calibri"/>
              </a:rPr>
              <a:t>comprovada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(conjectura)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13950" y="1730634"/>
            <a:ext cx="208915" cy="1698625"/>
          </a:xfrm>
          <a:custGeom>
            <a:avLst/>
            <a:gdLst/>
            <a:ahLst/>
            <a:cxnLst/>
            <a:rect l="l" t="t" r="r" b="b"/>
            <a:pathLst>
              <a:path w="208915" h="1698625">
                <a:moveTo>
                  <a:pt x="0" y="0"/>
                </a:moveTo>
                <a:lnTo>
                  <a:pt x="40615" y="1366"/>
                </a:lnTo>
                <a:lnTo>
                  <a:pt x="73782" y="5093"/>
                </a:lnTo>
                <a:lnTo>
                  <a:pt x="96144" y="10621"/>
                </a:lnTo>
                <a:lnTo>
                  <a:pt x="104344" y="17390"/>
                </a:lnTo>
                <a:lnTo>
                  <a:pt x="104344" y="831792"/>
                </a:lnTo>
                <a:lnTo>
                  <a:pt x="112544" y="838561"/>
                </a:lnTo>
                <a:lnTo>
                  <a:pt x="134906" y="844089"/>
                </a:lnTo>
                <a:lnTo>
                  <a:pt x="168073" y="847816"/>
                </a:lnTo>
                <a:lnTo>
                  <a:pt x="208688" y="849183"/>
                </a:lnTo>
                <a:lnTo>
                  <a:pt x="168073" y="850549"/>
                </a:lnTo>
                <a:lnTo>
                  <a:pt x="134906" y="854276"/>
                </a:lnTo>
                <a:lnTo>
                  <a:pt x="112544" y="859804"/>
                </a:lnTo>
                <a:lnTo>
                  <a:pt x="104344" y="866573"/>
                </a:lnTo>
                <a:lnTo>
                  <a:pt x="104344" y="1680976"/>
                </a:lnTo>
                <a:lnTo>
                  <a:pt x="96144" y="1687744"/>
                </a:lnTo>
                <a:lnTo>
                  <a:pt x="73782" y="1693272"/>
                </a:lnTo>
                <a:lnTo>
                  <a:pt x="40615" y="1696999"/>
                </a:lnTo>
                <a:lnTo>
                  <a:pt x="0" y="1698366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564689" y="2076564"/>
            <a:ext cx="1612265" cy="94170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vert="horz" wrap="square" lIns="0" tIns="201295" rIns="0" bIns="0" rtlCol="0">
            <a:spAutoFit/>
          </a:bodyPr>
          <a:lstStyle/>
          <a:p>
            <a:pPr marL="412115" marR="295275" indent="-108585">
              <a:lnSpc>
                <a:spcPts val="2090"/>
              </a:lnSpc>
              <a:spcBef>
                <a:spcPts val="158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Artificias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Técnicos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02929" y="3661082"/>
            <a:ext cx="124460" cy="889000"/>
          </a:xfrm>
          <a:custGeom>
            <a:avLst/>
            <a:gdLst/>
            <a:ahLst/>
            <a:cxnLst/>
            <a:rect l="l" t="t" r="r" b="b"/>
            <a:pathLst>
              <a:path w="124459" h="889000">
                <a:moveTo>
                  <a:pt x="0" y="0"/>
                </a:moveTo>
                <a:lnTo>
                  <a:pt x="24188" y="813"/>
                </a:lnTo>
                <a:lnTo>
                  <a:pt x="43940" y="3033"/>
                </a:lnTo>
                <a:lnTo>
                  <a:pt x="57257" y="6325"/>
                </a:lnTo>
                <a:lnTo>
                  <a:pt x="62140" y="10356"/>
                </a:lnTo>
                <a:lnTo>
                  <a:pt x="62140" y="434069"/>
                </a:lnTo>
                <a:lnTo>
                  <a:pt x="67024" y="438100"/>
                </a:lnTo>
                <a:lnTo>
                  <a:pt x="80341" y="441392"/>
                </a:lnTo>
                <a:lnTo>
                  <a:pt x="100093" y="443612"/>
                </a:lnTo>
                <a:lnTo>
                  <a:pt x="124282" y="444426"/>
                </a:lnTo>
                <a:lnTo>
                  <a:pt x="100093" y="445239"/>
                </a:lnTo>
                <a:lnTo>
                  <a:pt x="80341" y="447459"/>
                </a:lnTo>
                <a:lnTo>
                  <a:pt x="67024" y="450751"/>
                </a:lnTo>
                <a:lnTo>
                  <a:pt x="62140" y="454782"/>
                </a:lnTo>
                <a:lnTo>
                  <a:pt x="62140" y="878495"/>
                </a:lnTo>
                <a:lnTo>
                  <a:pt x="57257" y="882526"/>
                </a:lnTo>
                <a:lnTo>
                  <a:pt x="43940" y="885818"/>
                </a:lnTo>
                <a:lnTo>
                  <a:pt x="24188" y="888038"/>
                </a:lnTo>
                <a:lnTo>
                  <a:pt x="0" y="888852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305267" y="3723248"/>
            <a:ext cx="1471295" cy="65913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4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Naturais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362351" y="4846839"/>
            <a:ext cx="124460" cy="889000"/>
          </a:xfrm>
          <a:custGeom>
            <a:avLst/>
            <a:gdLst/>
            <a:ahLst/>
            <a:cxnLst/>
            <a:rect l="l" t="t" r="r" b="b"/>
            <a:pathLst>
              <a:path w="124459" h="889000">
                <a:moveTo>
                  <a:pt x="0" y="0"/>
                </a:moveTo>
                <a:lnTo>
                  <a:pt x="24188" y="813"/>
                </a:lnTo>
                <a:lnTo>
                  <a:pt x="43940" y="3033"/>
                </a:lnTo>
                <a:lnTo>
                  <a:pt x="57257" y="6325"/>
                </a:lnTo>
                <a:lnTo>
                  <a:pt x="62140" y="10356"/>
                </a:lnTo>
                <a:lnTo>
                  <a:pt x="62140" y="434069"/>
                </a:lnTo>
                <a:lnTo>
                  <a:pt x="67024" y="438100"/>
                </a:lnTo>
                <a:lnTo>
                  <a:pt x="80341" y="441392"/>
                </a:lnTo>
                <a:lnTo>
                  <a:pt x="100093" y="443612"/>
                </a:lnTo>
                <a:lnTo>
                  <a:pt x="124282" y="444426"/>
                </a:lnTo>
                <a:lnTo>
                  <a:pt x="100093" y="445239"/>
                </a:lnTo>
                <a:lnTo>
                  <a:pt x="80341" y="447459"/>
                </a:lnTo>
                <a:lnTo>
                  <a:pt x="67024" y="450751"/>
                </a:lnTo>
                <a:lnTo>
                  <a:pt x="62140" y="454782"/>
                </a:lnTo>
                <a:lnTo>
                  <a:pt x="62140" y="878495"/>
                </a:lnTo>
                <a:lnTo>
                  <a:pt x="57257" y="882526"/>
                </a:lnTo>
                <a:lnTo>
                  <a:pt x="43940" y="885818"/>
                </a:lnTo>
                <a:lnTo>
                  <a:pt x="24188" y="888038"/>
                </a:lnTo>
                <a:lnTo>
                  <a:pt x="0" y="888852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564689" y="4909005"/>
            <a:ext cx="1471295" cy="65913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14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Sociais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173600" y="5835365"/>
            <a:ext cx="124460" cy="889000"/>
          </a:xfrm>
          <a:custGeom>
            <a:avLst/>
            <a:gdLst/>
            <a:ahLst/>
            <a:cxnLst/>
            <a:rect l="l" t="t" r="r" b="b"/>
            <a:pathLst>
              <a:path w="124459" h="889000">
                <a:moveTo>
                  <a:pt x="0" y="0"/>
                </a:moveTo>
                <a:lnTo>
                  <a:pt x="24188" y="813"/>
                </a:lnTo>
                <a:lnTo>
                  <a:pt x="43940" y="3033"/>
                </a:lnTo>
                <a:lnTo>
                  <a:pt x="57257" y="6325"/>
                </a:lnTo>
                <a:lnTo>
                  <a:pt x="62140" y="10356"/>
                </a:lnTo>
                <a:lnTo>
                  <a:pt x="62140" y="434069"/>
                </a:lnTo>
                <a:lnTo>
                  <a:pt x="67024" y="438100"/>
                </a:lnTo>
                <a:lnTo>
                  <a:pt x="80341" y="441392"/>
                </a:lnTo>
                <a:lnTo>
                  <a:pt x="100093" y="443612"/>
                </a:lnTo>
                <a:lnTo>
                  <a:pt x="124282" y="444426"/>
                </a:lnTo>
                <a:lnTo>
                  <a:pt x="100093" y="445239"/>
                </a:lnTo>
                <a:lnTo>
                  <a:pt x="80341" y="447459"/>
                </a:lnTo>
                <a:lnTo>
                  <a:pt x="67024" y="450751"/>
                </a:lnTo>
                <a:lnTo>
                  <a:pt x="62140" y="454782"/>
                </a:lnTo>
                <a:lnTo>
                  <a:pt x="62140" y="878495"/>
                </a:lnTo>
                <a:lnTo>
                  <a:pt x="57257" y="882526"/>
                </a:lnTo>
                <a:lnTo>
                  <a:pt x="43940" y="885818"/>
                </a:lnTo>
                <a:lnTo>
                  <a:pt x="24188" y="888038"/>
                </a:lnTo>
                <a:lnTo>
                  <a:pt x="0" y="888852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356001" y="5917717"/>
            <a:ext cx="1820545" cy="65913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4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Transcendentais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1733550">
              <a:lnSpc>
                <a:spcPct val="100000"/>
              </a:lnSpc>
              <a:spcBef>
                <a:spcPts val="100"/>
              </a:spcBef>
            </a:pPr>
            <a:r>
              <a:rPr dirty="0"/>
              <a:t>Sistemas</a:t>
            </a:r>
            <a:r>
              <a:rPr spc="-114" dirty="0"/>
              <a:t> </a:t>
            </a:r>
            <a:r>
              <a:rPr spc="-45" dirty="0"/>
              <a:t>Técnicos</a:t>
            </a:r>
            <a:r>
              <a:rPr spc="-114" dirty="0"/>
              <a:t> </a:t>
            </a:r>
            <a:r>
              <a:rPr dirty="0"/>
              <a:t>e</a:t>
            </a:r>
            <a:r>
              <a:rPr spc="-114" dirty="0"/>
              <a:t> </a:t>
            </a:r>
            <a:r>
              <a:rPr spc="-10" dirty="0"/>
              <a:t>Sociotécnicos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748"/>
            <a:ext cx="10280650" cy="38906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277495" indent="-228600">
              <a:lnSpc>
                <a:spcPct val="906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Sistemas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técnicos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componentes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hardware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software,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procedimentos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processos.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Ex: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Televisores,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telefones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celulares, </a:t>
            </a:r>
            <a:r>
              <a:rPr sz="2600" dirty="0">
                <a:latin typeface="Calibri"/>
                <a:cs typeface="Calibri"/>
              </a:rPr>
              <a:t>outros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equipamentos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software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embutido.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Indivíduos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organizações </a:t>
            </a:r>
            <a:r>
              <a:rPr sz="2600" dirty="0">
                <a:latin typeface="Calibri"/>
                <a:cs typeface="Calibri"/>
              </a:rPr>
              <a:t>usam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técnicos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finalidade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específica,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spc="-10" dirty="0">
                <a:latin typeface="Calibri"/>
                <a:cs typeface="Calibri"/>
              </a:rPr>
              <a:t>conhecimento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objetivo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sistema.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Font typeface="Arial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89700"/>
              </a:lnSpc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Sistemas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sociotécnicos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técnicos,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mas </a:t>
            </a:r>
            <a:r>
              <a:rPr sz="2600" spc="-10" dirty="0">
                <a:latin typeface="Calibri"/>
                <a:cs typeface="Calibri"/>
              </a:rPr>
              <a:t>principalmente,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pessoas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entendem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conhecimento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 </a:t>
            </a:r>
            <a:r>
              <a:rPr sz="2600" spc="-10" dirty="0">
                <a:latin typeface="Calibri"/>
                <a:cs typeface="Calibri"/>
              </a:rPr>
              <a:t>propósito/objetivos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próprio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operacionais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pessoas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(operadores)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inerentes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sistema.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011" rIns="0" bIns="0" rtlCol="0">
            <a:spAutoFit/>
          </a:bodyPr>
          <a:lstStyle/>
          <a:p>
            <a:pPr marL="583565">
              <a:lnSpc>
                <a:spcPct val="100000"/>
              </a:lnSpc>
              <a:spcBef>
                <a:spcPts val="100"/>
              </a:spcBef>
            </a:pPr>
            <a:r>
              <a:rPr dirty="0"/>
              <a:t>O</a:t>
            </a:r>
            <a:r>
              <a:rPr spc="-70" dirty="0"/>
              <a:t> </a:t>
            </a:r>
            <a:r>
              <a:rPr dirty="0"/>
              <a:t>que</a:t>
            </a:r>
            <a:r>
              <a:rPr spc="-65" dirty="0"/>
              <a:t> </a:t>
            </a:r>
            <a:r>
              <a:rPr dirty="0"/>
              <a:t>é</a:t>
            </a:r>
            <a:r>
              <a:rPr spc="-65" dirty="0"/>
              <a:t> </a:t>
            </a:r>
            <a:r>
              <a:rPr dirty="0"/>
              <a:t>Engenharia</a:t>
            </a:r>
            <a:r>
              <a:rPr spc="-6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Sistemas?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754" y="1622043"/>
            <a:ext cx="11397615" cy="482028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marR="407670" indent="-228600">
              <a:lnSpc>
                <a:spcPct val="804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campo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interdisciplinar</a:t>
            </a:r>
            <a:r>
              <a:rPr sz="2800" u="none" spc="-40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da</a:t>
            </a:r>
            <a:r>
              <a:rPr sz="2800" u="none" spc="-45" dirty="0"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engenharia</a:t>
            </a:r>
            <a:r>
              <a:rPr sz="2800" u="none" spc="-35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que</a:t>
            </a:r>
            <a:r>
              <a:rPr sz="2800" u="none" spc="-45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foca</a:t>
            </a:r>
            <a:r>
              <a:rPr sz="2800" u="none" spc="-45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no</a:t>
            </a:r>
            <a:r>
              <a:rPr sz="2800" u="none" spc="-40" dirty="0">
                <a:latin typeface="Calibri"/>
                <a:cs typeface="Calibri"/>
              </a:rPr>
              <a:t> </a:t>
            </a:r>
            <a:r>
              <a:rPr sz="2800" u="none" spc="-10" dirty="0">
                <a:latin typeface="Calibri"/>
                <a:cs typeface="Calibri"/>
              </a:rPr>
              <a:t>desenvolvimento</a:t>
            </a:r>
            <a:r>
              <a:rPr sz="2800" u="none" spc="-40" dirty="0">
                <a:latin typeface="Calibri"/>
                <a:cs typeface="Calibri"/>
              </a:rPr>
              <a:t> </a:t>
            </a:r>
            <a:r>
              <a:rPr sz="2800" u="none" spc="-50" dirty="0">
                <a:latin typeface="Calibri"/>
                <a:cs typeface="Calibri"/>
              </a:rPr>
              <a:t>e </a:t>
            </a:r>
            <a:r>
              <a:rPr sz="2800" u="none" spc="-10" dirty="0">
                <a:latin typeface="Calibri"/>
                <a:cs typeface="Calibri"/>
              </a:rPr>
              <a:t>organização</a:t>
            </a:r>
            <a:r>
              <a:rPr sz="2800" u="none" spc="-75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de</a:t>
            </a:r>
            <a:r>
              <a:rPr sz="2800" u="none" spc="-70" dirty="0"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sistemas</a:t>
            </a:r>
            <a:r>
              <a:rPr sz="2800" u="none" spc="-70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artificiais</a:t>
            </a:r>
            <a:r>
              <a:rPr sz="2800" u="none" spc="-65" dirty="0">
                <a:latin typeface="Calibri"/>
                <a:cs typeface="Calibri"/>
              </a:rPr>
              <a:t> </a:t>
            </a:r>
            <a:r>
              <a:rPr sz="2800" u="none" spc="-10" dirty="0">
                <a:latin typeface="Calibri"/>
                <a:cs typeface="Calibri"/>
              </a:rPr>
              <a:t>complexos.</a:t>
            </a:r>
            <a:r>
              <a:rPr sz="2800" u="none" spc="-60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A</a:t>
            </a:r>
            <a:r>
              <a:rPr sz="2800" u="none" spc="-60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engenharia</a:t>
            </a:r>
            <a:r>
              <a:rPr sz="2800" u="none" spc="-70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de</a:t>
            </a:r>
            <a:r>
              <a:rPr sz="2800" u="none" spc="-75" dirty="0">
                <a:latin typeface="Calibri"/>
                <a:cs typeface="Calibri"/>
              </a:rPr>
              <a:t> </a:t>
            </a:r>
            <a:r>
              <a:rPr sz="2800" u="none" spc="-10" dirty="0">
                <a:latin typeface="Calibri"/>
                <a:cs typeface="Calibri"/>
              </a:rPr>
              <a:t>sistemas </a:t>
            </a:r>
            <a:r>
              <a:rPr sz="2800" u="none" dirty="0">
                <a:latin typeface="Calibri"/>
                <a:cs typeface="Calibri"/>
              </a:rPr>
              <a:t>integra</a:t>
            </a:r>
            <a:r>
              <a:rPr sz="2800" u="none" spc="-65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outros</a:t>
            </a:r>
            <a:r>
              <a:rPr sz="2800" u="none" spc="-60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grupos</a:t>
            </a:r>
            <a:r>
              <a:rPr sz="2800" u="none" spc="-60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de</a:t>
            </a:r>
            <a:r>
              <a:rPr sz="2800" u="none" spc="-65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disciplinas</a:t>
            </a:r>
            <a:r>
              <a:rPr sz="2800" u="none" spc="-60" dirty="0">
                <a:latin typeface="Calibri"/>
                <a:cs typeface="Calibri"/>
              </a:rPr>
              <a:t> </a:t>
            </a:r>
            <a:r>
              <a:rPr sz="2800" u="none" dirty="0">
                <a:latin typeface="Calibri"/>
                <a:cs typeface="Calibri"/>
              </a:rPr>
              <a:t>e</a:t>
            </a:r>
            <a:r>
              <a:rPr sz="2800" u="none" spc="-70" dirty="0">
                <a:latin typeface="Calibri"/>
                <a:cs typeface="Calibri"/>
              </a:rPr>
              <a:t> </a:t>
            </a:r>
            <a:r>
              <a:rPr sz="2800" u="none" spc="-10" dirty="0">
                <a:latin typeface="Calibri"/>
                <a:cs typeface="Calibri"/>
              </a:rPr>
              <a:t>conhecimentos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INCOSE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(International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Council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Engineering)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conceitua:</a:t>
            </a:r>
            <a:endParaRPr sz="2800">
              <a:latin typeface="Calibri"/>
              <a:cs typeface="Calibri"/>
            </a:endParaRPr>
          </a:p>
          <a:p>
            <a:pPr marL="90170" marR="5080" indent="1270" algn="ctr">
              <a:lnSpc>
                <a:spcPct val="79800"/>
              </a:lnSpc>
              <a:spcBef>
                <a:spcPts val="2840"/>
              </a:spcBef>
            </a:pPr>
            <a:r>
              <a:rPr sz="2800" spc="-90" dirty="0">
                <a:latin typeface="Calibri"/>
                <a:cs typeface="Calibri"/>
              </a:rPr>
              <a:t>“A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abordagem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interdisciplinar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torna </a:t>
            </a:r>
            <a:r>
              <a:rPr sz="2800" dirty="0">
                <a:latin typeface="Calibri"/>
                <a:cs typeface="Calibri"/>
              </a:rPr>
              <a:t>possível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concretização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elevada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complexidade.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foco </a:t>
            </a:r>
            <a:r>
              <a:rPr sz="2800" spc="-25" dirty="0">
                <a:latin typeface="Calibri"/>
                <a:cs typeface="Calibri"/>
              </a:rPr>
              <a:t>encontra-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definir,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maneira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precoce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ciclo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desenvolvimento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necessidades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usuário,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funcionalidades </a:t>
            </a:r>
            <a:r>
              <a:rPr sz="2800" dirty="0">
                <a:latin typeface="Calibri"/>
                <a:cs typeface="Calibri"/>
              </a:rPr>
              <a:t>requeridas,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realizando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documentação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sistemática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requisitos,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abordando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síntese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etapa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validação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considerar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completo".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INCOSE</a:t>
            </a:r>
            <a:r>
              <a:rPr spc="-7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Comitê</a:t>
            </a:r>
            <a:r>
              <a:rPr spc="-75" dirty="0"/>
              <a:t> </a:t>
            </a:r>
            <a:r>
              <a:rPr spc="-10" dirty="0"/>
              <a:t>Internacional</a:t>
            </a:r>
            <a:r>
              <a:rPr spc="-65" dirty="0"/>
              <a:t> </a:t>
            </a:r>
            <a:r>
              <a:rPr dirty="0"/>
              <a:t>Eng.</a:t>
            </a:r>
            <a:r>
              <a:rPr spc="-7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10328275" cy="41617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215900" indent="-228600">
              <a:lnSpc>
                <a:spcPts val="271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Desenvolve,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dissemina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mantém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documento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compila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corpo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conhecimento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Sistemas: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580390" marR="543560" algn="ctr">
              <a:lnSpc>
                <a:spcPts val="2710"/>
              </a:lnSpc>
            </a:pPr>
            <a:r>
              <a:rPr sz="2800" b="1" dirty="0">
                <a:latin typeface="Calibri"/>
                <a:cs typeface="Calibri"/>
              </a:rPr>
              <a:t>Guide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Systems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Engineering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Body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Knowledge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(SEBoK), </a:t>
            </a:r>
            <a:r>
              <a:rPr sz="2800" b="1" dirty="0">
                <a:latin typeface="Calibri"/>
                <a:cs typeface="Calibri"/>
              </a:rPr>
              <a:t>version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2.4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(May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2021)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Referência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Bibliográfica:</a:t>
            </a:r>
            <a:endParaRPr sz="2800">
              <a:latin typeface="Calibri"/>
              <a:cs typeface="Calibri"/>
            </a:endParaRPr>
          </a:p>
          <a:p>
            <a:pPr marL="40005" marR="5080" algn="ctr">
              <a:lnSpc>
                <a:spcPct val="80400"/>
              </a:lnSpc>
              <a:spcBef>
                <a:spcPts val="994"/>
              </a:spcBef>
            </a:pPr>
            <a:r>
              <a:rPr sz="2800" b="1" spc="-10" dirty="0">
                <a:latin typeface="Calibri"/>
                <a:cs typeface="Calibri"/>
              </a:rPr>
              <a:t>BKCASE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EDITORIAL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BOARD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guide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engineering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body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knowledge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(SEBoK).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R.J.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Cloutier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(Editor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Chief).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Hoboken,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NJ: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Trustees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Stevens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Institute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Technology.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2021.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Elementos-</a:t>
            </a:r>
            <a:r>
              <a:rPr dirty="0"/>
              <a:t>Chave</a:t>
            </a:r>
            <a:r>
              <a:rPr spc="-100" dirty="0"/>
              <a:t> </a:t>
            </a:r>
            <a:r>
              <a:rPr dirty="0"/>
              <a:t>da</a:t>
            </a:r>
            <a:r>
              <a:rPr spc="-90" dirty="0"/>
              <a:t> </a:t>
            </a:r>
            <a:r>
              <a:rPr dirty="0"/>
              <a:t>Engenharia</a:t>
            </a:r>
            <a:r>
              <a:rPr spc="-85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spc="-10" dirty="0"/>
              <a:t>Sistemas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05000" y="1524000"/>
            <a:ext cx="7833359" cy="5062220"/>
            <a:chOff x="3520752" y="1795974"/>
            <a:chExt cx="7833359" cy="5062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0752" y="1795974"/>
              <a:ext cx="7833046" cy="50620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67224" y="5767753"/>
              <a:ext cx="2461895" cy="197485"/>
            </a:xfrm>
            <a:custGeom>
              <a:avLst/>
              <a:gdLst/>
              <a:ahLst/>
              <a:cxnLst/>
              <a:rect l="l" t="t" r="r" b="b"/>
              <a:pathLst>
                <a:path w="2461895" h="197485">
                  <a:moveTo>
                    <a:pt x="2461846" y="0"/>
                  </a:moveTo>
                  <a:lnTo>
                    <a:pt x="0" y="0"/>
                  </a:lnTo>
                  <a:lnTo>
                    <a:pt x="0" y="196947"/>
                  </a:lnTo>
                  <a:lnTo>
                    <a:pt x="2461846" y="196947"/>
                  </a:lnTo>
                  <a:lnTo>
                    <a:pt x="2461846" y="0"/>
                  </a:lnTo>
                  <a:close/>
                </a:path>
              </a:pathLst>
            </a:custGeom>
            <a:solidFill>
              <a:srgbClr val="FFFF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67224" y="5767753"/>
              <a:ext cx="2461895" cy="197485"/>
            </a:xfrm>
            <a:custGeom>
              <a:avLst/>
              <a:gdLst/>
              <a:ahLst/>
              <a:cxnLst/>
              <a:rect l="l" t="t" r="r" b="b"/>
              <a:pathLst>
                <a:path w="2461895" h="197485">
                  <a:moveTo>
                    <a:pt x="0" y="0"/>
                  </a:moveTo>
                  <a:lnTo>
                    <a:pt x="2461846" y="0"/>
                  </a:lnTo>
                  <a:lnTo>
                    <a:pt x="2461846" y="196948"/>
                  </a:lnTo>
                  <a:lnTo>
                    <a:pt x="0" y="19694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862338"/>
            <a:ext cx="9144000" cy="599566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6024" y="3748532"/>
            <a:ext cx="2397175" cy="5625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400"/>
              </a:lnSpc>
              <a:spcBef>
                <a:spcPts val="110"/>
              </a:spcBef>
            </a:pPr>
            <a:r>
              <a:rPr sz="1800" dirty="0">
                <a:latin typeface="Calibri"/>
                <a:cs typeface="Calibri"/>
              </a:rPr>
              <a:t>IOC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Initial Operational Capability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dirty="0"/>
              <a:t>Ciclo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Vida</a:t>
            </a:r>
            <a:r>
              <a:rPr spc="-7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Projeto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um</a:t>
            </a:r>
            <a:r>
              <a:rPr spc="-80" dirty="0"/>
              <a:t> </a:t>
            </a:r>
            <a:r>
              <a:rPr spc="-10" dirty="0"/>
              <a:t>Sistema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268" y="39784"/>
            <a:ext cx="3373120" cy="67233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>
              <a:lnSpc>
                <a:spcPct val="91400"/>
              </a:lnSpc>
              <a:spcBef>
                <a:spcPts val="555"/>
              </a:spcBef>
            </a:pPr>
            <a:r>
              <a:rPr sz="4300" b="0" spc="110" dirty="0">
                <a:latin typeface="Calibri Light"/>
                <a:cs typeface="Calibri Light"/>
              </a:rPr>
              <a:t>Engenharia</a:t>
            </a:r>
            <a:r>
              <a:rPr sz="4300" b="0" spc="130" dirty="0">
                <a:latin typeface="Calibri Light"/>
                <a:cs typeface="Calibri Light"/>
              </a:rPr>
              <a:t> </a:t>
            </a:r>
            <a:r>
              <a:rPr sz="4300" b="0" spc="100" dirty="0">
                <a:latin typeface="Calibri Light"/>
                <a:cs typeface="Calibri Light"/>
              </a:rPr>
              <a:t>de </a:t>
            </a:r>
            <a:r>
              <a:rPr sz="4300" b="0" spc="85" dirty="0">
                <a:latin typeface="Calibri Light"/>
                <a:cs typeface="Calibri Light"/>
              </a:rPr>
              <a:t>Sistemas</a:t>
            </a:r>
            <a:r>
              <a:rPr sz="4400" b="0" spc="85" dirty="0">
                <a:latin typeface="Calibri Light"/>
                <a:cs typeface="Calibri Light"/>
              </a:rPr>
              <a:t>, </a:t>
            </a:r>
            <a:r>
              <a:rPr sz="4300" b="0" spc="100" dirty="0">
                <a:solidFill>
                  <a:srgbClr val="FF0000"/>
                </a:solidFill>
                <a:latin typeface="Calibri Light"/>
                <a:cs typeface="Calibri Light"/>
              </a:rPr>
              <a:t>Implementaçã </a:t>
            </a:r>
            <a:r>
              <a:rPr sz="4300" b="0" dirty="0">
                <a:solidFill>
                  <a:srgbClr val="FF0000"/>
                </a:solidFill>
                <a:latin typeface="Calibri Light"/>
                <a:cs typeface="Calibri Light"/>
              </a:rPr>
              <a:t>o</a:t>
            </a:r>
            <a:r>
              <a:rPr sz="4300" b="0" spc="14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300" b="0" spc="85" dirty="0">
                <a:solidFill>
                  <a:srgbClr val="FF0000"/>
                </a:solidFill>
                <a:latin typeface="Calibri Light"/>
                <a:cs typeface="Calibri Light"/>
              </a:rPr>
              <a:t>de</a:t>
            </a:r>
            <a:r>
              <a:rPr sz="4300" b="0" spc="14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300" b="0" spc="90" dirty="0">
                <a:solidFill>
                  <a:srgbClr val="FF0000"/>
                </a:solidFill>
                <a:latin typeface="Calibri Light"/>
                <a:cs typeface="Calibri Light"/>
              </a:rPr>
              <a:t>Sistemas </a:t>
            </a:r>
            <a:r>
              <a:rPr sz="4400" b="0" dirty="0">
                <a:latin typeface="Calibri Light"/>
                <a:cs typeface="Calibri Light"/>
              </a:rPr>
              <a:t>e </a:t>
            </a:r>
            <a:r>
              <a:rPr sz="4300" b="0" spc="90" dirty="0">
                <a:solidFill>
                  <a:srgbClr val="00B0F0"/>
                </a:solidFill>
                <a:latin typeface="Calibri Light"/>
                <a:cs typeface="Calibri Light"/>
              </a:rPr>
              <a:t>Gestão</a:t>
            </a:r>
            <a:r>
              <a:rPr sz="4300" b="0" spc="120" dirty="0">
                <a:solidFill>
                  <a:srgbClr val="00B0F0"/>
                </a:solidFill>
                <a:latin typeface="Calibri Light"/>
                <a:cs typeface="Calibri Light"/>
              </a:rPr>
              <a:t> </a:t>
            </a:r>
            <a:r>
              <a:rPr sz="4300" b="0" spc="-50" dirty="0">
                <a:solidFill>
                  <a:srgbClr val="00B0F0"/>
                </a:solidFill>
                <a:latin typeface="Calibri Light"/>
                <a:cs typeface="Calibri Light"/>
              </a:rPr>
              <a:t>e </a:t>
            </a:r>
            <a:r>
              <a:rPr sz="4300" b="0" spc="80" dirty="0">
                <a:solidFill>
                  <a:srgbClr val="00B0F0"/>
                </a:solidFill>
                <a:latin typeface="Calibri Light"/>
                <a:cs typeface="Calibri Light"/>
              </a:rPr>
              <a:t>Projeto</a:t>
            </a:r>
            <a:r>
              <a:rPr sz="4300" b="0" spc="130" dirty="0">
                <a:solidFill>
                  <a:srgbClr val="00B0F0"/>
                </a:solidFill>
                <a:latin typeface="Calibri Light"/>
                <a:cs typeface="Calibri Light"/>
              </a:rPr>
              <a:t> </a:t>
            </a:r>
            <a:r>
              <a:rPr sz="4300" b="0" spc="60" dirty="0">
                <a:solidFill>
                  <a:srgbClr val="00B0F0"/>
                </a:solidFill>
                <a:latin typeface="Calibri Light"/>
                <a:cs typeface="Calibri Light"/>
              </a:rPr>
              <a:t>de </a:t>
            </a:r>
            <a:r>
              <a:rPr sz="4300" b="0" spc="90" dirty="0">
                <a:solidFill>
                  <a:srgbClr val="00B0F0"/>
                </a:solidFill>
                <a:latin typeface="Calibri Light"/>
                <a:cs typeface="Calibri Light"/>
              </a:rPr>
              <a:t>Sistemas</a:t>
            </a:r>
            <a:endParaRPr sz="4300">
              <a:latin typeface="Calibri Light"/>
              <a:cs typeface="Calibri Light"/>
            </a:endParaRPr>
          </a:p>
          <a:p>
            <a:pPr marL="12700" marR="289560">
              <a:lnSpc>
                <a:spcPct val="89800"/>
              </a:lnSpc>
              <a:spcBef>
                <a:spcPts val="4834"/>
              </a:spcBef>
            </a:pPr>
            <a:r>
              <a:rPr sz="4400" b="0" spc="-25" dirty="0">
                <a:latin typeface="Calibri Light"/>
                <a:cs typeface="Calibri Light"/>
              </a:rPr>
              <a:t>Fronteiras</a:t>
            </a:r>
            <a:r>
              <a:rPr sz="4400" b="0" spc="-165" dirty="0">
                <a:latin typeface="Calibri Light"/>
                <a:cs typeface="Calibri Light"/>
              </a:rPr>
              <a:t> </a:t>
            </a:r>
            <a:r>
              <a:rPr sz="4400" b="0" spc="-50" dirty="0">
                <a:latin typeface="Calibri Light"/>
                <a:cs typeface="Calibri Light"/>
              </a:rPr>
              <a:t>e </a:t>
            </a:r>
            <a:r>
              <a:rPr sz="4400" b="0" dirty="0">
                <a:latin typeface="Calibri Light"/>
                <a:cs typeface="Calibri Light"/>
              </a:rPr>
              <a:t>uniões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20" dirty="0">
                <a:latin typeface="Calibri Light"/>
                <a:cs typeface="Calibri Light"/>
              </a:rPr>
              <a:t>destes </a:t>
            </a:r>
            <a:r>
              <a:rPr sz="4400" b="0" spc="-10" dirty="0">
                <a:latin typeface="Calibri Light"/>
                <a:cs typeface="Calibri Light"/>
              </a:rPr>
              <a:t>conjuntos</a:t>
            </a:r>
            <a:endParaRPr sz="4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Valor</a:t>
            </a:r>
            <a:r>
              <a:rPr spc="-135" dirty="0"/>
              <a:t> </a:t>
            </a:r>
            <a:r>
              <a:rPr spc="-10" dirty="0"/>
              <a:t>“Econômico”</a:t>
            </a:r>
            <a:r>
              <a:rPr spc="-130" dirty="0"/>
              <a:t> </a:t>
            </a:r>
            <a:r>
              <a:rPr dirty="0"/>
              <a:t>da</a:t>
            </a:r>
            <a:r>
              <a:rPr spc="-125" dirty="0"/>
              <a:t> </a:t>
            </a:r>
            <a:r>
              <a:rPr dirty="0"/>
              <a:t>Engenharia</a:t>
            </a:r>
            <a:r>
              <a:rPr spc="-125" dirty="0"/>
              <a:t> </a:t>
            </a:r>
            <a:r>
              <a:rPr dirty="0"/>
              <a:t>de</a:t>
            </a:r>
            <a:r>
              <a:rPr spc="-125" dirty="0"/>
              <a:t> </a:t>
            </a: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95779"/>
            <a:ext cx="10485120" cy="415861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2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  <a:tab pos="8839200" algn="l"/>
              </a:tabLst>
            </a:pPr>
            <a:r>
              <a:rPr sz="2800" dirty="0">
                <a:latin typeface="Calibri"/>
                <a:cs typeface="Calibri"/>
              </a:rPr>
              <a:t>Ao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contrário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projetos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tradicionais,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fortemente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autocontidos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dirty="0">
                <a:latin typeface="Calibri"/>
                <a:cs typeface="Calibri"/>
              </a:rPr>
              <a:t>requisitos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(prédios,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rádio,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refrigeradores),</a:t>
            </a:r>
            <a:r>
              <a:rPr sz="2800" dirty="0">
                <a:latin typeface="Calibri"/>
                <a:cs typeface="Calibri"/>
              </a:rPr>
              <a:t>	há </a:t>
            </a:r>
            <a:r>
              <a:rPr sz="2800" spc="-25" dirty="0">
                <a:latin typeface="Calibri"/>
                <a:cs typeface="Calibri"/>
              </a:rPr>
              <a:t>projetos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complexos,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requisitos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totalmente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conhecidos,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(sistemas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sistemas).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4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140335" indent="-228600">
              <a:lnSpc>
                <a:spcPct val="9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desempenho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eficaz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 </a:t>
            </a:r>
            <a:r>
              <a:rPr sz="2800" dirty="0">
                <a:latin typeface="Calibri"/>
                <a:cs typeface="Calibri"/>
              </a:rPr>
              <a:t>econômico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vez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maior,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dirty="0">
                <a:latin typeface="Calibri"/>
                <a:cs typeface="Calibri"/>
              </a:rPr>
              <a:t>escala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crescente,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dinamismo,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interdependência,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partes, </a:t>
            </a:r>
            <a:r>
              <a:rPr sz="2800" dirty="0">
                <a:latin typeface="Calibri"/>
                <a:cs typeface="Calibri"/>
              </a:rPr>
              <a:t>uso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intensivo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humano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sociedade,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fontes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vulnerabilidade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rápida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incorporação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novidades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14" dirty="0"/>
              <a:t> </a:t>
            </a:r>
            <a:r>
              <a:rPr dirty="0"/>
              <a:t>visão</a:t>
            </a:r>
            <a:r>
              <a:rPr spc="-100" dirty="0"/>
              <a:t> </a:t>
            </a:r>
            <a:r>
              <a:rPr dirty="0"/>
              <a:t>Holística</a:t>
            </a:r>
            <a:r>
              <a:rPr spc="-110" dirty="0"/>
              <a:t> </a:t>
            </a:r>
            <a:r>
              <a:rPr dirty="0"/>
              <a:t>da</a:t>
            </a:r>
            <a:r>
              <a:rPr spc="-105" dirty="0"/>
              <a:t> </a:t>
            </a:r>
            <a:r>
              <a:rPr dirty="0"/>
              <a:t>Engenharia</a:t>
            </a:r>
            <a:r>
              <a:rPr spc="-105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050" y="1622043"/>
            <a:ext cx="11381740" cy="48082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marR="5080" indent="-228600">
              <a:lnSpc>
                <a:spcPct val="805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especialidades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tradicionais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maioria,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orientadas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componentes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neutras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conteúdos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intelectuais,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conhecimentos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subjacentes: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Ohm,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Lei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Hooke,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Newton,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etc.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Pertencem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desempenho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domínio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(campo)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interesse.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52069" indent="-228600">
              <a:lnSpc>
                <a:spcPct val="799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  <a:tab pos="7719059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contraste,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holística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orientada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componentes,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orientada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ao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valor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desejado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stakeholders </a:t>
            </a:r>
            <a:r>
              <a:rPr sz="2800" dirty="0">
                <a:latin typeface="Calibri"/>
                <a:cs typeface="Calibri"/>
              </a:rPr>
              <a:t>(financiadores,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proprietários,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usuários,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operadores,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mantenedores, fabricantes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reguladores).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debate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perspectiva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estas </a:t>
            </a:r>
            <a:r>
              <a:rPr sz="2800" dirty="0">
                <a:latin typeface="Calibri"/>
                <a:cs typeface="Calibri"/>
              </a:rPr>
              <a:t>partes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interessadas,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respeito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relativo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realizações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alternativas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organização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pessoas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satisfaça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proposições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vezes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conflitantes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fundamentais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sucesso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sistema;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Engenheiro</a:t>
            </a:r>
            <a:r>
              <a:rPr spc="-110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dirty="0"/>
              <a:t>Sistemas</a:t>
            </a:r>
            <a:r>
              <a:rPr spc="-110" dirty="0"/>
              <a:t> </a:t>
            </a:r>
            <a:r>
              <a:rPr dirty="0"/>
              <a:t>-</a:t>
            </a:r>
            <a:r>
              <a:rPr spc="-114" dirty="0"/>
              <a:t> </a:t>
            </a:r>
            <a:r>
              <a:rPr spc="-10" dirty="0"/>
              <a:t>Competências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435" y="1731771"/>
            <a:ext cx="11278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65" algn="l"/>
                <a:tab pos="2255520" algn="l"/>
                <a:tab pos="2802255" algn="l"/>
                <a:tab pos="4227195" algn="l"/>
                <a:tab pos="5231765" algn="l"/>
                <a:tab pos="5591175" algn="l"/>
                <a:tab pos="6784340" algn="l"/>
                <a:tab pos="8488045" algn="l"/>
                <a:tab pos="9035415" algn="l"/>
                <a:tab pos="10156825" algn="l"/>
              </a:tabLst>
            </a:pPr>
            <a:r>
              <a:rPr sz="2800" spc="-50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engenheiro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sistemas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avalia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integra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elementos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design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(partes,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435" y="2024379"/>
            <a:ext cx="11281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11705" algn="l"/>
                <a:tab pos="4211955" algn="l"/>
                <a:tab pos="4810125" algn="l"/>
                <a:tab pos="5419725" algn="l"/>
                <a:tab pos="6659245" algn="l"/>
                <a:tab pos="7348220" algn="l"/>
                <a:tab pos="8539480" algn="l"/>
                <a:tab pos="10902315" algn="l"/>
              </a:tabLst>
            </a:pPr>
            <a:r>
              <a:rPr sz="2800" spc="-10" dirty="0">
                <a:latin typeface="Calibri"/>
                <a:cs typeface="Calibri"/>
              </a:rPr>
              <a:t>componentes,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subsistemas)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em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um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sistema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que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satisfaz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“procuradores”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435" y="2329179"/>
            <a:ext cx="11281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20715" algn="l"/>
              </a:tabLst>
            </a:pP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(representante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" dirty="0">
                <a:latin typeface="Calibri"/>
                <a:cs typeface="Calibri"/>
              </a:rPr>
              <a:t> stakeholders).</a:t>
            </a:r>
            <a:r>
              <a:rPr sz="2800" dirty="0">
                <a:latin typeface="Calibri"/>
                <a:cs typeface="Calibri"/>
              </a:rPr>
              <a:t>	Quanto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escopo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435" y="2621787"/>
            <a:ext cx="11279505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5080">
              <a:lnSpc>
                <a:spcPct val="71400"/>
              </a:lnSpc>
              <a:spcBef>
                <a:spcPts val="1060"/>
              </a:spcBef>
              <a:tabLst>
                <a:tab pos="1535430" algn="l"/>
                <a:tab pos="2501900" algn="l"/>
                <a:tab pos="3555365" algn="l"/>
                <a:tab pos="3950335" algn="l"/>
                <a:tab pos="5440680" algn="l"/>
                <a:tab pos="6012180" algn="l"/>
                <a:tab pos="8081009" algn="l"/>
                <a:tab pos="8464550" algn="l"/>
                <a:tab pos="10320020" algn="l"/>
                <a:tab pos="11078845" algn="l"/>
              </a:tabLst>
            </a:pPr>
            <a:r>
              <a:rPr sz="2800" spc="-10" dirty="0">
                <a:latin typeface="Calibri"/>
                <a:cs typeface="Calibri"/>
              </a:rPr>
              <a:t>Interesse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spc="-10" dirty="0">
                <a:latin typeface="Calibri"/>
                <a:cs typeface="Calibri"/>
              </a:rPr>
              <a:t>SoI</a:t>
            </a:r>
            <a:r>
              <a:rPr sz="2800" spc="-10" dirty="0">
                <a:latin typeface="Calibri"/>
                <a:cs typeface="Calibri"/>
              </a:rPr>
              <a:t>),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maior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competência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habilidades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que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engenheiro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3435" y="3776979"/>
            <a:ext cx="11281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engenheiro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aeronáutico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integrar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mecânicos,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elétricos,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435" y="4069588"/>
            <a:ext cx="11278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fluídos, químicos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" dirty="0">
                <a:latin typeface="Calibri"/>
                <a:cs typeface="Calibri"/>
              </a:rPr>
              <a:t> combustão,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 de</a:t>
            </a:r>
            <a:r>
              <a:rPr sz="2800" spc="-10" dirty="0">
                <a:latin typeface="Calibri"/>
                <a:cs typeface="Calibri"/>
              </a:rPr>
              <a:t> interação/cockpit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3435" y="4374388"/>
            <a:ext cx="11280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único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satisfaça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requisitos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faixa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voo,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capacidade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3435" y="4663947"/>
            <a:ext cx="11280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carga,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consumo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combustível,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manobrabilidade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produção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3435" y="4968747"/>
            <a:ext cx="112795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  <a:tab pos="2618105" algn="l"/>
                <a:tab pos="3811270" algn="l"/>
                <a:tab pos="4153535" algn="l"/>
                <a:tab pos="4904105" algn="l"/>
                <a:tab pos="6263640" algn="l"/>
                <a:tab pos="7597140" algn="l"/>
                <a:tab pos="8302625" algn="l"/>
                <a:tab pos="10459720" algn="l"/>
              </a:tabLst>
            </a:pPr>
            <a:r>
              <a:rPr sz="2800" spc="-10" dirty="0">
                <a:latin typeface="Calibri"/>
                <a:cs typeface="Calibri"/>
              </a:rPr>
              <a:t>manutenção.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fazê-</a:t>
            </a:r>
            <a:r>
              <a:rPr sz="2800" spc="-25" dirty="0">
                <a:latin typeface="Calibri"/>
                <a:cs typeface="Calibri"/>
              </a:rPr>
              <a:t>lo,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está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atuando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(mesmo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que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parcialmente)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435" y="5261355"/>
            <a:ext cx="11280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8010" algn="l"/>
                <a:tab pos="2426970" algn="l"/>
                <a:tab pos="3962400" algn="l"/>
                <a:tab pos="4881880" algn="l"/>
                <a:tab pos="5257165" algn="l"/>
                <a:tab pos="6652259" algn="l"/>
                <a:tab pos="8355965" algn="l"/>
                <a:tab pos="8796020" algn="l"/>
                <a:tab pos="9455150" algn="l"/>
                <a:tab pos="9836150" algn="l"/>
                <a:tab pos="10211435" algn="l"/>
              </a:tabLst>
            </a:pPr>
            <a:r>
              <a:rPr sz="2800" spc="-10" dirty="0">
                <a:latin typeface="Calibri"/>
                <a:cs typeface="Calibri"/>
              </a:rPr>
              <a:t>engenheiro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sistemas,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dada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holística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requerida.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spc="-25" dirty="0">
                <a:latin typeface="Calibri"/>
                <a:cs typeface="Calibri"/>
              </a:rPr>
              <a:t>SoI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é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própria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435" y="5566155"/>
            <a:ext cx="11281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aeronave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(produto)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engenheiro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experiência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competências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435" y="5858763"/>
            <a:ext cx="4774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detém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domínio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aeronaves.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3441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Engenheiro</a:t>
            </a:r>
            <a:r>
              <a:rPr spc="-9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Sistemas</a:t>
            </a:r>
            <a:r>
              <a:rPr spc="-90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dirty="0"/>
              <a:t>Mais</a:t>
            </a:r>
            <a:r>
              <a:rPr spc="-90" dirty="0"/>
              <a:t> </a:t>
            </a:r>
            <a:r>
              <a:rPr spc="-10" dirty="0"/>
              <a:t>Competências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435" y="1795779"/>
            <a:ext cx="11281410" cy="41586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algn="just">
              <a:lnSpc>
                <a:spcPts val="3000"/>
              </a:lnSpc>
              <a:spcBef>
                <a:spcPts val="500"/>
              </a:spcBef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entanto,</a:t>
            </a:r>
            <a:r>
              <a:rPr sz="2800" spc="1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mesmo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engenheiro</a:t>
            </a:r>
            <a:r>
              <a:rPr sz="2800" spc="1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poderia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participar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16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serviços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passageiros,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configurações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aeroportuárias,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manuseio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bagagem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opções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transporte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superfície.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89900"/>
              </a:lnSpc>
              <a:spcBef>
                <a:spcPts val="5"/>
              </a:spcBef>
            </a:pPr>
            <a:r>
              <a:rPr sz="2800" dirty="0">
                <a:latin typeface="Calibri"/>
                <a:cs typeface="Calibri"/>
              </a:rPr>
              <a:t>Tudo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6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contribui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6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proposições</a:t>
            </a:r>
            <a:r>
              <a:rPr sz="2800" spc="6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6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partes</a:t>
            </a:r>
            <a:r>
              <a:rPr sz="2800" spc="6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interessadas </a:t>
            </a:r>
            <a:r>
              <a:rPr sz="2800" dirty="0">
                <a:latin typeface="Calibri"/>
                <a:cs typeface="Calibri"/>
              </a:rPr>
              <a:t>críticas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sucesso.</a:t>
            </a:r>
            <a:r>
              <a:rPr sz="2800" spc="5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SoIs</a:t>
            </a:r>
            <a:r>
              <a:rPr sz="2800" b="1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5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amplos,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engenheiro</a:t>
            </a:r>
            <a:r>
              <a:rPr sz="2800" spc="5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sistemas </a:t>
            </a:r>
            <a:r>
              <a:rPr sz="2800" dirty="0">
                <a:latin typeface="Calibri"/>
                <a:cs typeface="Calibri"/>
              </a:rPr>
              <a:t>precisa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conhecimentos,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habilidades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conhecimentos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amplos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sistemas,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disciplinas/assuntos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operar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 </a:t>
            </a:r>
            <a:r>
              <a:rPr sz="2800" dirty="0">
                <a:latin typeface="Calibri"/>
                <a:cs typeface="Calibri"/>
              </a:rPr>
              <a:t>tal.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experiência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domínio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aeronaves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permanece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necessária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eficaz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amplos.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709295">
              <a:lnSpc>
                <a:spcPct val="100000"/>
              </a:lnSpc>
              <a:spcBef>
                <a:spcPts val="100"/>
              </a:spcBef>
            </a:pPr>
            <a:r>
              <a:rPr dirty="0"/>
              <a:t>Engenharia</a:t>
            </a:r>
            <a:r>
              <a:rPr spc="-125" dirty="0"/>
              <a:t> </a:t>
            </a:r>
            <a:r>
              <a:rPr dirty="0"/>
              <a:t>de</a:t>
            </a:r>
            <a:r>
              <a:rPr spc="-130" dirty="0"/>
              <a:t> </a:t>
            </a:r>
            <a:r>
              <a:rPr dirty="0"/>
              <a:t>Sistemas</a:t>
            </a:r>
            <a:r>
              <a:rPr spc="-130" dirty="0"/>
              <a:t> </a:t>
            </a:r>
            <a:r>
              <a:rPr dirty="0"/>
              <a:t>e</a:t>
            </a:r>
            <a:r>
              <a:rPr spc="-125" dirty="0"/>
              <a:t> </a:t>
            </a:r>
            <a:r>
              <a:rPr dirty="0"/>
              <a:t>outras</a:t>
            </a:r>
            <a:r>
              <a:rPr spc="-130" dirty="0"/>
              <a:t> </a:t>
            </a:r>
            <a:r>
              <a:rPr spc="-10" dirty="0"/>
              <a:t>correlatas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7115"/>
            <a:ext cx="10254615" cy="462788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105410">
              <a:lnSpc>
                <a:spcPts val="2690"/>
              </a:lnSpc>
              <a:spcBef>
                <a:spcPts val="745"/>
              </a:spcBef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disciplinas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entrelaçadas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Engenharia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(SE)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incluem:</a:t>
            </a:r>
            <a:endParaRPr sz="2800">
              <a:latin typeface="Calibri"/>
              <a:cs typeface="Calibri"/>
            </a:endParaRPr>
          </a:p>
          <a:p>
            <a:pPr marL="697230" indent="-227329">
              <a:lnSpc>
                <a:spcPts val="2810"/>
              </a:lnSpc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engenharia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software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(SwE),</a:t>
            </a:r>
            <a:endParaRPr sz="2400">
              <a:latin typeface="Calibri"/>
              <a:cs typeface="Calibri"/>
            </a:endParaRPr>
          </a:p>
          <a:p>
            <a:pPr marL="697230" indent="-227329">
              <a:lnSpc>
                <a:spcPts val="2795"/>
              </a:lnSpc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engenharia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fatores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humanos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  <a:p>
            <a:pPr marL="697230" indent="-227329">
              <a:lnSpc>
                <a:spcPts val="2830"/>
              </a:lnSpc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engenharia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industrial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Produção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400">
              <a:latin typeface="Calibri"/>
              <a:cs typeface="Calibri"/>
            </a:endParaRPr>
          </a:p>
          <a:p>
            <a:pPr marL="241300" marR="5080" indent="-228600">
              <a:lnSpc>
                <a:spcPct val="80400"/>
              </a:lnSpc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escopo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SwE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inclui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métodos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inclui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hardware.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124"/>
                </a:solidFill>
                <a:latin typeface="Calibri"/>
                <a:cs typeface="Calibri"/>
              </a:rPr>
              <a:t>Assim,</a:t>
            </a:r>
            <a:r>
              <a:rPr sz="2800" spc="-50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02124"/>
                </a:solidFill>
                <a:latin typeface="Calibri"/>
                <a:cs typeface="Calibri"/>
              </a:rPr>
              <a:t>nem </a:t>
            </a:r>
            <a:r>
              <a:rPr sz="2800" b="1" dirty="0">
                <a:solidFill>
                  <a:srgbClr val="202124"/>
                </a:solidFill>
                <a:latin typeface="Calibri"/>
                <a:cs typeface="Calibri"/>
              </a:rPr>
              <a:t>SwE</a:t>
            </a:r>
            <a:r>
              <a:rPr sz="2800" b="1" spc="-30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124"/>
                </a:solidFill>
                <a:latin typeface="Calibri"/>
                <a:cs typeface="Calibri"/>
              </a:rPr>
              <a:t>nem</a:t>
            </a:r>
            <a:r>
              <a:rPr sz="2800" spc="-30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02124"/>
                </a:solidFill>
                <a:latin typeface="Calibri"/>
                <a:cs typeface="Calibri"/>
              </a:rPr>
              <a:t>SE</a:t>
            </a:r>
            <a:r>
              <a:rPr sz="2800" b="1" spc="-30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124"/>
                </a:solidFill>
                <a:latin typeface="Calibri"/>
                <a:cs typeface="Calibri"/>
              </a:rPr>
              <a:t>são</a:t>
            </a:r>
            <a:r>
              <a:rPr sz="2800" spc="-30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124"/>
                </a:solidFill>
                <a:latin typeface="Calibri"/>
                <a:cs typeface="Calibri"/>
              </a:rPr>
              <a:t>um</a:t>
            </a:r>
            <a:r>
              <a:rPr sz="2800" spc="-25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124"/>
                </a:solidFill>
                <a:latin typeface="Calibri"/>
                <a:cs typeface="Calibri"/>
              </a:rPr>
              <a:t>subconjuntos</a:t>
            </a:r>
            <a:r>
              <a:rPr sz="2800" spc="-20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124"/>
                </a:solidFill>
                <a:latin typeface="Calibri"/>
                <a:cs typeface="Calibri"/>
              </a:rPr>
              <a:t>uma</a:t>
            </a:r>
            <a:r>
              <a:rPr sz="2800" spc="-30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02124"/>
                </a:solidFill>
                <a:latin typeface="Calibri"/>
                <a:cs typeface="Calibri"/>
              </a:rPr>
              <a:t>da</a:t>
            </a:r>
            <a:r>
              <a:rPr sz="2800" spc="-25" dirty="0">
                <a:solidFill>
                  <a:srgbClr val="20212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02124"/>
                </a:solidFill>
                <a:latin typeface="Calibri"/>
                <a:cs typeface="Calibri"/>
              </a:rPr>
              <a:t>outra.</a:t>
            </a:r>
            <a:endParaRPr sz="2800">
              <a:latin typeface="Calibri"/>
              <a:cs typeface="Calibri"/>
            </a:endParaRPr>
          </a:p>
          <a:p>
            <a:pPr marL="241300" marR="196215" indent="-228600">
              <a:lnSpc>
                <a:spcPct val="78600"/>
              </a:lnSpc>
              <a:spcBef>
                <a:spcPts val="10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fatores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humanos,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relaciona-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ergonomia, </a:t>
            </a:r>
            <a:r>
              <a:rPr sz="2800" dirty="0">
                <a:latin typeface="Calibri"/>
                <a:cs typeface="Calibri"/>
              </a:rPr>
              <a:t>UI/UX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(interface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experiência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usuário)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entrelaçada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Engenharia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Sistemas.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772" rIns="0" bIns="0" rtlCol="0">
            <a:spAutoFit/>
          </a:bodyPr>
          <a:lstStyle/>
          <a:p>
            <a:pPr marL="701040">
              <a:lnSpc>
                <a:spcPct val="100000"/>
              </a:lnSpc>
              <a:spcBef>
                <a:spcPts val="100"/>
              </a:spcBef>
            </a:pPr>
            <a:r>
              <a:rPr dirty="0"/>
              <a:t>Engenharia</a:t>
            </a:r>
            <a:r>
              <a:rPr spc="-8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dirty="0"/>
              <a:t>Sistemas</a:t>
            </a:r>
            <a:r>
              <a:rPr spc="-85" dirty="0"/>
              <a:t> </a:t>
            </a:r>
            <a:r>
              <a:rPr dirty="0"/>
              <a:t>e</a:t>
            </a:r>
            <a:r>
              <a:rPr spc="-90" dirty="0"/>
              <a:t> </a:t>
            </a:r>
            <a:r>
              <a:rPr dirty="0"/>
              <a:t>Eng.</a:t>
            </a:r>
            <a:r>
              <a:rPr spc="-85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1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10843895" cy="403352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832485" indent="-228600">
              <a:lnSpc>
                <a:spcPts val="271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SwE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disciplinas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aliadas,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estão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intimamente entrelaçadas.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80400"/>
              </a:lnSpc>
              <a:spcBef>
                <a:spcPts val="5"/>
              </a:spcBef>
              <a:buChar char="•"/>
              <a:tabLst>
                <a:tab pos="241300" algn="l"/>
                <a:tab pos="321945" algn="l"/>
              </a:tabLst>
            </a:pPr>
            <a:r>
              <a:rPr sz="2800" dirty="0">
                <a:latin typeface="Arial"/>
                <a:cs typeface="Arial"/>
              </a:rPr>
              <a:t>	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funcionalidades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comerciais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governamentais </a:t>
            </a: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desempenha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papel proeminente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dominante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diferenciação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mercado.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494030" indent="-228600">
              <a:lnSpc>
                <a:spcPct val="80400"/>
              </a:lnSpc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geralmente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proeminente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arquiteturas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sistemas </a:t>
            </a:r>
            <a:r>
              <a:rPr sz="2800" dirty="0">
                <a:latin typeface="Calibri"/>
                <a:cs typeface="Calibri"/>
              </a:rPr>
              <a:t>modernos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vezes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"cola"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sistema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(Sistema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Sistemas)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0783" y="309371"/>
            <a:ext cx="9310370" cy="1293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851785" marR="5080" indent="-2839720">
              <a:lnSpc>
                <a:spcPts val="4700"/>
              </a:lnSpc>
              <a:spcBef>
                <a:spcPts val="740"/>
              </a:spcBef>
            </a:pPr>
            <a:r>
              <a:rPr dirty="0"/>
              <a:t>Engenharia</a:t>
            </a:r>
            <a:r>
              <a:rPr spc="-155" dirty="0"/>
              <a:t> </a:t>
            </a:r>
            <a:r>
              <a:rPr dirty="0"/>
              <a:t>de</a:t>
            </a:r>
            <a:r>
              <a:rPr spc="-155" dirty="0"/>
              <a:t> </a:t>
            </a:r>
            <a:r>
              <a:rPr dirty="0"/>
              <a:t>Sistemas</a:t>
            </a:r>
            <a:r>
              <a:rPr spc="-155" dirty="0"/>
              <a:t> </a:t>
            </a:r>
            <a:r>
              <a:rPr dirty="0"/>
              <a:t>outras</a:t>
            </a:r>
            <a:r>
              <a:rPr spc="-160" dirty="0"/>
              <a:t> </a:t>
            </a:r>
            <a:r>
              <a:rPr spc="-10" dirty="0"/>
              <a:t>disciplinas </a:t>
            </a:r>
            <a:r>
              <a:rPr spc="-25" dirty="0"/>
              <a:t>Não-</a:t>
            </a:r>
            <a:r>
              <a:rPr spc="-10" dirty="0"/>
              <a:t>Engenharia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10842625" cy="33947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intimamente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entrelaçada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disciplinas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técnicas: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gestão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técnica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(TM)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  <a:p>
            <a:pPr marL="697230" marR="458470" lvl="1" indent="-227329">
              <a:lnSpc>
                <a:spcPts val="262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b="1" dirty="0">
                <a:latin typeface="Calibri"/>
                <a:cs typeface="Calibri"/>
              </a:rPr>
              <a:t>aquisição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consecução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(aquisition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&amp;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procuremnet)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–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parte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Engenharia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de 	</a:t>
            </a:r>
            <a:r>
              <a:rPr sz="2400" b="1" spc="-10" dirty="0">
                <a:latin typeface="Calibri"/>
                <a:cs typeface="Calibri"/>
              </a:rPr>
              <a:t>Requisitos.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5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241300" marR="5080" indent="-228600">
              <a:lnSpc>
                <a:spcPct val="90700"/>
              </a:lnSpc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encaixa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alçada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engenheiro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sistemas.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especialização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gestão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(PM),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direcionar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esforços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competências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aspectos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projeto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0783" y="309371"/>
            <a:ext cx="9310370" cy="1293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851785" marR="5080" indent="-2839720">
              <a:lnSpc>
                <a:spcPts val="4700"/>
              </a:lnSpc>
              <a:spcBef>
                <a:spcPts val="740"/>
              </a:spcBef>
            </a:pPr>
            <a:r>
              <a:rPr dirty="0"/>
              <a:t>Engenharia</a:t>
            </a:r>
            <a:r>
              <a:rPr spc="-155" dirty="0"/>
              <a:t> </a:t>
            </a:r>
            <a:r>
              <a:rPr dirty="0"/>
              <a:t>de</a:t>
            </a:r>
            <a:r>
              <a:rPr spc="-155" dirty="0"/>
              <a:t> </a:t>
            </a:r>
            <a:r>
              <a:rPr dirty="0"/>
              <a:t>Sistemas</a:t>
            </a:r>
            <a:r>
              <a:rPr spc="-155" dirty="0"/>
              <a:t> </a:t>
            </a:r>
            <a:r>
              <a:rPr dirty="0"/>
              <a:t>outras</a:t>
            </a:r>
            <a:r>
              <a:rPr spc="-160" dirty="0"/>
              <a:t> </a:t>
            </a:r>
            <a:r>
              <a:rPr spc="-10" dirty="0"/>
              <a:t>disciplinas </a:t>
            </a:r>
            <a:r>
              <a:rPr spc="-25" dirty="0"/>
              <a:t>Não-</a:t>
            </a:r>
            <a:r>
              <a:rPr spc="-10" dirty="0"/>
              <a:t>Engenharia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2788"/>
            <a:ext cx="10850245" cy="183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301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está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intimamente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entrelaçada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disciplinas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técnicas:</a:t>
            </a:r>
            <a:endParaRPr sz="2600">
              <a:latin typeface="Calibri"/>
              <a:cs typeface="Calibri"/>
            </a:endParaRPr>
          </a:p>
          <a:p>
            <a:pPr marL="697865" lvl="1" indent="-227965">
              <a:lnSpc>
                <a:spcPts val="236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gestão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técnica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(TM)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50" dirty="0"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ts val="2470"/>
              </a:lnSpc>
              <a:buFont typeface="Arial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aquisição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consecução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(aquisition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&amp;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procuremnet)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–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parte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da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Engenharia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Requisitos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profissionais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aquisição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consecução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determinam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escopo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421379"/>
            <a:ext cx="10140315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requisitos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gerais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adquiridos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obtidos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externamente.</a:t>
            </a:r>
            <a:endParaRPr sz="2600">
              <a:latin typeface="Calibri"/>
              <a:cs typeface="Calibri"/>
            </a:endParaRPr>
          </a:p>
          <a:p>
            <a:pPr marL="315595" indent="-30289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15595" algn="l"/>
              </a:tabLst>
            </a:pP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seguida,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preparam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fornecimentos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(pedidos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propostas,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4107179"/>
            <a:ext cx="106476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demonstrações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competência),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determinam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critérios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avaliação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projetam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539" y="4372355"/>
            <a:ext cx="29184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processos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seleção.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4780788"/>
            <a:ext cx="10735945" cy="166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indent="-302895">
              <a:lnSpc>
                <a:spcPts val="2650"/>
              </a:lnSpc>
              <a:spcBef>
                <a:spcPts val="100"/>
              </a:spcBef>
              <a:buFont typeface="Arial"/>
              <a:buChar char="•"/>
              <a:tabLst>
                <a:tab pos="315595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vez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selecionada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fonte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operam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sobre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contratação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englobam</a:t>
            </a:r>
            <a:endParaRPr sz="2600">
              <a:latin typeface="Calibri"/>
              <a:cs typeface="Calibri"/>
            </a:endParaRPr>
          </a:p>
          <a:p>
            <a:pPr marL="241300" marR="440055">
              <a:lnSpc>
                <a:spcPct val="70800"/>
              </a:lnSpc>
              <a:spcBef>
                <a:spcPts val="440"/>
              </a:spcBef>
            </a:pPr>
            <a:r>
              <a:rPr sz="2600" spc="-10" dirty="0">
                <a:latin typeface="Calibri"/>
                <a:cs typeface="Calibri"/>
              </a:rPr>
              <a:t>pagamentos,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revisões,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auditorias,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taxas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incentivo,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critérios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aceitação, procedimentos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natureza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entregadores.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708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fim,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monitoram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progresso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planos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(incluindo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planos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engenharia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sistemas)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negociam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mudanças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ações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corretivas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2017</Words>
  <Application>Microsoft Macintosh PowerPoint</Application>
  <PresentationFormat>Widescreen</PresentationFormat>
  <Paragraphs>171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Engenharia de Sistemas Introdução</vt:lpstr>
      <vt:lpstr>Sistemas O que são?</vt:lpstr>
      <vt:lpstr>O Conceito de Sistema</vt:lpstr>
      <vt:lpstr>Supersistemas e Subsistemas</vt:lpstr>
      <vt:lpstr>Outros Conceitos</vt:lpstr>
      <vt:lpstr>Tipos de Sistemas – Classificação segundo interação com o meio (ambiente)</vt:lpstr>
      <vt:lpstr>Tipos de Sistemas – Classificação segundo sua natureza</vt:lpstr>
      <vt:lpstr>As Entradas e Saídas dos Sistemas Abertos</vt:lpstr>
      <vt:lpstr>Tipos – e um exemplo - de Sistemas Classificação hierárquica de sistemas</vt:lpstr>
      <vt:lpstr>Sistemas Técnicos e Sociotécnicos</vt:lpstr>
      <vt:lpstr>O que é Engenharia de Sistemas?</vt:lpstr>
      <vt:lpstr>INCOSE – Comitê Internacional Eng. de Sistemas</vt:lpstr>
      <vt:lpstr>Elementos-Chave da Engenharia de Sistemas</vt:lpstr>
      <vt:lpstr>Ciclo de Vida de Projeto de um Sistema</vt:lpstr>
      <vt:lpstr>Apresentação do PowerPoint</vt:lpstr>
      <vt:lpstr>Valor “Econômico” da Engenharia de Sistemas</vt:lpstr>
      <vt:lpstr>A visão Holística da Engenharia de Sistemas</vt:lpstr>
      <vt:lpstr>Engenheiro de Sistemas - Competências</vt:lpstr>
      <vt:lpstr>Engenheiro de Sistemas – Mais Competências</vt:lpstr>
      <vt:lpstr>Engenharia de Sistemas e outras correlatas</vt:lpstr>
      <vt:lpstr>Engenharia de Sistemas e Eng. de Software</vt:lpstr>
      <vt:lpstr>Engenharia de Sistemas outras disciplinas Não-Engenharia</vt:lpstr>
      <vt:lpstr>Engenharia de Sistemas outras disciplinas Não-Engenharia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Sergio Marques</cp:lastModifiedBy>
  <cp:revision>1</cp:revision>
  <dcterms:created xsi:type="dcterms:W3CDTF">2024-08-04T02:18:01Z</dcterms:created>
  <dcterms:modified xsi:type="dcterms:W3CDTF">2024-08-04T02:51:17Z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2023-08-10T00:00:00Z</vt:filetime>
  </property>
  <property fmtid="{D5CDD505-2E9C-101B-9397-08002B2CF9AE}" pid="3" name="LastSaved">
    <vt:filetime>2024-08-04T00:00:00Z</vt:filetime>
  </property>
  <property fmtid="{D5CDD505-2E9C-101B-9397-08002B2CF9AE}" pid="4" name="Producer">
    <vt:lpwstr>macOS Versão 13.4.1 (c) (Compilação 22F770820d) Quartz PDFContext</vt:lpwstr>
  </property>
</Properties>
</file>