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" charset="1" panose="020B0504020202020204"/>
      <p:regular r:id="rId17"/>
    </p:embeddedFont>
    <p:embeddedFont>
      <p:font typeface="Helvetica Bold" charset="1" panose="020B0704020202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188520">
            <a:off x="3448075" y="-4299416"/>
            <a:ext cx="11391851" cy="18885831"/>
          </a:xfrm>
          <a:custGeom>
            <a:avLst/>
            <a:gdLst/>
            <a:ahLst/>
            <a:cxnLst/>
            <a:rect r="r" b="b" t="t" l="l"/>
            <a:pathLst>
              <a:path h="18885831" w="11391851">
                <a:moveTo>
                  <a:pt x="10267541" y="0"/>
                </a:moveTo>
                <a:lnTo>
                  <a:pt x="11391850" y="18253408"/>
                </a:lnTo>
                <a:lnTo>
                  <a:pt x="1124309" y="18885832"/>
                </a:lnTo>
                <a:lnTo>
                  <a:pt x="0" y="632424"/>
                </a:lnTo>
                <a:lnTo>
                  <a:pt x="10267541" y="0"/>
                </a:lnTo>
                <a:close/>
              </a:path>
            </a:pathLst>
          </a:custGeom>
          <a:blipFill>
            <a:blip r:embed="rId2"/>
            <a:stretch>
              <a:fillRect l="-74337" t="0" r="-743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18736" y="2603859"/>
            <a:ext cx="14450527" cy="4046083"/>
            <a:chOff x="0" y="0"/>
            <a:chExt cx="3805900" cy="10656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05900" cy="1065635"/>
            </a:xfrm>
            <a:custGeom>
              <a:avLst/>
              <a:gdLst/>
              <a:ahLst/>
              <a:cxnLst/>
              <a:rect r="r" b="b" t="t" l="l"/>
              <a:pathLst>
                <a:path h="1065635" w="3805900">
                  <a:moveTo>
                    <a:pt x="30002" y="0"/>
                  </a:moveTo>
                  <a:lnTo>
                    <a:pt x="3775898" y="0"/>
                  </a:lnTo>
                  <a:cubicBezTo>
                    <a:pt x="3783855" y="0"/>
                    <a:pt x="3791486" y="3161"/>
                    <a:pt x="3797113" y="8787"/>
                  </a:cubicBezTo>
                  <a:cubicBezTo>
                    <a:pt x="3802739" y="14414"/>
                    <a:pt x="3805900" y="22045"/>
                    <a:pt x="3805900" y="30002"/>
                  </a:cubicBezTo>
                  <a:lnTo>
                    <a:pt x="3805900" y="1035633"/>
                  </a:lnTo>
                  <a:cubicBezTo>
                    <a:pt x="3805900" y="1043590"/>
                    <a:pt x="3802739" y="1051221"/>
                    <a:pt x="3797113" y="1056848"/>
                  </a:cubicBezTo>
                  <a:cubicBezTo>
                    <a:pt x="3791486" y="1062474"/>
                    <a:pt x="3783855" y="1065635"/>
                    <a:pt x="3775898" y="1065635"/>
                  </a:cubicBezTo>
                  <a:lnTo>
                    <a:pt x="30002" y="1065635"/>
                  </a:lnTo>
                  <a:cubicBezTo>
                    <a:pt x="22045" y="1065635"/>
                    <a:pt x="14414" y="1062474"/>
                    <a:pt x="8787" y="1056848"/>
                  </a:cubicBezTo>
                  <a:cubicBezTo>
                    <a:pt x="3161" y="1051221"/>
                    <a:pt x="0" y="1043590"/>
                    <a:pt x="0" y="1035633"/>
                  </a:cubicBezTo>
                  <a:lnTo>
                    <a:pt x="0" y="30002"/>
                  </a:lnTo>
                  <a:cubicBezTo>
                    <a:pt x="0" y="22045"/>
                    <a:pt x="3161" y="14414"/>
                    <a:pt x="8787" y="8787"/>
                  </a:cubicBezTo>
                  <a:cubicBezTo>
                    <a:pt x="14414" y="3161"/>
                    <a:pt x="22045" y="0"/>
                    <a:pt x="300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28000"/>
                  </a:srgbClr>
                </a:gs>
                <a:gs pos="100000">
                  <a:srgbClr val="4971FF">
                    <a:alpha val="28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05900" cy="1113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844741" y="8784314"/>
            <a:ext cx="473986" cy="473986"/>
          </a:xfrm>
          <a:custGeom>
            <a:avLst/>
            <a:gdLst/>
            <a:ahLst/>
            <a:cxnLst/>
            <a:rect r="r" b="b" t="t" l="l"/>
            <a:pathLst>
              <a:path h="473986" w="473986">
                <a:moveTo>
                  <a:pt x="0" y="0"/>
                </a:moveTo>
                <a:lnTo>
                  <a:pt x="473986" y="0"/>
                </a:lnTo>
                <a:lnTo>
                  <a:pt x="473986" y="473986"/>
                </a:lnTo>
                <a:lnTo>
                  <a:pt x="0" y="473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0202" y="3702975"/>
            <a:ext cx="13147596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59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Modelagem de um Sistema Complexo: </a:t>
            </a:r>
          </a:p>
          <a:p>
            <a:pPr algn="ctr">
              <a:lnSpc>
                <a:spcPts val="7080"/>
              </a:lnSpc>
            </a:pPr>
            <a:r>
              <a:rPr lang="en-US" sz="59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Estudo de Caso da Máquina de Vendas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964" y="7760903"/>
            <a:ext cx="15242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Membros: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5964" y="8410575"/>
            <a:ext cx="8158482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João Paulo Ferreira – RA: 25000684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Leonardo Miranda Nunciaroni – RA: 25002726 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Miguel Fernandes Costacurta – RA: 25003110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Pedro Henrique Contardi Soler – RA: 25005592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874361"/>
          </a:xfrm>
          <a:custGeom>
            <a:avLst/>
            <a:gdLst/>
            <a:ahLst/>
            <a:cxnLst/>
            <a:rect r="r" b="b" t="t" l="l"/>
            <a:pathLst>
              <a:path h="1874361" w="18288000">
                <a:moveTo>
                  <a:pt x="0" y="0"/>
                </a:moveTo>
                <a:lnTo>
                  <a:pt x="18288000" y="0"/>
                </a:lnTo>
                <a:lnTo>
                  <a:pt x="18288000" y="1874361"/>
                </a:lnTo>
                <a:lnTo>
                  <a:pt x="0" y="187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5230" r="0" b="-2752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9751" y="1966832"/>
            <a:ext cx="1507377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Helvetica"/>
                <a:ea typeface="Helvetica"/>
                <a:cs typeface="Helvetica"/>
                <a:sym typeface="Helvetica"/>
              </a:rPr>
              <a:t>O p</a:t>
            </a:r>
            <a:r>
              <a:rPr lang="en-US" sz="2499" strike="noStrike" u="none">
                <a:solidFill>
                  <a:srgbClr val="101010"/>
                </a:solidFill>
                <a:latin typeface="Helvetica"/>
                <a:ea typeface="Helvetica"/>
                <a:cs typeface="Helvetica"/>
                <a:sym typeface="Helvetica"/>
              </a:rPr>
              <a:t>rimeiro passo para modelar um sistema é definir seus limites e entender o ambiente no qual ele opera: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1465"/>
            <a:ext cx="10828303" cy="128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 Sis</a:t>
            </a:r>
            <a:r>
              <a:rPr lang="en-US" b="true" sz="7200" strike="noStrike" u="non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tema e o Ambiente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420586" y="4694881"/>
            <a:ext cx="5179872" cy="3863478"/>
            <a:chOff x="0" y="0"/>
            <a:chExt cx="6906496" cy="515130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906496" cy="5151304"/>
              <a:chOff x="0" y="0"/>
              <a:chExt cx="1089744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897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89743">
                    <a:moveTo>
                      <a:pt x="544872" y="0"/>
                    </a:moveTo>
                    <a:cubicBezTo>
                      <a:pt x="243947" y="0"/>
                      <a:pt x="0" y="181951"/>
                      <a:pt x="0" y="406400"/>
                    </a:cubicBezTo>
                    <a:cubicBezTo>
                      <a:pt x="0" y="630849"/>
                      <a:pt x="243947" y="812800"/>
                      <a:pt x="544872" y="812800"/>
                    </a:cubicBezTo>
                    <a:cubicBezTo>
                      <a:pt x="845796" y="812800"/>
                      <a:pt x="1089743" y="630849"/>
                      <a:pt x="1089743" y="406400"/>
                    </a:cubicBezTo>
                    <a:cubicBezTo>
                      <a:pt x="1089743" y="181951"/>
                      <a:pt x="845796" y="0"/>
                      <a:pt x="544872" y="0"/>
                    </a:cubicBezTo>
                    <a:lnTo>
                      <a:pt x="5448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10101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2163" y="38100"/>
                <a:ext cx="885417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232979" y="1665498"/>
              <a:ext cx="2440538" cy="1820308"/>
              <a:chOff x="0" y="0"/>
              <a:chExt cx="1089744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897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89743">
                    <a:moveTo>
                      <a:pt x="544872" y="0"/>
                    </a:moveTo>
                    <a:cubicBezTo>
                      <a:pt x="243947" y="0"/>
                      <a:pt x="0" y="181951"/>
                      <a:pt x="0" y="406400"/>
                    </a:cubicBezTo>
                    <a:cubicBezTo>
                      <a:pt x="0" y="630849"/>
                      <a:pt x="243947" y="812800"/>
                      <a:pt x="544872" y="812800"/>
                    </a:cubicBezTo>
                    <a:cubicBezTo>
                      <a:pt x="845796" y="812800"/>
                      <a:pt x="1089743" y="630849"/>
                      <a:pt x="1089743" y="406400"/>
                    </a:cubicBezTo>
                    <a:cubicBezTo>
                      <a:pt x="1089743" y="181951"/>
                      <a:pt x="845796" y="0"/>
                      <a:pt x="544872" y="0"/>
                    </a:cubicBezTo>
                    <a:lnTo>
                      <a:pt x="5448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10101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2163" y="38100"/>
                <a:ext cx="885417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481016" y="500516"/>
              <a:ext cx="1944464" cy="577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28"/>
                </a:lnSpc>
                <a:spcBef>
                  <a:spcPct val="0"/>
                </a:spcBef>
              </a:pPr>
              <a:r>
                <a:rPr lang="en-US" b="true" sz="2520">
                  <a:solidFill>
                    <a:srgbClr val="0453E0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Ambiente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718113" y="2253761"/>
              <a:ext cx="1470270" cy="577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28"/>
                </a:lnSpc>
                <a:spcBef>
                  <a:spcPct val="0"/>
                </a:spcBef>
              </a:pPr>
              <a:r>
                <a:rPr lang="en-US" b="true" sz="2520">
                  <a:solidFill>
                    <a:srgbClr val="023095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Central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9751" y="2798682"/>
            <a:ext cx="10707252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u="sng">
                <a:solidFill>
                  <a:srgbClr val="023095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 Sistema Central:</a:t>
            </a:r>
            <a:r>
              <a:rPr lang="en-US" sz="24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A Máquina de Vendas (Vending Machine). Trata-se de um sistema automatizado projetado para vender produtos a um usuário, aceitando pagamento e entregando o item.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9751" y="4628206"/>
            <a:ext cx="10707252" cy="526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77" u="sng">
                <a:solidFill>
                  <a:srgbClr val="023095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 Ambiente:</a:t>
            </a:r>
            <a:r>
              <a:rPr lang="en-US" sz="247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Tudo que interage com o sistema, mas não faz parte dele. Os principais atores são:</a:t>
            </a:r>
          </a:p>
          <a:p>
            <a:pPr algn="just" marL="534976" indent="-267488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Usuário/Cliente: A pessoa que compra o produto, interagindo com a interface da máquina.</a:t>
            </a:r>
          </a:p>
          <a:p>
            <a:pPr algn="just" marL="534976" indent="-267488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Operador/Repositor: Responsável por reabastecer os produtos e coletar o dinheiro.</a:t>
            </a:r>
          </a:p>
          <a:p>
            <a:pPr algn="just" marL="534976" indent="-267488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Equipe de Manutenção: Profissionais que resolvem problemas técnicos e falhas de hardware.</a:t>
            </a:r>
          </a:p>
          <a:p>
            <a:pPr algn="just" marL="534976" indent="-267488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Fornecedores de Produtos: As empresas que fornecem os itens a serem vendidos.</a:t>
            </a:r>
          </a:p>
          <a:p>
            <a:pPr algn="just" marL="534976" indent="-267488" lvl="1">
              <a:lnSpc>
                <a:spcPts val="3469"/>
              </a:lnSpc>
              <a:buFont typeface="Arial"/>
              <a:buChar char="•"/>
            </a:pPr>
            <a:r>
              <a:rPr lang="en-US" sz="2477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Ambiente Físico: O local onde a máquina está instalada (por exemplo, um campus universitário, um shopping center, um escritório).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64398">
            <a:off x="-6845961" y="157850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85106"/>
            <a:ext cx="4897931" cy="6304113"/>
          </a:xfrm>
          <a:custGeom>
            <a:avLst/>
            <a:gdLst/>
            <a:ahLst/>
            <a:cxnLst/>
            <a:rect r="r" b="b" t="t" l="l"/>
            <a:pathLst>
              <a:path h="6304113" w="4897931">
                <a:moveTo>
                  <a:pt x="0" y="0"/>
                </a:moveTo>
                <a:lnTo>
                  <a:pt x="4897931" y="0"/>
                </a:lnTo>
                <a:lnTo>
                  <a:pt x="4897931" y="6304113"/>
                </a:lnTo>
                <a:lnTo>
                  <a:pt x="0" y="6304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5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48640"/>
            <a:ext cx="528530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Subsis</a:t>
            </a:r>
            <a:r>
              <a:rPr lang="en-US" b="true" sz="3600" u="sng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temas Principais: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4583" y="850583"/>
            <a:ext cx="8275716" cy="869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 Subsistema de Interface com o Usuário: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Função: Permite a interação do cliente com a máquina.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Componentes: Display (tela de seleção e status), teclado numérico ou botões, LEDs indicadores, slot de moedas/cédulas, leitor de cartão/NFC.</a:t>
            </a: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2. Subsistema de Pagamento: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Função: Gerencia o processo de pagamento, desde a inserção do dinheiro até a validação e o troco.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Componentes: Validador de cédulas, moedeiro, leitor de cartão de crédito/débito, leitor de NFC para pagamento por aproximação, cofre para armazenamento de valores.</a:t>
            </a: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3. Subsistema de Dispensação de Produtos: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Função: Libera o produto selecionado e pago.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Componentes: Motores e mecanismos de espiral (que giram para empurrar o produto), sensores de queda (para verificar se o produto realmente caiu na bandeja de coleta), porta de acesso.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64398">
            <a:off x="-6845961" y="1578506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5"/>
                </a:lnTo>
                <a:lnTo>
                  <a:pt x="0" y="882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83906"/>
            <a:ext cx="4897931" cy="6578878"/>
          </a:xfrm>
          <a:custGeom>
            <a:avLst/>
            <a:gdLst/>
            <a:ahLst/>
            <a:cxnLst/>
            <a:rect r="r" b="b" t="t" l="l"/>
            <a:pathLst>
              <a:path h="6578878" w="4897931">
                <a:moveTo>
                  <a:pt x="0" y="0"/>
                </a:moveTo>
                <a:lnTo>
                  <a:pt x="4897931" y="0"/>
                </a:lnTo>
                <a:lnTo>
                  <a:pt x="4897931" y="6578878"/>
                </a:lnTo>
                <a:lnTo>
                  <a:pt x="0" y="6578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38273" y="528320"/>
            <a:ext cx="9921027" cy="921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4. Subsistema de Gerenciamento de Estoque: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Função: Controla a quantidade de cada produto disponível.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Componentes: Sensores de estoque (que detectam a falta de itens), software de controle de inventário.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5. Subsistema de Comunicação e Monitoramento Remoto: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Função: Permite que a máquina se comunique com um servidor externo.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Componentes: Módulo de conectividade (Wi-Fi, 3G/4G), software de telemetria que envia dados de vendas, status de estoque e alertas de erro.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Situação Ampliada: Este subsistema pode alertar automaticamente o operador quando um produto está acabando ou quando um erro grave acontece, otimizando o processo de reposição e manutenção.</a:t>
            </a:r>
          </a:p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6. Subsistema de Diagnóstico e Segurança: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Função: Detecta falhas internas e protege o sistema.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Componentes: Sensores de travamento de produtos, sensores de porta, alarmes, sistemas de travamento físico.</a:t>
            </a: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Situação Ampliada: Em caso de travamento do produto (o item não cai), este subsistema detecta a falha e aciona o mecanismo de reembolso, garantindo que o cliente não perca seu dinheiro.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48640"/>
            <a:ext cx="528530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u="sng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Subsis</a:t>
            </a:r>
            <a:r>
              <a:rPr lang="en-US" b="true" sz="3600" u="sng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temas Principais: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89866"/>
            <a:ext cx="16230600" cy="6645580"/>
            <a:chOff x="0" y="0"/>
            <a:chExt cx="4274726" cy="1750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50276"/>
            </a:xfrm>
            <a:custGeom>
              <a:avLst/>
              <a:gdLst/>
              <a:ahLst/>
              <a:cxnLst/>
              <a:rect r="r" b="b" t="t" l="l"/>
              <a:pathLst>
                <a:path h="175027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25949"/>
                  </a:lnTo>
                  <a:cubicBezTo>
                    <a:pt x="4274726" y="1739385"/>
                    <a:pt x="4263834" y="1750276"/>
                    <a:pt x="4250399" y="1750276"/>
                  </a:cubicBezTo>
                  <a:lnTo>
                    <a:pt x="24327" y="1750276"/>
                  </a:lnTo>
                  <a:cubicBezTo>
                    <a:pt x="10891" y="1750276"/>
                    <a:pt x="0" y="1739385"/>
                    <a:pt x="0" y="172594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74726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2207" y="3075127"/>
            <a:ext cx="12663587" cy="705218"/>
            <a:chOff x="0" y="0"/>
            <a:chExt cx="3303476" cy="183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3476" cy="183966"/>
            </a:xfrm>
            <a:custGeom>
              <a:avLst/>
              <a:gdLst/>
              <a:ahLst/>
              <a:cxnLst/>
              <a:rect r="r" b="b" t="t" l="l"/>
              <a:pathLst>
                <a:path h="183966" w="3303476">
                  <a:moveTo>
                    <a:pt x="12838" y="0"/>
                  </a:moveTo>
                  <a:lnTo>
                    <a:pt x="3290638" y="0"/>
                  </a:lnTo>
                  <a:cubicBezTo>
                    <a:pt x="3294043" y="0"/>
                    <a:pt x="3297308" y="1353"/>
                    <a:pt x="3299716" y="3760"/>
                  </a:cubicBezTo>
                  <a:cubicBezTo>
                    <a:pt x="3302124" y="6168"/>
                    <a:pt x="3303476" y="9433"/>
                    <a:pt x="3303476" y="12838"/>
                  </a:cubicBezTo>
                  <a:lnTo>
                    <a:pt x="3303476" y="171128"/>
                  </a:lnTo>
                  <a:cubicBezTo>
                    <a:pt x="3303476" y="174533"/>
                    <a:pt x="3302124" y="177798"/>
                    <a:pt x="3299716" y="180206"/>
                  </a:cubicBezTo>
                  <a:cubicBezTo>
                    <a:pt x="3297308" y="182614"/>
                    <a:pt x="3294043" y="183966"/>
                    <a:pt x="3290638" y="183966"/>
                  </a:cubicBezTo>
                  <a:lnTo>
                    <a:pt x="12838" y="183966"/>
                  </a:lnTo>
                  <a:cubicBezTo>
                    <a:pt x="9433" y="183966"/>
                    <a:pt x="6168" y="182614"/>
                    <a:pt x="3760" y="180206"/>
                  </a:cubicBezTo>
                  <a:cubicBezTo>
                    <a:pt x="1353" y="177798"/>
                    <a:pt x="0" y="174533"/>
                    <a:pt x="0" y="171128"/>
                  </a:cubicBezTo>
                  <a:lnTo>
                    <a:pt x="0" y="12838"/>
                  </a:lnTo>
                  <a:cubicBezTo>
                    <a:pt x="0" y="9433"/>
                    <a:pt x="1353" y="6168"/>
                    <a:pt x="3760" y="3760"/>
                  </a:cubicBezTo>
                  <a:cubicBezTo>
                    <a:pt x="6168" y="1353"/>
                    <a:pt x="9433" y="0"/>
                    <a:pt x="128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3303476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Usuário 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seleciona um produto.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0453E0">
                    <a:alpha val="0"/>
                  </a:srgbClr>
                </a:gs>
                <a:gs pos="100000">
                  <a:srgbClr val="0453E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766" y="436609"/>
            <a:ext cx="10853707" cy="1184182"/>
            <a:chOff x="0" y="0"/>
            <a:chExt cx="14471609" cy="15789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471609" cy="1578909"/>
              <a:chOff x="0" y="0"/>
              <a:chExt cx="2831344" cy="3089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31344" cy="308911"/>
              </a:xfrm>
              <a:custGeom>
                <a:avLst/>
                <a:gdLst/>
                <a:ahLst/>
                <a:cxnLst/>
                <a:rect r="r" b="b" t="t" l="l"/>
                <a:pathLst>
                  <a:path h="308911" w="2831344">
                    <a:moveTo>
                      <a:pt x="15693" y="0"/>
                    </a:moveTo>
                    <a:lnTo>
                      <a:pt x="2815651" y="0"/>
                    </a:lnTo>
                    <a:cubicBezTo>
                      <a:pt x="2819813" y="0"/>
                      <a:pt x="2823805" y="1653"/>
                      <a:pt x="2826747" y="4596"/>
                    </a:cubicBezTo>
                    <a:cubicBezTo>
                      <a:pt x="2829690" y="7539"/>
                      <a:pt x="2831344" y="11531"/>
                      <a:pt x="2831344" y="15693"/>
                    </a:cubicBezTo>
                    <a:lnTo>
                      <a:pt x="2831344" y="293218"/>
                    </a:lnTo>
                    <a:cubicBezTo>
                      <a:pt x="2831344" y="297380"/>
                      <a:pt x="2829690" y="301371"/>
                      <a:pt x="2826747" y="304314"/>
                    </a:cubicBezTo>
                    <a:cubicBezTo>
                      <a:pt x="2823805" y="307257"/>
                      <a:pt x="2819813" y="308911"/>
                      <a:pt x="2815651" y="308911"/>
                    </a:cubicBezTo>
                    <a:lnTo>
                      <a:pt x="15693" y="308911"/>
                    </a:lnTo>
                    <a:cubicBezTo>
                      <a:pt x="11531" y="308911"/>
                      <a:pt x="7539" y="307257"/>
                      <a:pt x="4596" y="304314"/>
                    </a:cubicBezTo>
                    <a:cubicBezTo>
                      <a:pt x="1653" y="301371"/>
                      <a:pt x="0" y="297380"/>
                      <a:pt x="0" y="293218"/>
                    </a:cubicBezTo>
                    <a:lnTo>
                      <a:pt x="0" y="15693"/>
                    </a:lnTo>
                    <a:cubicBezTo>
                      <a:pt x="0" y="11531"/>
                      <a:pt x="1653" y="7539"/>
                      <a:pt x="4596" y="4596"/>
                    </a:cubicBezTo>
                    <a:cubicBezTo>
                      <a:pt x="7539" y="1653"/>
                      <a:pt x="11531" y="0"/>
                      <a:pt x="15693" y="0"/>
                    </a:cubicBezTo>
                    <a:close/>
                  </a:path>
                </a:pathLst>
              </a:custGeom>
              <a:solidFill>
                <a:srgbClr val="02309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2831344" cy="289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56810" y="311631"/>
              <a:ext cx="13724710" cy="860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0"/>
                </a:lnSpc>
                <a:spcBef>
                  <a:spcPct val="0"/>
                </a:spcBef>
              </a:pPr>
              <a:r>
                <a:rPr lang="en-US" b="true" sz="3778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Cenários de Interação e Fluxo de Informação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1801328"/>
            <a:ext cx="691896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Fluxo de Interação Básico (Cenário de Sucesso):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812207" y="4060398"/>
            <a:ext cx="12663587" cy="705218"/>
            <a:chOff x="0" y="0"/>
            <a:chExt cx="3303476" cy="183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03476" cy="183966"/>
            </a:xfrm>
            <a:custGeom>
              <a:avLst/>
              <a:gdLst/>
              <a:ahLst/>
              <a:cxnLst/>
              <a:rect r="r" b="b" t="t" l="l"/>
              <a:pathLst>
                <a:path h="183966" w="3303476">
                  <a:moveTo>
                    <a:pt x="12838" y="0"/>
                  </a:moveTo>
                  <a:lnTo>
                    <a:pt x="3290638" y="0"/>
                  </a:lnTo>
                  <a:cubicBezTo>
                    <a:pt x="3294043" y="0"/>
                    <a:pt x="3297308" y="1353"/>
                    <a:pt x="3299716" y="3760"/>
                  </a:cubicBezTo>
                  <a:cubicBezTo>
                    <a:pt x="3302124" y="6168"/>
                    <a:pt x="3303476" y="9433"/>
                    <a:pt x="3303476" y="12838"/>
                  </a:cubicBezTo>
                  <a:lnTo>
                    <a:pt x="3303476" y="171128"/>
                  </a:lnTo>
                  <a:cubicBezTo>
                    <a:pt x="3303476" y="174533"/>
                    <a:pt x="3302124" y="177798"/>
                    <a:pt x="3299716" y="180206"/>
                  </a:cubicBezTo>
                  <a:cubicBezTo>
                    <a:pt x="3297308" y="182614"/>
                    <a:pt x="3294043" y="183966"/>
                    <a:pt x="3290638" y="183966"/>
                  </a:cubicBezTo>
                  <a:lnTo>
                    <a:pt x="12838" y="183966"/>
                  </a:lnTo>
                  <a:cubicBezTo>
                    <a:pt x="9433" y="183966"/>
                    <a:pt x="6168" y="182614"/>
                    <a:pt x="3760" y="180206"/>
                  </a:cubicBezTo>
                  <a:cubicBezTo>
                    <a:pt x="1353" y="177798"/>
                    <a:pt x="0" y="174533"/>
                    <a:pt x="0" y="171128"/>
                  </a:cubicBezTo>
                  <a:lnTo>
                    <a:pt x="0" y="12838"/>
                  </a:lnTo>
                  <a:cubicBezTo>
                    <a:pt x="0" y="9433"/>
                    <a:pt x="1353" y="6168"/>
                    <a:pt x="3760" y="3760"/>
                  </a:cubicBezTo>
                  <a:cubicBezTo>
                    <a:pt x="6168" y="1353"/>
                    <a:pt x="9433" y="0"/>
                    <a:pt x="128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38100"/>
              <a:ext cx="3303476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Subsistema de Interface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envia a seleção ao Subsistema de Pagamento.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12207" y="5041841"/>
            <a:ext cx="12663587" cy="705218"/>
            <a:chOff x="0" y="0"/>
            <a:chExt cx="3303476" cy="1839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3476" cy="183966"/>
            </a:xfrm>
            <a:custGeom>
              <a:avLst/>
              <a:gdLst/>
              <a:ahLst/>
              <a:cxnLst/>
              <a:rect r="r" b="b" t="t" l="l"/>
              <a:pathLst>
                <a:path h="183966" w="3303476">
                  <a:moveTo>
                    <a:pt x="12838" y="0"/>
                  </a:moveTo>
                  <a:lnTo>
                    <a:pt x="3290638" y="0"/>
                  </a:lnTo>
                  <a:cubicBezTo>
                    <a:pt x="3294043" y="0"/>
                    <a:pt x="3297308" y="1353"/>
                    <a:pt x="3299716" y="3760"/>
                  </a:cubicBezTo>
                  <a:cubicBezTo>
                    <a:pt x="3302124" y="6168"/>
                    <a:pt x="3303476" y="9433"/>
                    <a:pt x="3303476" y="12838"/>
                  </a:cubicBezTo>
                  <a:lnTo>
                    <a:pt x="3303476" y="171128"/>
                  </a:lnTo>
                  <a:cubicBezTo>
                    <a:pt x="3303476" y="174533"/>
                    <a:pt x="3302124" y="177798"/>
                    <a:pt x="3299716" y="180206"/>
                  </a:cubicBezTo>
                  <a:cubicBezTo>
                    <a:pt x="3297308" y="182614"/>
                    <a:pt x="3294043" y="183966"/>
                    <a:pt x="3290638" y="183966"/>
                  </a:cubicBezTo>
                  <a:lnTo>
                    <a:pt x="12838" y="183966"/>
                  </a:lnTo>
                  <a:cubicBezTo>
                    <a:pt x="9433" y="183966"/>
                    <a:pt x="6168" y="182614"/>
                    <a:pt x="3760" y="180206"/>
                  </a:cubicBezTo>
                  <a:cubicBezTo>
                    <a:pt x="1353" y="177798"/>
                    <a:pt x="0" y="174533"/>
                    <a:pt x="0" y="171128"/>
                  </a:cubicBezTo>
                  <a:lnTo>
                    <a:pt x="0" y="12838"/>
                  </a:lnTo>
                  <a:cubicBezTo>
                    <a:pt x="0" y="9433"/>
                    <a:pt x="1353" y="6168"/>
                    <a:pt x="3760" y="3760"/>
                  </a:cubicBezTo>
                  <a:cubicBezTo>
                    <a:pt x="6168" y="1353"/>
                    <a:pt x="9433" y="0"/>
                    <a:pt x="128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38100"/>
              <a:ext cx="3303476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Usuário 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insere o pagamento.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12207" y="6023285"/>
            <a:ext cx="12663587" cy="705218"/>
            <a:chOff x="0" y="0"/>
            <a:chExt cx="3303476" cy="183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03476" cy="183966"/>
            </a:xfrm>
            <a:custGeom>
              <a:avLst/>
              <a:gdLst/>
              <a:ahLst/>
              <a:cxnLst/>
              <a:rect r="r" b="b" t="t" l="l"/>
              <a:pathLst>
                <a:path h="183966" w="3303476">
                  <a:moveTo>
                    <a:pt x="12838" y="0"/>
                  </a:moveTo>
                  <a:lnTo>
                    <a:pt x="3290638" y="0"/>
                  </a:lnTo>
                  <a:cubicBezTo>
                    <a:pt x="3294043" y="0"/>
                    <a:pt x="3297308" y="1353"/>
                    <a:pt x="3299716" y="3760"/>
                  </a:cubicBezTo>
                  <a:cubicBezTo>
                    <a:pt x="3302124" y="6168"/>
                    <a:pt x="3303476" y="9433"/>
                    <a:pt x="3303476" y="12838"/>
                  </a:cubicBezTo>
                  <a:lnTo>
                    <a:pt x="3303476" y="171128"/>
                  </a:lnTo>
                  <a:cubicBezTo>
                    <a:pt x="3303476" y="174533"/>
                    <a:pt x="3302124" y="177798"/>
                    <a:pt x="3299716" y="180206"/>
                  </a:cubicBezTo>
                  <a:cubicBezTo>
                    <a:pt x="3297308" y="182614"/>
                    <a:pt x="3294043" y="183966"/>
                    <a:pt x="3290638" y="183966"/>
                  </a:cubicBezTo>
                  <a:lnTo>
                    <a:pt x="12838" y="183966"/>
                  </a:lnTo>
                  <a:cubicBezTo>
                    <a:pt x="9433" y="183966"/>
                    <a:pt x="6168" y="182614"/>
                    <a:pt x="3760" y="180206"/>
                  </a:cubicBezTo>
                  <a:cubicBezTo>
                    <a:pt x="1353" y="177798"/>
                    <a:pt x="0" y="174533"/>
                    <a:pt x="0" y="171128"/>
                  </a:cubicBezTo>
                  <a:lnTo>
                    <a:pt x="0" y="12838"/>
                  </a:lnTo>
                  <a:cubicBezTo>
                    <a:pt x="0" y="9433"/>
                    <a:pt x="1353" y="6168"/>
                    <a:pt x="3760" y="3760"/>
                  </a:cubicBezTo>
                  <a:cubicBezTo>
                    <a:pt x="6168" y="1353"/>
                    <a:pt x="9433" y="0"/>
                    <a:pt x="128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3303476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Subsistema de Pagamento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valida e confirma.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12207" y="7004728"/>
            <a:ext cx="12663587" cy="705218"/>
            <a:chOff x="0" y="0"/>
            <a:chExt cx="3303476" cy="183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03476" cy="183966"/>
            </a:xfrm>
            <a:custGeom>
              <a:avLst/>
              <a:gdLst/>
              <a:ahLst/>
              <a:cxnLst/>
              <a:rect r="r" b="b" t="t" l="l"/>
              <a:pathLst>
                <a:path h="183966" w="3303476">
                  <a:moveTo>
                    <a:pt x="12838" y="0"/>
                  </a:moveTo>
                  <a:lnTo>
                    <a:pt x="3290638" y="0"/>
                  </a:lnTo>
                  <a:cubicBezTo>
                    <a:pt x="3294043" y="0"/>
                    <a:pt x="3297308" y="1353"/>
                    <a:pt x="3299716" y="3760"/>
                  </a:cubicBezTo>
                  <a:cubicBezTo>
                    <a:pt x="3302124" y="6168"/>
                    <a:pt x="3303476" y="9433"/>
                    <a:pt x="3303476" y="12838"/>
                  </a:cubicBezTo>
                  <a:lnTo>
                    <a:pt x="3303476" y="171128"/>
                  </a:lnTo>
                  <a:cubicBezTo>
                    <a:pt x="3303476" y="174533"/>
                    <a:pt x="3302124" y="177798"/>
                    <a:pt x="3299716" y="180206"/>
                  </a:cubicBezTo>
                  <a:cubicBezTo>
                    <a:pt x="3297308" y="182614"/>
                    <a:pt x="3294043" y="183966"/>
                    <a:pt x="3290638" y="183966"/>
                  </a:cubicBezTo>
                  <a:lnTo>
                    <a:pt x="12838" y="183966"/>
                  </a:lnTo>
                  <a:cubicBezTo>
                    <a:pt x="9433" y="183966"/>
                    <a:pt x="6168" y="182614"/>
                    <a:pt x="3760" y="180206"/>
                  </a:cubicBezTo>
                  <a:cubicBezTo>
                    <a:pt x="1353" y="177798"/>
                    <a:pt x="0" y="174533"/>
                    <a:pt x="0" y="171128"/>
                  </a:cubicBezTo>
                  <a:lnTo>
                    <a:pt x="0" y="12838"/>
                  </a:lnTo>
                  <a:cubicBezTo>
                    <a:pt x="0" y="9433"/>
                    <a:pt x="1353" y="6168"/>
                    <a:pt x="3760" y="3760"/>
                  </a:cubicBezTo>
                  <a:cubicBezTo>
                    <a:pt x="6168" y="1353"/>
                    <a:pt x="9433" y="0"/>
                    <a:pt x="128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38100"/>
              <a:ext cx="3303476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Subsistema de Dispensação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é acionado.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12207" y="7986171"/>
            <a:ext cx="12663587" cy="705218"/>
            <a:chOff x="0" y="0"/>
            <a:chExt cx="3303476" cy="1839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03476" cy="183966"/>
            </a:xfrm>
            <a:custGeom>
              <a:avLst/>
              <a:gdLst/>
              <a:ahLst/>
              <a:cxnLst/>
              <a:rect r="r" b="b" t="t" l="l"/>
              <a:pathLst>
                <a:path h="183966" w="3303476">
                  <a:moveTo>
                    <a:pt x="12838" y="0"/>
                  </a:moveTo>
                  <a:lnTo>
                    <a:pt x="3290638" y="0"/>
                  </a:lnTo>
                  <a:cubicBezTo>
                    <a:pt x="3294043" y="0"/>
                    <a:pt x="3297308" y="1353"/>
                    <a:pt x="3299716" y="3760"/>
                  </a:cubicBezTo>
                  <a:cubicBezTo>
                    <a:pt x="3302124" y="6168"/>
                    <a:pt x="3303476" y="9433"/>
                    <a:pt x="3303476" y="12838"/>
                  </a:cubicBezTo>
                  <a:lnTo>
                    <a:pt x="3303476" y="171128"/>
                  </a:lnTo>
                  <a:cubicBezTo>
                    <a:pt x="3303476" y="174533"/>
                    <a:pt x="3302124" y="177798"/>
                    <a:pt x="3299716" y="180206"/>
                  </a:cubicBezTo>
                  <a:cubicBezTo>
                    <a:pt x="3297308" y="182614"/>
                    <a:pt x="3294043" y="183966"/>
                    <a:pt x="3290638" y="183966"/>
                  </a:cubicBezTo>
                  <a:lnTo>
                    <a:pt x="12838" y="183966"/>
                  </a:lnTo>
                  <a:cubicBezTo>
                    <a:pt x="9433" y="183966"/>
                    <a:pt x="6168" y="182614"/>
                    <a:pt x="3760" y="180206"/>
                  </a:cubicBezTo>
                  <a:cubicBezTo>
                    <a:pt x="1353" y="177798"/>
                    <a:pt x="0" y="174533"/>
                    <a:pt x="0" y="171128"/>
                  </a:cubicBezTo>
                  <a:lnTo>
                    <a:pt x="0" y="12838"/>
                  </a:lnTo>
                  <a:cubicBezTo>
                    <a:pt x="0" y="9433"/>
                    <a:pt x="1353" y="6168"/>
                    <a:pt x="3760" y="3760"/>
                  </a:cubicBezTo>
                  <a:cubicBezTo>
                    <a:pt x="6168" y="1353"/>
                    <a:pt x="9433" y="0"/>
                    <a:pt x="128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38100"/>
              <a:ext cx="3303476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Subsistema de Gerenciamento de Estoque 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atualiza o inventário.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9144000" y="3780345"/>
            <a:ext cx="112294" cy="419086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H="true">
            <a:off x="9093553" y="4765616"/>
            <a:ext cx="50447" cy="329046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 flipH="true">
            <a:off x="9144000" y="5683358"/>
            <a:ext cx="39850" cy="339927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 flipH="true">
            <a:off x="9144000" y="6651289"/>
            <a:ext cx="62360" cy="353438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 flipH="true">
            <a:off x="9144000" y="7574943"/>
            <a:ext cx="110188" cy="411228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89866"/>
            <a:ext cx="16230600" cy="6645580"/>
            <a:chOff x="0" y="0"/>
            <a:chExt cx="4274726" cy="1750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50276"/>
            </a:xfrm>
            <a:custGeom>
              <a:avLst/>
              <a:gdLst/>
              <a:ahLst/>
              <a:cxnLst/>
              <a:rect r="r" b="b" t="t" l="l"/>
              <a:pathLst>
                <a:path h="175027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25949"/>
                  </a:lnTo>
                  <a:cubicBezTo>
                    <a:pt x="4274726" y="1739385"/>
                    <a:pt x="4263834" y="1750276"/>
                    <a:pt x="4250399" y="1750276"/>
                  </a:cubicBezTo>
                  <a:lnTo>
                    <a:pt x="24327" y="1750276"/>
                  </a:lnTo>
                  <a:cubicBezTo>
                    <a:pt x="10891" y="1750276"/>
                    <a:pt x="0" y="1739385"/>
                    <a:pt x="0" y="172594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74726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20453" y="3219862"/>
            <a:ext cx="14447093" cy="705218"/>
            <a:chOff x="0" y="0"/>
            <a:chExt cx="3768729" cy="183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8730" cy="183966"/>
            </a:xfrm>
            <a:custGeom>
              <a:avLst/>
              <a:gdLst/>
              <a:ahLst/>
              <a:cxnLst/>
              <a:rect r="r" b="b" t="t" l="l"/>
              <a:pathLst>
                <a:path h="183966" w="3768730">
                  <a:moveTo>
                    <a:pt x="11253" y="0"/>
                  </a:moveTo>
                  <a:lnTo>
                    <a:pt x="3757476" y="0"/>
                  </a:lnTo>
                  <a:cubicBezTo>
                    <a:pt x="3763691" y="0"/>
                    <a:pt x="3768730" y="5038"/>
                    <a:pt x="3768730" y="11253"/>
                  </a:cubicBezTo>
                  <a:lnTo>
                    <a:pt x="3768730" y="172713"/>
                  </a:lnTo>
                  <a:cubicBezTo>
                    <a:pt x="3768730" y="175697"/>
                    <a:pt x="3767544" y="178560"/>
                    <a:pt x="3765434" y="180670"/>
                  </a:cubicBezTo>
                  <a:cubicBezTo>
                    <a:pt x="3763323" y="182781"/>
                    <a:pt x="3760461" y="183966"/>
                    <a:pt x="3757476" y="183966"/>
                  </a:cubicBezTo>
                  <a:lnTo>
                    <a:pt x="11253" y="183966"/>
                  </a:lnTo>
                  <a:cubicBezTo>
                    <a:pt x="5038" y="183966"/>
                    <a:pt x="0" y="178928"/>
                    <a:pt x="0" y="172713"/>
                  </a:cubicBezTo>
                  <a:lnTo>
                    <a:pt x="0" y="11253"/>
                  </a:lnTo>
                  <a:cubicBezTo>
                    <a:pt x="0" y="5038"/>
                    <a:pt x="5038" y="0"/>
                    <a:pt x="11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3768729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Usuário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paga, e o Subsistema de Dispensação é acionado.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0453E0">
                    <a:alpha val="0"/>
                  </a:srgbClr>
                </a:gs>
                <a:gs pos="100000">
                  <a:srgbClr val="0453E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766" y="436609"/>
            <a:ext cx="10853707" cy="1184182"/>
            <a:chOff x="0" y="0"/>
            <a:chExt cx="14471609" cy="15789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471609" cy="1578909"/>
              <a:chOff x="0" y="0"/>
              <a:chExt cx="2831344" cy="3089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31344" cy="308911"/>
              </a:xfrm>
              <a:custGeom>
                <a:avLst/>
                <a:gdLst/>
                <a:ahLst/>
                <a:cxnLst/>
                <a:rect r="r" b="b" t="t" l="l"/>
                <a:pathLst>
                  <a:path h="308911" w="2831344">
                    <a:moveTo>
                      <a:pt x="15693" y="0"/>
                    </a:moveTo>
                    <a:lnTo>
                      <a:pt x="2815651" y="0"/>
                    </a:lnTo>
                    <a:cubicBezTo>
                      <a:pt x="2819813" y="0"/>
                      <a:pt x="2823805" y="1653"/>
                      <a:pt x="2826747" y="4596"/>
                    </a:cubicBezTo>
                    <a:cubicBezTo>
                      <a:pt x="2829690" y="7539"/>
                      <a:pt x="2831344" y="11531"/>
                      <a:pt x="2831344" y="15693"/>
                    </a:cubicBezTo>
                    <a:lnTo>
                      <a:pt x="2831344" y="293218"/>
                    </a:lnTo>
                    <a:cubicBezTo>
                      <a:pt x="2831344" y="297380"/>
                      <a:pt x="2829690" y="301371"/>
                      <a:pt x="2826747" y="304314"/>
                    </a:cubicBezTo>
                    <a:cubicBezTo>
                      <a:pt x="2823805" y="307257"/>
                      <a:pt x="2819813" y="308911"/>
                      <a:pt x="2815651" y="308911"/>
                    </a:cubicBezTo>
                    <a:lnTo>
                      <a:pt x="15693" y="308911"/>
                    </a:lnTo>
                    <a:cubicBezTo>
                      <a:pt x="11531" y="308911"/>
                      <a:pt x="7539" y="307257"/>
                      <a:pt x="4596" y="304314"/>
                    </a:cubicBezTo>
                    <a:cubicBezTo>
                      <a:pt x="1653" y="301371"/>
                      <a:pt x="0" y="297380"/>
                      <a:pt x="0" y="293218"/>
                    </a:cubicBezTo>
                    <a:lnTo>
                      <a:pt x="0" y="15693"/>
                    </a:lnTo>
                    <a:cubicBezTo>
                      <a:pt x="0" y="11531"/>
                      <a:pt x="1653" y="7539"/>
                      <a:pt x="4596" y="4596"/>
                    </a:cubicBezTo>
                    <a:cubicBezTo>
                      <a:pt x="7539" y="1653"/>
                      <a:pt x="11531" y="0"/>
                      <a:pt x="15693" y="0"/>
                    </a:cubicBezTo>
                    <a:close/>
                  </a:path>
                </a:pathLst>
              </a:custGeom>
              <a:solidFill>
                <a:srgbClr val="02309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2831344" cy="289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56810" y="311631"/>
              <a:ext cx="13724710" cy="860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0"/>
                </a:lnSpc>
                <a:spcBef>
                  <a:spcPct val="0"/>
                </a:spcBef>
              </a:pPr>
              <a:r>
                <a:rPr lang="en-US" b="true" sz="3778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Cenários de Interação e Fluxo de Informação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21995" y="1821846"/>
            <a:ext cx="51054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Cenário de Falha (Produto Travado):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20453" y="4205133"/>
            <a:ext cx="14447093" cy="705218"/>
            <a:chOff x="0" y="0"/>
            <a:chExt cx="3768729" cy="183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68730" cy="183966"/>
            </a:xfrm>
            <a:custGeom>
              <a:avLst/>
              <a:gdLst/>
              <a:ahLst/>
              <a:cxnLst/>
              <a:rect r="r" b="b" t="t" l="l"/>
              <a:pathLst>
                <a:path h="183966" w="3768730">
                  <a:moveTo>
                    <a:pt x="11253" y="0"/>
                  </a:moveTo>
                  <a:lnTo>
                    <a:pt x="3757476" y="0"/>
                  </a:lnTo>
                  <a:cubicBezTo>
                    <a:pt x="3763691" y="0"/>
                    <a:pt x="3768730" y="5038"/>
                    <a:pt x="3768730" y="11253"/>
                  </a:cubicBezTo>
                  <a:lnTo>
                    <a:pt x="3768730" y="172713"/>
                  </a:lnTo>
                  <a:cubicBezTo>
                    <a:pt x="3768730" y="175697"/>
                    <a:pt x="3767544" y="178560"/>
                    <a:pt x="3765434" y="180670"/>
                  </a:cubicBezTo>
                  <a:cubicBezTo>
                    <a:pt x="3763323" y="182781"/>
                    <a:pt x="3760461" y="183966"/>
                    <a:pt x="3757476" y="183966"/>
                  </a:cubicBezTo>
                  <a:lnTo>
                    <a:pt x="11253" y="183966"/>
                  </a:lnTo>
                  <a:cubicBezTo>
                    <a:pt x="5038" y="183966"/>
                    <a:pt x="0" y="178928"/>
                    <a:pt x="0" y="172713"/>
                  </a:cubicBezTo>
                  <a:lnTo>
                    <a:pt x="0" y="11253"/>
                  </a:lnTo>
                  <a:cubicBezTo>
                    <a:pt x="0" y="5038"/>
                    <a:pt x="5038" y="0"/>
                    <a:pt x="11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38100"/>
              <a:ext cx="3768729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Sensor de queda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não detecta o produto na bandeja.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0453" y="5186577"/>
            <a:ext cx="14447093" cy="705218"/>
            <a:chOff x="0" y="0"/>
            <a:chExt cx="3768729" cy="1839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68730" cy="183966"/>
            </a:xfrm>
            <a:custGeom>
              <a:avLst/>
              <a:gdLst/>
              <a:ahLst/>
              <a:cxnLst/>
              <a:rect r="r" b="b" t="t" l="l"/>
              <a:pathLst>
                <a:path h="183966" w="3768730">
                  <a:moveTo>
                    <a:pt x="11253" y="0"/>
                  </a:moveTo>
                  <a:lnTo>
                    <a:pt x="3757476" y="0"/>
                  </a:lnTo>
                  <a:cubicBezTo>
                    <a:pt x="3763691" y="0"/>
                    <a:pt x="3768730" y="5038"/>
                    <a:pt x="3768730" y="11253"/>
                  </a:cubicBezTo>
                  <a:lnTo>
                    <a:pt x="3768730" y="172713"/>
                  </a:lnTo>
                  <a:cubicBezTo>
                    <a:pt x="3768730" y="175697"/>
                    <a:pt x="3767544" y="178560"/>
                    <a:pt x="3765434" y="180670"/>
                  </a:cubicBezTo>
                  <a:cubicBezTo>
                    <a:pt x="3763323" y="182781"/>
                    <a:pt x="3760461" y="183966"/>
                    <a:pt x="3757476" y="183966"/>
                  </a:cubicBezTo>
                  <a:lnTo>
                    <a:pt x="11253" y="183966"/>
                  </a:lnTo>
                  <a:cubicBezTo>
                    <a:pt x="5038" y="183966"/>
                    <a:pt x="0" y="178928"/>
                    <a:pt x="0" y="172713"/>
                  </a:cubicBezTo>
                  <a:lnTo>
                    <a:pt x="0" y="11253"/>
                  </a:lnTo>
                  <a:cubicBezTo>
                    <a:pt x="0" y="5038"/>
                    <a:pt x="5038" y="0"/>
                    <a:pt x="11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38100"/>
              <a:ext cx="3768729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Subsistema de Diagnóstico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identifica o problema.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453" y="6177437"/>
            <a:ext cx="14447093" cy="705218"/>
            <a:chOff x="0" y="0"/>
            <a:chExt cx="3768729" cy="183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68730" cy="183966"/>
            </a:xfrm>
            <a:custGeom>
              <a:avLst/>
              <a:gdLst/>
              <a:ahLst/>
              <a:cxnLst/>
              <a:rect r="r" b="b" t="t" l="l"/>
              <a:pathLst>
                <a:path h="183966" w="3768730">
                  <a:moveTo>
                    <a:pt x="11253" y="0"/>
                  </a:moveTo>
                  <a:lnTo>
                    <a:pt x="3757476" y="0"/>
                  </a:lnTo>
                  <a:cubicBezTo>
                    <a:pt x="3763691" y="0"/>
                    <a:pt x="3768730" y="5038"/>
                    <a:pt x="3768730" y="11253"/>
                  </a:cubicBezTo>
                  <a:lnTo>
                    <a:pt x="3768730" y="172713"/>
                  </a:lnTo>
                  <a:cubicBezTo>
                    <a:pt x="3768730" y="175697"/>
                    <a:pt x="3767544" y="178560"/>
                    <a:pt x="3765434" y="180670"/>
                  </a:cubicBezTo>
                  <a:cubicBezTo>
                    <a:pt x="3763323" y="182781"/>
                    <a:pt x="3760461" y="183966"/>
                    <a:pt x="3757476" y="183966"/>
                  </a:cubicBezTo>
                  <a:lnTo>
                    <a:pt x="11253" y="183966"/>
                  </a:lnTo>
                  <a:cubicBezTo>
                    <a:pt x="5038" y="183966"/>
                    <a:pt x="0" y="178928"/>
                    <a:pt x="0" y="172713"/>
                  </a:cubicBezTo>
                  <a:lnTo>
                    <a:pt x="0" y="11253"/>
                  </a:lnTo>
                  <a:cubicBezTo>
                    <a:pt x="0" y="5038"/>
                    <a:pt x="5038" y="0"/>
                    <a:pt x="11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3768729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A </a:t>
              </a: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máquina 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notifica o </a:t>
              </a: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Usuário 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sobre a falha (ex: "Produto indisponível") e solicita a devolução do dinheiro.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453" y="7149463"/>
            <a:ext cx="14447093" cy="705218"/>
            <a:chOff x="0" y="0"/>
            <a:chExt cx="3768729" cy="183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68730" cy="183966"/>
            </a:xfrm>
            <a:custGeom>
              <a:avLst/>
              <a:gdLst/>
              <a:ahLst/>
              <a:cxnLst/>
              <a:rect r="r" b="b" t="t" l="l"/>
              <a:pathLst>
                <a:path h="183966" w="3768730">
                  <a:moveTo>
                    <a:pt x="11253" y="0"/>
                  </a:moveTo>
                  <a:lnTo>
                    <a:pt x="3757476" y="0"/>
                  </a:lnTo>
                  <a:cubicBezTo>
                    <a:pt x="3763691" y="0"/>
                    <a:pt x="3768730" y="5038"/>
                    <a:pt x="3768730" y="11253"/>
                  </a:cubicBezTo>
                  <a:lnTo>
                    <a:pt x="3768730" y="172713"/>
                  </a:lnTo>
                  <a:cubicBezTo>
                    <a:pt x="3768730" y="175697"/>
                    <a:pt x="3767544" y="178560"/>
                    <a:pt x="3765434" y="180670"/>
                  </a:cubicBezTo>
                  <a:cubicBezTo>
                    <a:pt x="3763323" y="182781"/>
                    <a:pt x="3760461" y="183966"/>
                    <a:pt x="3757476" y="183966"/>
                  </a:cubicBezTo>
                  <a:lnTo>
                    <a:pt x="11253" y="183966"/>
                  </a:lnTo>
                  <a:cubicBezTo>
                    <a:pt x="5038" y="183966"/>
                    <a:pt x="0" y="178928"/>
                    <a:pt x="0" y="172713"/>
                  </a:cubicBezTo>
                  <a:lnTo>
                    <a:pt x="0" y="11253"/>
                  </a:lnTo>
                  <a:cubicBezTo>
                    <a:pt x="0" y="5038"/>
                    <a:pt x="5038" y="0"/>
                    <a:pt x="11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38100"/>
              <a:ext cx="3768729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O Subsistema de Pagamento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devolve o valor.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20453" y="8140323"/>
            <a:ext cx="14447093" cy="705218"/>
            <a:chOff x="0" y="0"/>
            <a:chExt cx="3768729" cy="1839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68730" cy="183966"/>
            </a:xfrm>
            <a:custGeom>
              <a:avLst/>
              <a:gdLst/>
              <a:ahLst/>
              <a:cxnLst/>
              <a:rect r="r" b="b" t="t" l="l"/>
              <a:pathLst>
                <a:path h="183966" w="3768730">
                  <a:moveTo>
                    <a:pt x="11253" y="0"/>
                  </a:moveTo>
                  <a:lnTo>
                    <a:pt x="3757476" y="0"/>
                  </a:lnTo>
                  <a:cubicBezTo>
                    <a:pt x="3763691" y="0"/>
                    <a:pt x="3768730" y="5038"/>
                    <a:pt x="3768730" y="11253"/>
                  </a:cubicBezTo>
                  <a:lnTo>
                    <a:pt x="3768730" y="172713"/>
                  </a:lnTo>
                  <a:cubicBezTo>
                    <a:pt x="3768730" y="175697"/>
                    <a:pt x="3767544" y="178560"/>
                    <a:pt x="3765434" y="180670"/>
                  </a:cubicBezTo>
                  <a:cubicBezTo>
                    <a:pt x="3763323" y="182781"/>
                    <a:pt x="3760461" y="183966"/>
                    <a:pt x="3757476" y="183966"/>
                  </a:cubicBezTo>
                  <a:lnTo>
                    <a:pt x="11253" y="183966"/>
                  </a:lnTo>
                  <a:cubicBezTo>
                    <a:pt x="5038" y="183966"/>
                    <a:pt x="0" y="178928"/>
                    <a:pt x="0" y="172713"/>
                  </a:cubicBezTo>
                  <a:lnTo>
                    <a:pt x="0" y="11253"/>
                  </a:lnTo>
                  <a:cubicBezTo>
                    <a:pt x="0" y="5038"/>
                    <a:pt x="5038" y="0"/>
                    <a:pt x="112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38100"/>
              <a:ext cx="3768729" cy="145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O Subsistema de Comunicação</a:t>
              </a:r>
              <a:r>
                <a:rPr lang="en-US" sz="21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 envia um alerta de erro para o </a:t>
              </a:r>
              <a:r>
                <a:rPr lang="en-US" sz="2199" u="sng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Operador ou a Equipe de Manutenção.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9144000" y="3925080"/>
            <a:ext cx="0" cy="280053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 flipH="true">
            <a:off x="9144000" y="4910352"/>
            <a:ext cx="0" cy="276225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9144000" y="5891795"/>
            <a:ext cx="0" cy="285642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9144000" y="6882655"/>
            <a:ext cx="0" cy="266808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9144000" y="7854681"/>
            <a:ext cx="0" cy="285642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89866"/>
            <a:ext cx="16230600" cy="6645580"/>
            <a:chOff x="0" y="0"/>
            <a:chExt cx="4274726" cy="1750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750276"/>
            </a:xfrm>
            <a:custGeom>
              <a:avLst/>
              <a:gdLst/>
              <a:ahLst/>
              <a:cxnLst/>
              <a:rect r="r" b="b" t="t" l="l"/>
              <a:pathLst>
                <a:path h="175027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725949"/>
                  </a:lnTo>
                  <a:cubicBezTo>
                    <a:pt x="4274726" y="1739385"/>
                    <a:pt x="4263834" y="1750276"/>
                    <a:pt x="4250399" y="1750276"/>
                  </a:cubicBezTo>
                  <a:lnTo>
                    <a:pt x="24327" y="1750276"/>
                  </a:lnTo>
                  <a:cubicBezTo>
                    <a:pt x="10891" y="1750276"/>
                    <a:pt x="0" y="1739385"/>
                    <a:pt x="0" y="172594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74726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15827" y="3357843"/>
            <a:ext cx="9856347" cy="2120234"/>
            <a:chOff x="0" y="0"/>
            <a:chExt cx="2571168" cy="5530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1168" cy="553093"/>
            </a:xfrm>
            <a:custGeom>
              <a:avLst/>
              <a:gdLst/>
              <a:ahLst/>
              <a:cxnLst/>
              <a:rect r="r" b="b" t="t" l="l"/>
              <a:pathLst>
                <a:path h="553093" w="2571168">
                  <a:moveTo>
                    <a:pt x="16495" y="0"/>
                  </a:moveTo>
                  <a:lnTo>
                    <a:pt x="2554673" y="0"/>
                  </a:lnTo>
                  <a:cubicBezTo>
                    <a:pt x="2559048" y="0"/>
                    <a:pt x="2563243" y="1738"/>
                    <a:pt x="2566337" y="4831"/>
                  </a:cubicBezTo>
                  <a:cubicBezTo>
                    <a:pt x="2569430" y="7925"/>
                    <a:pt x="2571168" y="12120"/>
                    <a:pt x="2571168" y="16495"/>
                  </a:cubicBezTo>
                  <a:lnTo>
                    <a:pt x="2571168" y="536598"/>
                  </a:lnTo>
                  <a:cubicBezTo>
                    <a:pt x="2571168" y="545708"/>
                    <a:pt x="2563783" y="553093"/>
                    <a:pt x="2554673" y="553093"/>
                  </a:cubicBezTo>
                  <a:lnTo>
                    <a:pt x="16495" y="553093"/>
                  </a:lnTo>
                  <a:cubicBezTo>
                    <a:pt x="7385" y="553093"/>
                    <a:pt x="0" y="545708"/>
                    <a:pt x="0" y="536598"/>
                  </a:cubicBezTo>
                  <a:lnTo>
                    <a:pt x="0" y="16495"/>
                  </a:lnTo>
                  <a:cubicBezTo>
                    <a:pt x="0" y="7385"/>
                    <a:pt x="7385" y="0"/>
                    <a:pt x="16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2571168" cy="48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7"/>
                </a:lnSpc>
              </a:pPr>
              <a:r>
                <a:rPr lang="en-US" sz="30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O Subsistema de Gerenciamento de Estoque e o Subsistema de Comunicação notificam o operador sobre a baixa de itens.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0453E0">
                    <a:alpha val="0"/>
                  </a:srgbClr>
                </a:gs>
                <a:gs pos="100000">
                  <a:srgbClr val="0453E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766" y="436609"/>
            <a:ext cx="10853707" cy="1184182"/>
            <a:chOff x="0" y="0"/>
            <a:chExt cx="14471609" cy="157890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4471609" cy="1578909"/>
              <a:chOff x="0" y="0"/>
              <a:chExt cx="2831344" cy="3089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31344" cy="308911"/>
              </a:xfrm>
              <a:custGeom>
                <a:avLst/>
                <a:gdLst/>
                <a:ahLst/>
                <a:cxnLst/>
                <a:rect r="r" b="b" t="t" l="l"/>
                <a:pathLst>
                  <a:path h="308911" w="2831344">
                    <a:moveTo>
                      <a:pt x="15693" y="0"/>
                    </a:moveTo>
                    <a:lnTo>
                      <a:pt x="2815651" y="0"/>
                    </a:lnTo>
                    <a:cubicBezTo>
                      <a:pt x="2819813" y="0"/>
                      <a:pt x="2823805" y="1653"/>
                      <a:pt x="2826747" y="4596"/>
                    </a:cubicBezTo>
                    <a:cubicBezTo>
                      <a:pt x="2829690" y="7539"/>
                      <a:pt x="2831344" y="11531"/>
                      <a:pt x="2831344" y="15693"/>
                    </a:cubicBezTo>
                    <a:lnTo>
                      <a:pt x="2831344" y="293218"/>
                    </a:lnTo>
                    <a:cubicBezTo>
                      <a:pt x="2831344" y="297380"/>
                      <a:pt x="2829690" y="301371"/>
                      <a:pt x="2826747" y="304314"/>
                    </a:cubicBezTo>
                    <a:cubicBezTo>
                      <a:pt x="2823805" y="307257"/>
                      <a:pt x="2819813" y="308911"/>
                      <a:pt x="2815651" y="308911"/>
                    </a:cubicBezTo>
                    <a:lnTo>
                      <a:pt x="15693" y="308911"/>
                    </a:lnTo>
                    <a:cubicBezTo>
                      <a:pt x="11531" y="308911"/>
                      <a:pt x="7539" y="307257"/>
                      <a:pt x="4596" y="304314"/>
                    </a:cubicBezTo>
                    <a:cubicBezTo>
                      <a:pt x="1653" y="301371"/>
                      <a:pt x="0" y="297380"/>
                      <a:pt x="0" y="293218"/>
                    </a:cubicBezTo>
                    <a:lnTo>
                      <a:pt x="0" y="15693"/>
                    </a:lnTo>
                    <a:cubicBezTo>
                      <a:pt x="0" y="11531"/>
                      <a:pt x="1653" y="7539"/>
                      <a:pt x="4596" y="4596"/>
                    </a:cubicBezTo>
                    <a:cubicBezTo>
                      <a:pt x="7539" y="1653"/>
                      <a:pt x="11531" y="0"/>
                      <a:pt x="15693" y="0"/>
                    </a:cubicBezTo>
                    <a:close/>
                  </a:path>
                </a:pathLst>
              </a:custGeom>
              <a:solidFill>
                <a:srgbClr val="02309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2831344" cy="289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56810" y="311631"/>
              <a:ext cx="13724710" cy="860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0"/>
                </a:lnSpc>
                <a:spcBef>
                  <a:spcPct val="0"/>
                </a:spcBef>
              </a:pPr>
              <a:r>
                <a:rPr lang="en-US" b="true" sz="3778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Cenários de Interação e Fluxo de Informação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1801328"/>
            <a:ext cx="463877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Flux</a:t>
            </a:r>
            <a:r>
              <a:rPr lang="en-US" sz="2499" u="sng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o de Reposição (Operador):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144000" y="5478078"/>
            <a:ext cx="0" cy="669155"/>
          </a:xfrm>
          <a:prstGeom prst="line">
            <a:avLst/>
          </a:prstGeom>
          <a:ln cap="flat" w="38100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4215827" y="6147233"/>
            <a:ext cx="9856347" cy="2120234"/>
            <a:chOff x="0" y="0"/>
            <a:chExt cx="2571168" cy="5530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71168" cy="553093"/>
            </a:xfrm>
            <a:custGeom>
              <a:avLst/>
              <a:gdLst/>
              <a:ahLst/>
              <a:cxnLst/>
              <a:rect r="r" b="b" t="t" l="l"/>
              <a:pathLst>
                <a:path h="553093" w="2571168">
                  <a:moveTo>
                    <a:pt x="16495" y="0"/>
                  </a:moveTo>
                  <a:lnTo>
                    <a:pt x="2554673" y="0"/>
                  </a:lnTo>
                  <a:cubicBezTo>
                    <a:pt x="2559048" y="0"/>
                    <a:pt x="2563243" y="1738"/>
                    <a:pt x="2566337" y="4831"/>
                  </a:cubicBezTo>
                  <a:cubicBezTo>
                    <a:pt x="2569430" y="7925"/>
                    <a:pt x="2571168" y="12120"/>
                    <a:pt x="2571168" y="16495"/>
                  </a:cubicBezTo>
                  <a:lnTo>
                    <a:pt x="2571168" y="536598"/>
                  </a:lnTo>
                  <a:cubicBezTo>
                    <a:pt x="2571168" y="545708"/>
                    <a:pt x="2563783" y="553093"/>
                    <a:pt x="2554673" y="553093"/>
                  </a:cubicBezTo>
                  <a:lnTo>
                    <a:pt x="16495" y="553093"/>
                  </a:lnTo>
                  <a:cubicBezTo>
                    <a:pt x="7385" y="553093"/>
                    <a:pt x="0" y="545708"/>
                    <a:pt x="0" y="536598"/>
                  </a:cubicBezTo>
                  <a:lnTo>
                    <a:pt x="0" y="16495"/>
                  </a:lnTo>
                  <a:cubicBezTo>
                    <a:pt x="0" y="7385"/>
                    <a:pt x="7385" y="0"/>
                    <a:pt x="16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66675"/>
              <a:ext cx="2571168" cy="48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7"/>
                </a:lnSpc>
              </a:pPr>
              <a:r>
                <a:rPr lang="en-US" sz="3099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rPr>
                <a:t>O Operador vai até a máquina, abre-a (acionando o Subsistema de Segurança), e reabastece os produtos.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874361"/>
          </a:xfrm>
          <a:custGeom>
            <a:avLst/>
            <a:gdLst/>
            <a:ahLst/>
            <a:cxnLst/>
            <a:rect r="r" b="b" t="t" l="l"/>
            <a:pathLst>
              <a:path h="1874361" w="18288000">
                <a:moveTo>
                  <a:pt x="0" y="0"/>
                </a:moveTo>
                <a:lnTo>
                  <a:pt x="18288000" y="0"/>
                </a:lnTo>
                <a:lnTo>
                  <a:pt x="18288000" y="1874361"/>
                </a:lnTo>
                <a:lnTo>
                  <a:pt x="0" y="187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5230" r="0" b="-27523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7898" y="2790089"/>
            <a:ext cx="8038309" cy="3446261"/>
            <a:chOff x="0" y="0"/>
            <a:chExt cx="2117085" cy="907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7085" cy="907657"/>
            </a:xfrm>
            <a:custGeom>
              <a:avLst/>
              <a:gdLst/>
              <a:ahLst/>
              <a:cxnLst/>
              <a:rect r="r" b="b" t="t" l="l"/>
              <a:pathLst>
                <a:path h="907657" w="2117085">
                  <a:moveTo>
                    <a:pt x="34673" y="0"/>
                  </a:moveTo>
                  <a:lnTo>
                    <a:pt x="2082413" y="0"/>
                  </a:lnTo>
                  <a:cubicBezTo>
                    <a:pt x="2091608" y="0"/>
                    <a:pt x="2100428" y="3653"/>
                    <a:pt x="2106930" y="10155"/>
                  </a:cubicBezTo>
                  <a:cubicBezTo>
                    <a:pt x="2113432" y="16658"/>
                    <a:pt x="2117085" y="25477"/>
                    <a:pt x="2117085" y="34673"/>
                  </a:cubicBezTo>
                  <a:lnTo>
                    <a:pt x="2117085" y="872985"/>
                  </a:lnTo>
                  <a:cubicBezTo>
                    <a:pt x="2117085" y="882180"/>
                    <a:pt x="2113432" y="890999"/>
                    <a:pt x="2106930" y="897502"/>
                  </a:cubicBezTo>
                  <a:cubicBezTo>
                    <a:pt x="2100428" y="904004"/>
                    <a:pt x="2091608" y="907657"/>
                    <a:pt x="2082413" y="907657"/>
                  </a:cubicBezTo>
                  <a:lnTo>
                    <a:pt x="34673" y="907657"/>
                  </a:lnTo>
                  <a:cubicBezTo>
                    <a:pt x="25477" y="907657"/>
                    <a:pt x="16658" y="904004"/>
                    <a:pt x="10155" y="897502"/>
                  </a:cubicBezTo>
                  <a:cubicBezTo>
                    <a:pt x="3653" y="890999"/>
                    <a:pt x="0" y="882180"/>
                    <a:pt x="0" y="872985"/>
                  </a:cubicBezTo>
                  <a:lnTo>
                    <a:pt x="0" y="34673"/>
                  </a:lnTo>
                  <a:cubicBezTo>
                    <a:pt x="0" y="25477"/>
                    <a:pt x="3653" y="16658"/>
                    <a:pt x="10155" y="10155"/>
                  </a:cubicBezTo>
                  <a:cubicBezTo>
                    <a:pt x="16658" y="3653"/>
                    <a:pt x="25477" y="0"/>
                    <a:pt x="3467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453E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2117085" cy="869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77628" y="2927566"/>
            <a:ext cx="7702950" cy="313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 Aquisição da Máquina: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Decisão Inicial: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Comprar ou alugar o equipamento.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Exemplo de Custo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(Nova): Uma máquina de vendas moderna e completa (com telemetria, aceitação de cartões, etc.) pode custar entre R$ 8.000 a R$ 25.000. Modelos usados ou mais básicos são mais acessíveis. -&gt; Subsistema de Pagamento (Hardware), Subsistema de Comunicação (Hardware)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30" y="381317"/>
            <a:ext cx="17401234" cy="113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 Mod</a:t>
            </a:r>
            <a:r>
              <a:rPr lang="en-US" b="true" sz="6399" strike="noStrike" u="non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elo de Negócio da Máquina de Vendas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58856" y="2790089"/>
            <a:ext cx="8038309" cy="5967385"/>
            <a:chOff x="0" y="0"/>
            <a:chExt cx="2117085" cy="15716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7085" cy="1571657"/>
            </a:xfrm>
            <a:custGeom>
              <a:avLst/>
              <a:gdLst/>
              <a:ahLst/>
              <a:cxnLst/>
              <a:rect r="r" b="b" t="t" l="l"/>
              <a:pathLst>
                <a:path h="1571657" w="2117085">
                  <a:moveTo>
                    <a:pt x="34673" y="0"/>
                  </a:moveTo>
                  <a:lnTo>
                    <a:pt x="2082413" y="0"/>
                  </a:lnTo>
                  <a:cubicBezTo>
                    <a:pt x="2091608" y="0"/>
                    <a:pt x="2100428" y="3653"/>
                    <a:pt x="2106930" y="10155"/>
                  </a:cubicBezTo>
                  <a:cubicBezTo>
                    <a:pt x="2113432" y="16658"/>
                    <a:pt x="2117085" y="25477"/>
                    <a:pt x="2117085" y="34673"/>
                  </a:cubicBezTo>
                  <a:lnTo>
                    <a:pt x="2117085" y="1536984"/>
                  </a:lnTo>
                  <a:cubicBezTo>
                    <a:pt x="2117085" y="1546180"/>
                    <a:pt x="2113432" y="1554999"/>
                    <a:pt x="2106930" y="1561502"/>
                  </a:cubicBezTo>
                  <a:cubicBezTo>
                    <a:pt x="2100428" y="1568004"/>
                    <a:pt x="2091608" y="1571657"/>
                    <a:pt x="2082413" y="1571657"/>
                  </a:cubicBezTo>
                  <a:lnTo>
                    <a:pt x="34673" y="1571657"/>
                  </a:lnTo>
                  <a:cubicBezTo>
                    <a:pt x="25477" y="1571657"/>
                    <a:pt x="16658" y="1568004"/>
                    <a:pt x="10155" y="1561502"/>
                  </a:cubicBezTo>
                  <a:cubicBezTo>
                    <a:pt x="3653" y="1554999"/>
                    <a:pt x="0" y="1546180"/>
                    <a:pt x="0" y="1536984"/>
                  </a:cubicBezTo>
                  <a:lnTo>
                    <a:pt x="0" y="34673"/>
                  </a:lnTo>
                  <a:cubicBezTo>
                    <a:pt x="0" y="25477"/>
                    <a:pt x="3653" y="16658"/>
                    <a:pt x="10155" y="10155"/>
                  </a:cubicBezTo>
                  <a:cubicBezTo>
                    <a:pt x="16658" y="3653"/>
                    <a:pt x="25477" y="0"/>
                    <a:pt x="3467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453E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2117085" cy="1533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842369" y="3174633"/>
            <a:ext cx="7471282" cy="508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2. Reposição de Produtos (Estoque):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Frequência: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Diária, semanal ou quinzenal, dependendo do volume de vendas e da capacidade da máquina.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Responsabilidade: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Manual (Empreendedor Individual): O próprio proprietário da máquina compra os produtos no atacado e faz a reposição. -&gt; Dependência do Operador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Empresa Especializada: Contratar uma empresa de logística e reposição que se encarrega de todo o processo, desde a compra até o reabastecimento físico e, em alguns casos, a manutenção primária. -&gt; Integração com Subsistema de Gerenciamento de Estoque, Subsistema de Comunicação (para alertas)</a:t>
            </a:r>
          </a:p>
        </p:txBody>
      </p:sp>
      <p:sp>
        <p:nvSpPr>
          <p:cNvPr name="AutoShape 15" id="15"/>
          <p:cNvSpPr/>
          <p:nvPr/>
        </p:nvSpPr>
        <p:spPr>
          <a:xfrm>
            <a:off x="4439402" y="6641530"/>
            <a:ext cx="4740845" cy="1270705"/>
          </a:xfrm>
          <a:prstGeom prst="line">
            <a:avLst/>
          </a:prstGeom>
          <a:ln cap="rnd" w="85725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874361"/>
          </a:xfrm>
          <a:custGeom>
            <a:avLst/>
            <a:gdLst/>
            <a:ahLst/>
            <a:cxnLst/>
            <a:rect r="r" b="b" t="t" l="l"/>
            <a:pathLst>
              <a:path h="1874361" w="18288000">
                <a:moveTo>
                  <a:pt x="0" y="0"/>
                </a:moveTo>
                <a:lnTo>
                  <a:pt x="18288000" y="0"/>
                </a:lnTo>
                <a:lnTo>
                  <a:pt x="18288000" y="1874361"/>
                </a:lnTo>
                <a:lnTo>
                  <a:pt x="0" y="187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5230" r="0" b="-27523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9630" y="2282500"/>
            <a:ext cx="8038309" cy="5472164"/>
            <a:chOff x="0" y="0"/>
            <a:chExt cx="2117085" cy="1441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7085" cy="1441228"/>
            </a:xfrm>
            <a:custGeom>
              <a:avLst/>
              <a:gdLst/>
              <a:ahLst/>
              <a:cxnLst/>
              <a:rect r="r" b="b" t="t" l="l"/>
              <a:pathLst>
                <a:path h="1441228" w="2117085">
                  <a:moveTo>
                    <a:pt x="34673" y="0"/>
                  </a:moveTo>
                  <a:lnTo>
                    <a:pt x="2082413" y="0"/>
                  </a:lnTo>
                  <a:cubicBezTo>
                    <a:pt x="2091608" y="0"/>
                    <a:pt x="2100428" y="3653"/>
                    <a:pt x="2106930" y="10155"/>
                  </a:cubicBezTo>
                  <a:cubicBezTo>
                    <a:pt x="2113432" y="16658"/>
                    <a:pt x="2117085" y="25477"/>
                    <a:pt x="2117085" y="34673"/>
                  </a:cubicBezTo>
                  <a:lnTo>
                    <a:pt x="2117085" y="1406556"/>
                  </a:lnTo>
                  <a:cubicBezTo>
                    <a:pt x="2117085" y="1415752"/>
                    <a:pt x="2113432" y="1424571"/>
                    <a:pt x="2106930" y="1431073"/>
                  </a:cubicBezTo>
                  <a:cubicBezTo>
                    <a:pt x="2100428" y="1437575"/>
                    <a:pt x="2091608" y="1441228"/>
                    <a:pt x="2082413" y="1441228"/>
                  </a:cubicBezTo>
                  <a:lnTo>
                    <a:pt x="34673" y="1441228"/>
                  </a:lnTo>
                  <a:cubicBezTo>
                    <a:pt x="25477" y="1441228"/>
                    <a:pt x="16658" y="1437575"/>
                    <a:pt x="10155" y="1431073"/>
                  </a:cubicBezTo>
                  <a:cubicBezTo>
                    <a:pt x="3653" y="1424571"/>
                    <a:pt x="0" y="1415752"/>
                    <a:pt x="0" y="1406556"/>
                  </a:cubicBezTo>
                  <a:lnTo>
                    <a:pt x="0" y="34673"/>
                  </a:lnTo>
                  <a:cubicBezTo>
                    <a:pt x="0" y="25477"/>
                    <a:pt x="3653" y="16658"/>
                    <a:pt x="10155" y="10155"/>
                  </a:cubicBezTo>
                  <a:cubicBezTo>
                    <a:pt x="16658" y="3653"/>
                    <a:pt x="25477" y="0"/>
                    <a:pt x="3467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453E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2117085" cy="1403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99360" y="2419978"/>
            <a:ext cx="7702950" cy="508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3</a:t>
            </a:r>
            <a:r>
              <a:rPr lang="en-US" b="true" sz="21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. Manutenção e Suporte Técnico: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T</a:t>
            </a: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ipo de Manutenção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: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Prevent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i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v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a: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Limpeza, verificação de component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s, atua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l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izações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de so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ftware. -&gt; Subsistema de Diagnóstico e Segurança (Software e Firmware)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Corretiva: Reparo de falhas (produto travado, leitor de cartão com defeito, etc.).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Responsabilidade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: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Própria: Pequenos reparos podem ser feitos pelo operador.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Terceirizada: Contrato com empresas especializadas que oferecem suporte 24/7. -&gt; Alertas do Subsistema de Comunicação, Logs do Subsistema de Diagnóstico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30" y="381317"/>
            <a:ext cx="17401234" cy="113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 Mod</a:t>
            </a:r>
            <a:r>
              <a:rPr lang="en-US" b="true" sz="6399" strike="noStrike" u="non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elo de Negócio da Máquina de Vendas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58856" y="2282500"/>
            <a:ext cx="8038309" cy="3243670"/>
            <a:chOff x="0" y="0"/>
            <a:chExt cx="2117085" cy="854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7085" cy="854300"/>
            </a:xfrm>
            <a:custGeom>
              <a:avLst/>
              <a:gdLst/>
              <a:ahLst/>
              <a:cxnLst/>
              <a:rect r="r" b="b" t="t" l="l"/>
              <a:pathLst>
                <a:path h="854300" w="2117085">
                  <a:moveTo>
                    <a:pt x="34673" y="0"/>
                  </a:moveTo>
                  <a:lnTo>
                    <a:pt x="2082413" y="0"/>
                  </a:lnTo>
                  <a:cubicBezTo>
                    <a:pt x="2091608" y="0"/>
                    <a:pt x="2100428" y="3653"/>
                    <a:pt x="2106930" y="10155"/>
                  </a:cubicBezTo>
                  <a:cubicBezTo>
                    <a:pt x="2113432" y="16658"/>
                    <a:pt x="2117085" y="25477"/>
                    <a:pt x="2117085" y="34673"/>
                  </a:cubicBezTo>
                  <a:lnTo>
                    <a:pt x="2117085" y="819627"/>
                  </a:lnTo>
                  <a:cubicBezTo>
                    <a:pt x="2117085" y="828823"/>
                    <a:pt x="2113432" y="837642"/>
                    <a:pt x="2106930" y="844145"/>
                  </a:cubicBezTo>
                  <a:cubicBezTo>
                    <a:pt x="2100428" y="850647"/>
                    <a:pt x="2091608" y="854300"/>
                    <a:pt x="2082413" y="854300"/>
                  </a:cubicBezTo>
                  <a:lnTo>
                    <a:pt x="34673" y="854300"/>
                  </a:lnTo>
                  <a:cubicBezTo>
                    <a:pt x="25477" y="854300"/>
                    <a:pt x="16658" y="850647"/>
                    <a:pt x="10155" y="844145"/>
                  </a:cubicBezTo>
                  <a:cubicBezTo>
                    <a:pt x="3653" y="837642"/>
                    <a:pt x="0" y="828823"/>
                    <a:pt x="0" y="819627"/>
                  </a:cubicBezTo>
                  <a:lnTo>
                    <a:pt x="0" y="34673"/>
                  </a:lnTo>
                  <a:cubicBezTo>
                    <a:pt x="0" y="25477"/>
                    <a:pt x="3653" y="16658"/>
                    <a:pt x="10155" y="10155"/>
                  </a:cubicBezTo>
                  <a:cubicBezTo>
                    <a:pt x="16658" y="3653"/>
                    <a:pt x="25477" y="0"/>
                    <a:pt x="3467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453E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2117085" cy="81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842369" y="2521723"/>
            <a:ext cx="7471282" cy="274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</a:t>
            </a:r>
            <a:r>
              <a:rPr lang="en-US" b="true" sz="21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. Gestão e Monitoramento Remoto: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Impo</a:t>
            </a: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rtância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Essencial para a otimização do negócio.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Funcionalidades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Monitoramento de estoque em tempo real, relatórios de vendas, alertas de falha, status de dinheiro (para reposição e coleta). -&gt; Subsistema de Comunicação, Subsistema de Gerenciamento de Estoque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4846714" y="3904336"/>
            <a:ext cx="4712141" cy="3959301"/>
          </a:xfrm>
          <a:prstGeom prst="line">
            <a:avLst/>
          </a:prstGeom>
          <a:ln cap="rnd" w="104775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9558856" y="6602496"/>
            <a:ext cx="8038309" cy="3017754"/>
            <a:chOff x="0" y="0"/>
            <a:chExt cx="2117085" cy="7947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7085" cy="794799"/>
            </a:xfrm>
            <a:custGeom>
              <a:avLst/>
              <a:gdLst/>
              <a:ahLst/>
              <a:cxnLst/>
              <a:rect r="r" b="b" t="t" l="l"/>
              <a:pathLst>
                <a:path h="794799" w="2117085">
                  <a:moveTo>
                    <a:pt x="34673" y="0"/>
                  </a:moveTo>
                  <a:lnTo>
                    <a:pt x="2082413" y="0"/>
                  </a:lnTo>
                  <a:cubicBezTo>
                    <a:pt x="2091608" y="0"/>
                    <a:pt x="2100428" y="3653"/>
                    <a:pt x="2106930" y="10155"/>
                  </a:cubicBezTo>
                  <a:cubicBezTo>
                    <a:pt x="2113432" y="16658"/>
                    <a:pt x="2117085" y="25477"/>
                    <a:pt x="2117085" y="34673"/>
                  </a:cubicBezTo>
                  <a:lnTo>
                    <a:pt x="2117085" y="760127"/>
                  </a:lnTo>
                  <a:cubicBezTo>
                    <a:pt x="2117085" y="769323"/>
                    <a:pt x="2113432" y="778142"/>
                    <a:pt x="2106930" y="784644"/>
                  </a:cubicBezTo>
                  <a:cubicBezTo>
                    <a:pt x="2100428" y="791147"/>
                    <a:pt x="2091608" y="794799"/>
                    <a:pt x="2082413" y="794799"/>
                  </a:cubicBezTo>
                  <a:lnTo>
                    <a:pt x="34673" y="794799"/>
                  </a:lnTo>
                  <a:cubicBezTo>
                    <a:pt x="25477" y="794799"/>
                    <a:pt x="16658" y="791147"/>
                    <a:pt x="10155" y="784644"/>
                  </a:cubicBezTo>
                  <a:cubicBezTo>
                    <a:pt x="3653" y="778142"/>
                    <a:pt x="0" y="769323"/>
                    <a:pt x="0" y="760127"/>
                  </a:cubicBezTo>
                  <a:lnTo>
                    <a:pt x="0" y="34673"/>
                  </a:lnTo>
                  <a:cubicBezTo>
                    <a:pt x="0" y="25477"/>
                    <a:pt x="3653" y="16658"/>
                    <a:pt x="10155" y="10155"/>
                  </a:cubicBezTo>
                  <a:cubicBezTo>
                    <a:pt x="16658" y="3653"/>
                    <a:pt x="25477" y="0"/>
                    <a:pt x="3467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453E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38100"/>
              <a:ext cx="2117085" cy="756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42369" y="6841718"/>
            <a:ext cx="7471282" cy="235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</a:t>
            </a:r>
            <a:r>
              <a:rPr lang="en-US" b="true" sz="2199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. Localização Estratégica: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Fator Crítico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 A escolha do local (facu</a:t>
            </a:r>
            <a:r>
              <a:rPr lang="en-US" sz="2199" u="none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ldade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s, hospitais, escritórios, shoppings) define o potencial de vendas.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u="sng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Análise</a:t>
            </a:r>
            <a:r>
              <a:rPr lang="en-US" sz="2199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: Considerar fluxo de pessoas, concorrência e tipo de público-alvo. -&gt; Impacto nas vendas monitorado pelo Subsistema de Comunicação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3578010" y="5526171"/>
            <a:ext cx="0" cy="1076325"/>
          </a:xfrm>
          <a:prstGeom prst="line">
            <a:avLst/>
          </a:prstGeom>
          <a:ln cap="rnd" w="104775">
            <a:solidFill>
              <a:srgbClr val="0453E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7147" y="340919"/>
            <a:ext cx="10853707" cy="1375562"/>
            <a:chOff x="0" y="0"/>
            <a:chExt cx="2831344" cy="358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1344" cy="358835"/>
            </a:xfrm>
            <a:custGeom>
              <a:avLst/>
              <a:gdLst/>
              <a:ahLst/>
              <a:cxnLst/>
              <a:rect r="r" b="b" t="t" l="l"/>
              <a:pathLst>
                <a:path h="358835" w="2831344">
                  <a:moveTo>
                    <a:pt x="15693" y="0"/>
                  </a:moveTo>
                  <a:lnTo>
                    <a:pt x="2815651" y="0"/>
                  </a:lnTo>
                  <a:cubicBezTo>
                    <a:pt x="2819813" y="0"/>
                    <a:pt x="2823805" y="1653"/>
                    <a:pt x="2826747" y="4596"/>
                  </a:cubicBezTo>
                  <a:cubicBezTo>
                    <a:pt x="2829690" y="7539"/>
                    <a:pt x="2831344" y="11531"/>
                    <a:pt x="2831344" y="15693"/>
                  </a:cubicBezTo>
                  <a:lnTo>
                    <a:pt x="2831344" y="343142"/>
                  </a:lnTo>
                  <a:cubicBezTo>
                    <a:pt x="2831344" y="347304"/>
                    <a:pt x="2829690" y="351296"/>
                    <a:pt x="2826747" y="354239"/>
                  </a:cubicBezTo>
                  <a:cubicBezTo>
                    <a:pt x="2823805" y="357182"/>
                    <a:pt x="2819813" y="358835"/>
                    <a:pt x="2815651" y="358835"/>
                  </a:cubicBezTo>
                  <a:lnTo>
                    <a:pt x="15693" y="358835"/>
                  </a:lnTo>
                  <a:cubicBezTo>
                    <a:pt x="11531" y="358835"/>
                    <a:pt x="7539" y="357182"/>
                    <a:pt x="4596" y="354239"/>
                  </a:cubicBezTo>
                  <a:cubicBezTo>
                    <a:pt x="1653" y="351296"/>
                    <a:pt x="0" y="347304"/>
                    <a:pt x="0" y="343142"/>
                  </a:cubicBezTo>
                  <a:lnTo>
                    <a:pt x="0" y="15693"/>
                  </a:lnTo>
                  <a:cubicBezTo>
                    <a:pt x="0" y="11531"/>
                    <a:pt x="1653" y="7539"/>
                    <a:pt x="4596" y="4596"/>
                  </a:cubicBezTo>
                  <a:cubicBezTo>
                    <a:pt x="7539" y="1653"/>
                    <a:pt x="11531" y="0"/>
                    <a:pt x="15693" y="0"/>
                  </a:cubicBezTo>
                  <a:close/>
                </a:path>
              </a:pathLst>
            </a:custGeom>
            <a:solidFill>
              <a:srgbClr val="02309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61925"/>
              <a:ext cx="2831344" cy="19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336"/>
                </a:lnSpc>
              </a:pPr>
              <a:r>
                <a:rPr lang="en-US" b="true" sz="7200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CONCLUSÃO: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57984" y="2853660"/>
            <a:ext cx="3503179" cy="5419584"/>
          </a:xfrm>
          <a:custGeom>
            <a:avLst/>
            <a:gdLst/>
            <a:ahLst/>
            <a:cxnLst/>
            <a:rect r="r" b="b" t="t" l="l"/>
            <a:pathLst>
              <a:path h="5419584" w="3503179">
                <a:moveTo>
                  <a:pt x="0" y="0"/>
                </a:moveTo>
                <a:lnTo>
                  <a:pt x="3503180" y="0"/>
                </a:lnTo>
                <a:lnTo>
                  <a:pt x="3503180" y="5419583"/>
                </a:lnTo>
                <a:lnTo>
                  <a:pt x="0" y="5419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0453" t="-141699" r="0" b="-109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93851" y="5204275"/>
            <a:ext cx="1728267" cy="3479398"/>
          </a:xfrm>
          <a:custGeom>
            <a:avLst/>
            <a:gdLst/>
            <a:ahLst/>
            <a:cxnLst/>
            <a:rect r="r" b="b" t="t" l="l"/>
            <a:pathLst>
              <a:path h="3479398" w="1728267">
                <a:moveTo>
                  <a:pt x="0" y="0"/>
                </a:moveTo>
                <a:lnTo>
                  <a:pt x="1728267" y="0"/>
                </a:lnTo>
                <a:lnTo>
                  <a:pt x="1728267" y="3479398"/>
                </a:lnTo>
                <a:lnTo>
                  <a:pt x="0" y="3479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8724" t="-5579" r="-381911" b="-27259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27941" y="2853660"/>
            <a:ext cx="12102893" cy="5718429"/>
            <a:chOff x="0" y="0"/>
            <a:chExt cx="3157220" cy="14917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57220" cy="1491742"/>
            </a:xfrm>
            <a:custGeom>
              <a:avLst/>
              <a:gdLst/>
              <a:ahLst/>
              <a:cxnLst/>
              <a:rect r="r" b="b" t="t" l="l"/>
              <a:pathLst>
                <a:path h="1491742" w="3157220">
                  <a:moveTo>
                    <a:pt x="3157220" y="23668"/>
                  </a:moveTo>
                  <a:lnTo>
                    <a:pt x="3157220" y="1468074"/>
                  </a:lnTo>
                  <a:cubicBezTo>
                    <a:pt x="3157220" y="1474351"/>
                    <a:pt x="3154726" y="1480371"/>
                    <a:pt x="3150288" y="1484810"/>
                  </a:cubicBezTo>
                  <a:cubicBezTo>
                    <a:pt x="3145849" y="1489248"/>
                    <a:pt x="3139829" y="1491742"/>
                    <a:pt x="3133552" y="1491742"/>
                  </a:cubicBezTo>
                  <a:lnTo>
                    <a:pt x="23668" y="1491742"/>
                  </a:lnTo>
                  <a:cubicBezTo>
                    <a:pt x="17391" y="1491742"/>
                    <a:pt x="11371" y="1489248"/>
                    <a:pt x="6932" y="1484810"/>
                  </a:cubicBezTo>
                  <a:cubicBezTo>
                    <a:pt x="2494" y="1480371"/>
                    <a:pt x="0" y="1474351"/>
                    <a:pt x="0" y="1468074"/>
                  </a:cubicBezTo>
                  <a:lnTo>
                    <a:pt x="0" y="23668"/>
                  </a:lnTo>
                  <a:cubicBezTo>
                    <a:pt x="0" y="17391"/>
                    <a:pt x="2494" y="11371"/>
                    <a:pt x="6932" y="6932"/>
                  </a:cubicBezTo>
                  <a:cubicBezTo>
                    <a:pt x="11371" y="2494"/>
                    <a:pt x="17391" y="0"/>
                    <a:pt x="23668" y="0"/>
                  </a:cubicBezTo>
                  <a:lnTo>
                    <a:pt x="3133552" y="0"/>
                  </a:lnTo>
                  <a:cubicBezTo>
                    <a:pt x="3146624" y="0"/>
                    <a:pt x="3157220" y="10597"/>
                    <a:pt x="3157220" y="23668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453E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61925"/>
              <a:ext cx="3157220" cy="1329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33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3429" y="3103733"/>
            <a:ext cx="11603053" cy="49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 Máquina de Vendas como um Exemplo de Sistema Complexo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Nesta apresentação, demonstramos como um objeto comum do nosso dia a dia é, na verdade, um sistema complexo.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Sistemas são compostos por subsistemas interconectados, cada um com uma função específica.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 modelagem nos permite visualizar, entender e otimizar as interações e dependências entre esses subsistemas.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 Máquina de Vendas é um caso de estudo ideal que abrange interações com o usuário, gerenciamento de recursos, comunicação remota e resolução de falhas.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188520">
            <a:off x="3448075" y="-4299416"/>
            <a:ext cx="11391851" cy="18885831"/>
          </a:xfrm>
          <a:custGeom>
            <a:avLst/>
            <a:gdLst/>
            <a:ahLst/>
            <a:cxnLst/>
            <a:rect r="r" b="b" t="t" l="l"/>
            <a:pathLst>
              <a:path h="18885831" w="11391851">
                <a:moveTo>
                  <a:pt x="10267541" y="0"/>
                </a:moveTo>
                <a:lnTo>
                  <a:pt x="11391850" y="18253408"/>
                </a:lnTo>
                <a:lnTo>
                  <a:pt x="1124309" y="18885832"/>
                </a:lnTo>
                <a:lnTo>
                  <a:pt x="0" y="632424"/>
                </a:lnTo>
                <a:lnTo>
                  <a:pt x="10267541" y="0"/>
                </a:lnTo>
                <a:close/>
              </a:path>
            </a:pathLst>
          </a:custGeom>
          <a:blipFill>
            <a:blip r:embed="rId2"/>
            <a:stretch>
              <a:fillRect l="-74337" t="0" r="-743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18736" y="2847812"/>
            <a:ext cx="14450527" cy="4046083"/>
            <a:chOff x="0" y="0"/>
            <a:chExt cx="3805900" cy="10656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05900" cy="1065635"/>
            </a:xfrm>
            <a:custGeom>
              <a:avLst/>
              <a:gdLst/>
              <a:ahLst/>
              <a:cxnLst/>
              <a:rect r="r" b="b" t="t" l="l"/>
              <a:pathLst>
                <a:path h="1065635" w="3805900">
                  <a:moveTo>
                    <a:pt x="30002" y="0"/>
                  </a:moveTo>
                  <a:lnTo>
                    <a:pt x="3775898" y="0"/>
                  </a:lnTo>
                  <a:cubicBezTo>
                    <a:pt x="3783855" y="0"/>
                    <a:pt x="3791486" y="3161"/>
                    <a:pt x="3797113" y="8787"/>
                  </a:cubicBezTo>
                  <a:cubicBezTo>
                    <a:pt x="3802739" y="14414"/>
                    <a:pt x="3805900" y="22045"/>
                    <a:pt x="3805900" y="30002"/>
                  </a:cubicBezTo>
                  <a:lnTo>
                    <a:pt x="3805900" y="1035633"/>
                  </a:lnTo>
                  <a:cubicBezTo>
                    <a:pt x="3805900" y="1043590"/>
                    <a:pt x="3802739" y="1051221"/>
                    <a:pt x="3797113" y="1056848"/>
                  </a:cubicBezTo>
                  <a:cubicBezTo>
                    <a:pt x="3791486" y="1062474"/>
                    <a:pt x="3783855" y="1065635"/>
                    <a:pt x="3775898" y="1065635"/>
                  </a:cubicBezTo>
                  <a:lnTo>
                    <a:pt x="30002" y="1065635"/>
                  </a:lnTo>
                  <a:cubicBezTo>
                    <a:pt x="22045" y="1065635"/>
                    <a:pt x="14414" y="1062474"/>
                    <a:pt x="8787" y="1056848"/>
                  </a:cubicBezTo>
                  <a:cubicBezTo>
                    <a:pt x="3161" y="1051221"/>
                    <a:pt x="0" y="1043590"/>
                    <a:pt x="0" y="1035633"/>
                  </a:cubicBezTo>
                  <a:lnTo>
                    <a:pt x="0" y="30002"/>
                  </a:lnTo>
                  <a:cubicBezTo>
                    <a:pt x="0" y="22045"/>
                    <a:pt x="3161" y="14414"/>
                    <a:pt x="8787" y="8787"/>
                  </a:cubicBezTo>
                  <a:cubicBezTo>
                    <a:pt x="14414" y="3161"/>
                    <a:pt x="22045" y="0"/>
                    <a:pt x="300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28000"/>
                  </a:srgbClr>
                </a:gs>
                <a:gs pos="100000">
                  <a:srgbClr val="4971FF">
                    <a:alpha val="28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05900" cy="1113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89257" y="4394604"/>
            <a:ext cx="350948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59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Obrigado!!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DAGyOygyqj4</dc:identifier>
  <dcterms:modified xsi:type="dcterms:W3CDTF">2011-08-01T06:04:30Z</dcterms:modified>
  <cp:revision>1</cp:revision>
  <dc:title>Sistema67</dc:title>
</cp:coreProperties>
</file>