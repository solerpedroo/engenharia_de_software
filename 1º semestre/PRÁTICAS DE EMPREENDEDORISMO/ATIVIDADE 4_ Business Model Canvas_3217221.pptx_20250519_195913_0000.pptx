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0693400" cy="7556500"/>
  <p:notesSz cx="6858000" cy="9144000"/>
  <p:embeddedFontLst>
    <p:embeddedFont>
      <p:font typeface="Times New Roman Bold" charset="1" panose="02030802070405020303"/>
      <p:regular r:id="rId8"/>
    </p:embeddedFont>
    <p:embeddedFont>
      <p:font typeface="Times New Roman" charset="1" panose="02030502070405020303"/>
      <p:regular r:id="rId9"/>
    </p:embeddedFont>
    <p:embeddedFont>
      <p:font typeface="Arial" charset="1" panose="020B0502020202020204"/>
      <p:regular r:id="rId10"/>
    </p:embeddedFont>
    <p:embeddedFont>
      <p:font typeface="Tahoma" charset="1" panose="020B0604030504040204"/>
      <p:regular r:id="rId11"/>
    </p:embeddedFont>
    <p:embeddedFont>
      <p:font typeface="Calibri (MS)" charset="1" panose="020F050202020403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http://www.sebraemg.com.br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3641" y="939546"/>
            <a:ext cx="1865076" cy="4128178"/>
            <a:chOff x="0" y="0"/>
            <a:chExt cx="2486768" cy="55042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6660" cy="5504053"/>
            </a:xfrm>
            <a:custGeom>
              <a:avLst/>
              <a:gdLst/>
              <a:ahLst/>
              <a:cxnLst/>
              <a:rect r="r" b="b" t="t" l="l"/>
              <a:pathLst>
                <a:path h="5504053" w="2486660">
                  <a:moveTo>
                    <a:pt x="2486660" y="0"/>
                  </a:moveTo>
                  <a:lnTo>
                    <a:pt x="0" y="0"/>
                  </a:lnTo>
                  <a:lnTo>
                    <a:pt x="0" y="5504053"/>
                  </a:lnTo>
                  <a:lnTo>
                    <a:pt x="2486660" y="5504053"/>
                  </a:lnTo>
                  <a:lnTo>
                    <a:pt x="24866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 descr="Logotipo, nome da empresa  O conteúdo gerado por IA pode estar incorreto."/>
          <p:cNvSpPr/>
          <p:nvPr/>
        </p:nvSpPr>
        <p:spPr>
          <a:xfrm flipH="false" flipV="false" rot="0">
            <a:off x="469761" y="428499"/>
            <a:ext cx="1360311" cy="761774"/>
          </a:xfrm>
          <a:custGeom>
            <a:avLst/>
            <a:gdLst/>
            <a:ahLst/>
            <a:cxnLst/>
            <a:rect r="r" b="b" t="t" l="l"/>
            <a:pathLst>
              <a:path h="761774" w="1360311">
                <a:moveTo>
                  <a:pt x="0" y="0"/>
                </a:moveTo>
                <a:lnTo>
                  <a:pt x="1360311" y="0"/>
                </a:lnTo>
                <a:lnTo>
                  <a:pt x="1360311" y="761774"/>
                </a:lnTo>
                <a:lnTo>
                  <a:pt x="0" y="76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" t="0" r="-18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88645" y="428499"/>
            <a:ext cx="6696032" cy="6886718"/>
            <a:chOff x="0" y="0"/>
            <a:chExt cx="8928043" cy="9182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28043" cy="9182291"/>
            </a:xfrm>
            <a:custGeom>
              <a:avLst/>
              <a:gdLst/>
              <a:ahLst/>
              <a:cxnLst/>
              <a:rect r="r" b="b" t="t" l="l"/>
              <a:pathLst>
                <a:path h="9182291" w="8928043">
                  <a:moveTo>
                    <a:pt x="0" y="0"/>
                  </a:moveTo>
                  <a:lnTo>
                    <a:pt x="8928043" y="0"/>
                  </a:lnTo>
                  <a:lnTo>
                    <a:pt x="8928043" y="9182291"/>
                  </a:lnTo>
                  <a:lnTo>
                    <a:pt x="0" y="91822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928043" cy="92394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310"/>
                </a:lnSpc>
              </a:pPr>
              <a:r>
                <a:rPr lang="en-US" sz="17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ATIVIDADE 4 – </a:t>
              </a:r>
              <a:r>
                <a:rPr lang="en-US" sz="17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BUSINESS MODEL CANVAS</a:t>
              </a: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</a:p>
            <a:p>
              <a:pPr algn="ctr">
                <a:lnSpc>
                  <a:spcPts val="2310"/>
                </a:lnSpc>
              </a:pPr>
              <a:r>
                <a:rPr lang="en-US" sz="17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Práticas Empreendedoras</a:t>
              </a:r>
            </a:p>
            <a:p>
              <a:pPr algn="ctr">
                <a:lnSpc>
                  <a:spcPts val="2310"/>
                </a:lnSpc>
              </a:pPr>
            </a:p>
            <a:p>
              <a:pPr algn="l">
                <a:lnSpc>
                  <a:spcPts val="2310"/>
                </a:lnSpc>
              </a:pPr>
              <a:r>
                <a:rPr lang="en-US" sz="17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Membros:</a:t>
              </a: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  <a:p>
              <a:pPr algn="l">
                <a:lnSpc>
                  <a:spcPts val="2310"/>
                </a:lnSpc>
              </a:pP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 JULIA LIMA CAETANO DE SOUZA  RA: 25893215</a:t>
              </a:r>
            </a:p>
            <a:p>
              <a:pPr algn="l">
                <a:lnSpc>
                  <a:spcPts val="2310"/>
                </a:lnSpc>
              </a:pP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GIOVANNA PEREIRA MATOS  RA: 25013198</a:t>
              </a:r>
            </a:p>
            <a:p>
              <a:pPr algn="l">
                <a:lnSpc>
                  <a:spcPts val="2310"/>
                </a:lnSpc>
              </a:pP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HELENA BOLOGNANI INFANTE OLIVEIRA  RA: 25001122</a:t>
              </a:r>
            </a:p>
            <a:p>
              <a:pPr algn="l">
                <a:lnSpc>
                  <a:spcPts val="2310"/>
                </a:lnSpc>
              </a:pP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ISABELLA MARIANA TAVARES DE ALMEIDABORGES  RA: 25001836</a:t>
              </a:r>
            </a:p>
            <a:p>
              <a:pPr algn="l">
                <a:lnSpc>
                  <a:spcPts val="2310"/>
                </a:lnSpc>
              </a:pP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MARIA EDUARDA DE ALBERNAZ NESI  RA: 2500850</a:t>
              </a:r>
            </a:p>
            <a:p>
              <a:pPr algn="l">
                <a:lnSpc>
                  <a:spcPts val="2310"/>
                </a:lnSpc>
              </a:pP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PEDRO HENRIQUE CONTARDI SOLER RA: 25005592</a:t>
              </a:r>
            </a:p>
            <a:p>
              <a:pPr algn="l">
                <a:lnSpc>
                  <a:spcPts val="2310"/>
                </a:lnSpc>
              </a:pP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RAFAELA ALTRAN DE MATTOS RA: 25017225</a:t>
              </a:r>
            </a:p>
            <a:p>
              <a:pPr algn="l">
                <a:lnSpc>
                  <a:spcPts val="2310"/>
                </a:lnSpc>
              </a:pPr>
            </a:p>
            <a:p>
              <a:pPr algn="l">
                <a:lnSpc>
                  <a:spcPts val="2053"/>
                </a:lnSpc>
              </a:pPr>
              <a:r>
                <a:rPr lang="en-US" sz="1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GRUPO: 8 </a:t>
              </a:r>
            </a:p>
            <a:p>
              <a:pPr algn="l">
                <a:lnSpc>
                  <a:spcPts val="2053"/>
                </a:lnSpc>
              </a:pPr>
              <a:r>
                <a:rPr lang="en-US" sz="1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TEMA: Objetivo 13.3</a:t>
              </a:r>
            </a:p>
            <a:p>
              <a:pPr algn="l">
                <a:lnSpc>
                  <a:spcPts val="2053"/>
                </a:lnSpc>
              </a:pPr>
              <a:r>
                <a:rPr lang="en-US" sz="1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Melhorar a educação, aumentar a conscientização e a capacidade humana e institucional sobre mitigação, adaptação, redução de impacto e alerta precoce da mudança do clima..</a:t>
              </a:r>
            </a:p>
            <a:p>
              <a:pPr algn="l">
                <a:lnSpc>
                  <a:spcPts val="2310"/>
                </a:lnSpc>
              </a:pPr>
            </a:p>
            <a:p>
              <a:pPr algn="l">
                <a:lnSpc>
                  <a:spcPts val="2053"/>
                </a:lnSpc>
              </a:pPr>
              <a:r>
                <a:rPr lang="en-US" sz="1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SOLUÇÃO: A criação de um aplicativo de tarefas e de jogos sustentáveis “Guamirim” ( homenagem a árvore nativa da região de Campinas), quando completadas gerarão pontos que poderão ser trocados por descontos, benefícios e produtos.</a:t>
              </a:r>
            </a:p>
            <a:p>
              <a:pPr algn="just">
                <a:lnSpc>
                  <a:spcPts val="2310"/>
                </a:lnSpc>
              </a:pPr>
              <a:r>
                <a:rPr lang="en-US" sz="1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3641" y="939546"/>
            <a:ext cx="1865076" cy="4128178"/>
            <a:chOff x="0" y="0"/>
            <a:chExt cx="2486768" cy="55042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6660" cy="5504053"/>
            </a:xfrm>
            <a:custGeom>
              <a:avLst/>
              <a:gdLst/>
              <a:ahLst/>
              <a:cxnLst/>
              <a:rect r="r" b="b" t="t" l="l"/>
              <a:pathLst>
                <a:path h="5504053" w="2486660">
                  <a:moveTo>
                    <a:pt x="2486660" y="0"/>
                  </a:moveTo>
                  <a:lnTo>
                    <a:pt x="0" y="0"/>
                  </a:lnTo>
                  <a:lnTo>
                    <a:pt x="0" y="5504053"/>
                  </a:lnTo>
                  <a:lnTo>
                    <a:pt x="2486660" y="5504053"/>
                  </a:lnTo>
                  <a:lnTo>
                    <a:pt x="24866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56291" y="939546"/>
            <a:ext cx="1865076" cy="4128178"/>
            <a:chOff x="0" y="0"/>
            <a:chExt cx="2486768" cy="55042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86660" cy="5504053"/>
            </a:xfrm>
            <a:custGeom>
              <a:avLst/>
              <a:gdLst/>
              <a:ahLst/>
              <a:cxnLst/>
              <a:rect r="r" b="b" t="t" l="l"/>
              <a:pathLst>
                <a:path h="5504053" w="2486660">
                  <a:moveTo>
                    <a:pt x="2486660" y="0"/>
                  </a:moveTo>
                  <a:lnTo>
                    <a:pt x="0" y="0"/>
                  </a:lnTo>
                  <a:lnTo>
                    <a:pt x="0" y="5504053"/>
                  </a:lnTo>
                  <a:lnTo>
                    <a:pt x="2486660" y="5504053"/>
                  </a:lnTo>
                  <a:lnTo>
                    <a:pt x="24866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99158" y="930570"/>
            <a:ext cx="1922209" cy="4191026"/>
            <a:chOff x="0" y="0"/>
            <a:chExt cx="2562946" cy="5588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2860" cy="5588000"/>
            </a:xfrm>
            <a:custGeom>
              <a:avLst/>
              <a:gdLst/>
              <a:ahLst/>
              <a:cxnLst/>
              <a:rect r="r" b="b" t="t" l="l"/>
              <a:pathLst>
                <a:path h="5588000" w="2562860">
                  <a:moveTo>
                    <a:pt x="4191" y="0"/>
                  </a:moveTo>
                  <a:lnTo>
                    <a:pt x="2558669" y="0"/>
                  </a:lnTo>
                  <a:cubicBezTo>
                    <a:pt x="2560955" y="0"/>
                    <a:pt x="2562860" y="1905"/>
                    <a:pt x="2562860" y="4191"/>
                  </a:cubicBezTo>
                  <a:lnTo>
                    <a:pt x="2562860" y="5583809"/>
                  </a:lnTo>
                  <a:cubicBezTo>
                    <a:pt x="2562860" y="5586095"/>
                    <a:pt x="2560955" y="5588000"/>
                    <a:pt x="2558669" y="5588000"/>
                  </a:cubicBezTo>
                  <a:lnTo>
                    <a:pt x="4191" y="5588000"/>
                  </a:lnTo>
                  <a:cubicBezTo>
                    <a:pt x="1905" y="5588000"/>
                    <a:pt x="0" y="5586095"/>
                    <a:pt x="0" y="558380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5583809"/>
                  </a:lnTo>
                  <a:lnTo>
                    <a:pt x="4191" y="5583809"/>
                  </a:lnTo>
                  <a:lnTo>
                    <a:pt x="4191" y="5579618"/>
                  </a:lnTo>
                  <a:lnTo>
                    <a:pt x="2558669" y="5579618"/>
                  </a:lnTo>
                  <a:lnTo>
                    <a:pt x="2558669" y="5583809"/>
                  </a:lnTo>
                  <a:lnTo>
                    <a:pt x="2554478" y="5583809"/>
                  </a:lnTo>
                  <a:lnTo>
                    <a:pt x="2554478" y="4191"/>
                  </a:lnTo>
                  <a:lnTo>
                    <a:pt x="2558669" y="4191"/>
                  </a:lnTo>
                  <a:lnTo>
                    <a:pt x="2558669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007AC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562946" cy="560708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079"/>
                </a:lnSpc>
              </a:pPr>
              <a:r>
                <a:rPr lang="en-US" sz="89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Segmentos de Clientes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56609" y="908884"/>
            <a:ext cx="1922209" cy="2064407"/>
            <a:chOff x="0" y="0"/>
            <a:chExt cx="2562946" cy="275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2860" cy="2752471"/>
            </a:xfrm>
            <a:custGeom>
              <a:avLst/>
              <a:gdLst/>
              <a:ahLst/>
              <a:cxnLst/>
              <a:rect r="r" b="b" t="t" l="l"/>
              <a:pathLst>
                <a:path h="2752471" w="2562860">
                  <a:moveTo>
                    <a:pt x="4191" y="0"/>
                  </a:moveTo>
                  <a:lnTo>
                    <a:pt x="2558669" y="0"/>
                  </a:lnTo>
                  <a:cubicBezTo>
                    <a:pt x="2560955" y="0"/>
                    <a:pt x="2562860" y="1905"/>
                    <a:pt x="2562860" y="4191"/>
                  </a:cubicBezTo>
                  <a:lnTo>
                    <a:pt x="2562860" y="2748280"/>
                  </a:lnTo>
                  <a:cubicBezTo>
                    <a:pt x="2562860" y="2750566"/>
                    <a:pt x="2560955" y="2752471"/>
                    <a:pt x="2558669" y="2752471"/>
                  </a:cubicBezTo>
                  <a:lnTo>
                    <a:pt x="4191" y="2752471"/>
                  </a:lnTo>
                  <a:cubicBezTo>
                    <a:pt x="1905" y="2752471"/>
                    <a:pt x="0" y="2750566"/>
                    <a:pt x="0" y="2748280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2748280"/>
                  </a:lnTo>
                  <a:lnTo>
                    <a:pt x="4191" y="2748280"/>
                  </a:lnTo>
                  <a:lnTo>
                    <a:pt x="4191" y="2744089"/>
                  </a:lnTo>
                  <a:lnTo>
                    <a:pt x="2558669" y="2744089"/>
                  </a:lnTo>
                  <a:lnTo>
                    <a:pt x="2558669" y="2748280"/>
                  </a:lnTo>
                  <a:lnTo>
                    <a:pt x="2554478" y="2748280"/>
                  </a:lnTo>
                  <a:lnTo>
                    <a:pt x="2554478" y="4191"/>
                  </a:lnTo>
                  <a:lnTo>
                    <a:pt x="2558669" y="4191"/>
                  </a:lnTo>
                  <a:lnTo>
                    <a:pt x="2558669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007AC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562946" cy="277159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079"/>
                </a:lnSpc>
              </a:pPr>
              <a:r>
                <a:rPr lang="en-US" sz="899" spc="-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Relacionamento com Clientes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56609" y="3026083"/>
            <a:ext cx="1922209" cy="2073929"/>
            <a:chOff x="0" y="0"/>
            <a:chExt cx="2562946" cy="27652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2860" cy="2765171"/>
            </a:xfrm>
            <a:custGeom>
              <a:avLst/>
              <a:gdLst/>
              <a:ahLst/>
              <a:cxnLst/>
              <a:rect r="r" b="b" t="t" l="l"/>
              <a:pathLst>
                <a:path h="2765171" w="2562860">
                  <a:moveTo>
                    <a:pt x="4191" y="0"/>
                  </a:moveTo>
                  <a:lnTo>
                    <a:pt x="2558669" y="0"/>
                  </a:lnTo>
                  <a:cubicBezTo>
                    <a:pt x="2560955" y="0"/>
                    <a:pt x="2562860" y="1905"/>
                    <a:pt x="2562860" y="4191"/>
                  </a:cubicBezTo>
                  <a:lnTo>
                    <a:pt x="2562860" y="2760980"/>
                  </a:lnTo>
                  <a:cubicBezTo>
                    <a:pt x="2562860" y="2763266"/>
                    <a:pt x="2560955" y="2765171"/>
                    <a:pt x="2558669" y="2765171"/>
                  </a:cubicBezTo>
                  <a:lnTo>
                    <a:pt x="4191" y="2765171"/>
                  </a:lnTo>
                  <a:cubicBezTo>
                    <a:pt x="1905" y="2765171"/>
                    <a:pt x="0" y="2763266"/>
                    <a:pt x="0" y="2760980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2760980"/>
                  </a:lnTo>
                  <a:lnTo>
                    <a:pt x="4191" y="2760980"/>
                  </a:lnTo>
                  <a:lnTo>
                    <a:pt x="4191" y="2756789"/>
                  </a:lnTo>
                  <a:lnTo>
                    <a:pt x="2558669" y="2756789"/>
                  </a:lnTo>
                  <a:lnTo>
                    <a:pt x="2558669" y="2760980"/>
                  </a:lnTo>
                  <a:lnTo>
                    <a:pt x="2554478" y="2760980"/>
                  </a:lnTo>
                  <a:lnTo>
                    <a:pt x="2554478" y="4191"/>
                  </a:lnTo>
                  <a:lnTo>
                    <a:pt x="2558669" y="4191"/>
                  </a:lnTo>
                  <a:lnTo>
                    <a:pt x="2558669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007AC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562946" cy="278428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079"/>
                </a:lnSpc>
              </a:pPr>
              <a:r>
                <a:rPr lang="en-US" sz="899" spc="-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Canais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74999" y="5143077"/>
            <a:ext cx="4880431" cy="1687963"/>
            <a:chOff x="0" y="0"/>
            <a:chExt cx="6507241" cy="22506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07226" cy="2250567"/>
            </a:xfrm>
            <a:custGeom>
              <a:avLst/>
              <a:gdLst/>
              <a:ahLst/>
              <a:cxnLst/>
              <a:rect r="r" b="b" t="t" l="l"/>
              <a:pathLst>
                <a:path h="2250567" w="6507226">
                  <a:moveTo>
                    <a:pt x="4191" y="0"/>
                  </a:moveTo>
                  <a:lnTo>
                    <a:pt x="6503035" y="0"/>
                  </a:lnTo>
                  <a:cubicBezTo>
                    <a:pt x="6505321" y="0"/>
                    <a:pt x="6507226" y="1905"/>
                    <a:pt x="6507226" y="4191"/>
                  </a:cubicBezTo>
                  <a:lnTo>
                    <a:pt x="6507226" y="2246376"/>
                  </a:lnTo>
                  <a:cubicBezTo>
                    <a:pt x="6507226" y="2248662"/>
                    <a:pt x="6505321" y="2250567"/>
                    <a:pt x="6503035" y="2250567"/>
                  </a:cubicBezTo>
                  <a:lnTo>
                    <a:pt x="4191" y="2250567"/>
                  </a:lnTo>
                  <a:cubicBezTo>
                    <a:pt x="1905" y="2250567"/>
                    <a:pt x="0" y="2248662"/>
                    <a:pt x="0" y="2246376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2246376"/>
                  </a:lnTo>
                  <a:lnTo>
                    <a:pt x="4191" y="2246376"/>
                  </a:lnTo>
                  <a:lnTo>
                    <a:pt x="4191" y="2242185"/>
                  </a:lnTo>
                  <a:lnTo>
                    <a:pt x="6503035" y="2242185"/>
                  </a:lnTo>
                  <a:lnTo>
                    <a:pt x="6503035" y="2246376"/>
                  </a:lnTo>
                  <a:lnTo>
                    <a:pt x="6498844" y="2246376"/>
                  </a:lnTo>
                  <a:lnTo>
                    <a:pt x="6498844" y="4191"/>
                  </a:lnTo>
                  <a:lnTo>
                    <a:pt x="6503035" y="4191"/>
                  </a:lnTo>
                  <a:lnTo>
                    <a:pt x="6503035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007AC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507241" cy="226966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079"/>
                </a:lnSpc>
              </a:pPr>
              <a:r>
                <a:rPr lang="en-US" sz="89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Fontes de Receita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13084" y="908884"/>
            <a:ext cx="1922209" cy="2064407"/>
            <a:chOff x="0" y="0"/>
            <a:chExt cx="2562946" cy="27525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0" cy="2752471"/>
            </a:xfrm>
            <a:custGeom>
              <a:avLst/>
              <a:gdLst/>
              <a:ahLst/>
              <a:cxnLst/>
              <a:rect r="r" b="b" t="t" l="l"/>
              <a:pathLst>
                <a:path h="2752471" w="2562860">
                  <a:moveTo>
                    <a:pt x="4191" y="0"/>
                  </a:moveTo>
                  <a:lnTo>
                    <a:pt x="2558669" y="0"/>
                  </a:lnTo>
                  <a:cubicBezTo>
                    <a:pt x="2560955" y="0"/>
                    <a:pt x="2562860" y="1905"/>
                    <a:pt x="2562860" y="4191"/>
                  </a:cubicBezTo>
                  <a:lnTo>
                    <a:pt x="2562860" y="2748280"/>
                  </a:lnTo>
                  <a:cubicBezTo>
                    <a:pt x="2562860" y="2750566"/>
                    <a:pt x="2560955" y="2752471"/>
                    <a:pt x="2558669" y="2752471"/>
                  </a:cubicBezTo>
                  <a:lnTo>
                    <a:pt x="4191" y="2752471"/>
                  </a:lnTo>
                  <a:cubicBezTo>
                    <a:pt x="1905" y="2752471"/>
                    <a:pt x="0" y="2750566"/>
                    <a:pt x="0" y="2748280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2748280"/>
                  </a:lnTo>
                  <a:lnTo>
                    <a:pt x="4191" y="2748280"/>
                  </a:lnTo>
                  <a:lnTo>
                    <a:pt x="4191" y="2744089"/>
                  </a:lnTo>
                  <a:lnTo>
                    <a:pt x="2558669" y="2744089"/>
                  </a:lnTo>
                  <a:lnTo>
                    <a:pt x="2558669" y="2748280"/>
                  </a:lnTo>
                  <a:lnTo>
                    <a:pt x="2554478" y="2748280"/>
                  </a:lnTo>
                  <a:lnTo>
                    <a:pt x="2554478" y="4191"/>
                  </a:lnTo>
                  <a:lnTo>
                    <a:pt x="2558669" y="4191"/>
                  </a:lnTo>
                  <a:lnTo>
                    <a:pt x="2558669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007AC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562946" cy="277159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079"/>
                </a:lnSpc>
              </a:pPr>
              <a:r>
                <a:rPr lang="en-US" sz="89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Atividades-Chave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13084" y="3026083"/>
            <a:ext cx="1922209" cy="2073929"/>
            <a:chOff x="0" y="0"/>
            <a:chExt cx="2562946" cy="27652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2860" cy="2765171"/>
            </a:xfrm>
            <a:custGeom>
              <a:avLst/>
              <a:gdLst/>
              <a:ahLst/>
              <a:cxnLst/>
              <a:rect r="r" b="b" t="t" l="l"/>
              <a:pathLst>
                <a:path h="2765171" w="2562860">
                  <a:moveTo>
                    <a:pt x="4191" y="0"/>
                  </a:moveTo>
                  <a:lnTo>
                    <a:pt x="2558669" y="0"/>
                  </a:lnTo>
                  <a:cubicBezTo>
                    <a:pt x="2560955" y="0"/>
                    <a:pt x="2562860" y="1905"/>
                    <a:pt x="2562860" y="4191"/>
                  </a:cubicBezTo>
                  <a:lnTo>
                    <a:pt x="2562860" y="2760980"/>
                  </a:lnTo>
                  <a:cubicBezTo>
                    <a:pt x="2562860" y="2763266"/>
                    <a:pt x="2560955" y="2765171"/>
                    <a:pt x="2558669" y="2765171"/>
                  </a:cubicBezTo>
                  <a:lnTo>
                    <a:pt x="4191" y="2765171"/>
                  </a:lnTo>
                  <a:cubicBezTo>
                    <a:pt x="1905" y="2765171"/>
                    <a:pt x="0" y="2763266"/>
                    <a:pt x="0" y="2760980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2760980"/>
                  </a:lnTo>
                  <a:lnTo>
                    <a:pt x="4191" y="2760980"/>
                  </a:lnTo>
                  <a:lnTo>
                    <a:pt x="4191" y="2756789"/>
                  </a:lnTo>
                  <a:lnTo>
                    <a:pt x="2558669" y="2756789"/>
                  </a:lnTo>
                  <a:lnTo>
                    <a:pt x="2558669" y="2760980"/>
                  </a:lnTo>
                  <a:lnTo>
                    <a:pt x="2554478" y="2760980"/>
                  </a:lnTo>
                  <a:lnTo>
                    <a:pt x="2554478" y="4191"/>
                  </a:lnTo>
                  <a:lnTo>
                    <a:pt x="2558669" y="4191"/>
                  </a:lnTo>
                  <a:lnTo>
                    <a:pt x="2558669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007AC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562946" cy="278428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079"/>
                </a:lnSpc>
              </a:pPr>
              <a:r>
                <a:rPr lang="en-US" sz="899" spc="-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Recursos Principais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42667" y="5143077"/>
            <a:ext cx="4880431" cy="2222615"/>
            <a:chOff x="0" y="0"/>
            <a:chExt cx="6507241" cy="29634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07226" cy="2963421"/>
            </a:xfrm>
            <a:custGeom>
              <a:avLst/>
              <a:gdLst/>
              <a:ahLst/>
              <a:cxnLst/>
              <a:rect r="r" b="b" t="t" l="l"/>
              <a:pathLst>
                <a:path h="2963421" w="6507226">
                  <a:moveTo>
                    <a:pt x="4191" y="0"/>
                  </a:moveTo>
                  <a:lnTo>
                    <a:pt x="6503035" y="0"/>
                  </a:lnTo>
                  <a:cubicBezTo>
                    <a:pt x="6505321" y="0"/>
                    <a:pt x="6507226" y="2508"/>
                    <a:pt x="6507226" y="5518"/>
                  </a:cubicBezTo>
                  <a:lnTo>
                    <a:pt x="6507226" y="2957902"/>
                  </a:lnTo>
                  <a:cubicBezTo>
                    <a:pt x="6507226" y="2960912"/>
                    <a:pt x="6505321" y="2963421"/>
                    <a:pt x="6503035" y="2963421"/>
                  </a:cubicBezTo>
                  <a:lnTo>
                    <a:pt x="4191" y="2963421"/>
                  </a:lnTo>
                  <a:cubicBezTo>
                    <a:pt x="1905" y="2963421"/>
                    <a:pt x="0" y="2960912"/>
                    <a:pt x="0" y="2957902"/>
                  </a:cubicBezTo>
                  <a:lnTo>
                    <a:pt x="0" y="5518"/>
                  </a:lnTo>
                  <a:cubicBezTo>
                    <a:pt x="0" y="2508"/>
                    <a:pt x="1905" y="0"/>
                    <a:pt x="4191" y="0"/>
                  </a:cubicBezTo>
                  <a:moveTo>
                    <a:pt x="4191" y="11204"/>
                  </a:moveTo>
                  <a:lnTo>
                    <a:pt x="4191" y="5518"/>
                  </a:lnTo>
                  <a:lnTo>
                    <a:pt x="8509" y="5518"/>
                  </a:lnTo>
                  <a:lnTo>
                    <a:pt x="8509" y="2957902"/>
                  </a:lnTo>
                  <a:lnTo>
                    <a:pt x="4191" y="2957902"/>
                  </a:lnTo>
                  <a:lnTo>
                    <a:pt x="4191" y="2952384"/>
                  </a:lnTo>
                  <a:lnTo>
                    <a:pt x="6503035" y="2952384"/>
                  </a:lnTo>
                  <a:lnTo>
                    <a:pt x="6503035" y="2957902"/>
                  </a:lnTo>
                  <a:lnTo>
                    <a:pt x="6498844" y="2957902"/>
                  </a:lnTo>
                  <a:lnTo>
                    <a:pt x="6498844" y="5518"/>
                  </a:lnTo>
                  <a:lnTo>
                    <a:pt x="6503035" y="5518"/>
                  </a:lnTo>
                  <a:lnTo>
                    <a:pt x="6503035" y="11204"/>
                  </a:lnTo>
                  <a:lnTo>
                    <a:pt x="4191" y="11204"/>
                  </a:lnTo>
                  <a:close/>
                </a:path>
              </a:pathLst>
            </a:custGeom>
            <a:solidFill>
              <a:srgbClr val="007AC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507241" cy="298253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079"/>
                </a:lnSpc>
              </a:pPr>
              <a:r>
                <a:rPr lang="en-US" sz="89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Estrutura de Custos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42667" y="908884"/>
            <a:ext cx="1922209" cy="4191026"/>
            <a:chOff x="0" y="0"/>
            <a:chExt cx="2562946" cy="55880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2860" cy="5588000"/>
            </a:xfrm>
            <a:custGeom>
              <a:avLst/>
              <a:gdLst/>
              <a:ahLst/>
              <a:cxnLst/>
              <a:rect r="r" b="b" t="t" l="l"/>
              <a:pathLst>
                <a:path h="5588000" w="2562860">
                  <a:moveTo>
                    <a:pt x="4191" y="0"/>
                  </a:moveTo>
                  <a:lnTo>
                    <a:pt x="2558669" y="0"/>
                  </a:lnTo>
                  <a:cubicBezTo>
                    <a:pt x="2560955" y="0"/>
                    <a:pt x="2562860" y="1905"/>
                    <a:pt x="2562860" y="4191"/>
                  </a:cubicBezTo>
                  <a:lnTo>
                    <a:pt x="2562860" y="5583809"/>
                  </a:lnTo>
                  <a:cubicBezTo>
                    <a:pt x="2562860" y="5586095"/>
                    <a:pt x="2560955" y="5588000"/>
                    <a:pt x="2558669" y="5588000"/>
                  </a:cubicBezTo>
                  <a:lnTo>
                    <a:pt x="4191" y="5588000"/>
                  </a:lnTo>
                  <a:cubicBezTo>
                    <a:pt x="1905" y="5588000"/>
                    <a:pt x="0" y="5586095"/>
                    <a:pt x="0" y="558380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5583809"/>
                  </a:lnTo>
                  <a:lnTo>
                    <a:pt x="4191" y="5583809"/>
                  </a:lnTo>
                  <a:lnTo>
                    <a:pt x="4191" y="5579618"/>
                  </a:lnTo>
                  <a:lnTo>
                    <a:pt x="2558669" y="5579618"/>
                  </a:lnTo>
                  <a:lnTo>
                    <a:pt x="2558669" y="5583809"/>
                  </a:lnTo>
                  <a:lnTo>
                    <a:pt x="2554478" y="5583809"/>
                  </a:lnTo>
                  <a:lnTo>
                    <a:pt x="2554478" y="4191"/>
                  </a:lnTo>
                  <a:lnTo>
                    <a:pt x="2558669" y="4191"/>
                  </a:lnTo>
                  <a:lnTo>
                    <a:pt x="2558669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007AC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562946" cy="560708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079"/>
                </a:lnSpc>
              </a:pPr>
              <a:r>
                <a:rPr lang="en-US" sz="899" spc="-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Parcerias Principais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83500" y="908884"/>
            <a:ext cx="1922209" cy="4191026"/>
            <a:chOff x="0" y="0"/>
            <a:chExt cx="2562946" cy="55880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62860" cy="5588000"/>
            </a:xfrm>
            <a:custGeom>
              <a:avLst/>
              <a:gdLst/>
              <a:ahLst/>
              <a:cxnLst/>
              <a:rect r="r" b="b" t="t" l="l"/>
              <a:pathLst>
                <a:path h="5588000" w="2562860">
                  <a:moveTo>
                    <a:pt x="4191" y="0"/>
                  </a:moveTo>
                  <a:lnTo>
                    <a:pt x="2558669" y="0"/>
                  </a:lnTo>
                  <a:cubicBezTo>
                    <a:pt x="2560955" y="0"/>
                    <a:pt x="2562860" y="1905"/>
                    <a:pt x="2562860" y="4191"/>
                  </a:cubicBezTo>
                  <a:lnTo>
                    <a:pt x="2562860" y="5583809"/>
                  </a:lnTo>
                  <a:cubicBezTo>
                    <a:pt x="2562860" y="5586095"/>
                    <a:pt x="2560955" y="5588000"/>
                    <a:pt x="2558669" y="5588000"/>
                  </a:cubicBezTo>
                  <a:lnTo>
                    <a:pt x="4191" y="5588000"/>
                  </a:lnTo>
                  <a:cubicBezTo>
                    <a:pt x="1905" y="5588000"/>
                    <a:pt x="0" y="5586095"/>
                    <a:pt x="0" y="558380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5583809"/>
                  </a:lnTo>
                  <a:lnTo>
                    <a:pt x="4191" y="5583809"/>
                  </a:lnTo>
                  <a:lnTo>
                    <a:pt x="4191" y="5579618"/>
                  </a:lnTo>
                  <a:lnTo>
                    <a:pt x="2558669" y="5579618"/>
                  </a:lnTo>
                  <a:lnTo>
                    <a:pt x="2558669" y="5583809"/>
                  </a:lnTo>
                  <a:lnTo>
                    <a:pt x="2554478" y="5583809"/>
                  </a:lnTo>
                  <a:lnTo>
                    <a:pt x="2554478" y="4191"/>
                  </a:lnTo>
                  <a:lnTo>
                    <a:pt x="2558669" y="4191"/>
                  </a:lnTo>
                  <a:lnTo>
                    <a:pt x="2558669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007AC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562946" cy="560708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079"/>
                </a:lnSpc>
              </a:pPr>
              <a:r>
                <a:rPr lang="en-US" sz="89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Propostas de Valor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9560299" y="7005754"/>
            <a:ext cx="755426" cy="359938"/>
          </a:xfrm>
          <a:custGeom>
            <a:avLst/>
            <a:gdLst/>
            <a:ahLst/>
            <a:cxnLst/>
            <a:rect r="r" b="b" t="t" l="l"/>
            <a:pathLst>
              <a:path h="359938" w="755426">
                <a:moveTo>
                  <a:pt x="0" y="0"/>
                </a:moveTo>
                <a:lnTo>
                  <a:pt x="755426" y="0"/>
                </a:lnTo>
                <a:lnTo>
                  <a:pt x="755426" y="359938"/>
                </a:lnTo>
                <a:lnTo>
                  <a:pt x="0" y="359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85085" y="7076373"/>
            <a:ext cx="196334" cy="196334"/>
          </a:xfrm>
          <a:custGeom>
            <a:avLst/>
            <a:gdLst/>
            <a:ahLst/>
            <a:cxnLst/>
            <a:rect r="r" b="b" t="t" l="l"/>
            <a:pathLst>
              <a:path h="196334" w="196334">
                <a:moveTo>
                  <a:pt x="0" y="0"/>
                </a:moveTo>
                <a:lnTo>
                  <a:pt x="196333" y="0"/>
                </a:lnTo>
                <a:lnTo>
                  <a:pt x="196333" y="196334"/>
                </a:lnTo>
                <a:lnTo>
                  <a:pt x="0" y="196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51907" y="7076370"/>
            <a:ext cx="196334" cy="196334"/>
          </a:xfrm>
          <a:custGeom>
            <a:avLst/>
            <a:gdLst/>
            <a:ahLst/>
            <a:cxnLst/>
            <a:rect r="r" b="b" t="t" l="l"/>
            <a:pathLst>
              <a:path h="196334" w="196334">
                <a:moveTo>
                  <a:pt x="0" y="0"/>
                </a:moveTo>
                <a:lnTo>
                  <a:pt x="196334" y="0"/>
                </a:lnTo>
                <a:lnTo>
                  <a:pt x="196334" y="196334"/>
                </a:lnTo>
                <a:lnTo>
                  <a:pt x="0" y="1963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85552" y="7076373"/>
            <a:ext cx="196334" cy="196334"/>
          </a:xfrm>
          <a:custGeom>
            <a:avLst/>
            <a:gdLst/>
            <a:ahLst/>
            <a:cxnLst/>
            <a:rect r="r" b="b" t="t" l="l"/>
            <a:pathLst>
              <a:path h="196334" w="196334">
                <a:moveTo>
                  <a:pt x="0" y="0"/>
                </a:moveTo>
                <a:lnTo>
                  <a:pt x="196334" y="0"/>
                </a:lnTo>
                <a:lnTo>
                  <a:pt x="196334" y="196334"/>
                </a:lnTo>
                <a:lnTo>
                  <a:pt x="0" y="1963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452375" y="7076370"/>
            <a:ext cx="196334" cy="196334"/>
          </a:xfrm>
          <a:custGeom>
            <a:avLst/>
            <a:gdLst/>
            <a:ahLst/>
            <a:cxnLst/>
            <a:rect r="r" b="b" t="t" l="l"/>
            <a:pathLst>
              <a:path h="196334" w="196334">
                <a:moveTo>
                  <a:pt x="0" y="0"/>
                </a:moveTo>
                <a:lnTo>
                  <a:pt x="196333" y="0"/>
                </a:lnTo>
                <a:lnTo>
                  <a:pt x="196333" y="196334"/>
                </a:lnTo>
                <a:lnTo>
                  <a:pt x="0" y="19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18729" y="7076373"/>
            <a:ext cx="196334" cy="196334"/>
          </a:xfrm>
          <a:custGeom>
            <a:avLst/>
            <a:gdLst/>
            <a:ahLst/>
            <a:cxnLst/>
            <a:rect r="r" b="b" t="t" l="l"/>
            <a:pathLst>
              <a:path h="196334" w="196334">
                <a:moveTo>
                  <a:pt x="0" y="0"/>
                </a:moveTo>
                <a:lnTo>
                  <a:pt x="196334" y="0"/>
                </a:lnTo>
                <a:lnTo>
                  <a:pt x="196334" y="196334"/>
                </a:lnTo>
                <a:lnTo>
                  <a:pt x="0" y="1963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375688" y="335280"/>
            <a:ext cx="4863291" cy="436750"/>
            <a:chOff x="0" y="0"/>
            <a:chExt cx="6484388" cy="58233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84388" cy="582334"/>
            </a:xfrm>
            <a:custGeom>
              <a:avLst/>
              <a:gdLst/>
              <a:ahLst/>
              <a:cxnLst/>
              <a:rect r="r" b="b" t="t" l="l"/>
              <a:pathLst>
                <a:path h="582334" w="6484388">
                  <a:moveTo>
                    <a:pt x="0" y="0"/>
                  </a:moveTo>
                  <a:lnTo>
                    <a:pt x="6484388" y="0"/>
                  </a:lnTo>
                  <a:lnTo>
                    <a:pt x="6484388" y="582334"/>
                  </a:lnTo>
                  <a:lnTo>
                    <a:pt x="0" y="5823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6484388" cy="63948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spc="-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Canvas do Modelo de Negócios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344414" y="269922"/>
            <a:ext cx="1955854" cy="520545"/>
            <a:chOff x="0" y="0"/>
            <a:chExt cx="2607806" cy="69406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07818" cy="694055"/>
            </a:xfrm>
            <a:custGeom>
              <a:avLst/>
              <a:gdLst/>
              <a:ahLst/>
              <a:cxnLst/>
              <a:rect r="r" b="b" t="t" l="l"/>
              <a:pathLst>
                <a:path h="694055" w="2607818">
                  <a:moveTo>
                    <a:pt x="0" y="0"/>
                  </a:moveTo>
                  <a:lnTo>
                    <a:pt x="2607818" y="0"/>
                  </a:lnTo>
                  <a:lnTo>
                    <a:pt x="2607818" y="694055"/>
                  </a:lnTo>
                  <a:lnTo>
                    <a:pt x="0" y="6940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607806" cy="71311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959"/>
                </a:lnSpc>
              </a:pPr>
              <a:r>
                <a:rPr lang="en-US" sz="79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Criado para: Aplicar práticas de engajamento da população através de tarefas e recompensas.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397598" y="269922"/>
            <a:ext cx="1169958" cy="216908"/>
            <a:chOff x="0" y="0"/>
            <a:chExt cx="1559944" cy="2892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9941" cy="289265"/>
            </a:xfrm>
            <a:custGeom>
              <a:avLst/>
              <a:gdLst/>
              <a:ahLst/>
              <a:cxnLst/>
              <a:rect r="r" b="b" t="t" l="l"/>
              <a:pathLst>
                <a:path h="289265" w="1559941">
                  <a:moveTo>
                    <a:pt x="0" y="0"/>
                  </a:moveTo>
                  <a:lnTo>
                    <a:pt x="1559941" y="0"/>
                  </a:lnTo>
                  <a:lnTo>
                    <a:pt x="1559941" y="289265"/>
                  </a:lnTo>
                  <a:lnTo>
                    <a:pt x="0" y="2892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559944" cy="30826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959"/>
                </a:lnSpc>
              </a:pPr>
              <a:r>
                <a:rPr lang="en-US" sz="799">
                  <a:solidFill>
                    <a:srgbClr val="007AC2"/>
                  </a:solidFill>
                  <a:latin typeface="Arial"/>
                  <a:ea typeface="Arial"/>
                  <a:cs typeface="Arial"/>
                  <a:sym typeface="Arial"/>
                </a:rPr>
                <a:t>GRUPO 8</a:t>
              </a:r>
            </a:p>
          </p:txBody>
        </p:sp>
      </p:grpSp>
      <p:graphicFrame>
        <p:nvGraphicFramePr>
          <p:cNvPr name="Table 48" id="48"/>
          <p:cNvGraphicFramePr>
            <a:graphicFrameLocks noGrp="true"/>
          </p:cNvGraphicFramePr>
          <p:nvPr/>
        </p:nvGraphicFramePr>
        <p:xfrm>
          <a:off x="8662625" y="269922"/>
          <a:ext cx="1625117" cy="507849"/>
        </p:xfrm>
        <a:graphic>
          <a:graphicData uri="http://schemas.openxmlformats.org/drawingml/2006/table">
            <a:tbl>
              <a:tblPr/>
              <a:tblGrid>
                <a:gridCol w="712923"/>
                <a:gridCol w="462286"/>
                <a:gridCol w="449909"/>
              </a:tblGrid>
              <a:tr h="2455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79"/>
                        </a:lnSpc>
                        <a:defRPr/>
                      </a:pPr>
                      <a:r>
                        <a:rPr lang="en-US" sz="599" spc="-24">
                          <a:solidFill>
                            <a:srgbClr val="007A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</a:t>
                      </a:r>
                      <a:endParaRPr lang="en-US" sz="1100"/>
                    </a:p>
                    <a:p>
                      <a:pPr algn="l">
                        <a:lnSpc>
                          <a:spcPts val="818"/>
                        </a:lnSpc>
                      </a:pPr>
                      <a:r>
                        <a:rPr lang="en-US" sz="799" spc="-24">
                          <a:solidFill>
                            <a:srgbClr val="007A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Em: 19</a:t>
                      </a:r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7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719"/>
                        </a:lnSpc>
                        <a:defRPr/>
                      </a:pPr>
                      <a:r>
                        <a:rPr lang="en-US" sz="599" spc="-24">
                          <a:solidFill>
                            <a:srgbClr val="007A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Mês </a:t>
                      </a:r>
                      <a:endParaRPr lang="en-US" sz="1100"/>
                    </a:p>
                    <a:p>
                      <a:pPr algn="l">
                        <a:lnSpc>
                          <a:spcPts val="719"/>
                        </a:lnSpc>
                      </a:pPr>
                      <a:r>
                        <a:rPr lang="en-US" sz="599" spc="-24">
                          <a:solidFill>
                            <a:srgbClr val="007A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Maio</a:t>
                      </a:r>
                    </a:p>
                  </a:txBody>
                  <a:tcPr marL="0" marR="0" marT="0" marB="0" anchor="ctr">
                    <a:lnL cmpd="sng" algn="ctr" cap="flat" w="6350">
                      <a:solidFill>
                        <a:srgbClr val="007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7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719"/>
                        </a:lnSpc>
                        <a:defRPr/>
                      </a:pPr>
                      <a:r>
                        <a:rPr lang="en-US" sz="599" spc="-24">
                          <a:solidFill>
                            <a:srgbClr val="007A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Ano</a:t>
                      </a:r>
                      <a:endParaRPr lang="en-US" sz="1100"/>
                    </a:p>
                    <a:p>
                      <a:pPr algn="l">
                        <a:lnSpc>
                          <a:spcPts val="719"/>
                        </a:lnSpc>
                      </a:pPr>
                      <a:r>
                        <a:rPr lang="en-US" sz="599" spc="-24">
                          <a:solidFill>
                            <a:srgbClr val="007A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</a:p>
                  </a:txBody>
                  <a:tcPr marL="0" marR="0" marT="0" marB="0" anchor="ctr">
                    <a:lnL cmpd="sng" algn="ctr" cap="flat" w="6350">
                      <a:solidFill>
                        <a:srgbClr val="007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296">
                <a:tc gridSpan="3"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9" id="49"/>
          <p:cNvGrpSpPr/>
          <p:nvPr/>
        </p:nvGrpSpPr>
        <p:grpSpPr>
          <a:xfrm rot="0">
            <a:off x="6906177" y="7084161"/>
            <a:ext cx="2285321" cy="177747"/>
            <a:chOff x="0" y="0"/>
            <a:chExt cx="3047095" cy="2369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47095" cy="236996"/>
            </a:xfrm>
            <a:custGeom>
              <a:avLst/>
              <a:gdLst/>
              <a:ahLst/>
              <a:cxnLst/>
              <a:rect r="r" b="b" t="t" l="l"/>
              <a:pathLst>
                <a:path h="236996" w="3047095">
                  <a:moveTo>
                    <a:pt x="0" y="0"/>
                  </a:moveTo>
                  <a:lnTo>
                    <a:pt x="3047095" y="0"/>
                  </a:lnTo>
                  <a:lnTo>
                    <a:pt x="3047095" y="236996"/>
                  </a:lnTo>
                  <a:lnTo>
                    <a:pt x="0" y="2369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047095" cy="2369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199"/>
                </a:lnSpc>
              </a:pPr>
              <a:r>
                <a:rPr lang="en-US" sz="999" spc="-9">
                  <a:solidFill>
                    <a:srgbClr val="007AC2"/>
                  </a:solidFill>
                  <a:latin typeface="Tahoma"/>
                  <a:ea typeface="Tahoma"/>
                  <a:cs typeface="Tahoma"/>
                  <a:sym typeface="Tahoma"/>
                </a:rPr>
                <a:t>0800 570 0800 | </a:t>
              </a:r>
              <a:r>
                <a:rPr lang="en-US" sz="999" spc="-9" u="sng">
                  <a:solidFill>
                    <a:srgbClr val="007AC2"/>
                  </a:solidFill>
                  <a:latin typeface="Tahoma"/>
                  <a:ea typeface="Tahoma"/>
                  <a:cs typeface="Tahoma"/>
                  <a:sym typeface="Tahoma"/>
                  <a:hlinkClick r:id="rId9" tooltip="http://www.sebraemg.com.br/"/>
                </a:rPr>
                <a:t>www.sebraemg.com.br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83252" y="1180973"/>
            <a:ext cx="1881624" cy="4058184"/>
            <a:chOff x="0" y="0"/>
            <a:chExt cx="1127081" cy="243082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27081" cy="2430827"/>
            </a:xfrm>
            <a:custGeom>
              <a:avLst/>
              <a:gdLst/>
              <a:ahLst/>
              <a:cxnLst/>
              <a:rect r="r" b="b" t="t" l="l"/>
              <a:pathLst>
                <a:path h="2430827" w="1127081">
                  <a:moveTo>
                    <a:pt x="0" y="0"/>
                  </a:moveTo>
                  <a:lnTo>
                    <a:pt x="1127081" y="0"/>
                  </a:lnTo>
                  <a:lnTo>
                    <a:pt x="1127081" y="2430827"/>
                  </a:lnTo>
                  <a:lnTo>
                    <a:pt x="0" y="24308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127081" cy="245940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Prefeitura de Campinas:  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— Apoio para ações coletivas como limpeza de rios, plantio e reforma de espaços urbanas;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— Irá  fornecer incentivos fiscais para empresas que ajudarem e participarem do projeto.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Empresas privadas: que oferecerão benefícios e produtos sustentáveis em troca de divulgação;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&gt;Universidades: podem divulgar o aplicativo, oferecer prêmios e incentivar alunos;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Comércios locais: que oferecerão descontos aos usuários;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&gt;ONGs Ambientais: que dará auxílio em ações sustentáveis.</a:t>
              </a:r>
            </a:p>
            <a:p>
              <a:pPr algn="l">
                <a:lnSpc>
                  <a:spcPts val="131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413084" y="1180973"/>
            <a:ext cx="1908658" cy="1785806"/>
            <a:chOff x="0" y="0"/>
            <a:chExt cx="2544877" cy="238107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44877" cy="2381074"/>
            </a:xfrm>
            <a:custGeom>
              <a:avLst/>
              <a:gdLst/>
              <a:ahLst/>
              <a:cxnLst/>
              <a:rect r="r" b="b" t="t" l="l"/>
              <a:pathLst>
                <a:path h="2381074" w="2544877">
                  <a:moveTo>
                    <a:pt x="0" y="0"/>
                  </a:moveTo>
                  <a:lnTo>
                    <a:pt x="2544877" y="0"/>
                  </a:lnTo>
                  <a:lnTo>
                    <a:pt x="2544877" y="2381074"/>
                  </a:lnTo>
                  <a:lnTo>
                    <a:pt x="0" y="2381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544877" cy="240964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Parcerias e divulgar marcas;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Jogo secundário educativo;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Troca de pontos por prêmios, produtos ou descontos;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Tarefas sustentáveis para os usuários;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Práticas sustentáveis sendo realizadas;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Engajamento social.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413641" y="1096400"/>
            <a:ext cx="1866768" cy="4391865"/>
            <a:chOff x="0" y="0"/>
            <a:chExt cx="2489024" cy="585581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89024" cy="5855819"/>
            </a:xfrm>
            <a:custGeom>
              <a:avLst/>
              <a:gdLst/>
              <a:ahLst/>
              <a:cxnLst/>
              <a:rect r="r" b="b" t="t" l="l"/>
              <a:pathLst>
                <a:path h="5855819" w="2489024">
                  <a:moveTo>
                    <a:pt x="0" y="0"/>
                  </a:moveTo>
                  <a:lnTo>
                    <a:pt x="2489024" y="0"/>
                  </a:lnTo>
                  <a:lnTo>
                    <a:pt x="2489024" y="5855819"/>
                  </a:lnTo>
                  <a:lnTo>
                    <a:pt x="0" y="5855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2489024" cy="58843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Para a população: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— Recompensas por ajudar o planeta;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— Educação ambiental de forma gratuita e divertida;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— Engajamento sustentável e prática de cidadania.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Para empresas e comércios parceiros: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— Divulgação da marca;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— Ações de marketing;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— Possibilidade de isenção fiscal (com apoio da prefeitura).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Para a Prefeitura de Campinas: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— Engajamento da população;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— Alinhamento com os compromissos da COP30 e os Objetivos do Desenvolvimento Sustentável (ODS).</a:t>
              </a:r>
            </a:p>
            <a:p>
              <a:pPr algn="l">
                <a:lnSpc>
                  <a:spcPts val="143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436020" y="1180973"/>
            <a:ext cx="1807985" cy="1655560"/>
            <a:chOff x="0" y="0"/>
            <a:chExt cx="2410646" cy="220741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10646" cy="2207414"/>
            </a:xfrm>
            <a:custGeom>
              <a:avLst/>
              <a:gdLst/>
              <a:ahLst/>
              <a:cxnLst/>
              <a:rect r="r" b="b" t="t" l="l"/>
              <a:pathLst>
                <a:path h="2207414" w="2410646">
                  <a:moveTo>
                    <a:pt x="0" y="0"/>
                  </a:moveTo>
                  <a:lnTo>
                    <a:pt x="2410646" y="0"/>
                  </a:lnTo>
                  <a:lnTo>
                    <a:pt x="2410646" y="2207414"/>
                  </a:lnTo>
                  <a:lnTo>
                    <a:pt x="0" y="2207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410646" cy="22359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Redes sociais (Instagram, Facebook, Tik Tok, ...);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 Campanhas educativas em escolas e universidades;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Divulgação pela prefeitura e eventos sustentáveis;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Divulgação em escolas, praças, ônibus e cartazes;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Notificação dentro do aplicativo. 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355018" y="1145043"/>
            <a:ext cx="1662471" cy="3762079"/>
            <a:chOff x="0" y="0"/>
            <a:chExt cx="1517147" cy="343321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17147" cy="3433217"/>
            </a:xfrm>
            <a:custGeom>
              <a:avLst/>
              <a:gdLst/>
              <a:ahLst/>
              <a:cxnLst/>
              <a:rect r="r" b="b" t="t" l="l"/>
              <a:pathLst>
                <a:path h="3433217" w="1517147">
                  <a:moveTo>
                    <a:pt x="0" y="0"/>
                  </a:moveTo>
                  <a:lnTo>
                    <a:pt x="1517147" y="0"/>
                  </a:lnTo>
                  <a:lnTo>
                    <a:pt x="1517147" y="3433217"/>
                  </a:lnTo>
                  <a:lnTo>
                    <a:pt x="0" y="3433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517147" cy="34617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Usuários finais: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População geral acima de 14 anos.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Clientes parceiros: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Pequenas e médias empresas;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Grandes empresas;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Órgãos públicos e prefeitura;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ONGs ambientais.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381910" y="3210065"/>
            <a:ext cx="1896908" cy="1835387"/>
            <a:chOff x="0" y="0"/>
            <a:chExt cx="2529211" cy="244718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29211" cy="2447182"/>
            </a:xfrm>
            <a:custGeom>
              <a:avLst/>
              <a:gdLst/>
              <a:ahLst/>
              <a:cxnLst/>
              <a:rect r="r" b="b" t="t" l="l"/>
              <a:pathLst>
                <a:path h="2447182" w="2529211">
                  <a:moveTo>
                    <a:pt x="0" y="0"/>
                  </a:moveTo>
                  <a:lnTo>
                    <a:pt x="2529211" y="0"/>
                  </a:lnTo>
                  <a:lnTo>
                    <a:pt x="2529211" y="2447182"/>
                  </a:lnTo>
                  <a:lnTo>
                    <a:pt x="0" y="24471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2529211" cy="24757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entrega de proposta de valor ocorre dentro do próprio aplicativo "Guamirim", onde os usuários poderão acessar as tarefas, resgatar os benefícios e descontos, coletar pontos e jogar de maneira educativa. Os prêmios vão retirados em empresas ou comércios parceiros, presencialmente ou ativados digitalmente.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413084" y="3267850"/>
            <a:ext cx="1837067" cy="1832060"/>
            <a:chOff x="0" y="0"/>
            <a:chExt cx="1935320" cy="193004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35320" cy="1930045"/>
            </a:xfrm>
            <a:custGeom>
              <a:avLst/>
              <a:gdLst/>
              <a:ahLst/>
              <a:cxnLst/>
              <a:rect r="r" b="b" t="t" l="l"/>
              <a:pathLst>
                <a:path h="1930045" w="1935320">
                  <a:moveTo>
                    <a:pt x="0" y="0"/>
                  </a:moveTo>
                  <a:lnTo>
                    <a:pt x="1935320" y="0"/>
                  </a:lnTo>
                  <a:lnTo>
                    <a:pt x="1935320" y="1930045"/>
                  </a:lnTo>
                  <a:lnTo>
                    <a:pt x="0" y="19300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1935320" cy="194909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&gt; Desenvolvedores de aplicativos e de jogos;</a:t>
              </a:r>
            </a:p>
            <a:p>
              <a:pPr algn="l">
                <a:lnSpc>
                  <a:spcPts val="1439"/>
                </a:lnSpc>
              </a:pPr>
              <a:r>
                <a:rPr lang="en-US" sz="1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&gt; Equipe de marketing e design;</a:t>
              </a:r>
            </a:p>
            <a:p>
              <a:pPr algn="l">
                <a:lnSpc>
                  <a:spcPts val="1439"/>
                </a:lnSpc>
              </a:pPr>
              <a:r>
                <a:rPr lang="en-US" sz="1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&gt; Plataforma tecnológica;</a:t>
              </a:r>
            </a:p>
            <a:p>
              <a:pPr algn="l">
                <a:lnSpc>
                  <a:spcPts val="1439"/>
                </a:lnSpc>
              </a:pPr>
              <a:r>
                <a:rPr lang="en-US" sz="1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&gt; Sistema de gamificação e de pontuação;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Rede de parceiros e de patrocínio. </a:t>
              </a:r>
            </a:p>
            <a:p>
              <a:pPr algn="l">
                <a:lnSpc>
                  <a:spcPts val="143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83252" y="5372507"/>
            <a:ext cx="4839846" cy="2053959"/>
            <a:chOff x="0" y="0"/>
            <a:chExt cx="2180926" cy="92555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80926" cy="925553"/>
            </a:xfrm>
            <a:custGeom>
              <a:avLst/>
              <a:gdLst/>
              <a:ahLst/>
              <a:cxnLst/>
              <a:rect r="r" b="b" t="t" l="l"/>
              <a:pathLst>
                <a:path h="925553" w="2180926">
                  <a:moveTo>
                    <a:pt x="0" y="0"/>
                  </a:moveTo>
                  <a:lnTo>
                    <a:pt x="2180926" y="0"/>
                  </a:lnTo>
                  <a:lnTo>
                    <a:pt x="2180926" y="925553"/>
                  </a:lnTo>
                  <a:lnTo>
                    <a:pt x="0" y="9255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2180926" cy="94460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Custos fixos: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Salários das equipes (incluindo fundadores e donos);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Custos das operações;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Tecnologia (servidores, manutenção do aplicativo, atualização);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Marketing básico;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Atendimento e suporte técnico;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Sistema de gestão interna;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Custos adicionais para manter a loja.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Custos variáveis: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Prêmios e recompensas;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Campanhas de marketing maiores;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Suporte extra caso tenha alta demanda;</a:t>
              </a:r>
            </a:p>
            <a:p>
              <a:pPr algn="l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Salário de freelancers.</a:t>
              </a:r>
            </a:p>
            <a:p>
              <a:pPr algn="l">
                <a:lnSpc>
                  <a:spcPts val="131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374999" y="5392463"/>
            <a:ext cx="4846368" cy="1411537"/>
            <a:chOff x="0" y="0"/>
            <a:chExt cx="2380148" cy="69323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380148" cy="693234"/>
            </a:xfrm>
            <a:custGeom>
              <a:avLst/>
              <a:gdLst/>
              <a:ahLst/>
              <a:cxnLst/>
              <a:rect r="r" b="b" t="t" l="l"/>
              <a:pathLst>
                <a:path h="693234" w="2380148">
                  <a:moveTo>
                    <a:pt x="0" y="0"/>
                  </a:moveTo>
                  <a:lnTo>
                    <a:pt x="2380148" y="0"/>
                  </a:lnTo>
                  <a:lnTo>
                    <a:pt x="2380148" y="693234"/>
                  </a:lnTo>
                  <a:lnTo>
                    <a:pt x="0" y="693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2380148" cy="72180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Patrocínio de empresas com parceria paga, para empresas que querem mais destaque;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Plano para empresas e comércio freemium, pagamento de taxa para ter mais funcionalidades e visibilidade;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Financiamento público;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Opção de compra de pontos ou de tarefas premium;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Loja dentro do aplicativo com produtos de parceiros ou do próprio aplicativo;</a:t>
              </a:r>
            </a:p>
            <a:p>
              <a:pPr algn="l">
                <a:lnSpc>
                  <a:spcPts val="1319"/>
                </a:lnSpc>
              </a:pPr>
              <a:r>
                <a:rPr lang="en-US" sz="10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Publicidade extra, anúncios pagos de outras empresas.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DAGn4n_QeLs</dc:identifier>
  <dcterms:modified xsi:type="dcterms:W3CDTF">2011-08-01T06:04:30Z</dcterms:modified>
  <cp:revision>1</cp:revision>
  <dc:title>ATIVIDADE 4_ Business Model Canvas_3217221.pptx</dc:title>
</cp:coreProperties>
</file>