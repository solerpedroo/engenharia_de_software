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3" r:id="rId4"/>
    <p:sldId id="265" r:id="rId5"/>
    <p:sldId id="264" r:id="rId6"/>
    <p:sldId id="266" r:id="rId7"/>
    <p:sldId id="267" r:id="rId8"/>
    <p:sldId id="268" r:id="rId9"/>
    <p:sldId id="260" r:id="rId10"/>
    <p:sldId id="261" r:id="rId11"/>
    <p:sldId id="262" r:id="rId12"/>
    <p:sldId id="269" r:id="rId13"/>
    <p:sldId id="25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376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58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7232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983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2103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34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799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7437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2760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931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6517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6068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11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7409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768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128DA-FD25-4C1C-A53C-42DB2C3A54E1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894730-4B25-4DB1-A2D3-9F2A9858C8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72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CjiOJDdahl4&amp;pp=ygUaw6l0aWNhIGUgbm92YXMgdGVjbm9sb2dpYXM%3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tkEwBG2-y0" TargetMode="External"/><Relationship Id="rId2" Type="http://schemas.openxmlformats.org/officeDocument/2006/relationships/hyperlink" Target="https://www.youtube.com/watch?v=12CvgIZJOAo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CjiOJDdahl4" TargetMode="External"/><Relationship Id="rId4" Type="http://schemas.openxmlformats.org/officeDocument/2006/relationships/hyperlink" Target="https://www.youtube.com/watch?v=CjiOJDdahl4&amp;pp=ygUaw6l0aWNhIGUgbm92YXMgdGVjbm9sb2dpYXM%3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94186-ECC2-ECF0-A15C-861D0D2E94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ÉTICA E NOVAS TECNOLOGIAS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285DDD-B204-E052-E201-95C2C3E8D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ÉTICA E ANTROPOLOGIA TEOLÓGICA</a:t>
            </a:r>
          </a:p>
          <a:p>
            <a:r>
              <a:rPr lang="pt-BR" dirty="0"/>
              <a:t>PROF. PE. LEONARDO HENRIQUE PIACENTE</a:t>
            </a:r>
          </a:p>
        </p:txBody>
      </p:sp>
    </p:spTree>
    <p:extLst>
      <p:ext uri="{BB962C8B-B14F-4D97-AF65-F5344CB8AC3E}">
        <p14:creationId xmlns:p14="http://schemas.microsoft.com/office/powerpoint/2010/main" val="2815807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38402-B4DB-C0A8-017A-57842263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IMPLICAÇÕES SOCIAIS DA INTELIGÊNCIA ARTIFICIAL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A41E2F-8F07-B2EA-E892-2D5AA88B6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b="1" i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r>
              <a:rPr lang="pt-BR" b="1" i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Implicações </a:t>
            </a:r>
            <a:r>
              <a:rPr lang="pt-BR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éticas e sociais da inteligência artificial - Dora Kaufman - USP </a:t>
            </a:r>
            <a:r>
              <a:rPr lang="pt-BR" b="1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Talks</a:t>
            </a:r>
            <a:r>
              <a:rPr lang="pt-BR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 #48</a:t>
            </a:r>
          </a:p>
          <a:p>
            <a:r>
              <a:rPr lang="pt-BR" dirty="0"/>
              <a:t>https://m.youtube.com/watch?v=KZGYOl5mAzs&amp;pp=ygUHRG9yYSBpYQ%3D%3D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905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6C9E-4BE5-AC8A-2A33-0369D651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5273C-6E5B-0DF0-F960-39A957DC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IMPLICAÇÕES SOCIAIS DA INTELIGÊNCIA ARTIFICIAL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0937FD-4015-C65D-97DE-63D637177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500" i="0" dirty="0">
                <a:solidFill>
                  <a:srgbClr val="0F0F0F"/>
                </a:solidFill>
                <a:effectLst/>
                <a:latin typeface="+mj-lt"/>
              </a:rPr>
              <a:t>Tecnologia de propósito geral – reconfigura, muda a lógica de funcionamento da economia e da sociedade.</a:t>
            </a:r>
          </a:p>
          <a:p>
            <a:r>
              <a:rPr lang="pt-BR" sz="2500" dirty="0">
                <a:solidFill>
                  <a:srgbClr val="0F0F0F"/>
                </a:solidFill>
                <a:latin typeface="+mj-lt"/>
              </a:rPr>
              <a:t>Matéria-prima CENTRAL DADOS – informações sobre qualquer coisa</a:t>
            </a:r>
            <a:endParaRPr lang="pt-BR" sz="25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pt-BR" sz="2500" dirty="0">
                <a:latin typeface="+mj-lt"/>
              </a:rPr>
              <a:t>DESAFIO DA PRODUÇÃO DE DADOS -  como extrair informações ÚTEIS desse conjunto de dados produzidos?</a:t>
            </a:r>
          </a:p>
        </p:txBody>
      </p:sp>
    </p:spTree>
    <p:extLst>
      <p:ext uri="{BB962C8B-B14F-4D97-AF65-F5344CB8AC3E}">
        <p14:creationId xmlns:p14="http://schemas.microsoft.com/office/powerpoint/2010/main" val="178998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1812A-9665-85E1-D32B-44ADECED0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85930-1B08-9FED-BA7E-749BFB27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IMPLICAÇÕES SOCIAIS DA INTELIGÊNCIA ARTIFICIAL – </a:t>
            </a:r>
            <a:r>
              <a:rPr lang="pt-BR" b="1" dirty="0">
                <a:solidFill>
                  <a:srgbClr val="FF0000"/>
                </a:solidFill>
              </a:rPr>
              <a:t>BENEFÍCIOS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64CCFA-D3A4-3E33-EE62-16A2FCC6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500" dirty="0">
                <a:latin typeface="+mj-lt"/>
              </a:rPr>
              <a:t>Interface facilitada</a:t>
            </a:r>
          </a:p>
          <a:p>
            <a:endParaRPr lang="pt-BR" sz="2500" dirty="0">
              <a:latin typeface="+mj-lt"/>
            </a:endParaRPr>
          </a:p>
          <a:p>
            <a:r>
              <a:rPr lang="pt-BR" sz="2500" dirty="0" err="1">
                <a:latin typeface="+mj-lt"/>
              </a:rPr>
              <a:t>Multi-tarefas</a:t>
            </a:r>
            <a:endParaRPr lang="pt-BR" sz="2500" dirty="0">
              <a:latin typeface="+mj-lt"/>
            </a:endParaRPr>
          </a:p>
          <a:p>
            <a:endParaRPr lang="pt-BR" sz="2500" dirty="0">
              <a:latin typeface="+mj-lt"/>
            </a:endParaRPr>
          </a:p>
          <a:p>
            <a:r>
              <a:rPr lang="pt-BR" sz="2500" dirty="0">
                <a:latin typeface="+mj-lt"/>
              </a:rPr>
              <a:t>Facilitador da vida na sociedade em geral</a:t>
            </a:r>
          </a:p>
          <a:p>
            <a:endParaRPr lang="pt-BR" sz="2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78852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47C50-EC5E-8CD0-9C8A-B760781E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F4AF4D-3868-3B25-FFF6-7E1440804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IMPLICAÇÕES SOCIAIS DA INTELIGÊNCIA ARTIFICIAL - </a:t>
            </a:r>
            <a:r>
              <a:rPr lang="pt-BR" b="1" dirty="0">
                <a:solidFill>
                  <a:srgbClr val="FF0000"/>
                </a:solidFill>
              </a:rPr>
              <a:t>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0B7855-9D6F-5AD8-A08A-73079CD72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500" dirty="0">
                <a:latin typeface="+mj-lt"/>
              </a:rPr>
              <a:t>REGULAMENTAÇÃO DO USO DE NOVAS TECNOLOGIAS</a:t>
            </a:r>
          </a:p>
          <a:p>
            <a:pPr lvl="1"/>
            <a:r>
              <a:rPr lang="pt-BR" sz="2300" dirty="0">
                <a:latin typeface="+mj-lt"/>
              </a:rPr>
              <a:t>AUTO-REGULAMENTAÇÃO – problema: a questão econômica sempre PREVALECERÁ</a:t>
            </a:r>
          </a:p>
          <a:p>
            <a:pPr lvl="1"/>
            <a:r>
              <a:rPr lang="pt-BR" sz="2300" dirty="0">
                <a:latin typeface="+mj-lt"/>
              </a:rPr>
              <a:t>Necessidade de uma regulamentação governamental</a:t>
            </a:r>
          </a:p>
          <a:p>
            <a:pPr lvl="1"/>
            <a:r>
              <a:rPr lang="pt-BR" sz="2300" dirty="0">
                <a:latin typeface="+mj-lt"/>
              </a:rPr>
              <a:t>VELOCIDADE DE DESENVOLVIMENTO DA IA complica a regulamentação</a:t>
            </a:r>
          </a:p>
        </p:txBody>
      </p:sp>
    </p:spTree>
    <p:extLst>
      <p:ext uri="{BB962C8B-B14F-4D97-AF65-F5344CB8AC3E}">
        <p14:creationId xmlns:p14="http://schemas.microsoft.com/office/powerpoint/2010/main" val="196701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41627-A37A-BC90-42E1-73ACD1CE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E0979-B856-285F-1C3D-1E9862A92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IMPLICAÇÕES SOCIAIS DA INTELIGÊNCIA ARTIFICIAL - </a:t>
            </a:r>
            <a:r>
              <a:rPr lang="pt-BR" b="1" dirty="0">
                <a:solidFill>
                  <a:srgbClr val="FF0000"/>
                </a:solidFill>
              </a:rPr>
              <a:t>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A9A9B2-56FE-8B40-811F-DCCFB5AD8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500" dirty="0">
              <a:latin typeface="+mj-lt"/>
            </a:endParaRPr>
          </a:p>
          <a:p>
            <a:r>
              <a:rPr lang="pt-BR" sz="2500" dirty="0">
                <a:latin typeface="+mj-lt"/>
              </a:rPr>
              <a:t>DEFINIÇÃO SOBRE O QUE É INTELIGÊNCIA ARTIFICIAL</a:t>
            </a:r>
          </a:p>
          <a:p>
            <a:pPr lvl="1"/>
            <a:r>
              <a:rPr lang="pt-BR" sz="2300" dirty="0">
                <a:latin typeface="+mj-lt"/>
              </a:rPr>
              <a:t>Dificuldade em identificação, logo dificuldade em regulamentação</a:t>
            </a:r>
          </a:p>
          <a:p>
            <a:pPr lvl="1"/>
            <a:endParaRPr lang="pt-BR" sz="2300" dirty="0">
              <a:latin typeface="+mj-lt"/>
            </a:endParaRPr>
          </a:p>
          <a:p>
            <a:r>
              <a:rPr lang="pt-BR" sz="2500" dirty="0">
                <a:latin typeface="+mj-lt"/>
              </a:rPr>
              <a:t>DIFICULDADE ÉTICA DA NOVAS TECNOLOGIAS – a análise deve ser por domínio ou setores</a:t>
            </a:r>
          </a:p>
        </p:txBody>
      </p:sp>
    </p:spTree>
    <p:extLst>
      <p:ext uri="{BB962C8B-B14F-4D97-AF65-F5344CB8AC3E}">
        <p14:creationId xmlns:p14="http://schemas.microsoft.com/office/powerpoint/2010/main" val="333670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A20DD-B76A-A145-39D4-52FA31BDB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24A8D-26E1-5D2E-AB93-1B46E2750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IMPLICAÇÕES SOCIAIS DA INTELIGÊNCIA ARTIFICIAL - </a:t>
            </a:r>
            <a:r>
              <a:rPr lang="pt-BR" b="1" dirty="0">
                <a:solidFill>
                  <a:srgbClr val="FF0000"/>
                </a:solidFill>
              </a:rPr>
              <a:t>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F64D67-B38D-02BA-CFD4-A45811653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500" b="1" dirty="0">
                <a:latin typeface="+mj-lt"/>
              </a:rPr>
              <a:t>DIFICULDADE SOCIAL – MUNDO DO TRABALHO</a:t>
            </a:r>
          </a:p>
          <a:p>
            <a:pPr lvl="1"/>
            <a:r>
              <a:rPr lang="pt-BR" sz="2300" dirty="0">
                <a:latin typeface="+mj-lt"/>
              </a:rPr>
              <a:t>ATINGINDO FUNÇÕES COGNITIVAS - </a:t>
            </a:r>
          </a:p>
          <a:p>
            <a:pPr lvl="1"/>
            <a:r>
              <a:rPr lang="pt-BR" sz="2300" dirty="0">
                <a:latin typeface="+mj-lt"/>
              </a:rPr>
              <a:t>QUESTÃO DA RENDA – Mais pessoas sem trabalho; muita oferta, abaixam a remuneração</a:t>
            </a:r>
          </a:p>
          <a:p>
            <a:pPr lvl="1"/>
            <a:r>
              <a:rPr lang="pt-BR" sz="2300" dirty="0">
                <a:latin typeface="+mj-lt"/>
              </a:rPr>
              <a:t>FUNÇÕES NOVAS – requer qualificação e requalificação – mesma função, porém com a necessidade de qualificação maior (não é questão de treinamento, mas sim qualificação</a:t>
            </a:r>
          </a:p>
        </p:txBody>
      </p:sp>
    </p:spTree>
    <p:extLst>
      <p:ext uri="{BB962C8B-B14F-4D97-AF65-F5344CB8AC3E}">
        <p14:creationId xmlns:p14="http://schemas.microsoft.com/office/powerpoint/2010/main" val="89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A7837-2709-F5D3-D929-B3188BBA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FB63A-1C4C-6F6D-E64E-69690DD38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IMPLICAÇÕES SOCIAIS DA INTELIGÊNCIA ARTIFICIAL - </a:t>
            </a:r>
            <a:r>
              <a:rPr lang="pt-BR" b="1" dirty="0">
                <a:solidFill>
                  <a:srgbClr val="FF0000"/>
                </a:solidFill>
              </a:rPr>
              <a:t>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C2AF45-12C6-63E0-4AAE-F9483B1D4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500" dirty="0">
              <a:latin typeface="+mj-lt"/>
            </a:endParaRPr>
          </a:p>
          <a:p>
            <a:r>
              <a:rPr lang="pt-BR" sz="2500" b="1" dirty="0">
                <a:latin typeface="+mj-lt"/>
              </a:rPr>
              <a:t>DIFICULDADE SOCIAL – QUESTÃO ECOLÓGICA</a:t>
            </a:r>
          </a:p>
          <a:p>
            <a:pPr lvl="1"/>
            <a:r>
              <a:rPr lang="pt-BR" sz="2300" dirty="0">
                <a:latin typeface="+mj-lt"/>
              </a:rPr>
              <a:t>AO MESMO TEMPO A IA CAPACITA UMA MELHOR COMPREENSÃO DOS PROBLEMAS CLIMÁTICOS...</a:t>
            </a:r>
          </a:p>
          <a:p>
            <a:pPr lvl="1"/>
            <a:r>
              <a:rPr lang="pt-BR" sz="2300" dirty="0">
                <a:latin typeface="+mj-lt"/>
              </a:rPr>
              <a:t>OS DATACENTERS UTILIZAM MUITA ENERGIA PARA TRATAR OS DADOS E ASSIM PRODUZEM MUITO CO2.</a:t>
            </a:r>
          </a:p>
        </p:txBody>
      </p:sp>
    </p:spTree>
    <p:extLst>
      <p:ext uri="{BB962C8B-B14F-4D97-AF65-F5344CB8AC3E}">
        <p14:creationId xmlns:p14="http://schemas.microsoft.com/office/powerpoint/2010/main" val="92818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74747-A3F5-7D00-975F-3E24B4320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 IMPLICAÇÕES ÉTICAS DO USO DA INTELIGÊNCIA ARTIFICIAL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1DB134-DB26-D2C2-F95B-C24657046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b="0" i="0" dirty="0">
              <a:solidFill>
                <a:srgbClr val="0F0F0F"/>
              </a:solidFill>
              <a:effectLst/>
              <a:latin typeface="Roboto" panose="02000000000000000000" pitchFamily="2" charset="0"/>
              <a:hlinkClick r:id="rId2" tooltip="Implicações éticas e sociais da inteligência artificial - Marcelo Finger - USP Talks #48"/>
            </a:endParaRPr>
          </a:p>
          <a:p>
            <a:r>
              <a:rPr lang="pt-BR" b="0" i="0" dirty="0">
                <a:solidFill>
                  <a:srgbClr val="0F0F0F"/>
                </a:solidFill>
                <a:effectLst/>
                <a:latin typeface="Roboto" panose="02000000000000000000" pitchFamily="2" charset="0"/>
                <a:hlinkClick r:id="rId2" tooltip="Implicações éticas e sociais da inteligência artificial - Marcelo Finger - USP Talks #48"/>
              </a:rPr>
              <a:t>Implicações éticas e sociais da inteligência artificial - Marcelo </a:t>
            </a:r>
            <a:r>
              <a:rPr lang="pt-BR" b="0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  <a:hlinkClick r:id="rId2" tooltip="Implicações éticas e sociais da inteligência artificial - Marcelo Finger - USP Talks #48"/>
              </a:rPr>
              <a:t>Finger</a:t>
            </a:r>
            <a:r>
              <a:rPr lang="pt-BR" b="0" i="0" dirty="0">
                <a:solidFill>
                  <a:srgbClr val="0F0F0F"/>
                </a:solidFill>
                <a:effectLst/>
                <a:latin typeface="Roboto" panose="02000000000000000000" pitchFamily="2" charset="0"/>
                <a:hlinkClick r:id="rId2" tooltip="Implicações éticas e sociais da inteligência artificial - Marcelo Finger - USP Talks #48"/>
              </a:rPr>
              <a:t> - USP </a:t>
            </a:r>
            <a:r>
              <a:rPr lang="pt-BR" b="0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  <a:hlinkClick r:id="rId2" tooltip="Implicações éticas e sociais da inteligência artificial - Marcelo Finger - USP Talks #48"/>
              </a:rPr>
              <a:t>Talks</a:t>
            </a:r>
            <a:r>
              <a:rPr lang="pt-BR" b="0" i="0" dirty="0">
                <a:solidFill>
                  <a:srgbClr val="0F0F0F"/>
                </a:solidFill>
                <a:effectLst/>
                <a:latin typeface="Roboto" panose="02000000000000000000" pitchFamily="2" charset="0"/>
                <a:hlinkClick r:id="rId2" tooltip="Implicações éticas e sociais da inteligência artificial - Marcelo Finger - USP Talks #48"/>
              </a:rPr>
              <a:t> #48</a:t>
            </a:r>
            <a:endParaRPr lang="pt-BR" b="0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r>
              <a:rPr lang="pt-BR" dirty="0"/>
              <a:t>https://www.youtube.com/watch?v=CjiOJDdahl4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6833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36D9A-CF1F-A496-DD55-5E4F04BD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2E470-26F1-05CA-294A-70E55703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4000" b="1" dirty="0"/>
              <a:t>USOS DAS NOVAS TECNOLOGIAS PARA O </a:t>
            </a:r>
            <a:r>
              <a:rPr lang="pt-BR" sz="4000" b="1" dirty="0">
                <a:solidFill>
                  <a:srgbClr val="FF0000"/>
                </a:solidFill>
              </a:rPr>
              <a:t>BEM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FC9FDC-F8D6-63A3-AC87-929F1138D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sz="2500" dirty="0"/>
          </a:p>
          <a:p>
            <a:r>
              <a:rPr lang="pt-BR" sz="2500" dirty="0"/>
              <a:t>1. AUMENTO DA PRODUTIVIDADE</a:t>
            </a:r>
          </a:p>
          <a:p>
            <a:endParaRPr lang="pt-BR" sz="2500" dirty="0"/>
          </a:p>
          <a:p>
            <a:r>
              <a:rPr lang="pt-BR" sz="2500" dirty="0"/>
              <a:t>2. USO DA TECNOLOGIA SOMANDA COM O SER HUMANO</a:t>
            </a:r>
          </a:p>
          <a:p>
            <a:r>
              <a:rPr lang="pt-BR" sz="2500" dirty="0"/>
              <a:t>3. PRODUZIR COMPETENTES DADOS PARA ALIMENTAR A IA</a:t>
            </a:r>
          </a:p>
        </p:txBody>
      </p:sp>
    </p:spTree>
    <p:extLst>
      <p:ext uri="{BB962C8B-B14F-4D97-AF65-F5344CB8AC3E}">
        <p14:creationId xmlns:p14="http://schemas.microsoft.com/office/powerpoint/2010/main" val="425057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B888A-F32A-CBA2-DFF9-695EF3C9A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A2DAC-E45E-BF89-30A7-A402AABDD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4000" b="1" dirty="0"/>
              <a:t>USOS </a:t>
            </a:r>
            <a:r>
              <a:rPr lang="pt-BR" sz="4000" b="1" dirty="0">
                <a:solidFill>
                  <a:srgbClr val="FF0000"/>
                </a:solidFill>
              </a:rPr>
              <a:t>INADEQUADOS</a:t>
            </a:r>
            <a:r>
              <a:rPr lang="pt-BR" sz="4000" b="1" dirty="0"/>
              <a:t> DAS NOVAS TECNOLOGIAS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920DB4-CC7B-5367-B890-9AA55CEC0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8531" y="2133600"/>
            <a:ext cx="9505506" cy="4100290"/>
          </a:xfrm>
        </p:spPr>
        <p:txBody>
          <a:bodyPr>
            <a:normAutofit/>
          </a:bodyPr>
          <a:lstStyle/>
          <a:p>
            <a:r>
              <a:rPr lang="pt-BR" sz="2500" dirty="0"/>
              <a:t>1. UTILIZAR AS NOVAS TECNOLOGIAS COMO “ORÁCULO”</a:t>
            </a:r>
          </a:p>
          <a:p>
            <a:endParaRPr lang="pt-BR" sz="2500" dirty="0"/>
          </a:p>
          <a:p>
            <a:r>
              <a:rPr lang="pt-BR" sz="2500" dirty="0"/>
              <a:t>2. SE AS TECNOLOGIAS TEM O NÃO COMPETÊNCIA PARA REALIZAR UMA DETERMINADA FUNÇÃO – nem tudo que é inteligente é competente</a:t>
            </a:r>
          </a:p>
          <a:p>
            <a:endParaRPr lang="pt-BR" sz="2500" dirty="0"/>
          </a:p>
          <a:p>
            <a:r>
              <a:rPr lang="pt-BR" sz="2500" dirty="0"/>
              <a:t>3. MONOPÓLIO DAS BIGTECHS – não estamos vendidos: pequenos x grandes</a:t>
            </a:r>
          </a:p>
        </p:txBody>
      </p:sp>
    </p:spTree>
    <p:extLst>
      <p:ext uri="{BB962C8B-B14F-4D97-AF65-F5344CB8AC3E}">
        <p14:creationId xmlns:p14="http://schemas.microsoft.com/office/powerpoint/2010/main" val="1725804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D74EE-A94F-32D5-1BDD-30136D8F4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1D696-22C1-3C55-CB11-866B21009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4000" b="1" dirty="0"/>
              <a:t>USOS </a:t>
            </a:r>
            <a:r>
              <a:rPr lang="pt-BR" sz="4000" b="1" dirty="0">
                <a:solidFill>
                  <a:srgbClr val="FF0000"/>
                </a:solidFill>
              </a:rPr>
              <a:t>INADEQUADOS</a:t>
            </a:r>
            <a:r>
              <a:rPr lang="pt-BR" sz="4000" b="1" dirty="0"/>
              <a:t> DAS NOVAS TECNOLOGIAS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E2FA3D-F65A-13D5-BA59-E2E4EAA63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8531" y="2133600"/>
            <a:ext cx="9505506" cy="4100290"/>
          </a:xfrm>
        </p:spPr>
        <p:txBody>
          <a:bodyPr>
            <a:normAutofit/>
          </a:bodyPr>
          <a:lstStyle/>
          <a:p>
            <a:endParaRPr lang="pt-BR" sz="2500" dirty="0"/>
          </a:p>
          <a:p>
            <a:r>
              <a:rPr lang="pt-BR" sz="2500" dirty="0"/>
              <a:t>4. DADOS DE PÉSSIMA QUALIDADE – conseguir dados de boa qualidade é muito difícil e custoso</a:t>
            </a:r>
          </a:p>
          <a:p>
            <a:endParaRPr lang="pt-BR" sz="2500"/>
          </a:p>
          <a:p>
            <a:r>
              <a:rPr lang="pt-BR" sz="2500"/>
              <a:t>5</a:t>
            </a:r>
            <a:r>
              <a:rPr lang="pt-BR" sz="2500" dirty="0"/>
              <a:t>. É POSSÍVEL FAZER TUDO – não é porque tudo pode ser feito que tudo é lícito</a:t>
            </a:r>
          </a:p>
        </p:txBody>
      </p:sp>
    </p:spTree>
    <p:extLst>
      <p:ext uri="{BB962C8B-B14F-4D97-AF65-F5344CB8AC3E}">
        <p14:creationId xmlns:p14="http://schemas.microsoft.com/office/powerpoint/2010/main" val="929647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748E5-8D8C-1357-4D18-41D90497C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F17AF5-E24E-6093-354F-4FD8E8836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308344"/>
            <a:ext cx="8915400" cy="5602878"/>
          </a:xfrm>
        </p:spPr>
        <p:txBody>
          <a:bodyPr>
            <a:normAutofit lnSpcReduction="10000"/>
          </a:bodyPr>
          <a:lstStyle/>
          <a:p>
            <a:r>
              <a:rPr lang="pt-BR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Futuro e Tecnologia: Inteligência Artificial Ética e Desenvolvimento | Jorge Vicente Lopes da Silva</a:t>
            </a:r>
          </a:p>
          <a:p>
            <a:r>
              <a:rPr lang="pt-BR" dirty="0">
                <a:hlinkClick r:id="rId2"/>
              </a:rPr>
              <a:t>https://www.youtube.com/watch?v=12CvgIZJOAo</a:t>
            </a:r>
            <a:endParaRPr lang="pt-BR" dirty="0"/>
          </a:p>
          <a:p>
            <a:endParaRPr lang="pt-BR" dirty="0"/>
          </a:p>
          <a:p>
            <a:r>
              <a:rPr lang="pt-BR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Como a tecnologia desafia as leis e a ética mundial | Karina Penna Neves | </a:t>
            </a:r>
            <a:r>
              <a:rPr lang="pt-BR" b="1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TEDxMauá</a:t>
            </a:r>
            <a:endParaRPr lang="pt-BR" b="1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r>
              <a:rPr lang="pt-BR" dirty="0">
                <a:hlinkClick r:id="rId3"/>
              </a:rPr>
              <a:t>https://www.youtube.com/watch?v=ttkEwBG2-y0</a:t>
            </a:r>
            <a:endParaRPr lang="pt-BR" dirty="0"/>
          </a:p>
          <a:p>
            <a:endParaRPr lang="pt-BR" dirty="0"/>
          </a:p>
          <a:p>
            <a:r>
              <a:rPr lang="pt-BR" b="0" i="0" dirty="0">
                <a:solidFill>
                  <a:srgbClr val="0F0F0F"/>
                </a:solidFill>
                <a:effectLst/>
                <a:latin typeface="Roboto" panose="02000000000000000000" pitchFamily="2" charset="0"/>
                <a:hlinkClick r:id="rId4" tooltip="Implicações éticas e sociais da inteligência artificial - Marcelo Finger - USP Talks #48"/>
              </a:rPr>
              <a:t>Implicações éticas e sociais da inteligência artificial - Marcelo </a:t>
            </a:r>
            <a:r>
              <a:rPr lang="pt-BR" b="0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  <a:hlinkClick r:id="rId4" tooltip="Implicações éticas e sociais da inteligência artificial - Marcelo Finger - USP Talks #48"/>
              </a:rPr>
              <a:t>Finger</a:t>
            </a:r>
            <a:r>
              <a:rPr lang="pt-BR" b="0" i="0" dirty="0">
                <a:solidFill>
                  <a:srgbClr val="0F0F0F"/>
                </a:solidFill>
                <a:effectLst/>
                <a:latin typeface="Roboto" panose="02000000000000000000" pitchFamily="2" charset="0"/>
                <a:hlinkClick r:id="rId4" tooltip="Implicações éticas e sociais da inteligência artificial - Marcelo Finger - USP Talks #48"/>
              </a:rPr>
              <a:t> - USP </a:t>
            </a:r>
            <a:r>
              <a:rPr lang="pt-BR" b="0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  <a:hlinkClick r:id="rId4" tooltip="Implicações éticas e sociais da inteligência artificial - Marcelo Finger - USP Talks #48"/>
              </a:rPr>
              <a:t>Talks</a:t>
            </a:r>
            <a:r>
              <a:rPr lang="pt-BR" b="0" i="0" dirty="0">
                <a:solidFill>
                  <a:srgbClr val="0F0F0F"/>
                </a:solidFill>
                <a:effectLst/>
                <a:latin typeface="Roboto" panose="02000000000000000000" pitchFamily="2" charset="0"/>
                <a:hlinkClick r:id="rId4" tooltip="Implicações éticas e sociais da inteligência artificial - Marcelo Finger - USP Talks #48"/>
              </a:rPr>
              <a:t> #48</a:t>
            </a:r>
            <a:endParaRPr lang="pt-BR" b="0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r>
              <a:rPr lang="pt-BR" dirty="0">
                <a:hlinkClick r:id="rId5"/>
              </a:rPr>
              <a:t>https://www.youtube.com/watch?v=CjiOJDdahl4</a:t>
            </a:r>
            <a:endParaRPr lang="pt-BR" dirty="0"/>
          </a:p>
          <a:p>
            <a:endParaRPr lang="pt-BR" dirty="0"/>
          </a:p>
          <a:p>
            <a:r>
              <a:rPr lang="pt-BR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Implicações éticas e sociais da inteligência artificial - Dora Kaufman - USP </a:t>
            </a:r>
            <a:r>
              <a:rPr lang="pt-BR" b="1" i="0" dirty="0" err="1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Talks</a:t>
            </a:r>
            <a:r>
              <a:rPr lang="pt-BR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 #48</a:t>
            </a:r>
          </a:p>
          <a:p>
            <a:r>
              <a:rPr lang="pt-BR" dirty="0"/>
              <a:t>https://m.youtube.com/watch?v=KZGYOl5mAzs&amp;pp=ygUHRG9yYSBpYQ%3D%3D</a:t>
            </a:r>
          </a:p>
        </p:txBody>
      </p:sp>
    </p:spTree>
    <p:extLst>
      <p:ext uri="{BB962C8B-B14F-4D97-AF65-F5344CB8AC3E}">
        <p14:creationId xmlns:p14="http://schemas.microsoft.com/office/powerpoint/2010/main" val="2846535800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91</TotalTime>
  <Words>569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Roboto</vt:lpstr>
      <vt:lpstr>Wingdings 3</vt:lpstr>
      <vt:lpstr>Cacho</vt:lpstr>
      <vt:lpstr>ÉTICA E NOVAS TECNOLOGIAS</vt:lpstr>
      <vt:lpstr>IMPLICAÇÕES SOCIAIS DA INTELIGÊNCIA ARTIFICIAL</vt:lpstr>
      <vt:lpstr>IMPLICAÇÕES SOCIAIS DA INTELIGÊNCIA ARTIFICIAL</vt:lpstr>
      <vt:lpstr>IMPLICAÇÕES SOCIAIS DA INTELIGÊNCIA ARTIFICIAL – BENEFÍCIOS</vt:lpstr>
      <vt:lpstr>IMPLICAÇÕES SOCIAIS DA INTELIGÊNCIA ARTIFICIAL - PROBLEMAS</vt:lpstr>
      <vt:lpstr>IMPLICAÇÕES SOCIAIS DA INTELIGÊNCIA ARTIFICIAL - PROBLEMAS</vt:lpstr>
      <vt:lpstr>IMPLICAÇÕES SOCIAIS DA INTELIGÊNCIA ARTIFICIAL - PROBLEMAS</vt:lpstr>
      <vt:lpstr>IMPLICAÇÕES SOCIAIS DA INTELIGÊNCIA ARTIFICIAL - PROBLEMAS</vt:lpstr>
      <vt:lpstr>AS IMPLICAÇÕES ÉTICAS DO USO DA INTELIGÊNCIA ARTIFICIAL</vt:lpstr>
      <vt:lpstr>USOS DAS NOVAS TECNOLOGIAS PARA O BEM</vt:lpstr>
      <vt:lpstr>USOS INADEQUADOS DAS NOVAS TECNOLOGIAS</vt:lpstr>
      <vt:lpstr>USOS INADEQUADOS DAS NOVAS TECNOLOGIAS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piacente</dc:creator>
  <cp:lastModifiedBy>leonardo piacente</cp:lastModifiedBy>
  <cp:revision>6</cp:revision>
  <dcterms:created xsi:type="dcterms:W3CDTF">2025-04-16T11:34:34Z</dcterms:created>
  <dcterms:modified xsi:type="dcterms:W3CDTF">2025-05-21T12:33:42Z</dcterms:modified>
</cp:coreProperties>
</file>