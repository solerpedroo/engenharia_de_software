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  <p:sldId id="280" r:id="rId29"/>
    <p:sldId id="283" r:id="rId30"/>
    <p:sldId id="284" r:id="rId31"/>
    <p:sldId id="286" r:id="rId32"/>
    <p:sldId id="285" r:id="rId33"/>
    <p:sldId id="287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9943E-67B7-4A1D-8C3B-A8F6FEE54086}" type="datetimeFigureOut">
              <a:rPr lang="pt-BR" smtClean="0"/>
              <a:pPr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BD376-42B5-47E4-ABF0-3EEA45028F3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ÉTICA E RESPONSABILIDADE</a:t>
            </a:r>
            <a:br>
              <a:rPr lang="pt-BR" dirty="0"/>
            </a:br>
            <a:r>
              <a:rPr lang="pt-BR" dirty="0"/>
              <a:t>ECOLOGIA INTEGRAL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28596" y="3886200"/>
            <a:ext cx="8286808" cy="2328882"/>
          </a:xfrm>
        </p:spPr>
        <p:txBody>
          <a:bodyPr>
            <a:normAutofit fontScale="92500"/>
          </a:bodyPr>
          <a:lstStyle/>
          <a:p>
            <a:endParaRPr lang="pt-BR" dirty="0"/>
          </a:p>
          <a:p>
            <a:r>
              <a:rPr lang="pt-BR" dirty="0"/>
              <a:t>Prof. </a:t>
            </a:r>
            <a:r>
              <a:rPr lang="pt-BR" dirty="0" err="1"/>
              <a:t>Pe</a:t>
            </a:r>
            <a:r>
              <a:rPr lang="pt-BR" dirty="0"/>
              <a:t>. Leonardo Piacente</a:t>
            </a:r>
          </a:p>
          <a:p>
            <a:r>
              <a:rPr lang="pt-BR" dirty="0"/>
              <a:t>https://www.youtube.com/watch?v=nJm2nofC0Us</a:t>
            </a:r>
          </a:p>
          <a:p>
            <a:r>
              <a:rPr lang="pt-BR" dirty="0"/>
              <a:t>Prof. Oswaldo </a:t>
            </a:r>
            <a:r>
              <a:rPr lang="pt-BR" dirty="0" err="1"/>
              <a:t>Giacóia</a:t>
            </a:r>
            <a:r>
              <a:rPr lang="pt-BR" dirty="0"/>
              <a:t> – CPFL café filosófico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Ética e Responsabilidade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ÉTICA - 	</a:t>
            </a:r>
            <a:r>
              <a:rPr lang="pt-BR" i="1" dirty="0" err="1"/>
              <a:t>éthos</a:t>
            </a:r>
            <a:r>
              <a:rPr lang="pt-BR" dirty="0"/>
              <a:t> – “parte da filosofia responsável pela investigação dos princípios que motivam, distorcem, disciplinam ou orientam o comportamento humano, refletindo esp. a respeito da essência das normas, valores, prescrições e exortações presentes em qualquer realidade social.”</a:t>
            </a:r>
          </a:p>
          <a:p>
            <a:r>
              <a:rPr lang="pt-BR" dirty="0"/>
              <a:t>ÉTICA DO AGIR HUMANO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Ética e Responsabilidade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RESPONSABILIDADE – A tradução da necessidade de amadurecer e ponderar com lucidez e serenidade as consequências das decisões que tomamos, dos compromissos que fazemos.</a:t>
            </a:r>
          </a:p>
          <a:p>
            <a:endParaRPr lang="pt-BR" dirty="0"/>
          </a:p>
          <a:p>
            <a:r>
              <a:rPr lang="pt-BR" dirty="0"/>
              <a:t>Ética da Responsabilidade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Ética e Responsabilidade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918" y="1600200"/>
            <a:ext cx="8686800" cy="4900634"/>
          </a:xfrm>
        </p:spPr>
        <p:txBody>
          <a:bodyPr>
            <a:normAutofit/>
          </a:bodyPr>
          <a:lstStyle/>
          <a:p>
            <a:r>
              <a:rPr lang="pt-BR" dirty="0"/>
              <a:t>Evitar reduzir a Ética da Responsabilidade somente aos responsáveis assumidos, tanto na perspectiva do saber POSITIVO e por seus PROGNÓSTICOS SOMBRIOS.</a:t>
            </a:r>
          </a:p>
          <a:p>
            <a:r>
              <a:rPr lang="pt-BR" dirty="0"/>
              <a:t>A INTEGRIDADE INTELECTUAL em nossos tempos está colocada tanto pelo saber efetivo, quando por aquilo que nós não sabemos e temos condições de PROGNOSTICAR E DEDUZIR.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Nave espacial chamada TERRA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RESPONSÁVEIS POR ELA...</a:t>
            </a:r>
          </a:p>
          <a:p>
            <a:r>
              <a:rPr lang="pt-BR" dirty="0"/>
              <a:t>Técnicos em geral: Planejadores, Arquitetos e Engenheiros – ‘COMANDANTES E TRIPULANTES’</a:t>
            </a:r>
          </a:p>
          <a:p>
            <a:r>
              <a:rPr lang="pt-BR" dirty="0"/>
              <a:t>MAS TAMBÉM TODOS OS PASSAGEIROS (nós)</a:t>
            </a:r>
          </a:p>
          <a:p>
            <a:r>
              <a:rPr lang="pt-BR" dirty="0"/>
              <a:t>E ATÉ A PRÓPRIA NAVE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Nave espacial chamada TERRA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RESPONSABILIDADE SOCIAL...</a:t>
            </a:r>
          </a:p>
          <a:p>
            <a:r>
              <a:rPr lang="pt-BR" dirty="0"/>
              <a:t>DO INDIVÍDUO</a:t>
            </a:r>
          </a:p>
          <a:p>
            <a:r>
              <a:rPr lang="pt-BR" dirty="0"/>
              <a:t>DE CADA UM DE NÓS QUE HABITA UMA SOCIEDADE QUE FOI PLANETARIAMENTE AMPLIFICADA, EXPANDIDA</a:t>
            </a:r>
          </a:p>
          <a:p>
            <a:r>
              <a:rPr lang="pt-BR" dirty="0"/>
              <a:t>FOI UNIFICADA PELA CADEIA DO MERCADO E PELO DESENVOLVIMENTO TÉCNICO-CIENTÍFICO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Nave espacial chamada TERRA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TODOS ESTÃO IMPLICADOS NUMA RESPONSABILIDADE DE MODO URGENTE!!</a:t>
            </a:r>
          </a:p>
          <a:p>
            <a:r>
              <a:rPr lang="pt-BR" dirty="0"/>
              <a:t>Não só os técnicos</a:t>
            </a:r>
          </a:p>
          <a:p>
            <a:r>
              <a:rPr lang="pt-BR" dirty="0"/>
              <a:t>Mas também os INDIVÍDUOS QUE A HABITAM</a:t>
            </a:r>
          </a:p>
          <a:p>
            <a:r>
              <a:rPr lang="pt-BR" dirty="0"/>
              <a:t>Mas os INTELECTUAIS que devem pensar essa crise, os prognósticos, as perspectivas, as ideias... Responsáveis pelo que sabem e pelo que são capazes de prognosticar.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chegamos a isso...?!</a:t>
            </a:r>
          </a:p>
        </p:txBody>
      </p:sp>
      <p:pic>
        <p:nvPicPr>
          <p:cNvPr id="1028" name="Picture 4" descr="Qual futuro à vista? | Cidadão Cultu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357298"/>
            <a:ext cx="7929618" cy="5290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chegamos a isso...?!</a:t>
            </a:r>
          </a:p>
        </p:txBody>
      </p:sp>
      <p:pic>
        <p:nvPicPr>
          <p:cNvPr id="21506" name="Picture 2" descr="Entenda a polêmica em torno da mineração em terras indígenas | National  Geographi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38029"/>
            <a:ext cx="7858180" cy="5058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chegamos a isso...?!</a:t>
            </a:r>
          </a:p>
        </p:txBody>
      </p:sp>
      <p:pic>
        <p:nvPicPr>
          <p:cNvPr id="22530" name="Picture 2" descr="Poluição do ar: relatório apresenta dados sobre a ameaça à saúde - Blog  4Elemento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90" y="1535910"/>
            <a:ext cx="8572528" cy="4822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chegamos a isso...?!</a:t>
            </a:r>
          </a:p>
        </p:txBody>
      </p:sp>
      <p:pic>
        <p:nvPicPr>
          <p:cNvPr id="23554" name="Picture 2" descr="Essas 55 fotos chocantes sobre poluição ambiental são de cortar o coração •  Awebic | Histórias que Inspi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643050"/>
            <a:ext cx="8654986" cy="45005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CAUSAS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1. A tecnologia: criatividade e poder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102. A humanidade entrou numa nova era, em que o poder da tecnologia nos põe diante duma encruzilhada. Somos herdeiros de dois séculos de ondas enormes de mudanças: a máquina a vapor, a ferrovia, o telégrafo, a eletricidade, o automóvel, o avião, as indústrias químicas, a medicina moderna, a informática e, mais recentemente, a revolução digital, a robótica, as biotecnologias e as nanotecnologias.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2. A globalização do paradigma tecnocrático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106. Mas o problema fundamental é outro e ainda mais profundo: o modo como realmente a humanidade assumiu a tecnologia e o seu desenvolvimento juntamente com um paradigma homogêneo e unidimensional. Neste paradigma, sobressai uma concepção do sujeito que progressivamente, no processo lógico-racional, compreende e assim se apropria do objeto que se encontra fora.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3. Crise do antropocentrismo moderno e suas consequências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918" y="1571612"/>
            <a:ext cx="8686800" cy="5011750"/>
          </a:xfrm>
        </p:spPr>
        <p:txBody>
          <a:bodyPr>
            <a:normAutofit/>
          </a:bodyPr>
          <a:lstStyle/>
          <a:p>
            <a:r>
              <a:rPr lang="pt-BR" dirty="0"/>
              <a:t>115. O antropocentrismo moderno acabou, paradoxalmente, por colocar a razão técnica acima da realidade, porque este ser humano «já não sente a natureza como norma válida nem como um refúgio vivente. Sem se pôr qualquer hipótese, vê-a, </a:t>
            </a:r>
            <a:r>
              <a:rPr lang="pt-BR" dirty="0" err="1"/>
              <a:t>objectivamente</a:t>
            </a:r>
            <a:r>
              <a:rPr lang="pt-BR" dirty="0"/>
              <a:t>, como espaço e matéria onde realizar uma obra em que se imerge completamente, sem se importar com o que possa suceder a ela».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8600" y="332656"/>
            <a:ext cx="8686800" cy="6064708"/>
          </a:xfrm>
        </p:spPr>
        <p:txBody>
          <a:bodyPr>
            <a:normAutofit/>
          </a:bodyPr>
          <a:lstStyle/>
          <a:p>
            <a:r>
              <a:rPr lang="pt-BR" sz="3500" dirty="0"/>
              <a:t>116. Nos tempos modernos, verificou-se um notável excesso antropocêntrico, que hoje, com outra roupagem, continua a minar toda a referência a algo de comum e qualquer tentativa de reforçar os laços sociais.</a:t>
            </a:r>
          </a:p>
          <a:p>
            <a:endParaRPr lang="pt-BR" sz="3500" dirty="0"/>
          </a:p>
          <a:p>
            <a:r>
              <a:rPr lang="pt-BR" sz="3500" b="1" u="sng" dirty="0"/>
              <a:t>O relativismo prático</a:t>
            </a:r>
            <a:r>
              <a:rPr lang="pt-BR" sz="3500" dirty="0"/>
              <a:t> - 122. Um antropocentrismo desordenado gera um estilo de vida desordenado.</a:t>
            </a:r>
          </a:p>
        </p:txBody>
      </p:sp>
    </p:spTree>
    <p:extLst>
      <p:ext uri="{BB962C8B-B14F-4D97-AF65-F5344CB8AC3E}">
        <p14:creationId xmlns:p14="http://schemas.microsoft.com/office/powerpoint/2010/main" val="3152263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42" y="476672"/>
            <a:ext cx="8686800" cy="6095600"/>
          </a:xfrm>
        </p:spPr>
        <p:txBody>
          <a:bodyPr>
            <a:normAutofit/>
          </a:bodyPr>
          <a:lstStyle/>
          <a:p>
            <a:r>
              <a:rPr lang="pt-BR" sz="3500" b="1" u="sng" dirty="0"/>
              <a:t>A necessidade de defender o trabalho</a:t>
            </a:r>
            <a:r>
              <a:rPr lang="pt-BR" sz="3500" dirty="0"/>
              <a:t> - 124. Em qualquer abordagem de ecologia integral que não exclua o ser humano, é indispensável incluir o valor do trabalho.</a:t>
            </a:r>
          </a:p>
          <a:p>
            <a:endParaRPr lang="pt-BR" sz="3500" b="1" u="sng" dirty="0"/>
          </a:p>
          <a:p>
            <a:r>
              <a:rPr lang="pt-BR" sz="3500" b="1" u="sng" dirty="0"/>
              <a:t>A inovação biológica a partir da pesquisa</a:t>
            </a:r>
            <a:r>
              <a:rPr lang="pt-BR" sz="3500" dirty="0"/>
              <a:t> - Recorda, com firmeza, que o poder humano tem limites e que «é contrário à dignidade humana fazer sofrer inutilmente os animais e dispor indiscriminadamente das suas vidas»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2511420"/>
          </a:xfrm>
        </p:spPr>
        <p:txBody>
          <a:bodyPr>
            <a:normAutofit/>
          </a:bodyPr>
          <a:lstStyle/>
          <a:p>
            <a:r>
              <a:rPr lang="pt-BR" dirty="0"/>
              <a:t>Ética da natureza, dos seres não humanos e dos seres que ainda não existem?!?!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14282" y="3071810"/>
            <a:ext cx="30718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0" b="1" dirty="0"/>
              <a:t>ÉTICA DA </a:t>
            </a:r>
            <a:r>
              <a:rPr lang="pt-BR" sz="5000" b="1" i="1" dirty="0"/>
              <a:t>PÓLIS</a:t>
            </a:r>
            <a:endParaRPr lang="pt-BR" sz="5000" b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5857884" y="4726742"/>
            <a:ext cx="30003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0" b="1" dirty="0"/>
              <a:t>ÉTICA DA </a:t>
            </a:r>
            <a:r>
              <a:rPr lang="pt-BR" sz="5000" b="1" i="1" dirty="0"/>
              <a:t>PHYSIS</a:t>
            </a:r>
            <a:endParaRPr lang="pt-BR" sz="5000" b="1" dirty="0"/>
          </a:p>
        </p:txBody>
      </p:sp>
      <p:sp>
        <p:nvSpPr>
          <p:cNvPr id="24578" name="AutoShape 2" descr="Homem-Dúvida - ServerS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4580" name="AutoShape 4" descr="Homem-Dúvida - ServerS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4582" name="Picture 6" descr="O certo é “de repente” ou “derrepente”? | Guia do Estudan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50" y="3214686"/>
            <a:ext cx="2928957" cy="2928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7158" y="2500306"/>
            <a:ext cx="8229600" cy="1143000"/>
          </a:xfrm>
        </p:spPr>
        <p:txBody>
          <a:bodyPr>
            <a:normAutofit/>
          </a:bodyPr>
          <a:lstStyle/>
          <a:p>
            <a:r>
              <a:rPr lang="pt-BR" sz="5000" dirty="0"/>
              <a:t>DIREITO DA NATUREZA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E o Princípio Responsabilidade de Hans Jonas - ppt carreg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169" y="66698"/>
            <a:ext cx="8988425" cy="65770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428604"/>
            <a:ext cx="8715436" cy="6000792"/>
          </a:xfrm>
        </p:spPr>
        <p:txBody>
          <a:bodyPr>
            <a:normAutofit/>
          </a:bodyPr>
          <a:lstStyle/>
          <a:p>
            <a:r>
              <a:rPr lang="pt-BR" sz="3800" dirty="0"/>
              <a:t>Éticas antropocêntricas (racionalismo e empirismo) – ser humano como senhor da natureza</a:t>
            </a:r>
          </a:p>
          <a:p>
            <a:r>
              <a:rPr lang="pt-BR" sz="3800" dirty="0"/>
              <a:t>Hans-Jonas – ética da responsabilidade – SER HUMANO É PENSADO COMO UMA ESPÉCIE DE ADMINISTRADOR; cabe ao ser humano a RESPONSABILIDADE pela CURA (espécie de curador) da NATUREZA, dos recursos dos quais ele é constituído.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>
            <a:normAutofit/>
          </a:bodyPr>
          <a:lstStyle/>
          <a:p>
            <a:r>
              <a:rPr lang="pt-BR" sz="3900" dirty="0"/>
              <a:t>SER HUMANO – é constituído das mesmas matérias e princípios da begônia, do animal, do inseto... Tudo presente na NAVE TERRA.</a:t>
            </a:r>
          </a:p>
          <a:p>
            <a:r>
              <a:rPr lang="pt-BR" sz="3900" dirty="0"/>
              <a:t>A diferença é que o ser humano TEM O TIMÃO DA NAVE TERRA, DIRIGE A NAVE, MAS FAZ PARTE DOS QUE ESTÃO LÁ DENTRO.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DUAS PROPOSTAS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HUMILDADE – sair de senhor do universo para curador de recursos finitos;</a:t>
            </a:r>
          </a:p>
          <a:p>
            <a:r>
              <a:rPr lang="pt-BR" dirty="0"/>
              <a:t>AUTARQUÉIA (domínio de si) – ponto central do pensamento de Hans-Jonas – ilusão de que todos os nossos micros e macros problemas podem ser resolvidos pela invenção de novos equipamentos tecnológicos; compulsão é uma doença;</a:t>
            </a:r>
          </a:p>
          <a:p>
            <a:r>
              <a:rPr lang="pt-BR" dirty="0"/>
              <a:t>CURA – PERDA DE AUTARQUÉIA E DELÍRIO DA ONIPOTÊNCIA.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ECOLOGIA INTEGRAL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 err="1"/>
              <a:t>Laudato</a:t>
            </a:r>
            <a:r>
              <a:rPr lang="pt-BR" i="1" dirty="0"/>
              <a:t> si’</a:t>
            </a:r>
            <a:r>
              <a:rPr lang="pt-BR" dirty="0"/>
              <a:t> – PAPA FRANCISCO</a:t>
            </a:r>
            <a:endParaRPr lang="pt-BR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Ecologia integral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162. </a:t>
            </a:r>
            <a:r>
              <a:rPr lang="pt-BR" b="1" u="sng" dirty="0">
                <a:solidFill>
                  <a:srgbClr val="FFFF00"/>
                </a:solidFill>
              </a:rPr>
              <a:t>A dificuldade em levar a sério este desafio tem a ver com uma deterioração ética e cultural, que acompanha a deterioração ecológica.</a:t>
            </a:r>
            <a:r>
              <a:rPr lang="pt-BR" dirty="0"/>
              <a:t> O homem e a mulher deste mundo pós-moderno correm o risco permanente de se tornar </a:t>
            </a:r>
            <a:r>
              <a:rPr lang="pt-BR" b="1" u="sng" dirty="0"/>
              <a:t>profundamente individualistas</a:t>
            </a:r>
            <a:r>
              <a:rPr lang="pt-BR" dirty="0"/>
              <a:t>, e muitos </a:t>
            </a:r>
            <a:r>
              <a:rPr lang="pt-BR" b="1" u="sng" dirty="0"/>
              <a:t>problemas sociais de hoje</a:t>
            </a:r>
            <a:r>
              <a:rPr lang="pt-BR" dirty="0"/>
              <a:t> estão relacionados com a </a:t>
            </a:r>
            <a:r>
              <a:rPr lang="pt-BR" b="1" u="sng" dirty="0"/>
              <a:t>busca egoísta duma satisfação imediata</a:t>
            </a:r>
            <a:r>
              <a:rPr lang="pt-BR" dirty="0"/>
              <a:t>, com </a:t>
            </a:r>
            <a:r>
              <a:rPr lang="pt-BR" b="1" u="sng" dirty="0"/>
              <a:t>as crises dos laços familiares e sociais</a:t>
            </a:r>
            <a:r>
              <a:rPr lang="pt-BR" dirty="0"/>
              <a:t>, com </a:t>
            </a:r>
            <a:r>
              <a:rPr lang="pt-BR" b="1" u="sng" dirty="0"/>
              <a:t>as dificuldades em reconhecer o outro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Ecologia integral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918" y="1600200"/>
            <a:ext cx="8686800" cy="4972072"/>
          </a:xfrm>
        </p:spPr>
        <p:txBody>
          <a:bodyPr>
            <a:normAutofit/>
          </a:bodyPr>
          <a:lstStyle/>
          <a:p>
            <a:r>
              <a:rPr lang="pt-BR" dirty="0"/>
              <a:t>Muitas vezes </a:t>
            </a:r>
            <a:r>
              <a:rPr lang="pt-BR" b="1" u="sng" dirty="0"/>
              <a:t>há um consumo excessivo e míope dos pais que prejudica os próprios filhos</a:t>
            </a:r>
            <a:r>
              <a:rPr lang="pt-BR" dirty="0"/>
              <a:t>, que sentem cada vez mais dificuldade em comprar casa própria e fundar uma família. </a:t>
            </a:r>
            <a:r>
              <a:rPr lang="pt-BR" b="1" dirty="0">
                <a:solidFill>
                  <a:srgbClr val="FFFF00"/>
                </a:solidFill>
              </a:rPr>
              <a:t>Além disso esta </a:t>
            </a:r>
            <a:r>
              <a:rPr lang="pt-BR" b="1" u="sng" dirty="0">
                <a:solidFill>
                  <a:srgbClr val="FFFF00"/>
                </a:solidFill>
              </a:rPr>
              <a:t>FALTA DE CAPACIDADE PARA PENSAR SERIAMENTE NAS FUTURAS GERAÇÕES</a:t>
            </a:r>
            <a:r>
              <a:rPr lang="pt-BR" b="1" dirty="0">
                <a:solidFill>
                  <a:srgbClr val="FFFF00"/>
                </a:solidFill>
              </a:rPr>
              <a:t> está ligada com a nossa </a:t>
            </a:r>
            <a:r>
              <a:rPr lang="pt-BR" b="1" u="sng" dirty="0">
                <a:solidFill>
                  <a:srgbClr val="FFFF00"/>
                </a:solidFill>
              </a:rPr>
              <a:t>INCAPACIDADE DE ALARGAR O HORIZONTE</a:t>
            </a:r>
            <a:r>
              <a:rPr lang="pt-BR" b="1" dirty="0">
                <a:solidFill>
                  <a:srgbClr val="FFFF00"/>
                </a:solidFill>
              </a:rPr>
              <a:t> das nossas preocupações e pensar naqueles que permanecem </a:t>
            </a:r>
            <a:r>
              <a:rPr lang="pt-BR" b="1" u="sng" dirty="0">
                <a:solidFill>
                  <a:srgbClr val="FFFF00"/>
                </a:solidFill>
              </a:rPr>
              <a:t>EXCLUÍDOS DO DESENVOLVIMENTO</a:t>
            </a:r>
            <a:r>
              <a:rPr lang="pt-BR" b="1" dirty="0">
                <a:solidFill>
                  <a:srgbClr val="FFFF00"/>
                </a:solidFill>
              </a:rPr>
              <a:t>.</a:t>
            </a:r>
            <a:r>
              <a:rPr lang="pt-BR" dirty="0"/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Ecologia integral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Não percamos tempo a imaginar os pobres do futuro, é suficiente que recordemos os pobres de hoje, que poucos anos têm para viver nesta terra e não podem continuar a esperar. Por isso, «para além de uma leal solidariedade entre as gerações, há que reafirmar a urgente necessidade moral de uma renovada solidariedade entre os indivíduos da mesma geração».[125]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Ecologia integral enciclica do papa francisc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532"/>
            <a:ext cx="9144000" cy="68651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285729"/>
            <a:ext cx="8686800" cy="6286544"/>
          </a:xfrm>
        </p:spPr>
        <p:txBody>
          <a:bodyPr>
            <a:normAutofit/>
          </a:bodyPr>
          <a:lstStyle/>
          <a:p>
            <a:r>
              <a:rPr lang="pt-BR" sz="3500" dirty="0"/>
              <a:t>194. </a:t>
            </a:r>
            <a:r>
              <a:rPr lang="pt-BR" sz="3500" b="1" dirty="0">
                <a:solidFill>
                  <a:srgbClr val="FF0000"/>
                </a:solidFill>
              </a:rPr>
              <a:t>NÃO É SUFICIENTE CONCILIAR</a:t>
            </a:r>
            <a:r>
              <a:rPr lang="pt-BR" sz="3500" dirty="0"/>
              <a:t>, a meio termo, </a:t>
            </a:r>
            <a:r>
              <a:rPr lang="pt-BR" sz="3500" b="1" u="sng" dirty="0">
                <a:solidFill>
                  <a:srgbClr val="FFFF00"/>
                </a:solidFill>
              </a:rPr>
              <a:t>o cuidado da natureza com o ganho financeiro, ou a preservação do meio ambiente com o progresso.</a:t>
            </a:r>
            <a:r>
              <a:rPr lang="pt-BR" sz="3500" dirty="0"/>
              <a:t> Neste campo, os meios-termos são apenas um pequeno adiamento do colapso. </a:t>
            </a:r>
          </a:p>
          <a:p>
            <a:r>
              <a:rPr lang="pt-BR" sz="3500" b="1" u="sng" dirty="0">
                <a:solidFill>
                  <a:srgbClr val="FFFF00"/>
                </a:solidFill>
              </a:rPr>
              <a:t>Um desenvolvimento tecnológico e econômico, que não deixa um mundo melhor e uma qualidade de vida integralmente superior, não se pode considerar progresso.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285729"/>
            <a:ext cx="8686800" cy="6286544"/>
          </a:xfrm>
        </p:spPr>
        <p:txBody>
          <a:bodyPr>
            <a:noAutofit/>
          </a:bodyPr>
          <a:lstStyle/>
          <a:p>
            <a:r>
              <a:rPr lang="pt-BR" dirty="0"/>
              <a:t>Além disso, </a:t>
            </a:r>
            <a:r>
              <a:rPr lang="pt-BR" b="1" u="sng" dirty="0">
                <a:solidFill>
                  <a:srgbClr val="FFFF00"/>
                </a:solidFill>
              </a:rPr>
              <a:t>MUITAS VEZES A QUALIDADE REAL DE VIDA DAS PESSOAS DIMINUI</a:t>
            </a:r>
            <a:r>
              <a:rPr lang="pt-BR" dirty="0"/>
              <a:t> – pela deterioração do ambiente, a baixa qualidade dos produtos alimentares ou o esgotamento de alguns recursos – no contexto dum crescimento da economia. Então, muitas vezes, </a:t>
            </a:r>
            <a:r>
              <a:rPr lang="pt-BR" b="1" u="sng" dirty="0"/>
              <a:t>o discurso do crescimento sustentável torna-se um </a:t>
            </a:r>
            <a:r>
              <a:rPr lang="pt-BR" b="1" u="sng" dirty="0" err="1"/>
              <a:t>diversivo</a:t>
            </a:r>
            <a:r>
              <a:rPr lang="pt-BR" b="1" u="sng" dirty="0"/>
              <a:t> e um meio de justificação</a:t>
            </a:r>
            <a:r>
              <a:rPr lang="pt-BR" dirty="0"/>
              <a:t> que absorve valores do discurso ecologista dentro da lógica da finança e da tecnocracia, </a:t>
            </a:r>
            <a:r>
              <a:rPr lang="pt-BR" b="1" dirty="0">
                <a:solidFill>
                  <a:srgbClr val="FFFF00"/>
                </a:solidFill>
              </a:rPr>
              <a:t>e a responsabilidade social e ambiental das empresas reduz-se, na maior parte dos casos, a uma série de ações de publicidade e imagem.</a:t>
            </a:r>
            <a:r>
              <a:rPr lang="pt-BR" dirty="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PERSPECTIVAS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255. Uma ecologia integral exige que se dedique algum tempo para recuperar a harmonia serena com a criação, refletir sobre o nosso estilo de vida e os nossos ideais, contemplar o Criador, que vive entre nós e naquilo que nos rodeia e cuja presença «não precisa de ser criada, mas descoberta, desvendada»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PERSPECTIVAS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dirty="0"/>
              <a:t>230. Uma ecologia integral é feita também de simples gestos quotidianos, pelos quais quebramos a lógica da violência, da exploração, do egoísmo. Pelo contrário, o mundo do consumo exacerbado é, simultaneamente, o mundo que maltrata a vida em todas as suas formas.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457628" y="142852"/>
            <a:ext cx="5543528" cy="6472246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11. A sua reação [São Francisco de Assis] ultrapassava de longe uma mera avaliação intelectual ou um cálculo econômico, porque, para ele, qualquer criatura era uma irmã, unida a ele por laços de carinho. Por isso, sentia-se chamado a cuidar de tudo o que existe.</a:t>
            </a:r>
          </a:p>
        </p:txBody>
      </p:sp>
      <p:pic>
        <p:nvPicPr>
          <p:cNvPr id="38914" name="Picture 2" descr="Quadro de Pintura São Francisco de Assis 60x105cm-1518 - Artista June  Brandão - Quadro Decorativo - Magazine Luiza"/>
          <p:cNvPicPr>
            <a:picLocks noChangeAspect="1" noChangeArrowheads="1"/>
          </p:cNvPicPr>
          <p:nvPr/>
        </p:nvPicPr>
        <p:blipFill>
          <a:blip r:embed="rId2"/>
          <a:srcRect l="20988" t="8642" r="19753" b="3704"/>
          <a:stretch>
            <a:fillRect/>
          </a:stretch>
        </p:blipFill>
        <p:spPr bwMode="auto">
          <a:xfrm>
            <a:off x="214282" y="928670"/>
            <a:ext cx="3429024" cy="50720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1434</Words>
  <Application>Microsoft Office PowerPoint</Application>
  <PresentationFormat>Apresentação na tela (4:3)</PresentationFormat>
  <Paragraphs>76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6" baseType="lpstr">
      <vt:lpstr>Arial</vt:lpstr>
      <vt:lpstr>Calibri</vt:lpstr>
      <vt:lpstr>Tema do Office</vt:lpstr>
      <vt:lpstr>ÉTICA E RESPONSABILIDADE ECOLOGIA INTEGRAL</vt:lpstr>
      <vt:lpstr>Ética e Responsabilidade</vt:lpstr>
      <vt:lpstr>Ética e Responsabilidade</vt:lpstr>
      <vt:lpstr>Ética e Responsabilidade</vt:lpstr>
      <vt:lpstr>Nave espacial chamada TERRA</vt:lpstr>
      <vt:lpstr>Nave espacial chamada TERRA</vt:lpstr>
      <vt:lpstr>Nave espacial chamada TERRA</vt:lpstr>
      <vt:lpstr>Como chegamos a isso...?!</vt:lpstr>
      <vt:lpstr>Como chegamos a isso...?!</vt:lpstr>
      <vt:lpstr>Como chegamos a isso...?!</vt:lpstr>
      <vt:lpstr>Como chegamos a isso...?!</vt:lpstr>
      <vt:lpstr>CAUSAS</vt:lpstr>
      <vt:lpstr>1. A tecnologia: criatividade e poder</vt:lpstr>
      <vt:lpstr>2. A globalização do paradigma tecnocrático </vt:lpstr>
      <vt:lpstr>3. Crise do antropocentrismo moderno e suas consequências</vt:lpstr>
      <vt:lpstr>Apresentação do PowerPoint</vt:lpstr>
      <vt:lpstr>Apresentação do PowerPoint</vt:lpstr>
      <vt:lpstr>Ética da natureza, dos seres não humanos e dos seres que ainda não existem?!?!</vt:lpstr>
      <vt:lpstr>DIREITO DA NATUREZA</vt:lpstr>
      <vt:lpstr>Apresentação do PowerPoint</vt:lpstr>
      <vt:lpstr>Apresentação do PowerPoint</vt:lpstr>
      <vt:lpstr>Apresentação do PowerPoint</vt:lpstr>
      <vt:lpstr>DUAS PROPOSTAS</vt:lpstr>
      <vt:lpstr>ECOLOGIA INTEGRAL</vt:lpstr>
      <vt:lpstr>Ecologia integral</vt:lpstr>
      <vt:lpstr>Ecologia integral</vt:lpstr>
      <vt:lpstr>Ecologia integral</vt:lpstr>
      <vt:lpstr>Apresentação do PowerPoint</vt:lpstr>
      <vt:lpstr>Apresentação do PowerPoint</vt:lpstr>
      <vt:lpstr>Apresentação do PowerPoint</vt:lpstr>
      <vt:lpstr>PERSPECTIVAS</vt:lpstr>
      <vt:lpstr>PERSPECTIVAS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E RESPONSABILIDADE ECOLOGIA INTEGRAL</dc:title>
  <dc:creator>User</dc:creator>
  <cp:lastModifiedBy>leonardo piacente</cp:lastModifiedBy>
  <cp:revision>6</cp:revision>
  <dcterms:created xsi:type="dcterms:W3CDTF">2020-11-16T23:16:19Z</dcterms:created>
  <dcterms:modified xsi:type="dcterms:W3CDTF">2025-10-22T11:08:14Z</dcterms:modified>
</cp:coreProperties>
</file>