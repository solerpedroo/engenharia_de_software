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98" r:id="rId3"/>
    <p:sldId id="257" r:id="rId4"/>
    <p:sldId id="277" r:id="rId5"/>
    <p:sldId id="258" r:id="rId6"/>
    <p:sldId id="278" r:id="rId7"/>
    <p:sldId id="279" r:id="rId8"/>
    <p:sldId id="259" r:id="rId9"/>
    <p:sldId id="280" r:id="rId10"/>
    <p:sldId id="260" r:id="rId11"/>
    <p:sldId id="281" r:id="rId12"/>
    <p:sldId id="261" r:id="rId13"/>
    <p:sldId id="282" r:id="rId14"/>
    <p:sldId id="262" r:id="rId15"/>
    <p:sldId id="283" r:id="rId16"/>
    <p:sldId id="284" r:id="rId17"/>
    <p:sldId id="263" r:id="rId18"/>
    <p:sldId id="285" r:id="rId19"/>
    <p:sldId id="264" r:id="rId20"/>
    <p:sldId id="286" r:id="rId21"/>
    <p:sldId id="265" r:id="rId22"/>
    <p:sldId id="287" r:id="rId23"/>
    <p:sldId id="267" r:id="rId24"/>
    <p:sldId id="266" r:id="rId25"/>
    <p:sldId id="288" r:id="rId26"/>
    <p:sldId id="268" r:id="rId27"/>
    <p:sldId id="289" r:id="rId28"/>
    <p:sldId id="290" r:id="rId29"/>
    <p:sldId id="269" r:id="rId30"/>
    <p:sldId id="291" r:id="rId31"/>
    <p:sldId id="270" r:id="rId32"/>
    <p:sldId id="292" r:id="rId33"/>
    <p:sldId id="293" r:id="rId34"/>
    <p:sldId id="294" r:id="rId35"/>
    <p:sldId id="272" r:id="rId36"/>
    <p:sldId id="296" r:id="rId37"/>
    <p:sldId id="273" r:id="rId38"/>
    <p:sldId id="295" r:id="rId39"/>
    <p:sldId id="274" r:id="rId40"/>
    <p:sldId id="275" r:id="rId41"/>
    <p:sldId id="276" r:id="rId42"/>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0" d="100"/>
          <a:sy n="60" d="100"/>
        </p:scale>
        <p:origin x="90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5/28/2025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17888995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5/28/2025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3319637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5/28/2025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1319642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5/28/2025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1196412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5/28/2025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25132579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5/28/2025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1605326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5/28/2025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399506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5/28/2025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3594544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5/28/2025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4279077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5/28/2025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220731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5/28/2025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3085968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5/28/2025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‹nº›</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0082697"/>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vatican.va/roman_curia/congregations/cfaith/documents/rc_ddf_doc_20250128_antiqua-et-nova_sp.html#_ftn76"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vatican.va/roman_curia/congregations/cfaith/documents/rc_ddf_doc_20250128_antiqua-et-nova_sp.html#_ftn79"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vatican.va/roman_curia/congregations/cfaith/documents/rc_ddf_doc_20250128_antiqua-et-nova_sp.html#_ftn80"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vatican.va/roman_curia/congregations/cfaith/documents/rc_ddf_doc_20250128_antiqua-et-nova_sp.html#_ftn83" TargetMode="External"/><Relationship Id="rId2" Type="http://schemas.openxmlformats.org/officeDocument/2006/relationships/hyperlink" Target="https://www.vatican.va/roman_curia/congregations/cfaith/documents/rc_ddf_doc_20250128_antiqua-et-nova_sp.html#_ftn82"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vatican.va/roman_curia/congregations/cfaith/documents/rc_ddf_doc_20250128_antiqua-et-nova_sp.html#_ftn84"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vatican.va/roman_curia/congregations/cfaith/documents/rc_ddf_doc_20250128_antiqua-et-nova_sp.html#_ftn89" TargetMode="External"/><Relationship Id="rId2" Type="http://schemas.openxmlformats.org/officeDocument/2006/relationships/hyperlink" Target="https://www.vatican.va/roman_curia/congregations/cfaith/documents/rc_ddf_doc_20250128_antiqua-et-nova_sp.html#_ftn88"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vatican.va/roman_curia/congregations/cfaith/documents/rc_ddf_doc_20250128_antiqua-et-nova_sp.html#_ftn92"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vatican.va/roman_curia/congregations/cfaith/documents/rc_ddf_doc_20250128_antiqua-et-nova_sp.html#_ftn95"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vatican.va/roman_curia/congregations/cfaith/documents/rc_ddf_doc_20250128_antiqua-et-nova_sp.html#_ftn97" TargetMode="External"/><Relationship Id="rId2" Type="http://schemas.openxmlformats.org/officeDocument/2006/relationships/hyperlink" Target="https://www.vatican.va/roman_curia/congregations/cfaith/documents/rc_ddf_doc_20250128_antiqua-et-nova_sp.html#_ftn96"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hyperlink" Target="https://www.vatican.va/roman_curia/congregations/cfaith/documents/rc_ddf_doc_20250128_antiqua-et-nova_sp.html#_ftn101"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vatican.va/roman_curia/congregations/cfaith/documents/rc_ddf_doc_20250128_antiqua-et-nova_sp.html#_ftn104" TargetMode="External"/><Relationship Id="rId2" Type="http://schemas.openxmlformats.org/officeDocument/2006/relationships/hyperlink" Target="https://www.vatican.va/roman_curia/congregations/cfaith/documents/rc_ddf_doc_20250128_antiqua-et-nova_sp.html#_ftn103"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vatican.va/roman_curia/congregations/cfaith/documents/rc_ddf_doc_20250128_antiqua-et-nova_sp.html#_ftn115" TargetMode="External"/><Relationship Id="rId2" Type="http://schemas.openxmlformats.org/officeDocument/2006/relationships/hyperlink" Target="https://www.vatican.va/roman_curia/congregations/cfaith/documents/rc_ddf_doc_20250128_antiqua-et-nova_sp.html#_ftn113"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www.vatican.va/roman_curia/congregations/cfaith/documents/rc_ddf_doc_20250128_antiqua-et-nova_sp.html#_ftn117"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www.vatican.va/roman_curia/congregations/cfaith/documents/rc_ddf_doc_20250128_antiqua-et-nova_sp.html#_ftn119"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vatican.va/roman_curia/congregations/cfaith/documents/rc_ddf_doc_20250128_antiqua-et-nova_sp.html#_ftn135" TargetMode="External"/><Relationship Id="rId2" Type="http://schemas.openxmlformats.org/officeDocument/2006/relationships/hyperlink" Target="https://www.vatican.va/roman_curia/congregations/cfaith/documents/rc_ddf_doc_20250128_antiqua-et-nova_sp.html#_ftn134"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www.vatican.va/roman_curia/congregations/cfaith/documents/rc_ddf_doc_20250128_antiqua-et-nova_sp.html#_ftn144" TargetMode="External"/><Relationship Id="rId2" Type="http://schemas.openxmlformats.org/officeDocument/2006/relationships/hyperlink" Target="https://www.vatican.va/roman_curia/congregations/cfaith/documents/rc_ddf_doc_20250128_antiqua-et-nova_sp.html#_ftn143"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www.vatican.va/roman_curia/congregations/cfaith/documents/rc_ddf_doc_20250128_antiqua-et-nova_sp.html#_ftn150"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www.vatican.va/roman_curia/congregations/cfaith/documents/rc_ddf_doc_20250128_antiqua-et-nova_sp.html#_ftn170"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www.vatican.va/roman_curia/congregations/cfaith/documents/rc_ddf_doc_20250128_antiqua-et-nova_sp.html#_ftn182"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8AA30AA-C9ED-7449-E2A5-1437C299EC2B}"/>
              </a:ext>
            </a:extLst>
          </p:cNvPr>
          <p:cNvSpPr>
            <a:spLocks noGrp="1"/>
          </p:cNvSpPr>
          <p:nvPr>
            <p:ph type="ctrTitle"/>
          </p:nvPr>
        </p:nvSpPr>
        <p:spPr>
          <a:xfrm>
            <a:off x="5604552" y="871758"/>
            <a:ext cx="5825448" cy="3871143"/>
          </a:xfrm>
        </p:spPr>
        <p:txBody>
          <a:bodyPr>
            <a:normAutofit/>
          </a:bodyPr>
          <a:lstStyle/>
          <a:p>
            <a:pPr algn="ctr"/>
            <a:r>
              <a:rPr lang="pt-BR" b="1" i="0" dirty="0">
                <a:solidFill>
                  <a:srgbClr val="000000"/>
                </a:solidFill>
                <a:effectLst/>
                <a:latin typeface="Tahoma" panose="020B0604030504040204" pitchFamily="34" charset="0"/>
              </a:rPr>
              <a:t>ANTIQUA E NOVA</a:t>
            </a:r>
            <a:br>
              <a:rPr lang="pt-BR" b="0" i="0" dirty="0">
                <a:solidFill>
                  <a:srgbClr val="000000"/>
                </a:solidFill>
                <a:effectLst/>
                <a:latin typeface="Tahoma" panose="020B0604030504040204" pitchFamily="34" charset="0"/>
              </a:rPr>
            </a:br>
            <a:r>
              <a:rPr lang="pt-BR" sz="2500" i="1" dirty="0">
                <a:solidFill>
                  <a:srgbClr val="000000"/>
                </a:solidFill>
                <a:effectLst/>
                <a:latin typeface="Tahoma" panose="020B0604030504040204" pitchFamily="34" charset="0"/>
              </a:rPr>
              <a:t>Nota</a:t>
            </a:r>
            <a:r>
              <a:rPr lang="pt-BR" sz="2500" i="0" dirty="0">
                <a:solidFill>
                  <a:srgbClr val="000000"/>
                </a:solidFill>
                <a:effectLst/>
                <a:latin typeface="Tahoma" panose="020B0604030504040204" pitchFamily="34" charset="0"/>
              </a:rPr>
              <a:t> sobre a relação entre inteligência artificial e inteligência humana</a:t>
            </a:r>
            <a:endParaRPr lang="pt-BR" sz="2500" dirty="0"/>
          </a:p>
        </p:txBody>
      </p:sp>
      <p:sp>
        <p:nvSpPr>
          <p:cNvPr id="3" name="Subtítulo 2">
            <a:extLst>
              <a:ext uri="{FF2B5EF4-FFF2-40B4-BE49-F238E27FC236}">
                <a16:creationId xmlns:a16="http://schemas.microsoft.com/office/drawing/2014/main" id="{B7C534B1-260F-CCD7-FD9D-AE9BF6D8C105}"/>
              </a:ext>
            </a:extLst>
          </p:cNvPr>
          <p:cNvSpPr>
            <a:spLocks noGrp="1"/>
          </p:cNvSpPr>
          <p:nvPr>
            <p:ph type="subTitle" idx="1"/>
          </p:nvPr>
        </p:nvSpPr>
        <p:spPr>
          <a:xfrm>
            <a:off x="5619964" y="4785543"/>
            <a:ext cx="5322013" cy="1005657"/>
          </a:xfrm>
        </p:spPr>
        <p:txBody>
          <a:bodyPr>
            <a:normAutofit fontScale="92500"/>
          </a:bodyPr>
          <a:lstStyle/>
          <a:p>
            <a:r>
              <a:rPr lang="pt-BR" b="0" i="0" dirty="0">
                <a:effectLst/>
                <a:latin typeface="Tahoma" panose="020B0604030504040204" pitchFamily="34" charset="0"/>
              </a:rPr>
              <a:t>DICASTÉRIO PARA A DOUTRINA DA FÉ</a:t>
            </a:r>
            <a:br>
              <a:rPr lang="pt-BR" dirty="0"/>
            </a:br>
            <a:r>
              <a:rPr lang="pt-BR" b="0" i="0" dirty="0">
                <a:effectLst/>
                <a:latin typeface="Tahoma" panose="020B0604030504040204" pitchFamily="34" charset="0"/>
              </a:rPr>
              <a:t>DICASTÉRIO PARA A CULTURA E A EDUCAÇÃO</a:t>
            </a:r>
            <a:endParaRPr lang="pt-BR" dirty="0"/>
          </a:p>
        </p:txBody>
      </p:sp>
      <p:pic>
        <p:nvPicPr>
          <p:cNvPr id="15" name="Picture 3" descr="Uma birosca com cores marrom e azul-piscina">
            <a:extLst>
              <a:ext uri="{FF2B5EF4-FFF2-40B4-BE49-F238E27FC236}">
                <a16:creationId xmlns:a16="http://schemas.microsoft.com/office/drawing/2014/main" id="{56552B57-69FA-D4B5-52EB-A15B69157EC5}"/>
              </a:ext>
            </a:extLst>
          </p:cNvPr>
          <p:cNvPicPr>
            <a:picLocks noChangeAspect="1"/>
          </p:cNvPicPr>
          <p:nvPr/>
        </p:nvPicPr>
        <p:blipFill>
          <a:blip r:embed="rId2"/>
          <a:srcRect l="22201" r="27310" b="1"/>
          <a:stretch>
            <a:fillRect/>
          </a:stretch>
        </p:blipFill>
        <p:spPr>
          <a:xfrm>
            <a:off x="1" y="10"/>
            <a:ext cx="4876799" cy="6857989"/>
          </a:xfrm>
          <a:prstGeom prst="rect">
            <a:avLst/>
          </a:prstGeom>
        </p:spPr>
      </p:pic>
      <p:cxnSp>
        <p:nvCxnSpPr>
          <p:cNvPr id="16" name="Straight Connector 10">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723900"/>
            <a:ext cx="5706224"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CF06E40-3ECB-4820-95B5-8A70B07D4B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6134100"/>
            <a:ext cx="56681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1835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A400EE-F418-3481-C484-080D30FA9F69}"/>
              </a:ext>
            </a:extLst>
          </p:cNvPr>
          <p:cNvSpPr>
            <a:spLocks noGrp="1"/>
          </p:cNvSpPr>
          <p:nvPr>
            <p:ph type="title"/>
          </p:nvPr>
        </p:nvSpPr>
        <p:spPr>
          <a:xfrm>
            <a:off x="700635" y="914400"/>
            <a:ext cx="10691265" cy="1711842"/>
          </a:xfrm>
        </p:spPr>
        <p:txBody>
          <a:bodyPr>
            <a:normAutofit fontScale="90000"/>
          </a:bodyPr>
          <a:lstStyle/>
          <a:p>
            <a:r>
              <a:rPr lang="pt-BR" b="1" i="0" dirty="0">
                <a:solidFill>
                  <a:srgbClr val="000000"/>
                </a:solidFill>
                <a:effectLst/>
                <a:latin typeface="Tahoma" panose="020B0604030504040204" pitchFamily="34" charset="0"/>
              </a:rPr>
              <a:t>ANTIQUA E NOVA</a:t>
            </a:r>
            <a:br>
              <a:rPr lang="pt-BR" b="0" i="0" dirty="0">
                <a:solidFill>
                  <a:srgbClr val="000000"/>
                </a:solidFill>
                <a:effectLst/>
                <a:latin typeface="Tahoma" panose="020B0604030504040204" pitchFamily="34" charset="0"/>
              </a:rPr>
            </a:br>
            <a:r>
              <a:rPr lang="pt-BR" sz="4000" i="1" dirty="0">
                <a:solidFill>
                  <a:srgbClr val="000000"/>
                </a:solidFill>
                <a:effectLst/>
                <a:latin typeface="Tahoma" panose="020B0604030504040204" pitchFamily="34" charset="0"/>
              </a:rPr>
              <a:t>Nota</a:t>
            </a:r>
            <a:r>
              <a:rPr lang="pt-BR" sz="4000" i="0" dirty="0">
                <a:solidFill>
                  <a:srgbClr val="000000"/>
                </a:solidFill>
                <a:effectLst/>
                <a:latin typeface="Tahoma" panose="020B0604030504040204" pitchFamily="34" charset="0"/>
              </a:rPr>
              <a:t> sobre a relação entre inteligência artificial e inteligência humana</a:t>
            </a:r>
            <a:endParaRPr lang="pt-BR" dirty="0"/>
          </a:p>
        </p:txBody>
      </p:sp>
      <p:sp>
        <p:nvSpPr>
          <p:cNvPr id="3" name="Espaço Reservado para Conteúdo 2">
            <a:extLst>
              <a:ext uri="{FF2B5EF4-FFF2-40B4-BE49-F238E27FC236}">
                <a16:creationId xmlns:a16="http://schemas.microsoft.com/office/drawing/2014/main" id="{13711519-5CAE-501B-ED6D-6436E22A3D20}"/>
              </a:ext>
            </a:extLst>
          </p:cNvPr>
          <p:cNvSpPr>
            <a:spLocks noGrp="1"/>
          </p:cNvSpPr>
          <p:nvPr>
            <p:ph idx="1"/>
          </p:nvPr>
        </p:nvSpPr>
        <p:spPr>
          <a:xfrm>
            <a:off x="700635" y="2796362"/>
            <a:ext cx="10691265" cy="3165525"/>
          </a:xfrm>
        </p:spPr>
        <p:txBody>
          <a:bodyPr/>
          <a:lstStyle/>
          <a:p>
            <a:r>
              <a:rPr lang="pt-BR" dirty="0"/>
              <a:t>https://www.vatican.va/roman_curia/congregations/cfaith/documents/rc_ddf_doc_20250128_antiqua-et-nova_sp.html</a:t>
            </a:r>
          </a:p>
        </p:txBody>
      </p:sp>
    </p:spTree>
    <p:extLst>
      <p:ext uri="{BB962C8B-B14F-4D97-AF65-F5344CB8AC3E}">
        <p14:creationId xmlns:p14="http://schemas.microsoft.com/office/powerpoint/2010/main" val="639136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4BD95A-A902-6CB4-825D-ED2D0AFD11A2}"/>
              </a:ext>
            </a:extLst>
          </p:cNvPr>
          <p:cNvSpPr>
            <a:spLocks noGrp="1"/>
          </p:cNvSpPr>
          <p:nvPr>
            <p:ph type="title"/>
          </p:nvPr>
        </p:nvSpPr>
        <p:spPr/>
        <p:txBody>
          <a:bodyPr>
            <a:normAutofit fontScale="90000"/>
          </a:bodyPr>
          <a:lstStyle/>
          <a:p>
            <a:r>
              <a:rPr lang="pt-BR" b="1" i="0" dirty="0">
                <a:solidFill>
                  <a:srgbClr val="000000"/>
                </a:solidFill>
                <a:effectLst/>
                <a:latin typeface="Tahoma" panose="020B0604030504040204" pitchFamily="34" charset="0"/>
              </a:rPr>
              <a:t>IV . O papel da ética na orientação do desenvolvimento e uso da IA</a:t>
            </a:r>
            <a:endParaRPr lang="pt-BR" dirty="0"/>
          </a:p>
        </p:txBody>
      </p:sp>
      <p:sp>
        <p:nvSpPr>
          <p:cNvPr id="3" name="Espaço Reservado para Conteúdo 2">
            <a:extLst>
              <a:ext uri="{FF2B5EF4-FFF2-40B4-BE49-F238E27FC236}">
                <a16:creationId xmlns:a16="http://schemas.microsoft.com/office/drawing/2014/main" id="{CB12B927-CEF0-2257-DC39-0D68003F1A37}"/>
              </a:ext>
            </a:extLst>
          </p:cNvPr>
          <p:cNvSpPr>
            <a:spLocks noGrp="1"/>
          </p:cNvSpPr>
          <p:nvPr>
            <p:ph idx="1"/>
          </p:nvPr>
        </p:nvSpPr>
        <p:spPr>
          <a:xfrm>
            <a:off x="531629" y="2221992"/>
            <a:ext cx="10860272" cy="3739896"/>
          </a:xfrm>
        </p:spPr>
        <p:txBody>
          <a:bodyPr>
            <a:noAutofit/>
          </a:bodyPr>
          <a:lstStyle/>
          <a:p>
            <a:r>
              <a:rPr lang="pt-BR" sz="2600" b="0" i="0" dirty="0">
                <a:solidFill>
                  <a:srgbClr val="000000"/>
                </a:solidFill>
                <a:effectLst/>
                <a:latin typeface="Tahoma" panose="020B0604030504040204" pitchFamily="34" charset="0"/>
              </a:rPr>
              <a:t>38. Podemos reconhecer com gratidão como a tecnologia </a:t>
            </a:r>
            <a:r>
              <a:rPr lang="pt-BR" sz="2600" b="1" i="0" dirty="0">
                <a:solidFill>
                  <a:srgbClr val="FF0000"/>
                </a:solidFill>
                <a:effectLst/>
                <a:latin typeface="Tahoma" panose="020B0604030504040204" pitchFamily="34" charset="0"/>
              </a:rPr>
              <a:t>«remediou inúmeros males que prejudicavam e limitavam os seres humanos» </a:t>
            </a:r>
            <a:r>
              <a:rPr lang="pt-BR" sz="2600" b="1" i="0" dirty="0">
                <a:solidFill>
                  <a:srgbClr val="FF0000"/>
                </a:solidFill>
                <a:effectLst/>
                <a:latin typeface="Tahoma" panose="020B0604030504040204" pitchFamily="34" charset="0"/>
                <a:hlinkClick r:id="rId2">
                  <a:extLst>
                    <a:ext uri="{A12FA001-AC4F-418D-AE19-62706E023703}">
                      <ahyp:hlinkClr xmlns:ahyp="http://schemas.microsoft.com/office/drawing/2018/hyperlinkcolor" val="tx"/>
                    </a:ext>
                  </a:extLst>
                </a:hlinkClick>
              </a:rPr>
              <a:t>[76]</a:t>
            </a:r>
            <a:r>
              <a:rPr lang="pt-BR" sz="2600" b="1" i="0" dirty="0">
                <a:solidFill>
                  <a:srgbClr val="FF0000"/>
                </a:solidFill>
                <a:effectLst/>
                <a:latin typeface="Tahoma" panose="020B0604030504040204" pitchFamily="34" charset="0"/>
              </a:rPr>
              <a:t> e não podemos deixar de nos alegrar com isso. </a:t>
            </a:r>
          </a:p>
          <a:p>
            <a:r>
              <a:rPr lang="pt-BR" sz="2600" b="0" i="0" dirty="0">
                <a:solidFill>
                  <a:srgbClr val="000000"/>
                </a:solidFill>
                <a:effectLst/>
                <a:latin typeface="Tahoma" panose="020B0604030504040204" pitchFamily="34" charset="0"/>
              </a:rPr>
              <a:t>Contudo, nem todas as inovações tecnológicas representam um progresso genuíno em si mesmas. </a:t>
            </a:r>
          </a:p>
          <a:p>
            <a:r>
              <a:rPr lang="pt-BR" sz="2600" b="0" i="0" dirty="0">
                <a:solidFill>
                  <a:srgbClr val="000000"/>
                </a:solidFill>
                <a:effectLst/>
                <a:latin typeface="Tahoma" panose="020B0604030504040204" pitchFamily="34" charset="0"/>
              </a:rPr>
              <a:t>Por esta razão, a Igreja opõe-se particularmente às aplicações que </a:t>
            </a:r>
            <a:r>
              <a:rPr lang="pt-BR" sz="2600" b="1" i="0" dirty="0">
                <a:solidFill>
                  <a:srgbClr val="000000"/>
                </a:solidFill>
                <a:effectLst/>
                <a:latin typeface="Tahoma" panose="020B0604030504040204" pitchFamily="34" charset="0"/>
              </a:rPr>
              <a:t>atentem contra a santidade da vida ou contra a dignidade da pessoa</a:t>
            </a:r>
            <a:r>
              <a:rPr lang="pt-BR" sz="2600" b="0" i="0" dirty="0">
                <a:solidFill>
                  <a:srgbClr val="000000"/>
                </a:solidFill>
                <a:effectLst/>
                <a:latin typeface="Tahoma" panose="020B0604030504040204" pitchFamily="34" charset="0"/>
              </a:rPr>
              <a:t>. </a:t>
            </a:r>
          </a:p>
        </p:txBody>
      </p:sp>
    </p:spTree>
    <p:extLst>
      <p:ext uri="{BB962C8B-B14F-4D97-AF65-F5344CB8AC3E}">
        <p14:creationId xmlns:p14="http://schemas.microsoft.com/office/powerpoint/2010/main" val="1093886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03711-05A9-3148-361A-30949673F42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A554AA7-9EDE-B9C8-8239-B47B66CC5A58}"/>
              </a:ext>
            </a:extLst>
          </p:cNvPr>
          <p:cNvSpPr>
            <a:spLocks noGrp="1"/>
          </p:cNvSpPr>
          <p:nvPr>
            <p:ph type="title"/>
          </p:nvPr>
        </p:nvSpPr>
        <p:spPr/>
        <p:txBody>
          <a:bodyPr>
            <a:normAutofit fontScale="90000"/>
          </a:bodyPr>
          <a:lstStyle/>
          <a:p>
            <a:r>
              <a:rPr lang="pt-BR" b="1" i="0" dirty="0">
                <a:solidFill>
                  <a:srgbClr val="000000"/>
                </a:solidFill>
                <a:effectLst/>
                <a:latin typeface="Tahoma" panose="020B0604030504040204" pitchFamily="34" charset="0"/>
              </a:rPr>
              <a:t>IV . O papel da ética na orientação do desenvolvimento e uso da IA</a:t>
            </a:r>
            <a:endParaRPr lang="pt-BR" dirty="0"/>
          </a:p>
        </p:txBody>
      </p:sp>
      <p:sp>
        <p:nvSpPr>
          <p:cNvPr id="3" name="Espaço Reservado para Conteúdo 2">
            <a:extLst>
              <a:ext uri="{FF2B5EF4-FFF2-40B4-BE49-F238E27FC236}">
                <a16:creationId xmlns:a16="http://schemas.microsoft.com/office/drawing/2014/main" id="{7AA89A12-813E-4686-099F-D0E2D57C9EF2}"/>
              </a:ext>
            </a:extLst>
          </p:cNvPr>
          <p:cNvSpPr>
            <a:spLocks noGrp="1"/>
          </p:cNvSpPr>
          <p:nvPr>
            <p:ph idx="1"/>
          </p:nvPr>
        </p:nvSpPr>
        <p:spPr>
          <a:xfrm>
            <a:off x="700635" y="2221992"/>
            <a:ext cx="11016444" cy="3739896"/>
          </a:xfrm>
        </p:spPr>
        <p:txBody>
          <a:bodyPr>
            <a:noAutofit/>
          </a:bodyPr>
          <a:lstStyle/>
          <a:p>
            <a:r>
              <a:rPr lang="pt-BR" sz="2500" b="1" i="0" dirty="0">
                <a:solidFill>
                  <a:srgbClr val="000000"/>
                </a:solidFill>
                <a:effectLst/>
                <a:latin typeface="Tahoma" panose="020B0604030504040204" pitchFamily="34" charset="0"/>
              </a:rPr>
              <a:t>Como qualquer outra iniciativa humana, o desenvolvimento tecnológico deve estar ao serviço do indivíduo e contribuir para os esforços que tendem a alcançar «mais justiça, mais fraternidade e uma abordagem mais humana dos problemas sociais», que «vale mais do que o progresso técnico»</a:t>
            </a:r>
            <a:r>
              <a:rPr lang="pt-BR" sz="2500" b="0" i="0" dirty="0">
                <a:solidFill>
                  <a:srgbClr val="000000"/>
                </a:solidFill>
                <a:effectLst/>
                <a:latin typeface="Tahoma" panose="020B0604030504040204" pitchFamily="34" charset="0"/>
              </a:rPr>
              <a:t> </a:t>
            </a:r>
            <a:r>
              <a:rPr lang="pt-BR" sz="2500" b="0" i="0" dirty="0">
                <a:solidFill>
                  <a:srgbClr val="663300"/>
                </a:solidFill>
                <a:effectLst/>
                <a:latin typeface="Tahoma" panose="020B0604030504040204" pitchFamily="34" charset="0"/>
                <a:hlinkClick r:id="rId2"/>
              </a:rPr>
              <a:t>[79]</a:t>
            </a:r>
            <a:r>
              <a:rPr lang="pt-BR" sz="2500" b="0" i="0" dirty="0">
                <a:solidFill>
                  <a:srgbClr val="000000"/>
                </a:solidFill>
                <a:effectLst/>
                <a:latin typeface="Tahoma" panose="020B0604030504040204" pitchFamily="34" charset="0"/>
              </a:rPr>
              <a:t> . </a:t>
            </a:r>
          </a:p>
          <a:p>
            <a:r>
              <a:rPr lang="pt-BR" sz="2500" b="0" i="0" dirty="0">
                <a:solidFill>
                  <a:srgbClr val="000000"/>
                </a:solidFill>
                <a:effectLst/>
                <a:latin typeface="Tahoma" panose="020B0604030504040204" pitchFamily="34" charset="0"/>
              </a:rPr>
              <a:t>A preocupação com as implicações éticas do desenvolvimento tecnológico </a:t>
            </a:r>
            <a:r>
              <a:rPr lang="pt-BR" sz="2500" b="0" i="0" dirty="0">
                <a:solidFill>
                  <a:srgbClr val="FF0000"/>
                </a:solidFill>
                <a:effectLst/>
                <a:latin typeface="Tahoma" panose="020B0604030504040204" pitchFamily="34" charset="0"/>
              </a:rPr>
              <a:t>é compartilhada não apenas pela Igreja, mas também por cientistas, estudiosos de tecnologia e associações profissionais, que cada vez mais pedem reflexão ética para orientar esse progresso de forma responsável.</a:t>
            </a:r>
            <a:endParaRPr lang="pt-BR" sz="2500" dirty="0">
              <a:solidFill>
                <a:srgbClr val="FF0000"/>
              </a:solidFill>
            </a:endParaRPr>
          </a:p>
        </p:txBody>
      </p:sp>
    </p:spTree>
    <p:extLst>
      <p:ext uri="{BB962C8B-B14F-4D97-AF65-F5344CB8AC3E}">
        <p14:creationId xmlns:p14="http://schemas.microsoft.com/office/powerpoint/2010/main" val="2929830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AFC70-B733-4B99-F481-31CC35B16E6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869AEFE-7566-8322-A023-2125A5C03357}"/>
              </a:ext>
            </a:extLst>
          </p:cNvPr>
          <p:cNvSpPr>
            <a:spLocks noGrp="1"/>
          </p:cNvSpPr>
          <p:nvPr>
            <p:ph type="title"/>
          </p:nvPr>
        </p:nvSpPr>
        <p:spPr/>
        <p:txBody>
          <a:bodyPr>
            <a:normAutofit fontScale="90000"/>
          </a:bodyPr>
          <a:lstStyle/>
          <a:p>
            <a:r>
              <a:rPr lang="pt-BR" b="1" i="0" dirty="0">
                <a:solidFill>
                  <a:srgbClr val="000000"/>
                </a:solidFill>
                <a:effectLst/>
                <a:latin typeface="Tahoma" panose="020B0604030504040204" pitchFamily="34" charset="0"/>
              </a:rPr>
              <a:t>IV . O papel da ética na orientação do desenvolvimento e uso da IA</a:t>
            </a:r>
            <a:endParaRPr lang="pt-BR" dirty="0"/>
          </a:p>
        </p:txBody>
      </p:sp>
      <p:sp>
        <p:nvSpPr>
          <p:cNvPr id="3" name="Espaço Reservado para Conteúdo 2">
            <a:extLst>
              <a:ext uri="{FF2B5EF4-FFF2-40B4-BE49-F238E27FC236}">
                <a16:creationId xmlns:a16="http://schemas.microsoft.com/office/drawing/2014/main" id="{DDB841AB-71D2-9389-4771-18879DA5AB65}"/>
              </a:ext>
            </a:extLst>
          </p:cNvPr>
          <p:cNvSpPr>
            <a:spLocks noGrp="1"/>
          </p:cNvSpPr>
          <p:nvPr>
            <p:ph idx="1"/>
          </p:nvPr>
        </p:nvSpPr>
        <p:spPr/>
        <p:txBody>
          <a:bodyPr>
            <a:normAutofit/>
          </a:bodyPr>
          <a:lstStyle/>
          <a:p>
            <a:r>
              <a:rPr lang="pt-BR" sz="2500" b="0" i="0" dirty="0">
                <a:solidFill>
                  <a:srgbClr val="000000"/>
                </a:solidFill>
                <a:effectLst/>
                <a:latin typeface="Tahoma" panose="020B0604030504040204" pitchFamily="34" charset="0"/>
              </a:rPr>
              <a:t>39. Para responder a estes desafios, é necessário chamar a atenção </a:t>
            </a:r>
            <a:r>
              <a:rPr lang="pt-BR" sz="2500" b="0" i="1" dirty="0">
                <a:solidFill>
                  <a:srgbClr val="000000"/>
                </a:solidFill>
                <a:effectLst/>
                <a:latin typeface="Tahoma" panose="020B0604030504040204" pitchFamily="34" charset="0"/>
              </a:rPr>
              <a:t>para </a:t>
            </a:r>
            <a:r>
              <a:rPr lang="pt-BR" sz="2500" b="1" i="1" dirty="0">
                <a:solidFill>
                  <a:srgbClr val="000000"/>
                </a:solidFill>
                <a:effectLst/>
                <a:latin typeface="Tahoma" panose="020B0604030504040204" pitchFamily="34" charset="0"/>
              </a:rPr>
              <a:t>a importância da responsabilidade moral fundada na dignidade e na vocação da pessoa</a:t>
            </a:r>
            <a:r>
              <a:rPr lang="pt-BR" sz="2500" b="0" i="0" dirty="0">
                <a:solidFill>
                  <a:srgbClr val="000000"/>
                </a:solidFill>
                <a:effectLst/>
                <a:latin typeface="Tahoma" panose="020B0604030504040204" pitchFamily="34" charset="0"/>
              </a:rPr>
              <a:t>. Este princípio também se aplica a questões relacionadas à IA. </a:t>
            </a:r>
          </a:p>
          <a:p>
            <a:r>
              <a:rPr lang="pt-BR" sz="2500" b="1" i="0" dirty="0">
                <a:solidFill>
                  <a:srgbClr val="FF0000"/>
                </a:solidFill>
                <a:effectLst/>
                <a:latin typeface="Tahoma" panose="020B0604030504040204" pitchFamily="34" charset="0"/>
              </a:rPr>
              <a:t>Nesta área, a dimensão ética é essencial, uma vez que são as pessoas que concebem os sistemas e determinam para que servem </a:t>
            </a:r>
            <a:r>
              <a:rPr lang="pt-BR" sz="2500" b="0" i="0" dirty="0">
                <a:solidFill>
                  <a:srgbClr val="663300"/>
                </a:solidFill>
                <a:effectLst/>
                <a:latin typeface="Tahoma" panose="020B0604030504040204" pitchFamily="34" charset="0"/>
                <a:hlinkClick r:id="rId2"/>
              </a:rPr>
              <a:t>[80]</a:t>
            </a:r>
            <a:r>
              <a:rPr lang="pt-BR" sz="2500" b="0" i="0" dirty="0">
                <a:solidFill>
                  <a:srgbClr val="000000"/>
                </a:solidFill>
                <a:effectLst/>
                <a:latin typeface="Tahoma" panose="020B0604030504040204" pitchFamily="34" charset="0"/>
              </a:rPr>
              <a:t> . </a:t>
            </a:r>
          </a:p>
        </p:txBody>
      </p:sp>
    </p:spTree>
    <p:extLst>
      <p:ext uri="{BB962C8B-B14F-4D97-AF65-F5344CB8AC3E}">
        <p14:creationId xmlns:p14="http://schemas.microsoft.com/office/powerpoint/2010/main" val="25359025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068CC-3589-B814-ED3A-254EAF78C78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BD1F935-AE87-D9EF-DB72-E47E101A2005}"/>
              </a:ext>
            </a:extLst>
          </p:cNvPr>
          <p:cNvSpPr>
            <a:spLocks noGrp="1"/>
          </p:cNvSpPr>
          <p:nvPr>
            <p:ph type="title"/>
          </p:nvPr>
        </p:nvSpPr>
        <p:spPr/>
        <p:txBody>
          <a:bodyPr>
            <a:normAutofit fontScale="90000"/>
          </a:bodyPr>
          <a:lstStyle/>
          <a:p>
            <a:r>
              <a:rPr lang="pt-BR" b="1" i="0" dirty="0">
                <a:solidFill>
                  <a:srgbClr val="000000"/>
                </a:solidFill>
                <a:effectLst/>
                <a:latin typeface="Tahoma" panose="020B0604030504040204" pitchFamily="34" charset="0"/>
              </a:rPr>
              <a:t>IV . O papel da ética na orientação do desenvolvimento e uso da IA</a:t>
            </a:r>
            <a:endParaRPr lang="pt-BR" dirty="0"/>
          </a:p>
        </p:txBody>
      </p:sp>
      <p:sp>
        <p:nvSpPr>
          <p:cNvPr id="3" name="Espaço Reservado para Conteúdo 2">
            <a:extLst>
              <a:ext uri="{FF2B5EF4-FFF2-40B4-BE49-F238E27FC236}">
                <a16:creationId xmlns:a16="http://schemas.microsoft.com/office/drawing/2014/main" id="{6171148C-0329-EAA0-0228-F41A6A66488D}"/>
              </a:ext>
            </a:extLst>
          </p:cNvPr>
          <p:cNvSpPr>
            <a:spLocks noGrp="1"/>
          </p:cNvSpPr>
          <p:nvPr>
            <p:ph idx="1"/>
          </p:nvPr>
        </p:nvSpPr>
        <p:spPr/>
        <p:txBody>
          <a:bodyPr>
            <a:normAutofit/>
          </a:bodyPr>
          <a:lstStyle/>
          <a:p>
            <a:r>
              <a:rPr lang="pt-BR" sz="2500" b="1" i="0" dirty="0">
                <a:solidFill>
                  <a:srgbClr val="FF0000"/>
                </a:solidFill>
                <a:effectLst/>
                <a:latin typeface="Tahoma" panose="020B0604030504040204" pitchFamily="34" charset="0"/>
              </a:rPr>
              <a:t>ENTRE UMA MÁQUINA E UM SER HUMANO</a:t>
            </a:r>
            <a:r>
              <a:rPr lang="pt-BR" sz="2500" b="0" i="0" dirty="0">
                <a:solidFill>
                  <a:srgbClr val="000000"/>
                </a:solidFill>
                <a:effectLst/>
                <a:latin typeface="Tahoma" panose="020B0604030504040204" pitchFamily="34" charset="0"/>
              </a:rPr>
              <a:t>, </a:t>
            </a:r>
          </a:p>
          <a:p>
            <a:r>
              <a:rPr lang="pt-BR" sz="2500" b="1" i="0" u="sng" dirty="0">
                <a:solidFill>
                  <a:srgbClr val="000000"/>
                </a:solidFill>
                <a:effectLst/>
                <a:latin typeface="Tahoma" panose="020B0604030504040204" pitchFamily="34" charset="0"/>
              </a:rPr>
              <a:t>só este último é verdadeiramente um agente moral</a:t>
            </a:r>
            <a:r>
              <a:rPr lang="pt-BR" sz="2500" b="0" i="0" dirty="0">
                <a:solidFill>
                  <a:srgbClr val="000000"/>
                </a:solidFill>
                <a:effectLst/>
                <a:latin typeface="Tahoma" panose="020B0604030504040204" pitchFamily="34" charset="0"/>
              </a:rPr>
              <a:t>, isto é, um sujeito moralmente responsável que exerce a sua liberdade nas suas decisões e aceita as suas consequências; </a:t>
            </a:r>
          </a:p>
          <a:p>
            <a:r>
              <a:rPr lang="pt-BR" sz="2500" b="1" u="sng" dirty="0">
                <a:solidFill>
                  <a:srgbClr val="000000"/>
                </a:solidFill>
                <a:latin typeface="Tahoma" panose="020B0604030504040204" pitchFamily="34" charset="0"/>
              </a:rPr>
              <a:t>s</a:t>
            </a:r>
            <a:r>
              <a:rPr lang="pt-BR" sz="2500" b="1" i="0" u="sng" dirty="0">
                <a:solidFill>
                  <a:srgbClr val="000000"/>
                </a:solidFill>
                <a:effectLst/>
                <a:latin typeface="Tahoma" panose="020B0604030504040204" pitchFamily="34" charset="0"/>
              </a:rPr>
              <a:t>ó o ser humano está em relação com a verdade e o bem</a:t>
            </a:r>
            <a:r>
              <a:rPr lang="pt-BR" sz="2500" b="0" i="0" dirty="0">
                <a:solidFill>
                  <a:srgbClr val="000000"/>
                </a:solidFill>
                <a:effectLst/>
                <a:latin typeface="Tahoma" panose="020B0604030504040204" pitchFamily="34" charset="0"/>
              </a:rPr>
              <a:t>, guiado pela consciência moral que o chama a «amar e praticar o bem e a evitar o mal»</a:t>
            </a:r>
            <a:r>
              <a:rPr lang="pt-BR" sz="2500" b="0" i="0" dirty="0">
                <a:solidFill>
                  <a:srgbClr val="663300"/>
                </a:solidFill>
                <a:effectLst/>
                <a:latin typeface="Tahoma" panose="020B0604030504040204" pitchFamily="34" charset="0"/>
                <a:hlinkClick r:id="rId2"/>
              </a:rPr>
              <a:t>[82]</a:t>
            </a:r>
            <a:r>
              <a:rPr lang="pt-BR" sz="2500" b="0" i="0" dirty="0">
                <a:solidFill>
                  <a:srgbClr val="000000"/>
                </a:solidFill>
                <a:effectLst/>
                <a:latin typeface="Tahoma" panose="020B0604030504040204" pitchFamily="34" charset="0"/>
              </a:rPr>
              <a:t>, certificando «a autoridade da verdade com referência ao Bem supremo pelo qual a pessoa humana se sente atraída»</a:t>
            </a:r>
            <a:r>
              <a:rPr lang="pt-BR" sz="2500" b="0" i="0" dirty="0">
                <a:solidFill>
                  <a:srgbClr val="663300"/>
                </a:solidFill>
                <a:effectLst/>
                <a:latin typeface="Tahoma" panose="020B0604030504040204" pitchFamily="34" charset="0"/>
                <a:hlinkClick r:id="rId3"/>
              </a:rPr>
              <a:t>[83]</a:t>
            </a:r>
            <a:r>
              <a:rPr lang="pt-BR" sz="2500" dirty="0">
                <a:solidFill>
                  <a:srgbClr val="000000"/>
                </a:solidFill>
                <a:latin typeface="Tahoma" panose="020B0604030504040204" pitchFamily="34" charset="0"/>
              </a:rPr>
              <a:t>;</a:t>
            </a:r>
          </a:p>
        </p:txBody>
      </p:sp>
    </p:spTree>
    <p:extLst>
      <p:ext uri="{BB962C8B-B14F-4D97-AF65-F5344CB8AC3E}">
        <p14:creationId xmlns:p14="http://schemas.microsoft.com/office/powerpoint/2010/main" val="3523148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87998-8950-4B44-1576-934DD07B1A4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D669C1B-F362-4057-8193-CC68A9938983}"/>
              </a:ext>
            </a:extLst>
          </p:cNvPr>
          <p:cNvSpPr>
            <a:spLocks noGrp="1"/>
          </p:cNvSpPr>
          <p:nvPr>
            <p:ph type="title"/>
          </p:nvPr>
        </p:nvSpPr>
        <p:spPr/>
        <p:txBody>
          <a:bodyPr>
            <a:normAutofit fontScale="90000"/>
          </a:bodyPr>
          <a:lstStyle/>
          <a:p>
            <a:r>
              <a:rPr lang="pt-BR" b="1" i="0" dirty="0">
                <a:solidFill>
                  <a:srgbClr val="000000"/>
                </a:solidFill>
                <a:effectLst/>
                <a:latin typeface="Tahoma" panose="020B0604030504040204" pitchFamily="34" charset="0"/>
              </a:rPr>
              <a:t>IV . O papel da ética na orientação do desenvolvimento e uso da IA</a:t>
            </a:r>
            <a:endParaRPr lang="pt-BR" dirty="0"/>
          </a:p>
        </p:txBody>
      </p:sp>
      <p:sp>
        <p:nvSpPr>
          <p:cNvPr id="3" name="Espaço Reservado para Conteúdo 2">
            <a:extLst>
              <a:ext uri="{FF2B5EF4-FFF2-40B4-BE49-F238E27FC236}">
                <a16:creationId xmlns:a16="http://schemas.microsoft.com/office/drawing/2014/main" id="{230DEF6A-118A-8496-0F58-B6ACC382E359}"/>
              </a:ext>
            </a:extLst>
          </p:cNvPr>
          <p:cNvSpPr>
            <a:spLocks noGrp="1"/>
          </p:cNvSpPr>
          <p:nvPr>
            <p:ph idx="1"/>
          </p:nvPr>
        </p:nvSpPr>
        <p:spPr/>
        <p:txBody>
          <a:bodyPr>
            <a:normAutofit/>
          </a:bodyPr>
          <a:lstStyle/>
          <a:p>
            <a:endParaRPr lang="pt-BR" sz="2500" b="0" i="0" dirty="0">
              <a:solidFill>
                <a:srgbClr val="000000"/>
              </a:solidFill>
              <a:effectLst/>
              <a:latin typeface="Tahoma" panose="020B0604030504040204" pitchFamily="34" charset="0"/>
            </a:endParaRPr>
          </a:p>
          <a:p>
            <a:r>
              <a:rPr lang="pt-BR" sz="2500" b="1" i="0" u="sng" dirty="0">
                <a:solidFill>
                  <a:srgbClr val="000000"/>
                </a:solidFill>
                <a:effectLst/>
                <a:latin typeface="Tahoma" panose="020B0604030504040204" pitchFamily="34" charset="0"/>
              </a:rPr>
              <a:t>só o ser humano pode ter consciência suficiente de si mesmo para escutar e seguir a voz da consciência</a:t>
            </a:r>
            <a:r>
              <a:rPr lang="pt-BR" sz="2500" b="0" i="0" dirty="0">
                <a:solidFill>
                  <a:srgbClr val="000000"/>
                </a:solidFill>
                <a:effectLst/>
                <a:latin typeface="Tahoma" panose="020B0604030504040204" pitchFamily="34" charset="0"/>
              </a:rPr>
              <a:t>, discernindo com prudência e buscando o bem possível em cada situação </a:t>
            </a:r>
            <a:r>
              <a:rPr lang="pt-BR" sz="2500" b="0" i="0" dirty="0">
                <a:solidFill>
                  <a:srgbClr val="663300"/>
                </a:solidFill>
                <a:effectLst/>
                <a:latin typeface="Tahoma" panose="020B0604030504040204" pitchFamily="34" charset="0"/>
                <a:hlinkClick r:id="rId2"/>
              </a:rPr>
              <a:t>[84]</a:t>
            </a:r>
            <a:r>
              <a:rPr lang="pt-BR" sz="2500" b="0" i="0" dirty="0">
                <a:solidFill>
                  <a:srgbClr val="000000"/>
                </a:solidFill>
                <a:effectLst/>
                <a:latin typeface="Tahoma" panose="020B0604030504040204" pitchFamily="34" charset="0"/>
              </a:rPr>
              <a:t> . </a:t>
            </a:r>
          </a:p>
          <a:p>
            <a:r>
              <a:rPr lang="pt-BR" sz="2500" b="1" i="0" dirty="0">
                <a:solidFill>
                  <a:srgbClr val="FF0000"/>
                </a:solidFill>
                <a:effectLst/>
                <a:latin typeface="Tahoma" panose="020B0604030504040204" pitchFamily="34" charset="0"/>
              </a:rPr>
              <a:t>NA REALIDADE, ISSO TAMBÉM PERTENCE AO EXERCÍCIO DA INTELIGÊNCIA PELA PESSOA.</a:t>
            </a:r>
            <a:endParaRPr lang="pt-BR" sz="2500" b="1" dirty="0">
              <a:solidFill>
                <a:srgbClr val="FF0000"/>
              </a:solidFill>
            </a:endParaRPr>
          </a:p>
        </p:txBody>
      </p:sp>
    </p:spTree>
    <p:extLst>
      <p:ext uri="{BB962C8B-B14F-4D97-AF65-F5344CB8AC3E}">
        <p14:creationId xmlns:p14="http://schemas.microsoft.com/office/powerpoint/2010/main" val="7910336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72912-E013-34B4-D290-065477D943B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ECC9225-4FF2-1713-66A4-9F34A93CEE5A}"/>
              </a:ext>
            </a:extLst>
          </p:cNvPr>
          <p:cNvSpPr>
            <a:spLocks noGrp="1"/>
          </p:cNvSpPr>
          <p:nvPr>
            <p:ph type="title"/>
          </p:nvPr>
        </p:nvSpPr>
        <p:spPr/>
        <p:txBody>
          <a:bodyPr>
            <a:normAutofit fontScale="90000"/>
          </a:bodyPr>
          <a:lstStyle/>
          <a:p>
            <a:r>
              <a:rPr lang="pt-BR" b="1" i="0" dirty="0">
                <a:solidFill>
                  <a:srgbClr val="000000"/>
                </a:solidFill>
                <a:effectLst/>
                <a:latin typeface="Tahoma" panose="020B0604030504040204" pitchFamily="34" charset="0"/>
              </a:rPr>
              <a:t>IV . O papel da ética na orientação do desenvolvimento e uso da IA</a:t>
            </a:r>
            <a:endParaRPr lang="pt-BR" dirty="0"/>
          </a:p>
        </p:txBody>
      </p:sp>
      <p:sp>
        <p:nvSpPr>
          <p:cNvPr id="3" name="Espaço Reservado para Conteúdo 2">
            <a:extLst>
              <a:ext uri="{FF2B5EF4-FFF2-40B4-BE49-F238E27FC236}">
                <a16:creationId xmlns:a16="http://schemas.microsoft.com/office/drawing/2014/main" id="{11897842-C10A-54BB-9BEB-FB4B9114B508}"/>
              </a:ext>
            </a:extLst>
          </p:cNvPr>
          <p:cNvSpPr>
            <a:spLocks noGrp="1"/>
          </p:cNvSpPr>
          <p:nvPr>
            <p:ph idx="1"/>
          </p:nvPr>
        </p:nvSpPr>
        <p:spPr>
          <a:xfrm>
            <a:off x="530507" y="2179460"/>
            <a:ext cx="11229095" cy="3987422"/>
          </a:xfrm>
        </p:spPr>
        <p:txBody>
          <a:bodyPr>
            <a:noAutofit/>
          </a:bodyPr>
          <a:lstStyle/>
          <a:p>
            <a:r>
              <a:rPr lang="pt-BR" sz="2300" b="0" i="0" dirty="0">
                <a:solidFill>
                  <a:srgbClr val="000000"/>
                </a:solidFill>
                <a:effectLst/>
                <a:latin typeface="Tahoma" panose="020B0604030504040204" pitchFamily="34" charset="0"/>
              </a:rPr>
              <a:t>42. Por conseguinte, </a:t>
            </a:r>
            <a:r>
              <a:rPr lang="pt-BR" sz="2300" b="1" i="0" u="sng" dirty="0">
                <a:solidFill>
                  <a:srgbClr val="000000"/>
                </a:solidFill>
                <a:effectLst/>
                <a:latin typeface="Tahoma" panose="020B0604030504040204" pitchFamily="34" charset="0"/>
              </a:rPr>
              <a:t>tanto os fins como os meios utilizados numa dada aplicação da IA, bem como a visão global que esta incorpora</a:t>
            </a:r>
            <a:r>
              <a:rPr lang="pt-BR" sz="2300" b="0" i="0" dirty="0">
                <a:solidFill>
                  <a:srgbClr val="000000"/>
                </a:solidFill>
                <a:effectLst/>
                <a:latin typeface="Tahoma" panose="020B0604030504040204" pitchFamily="34" charset="0"/>
              </a:rPr>
              <a:t>, devem ser avaliados para garantir que </a:t>
            </a:r>
            <a:r>
              <a:rPr lang="pt-BR" sz="2300" b="1" i="0" dirty="0">
                <a:solidFill>
                  <a:srgbClr val="FF0000"/>
                </a:solidFill>
                <a:effectLst/>
                <a:latin typeface="Tahoma" panose="020B0604030504040204" pitchFamily="34" charset="0"/>
              </a:rPr>
              <a:t>respeitam a dignidade humana e promovem o bem comum</a:t>
            </a:r>
            <a:r>
              <a:rPr lang="pt-BR" sz="2300" b="0" i="0" dirty="0">
                <a:solidFill>
                  <a:srgbClr val="000000"/>
                </a:solidFill>
                <a:effectLst/>
                <a:latin typeface="Tahoma" panose="020B0604030504040204" pitchFamily="34" charset="0"/>
              </a:rPr>
              <a:t> </a:t>
            </a:r>
            <a:r>
              <a:rPr lang="pt-BR" sz="2300" b="0" i="0" dirty="0">
                <a:solidFill>
                  <a:srgbClr val="663300"/>
                </a:solidFill>
                <a:effectLst/>
                <a:latin typeface="Tahoma" panose="020B0604030504040204" pitchFamily="34" charset="0"/>
                <a:hlinkClick r:id="rId2"/>
              </a:rPr>
              <a:t>[88]</a:t>
            </a:r>
            <a:r>
              <a:rPr lang="pt-BR" sz="2300" b="0" i="0" dirty="0">
                <a:solidFill>
                  <a:srgbClr val="000000"/>
                </a:solidFill>
                <a:effectLst/>
                <a:latin typeface="Tahoma" panose="020B0604030504040204" pitchFamily="34" charset="0"/>
              </a:rPr>
              <a:t>. </a:t>
            </a:r>
          </a:p>
          <a:p>
            <a:r>
              <a:rPr lang="pt-BR" sz="2300" b="0" i="0" dirty="0">
                <a:solidFill>
                  <a:srgbClr val="000000"/>
                </a:solidFill>
                <a:effectLst/>
                <a:latin typeface="Tahoma" panose="020B0604030504040204" pitchFamily="34" charset="0"/>
              </a:rPr>
              <a:t>Papa Francisco, a </a:t>
            </a:r>
            <a:r>
              <a:rPr lang="pt-BR" sz="2300" b="1" i="0" dirty="0">
                <a:solidFill>
                  <a:srgbClr val="000000"/>
                </a:solidFill>
                <a:effectLst/>
                <a:latin typeface="Tahoma" panose="020B0604030504040204" pitchFamily="34" charset="0"/>
              </a:rPr>
              <a:t>«dignidade intrínseca de cada homem e de cada mulher»</a:t>
            </a:r>
            <a:r>
              <a:rPr lang="pt-BR" sz="2300" b="0" i="0" dirty="0">
                <a:solidFill>
                  <a:srgbClr val="000000"/>
                </a:solidFill>
                <a:effectLst/>
                <a:latin typeface="Tahoma" panose="020B0604030504040204" pitchFamily="34" charset="0"/>
              </a:rPr>
              <a:t> deve ser </a:t>
            </a:r>
            <a:r>
              <a:rPr lang="pt-BR" sz="2300" b="1" i="0" dirty="0">
                <a:solidFill>
                  <a:srgbClr val="FF0000"/>
                </a:solidFill>
                <a:effectLst/>
                <a:latin typeface="Tahoma" panose="020B0604030504040204" pitchFamily="34" charset="0"/>
              </a:rPr>
              <a:t>«O CRITÉRIO-CHAVE PARA AVALIAR AS TECNOLOGIAS EMERGENTES, QUE REVELAM A SUA POSITIVIDADE ÉTICA NA MEDIDA EM QUE CONTRIBUEM PARA MANIFESTAR ESSA DIGNIDADE E AUMENTAR A SUA EXPRESSÃO, A TODOS OS NÍVEIS DA VIDA HUMANA»</a:t>
            </a:r>
            <a:r>
              <a:rPr lang="pt-BR" sz="2300" b="0" i="0" dirty="0">
                <a:solidFill>
                  <a:srgbClr val="000000"/>
                </a:solidFill>
                <a:effectLst/>
                <a:latin typeface="Tahoma" panose="020B0604030504040204" pitchFamily="34" charset="0"/>
              </a:rPr>
              <a:t> </a:t>
            </a:r>
            <a:r>
              <a:rPr lang="pt-BR" sz="2300" b="0" i="0" dirty="0">
                <a:solidFill>
                  <a:srgbClr val="663300"/>
                </a:solidFill>
                <a:effectLst/>
                <a:latin typeface="Tahoma" panose="020B0604030504040204" pitchFamily="34" charset="0"/>
                <a:hlinkClick r:id="rId3"/>
              </a:rPr>
              <a:t>[89]</a:t>
            </a:r>
            <a:endParaRPr lang="pt-BR" sz="2300" b="1" dirty="0"/>
          </a:p>
        </p:txBody>
      </p:sp>
    </p:spTree>
    <p:extLst>
      <p:ext uri="{BB962C8B-B14F-4D97-AF65-F5344CB8AC3E}">
        <p14:creationId xmlns:p14="http://schemas.microsoft.com/office/powerpoint/2010/main" val="2616132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0A789-C5C7-F60A-477E-1B0BAF0ABDE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8B748AA-42DD-9672-15FB-74D3416D7F31}"/>
              </a:ext>
            </a:extLst>
          </p:cNvPr>
          <p:cNvSpPr>
            <a:spLocks noGrp="1"/>
          </p:cNvSpPr>
          <p:nvPr>
            <p:ph type="title"/>
          </p:nvPr>
        </p:nvSpPr>
        <p:spPr/>
        <p:txBody>
          <a:bodyPr>
            <a:normAutofit fontScale="90000"/>
          </a:bodyPr>
          <a:lstStyle/>
          <a:p>
            <a:r>
              <a:rPr lang="pt-BR" b="1" i="0" dirty="0">
                <a:solidFill>
                  <a:srgbClr val="000000"/>
                </a:solidFill>
                <a:effectLst/>
                <a:latin typeface="Tahoma" panose="020B0604030504040204" pitchFamily="34" charset="0"/>
              </a:rPr>
              <a:t>IV . O papel da ética na orientação do desenvolvimento e uso da IA</a:t>
            </a:r>
            <a:endParaRPr lang="pt-BR" dirty="0"/>
          </a:p>
        </p:txBody>
      </p:sp>
      <p:sp>
        <p:nvSpPr>
          <p:cNvPr id="3" name="Espaço Reservado para Conteúdo 2">
            <a:extLst>
              <a:ext uri="{FF2B5EF4-FFF2-40B4-BE49-F238E27FC236}">
                <a16:creationId xmlns:a16="http://schemas.microsoft.com/office/drawing/2014/main" id="{C8EFDB6A-08F3-F2B2-DCD4-2CBF7F584C65}"/>
              </a:ext>
            </a:extLst>
          </p:cNvPr>
          <p:cNvSpPr>
            <a:spLocks noGrp="1"/>
          </p:cNvSpPr>
          <p:nvPr>
            <p:ph idx="1"/>
          </p:nvPr>
        </p:nvSpPr>
        <p:spPr/>
        <p:txBody>
          <a:bodyPr>
            <a:noAutofit/>
          </a:bodyPr>
          <a:lstStyle/>
          <a:p>
            <a:r>
              <a:rPr lang="pt-BR" sz="2500" b="1" i="0" dirty="0">
                <a:solidFill>
                  <a:srgbClr val="FF0000"/>
                </a:solidFill>
                <a:effectLst/>
                <a:latin typeface="Tahoma" panose="020B0604030504040204" pitchFamily="34" charset="0"/>
              </a:rPr>
              <a:t>incluindo a esfera social e económica. </a:t>
            </a:r>
          </a:p>
          <a:p>
            <a:r>
              <a:rPr lang="pt-BR" sz="2500" b="1" i="0" dirty="0">
                <a:solidFill>
                  <a:srgbClr val="000000"/>
                </a:solidFill>
                <a:effectLst/>
                <a:latin typeface="Tahoma" panose="020B0604030504040204" pitchFamily="34" charset="0"/>
              </a:rPr>
              <a:t>A INTELIGÊNCIA HUMANA DESEMPENHA UM PAPEL CRUCIAL</a:t>
            </a:r>
            <a:r>
              <a:rPr lang="pt-BR" sz="2500" b="0" i="0" dirty="0">
                <a:solidFill>
                  <a:srgbClr val="000000"/>
                </a:solidFill>
                <a:effectLst/>
                <a:latin typeface="Tahoma" panose="020B0604030504040204" pitchFamily="34" charset="0"/>
              </a:rPr>
              <a:t> </a:t>
            </a:r>
          </a:p>
          <a:p>
            <a:r>
              <a:rPr lang="pt-BR" sz="2500" b="0" i="0" dirty="0">
                <a:solidFill>
                  <a:srgbClr val="000000"/>
                </a:solidFill>
                <a:effectLst/>
                <a:latin typeface="Tahoma" panose="020B0604030504040204" pitchFamily="34" charset="0"/>
              </a:rPr>
              <a:t>não só na concepção e produção da tecnologia, </a:t>
            </a:r>
          </a:p>
          <a:p>
            <a:r>
              <a:rPr lang="pt-BR" sz="2500" b="0" i="0" dirty="0">
                <a:solidFill>
                  <a:srgbClr val="000000"/>
                </a:solidFill>
                <a:effectLst/>
                <a:latin typeface="Tahoma" panose="020B0604030504040204" pitchFamily="34" charset="0"/>
              </a:rPr>
              <a:t>mas também na orientação da sua utilização com base no bem autêntico da pessoa. </a:t>
            </a:r>
          </a:p>
          <a:p>
            <a:r>
              <a:rPr lang="pt-BR" sz="2500" b="1" i="0" dirty="0">
                <a:solidFill>
                  <a:srgbClr val="000000"/>
                </a:solidFill>
                <a:effectLst/>
                <a:latin typeface="Tahoma" panose="020B0604030504040204" pitchFamily="34" charset="0"/>
              </a:rPr>
              <a:t>A RESPONSABILIDADE DE EXERCER SABIAMENTE ESSA GESTÃO</a:t>
            </a:r>
            <a:r>
              <a:rPr lang="pt-BR" sz="2500" b="0" i="0" dirty="0">
                <a:solidFill>
                  <a:srgbClr val="000000"/>
                </a:solidFill>
                <a:effectLst/>
                <a:latin typeface="Tahoma" panose="020B0604030504040204" pitchFamily="34" charset="0"/>
              </a:rPr>
              <a:t> cabe a cada nível da sociedade, guiados pelo princípio da subsidiariedade e pelos demais princípios da Doutrina Social da Igreja.</a:t>
            </a:r>
            <a:endParaRPr lang="pt-BR" sz="2500" dirty="0"/>
          </a:p>
        </p:txBody>
      </p:sp>
    </p:spTree>
    <p:extLst>
      <p:ext uri="{BB962C8B-B14F-4D97-AF65-F5344CB8AC3E}">
        <p14:creationId xmlns:p14="http://schemas.microsoft.com/office/powerpoint/2010/main" val="714828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0B2A8-F339-C758-B878-F11A83889B9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71BD6B0-C18A-8898-93EA-5C0ED4BC4AC7}"/>
              </a:ext>
            </a:extLst>
          </p:cNvPr>
          <p:cNvSpPr>
            <a:spLocks noGrp="1"/>
          </p:cNvSpPr>
          <p:nvPr>
            <p:ph type="title"/>
          </p:nvPr>
        </p:nvSpPr>
        <p:spPr>
          <a:xfrm>
            <a:off x="700635" y="914400"/>
            <a:ext cx="10691265" cy="723014"/>
          </a:xfrm>
        </p:spPr>
        <p:txBody>
          <a:bodyPr>
            <a:normAutofit/>
          </a:bodyPr>
          <a:lstStyle/>
          <a:p>
            <a:pPr algn="l">
              <a:buNone/>
            </a:pPr>
            <a:r>
              <a:rPr lang="pt-BR" sz="3000" b="1" i="1" dirty="0">
                <a:solidFill>
                  <a:srgbClr val="000000"/>
                </a:solidFill>
                <a:effectLst/>
                <a:latin typeface="Tahoma" panose="020B0604030504040204" pitchFamily="34" charset="0"/>
              </a:rPr>
              <a:t>Um auxílio à liberdade e às decisões humanas</a:t>
            </a:r>
            <a:endParaRPr lang="pt-BR" sz="3000" b="0" i="0" dirty="0">
              <a:solidFill>
                <a:srgbClr val="000000"/>
              </a:solidFill>
              <a:effectLst/>
              <a:latin typeface="Tahoma" panose="020B0604030504040204" pitchFamily="34" charset="0"/>
            </a:endParaRPr>
          </a:p>
        </p:txBody>
      </p:sp>
      <p:sp>
        <p:nvSpPr>
          <p:cNvPr id="3" name="Espaço Reservado para Conteúdo 2">
            <a:extLst>
              <a:ext uri="{FF2B5EF4-FFF2-40B4-BE49-F238E27FC236}">
                <a16:creationId xmlns:a16="http://schemas.microsoft.com/office/drawing/2014/main" id="{F85B9980-718F-46BD-9786-2405F52DB717}"/>
              </a:ext>
            </a:extLst>
          </p:cNvPr>
          <p:cNvSpPr>
            <a:spLocks noGrp="1"/>
          </p:cNvSpPr>
          <p:nvPr>
            <p:ph idx="1"/>
          </p:nvPr>
        </p:nvSpPr>
        <p:spPr/>
        <p:txBody>
          <a:bodyPr>
            <a:normAutofit/>
          </a:bodyPr>
          <a:lstStyle/>
          <a:p>
            <a:pPr algn="l">
              <a:buNone/>
            </a:pPr>
            <a:r>
              <a:rPr lang="pt-BR" sz="2500" b="0" i="0" dirty="0">
                <a:solidFill>
                  <a:srgbClr val="000000"/>
                </a:solidFill>
                <a:effectLst/>
                <a:latin typeface="Tahoma" panose="020B0604030504040204" pitchFamily="34" charset="0"/>
              </a:rPr>
              <a:t>43. </a:t>
            </a:r>
            <a:r>
              <a:rPr lang="pt-BR" sz="2500" b="1" i="0" u="sng" dirty="0">
                <a:solidFill>
                  <a:srgbClr val="000000"/>
                </a:solidFill>
                <a:effectLst/>
                <a:latin typeface="Tahoma" panose="020B0604030504040204" pitchFamily="34" charset="0"/>
              </a:rPr>
              <a:t>O compromisso de garantir que </a:t>
            </a:r>
            <a:r>
              <a:rPr lang="pt-BR" sz="2500" b="1" i="1" u="sng" dirty="0">
                <a:solidFill>
                  <a:srgbClr val="000000"/>
                </a:solidFill>
                <a:effectLst/>
                <a:latin typeface="Tahoma" panose="020B0604030504040204" pitchFamily="34" charset="0"/>
              </a:rPr>
              <a:t>a IA sempre defenda e promova o valor supremo da dignidade de cada ser humano e a plenitude de sua vocação</a:t>
            </a:r>
            <a:r>
              <a:rPr lang="pt-BR" sz="2500" b="1" i="0" u="sng" dirty="0">
                <a:solidFill>
                  <a:srgbClr val="000000"/>
                </a:solidFill>
                <a:effectLst/>
                <a:latin typeface="Tahoma" panose="020B0604030504040204" pitchFamily="34" charset="0"/>
              </a:rPr>
              <a:t> </a:t>
            </a:r>
            <a:r>
              <a:rPr lang="pt-BR" sz="2500" b="0" i="0" dirty="0">
                <a:solidFill>
                  <a:srgbClr val="000000"/>
                </a:solidFill>
                <a:effectLst/>
                <a:latin typeface="Tahoma" panose="020B0604030504040204" pitchFamily="34" charset="0"/>
              </a:rPr>
              <a:t>é </a:t>
            </a:r>
            <a:r>
              <a:rPr lang="pt-BR" sz="2500" b="1" i="0" dirty="0">
                <a:solidFill>
                  <a:srgbClr val="FF0000"/>
                </a:solidFill>
                <a:effectLst/>
                <a:latin typeface="Tahoma" panose="020B0604030504040204" pitchFamily="34" charset="0"/>
              </a:rPr>
              <a:t>UM CRITÉRIO DE DISCERNIMENTO QUE AFETA DESENVOLVEDORES, PROPRIETÁRIOS, OPERADORES E REGULADORES, BEM COMO USUÁRIOS FINAIS, E PERMANECE VÁLIDO PARA QUALQUER USO DA TECNOLOGIA EM TODOS OS NÍVEIS DE USO.</a:t>
            </a:r>
          </a:p>
        </p:txBody>
      </p:sp>
    </p:spTree>
    <p:extLst>
      <p:ext uri="{BB962C8B-B14F-4D97-AF65-F5344CB8AC3E}">
        <p14:creationId xmlns:p14="http://schemas.microsoft.com/office/powerpoint/2010/main" val="1980736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02E50-60C6-977D-8873-CA3976DF93F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4C1B2E4-D15C-E224-B53D-4E60E3136017}"/>
              </a:ext>
            </a:extLst>
          </p:cNvPr>
          <p:cNvSpPr>
            <a:spLocks noGrp="1"/>
          </p:cNvSpPr>
          <p:nvPr>
            <p:ph type="title"/>
          </p:nvPr>
        </p:nvSpPr>
        <p:spPr>
          <a:xfrm>
            <a:off x="700635" y="914400"/>
            <a:ext cx="10691265" cy="850605"/>
          </a:xfrm>
        </p:spPr>
        <p:txBody>
          <a:bodyPr>
            <a:normAutofit/>
          </a:bodyPr>
          <a:lstStyle/>
          <a:p>
            <a:pPr algn="l">
              <a:buNone/>
            </a:pPr>
            <a:r>
              <a:rPr lang="pt-BR" sz="3000" b="1" i="1" dirty="0">
                <a:solidFill>
                  <a:srgbClr val="000000"/>
                </a:solidFill>
                <a:effectLst/>
                <a:latin typeface="Tahoma" panose="020B0604030504040204" pitchFamily="34" charset="0"/>
              </a:rPr>
              <a:t>Um auxílio à liberdade e às decisões humanas</a:t>
            </a:r>
            <a:endParaRPr lang="pt-BR" sz="3000" b="1" i="0" dirty="0">
              <a:solidFill>
                <a:srgbClr val="000000"/>
              </a:solidFill>
              <a:effectLst/>
              <a:latin typeface="Tahoma" panose="020B0604030504040204" pitchFamily="34" charset="0"/>
            </a:endParaRPr>
          </a:p>
        </p:txBody>
      </p:sp>
      <p:sp>
        <p:nvSpPr>
          <p:cNvPr id="3" name="Espaço Reservado para Conteúdo 2">
            <a:extLst>
              <a:ext uri="{FF2B5EF4-FFF2-40B4-BE49-F238E27FC236}">
                <a16:creationId xmlns:a16="http://schemas.microsoft.com/office/drawing/2014/main" id="{426BCBBD-2898-BFA3-3156-2D4AF14EAC21}"/>
              </a:ext>
            </a:extLst>
          </p:cNvPr>
          <p:cNvSpPr>
            <a:spLocks noGrp="1"/>
          </p:cNvSpPr>
          <p:nvPr>
            <p:ph idx="1"/>
          </p:nvPr>
        </p:nvSpPr>
        <p:spPr/>
        <p:txBody>
          <a:bodyPr>
            <a:normAutofit/>
          </a:bodyPr>
          <a:lstStyle/>
          <a:p>
            <a:pPr algn="l"/>
            <a:r>
              <a:rPr lang="pt-BR" sz="2500" b="0" i="0" dirty="0">
                <a:solidFill>
                  <a:srgbClr val="000000"/>
                </a:solidFill>
                <a:effectLst/>
                <a:latin typeface="Tahoma" panose="020B0604030504040204" pitchFamily="34" charset="0"/>
              </a:rPr>
              <a:t>44. Uma análise das implicações deste princípio, portanto, poderia começar levando em consideração a </a:t>
            </a:r>
            <a:r>
              <a:rPr lang="pt-BR" sz="2500" b="1" i="0" dirty="0">
                <a:solidFill>
                  <a:srgbClr val="000000"/>
                </a:solidFill>
                <a:effectLst/>
                <a:latin typeface="Tahoma" panose="020B0604030504040204" pitchFamily="34" charset="0"/>
              </a:rPr>
              <a:t>IMPORTÂNCIA DA </a:t>
            </a:r>
            <a:r>
              <a:rPr lang="pt-BR" sz="2500" b="1" i="1" dirty="0">
                <a:solidFill>
                  <a:srgbClr val="000000"/>
                </a:solidFill>
                <a:effectLst/>
                <a:latin typeface="Tahoma" panose="020B0604030504040204" pitchFamily="34" charset="0"/>
              </a:rPr>
              <a:t>RESPONSABILIDADE MORAL</a:t>
            </a:r>
            <a:r>
              <a:rPr lang="pt-BR" sz="2500" b="0" i="0" dirty="0">
                <a:solidFill>
                  <a:srgbClr val="000000"/>
                </a:solidFill>
                <a:effectLst/>
                <a:latin typeface="Tahoma" panose="020B0604030504040204" pitchFamily="34" charset="0"/>
              </a:rPr>
              <a:t>. </a:t>
            </a:r>
          </a:p>
          <a:p>
            <a:pPr algn="l"/>
            <a:r>
              <a:rPr lang="pt-BR" sz="2500" b="0" i="0" dirty="0">
                <a:solidFill>
                  <a:srgbClr val="000000"/>
                </a:solidFill>
                <a:effectLst/>
                <a:latin typeface="Tahoma" panose="020B0604030504040204" pitchFamily="34" charset="0"/>
              </a:rPr>
              <a:t>Como </a:t>
            </a:r>
            <a:r>
              <a:rPr lang="pt-BR" sz="2500" b="1" i="0" dirty="0">
                <a:solidFill>
                  <a:srgbClr val="000000"/>
                </a:solidFill>
                <a:effectLst/>
                <a:latin typeface="Tahoma" panose="020B0604030504040204" pitchFamily="34" charset="0"/>
              </a:rPr>
              <a:t>a causalidade moral no sentido pleno se aplica apenas a agentes </a:t>
            </a:r>
            <a:r>
              <a:rPr lang="pt-BR" sz="2500" b="1" i="1" dirty="0">
                <a:solidFill>
                  <a:srgbClr val="000000"/>
                </a:solidFill>
                <a:effectLst/>
                <a:latin typeface="Tahoma" panose="020B0604030504040204" pitchFamily="34" charset="0"/>
              </a:rPr>
              <a:t>pessoais</a:t>
            </a:r>
            <a:r>
              <a:rPr lang="pt-BR" sz="2500" b="1" i="0" dirty="0">
                <a:solidFill>
                  <a:srgbClr val="000000"/>
                </a:solidFill>
                <a:effectLst/>
                <a:latin typeface="Tahoma" panose="020B0604030504040204" pitchFamily="34" charset="0"/>
              </a:rPr>
              <a:t> , </a:t>
            </a:r>
            <a:r>
              <a:rPr lang="pt-BR" sz="2500" b="1" i="0" dirty="0">
                <a:solidFill>
                  <a:srgbClr val="FF0000"/>
                </a:solidFill>
                <a:effectLst/>
                <a:latin typeface="Tahoma" panose="020B0604030504040204" pitchFamily="34" charset="0"/>
              </a:rPr>
              <a:t>NÃO ARTIFICIAIS</a:t>
            </a:r>
            <a:r>
              <a:rPr lang="pt-BR" sz="2500" b="0" i="0" dirty="0">
                <a:solidFill>
                  <a:srgbClr val="000000"/>
                </a:solidFill>
                <a:effectLst/>
                <a:latin typeface="Tahoma" panose="020B0604030504040204" pitchFamily="34" charset="0"/>
              </a:rPr>
              <a:t>, é de extrema importância ser capaz de identificar e definir quem é responsável pelos processos de IA, particularmente aqueles que incluem capacidades de aprendizado, correção e reprogramação. </a:t>
            </a:r>
          </a:p>
        </p:txBody>
      </p:sp>
    </p:spTree>
    <p:extLst>
      <p:ext uri="{BB962C8B-B14F-4D97-AF65-F5344CB8AC3E}">
        <p14:creationId xmlns:p14="http://schemas.microsoft.com/office/powerpoint/2010/main" val="2833318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B197B-A0EC-A0E0-91E2-9D74CC2250E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4D37553-F790-2023-56AA-486F7C0AA48D}"/>
              </a:ext>
            </a:extLst>
          </p:cNvPr>
          <p:cNvSpPr>
            <a:spLocks noGrp="1"/>
          </p:cNvSpPr>
          <p:nvPr>
            <p:ph type="title"/>
          </p:nvPr>
        </p:nvSpPr>
        <p:spPr>
          <a:xfrm>
            <a:off x="700635" y="914400"/>
            <a:ext cx="10691265" cy="637953"/>
          </a:xfrm>
        </p:spPr>
        <p:txBody>
          <a:bodyPr>
            <a:normAutofit/>
          </a:bodyPr>
          <a:lstStyle/>
          <a:p>
            <a:pPr algn="l">
              <a:buNone/>
            </a:pPr>
            <a:r>
              <a:rPr lang="pt-BR" sz="3000" b="1" i="1" dirty="0">
                <a:solidFill>
                  <a:srgbClr val="000000"/>
                </a:solidFill>
                <a:effectLst/>
                <a:latin typeface="Tahoma" panose="020B0604030504040204" pitchFamily="34" charset="0"/>
              </a:rPr>
              <a:t>Um auxílio à liberdade e às decisões humanas</a:t>
            </a:r>
            <a:endParaRPr lang="pt-BR" sz="3000" b="0" i="0" dirty="0">
              <a:solidFill>
                <a:srgbClr val="000000"/>
              </a:solidFill>
              <a:effectLst/>
              <a:latin typeface="Tahoma" panose="020B0604030504040204" pitchFamily="34" charset="0"/>
            </a:endParaRPr>
          </a:p>
        </p:txBody>
      </p:sp>
      <p:sp>
        <p:nvSpPr>
          <p:cNvPr id="3" name="Espaço Reservado para Conteúdo 2">
            <a:extLst>
              <a:ext uri="{FF2B5EF4-FFF2-40B4-BE49-F238E27FC236}">
                <a16:creationId xmlns:a16="http://schemas.microsoft.com/office/drawing/2014/main" id="{0EC00B9D-01C8-9913-4179-F1C817741504}"/>
              </a:ext>
            </a:extLst>
          </p:cNvPr>
          <p:cNvSpPr>
            <a:spLocks noGrp="1"/>
          </p:cNvSpPr>
          <p:nvPr>
            <p:ph idx="1"/>
          </p:nvPr>
        </p:nvSpPr>
        <p:spPr/>
        <p:txBody>
          <a:bodyPr>
            <a:normAutofit/>
          </a:bodyPr>
          <a:lstStyle/>
          <a:p>
            <a:pPr algn="l"/>
            <a:r>
              <a:rPr lang="pt-BR" sz="2500" b="0" i="0" dirty="0">
                <a:solidFill>
                  <a:srgbClr val="000000"/>
                </a:solidFill>
                <a:effectLst/>
                <a:latin typeface="Tahoma" panose="020B0604030504040204" pitchFamily="34" charset="0"/>
              </a:rPr>
              <a:t>Se por um lado, métodos empíricos (</a:t>
            </a:r>
            <a:r>
              <a:rPr lang="pt-BR" sz="2500" b="0" i="1" dirty="0" err="1">
                <a:solidFill>
                  <a:srgbClr val="000000"/>
                </a:solidFill>
                <a:effectLst/>
                <a:latin typeface="Tahoma" panose="020B0604030504040204" pitchFamily="34" charset="0"/>
              </a:rPr>
              <a:t>bottom-up</a:t>
            </a:r>
            <a:r>
              <a:rPr lang="pt-BR" sz="2500" b="0" i="0" dirty="0">
                <a:solidFill>
                  <a:srgbClr val="000000"/>
                </a:solidFill>
                <a:effectLst/>
                <a:latin typeface="Tahoma" panose="020B0604030504040204" pitchFamily="34" charset="0"/>
              </a:rPr>
              <a:t>) e redes neurais muito profundas permitem que a IA resolva problemas complexos, </a:t>
            </a:r>
          </a:p>
          <a:p>
            <a:pPr algn="l"/>
            <a:r>
              <a:rPr lang="pt-BR" sz="2500" b="0" i="0" dirty="0">
                <a:solidFill>
                  <a:srgbClr val="000000"/>
                </a:solidFill>
                <a:effectLst/>
                <a:latin typeface="Tahoma" panose="020B0604030504040204" pitchFamily="34" charset="0"/>
              </a:rPr>
              <a:t>por outro lado, eles dificultam a compreensão dos processos que levaram a tais soluções. </a:t>
            </a:r>
          </a:p>
          <a:p>
            <a:pPr algn="l"/>
            <a:r>
              <a:rPr lang="pt-BR" sz="2500" b="1" i="0" dirty="0">
                <a:solidFill>
                  <a:srgbClr val="000000"/>
                </a:solidFill>
                <a:effectLst/>
                <a:latin typeface="Tahoma" panose="020B0604030504040204" pitchFamily="34" charset="0"/>
              </a:rPr>
              <a:t>Isso complica a determinação de responsabilidade porque, se uma aplicação de IA produzisse resultados não intencionais, seria difícil determinar quem culpar.</a:t>
            </a:r>
            <a:r>
              <a:rPr lang="pt-BR" sz="2500" b="0" i="0" dirty="0">
                <a:solidFill>
                  <a:srgbClr val="000000"/>
                </a:solidFill>
                <a:effectLst/>
                <a:latin typeface="Tahoma" panose="020B0604030504040204" pitchFamily="34" charset="0"/>
              </a:rPr>
              <a:t> </a:t>
            </a:r>
          </a:p>
        </p:txBody>
      </p:sp>
    </p:spTree>
    <p:extLst>
      <p:ext uri="{BB962C8B-B14F-4D97-AF65-F5344CB8AC3E}">
        <p14:creationId xmlns:p14="http://schemas.microsoft.com/office/powerpoint/2010/main" val="32067645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634D9-7FDD-6185-F121-7905A8C0FC0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B005437-2184-96C7-D847-669A1E7F88DC}"/>
              </a:ext>
            </a:extLst>
          </p:cNvPr>
          <p:cNvSpPr>
            <a:spLocks noGrp="1"/>
          </p:cNvSpPr>
          <p:nvPr>
            <p:ph type="title"/>
          </p:nvPr>
        </p:nvSpPr>
        <p:spPr>
          <a:xfrm>
            <a:off x="700635" y="914400"/>
            <a:ext cx="10691265" cy="648586"/>
          </a:xfrm>
        </p:spPr>
        <p:txBody>
          <a:bodyPr>
            <a:normAutofit/>
          </a:bodyPr>
          <a:lstStyle/>
          <a:p>
            <a:pPr algn="l">
              <a:buNone/>
            </a:pPr>
            <a:r>
              <a:rPr lang="pt-BR" sz="3000" b="1" i="1" dirty="0">
                <a:solidFill>
                  <a:srgbClr val="000000"/>
                </a:solidFill>
                <a:effectLst/>
                <a:latin typeface="Tahoma" panose="020B0604030504040204" pitchFamily="34" charset="0"/>
              </a:rPr>
              <a:t>Um auxílio à liberdade e às decisões humanas</a:t>
            </a:r>
            <a:endParaRPr lang="pt-BR" sz="3000" b="1" i="0" dirty="0">
              <a:solidFill>
                <a:srgbClr val="000000"/>
              </a:solidFill>
              <a:effectLst/>
              <a:latin typeface="Tahoma" panose="020B0604030504040204" pitchFamily="34" charset="0"/>
            </a:endParaRPr>
          </a:p>
        </p:txBody>
      </p:sp>
      <p:sp>
        <p:nvSpPr>
          <p:cNvPr id="3" name="Espaço Reservado para Conteúdo 2">
            <a:extLst>
              <a:ext uri="{FF2B5EF4-FFF2-40B4-BE49-F238E27FC236}">
                <a16:creationId xmlns:a16="http://schemas.microsoft.com/office/drawing/2014/main" id="{9023FB60-D70D-56E7-FD44-AB7FF22997D3}"/>
              </a:ext>
            </a:extLst>
          </p:cNvPr>
          <p:cNvSpPr>
            <a:spLocks noGrp="1"/>
          </p:cNvSpPr>
          <p:nvPr>
            <p:ph idx="1"/>
          </p:nvPr>
        </p:nvSpPr>
        <p:spPr/>
        <p:txBody>
          <a:bodyPr>
            <a:normAutofit/>
          </a:bodyPr>
          <a:lstStyle/>
          <a:p>
            <a:pPr algn="l"/>
            <a:r>
              <a:rPr lang="pt-BR" sz="2500" b="0" i="0" dirty="0">
                <a:solidFill>
                  <a:srgbClr val="000000"/>
                </a:solidFill>
                <a:effectLst/>
                <a:latin typeface="Tahoma" panose="020B0604030504040204" pitchFamily="34" charset="0"/>
              </a:rPr>
              <a:t>Para abordar essa questão, é preciso </a:t>
            </a:r>
            <a:r>
              <a:rPr lang="pt-BR" sz="2500" b="1" i="0" dirty="0">
                <a:solidFill>
                  <a:srgbClr val="000000"/>
                </a:solidFill>
                <a:effectLst/>
                <a:latin typeface="Tahoma" panose="020B0604030504040204" pitchFamily="34" charset="0"/>
              </a:rPr>
              <a:t>prestar atenção à natureza dos processos </a:t>
            </a:r>
            <a:r>
              <a:rPr lang="pt-BR" sz="2500" b="1" i="1" dirty="0">
                <a:solidFill>
                  <a:srgbClr val="000000"/>
                </a:solidFill>
                <a:effectLst/>
                <a:latin typeface="Tahoma" panose="020B0604030504040204" pitchFamily="34" charset="0"/>
              </a:rPr>
              <a:t>de responsabilização</a:t>
            </a:r>
            <a:r>
              <a:rPr lang="pt-BR" sz="2500" b="1" i="0" dirty="0">
                <a:solidFill>
                  <a:srgbClr val="000000"/>
                </a:solidFill>
                <a:effectLst/>
                <a:latin typeface="Tahoma" panose="020B0604030504040204" pitchFamily="34" charset="0"/>
              </a:rPr>
              <a:t> em contextos complexos e altamente automatizados</a:t>
            </a:r>
            <a:r>
              <a:rPr lang="pt-BR" sz="2500" b="0" i="0" dirty="0">
                <a:solidFill>
                  <a:srgbClr val="000000"/>
                </a:solidFill>
                <a:effectLst/>
                <a:latin typeface="Tahoma" panose="020B0604030504040204" pitchFamily="34" charset="0"/>
              </a:rPr>
              <a:t>, onde os resultados geralmente só são observáveis ​​no médio ou longo prazo. </a:t>
            </a:r>
          </a:p>
          <a:p>
            <a:pPr algn="l"/>
            <a:r>
              <a:rPr lang="pt-BR" sz="2500" b="1" i="0" dirty="0">
                <a:solidFill>
                  <a:srgbClr val="FF0000"/>
                </a:solidFill>
                <a:effectLst/>
                <a:latin typeface="Tahoma" panose="020B0604030504040204" pitchFamily="34" charset="0"/>
              </a:rPr>
              <a:t>É, portanto, importante que aqueles que tomam decisões com base na IA sejam responsabilizados por elas</a:t>
            </a:r>
            <a:r>
              <a:rPr lang="pt-BR" sz="2500" b="1" i="0" dirty="0">
                <a:solidFill>
                  <a:srgbClr val="000000"/>
                </a:solidFill>
                <a:effectLst/>
                <a:latin typeface="Tahoma" panose="020B0604030504040204" pitchFamily="34" charset="0"/>
              </a:rPr>
              <a:t> e que seja possível contabilizar a utilização da IA ​​em cada fase do processo de tomada de decisão.</a:t>
            </a:r>
          </a:p>
        </p:txBody>
      </p:sp>
    </p:spTree>
    <p:extLst>
      <p:ext uri="{BB962C8B-B14F-4D97-AF65-F5344CB8AC3E}">
        <p14:creationId xmlns:p14="http://schemas.microsoft.com/office/powerpoint/2010/main" val="1688967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1BC9C-DC25-2B76-6AC0-B91C5F77215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64F32AC-3114-4E82-4017-2E0BC7D7A33F}"/>
              </a:ext>
            </a:extLst>
          </p:cNvPr>
          <p:cNvSpPr>
            <a:spLocks noGrp="1"/>
          </p:cNvSpPr>
          <p:nvPr>
            <p:ph type="title"/>
          </p:nvPr>
        </p:nvSpPr>
        <p:spPr>
          <a:xfrm>
            <a:off x="700635" y="914400"/>
            <a:ext cx="10691265" cy="818707"/>
          </a:xfrm>
        </p:spPr>
        <p:txBody>
          <a:bodyPr>
            <a:normAutofit/>
          </a:bodyPr>
          <a:lstStyle/>
          <a:p>
            <a:pPr algn="l">
              <a:buNone/>
            </a:pPr>
            <a:r>
              <a:rPr lang="pt-BR" sz="3000" b="1" i="1" dirty="0">
                <a:solidFill>
                  <a:srgbClr val="000000"/>
                </a:solidFill>
                <a:effectLst/>
                <a:latin typeface="Tahoma" panose="020B0604030504040204" pitchFamily="34" charset="0"/>
              </a:rPr>
              <a:t>Um auxílio à liberdade e às decisões humanas</a:t>
            </a:r>
            <a:endParaRPr lang="pt-BR" sz="3000" b="1" i="0" dirty="0">
              <a:solidFill>
                <a:srgbClr val="000000"/>
              </a:solidFill>
              <a:effectLst/>
              <a:latin typeface="Tahoma" panose="020B0604030504040204" pitchFamily="34" charset="0"/>
            </a:endParaRPr>
          </a:p>
        </p:txBody>
      </p:sp>
      <p:sp>
        <p:nvSpPr>
          <p:cNvPr id="3" name="Espaço Reservado para Conteúdo 2">
            <a:extLst>
              <a:ext uri="{FF2B5EF4-FFF2-40B4-BE49-F238E27FC236}">
                <a16:creationId xmlns:a16="http://schemas.microsoft.com/office/drawing/2014/main" id="{B8AA5491-9915-B824-430F-C7EE7E13483B}"/>
              </a:ext>
            </a:extLst>
          </p:cNvPr>
          <p:cNvSpPr>
            <a:spLocks noGrp="1"/>
          </p:cNvSpPr>
          <p:nvPr>
            <p:ph idx="1"/>
          </p:nvPr>
        </p:nvSpPr>
        <p:spPr/>
        <p:txBody>
          <a:bodyPr>
            <a:normAutofit/>
          </a:bodyPr>
          <a:lstStyle/>
          <a:p>
            <a:r>
              <a:rPr lang="pt-BR" sz="2500" b="0" i="0" dirty="0">
                <a:solidFill>
                  <a:srgbClr val="000000"/>
                </a:solidFill>
                <a:effectLst/>
                <a:latin typeface="Tahoma" panose="020B0604030504040204" pitchFamily="34" charset="0"/>
              </a:rPr>
              <a:t>45. Além de determinar responsabilidades, </a:t>
            </a:r>
            <a:r>
              <a:rPr lang="pt-BR" sz="2500" b="1" i="0" dirty="0">
                <a:solidFill>
                  <a:srgbClr val="000000"/>
                </a:solidFill>
                <a:effectLst/>
                <a:latin typeface="Tahoma" panose="020B0604030504040204" pitchFamily="34" charset="0"/>
              </a:rPr>
              <a:t>É NECESSÁRIO ESTABELECER AS FINALIDADES ATRIBUÍDAS AOS SISTEMAS DE IA</a:t>
            </a:r>
            <a:r>
              <a:rPr lang="pt-BR" sz="2500" b="0" i="0" dirty="0">
                <a:solidFill>
                  <a:srgbClr val="000000"/>
                </a:solidFill>
                <a:effectLst/>
                <a:latin typeface="Tahoma" panose="020B0604030504040204" pitchFamily="34" charset="0"/>
              </a:rPr>
              <a:t>. </a:t>
            </a:r>
          </a:p>
          <a:p>
            <a:r>
              <a:rPr lang="pt-BR" sz="2500" b="1" i="0" u="sng" dirty="0">
                <a:solidFill>
                  <a:srgbClr val="000000"/>
                </a:solidFill>
                <a:effectLst/>
                <a:latin typeface="Tahoma" panose="020B0604030504040204" pitchFamily="34" charset="0"/>
              </a:rPr>
              <a:t>Embora possam usar mecanismos de aprendizagem autônomos não supervisionados</a:t>
            </a:r>
            <a:r>
              <a:rPr lang="pt-BR" sz="2500" b="0" i="0" dirty="0">
                <a:solidFill>
                  <a:srgbClr val="000000"/>
                </a:solidFill>
                <a:effectLst/>
                <a:latin typeface="Tahoma" panose="020B0604030504040204" pitchFamily="34" charset="0"/>
              </a:rPr>
              <a:t> e, às vezes, seguir caminhos que não podem ser reconstruídos, eles, em última análise, </a:t>
            </a:r>
            <a:r>
              <a:rPr lang="pt-BR" sz="2500" b="1" i="0" dirty="0">
                <a:solidFill>
                  <a:srgbClr val="FF0000"/>
                </a:solidFill>
                <a:effectLst/>
                <a:latin typeface="Tahoma" panose="020B0604030504040204" pitchFamily="34" charset="0"/>
              </a:rPr>
              <a:t>perseguem objetivos atribuídos a eles por humanos e são governados por processos estabelecidos por aqueles que os projetaram e programaram.</a:t>
            </a:r>
            <a:r>
              <a:rPr lang="pt-BR" sz="2500" b="0" i="0" dirty="0">
                <a:solidFill>
                  <a:srgbClr val="000000"/>
                </a:solidFill>
                <a:effectLst/>
                <a:latin typeface="Tahoma" panose="020B0604030504040204" pitchFamily="34" charset="0"/>
              </a:rPr>
              <a:t> </a:t>
            </a:r>
          </a:p>
        </p:txBody>
      </p:sp>
    </p:spTree>
    <p:extLst>
      <p:ext uri="{BB962C8B-B14F-4D97-AF65-F5344CB8AC3E}">
        <p14:creationId xmlns:p14="http://schemas.microsoft.com/office/powerpoint/2010/main" val="2339279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C899F-1920-728C-5B35-900728DE231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28319AD-E673-C7B2-62F5-E624BE83D0E1}"/>
              </a:ext>
            </a:extLst>
          </p:cNvPr>
          <p:cNvSpPr>
            <a:spLocks noGrp="1"/>
          </p:cNvSpPr>
          <p:nvPr>
            <p:ph type="title"/>
          </p:nvPr>
        </p:nvSpPr>
        <p:spPr>
          <a:xfrm>
            <a:off x="700635" y="914400"/>
            <a:ext cx="10691265" cy="499730"/>
          </a:xfrm>
        </p:spPr>
        <p:txBody>
          <a:bodyPr>
            <a:normAutofit fontScale="90000"/>
          </a:bodyPr>
          <a:lstStyle/>
          <a:p>
            <a:pPr algn="l">
              <a:buNone/>
            </a:pPr>
            <a:r>
              <a:rPr lang="pt-BR" sz="3000" b="1" i="1" dirty="0">
                <a:solidFill>
                  <a:srgbClr val="000000"/>
                </a:solidFill>
                <a:effectLst/>
                <a:latin typeface="Tahoma" panose="020B0604030504040204" pitchFamily="34" charset="0"/>
              </a:rPr>
              <a:t>Um auxílio à liberdade e às decisões humanas</a:t>
            </a:r>
            <a:endParaRPr lang="pt-BR" sz="3000" b="1" i="0" dirty="0">
              <a:solidFill>
                <a:srgbClr val="000000"/>
              </a:solidFill>
              <a:effectLst/>
              <a:latin typeface="Tahoma" panose="020B0604030504040204" pitchFamily="34" charset="0"/>
            </a:endParaRPr>
          </a:p>
        </p:txBody>
      </p:sp>
      <p:sp>
        <p:nvSpPr>
          <p:cNvPr id="3" name="Espaço Reservado para Conteúdo 2">
            <a:extLst>
              <a:ext uri="{FF2B5EF4-FFF2-40B4-BE49-F238E27FC236}">
                <a16:creationId xmlns:a16="http://schemas.microsoft.com/office/drawing/2014/main" id="{155BF68E-1EF9-39BF-4CDB-AEB777105476}"/>
              </a:ext>
            </a:extLst>
          </p:cNvPr>
          <p:cNvSpPr>
            <a:spLocks noGrp="1"/>
          </p:cNvSpPr>
          <p:nvPr>
            <p:ph idx="1"/>
          </p:nvPr>
        </p:nvSpPr>
        <p:spPr/>
        <p:txBody>
          <a:bodyPr>
            <a:normAutofit/>
          </a:bodyPr>
          <a:lstStyle/>
          <a:p>
            <a:r>
              <a:rPr lang="pt-BR" sz="2500" b="0" i="0" dirty="0">
                <a:solidFill>
                  <a:srgbClr val="000000"/>
                </a:solidFill>
                <a:effectLst/>
                <a:latin typeface="Tahoma" panose="020B0604030504040204" pitchFamily="34" charset="0"/>
              </a:rPr>
              <a:t>Isso representa um desafio, pois, à medida que os modelos de IA se tornam cada vez mais capazes de aprendizado independente, </a:t>
            </a:r>
          </a:p>
          <a:p>
            <a:r>
              <a:rPr lang="pt-BR" sz="2500" b="0" i="0" dirty="0">
                <a:solidFill>
                  <a:srgbClr val="000000"/>
                </a:solidFill>
                <a:effectLst/>
                <a:latin typeface="Tahoma" panose="020B0604030504040204" pitchFamily="34" charset="0"/>
              </a:rPr>
              <a:t>a capacidade de exercer controle sobre eles para garantir que tais aplicativos atendam a propósitos humanos pode ser efetivamente reduzida. </a:t>
            </a:r>
          </a:p>
          <a:p>
            <a:r>
              <a:rPr lang="pt-BR" sz="2500" b="0" i="0" dirty="0">
                <a:solidFill>
                  <a:srgbClr val="000000"/>
                </a:solidFill>
                <a:effectLst/>
                <a:latin typeface="Tahoma" panose="020B0604030504040204" pitchFamily="34" charset="0"/>
              </a:rPr>
              <a:t>Isso levanta o problema crítico de como garantir que os sistemas de IA sejam organizados para o bem das pessoas, não contra elas.</a:t>
            </a:r>
          </a:p>
        </p:txBody>
      </p:sp>
    </p:spTree>
    <p:extLst>
      <p:ext uri="{BB962C8B-B14F-4D97-AF65-F5344CB8AC3E}">
        <p14:creationId xmlns:p14="http://schemas.microsoft.com/office/powerpoint/2010/main" val="20790734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18927-3D1E-4DBE-037D-3F849B0A595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28F120B-A5D4-21E1-1C36-AF39945D42B5}"/>
              </a:ext>
            </a:extLst>
          </p:cNvPr>
          <p:cNvSpPr>
            <a:spLocks noGrp="1"/>
          </p:cNvSpPr>
          <p:nvPr>
            <p:ph type="title"/>
          </p:nvPr>
        </p:nvSpPr>
        <p:spPr>
          <a:xfrm>
            <a:off x="700635" y="914400"/>
            <a:ext cx="10691265" cy="701749"/>
          </a:xfrm>
        </p:spPr>
        <p:txBody>
          <a:bodyPr>
            <a:normAutofit/>
          </a:bodyPr>
          <a:lstStyle/>
          <a:p>
            <a:pPr algn="l">
              <a:buNone/>
            </a:pPr>
            <a:r>
              <a:rPr lang="pt-BR" sz="3000" b="1" i="1" dirty="0">
                <a:solidFill>
                  <a:srgbClr val="000000"/>
                </a:solidFill>
                <a:effectLst/>
                <a:latin typeface="Tahoma" panose="020B0604030504040204" pitchFamily="34" charset="0"/>
              </a:rPr>
              <a:t>Um auxílio à liberdade e às decisões humanas</a:t>
            </a:r>
            <a:endParaRPr lang="pt-BR" sz="3000" b="1" i="0" dirty="0">
              <a:solidFill>
                <a:srgbClr val="000000"/>
              </a:solidFill>
              <a:effectLst/>
              <a:latin typeface="Tahoma" panose="020B0604030504040204" pitchFamily="34" charset="0"/>
            </a:endParaRPr>
          </a:p>
        </p:txBody>
      </p:sp>
      <p:sp>
        <p:nvSpPr>
          <p:cNvPr id="3" name="Espaço Reservado para Conteúdo 2">
            <a:extLst>
              <a:ext uri="{FF2B5EF4-FFF2-40B4-BE49-F238E27FC236}">
                <a16:creationId xmlns:a16="http://schemas.microsoft.com/office/drawing/2014/main" id="{245595A2-B63F-D3DF-43EF-0352CE90F269}"/>
              </a:ext>
            </a:extLst>
          </p:cNvPr>
          <p:cNvSpPr>
            <a:spLocks noGrp="1"/>
          </p:cNvSpPr>
          <p:nvPr>
            <p:ph idx="1"/>
          </p:nvPr>
        </p:nvSpPr>
        <p:spPr>
          <a:xfrm>
            <a:off x="700635" y="2221992"/>
            <a:ext cx="10984546" cy="3739896"/>
          </a:xfrm>
        </p:spPr>
        <p:txBody>
          <a:bodyPr>
            <a:noAutofit/>
          </a:bodyPr>
          <a:lstStyle/>
          <a:p>
            <a:r>
              <a:rPr lang="pt-BR" sz="2500" b="0" i="0" dirty="0">
                <a:solidFill>
                  <a:srgbClr val="000000"/>
                </a:solidFill>
                <a:effectLst/>
                <a:latin typeface="Tahoma" panose="020B0604030504040204" pitchFamily="34" charset="0"/>
              </a:rPr>
              <a:t>46. ​​Embora o uso ético dos sistemas de IA diga respeito principalmente àqueles que os desenvolvem, produzem, gerenciam e supervisionam, </a:t>
            </a:r>
            <a:r>
              <a:rPr lang="pt-BR" sz="2500" b="1" i="0" dirty="0">
                <a:solidFill>
                  <a:srgbClr val="FF0000"/>
                </a:solidFill>
                <a:effectLst/>
                <a:latin typeface="Tahoma" panose="020B0604030504040204" pitchFamily="34" charset="0"/>
              </a:rPr>
              <a:t>essa responsabilidade também é compartilhada por seus usuários. </a:t>
            </a:r>
          </a:p>
          <a:p>
            <a:r>
              <a:rPr lang="pt-BR" sz="2500" b="0" i="0" dirty="0">
                <a:solidFill>
                  <a:srgbClr val="000000"/>
                </a:solidFill>
                <a:effectLst/>
                <a:latin typeface="Tahoma" panose="020B0604030504040204" pitchFamily="34" charset="0"/>
              </a:rPr>
              <a:t>Papa Francisco, «o que a máquina faz é uma escolha técnica entre várias possibilidades e se baseia em critérios bem definidos ou em inferências estatísticas. </a:t>
            </a:r>
            <a:r>
              <a:rPr lang="pt-BR" sz="2500" b="1" i="0" dirty="0">
                <a:solidFill>
                  <a:srgbClr val="000000"/>
                </a:solidFill>
                <a:effectLst/>
                <a:latin typeface="Tahoma" panose="020B0604030504040204" pitchFamily="34" charset="0"/>
              </a:rPr>
              <a:t>O ser humano, por outro lado, não apenas escolhe, mas em seu coração é capaz de decidir</a:t>
            </a:r>
            <a:r>
              <a:rPr lang="pt-BR" sz="2500" b="0" i="0" dirty="0">
                <a:solidFill>
                  <a:srgbClr val="000000"/>
                </a:solidFill>
                <a:effectLst/>
                <a:latin typeface="Tahoma" panose="020B0604030504040204" pitchFamily="34" charset="0"/>
              </a:rPr>
              <a:t>» </a:t>
            </a:r>
            <a:r>
              <a:rPr lang="pt-BR" sz="2500" b="0" i="0" dirty="0">
                <a:solidFill>
                  <a:srgbClr val="663300"/>
                </a:solidFill>
                <a:effectLst/>
                <a:latin typeface="Tahoma" panose="020B0604030504040204" pitchFamily="34" charset="0"/>
                <a:hlinkClick r:id="rId2"/>
              </a:rPr>
              <a:t>[92]</a:t>
            </a:r>
            <a:r>
              <a:rPr lang="pt-BR" sz="2500" b="0" i="0" dirty="0">
                <a:solidFill>
                  <a:srgbClr val="000000"/>
                </a:solidFill>
                <a:effectLst/>
                <a:latin typeface="Tahoma" panose="020B0604030504040204" pitchFamily="34" charset="0"/>
              </a:rPr>
              <a:t> . </a:t>
            </a:r>
          </a:p>
        </p:txBody>
      </p:sp>
    </p:spTree>
    <p:extLst>
      <p:ext uri="{BB962C8B-B14F-4D97-AF65-F5344CB8AC3E}">
        <p14:creationId xmlns:p14="http://schemas.microsoft.com/office/powerpoint/2010/main" val="42086149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C0454-247A-BAB6-4FF6-9B16FD75E8A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E63E377-33A3-6003-8459-D4149DC805EA}"/>
              </a:ext>
            </a:extLst>
          </p:cNvPr>
          <p:cNvSpPr>
            <a:spLocks noGrp="1"/>
          </p:cNvSpPr>
          <p:nvPr>
            <p:ph type="title"/>
          </p:nvPr>
        </p:nvSpPr>
        <p:spPr>
          <a:xfrm>
            <a:off x="700635" y="914400"/>
            <a:ext cx="10691265" cy="627321"/>
          </a:xfrm>
        </p:spPr>
        <p:txBody>
          <a:bodyPr>
            <a:normAutofit/>
          </a:bodyPr>
          <a:lstStyle/>
          <a:p>
            <a:pPr algn="l">
              <a:buNone/>
            </a:pPr>
            <a:r>
              <a:rPr lang="pt-BR" sz="3000" b="1" i="1" dirty="0">
                <a:solidFill>
                  <a:srgbClr val="000000"/>
                </a:solidFill>
                <a:effectLst/>
                <a:latin typeface="Tahoma" panose="020B0604030504040204" pitchFamily="34" charset="0"/>
              </a:rPr>
              <a:t>Um auxílio à liberdade e às decisões humanas</a:t>
            </a:r>
            <a:endParaRPr lang="pt-BR" sz="3000" b="1" i="0" dirty="0">
              <a:solidFill>
                <a:srgbClr val="000000"/>
              </a:solidFill>
              <a:effectLst/>
              <a:latin typeface="Tahoma" panose="020B0604030504040204" pitchFamily="34" charset="0"/>
            </a:endParaRPr>
          </a:p>
        </p:txBody>
      </p:sp>
      <p:sp>
        <p:nvSpPr>
          <p:cNvPr id="3" name="Espaço Reservado para Conteúdo 2">
            <a:extLst>
              <a:ext uri="{FF2B5EF4-FFF2-40B4-BE49-F238E27FC236}">
                <a16:creationId xmlns:a16="http://schemas.microsoft.com/office/drawing/2014/main" id="{DE9A5776-3C5F-4ADE-D692-1FA34433B66E}"/>
              </a:ext>
            </a:extLst>
          </p:cNvPr>
          <p:cNvSpPr>
            <a:spLocks noGrp="1"/>
          </p:cNvSpPr>
          <p:nvPr>
            <p:ph idx="1"/>
          </p:nvPr>
        </p:nvSpPr>
        <p:spPr/>
        <p:txBody>
          <a:bodyPr>
            <a:noAutofit/>
          </a:bodyPr>
          <a:lstStyle/>
          <a:p>
            <a:r>
              <a:rPr lang="pt-BR" sz="2500" b="1" i="0" dirty="0">
                <a:solidFill>
                  <a:srgbClr val="FF0000"/>
                </a:solidFill>
                <a:effectLst/>
                <a:latin typeface="Tahoma" panose="020B0604030504040204" pitchFamily="34" charset="0"/>
              </a:rPr>
              <a:t>Qualquer pessoa que use IA para executar trabalho e monitorar os resultados cria um contexto no qual é, em última análise, responsável pelo poder que delegou. </a:t>
            </a:r>
          </a:p>
          <a:p>
            <a:r>
              <a:rPr lang="pt-BR" sz="2500" b="0" i="0" dirty="0">
                <a:solidFill>
                  <a:srgbClr val="000000"/>
                </a:solidFill>
                <a:effectLst/>
                <a:latin typeface="Tahoma" panose="020B0604030504040204" pitchFamily="34" charset="0"/>
              </a:rPr>
              <a:t>Portanto, na medida em que a IA pode ajudar os humanos a tomar decisões, os algoritmos que a orientam devem ser confiáveis, seguros, robustos </a:t>
            </a:r>
            <a:r>
              <a:rPr lang="pt-BR" sz="2500" b="1" i="0" dirty="0">
                <a:solidFill>
                  <a:srgbClr val="000000"/>
                </a:solidFill>
                <a:effectLst/>
                <a:latin typeface="Tahoma" panose="020B0604030504040204" pitchFamily="34" charset="0"/>
              </a:rPr>
              <a:t>o suficiente para lidar com inconsistências e transparentes em sua operação para mitigar preconceitos </a:t>
            </a:r>
            <a:r>
              <a:rPr lang="pt-BR" sz="2500" b="1" i="1" dirty="0">
                <a:solidFill>
                  <a:srgbClr val="000000"/>
                </a:solidFill>
                <a:effectLst/>
                <a:latin typeface="Tahoma" panose="020B0604030504040204" pitchFamily="34" charset="0"/>
              </a:rPr>
              <a:t>e</a:t>
            </a:r>
            <a:r>
              <a:rPr lang="pt-BR" sz="2500" b="1" i="0" dirty="0">
                <a:solidFill>
                  <a:srgbClr val="000000"/>
                </a:solidFill>
                <a:effectLst/>
                <a:latin typeface="Tahoma" panose="020B0604030504040204" pitchFamily="34" charset="0"/>
              </a:rPr>
              <a:t> efeitos colaterais indesejados</a:t>
            </a:r>
            <a:r>
              <a:rPr lang="pt-BR" sz="2500" b="0" i="0" dirty="0">
                <a:solidFill>
                  <a:srgbClr val="000000"/>
                </a:solidFill>
                <a:effectLst/>
                <a:latin typeface="Tahoma" panose="020B0604030504040204" pitchFamily="34" charset="0"/>
              </a:rPr>
              <a:t>. </a:t>
            </a:r>
          </a:p>
        </p:txBody>
      </p:sp>
    </p:spTree>
    <p:extLst>
      <p:ext uri="{BB962C8B-B14F-4D97-AF65-F5344CB8AC3E}">
        <p14:creationId xmlns:p14="http://schemas.microsoft.com/office/powerpoint/2010/main" val="24177248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836DD-144B-12C6-C96C-EB2AD01489F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34497F0-203D-68CB-BCF2-D95D17F1DEB4}"/>
              </a:ext>
            </a:extLst>
          </p:cNvPr>
          <p:cNvSpPr>
            <a:spLocks noGrp="1"/>
          </p:cNvSpPr>
          <p:nvPr>
            <p:ph type="title"/>
          </p:nvPr>
        </p:nvSpPr>
        <p:spPr>
          <a:xfrm>
            <a:off x="700635" y="914400"/>
            <a:ext cx="10691265" cy="648586"/>
          </a:xfrm>
        </p:spPr>
        <p:txBody>
          <a:bodyPr>
            <a:normAutofit/>
          </a:bodyPr>
          <a:lstStyle/>
          <a:p>
            <a:pPr algn="l">
              <a:buNone/>
            </a:pPr>
            <a:r>
              <a:rPr lang="pt-BR" sz="3000" b="1" i="1" dirty="0">
                <a:solidFill>
                  <a:srgbClr val="000000"/>
                </a:solidFill>
                <a:effectLst/>
                <a:latin typeface="Tahoma" panose="020B0604030504040204" pitchFamily="34" charset="0"/>
              </a:rPr>
              <a:t>Um auxílio à liberdade e às decisões humanas</a:t>
            </a:r>
            <a:endParaRPr lang="pt-BR" sz="3000" b="1" i="0" dirty="0">
              <a:solidFill>
                <a:srgbClr val="000000"/>
              </a:solidFill>
              <a:effectLst/>
              <a:latin typeface="Tahoma" panose="020B0604030504040204" pitchFamily="34" charset="0"/>
            </a:endParaRPr>
          </a:p>
        </p:txBody>
      </p:sp>
      <p:sp>
        <p:nvSpPr>
          <p:cNvPr id="3" name="Espaço Reservado para Conteúdo 2">
            <a:extLst>
              <a:ext uri="{FF2B5EF4-FFF2-40B4-BE49-F238E27FC236}">
                <a16:creationId xmlns:a16="http://schemas.microsoft.com/office/drawing/2014/main" id="{A22C2EC2-1C6A-0669-3096-0DDA52093A60}"/>
              </a:ext>
            </a:extLst>
          </p:cNvPr>
          <p:cNvSpPr>
            <a:spLocks noGrp="1"/>
          </p:cNvSpPr>
          <p:nvPr>
            <p:ph idx="1"/>
          </p:nvPr>
        </p:nvSpPr>
        <p:spPr>
          <a:xfrm>
            <a:off x="700635" y="1807321"/>
            <a:ext cx="10691265" cy="3739896"/>
          </a:xfrm>
        </p:spPr>
        <p:txBody>
          <a:bodyPr>
            <a:noAutofit/>
          </a:bodyPr>
          <a:lstStyle/>
          <a:p>
            <a:r>
              <a:rPr lang="pt-BR" sz="2500" b="0" i="0" dirty="0">
                <a:solidFill>
                  <a:srgbClr val="000000"/>
                </a:solidFill>
                <a:effectLst/>
                <a:latin typeface="Tahoma" panose="020B0604030504040204" pitchFamily="34" charset="0"/>
              </a:rPr>
              <a:t>Os quadros regulamentares devem garantir que todas as entidades jurídicas possam responsabilizar-se pela utilização da IA ​​e por todas as suas consequências, </a:t>
            </a:r>
            <a:r>
              <a:rPr lang="pt-BR" sz="2500" b="1" i="0" dirty="0">
                <a:solidFill>
                  <a:srgbClr val="000000"/>
                </a:solidFill>
                <a:effectLst/>
                <a:latin typeface="Tahoma" panose="020B0604030504040204" pitchFamily="34" charset="0"/>
              </a:rPr>
              <a:t>com medidas adequadas para salvaguardar a transparência, a privacidade e a responsabilização</a:t>
            </a:r>
            <a:r>
              <a:rPr lang="pt-BR" sz="2500" b="0" i="0" dirty="0">
                <a:solidFill>
                  <a:srgbClr val="000000"/>
                </a:solidFill>
                <a:effectLst/>
                <a:latin typeface="Tahoma" panose="020B0604030504040204" pitchFamily="34" charset="0"/>
              </a:rPr>
              <a:t>. </a:t>
            </a:r>
          </a:p>
          <a:p>
            <a:r>
              <a:rPr lang="pt-BR" sz="2500" b="0" i="0" dirty="0">
                <a:solidFill>
                  <a:srgbClr val="000000"/>
                </a:solidFill>
                <a:effectLst/>
                <a:latin typeface="Tahoma" panose="020B0604030504040204" pitchFamily="34" charset="0"/>
              </a:rPr>
              <a:t>Além disso, </a:t>
            </a:r>
            <a:r>
              <a:rPr lang="pt-BR" sz="2500" b="1" i="0" dirty="0">
                <a:solidFill>
                  <a:srgbClr val="FF0000"/>
                </a:solidFill>
                <a:effectLst/>
                <a:latin typeface="Tahoma" panose="020B0604030504040204" pitchFamily="34" charset="0"/>
              </a:rPr>
              <a:t>OS USUÁRIOS DEVEM TER CUIDADO</a:t>
            </a:r>
            <a:r>
              <a:rPr lang="pt-BR" sz="2500" b="1" i="0" dirty="0">
                <a:solidFill>
                  <a:srgbClr val="000000"/>
                </a:solidFill>
                <a:effectLst/>
                <a:latin typeface="Tahoma" panose="020B0604030504040204" pitchFamily="34" charset="0"/>
              </a:rPr>
              <a:t> PARA NÃO DEPENDER EXCESSIVAMENTE DA IA ​​PARA SUAS DECISÕES, AUMENTANDO O JÁ ALTO GRAU DE SUBORDINAÇÃO À TECNOLOGIA QUE CARACTERIZA A SOCIEDADE CONTEMPORÂNEA.</a:t>
            </a:r>
          </a:p>
        </p:txBody>
      </p:sp>
    </p:spTree>
    <p:extLst>
      <p:ext uri="{BB962C8B-B14F-4D97-AF65-F5344CB8AC3E}">
        <p14:creationId xmlns:p14="http://schemas.microsoft.com/office/powerpoint/2010/main" val="39458036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04108-8326-D64A-682C-E40695975C9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5110591-934E-2A80-E28C-DD0A09F528BB}"/>
              </a:ext>
            </a:extLst>
          </p:cNvPr>
          <p:cNvSpPr>
            <a:spLocks noGrp="1"/>
          </p:cNvSpPr>
          <p:nvPr>
            <p:ph type="title"/>
          </p:nvPr>
        </p:nvSpPr>
        <p:spPr>
          <a:xfrm>
            <a:off x="700635" y="914400"/>
            <a:ext cx="10691265" cy="818707"/>
          </a:xfrm>
        </p:spPr>
        <p:txBody>
          <a:bodyPr>
            <a:normAutofit/>
          </a:bodyPr>
          <a:lstStyle/>
          <a:p>
            <a:pPr algn="l">
              <a:buNone/>
            </a:pPr>
            <a:r>
              <a:rPr lang="pt-BR" sz="3000" b="1" i="1" dirty="0">
                <a:solidFill>
                  <a:srgbClr val="000000"/>
                </a:solidFill>
                <a:effectLst/>
                <a:latin typeface="Tahoma" panose="020B0604030504040204" pitchFamily="34" charset="0"/>
              </a:rPr>
              <a:t>Um auxílio à liberdade e às decisões humanas</a:t>
            </a:r>
          </a:p>
        </p:txBody>
      </p:sp>
      <p:sp>
        <p:nvSpPr>
          <p:cNvPr id="3" name="Espaço Reservado para Conteúdo 2">
            <a:extLst>
              <a:ext uri="{FF2B5EF4-FFF2-40B4-BE49-F238E27FC236}">
                <a16:creationId xmlns:a16="http://schemas.microsoft.com/office/drawing/2014/main" id="{21E21BE5-3877-196C-C59E-BDCB68D4FCD4}"/>
              </a:ext>
            </a:extLst>
          </p:cNvPr>
          <p:cNvSpPr>
            <a:spLocks noGrp="1"/>
          </p:cNvSpPr>
          <p:nvPr>
            <p:ph idx="1"/>
          </p:nvPr>
        </p:nvSpPr>
        <p:spPr/>
        <p:txBody>
          <a:bodyPr>
            <a:normAutofit/>
          </a:bodyPr>
          <a:lstStyle/>
          <a:p>
            <a:pPr algn="l"/>
            <a:endParaRPr lang="pt-BR" sz="2500" b="0" i="0" dirty="0">
              <a:solidFill>
                <a:srgbClr val="000000"/>
              </a:solidFill>
              <a:effectLst/>
              <a:latin typeface="Tahoma" panose="020B0604030504040204" pitchFamily="34" charset="0"/>
            </a:endParaRPr>
          </a:p>
          <a:p>
            <a:pPr algn="l"/>
            <a:r>
              <a:rPr lang="pt-BR" sz="2500" b="0" i="0" dirty="0">
                <a:solidFill>
                  <a:srgbClr val="000000"/>
                </a:solidFill>
                <a:effectLst/>
                <a:latin typeface="Tahoma" panose="020B0604030504040204" pitchFamily="34" charset="0"/>
              </a:rPr>
              <a:t>47. O ensinamento moral e social da Igreja ajuda a </a:t>
            </a:r>
            <a:r>
              <a:rPr lang="pt-BR" sz="2500" b="1" i="0" dirty="0">
                <a:solidFill>
                  <a:srgbClr val="000000"/>
                </a:solidFill>
                <a:effectLst/>
                <a:latin typeface="Tahoma" panose="020B0604030504040204" pitchFamily="34" charset="0"/>
              </a:rPr>
              <a:t>propor um uso da IA ​​que preserva a capacidade humana de ação.</a:t>
            </a:r>
            <a:r>
              <a:rPr lang="pt-BR" sz="2500" b="0" i="0" dirty="0">
                <a:solidFill>
                  <a:srgbClr val="000000"/>
                </a:solidFill>
                <a:effectLst/>
                <a:latin typeface="Tahoma" panose="020B0604030504040204" pitchFamily="34" charset="0"/>
              </a:rPr>
              <a:t> </a:t>
            </a:r>
          </a:p>
          <a:p>
            <a:pPr algn="l"/>
            <a:r>
              <a:rPr lang="pt-BR" sz="2500" b="0" i="0" dirty="0">
                <a:solidFill>
                  <a:srgbClr val="000000"/>
                </a:solidFill>
                <a:effectLst/>
                <a:latin typeface="Tahoma" panose="020B0604030504040204" pitchFamily="34" charset="0"/>
              </a:rPr>
              <a:t>Considerações relacionadas à justiça, por exemplo, devem abordar questões como </a:t>
            </a:r>
            <a:r>
              <a:rPr lang="pt-BR" sz="2500" b="1" i="0" dirty="0">
                <a:solidFill>
                  <a:srgbClr val="000000"/>
                </a:solidFill>
                <a:effectLst/>
                <a:latin typeface="Tahoma" panose="020B0604030504040204" pitchFamily="34" charset="0"/>
              </a:rPr>
              <a:t>promover dinâmicas sociais justas, defender a segurança internacional e promover a paz. </a:t>
            </a:r>
          </a:p>
        </p:txBody>
      </p:sp>
    </p:spTree>
    <p:extLst>
      <p:ext uri="{BB962C8B-B14F-4D97-AF65-F5344CB8AC3E}">
        <p14:creationId xmlns:p14="http://schemas.microsoft.com/office/powerpoint/2010/main" val="29959605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AE4E5-A590-3440-8802-5F61F06A605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F118468-C7FC-A0D3-347C-FAE7C560B2BD}"/>
              </a:ext>
            </a:extLst>
          </p:cNvPr>
          <p:cNvSpPr>
            <a:spLocks noGrp="1"/>
          </p:cNvSpPr>
          <p:nvPr>
            <p:ph type="title"/>
          </p:nvPr>
        </p:nvSpPr>
        <p:spPr>
          <a:xfrm>
            <a:off x="700635" y="914400"/>
            <a:ext cx="10691265" cy="733647"/>
          </a:xfrm>
        </p:spPr>
        <p:txBody>
          <a:bodyPr>
            <a:normAutofit/>
          </a:bodyPr>
          <a:lstStyle/>
          <a:p>
            <a:pPr algn="l">
              <a:buNone/>
            </a:pPr>
            <a:r>
              <a:rPr lang="pt-BR" sz="3000" b="1" i="1" dirty="0">
                <a:solidFill>
                  <a:srgbClr val="000000"/>
                </a:solidFill>
                <a:effectLst/>
                <a:latin typeface="Tahoma" panose="020B0604030504040204" pitchFamily="34" charset="0"/>
              </a:rPr>
              <a:t>Um auxílio à liberdade e às decisões humanas</a:t>
            </a:r>
            <a:endParaRPr lang="pt-BR" sz="3000" b="1" i="0" dirty="0">
              <a:solidFill>
                <a:srgbClr val="000000"/>
              </a:solidFill>
              <a:effectLst/>
              <a:latin typeface="Tahoma" panose="020B0604030504040204" pitchFamily="34" charset="0"/>
            </a:endParaRPr>
          </a:p>
        </p:txBody>
      </p:sp>
      <p:sp>
        <p:nvSpPr>
          <p:cNvPr id="3" name="Espaço Reservado para Conteúdo 2">
            <a:extLst>
              <a:ext uri="{FF2B5EF4-FFF2-40B4-BE49-F238E27FC236}">
                <a16:creationId xmlns:a16="http://schemas.microsoft.com/office/drawing/2014/main" id="{F0D42DB2-4567-5B7B-A5DF-F7B98D49FDDA}"/>
              </a:ext>
            </a:extLst>
          </p:cNvPr>
          <p:cNvSpPr>
            <a:spLocks noGrp="1"/>
          </p:cNvSpPr>
          <p:nvPr>
            <p:ph idx="1"/>
          </p:nvPr>
        </p:nvSpPr>
        <p:spPr/>
        <p:txBody>
          <a:bodyPr>
            <a:normAutofit/>
          </a:bodyPr>
          <a:lstStyle/>
          <a:p>
            <a:pPr algn="l"/>
            <a:r>
              <a:rPr lang="pt-BR" sz="2500" b="0" i="0" dirty="0">
                <a:solidFill>
                  <a:srgbClr val="000000"/>
                </a:solidFill>
                <a:effectLst/>
                <a:latin typeface="Tahoma" panose="020B0604030504040204" pitchFamily="34" charset="0"/>
              </a:rPr>
              <a:t>Ao exercer prudência, indivíduos e comunidades </a:t>
            </a:r>
            <a:r>
              <a:rPr lang="pt-BR" sz="2500" b="1" i="0" dirty="0">
                <a:solidFill>
                  <a:srgbClr val="000000"/>
                </a:solidFill>
                <a:effectLst/>
                <a:latin typeface="Tahoma" panose="020B0604030504040204" pitchFamily="34" charset="0"/>
              </a:rPr>
              <a:t>podem discernir como usar a IA para o benefício da humanidade</a:t>
            </a:r>
            <a:r>
              <a:rPr lang="pt-BR" sz="2500" b="0" i="0" dirty="0">
                <a:solidFill>
                  <a:srgbClr val="000000"/>
                </a:solidFill>
                <a:effectLst/>
                <a:latin typeface="Tahoma" panose="020B0604030504040204" pitchFamily="34" charset="0"/>
              </a:rPr>
              <a:t>, </a:t>
            </a:r>
            <a:r>
              <a:rPr lang="pt-BR" sz="2500" b="1" i="0" dirty="0">
                <a:solidFill>
                  <a:srgbClr val="FF0000"/>
                </a:solidFill>
                <a:effectLst/>
                <a:latin typeface="Tahoma" panose="020B0604030504040204" pitchFamily="34" charset="0"/>
              </a:rPr>
              <a:t>evitando aplicações que possam minar a dignidade humana ou prejudicar o planeta. </a:t>
            </a:r>
          </a:p>
          <a:p>
            <a:pPr algn="l"/>
            <a:r>
              <a:rPr lang="pt-BR" sz="2500" b="0" i="0" dirty="0">
                <a:solidFill>
                  <a:srgbClr val="000000"/>
                </a:solidFill>
                <a:effectLst/>
                <a:latin typeface="Tahoma" panose="020B0604030504040204" pitchFamily="34" charset="0"/>
              </a:rPr>
              <a:t>Neste contexto, </a:t>
            </a:r>
            <a:r>
              <a:rPr lang="pt-BR" sz="2500" b="1" i="0" dirty="0">
                <a:solidFill>
                  <a:srgbClr val="000000"/>
                </a:solidFill>
                <a:effectLst/>
                <a:latin typeface="Tahoma" panose="020B0604030504040204" pitchFamily="34" charset="0"/>
              </a:rPr>
              <a:t>o conceito de “responsabilidade” deve ser entendido não apenas no seu sentido mais estrito, mas sim como “tomar conta do outro, e não apenas […] dar conta do que foi feito”</a:t>
            </a:r>
            <a:r>
              <a:rPr lang="pt-BR" sz="2500" b="0" i="0" dirty="0">
                <a:solidFill>
                  <a:srgbClr val="000000"/>
                </a:solidFill>
                <a:effectLst/>
                <a:latin typeface="Tahoma" panose="020B0604030504040204" pitchFamily="34" charset="0"/>
              </a:rPr>
              <a:t> </a:t>
            </a:r>
            <a:r>
              <a:rPr lang="pt-BR" sz="2500" b="0" i="0" dirty="0">
                <a:solidFill>
                  <a:srgbClr val="663300"/>
                </a:solidFill>
                <a:effectLst/>
                <a:latin typeface="Tahoma" panose="020B0604030504040204" pitchFamily="34" charset="0"/>
                <a:hlinkClick r:id="rId2"/>
              </a:rPr>
              <a:t>[95]</a:t>
            </a:r>
            <a:r>
              <a:rPr lang="pt-BR" sz="2500" b="0" i="0" dirty="0">
                <a:solidFill>
                  <a:srgbClr val="000000"/>
                </a:solidFill>
                <a:effectLst/>
                <a:latin typeface="Tahoma" panose="020B0604030504040204" pitchFamily="34" charset="0"/>
              </a:rPr>
              <a:t> .</a:t>
            </a:r>
          </a:p>
        </p:txBody>
      </p:sp>
    </p:spTree>
    <p:extLst>
      <p:ext uri="{BB962C8B-B14F-4D97-AF65-F5344CB8AC3E}">
        <p14:creationId xmlns:p14="http://schemas.microsoft.com/office/powerpoint/2010/main" val="9446643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72AD4-FE7B-2132-994C-58029EA214A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4EADEE5-FB90-597A-E8D3-8F5D703D772D}"/>
              </a:ext>
            </a:extLst>
          </p:cNvPr>
          <p:cNvSpPr>
            <a:spLocks noGrp="1"/>
          </p:cNvSpPr>
          <p:nvPr>
            <p:ph type="title"/>
          </p:nvPr>
        </p:nvSpPr>
        <p:spPr>
          <a:xfrm>
            <a:off x="700635" y="914400"/>
            <a:ext cx="10691265" cy="723014"/>
          </a:xfrm>
        </p:spPr>
        <p:txBody>
          <a:bodyPr>
            <a:normAutofit/>
          </a:bodyPr>
          <a:lstStyle/>
          <a:p>
            <a:pPr algn="l">
              <a:buNone/>
            </a:pPr>
            <a:r>
              <a:rPr lang="pt-BR" sz="3000" b="1" i="1" dirty="0">
                <a:solidFill>
                  <a:srgbClr val="000000"/>
                </a:solidFill>
                <a:effectLst/>
                <a:latin typeface="Tahoma" panose="020B0604030504040204" pitchFamily="34" charset="0"/>
              </a:rPr>
              <a:t>Um auxílio à liberdade e às decisões humanas</a:t>
            </a:r>
            <a:endParaRPr lang="pt-BR" sz="3000" b="1" i="0" dirty="0">
              <a:solidFill>
                <a:srgbClr val="000000"/>
              </a:solidFill>
              <a:effectLst/>
              <a:latin typeface="Tahoma" panose="020B0604030504040204" pitchFamily="34" charset="0"/>
            </a:endParaRPr>
          </a:p>
        </p:txBody>
      </p:sp>
      <p:sp>
        <p:nvSpPr>
          <p:cNvPr id="3" name="Espaço Reservado para Conteúdo 2">
            <a:extLst>
              <a:ext uri="{FF2B5EF4-FFF2-40B4-BE49-F238E27FC236}">
                <a16:creationId xmlns:a16="http://schemas.microsoft.com/office/drawing/2014/main" id="{3CCA8750-0EEB-5B58-19BE-109287A19A67}"/>
              </a:ext>
            </a:extLst>
          </p:cNvPr>
          <p:cNvSpPr>
            <a:spLocks noGrp="1"/>
          </p:cNvSpPr>
          <p:nvPr>
            <p:ph idx="1"/>
          </p:nvPr>
        </p:nvSpPr>
        <p:spPr/>
        <p:txBody>
          <a:bodyPr>
            <a:normAutofit/>
          </a:bodyPr>
          <a:lstStyle/>
          <a:p>
            <a:pPr algn="l"/>
            <a:endParaRPr lang="pt-BR" sz="2500" b="0" i="0" dirty="0">
              <a:solidFill>
                <a:srgbClr val="000000"/>
              </a:solidFill>
              <a:effectLst/>
              <a:latin typeface="Tahoma" panose="020B0604030504040204" pitchFamily="34" charset="0"/>
            </a:endParaRPr>
          </a:p>
          <a:p>
            <a:pPr algn="l"/>
            <a:r>
              <a:rPr lang="pt-BR" sz="2500" b="0" i="0" dirty="0">
                <a:solidFill>
                  <a:srgbClr val="000000"/>
                </a:solidFill>
                <a:effectLst/>
                <a:latin typeface="Tahoma" panose="020B0604030504040204" pitchFamily="34" charset="0"/>
              </a:rPr>
              <a:t>48. Portanto, </a:t>
            </a:r>
            <a:r>
              <a:rPr lang="pt-BR" sz="2500" b="1" i="0" dirty="0">
                <a:solidFill>
                  <a:srgbClr val="FF0000"/>
                </a:solidFill>
                <a:effectLst/>
                <a:latin typeface="Tahoma" panose="020B0604030504040204" pitchFamily="34" charset="0"/>
              </a:rPr>
              <a:t>A IA, COMO QUALQUER TECNOLOGIA, PODE FAZER PARTE DE UMA RESPOSTA CONSCIENTE E RESPONSÁVEL À VOCAÇÃO DA HUMANIDADE PARA O BEM.</a:t>
            </a:r>
            <a:r>
              <a:rPr lang="pt-BR" sz="2500" b="0" i="0" dirty="0">
                <a:solidFill>
                  <a:srgbClr val="000000"/>
                </a:solidFill>
                <a:effectLst/>
                <a:latin typeface="Tahoma" panose="020B0604030504040204" pitchFamily="34" charset="0"/>
              </a:rPr>
              <a:t> </a:t>
            </a:r>
          </a:p>
          <a:p>
            <a:pPr algn="l"/>
            <a:r>
              <a:rPr lang="pt-BR" sz="2500" b="0" i="0" dirty="0">
                <a:solidFill>
                  <a:srgbClr val="000000"/>
                </a:solidFill>
                <a:effectLst/>
                <a:latin typeface="Tahoma" panose="020B0604030504040204" pitchFamily="34" charset="0"/>
              </a:rPr>
              <a:t>Contudo, como já foi dito, </a:t>
            </a:r>
            <a:r>
              <a:rPr lang="pt-BR" sz="2500" b="1" i="0" dirty="0">
                <a:solidFill>
                  <a:srgbClr val="000000"/>
                </a:solidFill>
                <a:effectLst/>
                <a:latin typeface="Tahoma" panose="020B0604030504040204" pitchFamily="34" charset="0"/>
              </a:rPr>
              <a:t>ela deve ser guiada pela inteligência humana para se alinhar a essa vocação, garantindo o respeito à dignidade da pessoa</a:t>
            </a:r>
            <a:r>
              <a:rPr lang="pt-BR" sz="2500" b="0" i="0" dirty="0">
                <a:solidFill>
                  <a:srgbClr val="000000"/>
                </a:solidFill>
                <a:effectLst/>
                <a:latin typeface="Tahoma" panose="020B0604030504040204" pitchFamily="34" charset="0"/>
              </a:rPr>
              <a:t>.</a:t>
            </a:r>
          </a:p>
        </p:txBody>
      </p:sp>
    </p:spTree>
    <p:extLst>
      <p:ext uri="{BB962C8B-B14F-4D97-AF65-F5344CB8AC3E}">
        <p14:creationId xmlns:p14="http://schemas.microsoft.com/office/powerpoint/2010/main" val="7972603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91DCE-9EE1-F8DB-A4C3-4CBE7EBE5DF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7C92C66-BF8A-0C3F-AB3B-2EB82FE76A5E}"/>
              </a:ext>
            </a:extLst>
          </p:cNvPr>
          <p:cNvSpPr>
            <a:spLocks noGrp="1"/>
          </p:cNvSpPr>
          <p:nvPr>
            <p:ph type="title"/>
          </p:nvPr>
        </p:nvSpPr>
        <p:spPr/>
        <p:txBody>
          <a:bodyPr>
            <a:normAutofit/>
          </a:bodyPr>
          <a:lstStyle/>
          <a:p>
            <a:pPr algn="l">
              <a:buNone/>
            </a:pPr>
            <a:r>
              <a:rPr lang="pt-BR" sz="3000" b="1" i="1" dirty="0">
                <a:solidFill>
                  <a:srgbClr val="000000"/>
                </a:solidFill>
                <a:effectLst/>
                <a:latin typeface="Tahoma" panose="020B0604030504040204" pitchFamily="34" charset="0"/>
              </a:rPr>
              <a:t>Um auxílio à liberdade e às decisões humanas</a:t>
            </a:r>
            <a:endParaRPr lang="pt-BR" sz="3000" b="1" i="0" dirty="0">
              <a:solidFill>
                <a:srgbClr val="000000"/>
              </a:solidFill>
              <a:effectLst/>
              <a:latin typeface="Tahoma" panose="020B0604030504040204" pitchFamily="34" charset="0"/>
            </a:endParaRPr>
          </a:p>
        </p:txBody>
      </p:sp>
      <p:sp>
        <p:nvSpPr>
          <p:cNvPr id="3" name="Espaço Reservado para Conteúdo 2">
            <a:extLst>
              <a:ext uri="{FF2B5EF4-FFF2-40B4-BE49-F238E27FC236}">
                <a16:creationId xmlns:a16="http://schemas.microsoft.com/office/drawing/2014/main" id="{F13F3E3F-F8F6-070D-D273-6C78EE0C21CD}"/>
              </a:ext>
            </a:extLst>
          </p:cNvPr>
          <p:cNvSpPr>
            <a:spLocks noGrp="1"/>
          </p:cNvSpPr>
          <p:nvPr>
            <p:ph idx="1"/>
          </p:nvPr>
        </p:nvSpPr>
        <p:spPr/>
        <p:txBody>
          <a:bodyPr>
            <a:noAutofit/>
          </a:bodyPr>
          <a:lstStyle/>
          <a:p>
            <a:pPr algn="l"/>
            <a:r>
              <a:rPr lang="pt-BR" sz="2500" b="0" i="0" dirty="0">
                <a:solidFill>
                  <a:srgbClr val="000000"/>
                </a:solidFill>
                <a:effectLst/>
                <a:latin typeface="Tahoma" panose="020B0604030504040204" pitchFamily="34" charset="0"/>
              </a:rPr>
              <a:t>Reconhecendo esta «dignidade eminente», o Concílio Vaticano II afirma que </a:t>
            </a:r>
            <a:r>
              <a:rPr lang="pt-BR" sz="2500" b="1" i="0" dirty="0">
                <a:solidFill>
                  <a:srgbClr val="000000"/>
                </a:solidFill>
                <a:effectLst/>
                <a:latin typeface="Tahoma" panose="020B0604030504040204" pitchFamily="34" charset="0"/>
              </a:rPr>
              <a:t>«a ordem social [...] e o seu desenvolvimento progressivo devem estar sempre subordinados ao bem da pessoa»</a:t>
            </a:r>
            <a:r>
              <a:rPr lang="pt-BR" sz="2500" b="0" i="0" dirty="0">
                <a:solidFill>
                  <a:srgbClr val="000000"/>
                </a:solidFill>
                <a:effectLst/>
                <a:latin typeface="Tahoma" panose="020B0604030504040204" pitchFamily="34" charset="0"/>
              </a:rPr>
              <a:t> </a:t>
            </a:r>
            <a:r>
              <a:rPr lang="pt-BR" sz="2500" b="0" i="0" dirty="0">
                <a:solidFill>
                  <a:srgbClr val="663300"/>
                </a:solidFill>
                <a:effectLst/>
                <a:latin typeface="Tahoma" panose="020B0604030504040204" pitchFamily="34" charset="0"/>
                <a:hlinkClick r:id="rId2"/>
              </a:rPr>
              <a:t>[96]</a:t>
            </a:r>
            <a:r>
              <a:rPr lang="pt-BR" sz="2500" b="0" i="0" dirty="0">
                <a:solidFill>
                  <a:srgbClr val="000000"/>
                </a:solidFill>
                <a:effectLst/>
                <a:latin typeface="Tahoma" panose="020B0604030504040204" pitchFamily="34" charset="0"/>
              </a:rPr>
              <a:t> . </a:t>
            </a:r>
          </a:p>
          <a:p>
            <a:pPr algn="l"/>
            <a:r>
              <a:rPr lang="pt-BR" sz="2500" b="0" i="0" dirty="0">
                <a:solidFill>
                  <a:srgbClr val="000000"/>
                </a:solidFill>
                <a:effectLst/>
                <a:latin typeface="Tahoma" panose="020B0604030504040204" pitchFamily="34" charset="0"/>
              </a:rPr>
              <a:t>À luz disto, </a:t>
            </a:r>
            <a:r>
              <a:rPr lang="pt-BR" sz="2500" b="1" i="0" dirty="0">
                <a:solidFill>
                  <a:srgbClr val="FF0000"/>
                </a:solidFill>
                <a:effectLst/>
                <a:latin typeface="Tahoma" panose="020B0604030504040204" pitchFamily="34" charset="0"/>
              </a:rPr>
              <a:t>O USO DA IA</a:t>
            </a:r>
            <a:r>
              <a:rPr lang="pt-BR" sz="2500" b="0" i="0" dirty="0">
                <a:solidFill>
                  <a:srgbClr val="000000"/>
                </a:solidFill>
                <a:effectLst/>
                <a:latin typeface="Tahoma" panose="020B0604030504040204" pitchFamily="34" charset="0"/>
              </a:rPr>
              <a:t>, como disse o Papa Francisco, </a:t>
            </a:r>
            <a:r>
              <a:rPr lang="pt-BR" sz="2500" b="1" i="0" dirty="0">
                <a:solidFill>
                  <a:srgbClr val="000000"/>
                </a:solidFill>
                <a:effectLst/>
                <a:latin typeface="Tahoma" panose="020B0604030504040204" pitchFamily="34" charset="0"/>
              </a:rPr>
              <a:t>DEVE SER ACOMPANHADO «POR UMA ÉTICA BASEADA NUMA VISÃO DO BEM COMUM, UMA ÉTICA DA LIBERDADE, DA RESPONSABILIDADE E DA FRATERNIDADE, CAPAZ DE FAVORECER O PLENO DESENVOLVIMENTO DAS PESSOAS EM RELAÇÃO AOS OUTROS E À CRIAÇÃO» </a:t>
            </a:r>
            <a:r>
              <a:rPr lang="pt-BR" sz="2500" b="0" i="0" dirty="0">
                <a:solidFill>
                  <a:srgbClr val="000000"/>
                </a:solidFill>
                <a:effectLst/>
                <a:latin typeface="Tahoma" panose="020B0604030504040204" pitchFamily="34" charset="0"/>
                <a:hlinkClick r:id="rId3"/>
              </a:rPr>
              <a:t>[97]</a:t>
            </a:r>
            <a:endParaRPr lang="pt-BR" sz="2500" b="0" i="0" dirty="0">
              <a:solidFill>
                <a:srgbClr val="000000"/>
              </a:solidFill>
              <a:effectLst/>
              <a:latin typeface="Tahoma" panose="020B0604030504040204" pitchFamily="34" charset="0"/>
            </a:endParaRPr>
          </a:p>
        </p:txBody>
      </p:sp>
    </p:spTree>
    <p:extLst>
      <p:ext uri="{BB962C8B-B14F-4D97-AF65-F5344CB8AC3E}">
        <p14:creationId xmlns:p14="http://schemas.microsoft.com/office/powerpoint/2010/main" val="22906803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C6A5BA-B161-E976-93A2-E4FC20BFBF6B}"/>
              </a:ext>
            </a:extLst>
          </p:cNvPr>
          <p:cNvSpPr>
            <a:spLocks noGrp="1"/>
          </p:cNvSpPr>
          <p:nvPr>
            <p:ph type="title"/>
          </p:nvPr>
        </p:nvSpPr>
        <p:spPr/>
        <p:txBody>
          <a:bodyPr/>
          <a:lstStyle/>
          <a:p>
            <a:r>
              <a:rPr lang="pt-BR" b="1" i="0" dirty="0">
                <a:solidFill>
                  <a:srgbClr val="000000"/>
                </a:solidFill>
                <a:effectLst/>
                <a:latin typeface="Tahoma" panose="020B0604030504040204" pitchFamily="34" charset="0"/>
              </a:rPr>
              <a:t>V . Questões específicas</a:t>
            </a:r>
            <a:endParaRPr lang="pt-BR" dirty="0"/>
          </a:p>
        </p:txBody>
      </p:sp>
      <p:sp>
        <p:nvSpPr>
          <p:cNvPr id="3" name="Espaço Reservado para Texto 2">
            <a:extLst>
              <a:ext uri="{FF2B5EF4-FFF2-40B4-BE49-F238E27FC236}">
                <a16:creationId xmlns:a16="http://schemas.microsoft.com/office/drawing/2014/main" id="{31CA93DC-9FEC-653A-25DC-6C93B62FB44D}"/>
              </a:ext>
            </a:extLst>
          </p:cNvPr>
          <p:cNvSpPr>
            <a:spLocks noGrp="1"/>
          </p:cNvSpPr>
          <p:nvPr>
            <p:ph type="body" idx="1"/>
          </p:nvPr>
        </p:nvSpPr>
        <p:spPr/>
        <p:txBody>
          <a:bodyPr/>
          <a:lstStyle/>
          <a:p>
            <a:endParaRPr lang="pt-BR"/>
          </a:p>
        </p:txBody>
      </p:sp>
    </p:spTree>
    <p:extLst>
      <p:ext uri="{BB962C8B-B14F-4D97-AF65-F5344CB8AC3E}">
        <p14:creationId xmlns:p14="http://schemas.microsoft.com/office/powerpoint/2010/main" val="37273802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8FEAC-8B9A-54B2-AC3B-2F6E9D20F80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E573262-A4E3-A7BB-788B-16C355D97F25}"/>
              </a:ext>
            </a:extLst>
          </p:cNvPr>
          <p:cNvSpPr>
            <a:spLocks noGrp="1"/>
          </p:cNvSpPr>
          <p:nvPr>
            <p:ph type="title"/>
          </p:nvPr>
        </p:nvSpPr>
        <p:spPr>
          <a:xfrm>
            <a:off x="700635" y="914400"/>
            <a:ext cx="10691265" cy="808074"/>
          </a:xfrm>
        </p:spPr>
        <p:txBody>
          <a:bodyPr>
            <a:normAutofit/>
          </a:bodyPr>
          <a:lstStyle/>
          <a:p>
            <a:pPr algn="l">
              <a:buNone/>
            </a:pPr>
            <a:r>
              <a:rPr lang="pt-BR" b="0" i="1" dirty="0">
                <a:solidFill>
                  <a:srgbClr val="000000"/>
                </a:solidFill>
                <a:effectLst/>
                <a:latin typeface="Tahoma" panose="020B0604030504040204" pitchFamily="34" charset="0"/>
              </a:rPr>
              <a:t>IA e sociedade</a:t>
            </a:r>
            <a:endParaRPr lang="pt-BR" b="0" i="0" dirty="0">
              <a:solidFill>
                <a:srgbClr val="000000"/>
              </a:solidFill>
              <a:effectLst/>
              <a:latin typeface="Tahoma" panose="020B0604030504040204" pitchFamily="34" charset="0"/>
            </a:endParaRPr>
          </a:p>
        </p:txBody>
      </p:sp>
      <p:sp>
        <p:nvSpPr>
          <p:cNvPr id="3" name="Espaço Reservado para Conteúdo 2">
            <a:extLst>
              <a:ext uri="{FF2B5EF4-FFF2-40B4-BE49-F238E27FC236}">
                <a16:creationId xmlns:a16="http://schemas.microsoft.com/office/drawing/2014/main" id="{54A2CBF4-941D-096C-68BA-5E5225890B96}"/>
              </a:ext>
            </a:extLst>
          </p:cNvPr>
          <p:cNvSpPr>
            <a:spLocks noGrp="1"/>
          </p:cNvSpPr>
          <p:nvPr>
            <p:ph idx="1"/>
          </p:nvPr>
        </p:nvSpPr>
        <p:spPr>
          <a:xfrm>
            <a:off x="700635" y="1722474"/>
            <a:ext cx="10691265" cy="4239414"/>
          </a:xfrm>
        </p:spPr>
        <p:txBody>
          <a:bodyPr>
            <a:normAutofit/>
          </a:bodyPr>
          <a:lstStyle/>
          <a:p>
            <a:r>
              <a:rPr lang="pt-BR" sz="2500" b="0" i="0" dirty="0">
                <a:solidFill>
                  <a:srgbClr val="000000"/>
                </a:solidFill>
                <a:effectLst/>
                <a:latin typeface="Tahoma" panose="020B0604030504040204" pitchFamily="34" charset="0"/>
              </a:rPr>
              <a:t>51. Vista sob esta luz, a IA poderia «introduzir grandes inovações na agricultura, na educação e na cultura, uma melhoria do nível de vida de nações e povos inteiros, o crescimento da fraternidade humana e da amizade social» e, assim, ser «utilizada para promover o desenvolvimento humano integral» </a:t>
            </a:r>
            <a:r>
              <a:rPr lang="pt-BR" sz="2500" b="0" i="0" dirty="0">
                <a:solidFill>
                  <a:srgbClr val="663300"/>
                </a:solidFill>
                <a:effectLst/>
                <a:latin typeface="Tahoma" panose="020B0604030504040204" pitchFamily="34" charset="0"/>
                <a:hlinkClick r:id="rId2"/>
              </a:rPr>
              <a:t>[101]</a:t>
            </a:r>
            <a:r>
              <a:rPr lang="pt-BR" sz="2500" b="0" i="0" dirty="0">
                <a:solidFill>
                  <a:srgbClr val="000000"/>
                </a:solidFill>
                <a:effectLst/>
                <a:latin typeface="Tahoma" panose="020B0604030504040204" pitchFamily="34" charset="0"/>
              </a:rPr>
              <a:t> . </a:t>
            </a:r>
          </a:p>
          <a:p>
            <a:r>
              <a:rPr lang="pt-BR" sz="2500" b="0" i="0" dirty="0">
                <a:solidFill>
                  <a:srgbClr val="000000"/>
                </a:solidFill>
                <a:effectLst/>
                <a:latin typeface="Tahoma" panose="020B0604030504040204" pitchFamily="34" charset="0"/>
              </a:rPr>
              <a:t>Também </a:t>
            </a:r>
            <a:r>
              <a:rPr lang="pt-BR" sz="2500" b="1" i="0" dirty="0">
                <a:solidFill>
                  <a:srgbClr val="000000"/>
                </a:solidFill>
                <a:effectLst/>
                <a:latin typeface="Tahoma" panose="020B0604030504040204" pitchFamily="34" charset="0"/>
              </a:rPr>
              <a:t>poderia ajudar organizações a identificar pessoas necessitadas e combater a discriminação e a marginalização</a:t>
            </a:r>
            <a:r>
              <a:rPr lang="pt-BR" sz="2500" b="0" i="0" dirty="0">
                <a:solidFill>
                  <a:srgbClr val="000000"/>
                </a:solidFill>
                <a:effectLst/>
                <a:latin typeface="Tahoma" panose="020B0604030504040204" pitchFamily="34" charset="0"/>
              </a:rPr>
              <a:t>.</a:t>
            </a:r>
          </a:p>
          <a:p>
            <a:r>
              <a:rPr lang="pt-BR" sz="2500" b="1" i="0" dirty="0">
                <a:solidFill>
                  <a:srgbClr val="FF0000"/>
                </a:solidFill>
                <a:effectLst/>
                <a:latin typeface="Tahoma" panose="020B0604030504040204" pitchFamily="34" charset="0"/>
              </a:rPr>
              <a:t>Desta e de outras formas semelhantes, a IA poderia contribuir para o desenvolvimento humano e para o bem comum.</a:t>
            </a:r>
          </a:p>
        </p:txBody>
      </p:sp>
    </p:spTree>
    <p:extLst>
      <p:ext uri="{BB962C8B-B14F-4D97-AF65-F5344CB8AC3E}">
        <p14:creationId xmlns:p14="http://schemas.microsoft.com/office/powerpoint/2010/main" val="11596549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26DC2-9D61-C259-29A4-31E12736B73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9854AED-FFC4-7ADC-CC34-75FF93160853}"/>
              </a:ext>
            </a:extLst>
          </p:cNvPr>
          <p:cNvSpPr>
            <a:spLocks noGrp="1"/>
          </p:cNvSpPr>
          <p:nvPr>
            <p:ph type="title"/>
          </p:nvPr>
        </p:nvSpPr>
        <p:spPr>
          <a:xfrm>
            <a:off x="700635" y="914400"/>
            <a:ext cx="10691265" cy="808074"/>
          </a:xfrm>
        </p:spPr>
        <p:txBody>
          <a:bodyPr>
            <a:normAutofit/>
          </a:bodyPr>
          <a:lstStyle/>
          <a:p>
            <a:pPr algn="l">
              <a:buNone/>
            </a:pPr>
            <a:r>
              <a:rPr lang="pt-BR" b="0" i="1" dirty="0">
                <a:solidFill>
                  <a:srgbClr val="000000"/>
                </a:solidFill>
                <a:effectLst/>
                <a:latin typeface="Tahoma" panose="020B0604030504040204" pitchFamily="34" charset="0"/>
              </a:rPr>
              <a:t>IA e sociedade</a:t>
            </a:r>
            <a:endParaRPr lang="pt-BR" b="0" i="0" dirty="0">
              <a:solidFill>
                <a:srgbClr val="000000"/>
              </a:solidFill>
              <a:effectLst/>
              <a:latin typeface="Tahoma" panose="020B0604030504040204" pitchFamily="34" charset="0"/>
            </a:endParaRPr>
          </a:p>
        </p:txBody>
      </p:sp>
      <p:sp>
        <p:nvSpPr>
          <p:cNvPr id="3" name="Espaço Reservado para Conteúdo 2">
            <a:extLst>
              <a:ext uri="{FF2B5EF4-FFF2-40B4-BE49-F238E27FC236}">
                <a16:creationId xmlns:a16="http://schemas.microsoft.com/office/drawing/2014/main" id="{02E7D9CE-D60A-5A97-74B9-6E273D6B7A54}"/>
              </a:ext>
            </a:extLst>
          </p:cNvPr>
          <p:cNvSpPr>
            <a:spLocks noGrp="1"/>
          </p:cNvSpPr>
          <p:nvPr>
            <p:ph idx="1"/>
          </p:nvPr>
        </p:nvSpPr>
        <p:spPr>
          <a:xfrm>
            <a:off x="425303" y="1722474"/>
            <a:ext cx="10966598" cy="4239414"/>
          </a:xfrm>
        </p:spPr>
        <p:txBody>
          <a:bodyPr>
            <a:noAutofit/>
          </a:bodyPr>
          <a:lstStyle/>
          <a:p>
            <a:r>
              <a:rPr lang="pt-BR" sz="2200" b="0" i="0" dirty="0">
                <a:solidFill>
                  <a:srgbClr val="000000"/>
                </a:solidFill>
                <a:effectLst/>
                <a:latin typeface="Tahoma" panose="020B0604030504040204" pitchFamily="34" charset="0"/>
              </a:rPr>
              <a:t>52. No entanto, o Papa Francisco observou que «</a:t>
            </a:r>
            <a:r>
              <a:rPr lang="pt-BR" sz="2200" b="1" i="0" dirty="0">
                <a:solidFill>
                  <a:srgbClr val="000000"/>
                </a:solidFill>
                <a:effectLst/>
                <a:latin typeface="Tahoma" panose="020B0604030504040204" pitchFamily="34" charset="0"/>
              </a:rPr>
              <a:t>os dados disponíveis até agora parecem sugerir que as tecnologias digitais serviram para aumentar as desigualdades no mundo.</a:t>
            </a:r>
            <a:r>
              <a:rPr lang="pt-BR" sz="2200" b="0" i="0" dirty="0">
                <a:solidFill>
                  <a:srgbClr val="000000"/>
                </a:solidFill>
                <a:effectLst/>
                <a:latin typeface="Tahoma" panose="020B0604030504040204" pitchFamily="34" charset="0"/>
              </a:rPr>
              <a:t> Não apenas as diferenças na riqueza material, mas também as diferenças no acesso à influência política e social» </a:t>
            </a:r>
            <a:r>
              <a:rPr lang="pt-BR" sz="2200" b="0" i="0" dirty="0">
                <a:solidFill>
                  <a:srgbClr val="663300"/>
                </a:solidFill>
                <a:effectLst/>
                <a:latin typeface="Tahoma" panose="020B0604030504040204" pitchFamily="34" charset="0"/>
                <a:hlinkClick r:id="rId2"/>
              </a:rPr>
              <a:t>[103]</a:t>
            </a:r>
            <a:r>
              <a:rPr lang="pt-BR" sz="2200" b="0" i="0" dirty="0">
                <a:solidFill>
                  <a:srgbClr val="000000"/>
                </a:solidFill>
                <a:effectLst/>
                <a:latin typeface="Tahoma" panose="020B0604030504040204" pitchFamily="34" charset="0"/>
              </a:rPr>
              <a:t> . </a:t>
            </a:r>
          </a:p>
          <a:p>
            <a:r>
              <a:rPr lang="pt-BR" sz="2200" b="1" i="0" dirty="0">
                <a:solidFill>
                  <a:srgbClr val="000000"/>
                </a:solidFill>
                <a:effectLst/>
                <a:latin typeface="Tahoma" panose="020B0604030504040204" pitchFamily="34" charset="0"/>
              </a:rPr>
              <a:t>Neste sentido, a IA poderia ser utilizada para prolongar situações de marginalização e discriminação, </a:t>
            </a:r>
            <a:r>
              <a:rPr lang="pt-BR" sz="2200" b="1" i="0" dirty="0">
                <a:solidFill>
                  <a:srgbClr val="FF0000"/>
                </a:solidFill>
                <a:effectLst/>
                <a:latin typeface="Tahoma" panose="020B0604030504040204" pitchFamily="34" charset="0"/>
              </a:rPr>
              <a:t>para criar novas formas de pobreza, para alargar a “exclusão digital” e para agravar as desigualdades sociais</a:t>
            </a:r>
            <a:r>
              <a:rPr lang="pt-BR" sz="2200" b="1" i="0" dirty="0">
                <a:solidFill>
                  <a:srgbClr val="000000"/>
                </a:solidFill>
                <a:effectLst/>
                <a:latin typeface="Tahoma" panose="020B0604030504040204" pitchFamily="34" charset="0"/>
              </a:rPr>
              <a:t> </a:t>
            </a:r>
            <a:r>
              <a:rPr lang="pt-BR" sz="2200" b="0" i="0" dirty="0">
                <a:solidFill>
                  <a:srgbClr val="663300"/>
                </a:solidFill>
                <a:effectLst/>
                <a:latin typeface="Tahoma" panose="020B0604030504040204" pitchFamily="34" charset="0"/>
                <a:hlinkClick r:id="rId3"/>
              </a:rPr>
              <a:t>[104]</a:t>
            </a:r>
            <a:r>
              <a:rPr lang="pt-BR" sz="2200" b="0" i="0" dirty="0">
                <a:solidFill>
                  <a:srgbClr val="000000"/>
                </a:solidFill>
                <a:effectLst/>
                <a:latin typeface="Tahoma" panose="020B0604030504040204" pitchFamily="34" charset="0"/>
              </a:rPr>
              <a:t> .</a:t>
            </a:r>
          </a:p>
          <a:p>
            <a:pPr algn="l"/>
            <a:r>
              <a:rPr lang="pt-BR" sz="2200" b="0" i="0" dirty="0">
                <a:solidFill>
                  <a:srgbClr val="000000"/>
                </a:solidFill>
                <a:effectLst/>
                <a:latin typeface="Tahoma" panose="020B0604030504040204" pitchFamily="34" charset="0"/>
              </a:rPr>
              <a:t>53. Além disso, o fato de que a maior parte do poder sobre as principais aplicações de IA está atualmente concentrada nas mãos de algumas empresas poderosas levanta preocupações éticas significativas. </a:t>
            </a:r>
          </a:p>
          <a:p>
            <a:pPr algn="l"/>
            <a:endParaRPr lang="pt-BR" sz="2200" b="0" i="0" dirty="0">
              <a:solidFill>
                <a:srgbClr val="000000"/>
              </a:solidFill>
              <a:effectLst/>
              <a:latin typeface="Tahoma" panose="020B0604030504040204" pitchFamily="34" charset="0"/>
            </a:endParaRPr>
          </a:p>
        </p:txBody>
      </p:sp>
    </p:spTree>
    <p:extLst>
      <p:ext uri="{BB962C8B-B14F-4D97-AF65-F5344CB8AC3E}">
        <p14:creationId xmlns:p14="http://schemas.microsoft.com/office/powerpoint/2010/main" val="27619135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80D3C-159F-8F99-50E5-FC8370C8609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53BB8FF-8A47-7F35-5C2E-853B3CCFE35C}"/>
              </a:ext>
            </a:extLst>
          </p:cNvPr>
          <p:cNvSpPr>
            <a:spLocks noGrp="1"/>
          </p:cNvSpPr>
          <p:nvPr>
            <p:ph type="title"/>
          </p:nvPr>
        </p:nvSpPr>
        <p:spPr>
          <a:xfrm>
            <a:off x="700635" y="914400"/>
            <a:ext cx="10691265" cy="818707"/>
          </a:xfrm>
        </p:spPr>
        <p:txBody>
          <a:bodyPr>
            <a:normAutofit/>
          </a:bodyPr>
          <a:lstStyle/>
          <a:p>
            <a:pPr algn="l">
              <a:buNone/>
            </a:pPr>
            <a:r>
              <a:rPr lang="pt-BR" b="0" i="1" dirty="0">
                <a:solidFill>
                  <a:srgbClr val="000000"/>
                </a:solidFill>
                <a:effectLst/>
                <a:latin typeface="Tahoma" panose="020B0604030504040204" pitchFamily="34" charset="0"/>
              </a:rPr>
              <a:t>IA e relações humanas</a:t>
            </a:r>
            <a:endParaRPr lang="pt-BR" b="0" i="0" dirty="0">
              <a:solidFill>
                <a:srgbClr val="000000"/>
              </a:solidFill>
              <a:effectLst/>
              <a:latin typeface="Tahoma" panose="020B0604030504040204" pitchFamily="34" charset="0"/>
            </a:endParaRPr>
          </a:p>
        </p:txBody>
      </p:sp>
      <p:sp>
        <p:nvSpPr>
          <p:cNvPr id="3" name="Espaço Reservado para Conteúdo 2">
            <a:extLst>
              <a:ext uri="{FF2B5EF4-FFF2-40B4-BE49-F238E27FC236}">
                <a16:creationId xmlns:a16="http://schemas.microsoft.com/office/drawing/2014/main" id="{9B8A94C6-384B-ABDE-5A91-881FD44F8495}"/>
              </a:ext>
            </a:extLst>
          </p:cNvPr>
          <p:cNvSpPr>
            <a:spLocks noGrp="1"/>
          </p:cNvSpPr>
          <p:nvPr>
            <p:ph idx="1"/>
          </p:nvPr>
        </p:nvSpPr>
        <p:spPr>
          <a:xfrm>
            <a:off x="700635" y="1733107"/>
            <a:ext cx="10691265" cy="4228781"/>
          </a:xfrm>
        </p:spPr>
        <p:txBody>
          <a:bodyPr>
            <a:noAutofit/>
          </a:bodyPr>
          <a:lstStyle/>
          <a:p>
            <a:r>
              <a:rPr lang="pt-BR" sz="2200" b="0" i="0" dirty="0">
                <a:solidFill>
                  <a:srgbClr val="000000"/>
                </a:solidFill>
                <a:effectLst/>
                <a:latin typeface="Tahoma" panose="020B0604030504040204" pitchFamily="34" charset="0"/>
              </a:rPr>
              <a:t>56. O Concílio Vaticano II afirma que </a:t>
            </a:r>
            <a:r>
              <a:rPr lang="pt-BR" sz="2200" b="1" i="0" dirty="0">
                <a:solidFill>
                  <a:srgbClr val="000000"/>
                </a:solidFill>
                <a:effectLst/>
                <a:latin typeface="Tahoma" panose="020B0604030504040204" pitchFamily="34" charset="0"/>
              </a:rPr>
              <a:t>o ser humano é, por «sua natureza mais íntima, um ser social, e não pode viver nem desenvolver as suas qualidades sem se relacionar com os outros»</a:t>
            </a:r>
            <a:r>
              <a:rPr lang="pt-BR" sz="2200" b="0" i="0" dirty="0">
                <a:solidFill>
                  <a:srgbClr val="000000"/>
                </a:solidFill>
                <a:effectLst/>
                <a:latin typeface="Tahoma" panose="020B0604030504040204" pitchFamily="34" charset="0"/>
              </a:rPr>
              <a:t> </a:t>
            </a:r>
            <a:r>
              <a:rPr lang="pt-BR" sz="2200" b="0" i="0" dirty="0">
                <a:solidFill>
                  <a:srgbClr val="663300"/>
                </a:solidFill>
                <a:effectLst/>
                <a:latin typeface="Tahoma" panose="020B0604030504040204" pitchFamily="34" charset="0"/>
                <a:hlinkClick r:id="rId2"/>
              </a:rPr>
              <a:t>[113]</a:t>
            </a:r>
            <a:r>
              <a:rPr lang="pt-BR" sz="2200" b="0" i="0" dirty="0">
                <a:solidFill>
                  <a:srgbClr val="000000"/>
                </a:solidFill>
                <a:effectLst/>
                <a:latin typeface="Tahoma" panose="020B0604030504040204" pitchFamily="34" charset="0"/>
              </a:rPr>
              <a:t> . </a:t>
            </a:r>
          </a:p>
          <a:p>
            <a:r>
              <a:rPr lang="pt-BR" sz="2200" b="0" i="0" dirty="0">
                <a:solidFill>
                  <a:srgbClr val="000000"/>
                </a:solidFill>
                <a:effectLst/>
                <a:latin typeface="Tahoma" panose="020B0604030504040204" pitchFamily="34" charset="0"/>
              </a:rPr>
              <a:t>Esta convicção sublinha que a vida em sociedade faz parte da natureza e da vocação da pessoa. Como seres sociais, os seres humanos procuram relações que envolvam trocas recíprocas e a busca da verdade, “alguns expõem aos outros a verdade que encontraram ou acreditam ter encontrado, para se ajudarem mutuamente na busca da verdade” </a:t>
            </a:r>
            <a:r>
              <a:rPr lang="pt-BR" sz="2200" b="0" i="0" dirty="0">
                <a:solidFill>
                  <a:srgbClr val="663300"/>
                </a:solidFill>
                <a:effectLst/>
                <a:latin typeface="Tahoma" panose="020B0604030504040204" pitchFamily="34" charset="0"/>
                <a:hlinkClick r:id="rId3"/>
              </a:rPr>
              <a:t>[115]</a:t>
            </a:r>
            <a:r>
              <a:rPr lang="pt-BR" sz="2200" b="0" i="0" dirty="0">
                <a:solidFill>
                  <a:srgbClr val="000000"/>
                </a:solidFill>
                <a:effectLst/>
                <a:latin typeface="Tahoma" panose="020B0604030504040204" pitchFamily="34" charset="0"/>
              </a:rPr>
              <a:t> .</a:t>
            </a:r>
          </a:p>
          <a:p>
            <a:r>
              <a:rPr lang="pt-BR" sz="2200" b="0" i="0" dirty="0">
                <a:solidFill>
                  <a:srgbClr val="000000"/>
                </a:solidFill>
                <a:effectLst/>
                <a:latin typeface="Tahoma" panose="020B0604030504040204" pitchFamily="34" charset="0"/>
              </a:rPr>
              <a:t>58. É neste contexto que os desafios impostos pela IA aos relacionamentos podem ser considerados. Assim como outros meios tecnológicos, a IA tem a capacidade de promover conexões dentro da família humana. </a:t>
            </a:r>
          </a:p>
        </p:txBody>
      </p:sp>
    </p:spTree>
    <p:extLst>
      <p:ext uri="{BB962C8B-B14F-4D97-AF65-F5344CB8AC3E}">
        <p14:creationId xmlns:p14="http://schemas.microsoft.com/office/powerpoint/2010/main" val="19218603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35BDB-4AA5-EFDF-C3D1-8017AAF4B97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CD97148-0116-1847-E256-5B4DC5B80FD2}"/>
              </a:ext>
            </a:extLst>
          </p:cNvPr>
          <p:cNvSpPr>
            <a:spLocks noGrp="1"/>
          </p:cNvSpPr>
          <p:nvPr>
            <p:ph type="title"/>
          </p:nvPr>
        </p:nvSpPr>
        <p:spPr>
          <a:xfrm>
            <a:off x="700635" y="914400"/>
            <a:ext cx="10691265" cy="818707"/>
          </a:xfrm>
        </p:spPr>
        <p:txBody>
          <a:bodyPr>
            <a:normAutofit/>
          </a:bodyPr>
          <a:lstStyle/>
          <a:p>
            <a:pPr algn="l">
              <a:buNone/>
            </a:pPr>
            <a:r>
              <a:rPr lang="pt-BR" b="0" i="1" dirty="0">
                <a:solidFill>
                  <a:srgbClr val="000000"/>
                </a:solidFill>
                <a:effectLst/>
                <a:latin typeface="Tahoma" panose="020B0604030504040204" pitchFamily="34" charset="0"/>
              </a:rPr>
              <a:t>IA e relações humanas</a:t>
            </a:r>
            <a:endParaRPr lang="pt-BR" b="0" i="0" dirty="0">
              <a:solidFill>
                <a:srgbClr val="000000"/>
              </a:solidFill>
              <a:effectLst/>
              <a:latin typeface="Tahoma" panose="020B0604030504040204" pitchFamily="34" charset="0"/>
            </a:endParaRPr>
          </a:p>
        </p:txBody>
      </p:sp>
      <p:sp>
        <p:nvSpPr>
          <p:cNvPr id="3" name="Espaço Reservado para Conteúdo 2">
            <a:extLst>
              <a:ext uri="{FF2B5EF4-FFF2-40B4-BE49-F238E27FC236}">
                <a16:creationId xmlns:a16="http://schemas.microsoft.com/office/drawing/2014/main" id="{E63005CF-927A-14A2-2590-74432B4D4068}"/>
              </a:ext>
            </a:extLst>
          </p:cNvPr>
          <p:cNvSpPr>
            <a:spLocks noGrp="1"/>
          </p:cNvSpPr>
          <p:nvPr>
            <p:ph idx="1"/>
          </p:nvPr>
        </p:nvSpPr>
        <p:spPr>
          <a:xfrm>
            <a:off x="700635" y="1733107"/>
            <a:ext cx="10691265" cy="4228781"/>
          </a:xfrm>
        </p:spPr>
        <p:txBody>
          <a:bodyPr>
            <a:noAutofit/>
          </a:bodyPr>
          <a:lstStyle/>
          <a:p>
            <a:r>
              <a:rPr lang="pt-BR" sz="2500" b="0" i="0" dirty="0">
                <a:solidFill>
                  <a:srgbClr val="000000"/>
                </a:solidFill>
                <a:effectLst/>
                <a:latin typeface="Tahoma" panose="020B0604030504040204" pitchFamily="34" charset="0"/>
              </a:rPr>
              <a:t>No entanto, a IA também pode dificultar um verdadeiro encontro com a realidade e, em última análise, levar as pessoas a “uma profunda e melancólica insatisfação nas relações interpessoais, ou a um isolamento prejudicial” </a:t>
            </a:r>
            <a:r>
              <a:rPr lang="pt-BR" sz="2500" b="0" i="0" dirty="0">
                <a:solidFill>
                  <a:srgbClr val="663300"/>
                </a:solidFill>
                <a:effectLst/>
                <a:latin typeface="Tahoma" panose="020B0604030504040204" pitchFamily="34" charset="0"/>
                <a:hlinkClick r:id="rId2"/>
              </a:rPr>
              <a:t>[117]</a:t>
            </a:r>
            <a:r>
              <a:rPr lang="pt-BR" sz="2500" b="0" i="0" dirty="0">
                <a:solidFill>
                  <a:srgbClr val="000000"/>
                </a:solidFill>
                <a:effectLst/>
                <a:latin typeface="Tahoma" panose="020B0604030504040204" pitchFamily="34" charset="0"/>
              </a:rPr>
              <a:t> . </a:t>
            </a:r>
          </a:p>
          <a:p>
            <a:r>
              <a:rPr lang="pt-BR" sz="2500" b="0" i="0" dirty="0">
                <a:solidFill>
                  <a:srgbClr val="000000"/>
                </a:solidFill>
                <a:effectLst/>
                <a:latin typeface="Tahoma" panose="020B0604030504040204" pitchFamily="34" charset="0"/>
              </a:rPr>
              <a:t>As relações humanas autênticas, pelo contrário, exigem a riqueza humana de saber estar com os outros, partilhando a sua dor, as suas necessidades e a sua alegria. </a:t>
            </a:r>
          </a:p>
        </p:txBody>
      </p:sp>
    </p:spTree>
    <p:extLst>
      <p:ext uri="{BB962C8B-B14F-4D97-AF65-F5344CB8AC3E}">
        <p14:creationId xmlns:p14="http://schemas.microsoft.com/office/powerpoint/2010/main" val="28176547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6E78C-50DB-6130-3A01-DFB59D14703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CCE9888-03FC-E164-1348-877E1E2DB26D}"/>
              </a:ext>
            </a:extLst>
          </p:cNvPr>
          <p:cNvSpPr>
            <a:spLocks noGrp="1"/>
          </p:cNvSpPr>
          <p:nvPr>
            <p:ph type="title"/>
          </p:nvPr>
        </p:nvSpPr>
        <p:spPr>
          <a:xfrm>
            <a:off x="700635" y="914400"/>
            <a:ext cx="10691265" cy="818707"/>
          </a:xfrm>
        </p:spPr>
        <p:txBody>
          <a:bodyPr>
            <a:normAutofit/>
          </a:bodyPr>
          <a:lstStyle/>
          <a:p>
            <a:pPr algn="l">
              <a:buNone/>
            </a:pPr>
            <a:r>
              <a:rPr lang="pt-BR" b="0" i="1" dirty="0">
                <a:solidFill>
                  <a:srgbClr val="000000"/>
                </a:solidFill>
                <a:effectLst/>
                <a:latin typeface="Tahoma" panose="020B0604030504040204" pitchFamily="34" charset="0"/>
              </a:rPr>
              <a:t>IA e relações humanas</a:t>
            </a:r>
            <a:endParaRPr lang="pt-BR" b="0" i="0" dirty="0">
              <a:solidFill>
                <a:srgbClr val="000000"/>
              </a:solidFill>
              <a:effectLst/>
              <a:latin typeface="Tahoma" panose="020B0604030504040204" pitchFamily="34" charset="0"/>
            </a:endParaRPr>
          </a:p>
        </p:txBody>
      </p:sp>
      <p:sp>
        <p:nvSpPr>
          <p:cNvPr id="3" name="Espaço Reservado para Conteúdo 2">
            <a:extLst>
              <a:ext uri="{FF2B5EF4-FFF2-40B4-BE49-F238E27FC236}">
                <a16:creationId xmlns:a16="http://schemas.microsoft.com/office/drawing/2014/main" id="{E0084212-D3E8-8F99-B7E7-40FB5060DB88}"/>
              </a:ext>
            </a:extLst>
          </p:cNvPr>
          <p:cNvSpPr>
            <a:spLocks noGrp="1"/>
          </p:cNvSpPr>
          <p:nvPr>
            <p:ph idx="1"/>
          </p:nvPr>
        </p:nvSpPr>
        <p:spPr>
          <a:xfrm>
            <a:off x="700635" y="1733107"/>
            <a:ext cx="10691265" cy="4228781"/>
          </a:xfrm>
        </p:spPr>
        <p:txBody>
          <a:bodyPr>
            <a:noAutofit/>
          </a:bodyPr>
          <a:lstStyle/>
          <a:p>
            <a:r>
              <a:rPr lang="pt-BR" sz="2500" b="1" i="0" dirty="0">
                <a:solidFill>
                  <a:srgbClr val="000000"/>
                </a:solidFill>
                <a:effectLst/>
                <a:latin typeface="Tahoma" panose="020B0604030504040204" pitchFamily="34" charset="0"/>
              </a:rPr>
              <a:t>Como a inteligência humana também é expressa e enriquecida por meio de formas interpessoais e corporais, encontros autênticos e espontâneos com outras pessoas são indispensáveis ​​para o envolvimento com a realidade em sua totalidade.</a:t>
            </a:r>
          </a:p>
          <a:p>
            <a:pPr algn="l"/>
            <a:r>
              <a:rPr lang="pt-BR" sz="2500" b="0" i="0" dirty="0">
                <a:solidFill>
                  <a:srgbClr val="000000"/>
                </a:solidFill>
                <a:effectLst/>
                <a:latin typeface="Tahoma" panose="020B0604030504040204" pitchFamily="34" charset="0"/>
              </a:rPr>
              <a:t>59. Porque «a verdadeira sabedoria pressupõe o encontro com a realidade» </a:t>
            </a:r>
            <a:r>
              <a:rPr lang="pt-BR" sz="2500" b="0" i="0" dirty="0">
                <a:solidFill>
                  <a:srgbClr val="663300"/>
                </a:solidFill>
                <a:effectLst/>
                <a:latin typeface="Tahoma" panose="020B0604030504040204" pitchFamily="34" charset="0"/>
                <a:hlinkClick r:id="rId2"/>
              </a:rPr>
              <a:t>[119]</a:t>
            </a:r>
            <a:r>
              <a:rPr lang="pt-BR" sz="2500" b="0" i="0" dirty="0">
                <a:solidFill>
                  <a:srgbClr val="000000"/>
                </a:solidFill>
                <a:effectLst/>
                <a:latin typeface="Tahoma" panose="020B0604030504040204" pitchFamily="34" charset="0"/>
              </a:rPr>
              <a:t> , o progresso da IA ​​coloca um desafio adicional: sendo capaz de imitar eficazmente o trabalho da inteligência humana, já não se pode dar por garantido que se esteja a interagir com um ser humano ou com uma máquina. </a:t>
            </a:r>
          </a:p>
        </p:txBody>
      </p:sp>
    </p:spTree>
    <p:extLst>
      <p:ext uri="{BB962C8B-B14F-4D97-AF65-F5344CB8AC3E}">
        <p14:creationId xmlns:p14="http://schemas.microsoft.com/office/powerpoint/2010/main" val="34440358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0BB52-74D3-0312-B8A5-FF63B50EE0E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A962DFC-F38F-5E6D-908A-57BCE04B4C97}"/>
              </a:ext>
            </a:extLst>
          </p:cNvPr>
          <p:cNvSpPr>
            <a:spLocks noGrp="1"/>
          </p:cNvSpPr>
          <p:nvPr>
            <p:ph type="title"/>
          </p:nvPr>
        </p:nvSpPr>
        <p:spPr>
          <a:xfrm>
            <a:off x="700635" y="914400"/>
            <a:ext cx="10691265" cy="786809"/>
          </a:xfrm>
        </p:spPr>
        <p:txBody>
          <a:bodyPr>
            <a:normAutofit/>
          </a:bodyPr>
          <a:lstStyle/>
          <a:p>
            <a:pPr algn="l">
              <a:buNone/>
            </a:pPr>
            <a:r>
              <a:rPr lang="pt-BR" b="0" i="1" dirty="0">
                <a:solidFill>
                  <a:srgbClr val="000000"/>
                </a:solidFill>
                <a:effectLst/>
                <a:latin typeface="Tahoma" panose="020B0604030504040204" pitchFamily="34" charset="0"/>
              </a:rPr>
              <a:t>IA, economia e trabalho</a:t>
            </a:r>
            <a:endParaRPr lang="pt-BR" b="0" i="0" dirty="0">
              <a:solidFill>
                <a:srgbClr val="000000"/>
              </a:solidFill>
              <a:effectLst/>
              <a:latin typeface="Tahoma" panose="020B0604030504040204" pitchFamily="34" charset="0"/>
            </a:endParaRPr>
          </a:p>
        </p:txBody>
      </p:sp>
      <p:sp>
        <p:nvSpPr>
          <p:cNvPr id="3" name="Espaço Reservado para Conteúdo 2">
            <a:extLst>
              <a:ext uri="{FF2B5EF4-FFF2-40B4-BE49-F238E27FC236}">
                <a16:creationId xmlns:a16="http://schemas.microsoft.com/office/drawing/2014/main" id="{7706D0DB-EC33-5DE5-17C8-A2AED9004E9E}"/>
              </a:ext>
            </a:extLst>
          </p:cNvPr>
          <p:cNvSpPr>
            <a:spLocks noGrp="1"/>
          </p:cNvSpPr>
          <p:nvPr>
            <p:ph idx="1"/>
          </p:nvPr>
        </p:nvSpPr>
        <p:spPr>
          <a:xfrm>
            <a:off x="700635" y="1701209"/>
            <a:ext cx="10691265" cy="4260679"/>
          </a:xfrm>
        </p:spPr>
        <p:txBody>
          <a:bodyPr>
            <a:normAutofit/>
          </a:bodyPr>
          <a:lstStyle/>
          <a:p>
            <a:pPr algn="l"/>
            <a:r>
              <a:rPr lang="pt-BR" sz="2300" b="0" i="0" dirty="0">
                <a:solidFill>
                  <a:srgbClr val="000000"/>
                </a:solidFill>
                <a:effectLst/>
                <a:latin typeface="Tahoma" panose="020B0604030504040204" pitchFamily="34" charset="0"/>
              </a:rPr>
              <a:t>65. Por outro lado, no âmbito econômico e financeiro, há aspectos mais gerais sobre os quais a IA pode produzir efeitos que devem ser cuidadosamente avaliados, ligados sobretudo à interação entre a realidade concreta e o mundo digital. </a:t>
            </a:r>
          </a:p>
          <a:p>
            <a:pPr algn="l"/>
            <a:r>
              <a:rPr lang="pt-BR" sz="2300" b="0" i="0" dirty="0">
                <a:solidFill>
                  <a:srgbClr val="000000"/>
                </a:solidFill>
                <a:effectLst/>
                <a:latin typeface="Tahoma" panose="020B0604030504040204" pitchFamily="34" charset="0"/>
              </a:rPr>
              <a:t>Um primeiro ponto a considerar diz respeito à coexistência de instituições econômicas e financeiras que se apresentam em um determinado contexto sob formas diferentes e alternativas. Este é um fator que vale a pena promover, pois pode trazer benefícios em termos de apoio à economia real, fomentando seu desenvolvimento e estabilidade, especialmente em tempos de crise. </a:t>
            </a:r>
          </a:p>
        </p:txBody>
      </p:sp>
    </p:spTree>
    <p:extLst>
      <p:ext uri="{BB962C8B-B14F-4D97-AF65-F5344CB8AC3E}">
        <p14:creationId xmlns:p14="http://schemas.microsoft.com/office/powerpoint/2010/main" val="5232842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4C1C2-329D-E787-66E1-718979169AC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00DD9E9-2FA8-6E12-D2FA-BBEA6C8A0819}"/>
              </a:ext>
            </a:extLst>
          </p:cNvPr>
          <p:cNvSpPr>
            <a:spLocks noGrp="1"/>
          </p:cNvSpPr>
          <p:nvPr>
            <p:ph type="title"/>
          </p:nvPr>
        </p:nvSpPr>
        <p:spPr>
          <a:xfrm>
            <a:off x="700635" y="914400"/>
            <a:ext cx="10691265" cy="786809"/>
          </a:xfrm>
        </p:spPr>
        <p:txBody>
          <a:bodyPr>
            <a:normAutofit/>
          </a:bodyPr>
          <a:lstStyle/>
          <a:p>
            <a:pPr algn="l">
              <a:buNone/>
            </a:pPr>
            <a:r>
              <a:rPr lang="pt-BR" b="0" i="1" dirty="0">
                <a:solidFill>
                  <a:srgbClr val="000000"/>
                </a:solidFill>
                <a:effectLst/>
                <a:latin typeface="Tahoma" panose="020B0604030504040204" pitchFamily="34" charset="0"/>
              </a:rPr>
              <a:t>IA, economia e trabalho</a:t>
            </a:r>
            <a:endParaRPr lang="pt-BR" b="0" i="0" dirty="0">
              <a:solidFill>
                <a:srgbClr val="000000"/>
              </a:solidFill>
              <a:effectLst/>
              <a:latin typeface="Tahoma" panose="020B0604030504040204" pitchFamily="34" charset="0"/>
            </a:endParaRPr>
          </a:p>
        </p:txBody>
      </p:sp>
      <p:sp>
        <p:nvSpPr>
          <p:cNvPr id="3" name="Espaço Reservado para Conteúdo 2">
            <a:extLst>
              <a:ext uri="{FF2B5EF4-FFF2-40B4-BE49-F238E27FC236}">
                <a16:creationId xmlns:a16="http://schemas.microsoft.com/office/drawing/2014/main" id="{CA5466F9-66FB-A2DA-19A3-299CC6929646}"/>
              </a:ext>
            </a:extLst>
          </p:cNvPr>
          <p:cNvSpPr>
            <a:spLocks noGrp="1"/>
          </p:cNvSpPr>
          <p:nvPr>
            <p:ph idx="1"/>
          </p:nvPr>
        </p:nvSpPr>
        <p:spPr>
          <a:xfrm>
            <a:off x="700635" y="1701209"/>
            <a:ext cx="10691265" cy="4260679"/>
          </a:xfrm>
        </p:spPr>
        <p:txBody>
          <a:bodyPr>
            <a:normAutofit/>
          </a:bodyPr>
          <a:lstStyle/>
          <a:p>
            <a:pPr algn="l"/>
            <a:r>
              <a:rPr lang="pt-BR" sz="2200" b="0" i="0" dirty="0">
                <a:solidFill>
                  <a:srgbClr val="000000"/>
                </a:solidFill>
                <a:effectLst/>
                <a:latin typeface="Tahoma" panose="020B0604030504040204" pitchFamily="34" charset="0"/>
              </a:rPr>
              <a:t>No entanto, é preciso ressaltar que as realidades digitais, por serem livres de limitações espaciais, tendem a ser mais homogêneas e impessoais quando comparadas a uma comunidade vinculada a um lugar específico e a uma história específica, com uma trajetória comum caracterizada por valores e esperanças compartilhados, mas também por inevitáveis ​​desacordos e divergências. </a:t>
            </a:r>
          </a:p>
          <a:p>
            <a:pPr algn="l"/>
            <a:r>
              <a:rPr lang="pt-BR" sz="2200" b="0" i="0" dirty="0">
                <a:solidFill>
                  <a:srgbClr val="000000"/>
                </a:solidFill>
                <a:effectLst/>
                <a:latin typeface="Tahoma" panose="020B0604030504040204" pitchFamily="34" charset="0"/>
              </a:rPr>
              <a:t>Essa diversidade é um recurso inegável para a vida econômica de uma comunidade. Entregar a economia e as finanças inteiramente à tecnologia digital significaria reduzir essa variedade e riqueza, de modo que muitas soluções para problemas econômicos, acessíveis por meio do diálogo natural entre as partes envolvidas, não seriam mais viáveis ​​em um mundo dominado por procedimentos e apenas semelhanças aparentes.</a:t>
            </a:r>
          </a:p>
        </p:txBody>
      </p:sp>
    </p:spTree>
    <p:extLst>
      <p:ext uri="{BB962C8B-B14F-4D97-AF65-F5344CB8AC3E}">
        <p14:creationId xmlns:p14="http://schemas.microsoft.com/office/powerpoint/2010/main" val="12841369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D2D64-BBDF-0BE1-44BD-F43BC17D1B4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CE5D71C-EAF0-6CC8-D67B-2A06876FB390}"/>
              </a:ext>
            </a:extLst>
          </p:cNvPr>
          <p:cNvSpPr>
            <a:spLocks noGrp="1"/>
          </p:cNvSpPr>
          <p:nvPr>
            <p:ph type="title"/>
          </p:nvPr>
        </p:nvSpPr>
        <p:spPr>
          <a:xfrm>
            <a:off x="700635" y="914400"/>
            <a:ext cx="10691265" cy="691116"/>
          </a:xfrm>
        </p:spPr>
        <p:txBody>
          <a:bodyPr>
            <a:normAutofit fontScale="90000"/>
          </a:bodyPr>
          <a:lstStyle/>
          <a:p>
            <a:pPr algn="l">
              <a:buNone/>
            </a:pPr>
            <a:r>
              <a:rPr lang="pt-BR" b="0" i="1" dirty="0" err="1">
                <a:solidFill>
                  <a:srgbClr val="000000"/>
                </a:solidFill>
                <a:effectLst/>
                <a:latin typeface="Tahoma" panose="020B0604030504040204" pitchFamily="34" charset="0"/>
              </a:rPr>
              <a:t>iA</a:t>
            </a:r>
            <a:r>
              <a:rPr lang="pt-BR" b="0" i="1" dirty="0">
                <a:solidFill>
                  <a:srgbClr val="000000"/>
                </a:solidFill>
                <a:effectLst/>
                <a:latin typeface="Tahoma" panose="020B0604030504040204" pitchFamily="34" charset="0"/>
              </a:rPr>
              <a:t> e saúde</a:t>
            </a:r>
            <a:endParaRPr lang="pt-BR" b="0" i="0" dirty="0">
              <a:solidFill>
                <a:srgbClr val="000000"/>
              </a:solidFill>
              <a:effectLst/>
              <a:latin typeface="Tahoma" panose="020B0604030504040204" pitchFamily="34" charset="0"/>
            </a:endParaRPr>
          </a:p>
        </p:txBody>
      </p:sp>
      <p:sp>
        <p:nvSpPr>
          <p:cNvPr id="3" name="Espaço Reservado para Conteúdo 2">
            <a:extLst>
              <a:ext uri="{FF2B5EF4-FFF2-40B4-BE49-F238E27FC236}">
                <a16:creationId xmlns:a16="http://schemas.microsoft.com/office/drawing/2014/main" id="{A4D32697-DDDF-E538-5FCA-EA44A029E976}"/>
              </a:ext>
            </a:extLst>
          </p:cNvPr>
          <p:cNvSpPr>
            <a:spLocks noGrp="1"/>
          </p:cNvSpPr>
          <p:nvPr>
            <p:ph idx="1"/>
          </p:nvPr>
        </p:nvSpPr>
        <p:spPr>
          <a:xfrm>
            <a:off x="700635" y="1605516"/>
            <a:ext cx="10691265" cy="4356372"/>
          </a:xfrm>
        </p:spPr>
        <p:txBody>
          <a:bodyPr>
            <a:normAutofit/>
          </a:bodyPr>
          <a:lstStyle/>
          <a:p>
            <a:r>
              <a:rPr lang="pt-BR" sz="2200" b="0" i="0" dirty="0">
                <a:solidFill>
                  <a:srgbClr val="000000"/>
                </a:solidFill>
                <a:effectLst/>
                <a:latin typeface="Tahoma" panose="020B0604030504040204" pitchFamily="34" charset="0"/>
              </a:rPr>
              <a:t>71. Como participantes na obra de cura de Deus, os profissionais da saúde têm a vocação e a responsabilidade de ser «guardiões e servidores da vida humana»</a:t>
            </a:r>
            <a:r>
              <a:rPr lang="pt-BR" sz="2200" b="0" i="0" dirty="0">
                <a:solidFill>
                  <a:srgbClr val="663300"/>
                </a:solidFill>
                <a:effectLst/>
                <a:latin typeface="Tahoma" panose="020B0604030504040204" pitchFamily="34" charset="0"/>
                <a:hlinkClick r:id="rId2"/>
              </a:rPr>
              <a:t>[134]</a:t>
            </a:r>
            <a:r>
              <a:rPr lang="pt-BR" sz="2200" b="0" i="0" dirty="0">
                <a:solidFill>
                  <a:srgbClr val="000000"/>
                </a:solidFill>
                <a:effectLst/>
                <a:latin typeface="Tahoma" panose="020B0604030504040204" pitchFamily="34" charset="0"/>
              </a:rPr>
              <a:t>. Por esta razão, a profissão de saúde tem uma “dimensão ética intrínseca e indispensável”, como reconhece o Juramento de Hipócrates, que exige dos médicos e dos profissionais de saúde o compromisso de “respeitar absolutamente a vida humana e o seu carácter sagrado” </a:t>
            </a:r>
            <a:r>
              <a:rPr lang="pt-BR" sz="2200" b="0" i="0" dirty="0">
                <a:solidFill>
                  <a:srgbClr val="663300"/>
                </a:solidFill>
                <a:effectLst/>
                <a:latin typeface="Tahoma" panose="020B0604030504040204" pitchFamily="34" charset="0"/>
                <a:hlinkClick r:id="rId3"/>
              </a:rPr>
              <a:t>[135]</a:t>
            </a:r>
            <a:r>
              <a:rPr lang="pt-BR" sz="2200" b="0" i="0" dirty="0">
                <a:solidFill>
                  <a:srgbClr val="000000"/>
                </a:solidFill>
                <a:effectLst/>
                <a:latin typeface="Tahoma" panose="020B0604030504040204" pitchFamily="34" charset="0"/>
              </a:rPr>
              <a:t>.</a:t>
            </a:r>
          </a:p>
          <a:p>
            <a:r>
              <a:rPr lang="pt-BR" sz="2200" b="0" i="0" dirty="0">
                <a:solidFill>
                  <a:srgbClr val="000000"/>
                </a:solidFill>
                <a:effectLst/>
                <a:latin typeface="Tahoma" panose="020B0604030504040204" pitchFamily="34" charset="0"/>
              </a:rPr>
              <a:t>72. Considerada sob essa ótica, a IA parece ter um enorme potencial em diversas aplicações médicas, por exemplo, para auxiliar na atividade diagnóstica de profissionais de saúde, facilitando o relacionamento entre pacientes e equipe médica, oferecendo novos tratamentos e ampliando o acesso a cuidados de qualidade mesmo para aqueles que sofrem de isolamento ou marginalização.</a:t>
            </a:r>
          </a:p>
        </p:txBody>
      </p:sp>
    </p:spTree>
    <p:extLst>
      <p:ext uri="{BB962C8B-B14F-4D97-AF65-F5344CB8AC3E}">
        <p14:creationId xmlns:p14="http://schemas.microsoft.com/office/powerpoint/2010/main" val="41244894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9B5B5-FA3B-0900-96B0-446ADD40BBA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D0CEFF0-4722-026F-8D92-E80677778D0E}"/>
              </a:ext>
            </a:extLst>
          </p:cNvPr>
          <p:cNvSpPr>
            <a:spLocks noGrp="1"/>
          </p:cNvSpPr>
          <p:nvPr>
            <p:ph type="title"/>
          </p:nvPr>
        </p:nvSpPr>
        <p:spPr>
          <a:xfrm>
            <a:off x="700635" y="914400"/>
            <a:ext cx="10691265" cy="691116"/>
          </a:xfrm>
        </p:spPr>
        <p:txBody>
          <a:bodyPr>
            <a:normAutofit fontScale="90000"/>
          </a:bodyPr>
          <a:lstStyle/>
          <a:p>
            <a:pPr algn="l">
              <a:buNone/>
            </a:pPr>
            <a:r>
              <a:rPr lang="pt-BR" b="0" i="1" dirty="0" err="1">
                <a:solidFill>
                  <a:srgbClr val="000000"/>
                </a:solidFill>
                <a:effectLst/>
                <a:latin typeface="Tahoma" panose="020B0604030504040204" pitchFamily="34" charset="0"/>
              </a:rPr>
              <a:t>iA</a:t>
            </a:r>
            <a:r>
              <a:rPr lang="pt-BR" b="0" i="1" dirty="0">
                <a:solidFill>
                  <a:srgbClr val="000000"/>
                </a:solidFill>
                <a:effectLst/>
                <a:latin typeface="Tahoma" panose="020B0604030504040204" pitchFamily="34" charset="0"/>
              </a:rPr>
              <a:t> e saúde</a:t>
            </a:r>
            <a:endParaRPr lang="pt-BR" b="0" i="0" dirty="0">
              <a:solidFill>
                <a:srgbClr val="000000"/>
              </a:solidFill>
              <a:effectLst/>
              <a:latin typeface="Tahoma" panose="020B0604030504040204" pitchFamily="34" charset="0"/>
            </a:endParaRPr>
          </a:p>
        </p:txBody>
      </p:sp>
      <p:sp>
        <p:nvSpPr>
          <p:cNvPr id="3" name="Espaço Reservado para Conteúdo 2">
            <a:extLst>
              <a:ext uri="{FF2B5EF4-FFF2-40B4-BE49-F238E27FC236}">
                <a16:creationId xmlns:a16="http://schemas.microsoft.com/office/drawing/2014/main" id="{57C78EF5-CEBE-D8DC-205F-F7E3E075ED8D}"/>
              </a:ext>
            </a:extLst>
          </p:cNvPr>
          <p:cNvSpPr>
            <a:spLocks noGrp="1"/>
          </p:cNvSpPr>
          <p:nvPr>
            <p:ph idx="1"/>
          </p:nvPr>
        </p:nvSpPr>
        <p:spPr>
          <a:xfrm>
            <a:off x="700635" y="1605516"/>
            <a:ext cx="10691265" cy="4356372"/>
          </a:xfrm>
        </p:spPr>
        <p:txBody>
          <a:bodyPr>
            <a:normAutofit/>
          </a:bodyPr>
          <a:lstStyle/>
          <a:p>
            <a:r>
              <a:rPr lang="pt-BR" sz="2300" b="0" i="0" dirty="0">
                <a:solidFill>
                  <a:srgbClr val="000000"/>
                </a:solidFill>
                <a:effectLst/>
                <a:latin typeface="Tahoma" panose="020B0604030504040204" pitchFamily="34" charset="0"/>
              </a:rPr>
              <a:t>73. No entanto, se a IA fosse usada não para melhorar, mas para substituir completamente o relacionamento entre pacientes e profissionais de saúde, deixando os primeiros interagirem com uma máquina em vez de um ser humano, isso reduziria uma estrutura relacional humana muito importante a um sistema centralizado, impessoal e desigual. </a:t>
            </a:r>
          </a:p>
          <a:p>
            <a:pPr algn="l"/>
            <a:r>
              <a:rPr lang="pt-BR" sz="2300" b="0" i="0" dirty="0">
                <a:solidFill>
                  <a:srgbClr val="000000"/>
                </a:solidFill>
                <a:effectLst/>
                <a:latin typeface="Tahoma" panose="020B0604030504040204" pitchFamily="34" charset="0"/>
              </a:rPr>
              <a:t>Consequentemente, as decisões relativas ao tratamento dos doentes e o peso da responsabilidade associado devem permanecer sempre nas mãos das pessoas e nunca ser delegadas à IA.</a:t>
            </a:r>
          </a:p>
        </p:txBody>
      </p:sp>
    </p:spTree>
    <p:extLst>
      <p:ext uri="{BB962C8B-B14F-4D97-AF65-F5344CB8AC3E}">
        <p14:creationId xmlns:p14="http://schemas.microsoft.com/office/powerpoint/2010/main" val="19237264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F0C99-C531-E285-F403-3F40BFE6A0C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94B9A11-0C24-A8E2-4323-F8C06ED0855B}"/>
              </a:ext>
            </a:extLst>
          </p:cNvPr>
          <p:cNvSpPr>
            <a:spLocks noGrp="1"/>
          </p:cNvSpPr>
          <p:nvPr>
            <p:ph type="title"/>
          </p:nvPr>
        </p:nvSpPr>
        <p:spPr>
          <a:xfrm>
            <a:off x="700635" y="914400"/>
            <a:ext cx="10691265" cy="818707"/>
          </a:xfrm>
        </p:spPr>
        <p:txBody>
          <a:bodyPr>
            <a:normAutofit/>
          </a:bodyPr>
          <a:lstStyle/>
          <a:p>
            <a:pPr algn="l">
              <a:buNone/>
            </a:pPr>
            <a:r>
              <a:rPr lang="pt-BR" b="0" i="1" dirty="0">
                <a:solidFill>
                  <a:srgbClr val="000000"/>
                </a:solidFill>
                <a:effectLst/>
                <a:latin typeface="Tahoma" panose="020B0604030504040204" pitchFamily="34" charset="0"/>
              </a:rPr>
              <a:t>IA e educação</a:t>
            </a:r>
            <a:endParaRPr lang="pt-BR" b="0" i="0" dirty="0">
              <a:solidFill>
                <a:srgbClr val="000000"/>
              </a:solidFill>
              <a:effectLst/>
              <a:latin typeface="Tahoma" panose="020B0604030504040204" pitchFamily="34" charset="0"/>
            </a:endParaRPr>
          </a:p>
        </p:txBody>
      </p:sp>
      <p:sp>
        <p:nvSpPr>
          <p:cNvPr id="3" name="Espaço Reservado para Conteúdo 2">
            <a:extLst>
              <a:ext uri="{FF2B5EF4-FFF2-40B4-BE49-F238E27FC236}">
                <a16:creationId xmlns:a16="http://schemas.microsoft.com/office/drawing/2014/main" id="{A6AE1A7F-2703-FF37-114F-7538407F6A93}"/>
              </a:ext>
            </a:extLst>
          </p:cNvPr>
          <p:cNvSpPr>
            <a:spLocks noGrp="1"/>
          </p:cNvSpPr>
          <p:nvPr>
            <p:ph idx="1"/>
          </p:nvPr>
        </p:nvSpPr>
        <p:spPr>
          <a:xfrm>
            <a:off x="700635" y="1626781"/>
            <a:ext cx="10691265" cy="4335107"/>
          </a:xfrm>
        </p:spPr>
        <p:txBody>
          <a:bodyPr>
            <a:noAutofit/>
          </a:bodyPr>
          <a:lstStyle/>
          <a:p>
            <a:r>
              <a:rPr lang="pt-BR" sz="2500" b="0" i="0" dirty="0">
                <a:solidFill>
                  <a:srgbClr val="000000"/>
                </a:solidFill>
                <a:effectLst/>
                <a:latin typeface="Tahoma" panose="020B0604030504040204" pitchFamily="34" charset="0"/>
              </a:rPr>
              <a:t>77. Permanecem plenamente atuais as palavras do Concílio Vaticano II: «A verdadeira educação tem por fim a formação da pessoa humana para o seu fim último e para o bem das diversas sociedades de que o homem é membro» </a:t>
            </a:r>
            <a:r>
              <a:rPr lang="pt-BR" sz="2500" b="0" i="0" dirty="0">
                <a:solidFill>
                  <a:srgbClr val="663300"/>
                </a:solidFill>
                <a:effectLst/>
                <a:latin typeface="Tahoma" panose="020B0604030504040204" pitchFamily="34" charset="0"/>
                <a:hlinkClick r:id="rId2"/>
              </a:rPr>
              <a:t>[143]</a:t>
            </a:r>
            <a:r>
              <a:rPr lang="pt-BR" sz="2500" b="0" i="0" dirty="0">
                <a:solidFill>
                  <a:srgbClr val="000000"/>
                </a:solidFill>
                <a:effectLst/>
                <a:latin typeface="Tahoma" panose="020B0604030504040204" pitchFamily="34" charset="0"/>
              </a:rPr>
              <a:t>. </a:t>
            </a:r>
          </a:p>
          <a:p>
            <a:r>
              <a:rPr lang="pt-BR" sz="2500" b="0" i="0" dirty="0">
                <a:solidFill>
                  <a:srgbClr val="000000"/>
                </a:solidFill>
                <a:effectLst/>
                <a:latin typeface="Tahoma" panose="020B0604030504040204" pitchFamily="34" charset="0"/>
              </a:rPr>
              <a:t>Daqui decorre que a educação «nunca é um simples processo de transmissão de conhecimentos e de competências intelectuais, mas visa contribuir para a formação integral da pessoa nas suas diversas dimensões (intelectual, cultural, espiritual, etc.), incluindo, por exemplo, a vida comunitária e as relações vividas no seio da comunidade académica» </a:t>
            </a:r>
            <a:r>
              <a:rPr lang="pt-BR" sz="2500" b="0" i="0" dirty="0">
                <a:solidFill>
                  <a:srgbClr val="663300"/>
                </a:solidFill>
                <a:effectLst/>
                <a:latin typeface="Tahoma" panose="020B0604030504040204" pitchFamily="34" charset="0"/>
                <a:hlinkClick r:id="rId3"/>
              </a:rPr>
              <a:t>[144]</a:t>
            </a:r>
            <a:r>
              <a:rPr lang="pt-BR" sz="2500" b="0" i="0" dirty="0">
                <a:solidFill>
                  <a:srgbClr val="000000"/>
                </a:solidFill>
                <a:effectLst/>
                <a:latin typeface="Tahoma" panose="020B0604030504040204" pitchFamily="34" charset="0"/>
              </a:rPr>
              <a:t> , no respeito pela natureza e pela dignidade da pessoa humana.</a:t>
            </a:r>
          </a:p>
        </p:txBody>
      </p:sp>
    </p:spTree>
    <p:extLst>
      <p:ext uri="{BB962C8B-B14F-4D97-AF65-F5344CB8AC3E}">
        <p14:creationId xmlns:p14="http://schemas.microsoft.com/office/powerpoint/2010/main" val="1393334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D69CB-46A0-8EB8-F5C6-E8EEFC4F858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9728309-FCFC-4B92-5C80-CE9523A8771A}"/>
              </a:ext>
            </a:extLst>
          </p:cNvPr>
          <p:cNvSpPr>
            <a:spLocks noGrp="1"/>
          </p:cNvSpPr>
          <p:nvPr>
            <p:ph type="title"/>
          </p:nvPr>
        </p:nvSpPr>
        <p:spPr>
          <a:xfrm>
            <a:off x="700635" y="914400"/>
            <a:ext cx="10691265" cy="818707"/>
          </a:xfrm>
        </p:spPr>
        <p:txBody>
          <a:bodyPr>
            <a:normAutofit/>
          </a:bodyPr>
          <a:lstStyle/>
          <a:p>
            <a:pPr algn="l">
              <a:buNone/>
            </a:pPr>
            <a:r>
              <a:rPr lang="pt-BR" b="0" i="1" dirty="0">
                <a:solidFill>
                  <a:srgbClr val="000000"/>
                </a:solidFill>
                <a:effectLst/>
                <a:latin typeface="Tahoma" panose="020B0604030504040204" pitchFamily="34" charset="0"/>
              </a:rPr>
              <a:t>IA e educação</a:t>
            </a:r>
            <a:endParaRPr lang="pt-BR" b="0" i="0" dirty="0">
              <a:solidFill>
                <a:srgbClr val="000000"/>
              </a:solidFill>
              <a:effectLst/>
              <a:latin typeface="Tahoma" panose="020B0604030504040204" pitchFamily="34" charset="0"/>
            </a:endParaRPr>
          </a:p>
        </p:txBody>
      </p:sp>
      <p:sp>
        <p:nvSpPr>
          <p:cNvPr id="3" name="Espaço Reservado para Conteúdo 2">
            <a:extLst>
              <a:ext uri="{FF2B5EF4-FFF2-40B4-BE49-F238E27FC236}">
                <a16:creationId xmlns:a16="http://schemas.microsoft.com/office/drawing/2014/main" id="{9D5D7FE6-A115-D3DF-1944-19280DCB536F}"/>
              </a:ext>
            </a:extLst>
          </p:cNvPr>
          <p:cNvSpPr>
            <a:spLocks noGrp="1"/>
          </p:cNvSpPr>
          <p:nvPr>
            <p:ph idx="1"/>
          </p:nvPr>
        </p:nvSpPr>
        <p:spPr>
          <a:xfrm>
            <a:off x="467833" y="1626781"/>
            <a:ext cx="10924067" cy="4335107"/>
          </a:xfrm>
        </p:spPr>
        <p:txBody>
          <a:bodyPr>
            <a:noAutofit/>
          </a:bodyPr>
          <a:lstStyle/>
          <a:p>
            <a:r>
              <a:rPr lang="pt-BR" sz="2300" b="0" i="0" dirty="0">
                <a:solidFill>
                  <a:srgbClr val="000000"/>
                </a:solidFill>
                <a:effectLst/>
                <a:latin typeface="Tahoma" panose="020B0604030504040204" pitchFamily="34" charset="0"/>
              </a:rPr>
              <a:t>79. No centro deste trabalho de formação da pessoa humana integral está a relação indispensável entre professor e aluno. </a:t>
            </a:r>
          </a:p>
          <a:p>
            <a:r>
              <a:rPr lang="pt-BR" sz="2300" b="0" i="0" dirty="0">
                <a:solidFill>
                  <a:srgbClr val="000000"/>
                </a:solidFill>
                <a:effectLst/>
                <a:latin typeface="Tahoma" panose="020B0604030504040204" pitchFamily="34" charset="0"/>
              </a:rPr>
              <a:t>80. Neste contexto, a IA apresenta oportunidades e desafios. Se usado com sabedoria, pode se tornar um recurso educacional valioso, melhorando o acesso à educação e oferecendo suporte personalizado e </a:t>
            </a:r>
            <a:r>
              <a:rPr lang="pt-BR" sz="2300" b="0" i="1" dirty="0">
                <a:solidFill>
                  <a:srgbClr val="000000"/>
                </a:solidFill>
                <a:effectLst/>
                <a:latin typeface="Tahoma" panose="020B0604030504040204" pitchFamily="34" charset="0"/>
              </a:rPr>
              <a:t>feedback</a:t>
            </a:r>
            <a:r>
              <a:rPr lang="pt-BR" sz="2300" b="0" i="0" dirty="0">
                <a:solidFill>
                  <a:srgbClr val="000000"/>
                </a:solidFill>
                <a:effectLst/>
                <a:latin typeface="Tahoma" panose="020B0604030504040204" pitchFamily="34" charset="0"/>
              </a:rPr>
              <a:t> imediato aos alunos.</a:t>
            </a:r>
          </a:p>
          <a:p>
            <a:pPr algn="l"/>
            <a:r>
              <a:rPr lang="pt-BR" sz="2300" b="0" i="0" dirty="0">
                <a:solidFill>
                  <a:srgbClr val="000000"/>
                </a:solidFill>
                <a:effectLst/>
                <a:latin typeface="Tahoma" panose="020B0604030504040204" pitchFamily="34" charset="0"/>
              </a:rPr>
              <a:t>No entanto, em vez de promover “um intelecto culto” que “transmite poder e graça a cada trabalho e ocupação que realiza” </a:t>
            </a:r>
            <a:r>
              <a:rPr lang="pt-BR" sz="2300" b="0" i="0" dirty="0">
                <a:solidFill>
                  <a:srgbClr val="663300"/>
                </a:solidFill>
                <a:effectLst/>
                <a:latin typeface="Tahoma" panose="020B0604030504040204" pitchFamily="34" charset="0"/>
                <a:hlinkClick r:id="rId2"/>
              </a:rPr>
              <a:t>[150]</a:t>
            </a:r>
            <a:r>
              <a:rPr lang="pt-BR" sz="2300" b="0" i="0" dirty="0">
                <a:solidFill>
                  <a:srgbClr val="000000"/>
                </a:solidFill>
                <a:effectLst/>
                <a:latin typeface="Tahoma" panose="020B0604030504040204" pitchFamily="34" charset="0"/>
              </a:rPr>
              <a:t> , a utilização extensiva da IA ​​na educação pode levar a uma crescente dependência dos estudantes em relação à tecnologia, bloqueando a sua capacidade de realizar determinadas atividades de forma autónoma e agravando a sua dependência dos ecrãs.</a:t>
            </a:r>
          </a:p>
        </p:txBody>
      </p:sp>
    </p:spTree>
    <p:extLst>
      <p:ext uri="{BB962C8B-B14F-4D97-AF65-F5344CB8AC3E}">
        <p14:creationId xmlns:p14="http://schemas.microsoft.com/office/powerpoint/2010/main" val="5243721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0BD74-F332-6352-C494-02F2FE0E40D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7A2827A-0568-F9F6-278E-58BD10E9ACFF}"/>
              </a:ext>
            </a:extLst>
          </p:cNvPr>
          <p:cNvSpPr>
            <a:spLocks noGrp="1"/>
          </p:cNvSpPr>
          <p:nvPr>
            <p:ph type="title"/>
          </p:nvPr>
        </p:nvSpPr>
        <p:spPr>
          <a:xfrm>
            <a:off x="700635" y="914400"/>
            <a:ext cx="10691265" cy="797442"/>
          </a:xfrm>
        </p:spPr>
        <p:txBody>
          <a:bodyPr>
            <a:normAutofit/>
          </a:bodyPr>
          <a:lstStyle/>
          <a:p>
            <a:pPr algn="l">
              <a:buNone/>
            </a:pPr>
            <a:r>
              <a:rPr lang="pt-BR" i="1" dirty="0">
                <a:solidFill>
                  <a:srgbClr val="000000"/>
                </a:solidFill>
                <a:latin typeface="Tahoma" panose="020B0604030504040204" pitchFamily="34" charset="0"/>
              </a:rPr>
              <a:t>I</a:t>
            </a:r>
            <a:r>
              <a:rPr lang="pt-BR" b="0" i="1" dirty="0">
                <a:solidFill>
                  <a:srgbClr val="000000"/>
                </a:solidFill>
                <a:effectLst/>
                <a:latin typeface="Tahoma" panose="020B0604030504040204" pitchFamily="34" charset="0"/>
              </a:rPr>
              <a:t>A, desinformação, </a:t>
            </a:r>
            <a:r>
              <a:rPr lang="pt-BR" b="0" i="1" dirty="0" err="1">
                <a:solidFill>
                  <a:srgbClr val="000000"/>
                </a:solidFill>
                <a:effectLst/>
                <a:latin typeface="Tahoma" panose="020B0604030504040204" pitchFamily="34" charset="0"/>
              </a:rPr>
              <a:t>deepfake</a:t>
            </a:r>
            <a:r>
              <a:rPr lang="pt-BR" b="0" i="1" dirty="0">
                <a:solidFill>
                  <a:srgbClr val="000000"/>
                </a:solidFill>
                <a:effectLst/>
                <a:latin typeface="Tahoma" panose="020B0604030504040204" pitchFamily="34" charset="0"/>
              </a:rPr>
              <a:t> e abuso</a:t>
            </a:r>
            <a:endParaRPr lang="pt-BR" b="0" i="0" dirty="0">
              <a:solidFill>
                <a:srgbClr val="000000"/>
              </a:solidFill>
              <a:effectLst/>
              <a:latin typeface="Tahoma" panose="020B0604030504040204" pitchFamily="34" charset="0"/>
            </a:endParaRPr>
          </a:p>
        </p:txBody>
      </p:sp>
      <p:sp>
        <p:nvSpPr>
          <p:cNvPr id="3" name="Espaço Reservado para Conteúdo 2">
            <a:extLst>
              <a:ext uri="{FF2B5EF4-FFF2-40B4-BE49-F238E27FC236}">
                <a16:creationId xmlns:a16="http://schemas.microsoft.com/office/drawing/2014/main" id="{E0536C90-1F4C-7D7A-5FE7-192FA2CE2548}"/>
              </a:ext>
            </a:extLst>
          </p:cNvPr>
          <p:cNvSpPr>
            <a:spLocks noGrp="1"/>
          </p:cNvSpPr>
          <p:nvPr>
            <p:ph idx="1"/>
          </p:nvPr>
        </p:nvSpPr>
        <p:spPr>
          <a:xfrm>
            <a:off x="700635" y="1711842"/>
            <a:ext cx="10691265" cy="4250046"/>
          </a:xfrm>
        </p:spPr>
        <p:txBody>
          <a:bodyPr>
            <a:normAutofit/>
          </a:bodyPr>
          <a:lstStyle/>
          <a:p>
            <a:r>
              <a:rPr lang="pt-BR" sz="2500" b="0" i="0" dirty="0">
                <a:solidFill>
                  <a:srgbClr val="000000"/>
                </a:solidFill>
                <a:effectLst/>
                <a:latin typeface="Tahoma" panose="020B0604030504040204" pitchFamily="34" charset="0"/>
              </a:rPr>
              <a:t>85. A IA também é um suporte para a dignidade da pessoa humana quando é usada como auxílio para a compreensão de fatos complexos ou como guia para recursos válidos na busca da verdade.</a:t>
            </a:r>
          </a:p>
          <a:p>
            <a:r>
              <a:rPr lang="pt-BR" sz="2500" b="0" i="0" dirty="0">
                <a:solidFill>
                  <a:srgbClr val="000000"/>
                </a:solidFill>
                <a:effectLst/>
                <a:latin typeface="Tahoma" panose="020B0604030504040204" pitchFamily="34" charset="0"/>
              </a:rPr>
              <a:t>86. No entanto, existe também um sério risco de que a IA gere conteúdo manipulado e informações falsas, que, sendo muito difíceis de distinguir dos dados reais, podem facilmente induzir em erro. Isso pode acontecer acidentalmente, como no caso da “alucinação” da IA, que ocorre quando um sistema generativo produz conteúdo que parece refletir a realidade, mas não é verdadeiro. </a:t>
            </a:r>
          </a:p>
        </p:txBody>
      </p:sp>
    </p:spTree>
    <p:extLst>
      <p:ext uri="{BB962C8B-B14F-4D97-AF65-F5344CB8AC3E}">
        <p14:creationId xmlns:p14="http://schemas.microsoft.com/office/powerpoint/2010/main" val="11954317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887FD-3FCF-9EE2-9748-88F10E9CFC1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AAED82B-37B3-1E97-7560-F89E0FB5CF0C}"/>
              </a:ext>
            </a:extLst>
          </p:cNvPr>
          <p:cNvSpPr>
            <a:spLocks noGrp="1"/>
          </p:cNvSpPr>
          <p:nvPr>
            <p:ph type="title"/>
          </p:nvPr>
        </p:nvSpPr>
        <p:spPr>
          <a:xfrm>
            <a:off x="700635" y="914400"/>
            <a:ext cx="10691265" cy="797442"/>
          </a:xfrm>
        </p:spPr>
        <p:txBody>
          <a:bodyPr>
            <a:normAutofit/>
          </a:bodyPr>
          <a:lstStyle/>
          <a:p>
            <a:pPr algn="l">
              <a:buNone/>
            </a:pPr>
            <a:r>
              <a:rPr lang="pt-BR" i="1" dirty="0">
                <a:solidFill>
                  <a:srgbClr val="000000"/>
                </a:solidFill>
                <a:latin typeface="Tahoma" panose="020B0604030504040204" pitchFamily="34" charset="0"/>
              </a:rPr>
              <a:t>I</a:t>
            </a:r>
            <a:r>
              <a:rPr lang="pt-BR" b="0" i="1" dirty="0">
                <a:solidFill>
                  <a:srgbClr val="000000"/>
                </a:solidFill>
                <a:effectLst/>
                <a:latin typeface="Tahoma" panose="020B0604030504040204" pitchFamily="34" charset="0"/>
              </a:rPr>
              <a:t>A, desinformação, </a:t>
            </a:r>
            <a:r>
              <a:rPr lang="pt-BR" b="0" i="1" dirty="0" err="1">
                <a:solidFill>
                  <a:srgbClr val="000000"/>
                </a:solidFill>
                <a:effectLst/>
                <a:latin typeface="Tahoma" panose="020B0604030504040204" pitchFamily="34" charset="0"/>
              </a:rPr>
              <a:t>deepfake</a:t>
            </a:r>
            <a:r>
              <a:rPr lang="pt-BR" b="0" i="1" dirty="0">
                <a:solidFill>
                  <a:srgbClr val="000000"/>
                </a:solidFill>
                <a:effectLst/>
                <a:latin typeface="Tahoma" panose="020B0604030504040204" pitchFamily="34" charset="0"/>
              </a:rPr>
              <a:t> e abuso</a:t>
            </a:r>
            <a:endParaRPr lang="pt-BR" b="0" i="0" dirty="0">
              <a:solidFill>
                <a:srgbClr val="000000"/>
              </a:solidFill>
              <a:effectLst/>
              <a:latin typeface="Tahoma" panose="020B0604030504040204" pitchFamily="34" charset="0"/>
            </a:endParaRPr>
          </a:p>
        </p:txBody>
      </p:sp>
      <p:sp>
        <p:nvSpPr>
          <p:cNvPr id="3" name="Espaço Reservado para Conteúdo 2">
            <a:extLst>
              <a:ext uri="{FF2B5EF4-FFF2-40B4-BE49-F238E27FC236}">
                <a16:creationId xmlns:a16="http://schemas.microsoft.com/office/drawing/2014/main" id="{498C8EC4-6077-1371-E8C7-06B64BFD6622}"/>
              </a:ext>
            </a:extLst>
          </p:cNvPr>
          <p:cNvSpPr>
            <a:spLocks noGrp="1"/>
          </p:cNvSpPr>
          <p:nvPr>
            <p:ph idx="1"/>
          </p:nvPr>
        </p:nvSpPr>
        <p:spPr>
          <a:xfrm>
            <a:off x="700635" y="1711842"/>
            <a:ext cx="10691265" cy="4250046"/>
          </a:xfrm>
        </p:spPr>
        <p:txBody>
          <a:bodyPr>
            <a:normAutofit/>
          </a:bodyPr>
          <a:lstStyle/>
          <a:p>
            <a:pPr algn="l"/>
            <a:r>
              <a:rPr lang="pt-BR" sz="2200" b="0" i="0" dirty="0">
                <a:solidFill>
                  <a:srgbClr val="000000"/>
                </a:solidFill>
                <a:effectLst/>
                <a:latin typeface="Tahoma" panose="020B0604030504040204" pitchFamily="34" charset="0"/>
              </a:rPr>
              <a:t>87. Embora a IA tenha o potencial latente de gerar conteúdo fictício, há o problema ainda mais preocupante de seu uso intencional para manipulação. Isso pode ocorrer, por exemplo, quando um operador humano ou uma organização gera e dissemina intencionalmente informações, como </a:t>
            </a:r>
            <a:r>
              <a:rPr lang="pt-BR" sz="2200" b="0" i="1" dirty="0" err="1">
                <a:solidFill>
                  <a:srgbClr val="000000"/>
                </a:solidFill>
                <a:effectLst/>
                <a:latin typeface="Tahoma" panose="020B0604030504040204" pitchFamily="34" charset="0"/>
              </a:rPr>
              <a:t>deepfakes</a:t>
            </a:r>
            <a:r>
              <a:rPr lang="pt-BR" sz="2200" b="0" i="0" dirty="0">
                <a:solidFill>
                  <a:srgbClr val="000000"/>
                </a:solidFill>
                <a:effectLst/>
                <a:latin typeface="Tahoma" panose="020B0604030504040204" pitchFamily="34" charset="0"/>
              </a:rPr>
              <a:t> de imagens, vídeos e áudio, para enganar ou prejudicar. </a:t>
            </a:r>
          </a:p>
          <a:p>
            <a:pPr algn="l"/>
            <a:r>
              <a:rPr lang="pt-BR" sz="2200" b="0" i="0" dirty="0">
                <a:solidFill>
                  <a:srgbClr val="000000"/>
                </a:solidFill>
                <a:effectLst/>
                <a:latin typeface="Tahoma" panose="020B0604030504040204" pitchFamily="34" charset="0"/>
              </a:rPr>
              <a:t>Um </a:t>
            </a:r>
            <a:r>
              <a:rPr lang="pt-BR" sz="2200" b="0" i="1" dirty="0" err="1">
                <a:solidFill>
                  <a:srgbClr val="000000"/>
                </a:solidFill>
                <a:effectLst/>
                <a:latin typeface="Tahoma" panose="020B0604030504040204" pitchFamily="34" charset="0"/>
              </a:rPr>
              <a:t>deepfake</a:t>
            </a:r>
            <a:r>
              <a:rPr lang="pt-BR" sz="2200" b="0" i="0" dirty="0">
                <a:solidFill>
                  <a:srgbClr val="000000"/>
                </a:solidFill>
                <a:effectLst/>
                <a:latin typeface="Tahoma" panose="020B0604030504040204" pitchFamily="34" charset="0"/>
              </a:rPr>
              <a:t> é uma representação falsa de uma pessoa que foi modificada ou gerada por um algoritmo de IA. O perigo que representam </a:t>
            </a:r>
            <a:r>
              <a:rPr lang="pt-BR" sz="2200" b="0" i="1" dirty="0">
                <a:solidFill>
                  <a:srgbClr val="000000"/>
                </a:solidFill>
                <a:effectLst/>
                <a:latin typeface="Tahoma" panose="020B0604030504040204" pitchFamily="34" charset="0"/>
              </a:rPr>
              <a:t>os </a:t>
            </a:r>
            <a:r>
              <a:rPr lang="pt-BR" sz="2200" b="0" i="1" dirty="0" err="1">
                <a:solidFill>
                  <a:srgbClr val="000000"/>
                </a:solidFill>
                <a:effectLst/>
                <a:latin typeface="Tahoma" panose="020B0604030504040204" pitchFamily="34" charset="0"/>
              </a:rPr>
              <a:t>deepfakes</a:t>
            </a:r>
            <a:r>
              <a:rPr lang="pt-BR" sz="2200" b="0" i="0" dirty="0">
                <a:solidFill>
                  <a:srgbClr val="000000"/>
                </a:solidFill>
                <a:effectLst/>
                <a:latin typeface="Tahoma" panose="020B0604030504040204" pitchFamily="34" charset="0"/>
              </a:rPr>
              <a:t> é particularmente evidente quando são utilizados para atacar ou prejudicar alguém: embora as imagens ou os vídeos possam ser artificiais em si mesmos, os danos que causam são reais e deixam “cicatrizes profundas no coração de quem sofre”, que se sente “ferido na sua dignidade humana” </a:t>
            </a:r>
            <a:r>
              <a:rPr lang="pt-BR" sz="2200" dirty="0">
                <a:solidFill>
                  <a:srgbClr val="663300"/>
                </a:solidFill>
                <a:latin typeface="Tahoma" panose="020B0604030504040204" pitchFamily="34" charset="0"/>
              </a:rPr>
              <a:t>[159].</a:t>
            </a:r>
            <a:endParaRPr lang="pt-BR" sz="2200" b="0" i="0" dirty="0">
              <a:solidFill>
                <a:srgbClr val="000000"/>
              </a:solidFill>
              <a:effectLst/>
              <a:latin typeface="Tahoma" panose="020B0604030504040204" pitchFamily="34" charset="0"/>
            </a:endParaRPr>
          </a:p>
        </p:txBody>
      </p:sp>
    </p:spTree>
    <p:extLst>
      <p:ext uri="{BB962C8B-B14F-4D97-AF65-F5344CB8AC3E}">
        <p14:creationId xmlns:p14="http://schemas.microsoft.com/office/powerpoint/2010/main" val="11337231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50DC9-5A94-E316-C9C5-231C6F50287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8447A0C-2617-D457-2784-820D5619FF3A}"/>
              </a:ext>
            </a:extLst>
          </p:cNvPr>
          <p:cNvSpPr>
            <a:spLocks noGrp="1"/>
          </p:cNvSpPr>
          <p:nvPr>
            <p:ph type="title"/>
          </p:nvPr>
        </p:nvSpPr>
        <p:spPr>
          <a:xfrm>
            <a:off x="700635" y="914400"/>
            <a:ext cx="10691265" cy="786809"/>
          </a:xfrm>
        </p:spPr>
        <p:txBody>
          <a:bodyPr>
            <a:normAutofit/>
          </a:bodyPr>
          <a:lstStyle/>
          <a:p>
            <a:pPr algn="l">
              <a:buNone/>
            </a:pPr>
            <a:r>
              <a:rPr lang="pt-BR" b="0" i="1" dirty="0">
                <a:solidFill>
                  <a:srgbClr val="000000"/>
                </a:solidFill>
                <a:effectLst/>
                <a:latin typeface="Tahoma" panose="020B0604030504040204" pitchFamily="34" charset="0"/>
              </a:rPr>
              <a:t>IA, privacidade e controle</a:t>
            </a:r>
            <a:endParaRPr lang="pt-BR" b="0" i="0" dirty="0">
              <a:solidFill>
                <a:srgbClr val="000000"/>
              </a:solidFill>
              <a:effectLst/>
              <a:latin typeface="Tahoma" panose="020B0604030504040204" pitchFamily="34" charset="0"/>
            </a:endParaRPr>
          </a:p>
        </p:txBody>
      </p:sp>
      <p:sp>
        <p:nvSpPr>
          <p:cNvPr id="3" name="Espaço Reservado para Conteúdo 2">
            <a:extLst>
              <a:ext uri="{FF2B5EF4-FFF2-40B4-BE49-F238E27FC236}">
                <a16:creationId xmlns:a16="http://schemas.microsoft.com/office/drawing/2014/main" id="{5E8B6B47-0F94-9D5D-7FEE-8A50B4E6B8D3}"/>
              </a:ext>
            </a:extLst>
          </p:cNvPr>
          <p:cNvSpPr>
            <a:spLocks noGrp="1"/>
          </p:cNvSpPr>
          <p:nvPr>
            <p:ph idx="1"/>
          </p:nvPr>
        </p:nvSpPr>
        <p:spPr>
          <a:xfrm>
            <a:off x="700635" y="1701209"/>
            <a:ext cx="11144035" cy="4260679"/>
          </a:xfrm>
        </p:spPr>
        <p:txBody>
          <a:bodyPr>
            <a:noAutofit/>
          </a:bodyPr>
          <a:lstStyle/>
          <a:p>
            <a:endParaRPr lang="pt-BR" sz="2500" b="0" i="0" dirty="0">
              <a:solidFill>
                <a:srgbClr val="000000"/>
              </a:solidFill>
              <a:effectLst/>
              <a:latin typeface="Tahoma" panose="020B0604030504040204" pitchFamily="34" charset="0"/>
            </a:endParaRPr>
          </a:p>
          <a:p>
            <a:r>
              <a:rPr lang="pt-BR" sz="2500" b="0" i="0" dirty="0">
                <a:solidFill>
                  <a:srgbClr val="000000"/>
                </a:solidFill>
                <a:effectLst/>
                <a:latin typeface="Tahoma" panose="020B0604030504040204" pitchFamily="34" charset="0"/>
              </a:rPr>
              <a:t>90. Os seres humanos são inerentemente relacionais, portanto os dados que cada pessoa cria no mundo digital podem ser considerados uma expressão objetificada dessa natureza relacional.</a:t>
            </a:r>
          </a:p>
          <a:p>
            <a:r>
              <a:rPr lang="pt-BR" sz="2500" b="0" i="0" dirty="0">
                <a:solidFill>
                  <a:srgbClr val="000000"/>
                </a:solidFill>
                <a:effectLst/>
                <a:latin typeface="Tahoma" panose="020B0604030504040204" pitchFamily="34" charset="0"/>
              </a:rPr>
              <a:t>91. A questão da privacidade deve ser abordada na perspectiva da preocupação com a liberdade legítima e com a dignidade inalienável da pessoa, para além de todas as circunstâncias.</a:t>
            </a:r>
          </a:p>
        </p:txBody>
      </p:sp>
    </p:spTree>
    <p:extLst>
      <p:ext uri="{BB962C8B-B14F-4D97-AF65-F5344CB8AC3E}">
        <p14:creationId xmlns:p14="http://schemas.microsoft.com/office/powerpoint/2010/main" val="29650619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67757-926A-A6EE-328D-B605733331D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C431335-14D7-DACE-4927-EA32C53ED733}"/>
              </a:ext>
            </a:extLst>
          </p:cNvPr>
          <p:cNvSpPr>
            <a:spLocks noGrp="1"/>
          </p:cNvSpPr>
          <p:nvPr>
            <p:ph type="title"/>
          </p:nvPr>
        </p:nvSpPr>
        <p:spPr>
          <a:xfrm>
            <a:off x="700635" y="914400"/>
            <a:ext cx="10691265" cy="786809"/>
          </a:xfrm>
        </p:spPr>
        <p:txBody>
          <a:bodyPr>
            <a:normAutofit/>
          </a:bodyPr>
          <a:lstStyle/>
          <a:p>
            <a:pPr algn="l">
              <a:buNone/>
            </a:pPr>
            <a:r>
              <a:rPr lang="pt-BR" b="0" i="1" dirty="0">
                <a:solidFill>
                  <a:srgbClr val="000000"/>
                </a:solidFill>
                <a:effectLst/>
                <a:latin typeface="Tahoma" panose="020B0604030504040204" pitchFamily="34" charset="0"/>
              </a:rPr>
              <a:t>IA, privacidade e controle</a:t>
            </a:r>
            <a:endParaRPr lang="pt-BR" b="0" i="0" dirty="0">
              <a:solidFill>
                <a:srgbClr val="000000"/>
              </a:solidFill>
              <a:effectLst/>
              <a:latin typeface="Tahoma" panose="020B0604030504040204" pitchFamily="34" charset="0"/>
            </a:endParaRPr>
          </a:p>
        </p:txBody>
      </p:sp>
      <p:sp>
        <p:nvSpPr>
          <p:cNvPr id="3" name="Espaço Reservado para Conteúdo 2">
            <a:extLst>
              <a:ext uri="{FF2B5EF4-FFF2-40B4-BE49-F238E27FC236}">
                <a16:creationId xmlns:a16="http://schemas.microsoft.com/office/drawing/2014/main" id="{48C30540-5ECC-4567-86B7-CE6A27FA6C38}"/>
              </a:ext>
            </a:extLst>
          </p:cNvPr>
          <p:cNvSpPr>
            <a:spLocks noGrp="1"/>
          </p:cNvSpPr>
          <p:nvPr>
            <p:ph idx="1"/>
          </p:nvPr>
        </p:nvSpPr>
        <p:spPr>
          <a:xfrm>
            <a:off x="700635" y="1701209"/>
            <a:ext cx="11144035" cy="4260679"/>
          </a:xfrm>
        </p:spPr>
        <p:txBody>
          <a:bodyPr>
            <a:noAutofit/>
          </a:bodyPr>
          <a:lstStyle/>
          <a:p>
            <a:pPr algn="l"/>
            <a:r>
              <a:rPr lang="pt-BR" sz="2300" b="0" i="0" dirty="0">
                <a:solidFill>
                  <a:srgbClr val="000000"/>
                </a:solidFill>
                <a:effectLst/>
                <a:latin typeface="Tahoma" panose="020B0604030504040204" pitchFamily="34" charset="0"/>
              </a:rPr>
              <a:t>92. Os avanços no processamento e análise de dados possibilitados pela IA tornam possível detectar padrões no comportamento e no pensamento de uma pessoa, mesmo a partir de uma quantidade mínima de informações, tornando a privacidade de dados ainda mais necessária como uma salvaguarda da dignidade e da natureza relacional da pessoa humana. </a:t>
            </a:r>
          </a:p>
          <a:p>
            <a:pPr algn="l"/>
            <a:r>
              <a:rPr lang="pt-BR" sz="2300" b="0" i="0" dirty="0">
                <a:solidFill>
                  <a:srgbClr val="000000"/>
                </a:solidFill>
                <a:effectLst/>
                <a:latin typeface="Tahoma" panose="020B0604030504040204" pitchFamily="34" charset="0"/>
              </a:rPr>
              <a:t>Como observou o Papa Francisco, «à medida que se desenvolvem atitudes fechadas e intolerantes, que nos isolam dos outros, as distâncias encurtam-se ou desaparecem, a ponto de o direito à privacidade deixar de existir. Tudo se torna uma espécie de espetáculo que pode ser espiado, observado, e a vida fica exposta a um controlo constante» </a:t>
            </a:r>
            <a:r>
              <a:rPr lang="pt-BR" sz="2300" b="0" i="0" dirty="0">
                <a:solidFill>
                  <a:srgbClr val="663300"/>
                </a:solidFill>
                <a:effectLst/>
                <a:latin typeface="Tahoma" panose="020B0604030504040204" pitchFamily="34" charset="0"/>
                <a:hlinkClick r:id="rId2"/>
              </a:rPr>
              <a:t>[170]</a:t>
            </a:r>
            <a:r>
              <a:rPr lang="pt-BR" sz="2300" dirty="0">
                <a:solidFill>
                  <a:srgbClr val="000000"/>
                </a:solidFill>
                <a:latin typeface="Tahoma" panose="020B0604030504040204" pitchFamily="34" charset="0"/>
              </a:rPr>
              <a:t>.</a:t>
            </a:r>
            <a:endParaRPr lang="pt-BR" sz="2300" b="0" i="0" dirty="0">
              <a:solidFill>
                <a:srgbClr val="000000"/>
              </a:solidFill>
              <a:effectLst/>
              <a:latin typeface="Tahoma" panose="020B0604030504040204" pitchFamily="34" charset="0"/>
            </a:endParaRPr>
          </a:p>
        </p:txBody>
      </p:sp>
    </p:spTree>
    <p:extLst>
      <p:ext uri="{BB962C8B-B14F-4D97-AF65-F5344CB8AC3E}">
        <p14:creationId xmlns:p14="http://schemas.microsoft.com/office/powerpoint/2010/main" val="17521913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13189-C734-E01B-E7E7-A33F2E05B30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733D46E-5B3D-B404-C04B-7ACC85079370}"/>
              </a:ext>
            </a:extLst>
          </p:cNvPr>
          <p:cNvSpPr>
            <a:spLocks noGrp="1"/>
          </p:cNvSpPr>
          <p:nvPr>
            <p:ph type="title"/>
          </p:nvPr>
        </p:nvSpPr>
        <p:spPr/>
        <p:txBody>
          <a:bodyPr>
            <a:normAutofit/>
          </a:bodyPr>
          <a:lstStyle/>
          <a:p>
            <a:pPr algn="l">
              <a:buNone/>
            </a:pPr>
            <a:r>
              <a:rPr lang="pt-BR" b="0" i="1" dirty="0">
                <a:solidFill>
                  <a:srgbClr val="000000"/>
                </a:solidFill>
                <a:effectLst/>
                <a:latin typeface="Tahoma" panose="020B0604030504040204" pitchFamily="34" charset="0"/>
              </a:rPr>
              <a:t>IA e a proteção da nossa casa comum</a:t>
            </a:r>
            <a:endParaRPr lang="pt-BR" b="0" i="0" dirty="0">
              <a:solidFill>
                <a:srgbClr val="000000"/>
              </a:solidFill>
              <a:effectLst/>
              <a:latin typeface="Tahoma" panose="020B0604030504040204" pitchFamily="34" charset="0"/>
            </a:endParaRPr>
          </a:p>
        </p:txBody>
      </p:sp>
      <p:sp>
        <p:nvSpPr>
          <p:cNvPr id="3" name="Espaço Reservado para Conteúdo 2">
            <a:extLst>
              <a:ext uri="{FF2B5EF4-FFF2-40B4-BE49-F238E27FC236}">
                <a16:creationId xmlns:a16="http://schemas.microsoft.com/office/drawing/2014/main" id="{6BB8208F-BEF2-503D-BC16-7711DB0B93BE}"/>
              </a:ext>
            </a:extLst>
          </p:cNvPr>
          <p:cNvSpPr>
            <a:spLocks noGrp="1"/>
          </p:cNvSpPr>
          <p:nvPr>
            <p:ph idx="1"/>
          </p:nvPr>
        </p:nvSpPr>
        <p:spPr>
          <a:xfrm>
            <a:off x="700635" y="1765005"/>
            <a:ext cx="11037709" cy="4196883"/>
          </a:xfrm>
        </p:spPr>
        <p:txBody>
          <a:bodyPr>
            <a:noAutofit/>
          </a:bodyPr>
          <a:lstStyle/>
          <a:p>
            <a:r>
              <a:rPr lang="pt-BR" sz="2300" b="0" i="0" dirty="0">
                <a:solidFill>
                  <a:srgbClr val="000000"/>
                </a:solidFill>
                <a:effectLst/>
                <a:latin typeface="Tahoma" panose="020B0604030504040204" pitchFamily="34" charset="0"/>
              </a:rPr>
              <a:t>95. A IA tem inúmeras aplicações promissoras para melhorar a nossa relação com a casa comum que nos acolhe, como a criação de modelos para prever eventos meteorológicos extremos, propor soluções de engenharia para reduzir o seu impacto, gerir operações de socorro e prever movimentos populacionais.</a:t>
            </a:r>
          </a:p>
          <a:p>
            <a:r>
              <a:rPr lang="pt-BR" sz="2300" b="0" i="0" dirty="0">
                <a:solidFill>
                  <a:srgbClr val="000000"/>
                </a:solidFill>
                <a:effectLst/>
                <a:latin typeface="Tahoma" panose="020B0604030504040204" pitchFamily="34" charset="0"/>
              </a:rPr>
              <a:t>Além disso, a IA pode dar suporte à agricultura sustentável, otimizar o consumo de energia e fornecer sistemas de alerta precoce para emergências de saúde pública.</a:t>
            </a:r>
          </a:p>
          <a:p>
            <a:pPr algn="l"/>
            <a:r>
              <a:rPr lang="pt-BR" sz="2300" b="0" i="0" dirty="0">
                <a:solidFill>
                  <a:srgbClr val="000000"/>
                </a:solidFill>
                <a:effectLst/>
                <a:latin typeface="Tahoma" panose="020B0604030504040204" pitchFamily="34" charset="0"/>
              </a:rPr>
              <a:t>96. Ao mesmo tempo, os modelos atuais de IA e o hardware </a:t>
            </a:r>
            <a:r>
              <a:rPr lang="pt-BR" sz="2300" b="0" i="1" dirty="0">
                <a:solidFill>
                  <a:srgbClr val="000000"/>
                </a:solidFill>
                <a:effectLst/>
                <a:latin typeface="Tahoma" panose="020B0604030504040204" pitchFamily="34" charset="0"/>
              </a:rPr>
              <a:t>que</a:t>
            </a:r>
            <a:r>
              <a:rPr lang="pt-BR" sz="2300" b="0" i="0" dirty="0">
                <a:solidFill>
                  <a:srgbClr val="000000"/>
                </a:solidFill>
                <a:effectLst/>
                <a:latin typeface="Tahoma" panose="020B0604030504040204" pitchFamily="34" charset="0"/>
              </a:rPr>
              <a:t> os suporta exigem grandes quantidades de energia e água e contribuem significativamente para as emissões de CO2, além de consumirem muitos recursos. </a:t>
            </a:r>
          </a:p>
        </p:txBody>
      </p:sp>
    </p:spTree>
    <p:extLst>
      <p:ext uri="{BB962C8B-B14F-4D97-AF65-F5344CB8AC3E}">
        <p14:creationId xmlns:p14="http://schemas.microsoft.com/office/powerpoint/2010/main" val="35036249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A32E0-929D-8C87-B0B7-4715AFBCABF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3C65933-9CFD-D843-6276-4BA29090F4E2}"/>
              </a:ext>
            </a:extLst>
          </p:cNvPr>
          <p:cNvSpPr>
            <a:spLocks noGrp="1"/>
          </p:cNvSpPr>
          <p:nvPr>
            <p:ph type="title"/>
          </p:nvPr>
        </p:nvSpPr>
        <p:spPr/>
        <p:txBody>
          <a:bodyPr>
            <a:normAutofit/>
          </a:bodyPr>
          <a:lstStyle/>
          <a:p>
            <a:pPr algn="l">
              <a:buNone/>
            </a:pPr>
            <a:r>
              <a:rPr lang="pt-BR" b="0" i="1" dirty="0">
                <a:solidFill>
                  <a:srgbClr val="000000"/>
                </a:solidFill>
                <a:effectLst/>
                <a:latin typeface="Tahoma" panose="020B0604030504040204" pitchFamily="34" charset="0"/>
              </a:rPr>
              <a:t>IA e Guerra</a:t>
            </a:r>
            <a:endParaRPr lang="pt-BR" b="0" i="0" dirty="0">
              <a:solidFill>
                <a:srgbClr val="000000"/>
              </a:solidFill>
              <a:effectLst/>
              <a:latin typeface="Tahoma" panose="020B0604030504040204" pitchFamily="34" charset="0"/>
            </a:endParaRPr>
          </a:p>
        </p:txBody>
      </p:sp>
      <p:sp>
        <p:nvSpPr>
          <p:cNvPr id="3" name="Espaço Reservado para Conteúdo 2">
            <a:extLst>
              <a:ext uri="{FF2B5EF4-FFF2-40B4-BE49-F238E27FC236}">
                <a16:creationId xmlns:a16="http://schemas.microsoft.com/office/drawing/2014/main" id="{11B4E0CD-D831-5431-7C92-B97FD0EF5222}"/>
              </a:ext>
            </a:extLst>
          </p:cNvPr>
          <p:cNvSpPr>
            <a:spLocks noGrp="1"/>
          </p:cNvSpPr>
          <p:nvPr>
            <p:ph idx="1"/>
          </p:nvPr>
        </p:nvSpPr>
        <p:spPr>
          <a:xfrm>
            <a:off x="700635" y="1775637"/>
            <a:ext cx="10691265" cy="4186251"/>
          </a:xfrm>
        </p:spPr>
        <p:txBody>
          <a:bodyPr>
            <a:normAutofit/>
          </a:bodyPr>
          <a:lstStyle/>
          <a:p>
            <a:pPr algn="l"/>
            <a:r>
              <a:rPr lang="pt-BR" sz="2500" b="0" i="0" dirty="0">
                <a:solidFill>
                  <a:srgbClr val="000000"/>
                </a:solidFill>
                <a:effectLst/>
                <a:latin typeface="Tahoma" panose="020B0604030504040204" pitchFamily="34" charset="0"/>
              </a:rPr>
              <a:t>99. Embora as capacidades analíticas da IA ​​possam ser usadas para ajudar as nações a buscar a paz e garantir a segurança, o "uso bélico da inteligência artificial" pode ser altamente problemático. </a:t>
            </a:r>
          </a:p>
          <a:p>
            <a:pPr algn="l"/>
            <a:r>
              <a:rPr lang="pt-BR" sz="2500" b="0" i="0" dirty="0">
                <a:solidFill>
                  <a:srgbClr val="000000"/>
                </a:solidFill>
                <a:effectLst/>
                <a:latin typeface="Tahoma" panose="020B0604030504040204" pitchFamily="34" charset="0"/>
              </a:rPr>
              <a:t>O Papa Francisco observou que «a possibilidade de realizar operações militares através de sistemas de controle remoto levou a uma menor consciência da devastação que causaram e da responsabilidade na sua utilização, contribuindo para uma abordagem ainda mais fria e distante da imensa tragédia da guerra» [ </a:t>
            </a:r>
            <a:r>
              <a:rPr lang="pt-BR" sz="2500" b="0" i="0" dirty="0">
                <a:solidFill>
                  <a:srgbClr val="663300"/>
                </a:solidFill>
                <a:effectLst/>
                <a:latin typeface="Tahoma" panose="020B0604030504040204" pitchFamily="34" charset="0"/>
                <a:hlinkClick r:id="rId2"/>
              </a:rPr>
              <a:t>182]</a:t>
            </a:r>
            <a:r>
              <a:rPr lang="pt-BR" sz="2500" dirty="0">
                <a:solidFill>
                  <a:srgbClr val="000000"/>
                </a:solidFill>
                <a:latin typeface="Tahoma" panose="020B0604030504040204" pitchFamily="34" charset="0"/>
              </a:rPr>
              <a:t>.</a:t>
            </a:r>
            <a:r>
              <a:rPr lang="pt-BR" sz="2500" b="0" i="0" dirty="0">
                <a:solidFill>
                  <a:srgbClr val="000000"/>
                </a:solidFill>
                <a:effectLst/>
                <a:latin typeface="Tahoma" panose="020B0604030504040204" pitchFamily="34" charset="0"/>
              </a:rPr>
              <a:t> </a:t>
            </a:r>
          </a:p>
        </p:txBody>
      </p:sp>
    </p:spTree>
    <p:extLst>
      <p:ext uri="{BB962C8B-B14F-4D97-AF65-F5344CB8AC3E}">
        <p14:creationId xmlns:p14="http://schemas.microsoft.com/office/powerpoint/2010/main" val="4658552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C6550-D31C-3392-F376-8F64A03D5C3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B7106CA-E8B4-E89F-713C-6719DD2B029F}"/>
              </a:ext>
            </a:extLst>
          </p:cNvPr>
          <p:cNvSpPr>
            <a:spLocks noGrp="1"/>
          </p:cNvSpPr>
          <p:nvPr>
            <p:ph type="title"/>
          </p:nvPr>
        </p:nvSpPr>
        <p:spPr>
          <a:xfrm>
            <a:off x="700635" y="914400"/>
            <a:ext cx="10691265" cy="871870"/>
          </a:xfrm>
        </p:spPr>
        <p:txBody>
          <a:bodyPr>
            <a:normAutofit fontScale="90000"/>
          </a:bodyPr>
          <a:lstStyle/>
          <a:p>
            <a:pPr algn="l">
              <a:buNone/>
            </a:pPr>
            <a:r>
              <a:rPr lang="pt-BR" b="0" i="1" dirty="0">
                <a:solidFill>
                  <a:srgbClr val="000000"/>
                </a:solidFill>
                <a:effectLst/>
                <a:latin typeface="Tahoma" panose="020B0604030504040204" pitchFamily="34" charset="0"/>
              </a:rPr>
              <a:t>A IA e a relação da humanidade com Deus</a:t>
            </a:r>
            <a:endParaRPr lang="pt-BR" b="0" i="0" dirty="0">
              <a:solidFill>
                <a:srgbClr val="000000"/>
              </a:solidFill>
              <a:effectLst/>
              <a:latin typeface="Tahoma" panose="020B0604030504040204" pitchFamily="34" charset="0"/>
            </a:endParaRPr>
          </a:p>
        </p:txBody>
      </p:sp>
      <p:sp>
        <p:nvSpPr>
          <p:cNvPr id="3" name="Espaço Reservado para Conteúdo 2">
            <a:extLst>
              <a:ext uri="{FF2B5EF4-FFF2-40B4-BE49-F238E27FC236}">
                <a16:creationId xmlns:a16="http://schemas.microsoft.com/office/drawing/2014/main" id="{93FB9718-361C-1331-2521-E437C8760328}"/>
              </a:ext>
            </a:extLst>
          </p:cNvPr>
          <p:cNvSpPr>
            <a:spLocks noGrp="1"/>
          </p:cNvSpPr>
          <p:nvPr>
            <p:ph idx="1"/>
          </p:nvPr>
        </p:nvSpPr>
        <p:spPr>
          <a:xfrm>
            <a:off x="435935" y="1679944"/>
            <a:ext cx="11376837" cy="4281944"/>
          </a:xfrm>
        </p:spPr>
        <p:txBody>
          <a:bodyPr>
            <a:noAutofit/>
          </a:bodyPr>
          <a:lstStyle/>
          <a:p>
            <a:r>
              <a:rPr lang="pt-BR" sz="2200" b="0" i="0" dirty="0">
                <a:solidFill>
                  <a:srgbClr val="000000"/>
                </a:solidFill>
                <a:effectLst/>
                <a:latin typeface="Tahoma" panose="020B0604030504040204" pitchFamily="34" charset="0"/>
              </a:rPr>
              <a:t>104. A tecnologia oferece meios eficazes para gerenciar e desenvolver os recursos do planeta, embora, em alguns casos, a humanidade esteja cada vez mais cedendo o controle desses recursos às máquinas. </a:t>
            </a:r>
          </a:p>
          <a:p>
            <a:r>
              <a:rPr lang="pt-BR" sz="2200" b="0" i="0" dirty="0">
                <a:solidFill>
                  <a:srgbClr val="000000"/>
                </a:solidFill>
                <a:effectLst/>
                <a:latin typeface="Tahoma" panose="020B0604030504040204" pitchFamily="34" charset="0"/>
              </a:rPr>
              <a:t>Em alguns círculos científicos e futuristas, há um certo otimismo sobre o potencial da inteligência artificial geral (IAG), uma forma hipotética de IA que poderia igualar ou superar a inteligência humana, capaz de alcançar avanços além do que poderíamos imaginar. </a:t>
            </a:r>
          </a:p>
          <a:p>
            <a:r>
              <a:rPr lang="pt-BR" sz="2200" b="0" i="0" dirty="0">
                <a:solidFill>
                  <a:srgbClr val="000000"/>
                </a:solidFill>
                <a:effectLst/>
                <a:latin typeface="Tahoma" panose="020B0604030504040204" pitchFamily="34" charset="0"/>
              </a:rPr>
              <a:t>Alguns até especulam que a AGI seria capaz de atingir capacidades sobre-humanas.</a:t>
            </a:r>
          </a:p>
          <a:p>
            <a:r>
              <a:rPr lang="pt-BR" sz="2200" b="0" i="0" dirty="0">
                <a:solidFill>
                  <a:srgbClr val="000000"/>
                </a:solidFill>
                <a:effectLst/>
                <a:latin typeface="Tahoma" panose="020B0604030504040204" pitchFamily="34" charset="0"/>
              </a:rPr>
              <a:t> À medida que a sociedade se afasta da conexão com o transcendente, alguns são tentados a recorrer à IA em busca de significado ou realização, desejos que só podem encontrar verdadeira satisfação na comunhão com Deus.</a:t>
            </a:r>
          </a:p>
        </p:txBody>
      </p:sp>
    </p:spTree>
    <p:extLst>
      <p:ext uri="{BB962C8B-B14F-4D97-AF65-F5344CB8AC3E}">
        <p14:creationId xmlns:p14="http://schemas.microsoft.com/office/powerpoint/2010/main" val="645960492"/>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941</TotalTime>
  <Words>3872</Words>
  <Application>Microsoft Office PowerPoint</Application>
  <PresentationFormat>Widescreen</PresentationFormat>
  <Paragraphs>136</Paragraphs>
  <Slides>41</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41</vt:i4>
      </vt:variant>
    </vt:vector>
  </HeadingPairs>
  <TitlesOfParts>
    <vt:vector size="46" baseType="lpstr">
      <vt:lpstr>Arial</vt:lpstr>
      <vt:lpstr>Calisto MT</vt:lpstr>
      <vt:lpstr>Tahoma</vt:lpstr>
      <vt:lpstr>Univers Condensed</vt:lpstr>
      <vt:lpstr>ChronicleVTI</vt:lpstr>
      <vt:lpstr>ANTIQUA E NOVA Nota sobre a relação entre inteligência artificial e inteligência humana</vt:lpstr>
      <vt:lpstr>ANTIQUA E NOVA Nota sobre a relação entre inteligência artificial e inteligência humana</vt:lpstr>
      <vt:lpstr>IV . O papel da ética na orientação do desenvolvimento e uso da IA</vt:lpstr>
      <vt:lpstr>IV . O papel da ética na orientação do desenvolvimento e uso da IA</vt:lpstr>
      <vt:lpstr>IV . O papel da ética na orientação do desenvolvimento e uso da IA</vt:lpstr>
      <vt:lpstr>IV . O papel da ética na orientação do desenvolvimento e uso da IA</vt:lpstr>
      <vt:lpstr>IV . O papel da ética na orientação do desenvolvimento e uso da IA</vt:lpstr>
      <vt:lpstr>IV . O papel da ética na orientação do desenvolvimento e uso da IA</vt:lpstr>
      <vt:lpstr>IV . O papel da ética na orientação do desenvolvimento e uso da IA</vt:lpstr>
      <vt:lpstr>Um auxílio à liberdade e às decisões humanas</vt:lpstr>
      <vt:lpstr>Um auxílio à liberdade e às decisões humanas</vt:lpstr>
      <vt:lpstr>Um auxílio à liberdade e às decisões humanas</vt:lpstr>
      <vt:lpstr>Um auxílio à liberdade e às decisões humanas</vt:lpstr>
      <vt:lpstr>Um auxílio à liberdade e às decisões humanas</vt:lpstr>
      <vt:lpstr>Um auxílio à liberdade e às decisões humanas</vt:lpstr>
      <vt:lpstr>Um auxílio à liberdade e às decisões humanas</vt:lpstr>
      <vt:lpstr>Um auxílio à liberdade e às decisões humanas</vt:lpstr>
      <vt:lpstr>Um auxílio à liberdade e às decisões humanas</vt:lpstr>
      <vt:lpstr>Um auxílio à liberdade e às decisões humanas</vt:lpstr>
      <vt:lpstr>Um auxílio à liberdade e às decisões humanas</vt:lpstr>
      <vt:lpstr>Um auxílio à liberdade e às decisões humanas</vt:lpstr>
      <vt:lpstr>Um auxílio à liberdade e às decisões humanas</vt:lpstr>
      <vt:lpstr>V . Questões específicas</vt:lpstr>
      <vt:lpstr>IA e sociedade</vt:lpstr>
      <vt:lpstr>IA e sociedade</vt:lpstr>
      <vt:lpstr>IA e relações humanas</vt:lpstr>
      <vt:lpstr>IA e relações humanas</vt:lpstr>
      <vt:lpstr>IA e relações humanas</vt:lpstr>
      <vt:lpstr>IA, economia e trabalho</vt:lpstr>
      <vt:lpstr>IA, economia e trabalho</vt:lpstr>
      <vt:lpstr>iA e saúde</vt:lpstr>
      <vt:lpstr>iA e saúde</vt:lpstr>
      <vt:lpstr>IA e educação</vt:lpstr>
      <vt:lpstr>IA e educação</vt:lpstr>
      <vt:lpstr>IA, desinformação, deepfake e abuso</vt:lpstr>
      <vt:lpstr>IA, desinformação, deepfake e abuso</vt:lpstr>
      <vt:lpstr>IA, privacidade e controle</vt:lpstr>
      <vt:lpstr>IA, privacidade e controle</vt:lpstr>
      <vt:lpstr>IA e a proteção da nossa casa comum</vt:lpstr>
      <vt:lpstr>IA e Guerra</vt:lpstr>
      <vt:lpstr>A IA e a relação da humanidade com Deus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leonardo piacente</dc:creator>
  <cp:lastModifiedBy>leonardo piacente</cp:lastModifiedBy>
  <cp:revision>9</cp:revision>
  <dcterms:created xsi:type="dcterms:W3CDTF">2025-05-27T21:07:02Z</dcterms:created>
  <dcterms:modified xsi:type="dcterms:W3CDTF">2025-05-28T13:09:07Z</dcterms:modified>
</cp:coreProperties>
</file>