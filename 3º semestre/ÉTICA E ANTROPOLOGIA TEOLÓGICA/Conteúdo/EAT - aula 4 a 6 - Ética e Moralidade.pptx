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3" r:id="rId4"/>
    <p:sldId id="272" r:id="rId5"/>
    <p:sldId id="275" r:id="rId6"/>
    <p:sldId id="258" r:id="rId7"/>
    <p:sldId id="276" r:id="rId8"/>
    <p:sldId id="277" r:id="rId9"/>
    <p:sldId id="278" r:id="rId10"/>
    <p:sldId id="259" r:id="rId11"/>
    <p:sldId id="280" r:id="rId12"/>
    <p:sldId id="279" r:id="rId13"/>
    <p:sldId id="260" r:id="rId14"/>
    <p:sldId id="282" r:id="rId15"/>
    <p:sldId id="283" r:id="rId16"/>
    <p:sldId id="281" r:id="rId17"/>
    <p:sldId id="284" r:id="rId18"/>
    <p:sldId id="286" r:id="rId19"/>
    <p:sldId id="287" r:id="rId20"/>
    <p:sldId id="261" r:id="rId21"/>
    <p:sldId id="288" r:id="rId22"/>
    <p:sldId id="290" r:id="rId23"/>
    <p:sldId id="289" r:id="rId24"/>
    <p:sldId id="291" r:id="rId25"/>
    <p:sldId id="262" r:id="rId26"/>
    <p:sldId id="292" r:id="rId27"/>
    <p:sldId id="293" r:id="rId28"/>
    <p:sldId id="263" r:id="rId29"/>
    <p:sldId id="296" r:id="rId30"/>
    <p:sldId id="295" r:id="rId31"/>
    <p:sldId id="306" r:id="rId32"/>
    <p:sldId id="297" r:id="rId33"/>
    <p:sldId id="294" r:id="rId34"/>
    <p:sldId id="307" r:id="rId35"/>
    <p:sldId id="301" r:id="rId36"/>
    <p:sldId id="300" r:id="rId37"/>
    <p:sldId id="298" r:id="rId38"/>
    <p:sldId id="267" r:id="rId39"/>
    <p:sldId id="308" r:id="rId40"/>
    <p:sldId id="268" r:id="rId41"/>
    <p:sldId id="309" r:id="rId42"/>
    <p:sldId id="310" r:id="rId43"/>
    <p:sldId id="305" r:id="rId44"/>
    <p:sldId id="311" r:id="rId45"/>
    <p:sldId id="304" r:id="rId46"/>
    <p:sldId id="312" r:id="rId47"/>
    <p:sldId id="270" r:id="rId48"/>
    <p:sldId id="314" r:id="rId49"/>
    <p:sldId id="313" r:id="rId50"/>
    <p:sldId id="315" r:id="rId51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4E3866-4A8B-49AD-8470-DD5A17D5AD61}" v="23" dt="2022-03-10T11:00:48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5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piacente" userId="0add8016af67c0e5" providerId="LiveId" clId="{994E3866-4A8B-49AD-8470-DD5A17D5AD61}"/>
    <pc:docChg chg="undo custSel addSld delSld modSld sldOrd">
      <pc:chgData name="leonardo piacente" userId="0add8016af67c0e5" providerId="LiveId" clId="{994E3866-4A8B-49AD-8470-DD5A17D5AD61}" dt="2022-03-10T11:00:48.725" v="481"/>
      <pc:docMkLst>
        <pc:docMk/>
      </pc:docMkLst>
      <pc:sldChg chg="modSp mod">
        <pc:chgData name="leonardo piacente" userId="0add8016af67c0e5" providerId="LiveId" clId="{994E3866-4A8B-49AD-8470-DD5A17D5AD61}" dt="2022-03-03T11:03:30.514" v="55" actId="255"/>
        <pc:sldMkLst>
          <pc:docMk/>
          <pc:sldMk cId="0" sldId="261"/>
        </pc:sldMkLst>
        <pc:spChg chg="mod">
          <ac:chgData name="leonardo piacente" userId="0add8016af67c0e5" providerId="LiveId" clId="{994E3866-4A8B-49AD-8470-DD5A17D5AD61}" dt="2022-03-03T11:03:30.514" v="55" actId="255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leonardo piacente" userId="0add8016af67c0e5" providerId="LiveId" clId="{994E3866-4A8B-49AD-8470-DD5A17D5AD61}" dt="2022-03-09T10:36:20.744" v="280"/>
        <pc:sldMkLst>
          <pc:docMk/>
          <pc:sldMk cId="0" sldId="262"/>
        </pc:sldMkLst>
        <pc:spChg chg="mod">
          <ac:chgData name="leonardo piacente" userId="0add8016af67c0e5" providerId="LiveId" clId="{994E3866-4A8B-49AD-8470-DD5A17D5AD61}" dt="2022-03-09T10:36:20.744" v="280"/>
          <ac:spMkLst>
            <pc:docMk/>
            <pc:sldMk cId="0" sldId="262"/>
            <ac:spMk id="3" creationId="{00000000-0000-0000-0000-000000000000}"/>
          </ac:spMkLst>
        </pc:spChg>
      </pc:sldChg>
      <pc:sldChg chg="delSp modSp mod">
        <pc:chgData name="leonardo piacente" userId="0add8016af67c0e5" providerId="LiveId" clId="{994E3866-4A8B-49AD-8470-DD5A17D5AD61}" dt="2022-03-09T10:38:32.109" v="286" actId="115"/>
        <pc:sldMkLst>
          <pc:docMk/>
          <pc:sldMk cId="0" sldId="263"/>
        </pc:sldMkLst>
        <pc:spChg chg="del mod">
          <ac:chgData name="leonardo piacente" userId="0add8016af67c0e5" providerId="LiveId" clId="{994E3866-4A8B-49AD-8470-DD5A17D5AD61}" dt="2022-03-03T10:37:22.894" v="13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leonardo piacente" userId="0add8016af67c0e5" providerId="LiveId" clId="{994E3866-4A8B-49AD-8470-DD5A17D5AD61}" dt="2022-03-09T10:38:32.109" v="286" actId="115"/>
          <ac:spMkLst>
            <pc:docMk/>
            <pc:sldMk cId="0" sldId="263"/>
            <ac:spMk id="3" creationId="{00000000-0000-0000-0000-000000000000}"/>
          </ac:spMkLst>
        </pc:spChg>
      </pc:sldChg>
      <pc:sldChg chg="delSp modSp del mod">
        <pc:chgData name="leonardo piacente" userId="0add8016af67c0e5" providerId="LiveId" clId="{994E3866-4A8B-49AD-8470-DD5A17D5AD61}" dt="2022-03-10T10:42:51.555" v="369" actId="47"/>
        <pc:sldMkLst>
          <pc:docMk/>
          <pc:sldMk cId="0" sldId="264"/>
        </pc:sldMkLst>
        <pc:spChg chg="del mod">
          <ac:chgData name="leonardo piacente" userId="0add8016af67c0e5" providerId="LiveId" clId="{994E3866-4A8B-49AD-8470-DD5A17D5AD61}" dt="2022-03-08T12:32:49.272" v="151" actId="478"/>
          <ac:spMkLst>
            <pc:docMk/>
            <pc:sldMk cId="0" sldId="264"/>
            <ac:spMk id="2" creationId="{00000000-0000-0000-0000-000000000000}"/>
          </ac:spMkLst>
        </pc:spChg>
        <pc:spChg chg="mod">
          <ac:chgData name="leonardo piacente" userId="0add8016af67c0e5" providerId="LiveId" clId="{994E3866-4A8B-49AD-8470-DD5A17D5AD61}" dt="2022-03-08T12:35:43.792" v="189" actId="27636"/>
          <ac:spMkLst>
            <pc:docMk/>
            <pc:sldMk cId="0" sldId="264"/>
            <ac:spMk id="3" creationId="{00000000-0000-0000-0000-000000000000}"/>
          </ac:spMkLst>
        </pc:spChg>
      </pc:sldChg>
      <pc:sldChg chg="delSp modSp del mod">
        <pc:chgData name="leonardo piacente" userId="0add8016af67c0e5" providerId="LiveId" clId="{994E3866-4A8B-49AD-8470-DD5A17D5AD61}" dt="2022-03-10T10:42:51.555" v="369" actId="47"/>
        <pc:sldMkLst>
          <pc:docMk/>
          <pc:sldMk cId="0" sldId="265"/>
        </pc:sldMkLst>
        <pc:spChg chg="del mod">
          <ac:chgData name="leonardo piacente" userId="0add8016af67c0e5" providerId="LiveId" clId="{994E3866-4A8B-49AD-8470-DD5A17D5AD61}" dt="2022-03-08T12:32:58.676" v="155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leonardo piacente" userId="0add8016af67c0e5" providerId="LiveId" clId="{994E3866-4A8B-49AD-8470-DD5A17D5AD61}" dt="2022-03-08T12:36:15.415" v="196" actId="27636"/>
          <ac:spMkLst>
            <pc:docMk/>
            <pc:sldMk cId="0" sldId="265"/>
            <ac:spMk id="3" creationId="{00000000-0000-0000-0000-000000000000}"/>
          </ac:spMkLst>
        </pc:spChg>
      </pc:sldChg>
      <pc:sldChg chg="delSp modSp del mod">
        <pc:chgData name="leonardo piacente" userId="0add8016af67c0e5" providerId="LiveId" clId="{994E3866-4A8B-49AD-8470-DD5A17D5AD61}" dt="2022-03-10T10:42:51.555" v="369" actId="47"/>
        <pc:sldMkLst>
          <pc:docMk/>
          <pc:sldMk cId="0" sldId="266"/>
        </pc:sldMkLst>
        <pc:spChg chg="del">
          <ac:chgData name="leonardo piacente" userId="0add8016af67c0e5" providerId="LiveId" clId="{994E3866-4A8B-49AD-8470-DD5A17D5AD61}" dt="2022-03-08T12:33:08.348" v="158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leonardo piacente" userId="0add8016af67c0e5" providerId="LiveId" clId="{994E3866-4A8B-49AD-8470-DD5A17D5AD61}" dt="2022-03-08T12:37:07.994" v="208" actId="20577"/>
          <ac:spMkLst>
            <pc:docMk/>
            <pc:sldMk cId="0" sldId="266"/>
            <ac:spMk id="3" creationId="{00000000-0000-0000-0000-000000000000}"/>
          </ac:spMkLst>
        </pc:spChg>
      </pc:sldChg>
      <pc:sldChg chg="delSp modSp mod">
        <pc:chgData name="leonardo piacente" userId="0add8016af67c0e5" providerId="LiveId" clId="{994E3866-4A8B-49AD-8470-DD5A17D5AD61}" dt="2022-03-10T10:43:33.806" v="379"/>
        <pc:sldMkLst>
          <pc:docMk/>
          <pc:sldMk cId="0" sldId="267"/>
        </pc:sldMkLst>
        <pc:spChg chg="del mod">
          <ac:chgData name="leonardo piacente" userId="0add8016af67c0e5" providerId="LiveId" clId="{994E3866-4A8B-49AD-8470-DD5A17D5AD61}" dt="2022-03-08T12:33:19.884" v="162" actId="478"/>
          <ac:spMkLst>
            <pc:docMk/>
            <pc:sldMk cId="0" sldId="267"/>
            <ac:spMk id="2" creationId="{00000000-0000-0000-0000-000000000000}"/>
          </ac:spMkLst>
        </pc:spChg>
        <pc:spChg chg="mod">
          <ac:chgData name="leonardo piacente" userId="0add8016af67c0e5" providerId="LiveId" clId="{994E3866-4A8B-49AD-8470-DD5A17D5AD61}" dt="2022-03-10T10:43:33.806" v="379"/>
          <ac:spMkLst>
            <pc:docMk/>
            <pc:sldMk cId="0" sldId="267"/>
            <ac:spMk id="3" creationId="{00000000-0000-0000-0000-000000000000}"/>
          </ac:spMkLst>
        </pc:spChg>
      </pc:sldChg>
      <pc:sldChg chg="delSp modSp mod">
        <pc:chgData name="leonardo piacente" userId="0add8016af67c0e5" providerId="LiveId" clId="{994E3866-4A8B-49AD-8470-DD5A17D5AD61}" dt="2022-03-10T10:59:48.831" v="476" actId="207"/>
        <pc:sldMkLst>
          <pc:docMk/>
          <pc:sldMk cId="0" sldId="268"/>
        </pc:sldMkLst>
        <pc:spChg chg="del mod">
          <ac:chgData name="leonardo piacente" userId="0add8016af67c0e5" providerId="LiveId" clId="{994E3866-4A8B-49AD-8470-DD5A17D5AD61}" dt="2022-03-08T12:33:29.943" v="165" actId="478"/>
          <ac:spMkLst>
            <pc:docMk/>
            <pc:sldMk cId="0" sldId="268"/>
            <ac:spMk id="2" creationId="{00000000-0000-0000-0000-000000000000}"/>
          </ac:spMkLst>
        </pc:spChg>
        <pc:spChg chg="mod">
          <ac:chgData name="leonardo piacente" userId="0add8016af67c0e5" providerId="LiveId" clId="{994E3866-4A8B-49AD-8470-DD5A17D5AD61}" dt="2022-03-10T10:59:48.831" v="476" actId="207"/>
          <ac:spMkLst>
            <pc:docMk/>
            <pc:sldMk cId="0" sldId="268"/>
            <ac:spMk id="3" creationId="{00000000-0000-0000-0000-000000000000}"/>
          </ac:spMkLst>
        </pc:spChg>
      </pc:sldChg>
      <pc:sldChg chg="delSp modSp del mod">
        <pc:chgData name="leonardo piacente" userId="0add8016af67c0e5" providerId="LiveId" clId="{994E3866-4A8B-49AD-8470-DD5A17D5AD61}" dt="2022-03-08T12:41:23.528" v="258" actId="47"/>
        <pc:sldMkLst>
          <pc:docMk/>
          <pc:sldMk cId="0" sldId="269"/>
        </pc:sldMkLst>
        <pc:spChg chg="del mod">
          <ac:chgData name="leonardo piacente" userId="0add8016af67c0e5" providerId="LiveId" clId="{994E3866-4A8B-49AD-8470-DD5A17D5AD61}" dt="2022-03-08T12:33:49.476" v="169" actId="478"/>
          <ac:spMkLst>
            <pc:docMk/>
            <pc:sldMk cId="0" sldId="269"/>
            <ac:spMk id="2" creationId="{00000000-0000-0000-0000-000000000000}"/>
          </ac:spMkLst>
        </pc:spChg>
        <pc:spChg chg="mod">
          <ac:chgData name="leonardo piacente" userId="0add8016af67c0e5" providerId="LiveId" clId="{994E3866-4A8B-49AD-8470-DD5A17D5AD61}" dt="2022-03-08T12:38:52.792" v="230" actId="27636"/>
          <ac:spMkLst>
            <pc:docMk/>
            <pc:sldMk cId="0" sldId="269"/>
            <ac:spMk id="3" creationId="{00000000-0000-0000-0000-000000000000}"/>
          </ac:spMkLst>
        </pc:spChg>
      </pc:sldChg>
      <pc:sldChg chg="delSp modSp mod">
        <pc:chgData name="leonardo piacente" userId="0add8016af67c0e5" providerId="LiveId" clId="{994E3866-4A8B-49AD-8470-DD5A17D5AD61}" dt="2022-03-10T10:55:23.157" v="447" actId="6549"/>
        <pc:sldMkLst>
          <pc:docMk/>
          <pc:sldMk cId="0" sldId="270"/>
        </pc:sldMkLst>
        <pc:spChg chg="del mod">
          <ac:chgData name="leonardo piacente" userId="0add8016af67c0e5" providerId="LiveId" clId="{994E3866-4A8B-49AD-8470-DD5A17D5AD61}" dt="2022-03-08T12:34:00.412" v="173" actId="478"/>
          <ac:spMkLst>
            <pc:docMk/>
            <pc:sldMk cId="0" sldId="270"/>
            <ac:spMk id="2" creationId="{00000000-0000-0000-0000-000000000000}"/>
          </ac:spMkLst>
        </pc:spChg>
        <pc:spChg chg="mod">
          <ac:chgData name="leonardo piacente" userId="0add8016af67c0e5" providerId="LiveId" clId="{994E3866-4A8B-49AD-8470-DD5A17D5AD61}" dt="2022-03-10T10:55:23.157" v="447" actId="6549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leonardo piacente" userId="0add8016af67c0e5" providerId="LiveId" clId="{994E3866-4A8B-49AD-8470-DD5A17D5AD61}" dt="2022-03-08T12:54:29.327" v="269"/>
        <pc:sldMkLst>
          <pc:docMk/>
          <pc:sldMk cId="0" sldId="291"/>
        </pc:sldMkLst>
        <pc:spChg chg="mod">
          <ac:chgData name="leonardo piacente" userId="0add8016af67c0e5" providerId="LiveId" clId="{994E3866-4A8B-49AD-8470-DD5A17D5AD61}" dt="2022-03-08T12:54:29.327" v="269"/>
          <ac:spMkLst>
            <pc:docMk/>
            <pc:sldMk cId="0" sldId="291"/>
            <ac:spMk id="3" creationId="{00000000-0000-0000-0000-000000000000}"/>
          </ac:spMkLst>
        </pc:spChg>
      </pc:sldChg>
      <pc:sldChg chg="modSp mod">
        <pc:chgData name="leonardo piacente" userId="0add8016af67c0e5" providerId="LiveId" clId="{994E3866-4A8B-49AD-8470-DD5A17D5AD61}" dt="2022-03-09T10:37:02.922" v="281" actId="207"/>
        <pc:sldMkLst>
          <pc:docMk/>
          <pc:sldMk cId="0" sldId="292"/>
        </pc:sldMkLst>
        <pc:spChg chg="mod">
          <ac:chgData name="leonardo piacente" userId="0add8016af67c0e5" providerId="LiveId" clId="{994E3866-4A8B-49AD-8470-DD5A17D5AD61}" dt="2022-03-09T10:37:02.922" v="281" actId="207"/>
          <ac:spMkLst>
            <pc:docMk/>
            <pc:sldMk cId="0" sldId="292"/>
            <ac:spMk id="3" creationId="{00000000-0000-0000-0000-000000000000}"/>
          </ac:spMkLst>
        </pc:spChg>
      </pc:sldChg>
      <pc:sldChg chg="modSp mod">
        <pc:chgData name="leonardo piacente" userId="0add8016af67c0e5" providerId="LiveId" clId="{994E3866-4A8B-49AD-8470-DD5A17D5AD61}" dt="2022-03-09T10:37:36.190" v="284" actId="115"/>
        <pc:sldMkLst>
          <pc:docMk/>
          <pc:sldMk cId="0" sldId="293"/>
        </pc:sldMkLst>
        <pc:spChg chg="mod">
          <ac:chgData name="leonardo piacente" userId="0add8016af67c0e5" providerId="LiveId" clId="{994E3866-4A8B-49AD-8470-DD5A17D5AD61}" dt="2022-03-09T10:37:36.190" v="284" actId="115"/>
          <ac:spMkLst>
            <pc:docMk/>
            <pc:sldMk cId="0" sldId="293"/>
            <ac:spMk id="3" creationId="{00000000-0000-0000-0000-000000000000}"/>
          </ac:spMkLst>
        </pc:spChg>
      </pc:sldChg>
      <pc:sldChg chg="delSp modSp add mod">
        <pc:chgData name="leonardo piacente" userId="0add8016af67c0e5" providerId="LiveId" clId="{994E3866-4A8B-49AD-8470-DD5A17D5AD61}" dt="2022-03-09T10:42:13.833" v="310" actId="6549"/>
        <pc:sldMkLst>
          <pc:docMk/>
          <pc:sldMk cId="1547177015" sldId="294"/>
        </pc:sldMkLst>
        <pc:spChg chg="del mod">
          <ac:chgData name="leonardo piacente" userId="0add8016af67c0e5" providerId="LiveId" clId="{994E3866-4A8B-49AD-8470-DD5A17D5AD61}" dt="2022-03-04T10:38:30.576" v="73" actId="478"/>
          <ac:spMkLst>
            <pc:docMk/>
            <pc:sldMk cId="1547177015" sldId="294"/>
            <ac:spMk id="2" creationId="{00000000-0000-0000-0000-000000000000}"/>
          </ac:spMkLst>
        </pc:spChg>
        <pc:spChg chg="mod">
          <ac:chgData name="leonardo piacente" userId="0add8016af67c0e5" providerId="LiveId" clId="{994E3866-4A8B-49AD-8470-DD5A17D5AD61}" dt="2022-03-09T10:42:13.833" v="310" actId="6549"/>
          <ac:spMkLst>
            <pc:docMk/>
            <pc:sldMk cId="1547177015" sldId="294"/>
            <ac:spMk id="3" creationId="{00000000-0000-0000-0000-000000000000}"/>
          </ac:spMkLst>
        </pc:spChg>
      </pc:sldChg>
      <pc:sldChg chg="delSp modSp add mod">
        <pc:chgData name="leonardo piacente" userId="0add8016af67c0e5" providerId="LiveId" clId="{994E3866-4A8B-49AD-8470-DD5A17D5AD61}" dt="2022-03-09T10:39:40.080" v="290" actId="14100"/>
        <pc:sldMkLst>
          <pc:docMk/>
          <pc:sldMk cId="1309934307" sldId="295"/>
        </pc:sldMkLst>
        <pc:spChg chg="del">
          <ac:chgData name="leonardo piacente" userId="0add8016af67c0e5" providerId="LiveId" clId="{994E3866-4A8B-49AD-8470-DD5A17D5AD61}" dt="2022-03-03T10:39:45.613" v="29" actId="478"/>
          <ac:spMkLst>
            <pc:docMk/>
            <pc:sldMk cId="1309934307" sldId="295"/>
            <ac:spMk id="2" creationId="{00000000-0000-0000-0000-000000000000}"/>
          </ac:spMkLst>
        </pc:spChg>
        <pc:spChg chg="mod">
          <ac:chgData name="leonardo piacente" userId="0add8016af67c0e5" providerId="LiveId" clId="{994E3866-4A8B-49AD-8470-DD5A17D5AD61}" dt="2022-03-09T10:39:40.080" v="290" actId="14100"/>
          <ac:spMkLst>
            <pc:docMk/>
            <pc:sldMk cId="1309934307" sldId="295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03T11:01:37.495" v="43" actId="14100"/>
        <pc:sldMkLst>
          <pc:docMk/>
          <pc:sldMk cId="2541974733" sldId="296"/>
        </pc:sldMkLst>
        <pc:spChg chg="mod">
          <ac:chgData name="leonardo piacente" userId="0add8016af67c0e5" providerId="LiveId" clId="{994E3866-4A8B-49AD-8470-DD5A17D5AD61}" dt="2022-03-03T11:01:37.495" v="43" actId="14100"/>
          <ac:spMkLst>
            <pc:docMk/>
            <pc:sldMk cId="2541974733" sldId="296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09T10:41:20.290" v="301" actId="21"/>
        <pc:sldMkLst>
          <pc:docMk/>
          <pc:sldMk cId="1785021006" sldId="297"/>
        </pc:sldMkLst>
        <pc:spChg chg="mod">
          <ac:chgData name="leonardo piacente" userId="0add8016af67c0e5" providerId="LiveId" clId="{994E3866-4A8B-49AD-8470-DD5A17D5AD61}" dt="2022-03-09T10:41:20.290" v="301" actId="21"/>
          <ac:spMkLst>
            <pc:docMk/>
            <pc:sldMk cId="1785021006" sldId="297"/>
            <ac:spMk id="3" creationId="{00000000-0000-0000-0000-000000000000}"/>
          </ac:spMkLst>
        </pc:spChg>
      </pc:sldChg>
      <pc:sldChg chg="delSp modSp add mod">
        <pc:chgData name="leonardo piacente" userId="0add8016af67c0e5" providerId="LiveId" clId="{994E3866-4A8B-49AD-8470-DD5A17D5AD61}" dt="2022-03-08T12:30:13.189" v="141"/>
        <pc:sldMkLst>
          <pc:docMk/>
          <pc:sldMk cId="979159739" sldId="298"/>
        </pc:sldMkLst>
        <pc:spChg chg="del mod">
          <ac:chgData name="leonardo piacente" userId="0add8016af67c0e5" providerId="LiveId" clId="{994E3866-4A8B-49AD-8470-DD5A17D5AD61}" dt="2022-03-04T10:39:58.054" v="82" actId="478"/>
          <ac:spMkLst>
            <pc:docMk/>
            <pc:sldMk cId="979159739" sldId="298"/>
            <ac:spMk id="2" creationId="{00000000-0000-0000-0000-000000000000}"/>
          </ac:spMkLst>
        </pc:spChg>
        <pc:spChg chg="mod">
          <ac:chgData name="leonardo piacente" userId="0add8016af67c0e5" providerId="LiveId" clId="{994E3866-4A8B-49AD-8470-DD5A17D5AD61}" dt="2022-03-08T12:30:13.189" v="141"/>
          <ac:spMkLst>
            <pc:docMk/>
            <pc:sldMk cId="979159739" sldId="298"/>
            <ac:spMk id="3" creationId="{00000000-0000-0000-0000-000000000000}"/>
          </ac:spMkLst>
        </pc:spChg>
      </pc:sldChg>
      <pc:sldChg chg="add del">
        <pc:chgData name="leonardo piacente" userId="0add8016af67c0e5" providerId="LiveId" clId="{994E3866-4A8B-49AD-8470-DD5A17D5AD61}" dt="2022-03-04T10:42:06.447" v="95" actId="47"/>
        <pc:sldMkLst>
          <pc:docMk/>
          <pc:sldMk cId="83481084" sldId="299"/>
        </pc:sldMkLst>
      </pc:sldChg>
      <pc:sldChg chg="modSp add mod">
        <pc:chgData name="leonardo piacente" userId="0add8016af67c0e5" providerId="LiveId" clId="{994E3866-4A8B-49AD-8470-DD5A17D5AD61}" dt="2022-03-09T10:43:45.287" v="322" actId="21"/>
        <pc:sldMkLst>
          <pc:docMk/>
          <pc:sldMk cId="3224360534" sldId="300"/>
        </pc:sldMkLst>
        <pc:spChg chg="mod">
          <ac:chgData name="leonardo piacente" userId="0add8016af67c0e5" providerId="LiveId" clId="{994E3866-4A8B-49AD-8470-DD5A17D5AD61}" dt="2022-03-09T10:43:45.287" v="322" actId="21"/>
          <ac:spMkLst>
            <pc:docMk/>
            <pc:sldMk cId="3224360534" sldId="300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10T10:34:04.772" v="367" actId="20577"/>
        <pc:sldMkLst>
          <pc:docMk/>
          <pc:sldMk cId="3100846730" sldId="301"/>
        </pc:sldMkLst>
        <pc:spChg chg="mod">
          <ac:chgData name="leonardo piacente" userId="0add8016af67c0e5" providerId="LiveId" clId="{994E3866-4A8B-49AD-8470-DD5A17D5AD61}" dt="2022-03-10T10:34:04.772" v="367" actId="20577"/>
          <ac:spMkLst>
            <pc:docMk/>
            <pc:sldMk cId="3100846730" sldId="301"/>
            <ac:spMk id="3" creationId="{00000000-0000-0000-0000-000000000000}"/>
          </ac:spMkLst>
        </pc:spChg>
      </pc:sldChg>
      <pc:sldChg chg="modSp add del mod">
        <pc:chgData name="leonardo piacente" userId="0add8016af67c0e5" providerId="LiveId" clId="{994E3866-4A8B-49AD-8470-DD5A17D5AD61}" dt="2022-03-10T10:42:51.555" v="369" actId="47"/>
        <pc:sldMkLst>
          <pc:docMk/>
          <pc:sldMk cId="149344383" sldId="302"/>
        </pc:sldMkLst>
        <pc:spChg chg="mod">
          <ac:chgData name="leonardo piacente" userId="0add8016af67c0e5" providerId="LiveId" clId="{994E3866-4A8B-49AD-8470-DD5A17D5AD61}" dt="2022-03-08T12:34:58.375" v="179"/>
          <ac:spMkLst>
            <pc:docMk/>
            <pc:sldMk cId="149344383" sldId="302"/>
            <ac:spMk id="3" creationId="{00000000-0000-0000-0000-000000000000}"/>
          </ac:spMkLst>
        </pc:spChg>
      </pc:sldChg>
      <pc:sldChg chg="modSp add del mod">
        <pc:chgData name="leonardo piacente" userId="0add8016af67c0e5" providerId="LiveId" clId="{994E3866-4A8B-49AD-8470-DD5A17D5AD61}" dt="2022-03-10T10:42:51.555" v="369" actId="47"/>
        <pc:sldMkLst>
          <pc:docMk/>
          <pc:sldMk cId="1808486210" sldId="303"/>
        </pc:sldMkLst>
        <pc:spChg chg="mod">
          <ac:chgData name="leonardo piacente" userId="0add8016af67c0e5" providerId="LiveId" clId="{994E3866-4A8B-49AD-8470-DD5A17D5AD61}" dt="2022-03-08T12:34:54.466" v="178" actId="255"/>
          <ac:spMkLst>
            <pc:docMk/>
            <pc:sldMk cId="1808486210" sldId="303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10T10:53:03.355" v="432" actId="115"/>
        <pc:sldMkLst>
          <pc:docMk/>
          <pc:sldMk cId="4012327793" sldId="304"/>
        </pc:sldMkLst>
        <pc:spChg chg="mod">
          <ac:chgData name="leonardo piacente" userId="0add8016af67c0e5" providerId="LiveId" clId="{994E3866-4A8B-49AD-8470-DD5A17D5AD61}" dt="2022-03-10T10:53:03.355" v="432" actId="115"/>
          <ac:spMkLst>
            <pc:docMk/>
            <pc:sldMk cId="4012327793" sldId="304"/>
            <ac:spMk id="3" creationId="{00000000-0000-0000-0000-000000000000}"/>
          </ac:spMkLst>
        </pc:spChg>
      </pc:sldChg>
      <pc:sldChg chg="modSp add mod ord">
        <pc:chgData name="leonardo piacente" userId="0add8016af67c0e5" providerId="LiveId" clId="{994E3866-4A8B-49AD-8470-DD5A17D5AD61}" dt="2022-03-10T11:00:48.725" v="481"/>
        <pc:sldMkLst>
          <pc:docMk/>
          <pc:sldMk cId="4114175105" sldId="305"/>
        </pc:sldMkLst>
        <pc:spChg chg="mod">
          <ac:chgData name="leonardo piacente" userId="0add8016af67c0e5" providerId="LiveId" clId="{994E3866-4A8B-49AD-8470-DD5A17D5AD61}" dt="2022-03-10T11:00:48.725" v="481"/>
          <ac:spMkLst>
            <pc:docMk/>
            <pc:sldMk cId="4114175105" sldId="305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09T10:40:04.955" v="295" actId="255"/>
        <pc:sldMkLst>
          <pc:docMk/>
          <pc:sldMk cId="1819966179" sldId="306"/>
        </pc:sldMkLst>
        <pc:spChg chg="mod">
          <ac:chgData name="leonardo piacente" userId="0add8016af67c0e5" providerId="LiveId" clId="{994E3866-4A8B-49AD-8470-DD5A17D5AD61}" dt="2022-03-09T10:40:04.955" v="295" actId="255"/>
          <ac:spMkLst>
            <pc:docMk/>
            <pc:sldMk cId="1819966179" sldId="306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09T10:43:27.465" v="321" actId="255"/>
        <pc:sldMkLst>
          <pc:docMk/>
          <pc:sldMk cId="3629441434" sldId="307"/>
        </pc:sldMkLst>
        <pc:spChg chg="mod">
          <ac:chgData name="leonardo piacente" userId="0add8016af67c0e5" providerId="LiveId" clId="{994E3866-4A8B-49AD-8470-DD5A17D5AD61}" dt="2022-03-09T10:43:27.465" v="321" actId="255"/>
          <ac:spMkLst>
            <pc:docMk/>
            <pc:sldMk cId="3629441434" sldId="307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10T10:58:50.264" v="469" actId="207"/>
        <pc:sldMkLst>
          <pc:docMk/>
          <pc:sldMk cId="1058186138" sldId="308"/>
        </pc:sldMkLst>
        <pc:spChg chg="mod">
          <ac:chgData name="leonardo piacente" userId="0add8016af67c0e5" providerId="LiveId" clId="{994E3866-4A8B-49AD-8470-DD5A17D5AD61}" dt="2022-03-10T10:58:50.264" v="469" actId="207"/>
          <ac:spMkLst>
            <pc:docMk/>
            <pc:sldMk cId="1058186138" sldId="308"/>
            <ac:spMk id="3" creationId="{00000000-0000-0000-0000-000000000000}"/>
          </ac:spMkLst>
        </pc:spChg>
      </pc:sldChg>
      <pc:sldChg chg="add del">
        <pc:chgData name="leonardo piacente" userId="0add8016af67c0e5" providerId="LiveId" clId="{994E3866-4A8B-49AD-8470-DD5A17D5AD61}" dt="2022-03-10T10:42:51.555" v="369" actId="47"/>
        <pc:sldMkLst>
          <pc:docMk/>
          <pc:sldMk cId="3497674435" sldId="308"/>
        </pc:sldMkLst>
      </pc:sldChg>
      <pc:sldChg chg="modSp add mod">
        <pc:chgData name="leonardo piacente" userId="0add8016af67c0e5" providerId="LiveId" clId="{994E3866-4A8B-49AD-8470-DD5A17D5AD61}" dt="2022-03-10T11:00:18.258" v="479" actId="255"/>
        <pc:sldMkLst>
          <pc:docMk/>
          <pc:sldMk cId="855759701" sldId="309"/>
        </pc:sldMkLst>
        <pc:spChg chg="mod">
          <ac:chgData name="leonardo piacente" userId="0add8016af67c0e5" providerId="LiveId" clId="{994E3866-4A8B-49AD-8470-DD5A17D5AD61}" dt="2022-03-10T11:00:18.258" v="479" actId="255"/>
          <ac:spMkLst>
            <pc:docMk/>
            <pc:sldMk cId="855759701" sldId="309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10T10:47:24.362" v="405" actId="207"/>
        <pc:sldMkLst>
          <pc:docMk/>
          <pc:sldMk cId="1081763349" sldId="310"/>
        </pc:sldMkLst>
        <pc:spChg chg="mod">
          <ac:chgData name="leonardo piacente" userId="0add8016af67c0e5" providerId="LiveId" clId="{994E3866-4A8B-49AD-8470-DD5A17D5AD61}" dt="2022-03-10T10:47:24.362" v="405" actId="207"/>
          <ac:spMkLst>
            <pc:docMk/>
            <pc:sldMk cId="1081763349" sldId="310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10T10:50:08.249" v="419" actId="20577"/>
        <pc:sldMkLst>
          <pc:docMk/>
          <pc:sldMk cId="659324704" sldId="311"/>
        </pc:sldMkLst>
        <pc:spChg chg="mod">
          <ac:chgData name="leonardo piacente" userId="0add8016af67c0e5" providerId="LiveId" clId="{994E3866-4A8B-49AD-8470-DD5A17D5AD61}" dt="2022-03-10T10:50:08.249" v="419" actId="20577"/>
          <ac:spMkLst>
            <pc:docMk/>
            <pc:sldMk cId="659324704" sldId="311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10T10:53:43.360" v="437" actId="207"/>
        <pc:sldMkLst>
          <pc:docMk/>
          <pc:sldMk cId="1419264027" sldId="312"/>
        </pc:sldMkLst>
        <pc:spChg chg="mod">
          <ac:chgData name="leonardo piacente" userId="0add8016af67c0e5" providerId="LiveId" clId="{994E3866-4A8B-49AD-8470-DD5A17D5AD61}" dt="2022-03-10T10:53:43.360" v="437" actId="207"/>
          <ac:spMkLst>
            <pc:docMk/>
            <pc:sldMk cId="1419264027" sldId="312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10T10:56:47.692" v="461"/>
        <pc:sldMkLst>
          <pc:docMk/>
          <pc:sldMk cId="3268383107" sldId="313"/>
        </pc:sldMkLst>
        <pc:spChg chg="mod">
          <ac:chgData name="leonardo piacente" userId="0add8016af67c0e5" providerId="LiveId" clId="{994E3866-4A8B-49AD-8470-DD5A17D5AD61}" dt="2022-03-10T10:56:47.692" v="461"/>
          <ac:spMkLst>
            <pc:docMk/>
            <pc:sldMk cId="3268383107" sldId="313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10T10:55:55.085" v="451" actId="20577"/>
        <pc:sldMkLst>
          <pc:docMk/>
          <pc:sldMk cId="1407794690" sldId="314"/>
        </pc:sldMkLst>
        <pc:spChg chg="mod">
          <ac:chgData name="leonardo piacente" userId="0add8016af67c0e5" providerId="LiveId" clId="{994E3866-4A8B-49AD-8470-DD5A17D5AD61}" dt="2022-03-10T10:55:55.085" v="451" actId="20577"/>
          <ac:spMkLst>
            <pc:docMk/>
            <pc:sldMk cId="1407794690" sldId="314"/>
            <ac:spMk id="3" creationId="{00000000-0000-0000-0000-000000000000}"/>
          </ac:spMkLst>
        </pc:spChg>
      </pc:sldChg>
      <pc:sldChg chg="modSp add mod">
        <pc:chgData name="leonardo piacente" userId="0add8016af67c0e5" providerId="LiveId" clId="{994E3866-4A8B-49AD-8470-DD5A17D5AD61}" dt="2022-03-10T10:57:14.380" v="465" actId="207"/>
        <pc:sldMkLst>
          <pc:docMk/>
          <pc:sldMk cId="3482105242" sldId="315"/>
        </pc:sldMkLst>
        <pc:spChg chg="mod">
          <ac:chgData name="leonardo piacente" userId="0add8016af67c0e5" providerId="LiveId" clId="{994E3866-4A8B-49AD-8470-DD5A17D5AD61}" dt="2022-03-10T10:57:14.380" v="465" actId="207"/>
          <ac:spMkLst>
            <pc:docMk/>
            <pc:sldMk cId="3482105242" sldId="31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FD500D7-700D-4B22-89BF-1310AD228B13}" type="datetimeFigureOut">
              <a:rPr lang="pt-BR" smtClean="0"/>
              <a:t>14/03/2022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tângulo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tângulo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ector reto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ector reto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tângulo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AECB98BA-A61C-4687-ABC8-FFFB06990C82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FD500D7-700D-4B22-89BF-1310AD228B13}" type="datetimeFigureOut">
              <a:rPr lang="pt-BR" smtClean="0"/>
              <a:t>14/03/2022</a:t>
            </a:fld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ECB98BA-A61C-4687-ABC8-FFFB06990C82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FD500D7-700D-4B22-89BF-1310AD228B13}" type="datetimeFigureOut">
              <a:rPr lang="pt-BR" smtClean="0"/>
              <a:t>14/03/2022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pt-BR"/>
          </a:p>
        </p:txBody>
      </p:sp>
      <p:sp>
        <p:nvSpPr>
          <p:cNvPr id="9" name="Retângulo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ector reto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ector reto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tângulo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ector reto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AECB98BA-A61C-4687-ABC8-FFFB06990C82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00D7-700D-4B22-89BF-1310AD228B13}" type="datetimeFigureOut">
              <a:rPr lang="pt-BR" smtClean="0"/>
              <a:t>14/03/2022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98BA-A61C-4687-ABC8-FFFB06990C82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00D7-700D-4B22-89BF-1310AD228B13}" type="datetimeFigureOut">
              <a:rPr lang="pt-BR" smtClean="0"/>
              <a:t>14/03/2022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98BA-A61C-4687-ABC8-FFFB06990C82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6" name="Espaço Reservado para Data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FD500D7-700D-4B22-89BF-1310AD228B13}" type="datetimeFigureOut">
              <a:rPr lang="pt-BR" smtClean="0"/>
              <a:t>14/03/2022</a:t>
            </a:fld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ECB98BA-A61C-4687-ABC8-FFFB06990C82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00D7-700D-4B22-89BF-1310AD228B13}" type="datetimeFigureOut">
              <a:rPr lang="pt-BR" smtClean="0"/>
              <a:t>14/03/2022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98BA-A61C-4687-ABC8-FFFB06990C8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tângulo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ço Reservado para Conteúdo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21" name="Espaço Reservado para Data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FD500D7-700D-4B22-89BF-1310AD228B13}" type="datetimeFigureOut">
              <a:rPr lang="pt-BR" smtClean="0"/>
              <a:t>14/03/2022</a:t>
            </a:fld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AECB98BA-A61C-4687-ABC8-FFFB06990C82}" type="slidenum">
              <a:rPr lang="pt-BR" smtClean="0"/>
              <a:t>‹nº›</a:t>
            </a:fld>
            <a:endParaRPr lang="pt-BR"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ector reto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ector reto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ector reto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ço Reservado para Data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FD500D7-700D-4B22-89BF-1310AD228B13}" type="datetimeFigureOut">
              <a:rPr lang="pt-BR" smtClean="0"/>
              <a:t>14/03/2022</a:t>
            </a:fld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ECB98BA-A61C-4687-ABC8-FFFB06990C82}" type="slidenum">
              <a:rPr lang="pt-BR" smtClean="0"/>
              <a:t>‹nº›</a:t>
            </a:fld>
            <a:endParaRPr lang="pt-BR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00D7-700D-4B22-89BF-1310AD228B13}" type="datetimeFigureOut">
              <a:rPr lang="pt-BR" smtClean="0"/>
              <a:t>14/03/2022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98BA-A61C-4687-ABC8-FFFB06990C8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00D7-700D-4B22-89BF-1310AD228B13}" type="datetimeFigureOut">
              <a:rPr lang="pt-BR" smtClean="0"/>
              <a:t>14/03/2022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B98BA-A61C-4687-ABC8-FFFB06990C82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ector reto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FD500D7-700D-4B22-89BF-1310AD228B13}" type="datetimeFigureOut">
              <a:rPr lang="pt-BR" smtClean="0"/>
              <a:t>14/03/2022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tângulo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ector reto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ECB98BA-A61C-4687-ABC8-FFFB06990C82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Ética e Moralidade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Breve panorama histórico da Ética</a:t>
            </a:r>
          </a:p>
          <a:p>
            <a:r>
              <a:rPr lang="pt-BR" dirty="0"/>
              <a:t>Franklin Leopoldo e Silva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72452" cy="796908"/>
          </a:xfrm>
        </p:spPr>
        <p:txBody>
          <a:bodyPr/>
          <a:lstStyle/>
          <a:p>
            <a:r>
              <a:rPr lang="pt-BR" dirty="0"/>
              <a:t>Ética: primórdio da reflexão ocidental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285860"/>
            <a:ext cx="8329642" cy="5188092"/>
          </a:xfrm>
        </p:spPr>
        <p:txBody>
          <a:bodyPr>
            <a:noAutofit/>
          </a:bodyPr>
          <a:lstStyle/>
          <a:p>
            <a:endParaRPr lang="pt-BR" sz="3000" dirty="0"/>
          </a:p>
          <a:p>
            <a:endParaRPr lang="pt-BR" sz="3000" dirty="0"/>
          </a:p>
          <a:p>
            <a:r>
              <a:rPr lang="pt-BR" sz="3000" dirty="0"/>
              <a:t>Dentre todas </a:t>
            </a:r>
            <a:r>
              <a:rPr lang="pt-BR" sz="3000" b="1" dirty="0"/>
              <a:t>as preocupações que motivaram a reflexão desde os PRIMÓRDIOS DA CULTURA OCIDENTAL</a:t>
            </a:r>
            <a:r>
              <a:rPr lang="pt-BR" sz="3000" dirty="0"/>
              <a:t>, é bem possível que a </a:t>
            </a:r>
            <a:r>
              <a:rPr lang="pt-BR" sz="3000" b="1" dirty="0">
                <a:solidFill>
                  <a:srgbClr val="FF0000"/>
                </a:solidFill>
              </a:rPr>
              <a:t>ÉTICA</a:t>
            </a:r>
            <a:r>
              <a:rPr lang="pt-BR" sz="3000" dirty="0"/>
              <a:t> tenha sido a primeira.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72452" cy="796908"/>
          </a:xfrm>
        </p:spPr>
        <p:txBody>
          <a:bodyPr/>
          <a:lstStyle/>
          <a:p>
            <a:r>
              <a:rPr lang="pt-BR" dirty="0"/>
              <a:t>Ética: primórdio da reflexão ocidental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285860"/>
            <a:ext cx="8329642" cy="5188092"/>
          </a:xfrm>
        </p:spPr>
        <p:txBody>
          <a:bodyPr>
            <a:noAutofit/>
          </a:bodyPr>
          <a:lstStyle/>
          <a:p>
            <a:r>
              <a:rPr lang="pt-BR" sz="2700" dirty="0"/>
              <a:t>Por tudo o que se conhece da </a:t>
            </a:r>
            <a:r>
              <a:rPr lang="pt-BR" sz="2700" b="1" dirty="0"/>
              <a:t>civilização grega em seus períodos mais arcaicos</a:t>
            </a:r>
            <a:r>
              <a:rPr lang="pt-BR" sz="2700" dirty="0"/>
              <a:t>, sabe-se que: </a:t>
            </a:r>
          </a:p>
          <a:p>
            <a:r>
              <a:rPr lang="pt-BR" sz="2700" b="1" dirty="0"/>
              <a:t>as elaborações místicas, </a:t>
            </a:r>
          </a:p>
          <a:p>
            <a:r>
              <a:rPr lang="pt-BR" sz="2700" b="1" dirty="0">
                <a:solidFill>
                  <a:srgbClr val="FF0000"/>
                </a:solidFill>
              </a:rPr>
              <a:t>as religiões, </a:t>
            </a:r>
          </a:p>
          <a:p>
            <a:r>
              <a:rPr lang="pt-BR" sz="2700" b="1" dirty="0"/>
              <a:t>a poesia, </a:t>
            </a:r>
          </a:p>
          <a:p>
            <a:r>
              <a:rPr lang="pt-BR" sz="2700" b="1" dirty="0">
                <a:solidFill>
                  <a:srgbClr val="FF0000"/>
                </a:solidFill>
              </a:rPr>
              <a:t>a tragédia, </a:t>
            </a:r>
          </a:p>
          <a:p>
            <a:r>
              <a:rPr lang="pt-BR" sz="2700" b="1" dirty="0"/>
              <a:t>a organização da vida política </a:t>
            </a:r>
          </a:p>
          <a:p>
            <a:r>
              <a:rPr lang="pt-BR" sz="2700" dirty="0"/>
              <a:t>E OUTRAS MANIFESTAÇÕES DO PENSAMENTO OCUPAVAM-SE INTENSAMENTE </a:t>
            </a:r>
            <a:r>
              <a:rPr lang="pt-BR" sz="2700" b="1" dirty="0">
                <a:solidFill>
                  <a:srgbClr val="FF0000"/>
                </a:solidFill>
              </a:rPr>
              <a:t>COM O SIGNIFICADO ÉTICO DA VIDA HUMANA.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72452" cy="796908"/>
          </a:xfrm>
        </p:spPr>
        <p:txBody>
          <a:bodyPr/>
          <a:lstStyle/>
          <a:p>
            <a:r>
              <a:rPr lang="pt-BR" dirty="0"/>
              <a:t>Ética: primórdio da reflexão ocidental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142984"/>
            <a:ext cx="8329642" cy="5330968"/>
          </a:xfrm>
        </p:spPr>
        <p:txBody>
          <a:bodyPr>
            <a:normAutofit/>
          </a:bodyPr>
          <a:lstStyle/>
          <a:p>
            <a:endParaRPr lang="pt-BR" sz="3000" dirty="0"/>
          </a:p>
          <a:p>
            <a:r>
              <a:rPr lang="pt-BR" sz="3000" dirty="0"/>
              <a:t>Quando nos voltamos para as primeiras tentativas de </a:t>
            </a:r>
            <a:r>
              <a:rPr lang="pt-BR" sz="3000" b="1" dirty="0">
                <a:solidFill>
                  <a:srgbClr val="FF0000"/>
                </a:solidFill>
              </a:rPr>
              <a:t>ordenação do pensamento em função da explicação do mundo e do lugar que o homem nele ocupa</a:t>
            </a:r>
            <a:r>
              <a:rPr lang="pt-BR" sz="3000" dirty="0"/>
              <a:t>, notamos imediatamente a mescla dos objetivos de compreensão do cosmos, como ordem física, com a preocupação em atingir os princípios de caráter ético que fundamentam e governam a organização do universo.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72452" cy="796908"/>
          </a:xfrm>
        </p:spPr>
        <p:txBody>
          <a:bodyPr/>
          <a:lstStyle/>
          <a:p>
            <a:r>
              <a:rPr lang="pt-BR" dirty="0"/>
              <a:t>Ética: primórdio da reflexão ocidental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142984"/>
            <a:ext cx="8329642" cy="5330968"/>
          </a:xfrm>
        </p:spPr>
        <p:txBody>
          <a:bodyPr>
            <a:normAutofit/>
          </a:bodyPr>
          <a:lstStyle/>
          <a:p>
            <a:endParaRPr lang="pt-BR" sz="3000" b="1" dirty="0"/>
          </a:p>
          <a:p>
            <a:r>
              <a:rPr lang="pt-BR" sz="3000" b="1" dirty="0"/>
              <a:t>Tanto é assim que não se pode separar com exatidão </a:t>
            </a:r>
          </a:p>
          <a:p>
            <a:r>
              <a:rPr lang="pt-BR" sz="3000" b="1" dirty="0"/>
              <a:t>O </a:t>
            </a:r>
            <a:r>
              <a:rPr lang="pt-BR" sz="3000" b="1" dirty="0">
                <a:solidFill>
                  <a:srgbClr val="FF0000"/>
                </a:solidFill>
              </a:rPr>
              <a:t>CONHECIMENTO FÍSICO</a:t>
            </a:r>
            <a:r>
              <a:rPr lang="pt-BR" sz="3000" b="1" dirty="0"/>
              <a:t> DA REFLEXÃO ACERCA DOS </a:t>
            </a:r>
            <a:r>
              <a:rPr lang="pt-BR" sz="3000" b="1" dirty="0">
                <a:solidFill>
                  <a:srgbClr val="FF0000"/>
                </a:solidFill>
              </a:rPr>
              <a:t>VALORES</a:t>
            </a:r>
            <a:r>
              <a:rPr lang="pt-BR" sz="3000" b="1" dirty="0"/>
              <a:t> INTRINSECAMENTE LIGADOS À DINÂMICA DO MUNDO NATURAL.</a:t>
            </a:r>
          </a:p>
          <a:p>
            <a:endParaRPr lang="pt-BR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11222"/>
          </a:xfrm>
        </p:spPr>
        <p:txBody>
          <a:bodyPr/>
          <a:lstStyle/>
          <a:p>
            <a:r>
              <a:rPr lang="pt-BR" dirty="0"/>
              <a:t>Mundo natural e Ser Humano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4282" y="1571612"/>
            <a:ext cx="8401080" cy="4902340"/>
          </a:xfrm>
        </p:spPr>
        <p:txBody>
          <a:bodyPr>
            <a:normAutofit/>
          </a:bodyPr>
          <a:lstStyle/>
          <a:p>
            <a:r>
              <a:rPr lang="pt-BR" sz="3000" dirty="0"/>
              <a:t>Isto nos revela que o </a:t>
            </a:r>
            <a:r>
              <a:rPr lang="pt-BR" sz="3000" b="1" dirty="0"/>
              <a:t>saber no estágio de suas primeiras organizações sistemáticas</a:t>
            </a:r>
            <a:r>
              <a:rPr lang="pt-BR" sz="3000" dirty="0"/>
              <a:t> </a:t>
            </a:r>
            <a:r>
              <a:rPr lang="pt-BR" sz="3000" b="1" dirty="0"/>
              <a:t>NÃO SEPARAVA</a:t>
            </a:r>
            <a:r>
              <a:rPr lang="pt-BR" sz="3000" dirty="0"/>
              <a:t> nitidamente, como o fazemos hoje, </a:t>
            </a:r>
            <a:r>
              <a:rPr lang="pt-BR" sz="3000" b="1" dirty="0">
                <a:solidFill>
                  <a:srgbClr val="FF0000"/>
                </a:solidFill>
              </a:rPr>
              <a:t>o mundo natural do homem que o habita. </a:t>
            </a:r>
          </a:p>
          <a:p>
            <a:r>
              <a:rPr lang="pt-BR" sz="3000" dirty="0"/>
              <a:t>E isto muito simplesmente porque se considerava que </a:t>
            </a:r>
            <a:r>
              <a:rPr lang="pt-BR" sz="3000" b="1" dirty="0"/>
              <a:t>O SER HUMANO ESTAVA NO MUNDO EM HARMONIA</a:t>
            </a:r>
            <a:r>
              <a:rPr lang="pt-BR" sz="3000" dirty="0"/>
              <a:t> </a:t>
            </a:r>
            <a:r>
              <a:rPr lang="pt-BR" sz="3000" b="1" dirty="0"/>
              <a:t>com as leis mais profundas que regem a totalidade das coisas.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11222"/>
          </a:xfrm>
        </p:spPr>
        <p:txBody>
          <a:bodyPr/>
          <a:lstStyle/>
          <a:p>
            <a:r>
              <a:rPr lang="pt-BR" dirty="0"/>
              <a:t>Mundo natural e Ser Humano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4282" y="1571612"/>
            <a:ext cx="8401080" cy="4902340"/>
          </a:xfrm>
        </p:spPr>
        <p:txBody>
          <a:bodyPr>
            <a:normAutofit/>
          </a:bodyPr>
          <a:lstStyle/>
          <a:p>
            <a:r>
              <a:rPr lang="pt-BR" sz="3000" b="1" dirty="0"/>
              <a:t>AS CONJUNÇÕES, OPOSIÇÕES, CONFLITOS E SÍNTESES </a:t>
            </a:r>
          </a:p>
          <a:p>
            <a:r>
              <a:rPr lang="pt-BR" sz="3000" b="1" dirty="0">
                <a:solidFill>
                  <a:srgbClr val="FF0000"/>
                </a:solidFill>
              </a:rPr>
              <a:t>responsáveis pela disposição atual do cosmos, pela origem dos elementos e pelos ciclos que demarcam as idades físicas do universo</a:t>
            </a:r>
            <a:r>
              <a:rPr lang="pt-BR" sz="3000" dirty="0"/>
              <a:t> </a:t>
            </a:r>
          </a:p>
          <a:p>
            <a:r>
              <a:rPr lang="pt-BR" sz="3000" dirty="0"/>
              <a:t>reproduziam-se, como num microcosmo, no </a:t>
            </a:r>
            <a:r>
              <a:rPr lang="pt-BR" sz="3000" b="1" dirty="0"/>
              <a:t>DESENVOLVIMENTO FÍSICO E MORAL DOS INDIVÍDUOS.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11222"/>
          </a:xfrm>
        </p:spPr>
        <p:txBody>
          <a:bodyPr/>
          <a:lstStyle/>
          <a:p>
            <a:r>
              <a:rPr lang="pt-BR" dirty="0"/>
              <a:t>Mundo natural e Ser Humano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4282" y="1571612"/>
            <a:ext cx="8401080" cy="4902340"/>
          </a:xfrm>
        </p:spPr>
        <p:txBody>
          <a:bodyPr>
            <a:normAutofit/>
          </a:bodyPr>
          <a:lstStyle/>
          <a:p>
            <a:r>
              <a:rPr lang="pt-BR" sz="3000" dirty="0"/>
              <a:t>Assim, </a:t>
            </a:r>
          </a:p>
          <a:p>
            <a:r>
              <a:rPr lang="pt-BR" sz="3000" b="1" dirty="0"/>
              <a:t>O CONHECIMENTO DA PERFEIÇÃO NATURAL DO UNIVERSO ERA INSEPARÁVEL DA CONSIDERAÇÃO DA PERFEIÇÃO MORAL</a:t>
            </a:r>
            <a:r>
              <a:rPr lang="pt-BR" sz="3000" dirty="0"/>
              <a:t> </a:t>
            </a:r>
          </a:p>
          <a:p>
            <a:r>
              <a:rPr lang="pt-BR" sz="3000" dirty="0"/>
              <a:t>de que ele se revestia, a ponto de o homem ter, diante de si, na </a:t>
            </a:r>
            <a:r>
              <a:rPr lang="pt-BR" sz="3000" b="1" dirty="0">
                <a:solidFill>
                  <a:srgbClr val="FF0000"/>
                </a:solidFill>
              </a:rPr>
              <a:t>ORGANIZAÇÃO COSMOLÓGICA</a:t>
            </a:r>
            <a:r>
              <a:rPr lang="pt-BR" sz="3000" dirty="0"/>
              <a:t>, </a:t>
            </a:r>
            <a:r>
              <a:rPr lang="pt-BR" sz="3000" b="1" dirty="0"/>
              <a:t>um modelo pelo qual guiar-se na tentativa de atingir a perfeição pessoal, no sentido ético.</a:t>
            </a:r>
            <a:r>
              <a:rPr lang="pt-BR" sz="3000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54032"/>
          </a:xfrm>
        </p:spPr>
        <p:txBody>
          <a:bodyPr/>
          <a:lstStyle/>
          <a:p>
            <a:r>
              <a:rPr lang="pt-BR" dirty="0"/>
              <a:t>Mundo natural e Ser Humano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4282" y="1142984"/>
            <a:ext cx="8401080" cy="5330968"/>
          </a:xfrm>
        </p:spPr>
        <p:txBody>
          <a:bodyPr>
            <a:noAutofit/>
          </a:bodyPr>
          <a:lstStyle/>
          <a:p>
            <a:r>
              <a:rPr lang="pt-BR" sz="2700" dirty="0"/>
              <a:t>Dai a </a:t>
            </a:r>
            <a:r>
              <a:rPr lang="pt-BR" sz="2700" b="1" dirty="0"/>
              <a:t>INDISSOCIABILIDADE ENTRE A VERDADE E O BEM NA FILOSOFIA PLATÔNICA</a:t>
            </a:r>
            <a:r>
              <a:rPr lang="pt-BR" sz="2700" dirty="0"/>
              <a:t>, </a:t>
            </a:r>
          </a:p>
          <a:p>
            <a:r>
              <a:rPr lang="pt-BR" sz="2700" dirty="0"/>
              <a:t>idéias que encerravam em si os mais elevados critérios de equilíbrio, perfectibilidade e harmonia, </a:t>
            </a:r>
          </a:p>
          <a:p>
            <a:r>
              <a:rPr lang="pt-BR" sz="2700" dirty="0"/>
              <a:t>de tal modo que </a:t>
            </a:r>
            <a:r>
              <a:rPr lang="pt-BR" sz="2700" b="1" dirty="0"/>
              <a:t>O CONHECIMENTO DO MUNDO E DO HOMEM</a:t>
            </a:r>
            <a:r>
              <a:rPr lang="pt-BR" sz="2700" dirty="0"/>
              <a:t> envolvia substancialmente a avaliação do </a:t>
            </a:r>
            <a:r>
              <a:rPr lang="pt-BR" sz="2700" b="1" dirty="0">
                <a:solidFill>
                  <a:srgbClr val="FF0000"/>
                </a:solidFill>
              </a:rPr>
              <a:t>grau de correspondência entre a vida natural e esses paradigmas que forneciam a medida da perfeição em todos os aspectos.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829576" cy="725470"/>
          </a:xfrm>
        </p:spPr>
        <p:txBody>
          <a:bodyPr/>
          <a:lstStyle/>
          <a:p>
            <a:r>
              <a:rPr lang="pt-BR" dirty="0"/>
              <a:t>Harmonia entre Ser Humano e Cosmos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401080" cy="5357850"/>
          </a:xfrm>
        </p:spPr>
        <p:txBody>
          <a:bodyPr>
            <a:normAutofit/>
          </a:bodyPr>
          <a:lstStyle/>
          <a:p>
            <a:r>
              <a:rPr lang="pt-BR" sz="3000" dirty="0"/>
              <a:t>Mesmo quando o conhecimento, com Aristóteles, se voltou para uma </a:t>
            </a:r>
          </a:p>
          <a:p>
            <a:r>
              <a:rPr lang="pt-BR" sz="3000" b="1" dirty="0"/>
              <a:t>maior compatibilização da generalidade ideal com a diversidade</a:t>
            </a:r>
            <a:r>
              <a:rPr lang="pt-BR" sz="3000" dirty="0"/>
              <a:t>, </a:t>
            </a:r>
          </a:p>
          <a:p>
            <a:r>
              <a:rPr lang="pt-BR" sz="3000" dirty="0"/>
              <a:t>a </a:t>
            </a:r>
            <a:r>
              <a:rPr lang="pt-BR" sz="3000" b="1" dirty="0">
                <a:solidFill>
                  <a:srgbClr val="FF0000"/>
                </a:solidFill>
              </a:rPr>
              <a:t>particularidade e a contingência próprias do mundo factual</a:t>
            </a:r>
            <a:r>
              <a:rPr lang="pt-BR" sz="3000" dirty="0"/>
              <a:t>, </a:t>
            </a:r>
          </a:p>
          <a:p>
            <a:r>
              <a:rPr lang="pt-BR" sz="3000" b="1" dirty="0"/>
              <a:t>A HARMONIA ENTRE O HOMEM E A TOTALIDADE DO COSMOS PERMANECEU COMO CRITÉRIO ÉTICO</a:t>
            </a:r>
            <a:r>
              <a:rPr lang="pt-BR" sz="3000" dirty="0"/>
              <a:t>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829576" cy="725470"/>
          </a:xfrm>
        </p:spPr>
        <p:txBody>
          <a:bodyPr/>
          <a:lstStyle/>
          <a:p>
            <a:r>
              <a:rPr lang="pt-BR" dirty="0"/>
              <a:t>Harmonia entre Ser Humano e Cosmos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401080" cy="5357850"/>
          </a:xfrm>
        </p:spPr>
        <p:txBody>
          <a:bodyPr>
            <a:normAutofit/>
          </a:bodyPr>
          <a:lstStyle/>
          <a:p>
            <a:endParaRPr lang="pt-BR" sz="3000" b="1" dirty="0"/>
          </a:p>
          <a:p>
            <a:r>
              <a:rPr lang="pt-BR" sz="3000" b="1" dirty="0"/>
              <a:t>Apenas se entendeu que nos assuntos relativos aos valores que devem nortear a conduta</a:t>
            </a:r>
            <a:r>
              <a:rPr lang="pt-BR" sz="3000" dirty="0"/>
              <a:t> </a:t>
            </a:r>
          </a:p>
          <a:p>
            <a:r>
              <a:rPr lang="pt-BR" sz="3000" b="1" dirty="0">
                <a:solidFill>
                  <a:srgbClr val="FF0000"/>
                </a:solidFill>
              </a:rPr>
              <a:t>NÃO</a:t>
            </a:r>
            <a:r>
              <a:rPr lang="pt-BR" sz="3000" dirty="0"/>
              <a:t> se podia esperar </a:t>
            </a:r>
            <a:r>
              <a:rPr lang="pt-BR" sz="3000" b="1" dirty="0"/>
              <a:t>o mesmo grau de certeza e objetividade que se podia atingir na ciência das coisas e dos seus princípios.</a:t>
            </a:r>
            <a:r>
              <a:rPr lang="pt-BR" sz="3000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829576" cy="725470"/>
          </a:xfrm>
        </p:spPr>
        <p:txBody>
          <a:bodyPr/>
          <a:lstStyle/>
          <a:p>
            <a:r>
              <a:rPr lang="pt-BR" dirty="0"/>
              <a:t>Harmonia entre Ser Humano e Cosmos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214422"/>
            <a:ext cx="8401080" cy="5357850"/>
          </a:xfrm>
        </p:spPr>
        <p:txBody>
          <a:bodyPr>
            <a:normAutofit/>
          </a:bodyPr>
          <a:lstStyle/>
          <a:p>
            <a:r>
              <a:rPr lang="pt-BR" sz="2800" b="1" dirty="0"/>
              <a:t>DEIXOU-SE ENTÃO DE PROCURAR A HARMONIA por meio da </a:t>
            </a:r>
            <a:r>
              <a:rPr lang="pt-BR" sz="2800" b="1" dirty="0">
                <a:solidFill>
                  <a:srgbClr val="FF0000"/>
                </a:solidFill>
              </a:rPr>
              <a:t>CIENTIFICIDADE</a:t>
            </a:r>
            <a:r>
              <a:rPr lang="pt-BR" sz="2800" b="1" dirty="0"/>
              <a:t> e passou-se a buscá-la por meio da </a:t>
            </a:r>
            <a:r>
              <a:rPr lang="pt-BR" sz="2800" b="1" dirty="0">
                <a:solidFill>
                  <a:srgbClr val="FF0000"/>
                </a:solidFill>
              </a:rPr>
              <a:t>PRUDÊNCIA</a:t>
            </a:r>
            <a:r>
              <a:rPr lang="pt-BR" sz="2800" dirty="0"/>
              <a:t>, espécie de saber analógico mais adaptado à fluidez e à relatividade em suma, </a:t>
            </a:r>
            <a:r>
              <a:rPr lang="pt-BR" sz="2800" b="1" dirty="0"/>
              <a:t>À COMPLEXIDADE DA VIDA MORAL.</a:t>
            </a:r>
            <a:r>
              <a:rPr lang="pt-BR" sz="2800" dirty="0"/>
              <a:t> </a:t>
            </a:r>
          </a:p>
          <a:p>
            <a:r>
              <a:rPr lang="pt-BR" sz="2800" dirty="0"/>
              <a:t>No entanto, o reconhecimento da especificidade dos PROBLEMAS ÉTICOS não eximiu a consideração de tais questões da </a:t>
            </a:r>
            <a:r>
              <a:rPr lang="pt-BR" sz="2800" b="1" dirty="0"/>
              <a:t>busca pelos critérios de equilíbrio harmonioso que devia caracterizar a virtude.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54032"/>
          </a:xfrm>
        </p:spPr>
        <p:txBody>
          <a:bodyPr/>
          <a:lstStyle/>
          <a:p>
            <a:r>
              <a:rPr lang="pt-BR" dirty="0"/>
              <a:t>Ser humano e sua interioridade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4282" y="1214422"/>
            <a:ext cx="8472518" cy="5357850"/>
          </a:xfrm>
        </p:spPr>
        <p:txBody>
          <a:bodyPr>
            <a:normAutofit lnSpcReduction="10000"/>
          </a:bodyPr>
          <a:lstStyle/>
          <a:p>
            <a:r>
              <a:rPr lang="pt-BR" sz="3000" dirty="0"/>
              <a:t>Essa harmonia foi quebrada pelo advento do pensamento cristão, </a:t>
            </a:r>
          </a:p>
          <a:p>
            <a:r>
              <a:rPr lang="pt-BR" sz="3000" dirty="0"/>
              <a:t>que </a:t>
            </a:r>
            <a:r>
              <a:rPr lang="pt-BR" sz="3000" b="1" dirty="0">
                <a:solidFill>
                  <a:srgbClr val="FF0000"/>
                </a:solidFill>
              </a:rPr>
              <a:t>deixou de considerar a continuidade entre homem e natureza ao sobrepor à naturalidade do homem os aspectos relativos à interioridade,</a:t>
            </a:r>
            <a:r>
              <a:rPr lang="pt-BR" sz="3000" dirty="0"/>
              <a:t> </a:t>
            </a:r>
          </a:p>
          <a:p>
            <a:r>
              <a:rPr lang="pt-BR" sz="3000" dirty="0"/>
              <a:t>privilegiando a </a:t>
            </a:r>
            <a:r>
              <a:rPr lang="pt-BR" sz="3000" b="1" dirty="0"/>
              <a:t>ALMA COMO ELEMENTO DE VÍNCULO ENTRE A CRIATURA E O CRIADOR</a:t>
            </a:r>
            <a:r>
              <a:rPr lang="pt-BR" sz="3000" dirty="0"/>
              <a:t>, </a:t>
            </a:r>
          </a:p>
          <a:p>
            <a:r>
              <a:rPr lang="pt-BR" sz="3000" dirty="0"/>
              <a:t>e fazendo do </a:t>
            </a:r>
            <a:r>
              <a:rPr lang="pt-BR" sz="3000" b="1" dirty="0">
                <a:solidFill>
                  <a:srgbClr val="FF0000"/>
                </a:solidFill>
              </a:rPr>
              <a:t>mundo natural apenas cenário da trajetória do espírito rumo ao seu verdadeiro destino, a eternidade</a:t>
            </a:r>
            <a:r>
              <a:rPr lang="pt-BR" sz="3000" dirty="0"/>
              <a:t>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54032"/>
          </a:xfrm>
        </p:spPr>
        <p:txBody>
          <a:bodyPr/>
          <a:lstStyle/>
          <a:p>
            <a:r>
              <a:rPr lang="pt-BR" dirty="0"/>
              <a:t>Ser humano e sua interioridade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4282" y="1214422"/>
            <a:ext cx="8472518" cy="5357850"/>
          </a:xfrm>
        </p:spPr>
        <p:txBody>
          <a:bodyPr>
            <a:normAutofit/>
          </a:bodyPr>
          <a:lstStyle/>
          <a:p>
            <a:r>
              <a:rPr lang="pt-BR" sz="2700" dirty="0"/>
              <a:t>A </a:t>
            </a:r>
            <a:r>
              <a:rPr lang="pt-BR" sz="2700" b="1" dirty="0"/>
              <a:t>DEPENDÊNCIA DIRETA DO HOMEM EM RELAÇÃO A DEUS</a:t>
            </a:r>
            <a:r>
              <a:rPr lang="pt-BR" sz="2700" dirty="0"/>
              <a:t>, </a:t>
            </a:r>
          </a:p>
          <a:p>
            <a:r>
              <a:rPr lang="pt-BR" sz="2700" b="1" dirty="0">
                <a:solidFill>
                  <a:srgbClr val="FF0000"/>
                </a:solidFill>
              </a:rPr>
              <a:t>entendido como origem e destino</a:t>
            </a:r>
            <a:r>
              <a:rPr lang="pt-BR" sz="2700" dirty="0"/>
              <a:t>, transformou o sentido ético da estadia do homem no mundo. </a:t>
            </a:r>
          </a:p>
          <a:p>
            <a:r>
              <a:rPr lang="pt-BR" sz="2700" dirty="0"/>
              <a:t>Concebida agora em termos de transitoriedade, </a:t>
            </a:r>
            <a:r>
              <a:rPr lang="pt-BR" sz="2700" b="1" dirty="0"/>
              <a:t>ESTA ESTADIA</a:t>
            </a:r>
            <a:r>
              <a:rPr lang="pt-BR" sz="2700" dirty="0"/>
              <a:t> assumia</a:t>
            </a:r>
            <a:r>
              <a:rPr lang="pt-BR" sz="2700" b="1" dirty="0"/>
              <a:t> o significado de uma peregrinação moral pautada na diferença e mesmo na oposição entre homem e natureza.</a:t>
            </a:r>
            <a:r>
              <a:rPr lang="pt-BR" sz="2700" dirty="0"/>
              <a:t> </a:t>
            </a:r>
          </a:p>
          <a:p>
            <a:r>
              <a:rPr lang="pt-BR" sz="2700" b="1" dirty="0">
                <a:solidFill>
                  <a:srgbClr val="FF0000"/>
                </a:solidFill>
              </a:rPr>
              <a:t>Essa devia ser vista apenas como O CENÁRIO MORAL DOS OBSTÁCULOS À REALIZAÇÃO ÉTICA DO ESPÍRITO.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54032"/>
          </a:xfrm>
        </p:spPr>
        <p:txBody>
          <a:bodyPr/>
          <a:lstStyle/>
          <a:p>
            <a:r>
              <a:rPr lang="pt-BR" dirty="0"/>
              <a:t>Ser humano e sua interioridade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4282" y="1214422"/>
            <a:ext cx="8472518" cy="5357850"/>
          </a:xfrm>
        </p:spPr>
        <p:txBody>
          <a:bodyPr>
            <a:normAutofit/>
          </a:bodyPr>
          <a:lstStyle/>
          <a:p>
            <a:r>
              <a:rPr lang="pt-BR" sz="2900" dirty="0"/>
              <a:t>Afirmada com diferentes graus de ênfase nos vários séculos de predomínio de um pensamento orientado pelo objetivo de sintetizar o conteúdo e a forma da filosofia grega com a doutrina cristã, </a:t>
            </a:r>
          </a:p>
          <a:p>
            <a:r>
              <a:rPr lang="pt-BR" sz="2900" b="1" dirty="0"/>
              <a:t>A DUALIDADE ENTRE HOMEM E NATUREZA</a:t>
            </a:r>
            <a:r>
              <a:rPr lang="pt-BR" sz="2900" dirty="0"/>
              <a:t> </a:t>
            </a:r>
          </a:p>
          <a:p>
            <a:r>
              <a:rPr lang="pt-BR" sz="2900" dirty="0"/>
              <a:t>teve como conseqüência </a:t>
            </a:r>
            <a:r>
              <a:rPr lang="pt-BR" sz="2900" b="1" dirty="0">
                <a:solidFill>
                  <a:srgbClr val="FF0000"/>
                </a:solidFill>
              </a:rPr>
              <a:t>a fundamentação dos critérios éticos num sentido moral que refletia na criatura humana a absoluta perfeição do seu Criador.</a:t>
            </a:r>
            <a:r>
              <a:rPr lang="pt-BR" sz="2900" dirty="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54032"/>
          </a:xfrm>
        </p:spPr>
        <p:txBody>
          <a:bodyPr/>
          <a:lstStyle/>
          <a:p>
            <a:r>
              <a:rPr lang="pt-BR" dirty="0"/>
              <a:t>Ser humano e sua interioridade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4282" y="1142984"/>
            <a:ext cx="8472518" cy="5429288"/>
          </a:xfrm>
        </p:spPr>
        <p:txBody>
          <a:bodyPr>
            <a:noAutofit/>
          </a:bodyPr>
          <a:lstStyle/>
          <a:p>
            <a:r>
              <a:rPr lang="pt-BR" sz="2600" dirty="0"/>
              <a:t>Essa </a:t>
            </a:r>
            <a:r>
              <a:rPr lang="pt-BR" sz="2600" b="1" dirty="0"/>
              <a:t>BASE TEOLÓGICA DA ÉTICA</a:t>
            </a:r>
            <a:r>
              <a:rPr lang="pt-BR" sz="2600" dirty="0"/>
              <a:t> estava em consonância com os </a:t>
            </a:r>
            <a:r>
              <a:rPr lang="pt-BR" sz="2600" b="1" dirty="0">
                <a:solidFill>
                  <a:srgbClr val="FF0000"/>
                </a:solidFill>
              </a:rPr>
              <a:t>pressupostos antropológicos que definiam a vida humana como dádiva divina. </a:t>
            </a:r>
          </a:p>
          <a:p>
            <a:r>
              <a:rPr lang="pt-BR" sz="2600" b="1" dirty="0"/>
              <a:t>A CORREÇÃO MORAL</a:t>
            </a:r>
            <a:r>
              <a:rPr lang="pt-BR" sz="2600" dirty="0"/>
              <a:t> consistia em tentar corresponder, o máximo possível, </a:t>
            </a:r>
            <a:r>
              <a:rPr lang="pt-BR" sz="2600" b="1" dirty="0">
                <a:solidFill>
                  <a:srgbClr val="FF0000"/>
                </a:solidFill>
              </a:rPr>
              <a:t>ao valor da criatura humana entendida como semelhante a Deus.</a:t>
            </a:r>
            <a:r>
              <a:rPr lang="pt-BR" sz="2600" dirty="0"/>
              <a:t> </a:t>
            </a:r>
          </a:p>
          <a:p>
            <a:r>
              <a:rPr lang="pt-BR" sz="2600" dirty="0"/>
              <a:t>Esse valor está relacionado com uma noção cunhada no âmbito do pensamento cristão e que se afirmará como </a:t>
            </a:r>
            <a:r>
              <a:rPr lang="pt-BR" sz="2600" b="1" u="sng" dirty="0"/>
              <a:t>uma das principais chaves de reflexão ética até nossos dias</a:t>
            </a:r>
            <a:r>
              <a:rPr lang="pt-BR" sz="2600" dirty="0"/>
              <a:t>: </a:t>
            </a:r>
            <a:r>
              <a:rPr lang="pt-BR" sz="2600" b="1" dirty="0"/>
              <a:t>A NOÇÃO DE PESSOA</a:t>
            </a:r>
            <a:r>
              <a:rPr lang="pt-BR" sz="2600" dirty="0"/>
              <a:t>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54032"/>
          </a:xfrm>
        </p:spPr>
        <p:txBody>
          <a:bodyPr/>
          <a:lstStyle/>
          <a:p>
            <a:r>
              <a:rPr lang="pt-BR" dirty="0"/>
              <a:t>Ser humano e sua interioridade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4282" y="1142984"/>
            <a:ext cx="8472518" cy="5429288"/>
          </a:xfrm>
        </p:spPr>
        <p:txBody>
          <a:bodyPr>
            <a:normAutofit/>
          </a:bodyPr>
          <a:lstStyle/>
          <a:p>
            <a:endParaRPr lang="pt-BR" sz="3000" dirty="0"/>
          </a:p>
          <a:p>
            <a:r>
              <a:rPr lang="pt-BR" sz="3000" dirty="0"/>
              <a:t>Digamos apenas que a modificação de maior porte refere-se à </a:t>
            </a:r>
            <a:r>
              <a:rPr lang="pt-BR" sz="3000" b="1" dirty="0"/>
              <a:t>identificação entre Ser e Pessoa</a:t>
            </a:r>
            <a:r>
              <a:rPr lang="pt-BR" sz="3000" dirty="0"/>
              <a:t>, ocorrida no momento em que a dimensão tradicionalmente adequada para pensar o ser supremo ou primeiro princípio passou a valer para Deus, doutrinariamente entendido como Pessoa.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54032"/>
          </a:xfrm>
        </p:spPr>
        <p:txBody>
          <a:bodyPr/>
          <a:lstStyle/>
          <a:p>
            <a:r>
              <a:rPr lang="pt-BR" dirty="0"/>
              <a:t>Ser humano e sua interioridade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4282" y="1142984"/>
            <a:ext cx="8472518" cy="5429288"/>
          </a:xfrm>
        </p:spPr>
        <p:txBody>
          <a:bodyPr>
            <a:normAutofit/>
          </a:bodyPr>
          <a:lstStyle/>
          <a:p>
            <a:endParaRPr lang="pt-BR" sz="3000" b="1" dirty="0"/>
          </a:p>
          <a:p>
            <a:r>
              <a:rPr lang="pt-BR" sz="3000" b="1" dirty="0"/>
              <a:t>A SEMELHANÇA ENTRE CRIATURA E CRIADOR</a:t>
            </a:r>
            <a:r>
              <a:rPr lang="pt-BR" sz="3000" dirty="0"/>
              <a:t>, no caso do homem,</a:t>
            </a:r>
            <a:r>
              <a:rPr lang="pt-BR" sz="3000" u="sng" dirty="0"/>
              <a:t> revestiu-se então de uma dignidade que introduziu na condição humana um atributo ético</a:t>
            </a:r>
            <a:r>
              <a:rPr lang="pt-BR" sz="3000" dirty="0"/>
              <a:t>, doravante inseparável da natureza humana. </a:t>
            </a:r>
            <a:r>
              <a:rPr lang="pt-BR" sz="3000" b="1" dirty="0">
                <a:solidFill>
                  <a:srgbClr val="FF0000"/>
                </a:solidFill>
              </a:rPr>
              <a:t>Isto reforça o caráter interior e não naturalista da dimensão ética.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54032"/>
          </a:xfrm>
        </p:spPr>
        <p:txBody>
          <a:bodyPr/>
          <a:lstStyle/>
          <a:p>
            <a:r>
              <a:rPr lang="pt-BR" dirty="0"/>
              <a:t>Ser humano e sua interioridade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14282" y="1142984"/>
            <a:ext cx="8472518" cy="5429288"/>
          </a:xfrm>
        </p:spPr>
        <p:txBody>
          <a:bodyPr>
            <a:normAutofit/>
          </a:bodyPr>
          <a:lstStyle/>
          <a:p>
            <a:endParaRPr lang="pt-BR" sz="3000" b="1" dirty="0"/>
          </a:p>
          <a:p>
            <a:r>
              <a:rPr lang="pt-BR" sz="3000" b="1" dirty="0"/>
              <a:t>NA INTERIORIDADE COMO FONTE DE VIDA ÉTICA PRIVILEGIA-SE A RAZÃO</a:t>
            </a:r>
            <a:r>
              <a:rPr lang="pt-BR" sz="3000" dirty="0"/>
              <a:t> </a:t>
            </a:r>
          </a:p>
          <a:p>
            <a:r>
              <a:rPr lang="pt-BR" sz="3000" dirty="0"/>
              <a:t>como a faculdade que deve predominar na </a:t>
            </a:r>
            <a:r>
              <a:rPr lang="pt-BR" sz="3000" b="1" dirty="0">
                <a:solidFill>
                  <a:srgbClr val="FF0000"/>
                </a:solidFill>
              </a:rPr>
              <a:t>avaliação e decisão éticas</a:t>
            </a:r>
            <a:r>
              <a:rPr lang="pt-BR" sz="3000" dirty="0"/>
              <a:t>, </a:t>
            </a:r>
          </a:p>
          <a:p>
            <a:r>
              <a:rPr lang="pt-BR" sz="3000" u="sng" dirty="0"/>
              <a:t>mesmo que a conduta envolva elementos de vontade e afetividade inerentes à condição humana.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25470"/>
          </a:xfrm>
        </p:spPr>
        <p:txBody>
          <a:bodyPr/>
          <a:lstStyle/>
          <a:p>
            <a:r>
              <a:rPr lang="pt-BR" dirty="0"/>
              <a:t>Interioridade como Subjetividade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285860"/>
            <a:ext cx="8401080" cy="5286412"/>
          </a:xfrm>
        </p:spPr>
        <p:txBody>
          <a:bodyPr>
            <a:normAutofit/>
          </a:bodyPr>
          <a:lstStyle/>
          <a:p>
            <a:r>
              <a:rPr lang="pt-BR" sz="3200" dirty="0"/>
              <a:t>Se a </a:t>
            </a:r>
            <a:r>
              <a:rPr lang="pt-BR" sz="3200" b="1" u="sng" dirty="0"/>
              <a:t>descoberta da interioridade</a:t>
            </a:r>
            <a:r>
              <a:rPr lang="pt-BR" sz="3200" dirty="0"/>
              <a:t> deve ser indubitavelmente atribuída à </a:t>
            </a:r>
            <a:r>
              <a:rPr lang="pt-BR" sz="3200" b="1" dirty="0">
                <a:solidFill>
                  <a:srgbClr val="FF0000"/>
                </a:solidFill>
              </a:rPr>
              <a:t>filosofia cristã</a:t>
            </a:r>
            <a:r>
              <a:rPr lang="pt-BR" sz="3200" dirty="0"/>
              <a:t>, </a:t>
            </a:r>
          </a:p>
          <a:p>
            <a:r>
              <a:rPr lang="pt-BR" sz="3200" dirty="0"/>
              <a:t>a compreensão desta </a:t>
            </a:r>
            <a:r>
              <a:rPr lang="pt-BR" sz="3200" b="1" u="sng" dirty="0"/>
              <a:t>interioridade como autonomia subjetiva</a:t>
            </a:r>
            <a:r>
              <a:rPr lang="pt-BR" sz="3200" dirty="0"/>
              <a:t> é, inquestionavelmente </a:t>
            </a:r>
            <a:r>
              <a:rPr lang="pt-BR" sz="3200" b="1" dirty="0">
                <a:solidFill>
                  <a:srgbClr val="FF0000"/>
                </a:solidFill>
              </a:rPr>
              <a:t>obra da modernidade</a:t>
            </a:r>
            <a:r>
              <a:rPr lang="pt-BR" sz="3200" dirty="0"/>
              <a:t>, isto é, da fase da história do pensamento que se inicia com Descartes no século XVII.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25470"/>
          </a:xfrm>
        </p:spPr>
        <p:txBody>
          <a:bodyPr/>
          <a:lstStyle/>
          <a:p>
            <a:r>
              <a:rPr lang="pt-BR" dirty="0"/>
              <a:t>Interioridade como Subjetividade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285860"/>
            <a:ext cx="8401080" cy="5286412"/>
          </a:xfrm>
        </p:spPr>
        <p:txBody>
          <a:bodyPr>
            <a:noAutofit/>
          </a:bodyPr>
          <a:lstStyle/>
          <a:p>
            <a:r>
              <a:rPr lang="pt-BR" sz="2600" dirty="0"/>
              <a:t>A interpretação da interioridade como subjetividade trouxe duas conseqüências que repercutirão no domínio da Ética. </a:t>
            </a:r>
          </a:p>
          <a:p>
            <a:r>
              <a:rPr lang="pt-BR" sz="2600" dirty="0"/>
              <a:t>1) A primeira concerne ao fato de que </a:t>
            </a:r>
            <a:r>
              <a:rPr lang="pt-BR" sz="2600" b="1" dirty="0"/>
              <a:t>A AFIRMAÇÃO DA AUTONOMIA DO SUJEITO, ENTENDIDA COMO AUTONOMIA DA RAZÃO</a:t>
            </a:r>
            <a:r>
              <a:rPr lang="pt-BR" sz="2600" dirty="0"/>
              <a:t>, coloca em questão a </a:t>
            </a:r>
            <a:r>
              <a:rPr lang="pt-BR" sz="2600" b="1" dirty="0">
                <a:solidFill>
                  <a:srgbClr val="FF0000"/>
                </a:solidFill>
              </a:rPr>
              <a:t>subordinação do conhecimento e da moral aos aspectos teológicos</a:t>
            </a:r>
            <a:r>
              <a:rPr lang="pt-BR" sz="2600" dirty="0"/>
              <a:t> envolvidos na síntese entre a filosofia antiga e a doutrina cristã elaborada anteriormente. </a:t>
            </a:r>
          </a:p>
          <a:p>
            <a:r>
              <a:rPr lang="pt-BR" sz="2600" b="1" dirty="0">
                <a:solidFill>
                  <a:srgbClr val="FF0000"/>
                </a:solidFill>
              </a:rPr>
              <a:t>A RAZÃO AUTÔNOMA, deve procurar livremente as condições do conhecimento e da ação moral.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25470"/>
          </a:xfrm>
        </p:spPr>
        <p:txBody>
          <a:bodyPr/>
          <a:lstStyle/>
          <a:p>
            <a:r>
              <a:rPr lang="pt-BR" dirty="0"/>
              <a:t>Interioridade como Subjetividade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285860"/>
            <a:ext cx="8401080" cy="5286412"/>
          </a:xfrm>
        </p:spPr>
        <p:txBody>
          <a:bodyPr>
            <a:normAutofit/>
          </a:bodyPr>
          <a:lstStyle/>
          <a:p>
            <a:r>
              <a:rPr lang="pt-BR" sz="2800" dirty="0"/>
              <a:t>Os resultados alcançados não devem ser avaliados à luz de critérios alheios ao puro exercício da racionalidade. </a:t>
            </a:r>
          </a:p>
          <a:p>
            <a:r>
              <a:rPr lang="pt-BR" sz="2800" dirty="0"/>
              <a:t>Se tais resultados coincidirem, no todo ou em parte, com aqueles obtidos pela tradição da filosofia cristã, isto não retirará dos resultados e dos procedimentos o caráter laico, racional e livre,</a:t>
            </a:r>
            <a:r>
              <a:rPr lang="pt-BR" sz="2800" b="1" dirty="0">
                <a:solidFill>
                  <a:srgbClr val="FF0000"/>
                </a:solidFill>
              </a:rPr>
              <a:t> uma vez que a investigação se terá guiado unicamente pelo que se denominava na época a "luz natural" da razão</a:t>
            </a:r>
            <a:r>
              <a:rPr lang="pt-BR" sz="2800" dirty="0"/>
              <a:t>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25470"/>
          </a:xfrm>
        </p:spPr>
        <p:txBody>
          <a:bodyPr/>
          <a:lstStyle/>
          <a:p>
            <a:r>
              <a:rPr lang="pt-BR" dirty="0"/>
              <a:t>Interioridade como Subjetividade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285860"/>
            <a:ext cx="8401080" cy="5286412"/>
          </a:xfrm>
        </p:spPr>
        <p:txBody>
          <a:bodyPr>
            <a:normAutofit/>
          </a:bodyPr>
          <a:lstStyle/>
          <a:p>
            <a:r>
              <a:rPr lang="pt-BR" sz="3000" dirty="0"/>
              <a:t>2) A outra conseqüência </a:t>
            </a:r>
            <a:r>
              <a:rPr lang="pt-BR" sz="3000" b="1" dirty="0"/>
              <a:t>REFERE-SE AO EXERCÍCIO E À FINALIDADE DESSA AUTONOMIA</a:t>
            </a:r>
            <a:r>
              <a:rPr lang="pt-BR" sz="3000" dirty="0"/>
              <a:t>. </a:t>
            </a:r>
          </a:p>
          <a:p>
            <a:r>
              <a:rPr lang="pt-BR" sz="3000" b="1" dirty="0">
                <a:solidFill>
                  <a:srgbClr val="FF0000"/>
                </a:solidFill>
              </a:rPr>
              <a:t>O exercício se dá no âmbito do conhecimento e a finalidade é a obtenção da sabedoria,</a:t>
            </a:r>
            <a:r>
              <a:rPr lang="pt-BR" sz="3000" dirty="0"/>
              <a:t> entendida como a </a:t>
            </a:r>
            <a:r>
              <a:rPr lang="pt-BR" sz="3000" b="1" dirty="0"/>
              <a:t>PERFEITA CONCILIAÇÃO ENTRE A TEORIA E A PRÁTICA.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25470"/>
          </a:xfrm>
        </p:spPr>
        <p:txBody>
          <a:bodyPr/>
          <a:lstStyle/>
          <a:p>
            <a:r>
              <a:rPr lang="pt-BR" dirty="0"/>
              <a:t>Interioridade como Subjetividade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285860"/>
            <a:ext cx="8401080" cy="5286412"/>
          </a:xfrm>
        </p:spPr>
        <p:txBody>
          <a:bodyPr>
            <a:normAutofit/>
          </a:bodyPr>
          <a:lstStyle/>
          <a:p>
            <a:r>
              <a:rPr lang="pt-BR" sz="3000" dirty="0"/>
              <a:t>Vê-se então que o </a:t>
            </a:r>
            <a:r>
              <a:rPr lang="pt-BR" sz="3000" b="1" dirty="0">
                <a:solidFill>
                  <a:srgbClr val="FF0000"/>
                </a:solidFill>
              </a:rPr>
              <a:t>SIGNIFICADO COGNITIVO OU TEÓRICO PREDOMINA </a:t>
            </a:r>
            <a:r>
              <a:rPr lang="pt-BR" sz="3000" dirty="0"/>
              <a:t>e que </a:t>
            </a:r>
            <a:r>
              <a:rPr lang="pt-BR" sz="3000" b="1" dirty="0"/>
              <a:t>a interpretação da interioridade como subjetividade tem um caráter "</a:t>
            </a:r>
            <a:r>
              <a:rPr lang="pt-BR" sz="3000" b="1" dirty="0" err="1"/>
              <a:t>epistemologizante</a:t>
            </a:r>
            <a:r>
              <a:rPr lang="pt-BR" sz="3000" b="1" dirty="0"/>
              <a:t>"</a:t>
            </a:r>
            <a:r>
              <a:rPr lang="pt-BR" sz="3000" dirty="0"/>
              <a:t>, </a:t>
            </a:r>
          </a:p>
          <a:p>
            <a:r>
              <a:rPr lang="pt-BR" sz="3000" dirty="0"/>
              <a:t>isto é, destina-se a privilegiar a CONQUISTA AUTÔNOMA DO CONHECIMENTO, </a:t>
            </a:r>
          </a:p>
          <a:p>
            <a:r>
              <a:rPr lang="pt-BR" sz="3000" b="1" dirty="0">
                <a:solidFill>
                  <a:srgbClr val="FF0000"/>
                </a:solidFill>
              </a:rPr>
              <a:t>base do saber moderno e da constituição de todas as ciências e de suas aplicações técnicas.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25470"/>
          </a:xfrm>
        </p:spPr>
        <p:txBody>
          <a:bodyPr/>
          <a:lstStyle/>
          <a:p>
            <a:r>
              <a:rPr lang="pt-BR" dirty="0"/>
              <a:t>Ética racional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142984"/>
            <a:ext cx="8401080" cy="5429288"/>
          </a:xfrm>
        </p:spPr>
        <p:txBody>
          <a:bodyPr>
            <a:normAutofit/>
          </a:bodyPr>
          <a:lstStyle/>
          <a:p>
            <a:r>
              <a:rPr lang="pt-BR" sz="2600" dirty="0"/>
              <a:t>O que decorre imediatamente dessa prevalência do conhecimento na </a:t>
            </a:r>
            <a:r>
              <a:rPr lang="pt-BR" sz="2600" b="1" dirty="0"/>
              <a:t>DEFINIÇÃO DA AUTONOMIA RACIONAL</a:t>
            </a:r>
            <a:r>
              <a:rPr lang="pt-BR" sz="2600" dirty="0"/>
              <a:t> é a </a:t>
            </a:r>
            <a:r>
              <a:rPr lang="pt-BR" sz="2600" b="1" dirty="0">
                <a:solidFill>
                  <a:srgbClr val="FF0000"/>
                </a:solidFill>
              </a:rPr>
              <a:t>DIMENSÃO INTELECTUALISTA DA ÉTICA</a:t>
            </a:r>
            <a:r>
              <a:rPr lang="pt-BR" sz="2600" dirty="0"/>
              <a:t>, isto é, </a:t>
            </a:r>
          </a:p>
          <a:p>
            <a:r>
              <a:rPr lang="pt-BR" sz="2600" b="1" dirty="0"/>
              <a:t>A IDÉIA DE QUE AS QUESTÕES MORAIS PODEM SER EQUACIONADAS E SOLUCIONADAS PELA VIA RACIONAL. </a:t>
            </a:r>
          </a:p>
          <a:p>
            <a:r>
              <a:rPr lang="pt-BR" sz="2600" dirty="0"/>
              <a:t>Numa hierarquia rígida de graus de conhecimento, em que, por exemplo, a Física se fundamenta na Metafísica, </a:t>
            </a:r>
            <a:r>
              <a:rPr lang="pt-BR" sz="2600" b="1" dirty="0"/>
              <a:t>o estudo das condições éticas da vida humana deriva necessariamente de outros conhecimentos mais elevados ou mais fundamentais.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25470"/>
          </a:xfrm>
        </p:spPr>
        <p:txBody>
          <a:bodyPr/>
          <a:lstStyle/>
          <a:p>
            <a:r>
              <a:rPr lang="pt-BR" dirty="0"/>
              <a:t>Ética racional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142984"/>
            <a:ext cx="8401080" cy="5429288"/>
          </a:xfrm>
        </p:spPr>
        <p:txBody>
          <a:bodyPr>
            <a:normAutofit/>
          </a:bodyPr>
          <a:lstStyle/>
          <a:p>
            <a:r>
              <a:rPr lang="pt-BR" sz="3000" dirty="0"/>
              <a:t>Mas esse </a:t>
            </a:r>
            <a:r>
              <a:rPr lang="pt-BR" sz="3000" b="1" u="sng" dirty="0"/>
              <a:t>pressuposto intelectualista logo revelou seu lado inconseqüente</a:t>
            </a:r>
            <a:r>
              <a:rPr lang="pt-BR" sz="3000" dirty="0"/>
              <a:t>: </a:t>
            </a:r>
          </a:p>
          <a:p>
            <a:r>
              <a:rPr lang="pt-BR" sz="3000" b="1" dirty="0"/>
              <a:t>A DECISÃO MORAL É PARTE INTEGRANTE DA VIDA COTIDIANA E </a:t>
            </a:r>
            <a:r>
              <a:rPr lang="pt-BR" sz="3000" b="1" dirty="0">
                <a:solidFill>
                  <a:srgbClr val="FF0000"/>
                </a:solidFill>
              </a:rPr>
              <a:t>A ÉTICA NÃO PODE ESPERAR</a:t>
            </a:r>
            <a:r>
              <a:rPr lang="pt-BR" sz="3000" b="1" dirty="0"/>
              <a:t>, PARA SE CONSTITUIR, PELOS RESULTADOS DAS OUTRAS CIÊNCIAS.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25470"/>
          </a:xfrm>
        </p:spPr>
        <p:txBody>
          <a:bodyPr/>
          <a:lstStyle/>
          <a:p>
            <a:r>
              <a:rPr lang="pt-BR" dirty="0"/>
              <a:t>Ética racional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142984"/>
            <a:ext cx="8401080" cy="5429288"/>
          </a:xfrm>
        </p:spPr>
        <p:txBody>
          <a:bodyPr>
            <a:normAutofit/>
          </a:bodyPr>
          <a:lstStyle/>
          <a:p>
            <a:r>
              <a:rPr lang="pt-BR" sz="3000" b="1" u="sng" dirty="0">
                <a:solidFill>
                  <a:srgbClr val="FF0000"/>
                </a:solidFill>
              </a:rPr>
              <a:t>Não é possível "suspender" a vida ética</a:t>
            </a:r>
            <a:r>
              <a:rPr lang="pt-BR" sz="3000" b="1" dirty="0">
                <a:solidFill>
                  <a:srgbClr val="FF0000"/>
                </a:solidFill>
              </a:rPr>
              <a:t> enquanto se aguarda a constituição de seus requisitos científicos. </a:t>
            </a:r>
          </a:p>
          <a:p>
            <a:r>
              <a:rPr lang="pt-BR" sz="3000" dirty="0"/>
              <a:t>Há que haver uma moral, desde sempre, mesmo que provisória, como aquela adotada pelo próprio Descartes. </a:t>
            </a:r>
          </a:p>
          <a:p>
            <a:r>
              <a:rPr lang="pt-BR" sz="3000" b="1" dirty="0"/>
              <a:t>O resultado dessa postura intelectualista é o adiamento indefinido de uma moral "teórica".</a:t>
            </a:r>
          </a:p>
          <a:p>
            <a:endParaRPr lang="pt-BR" sz="3000" b="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88640"/>
            <a:ext cx="8401080" cy="6383632"/>
          </a:xfrm>
        </p:spPr>
        <p:txBody>
          <a:bodyPr>
            <a:noAutofit/>
          </a:bodyPr>
          <a:lstStyle/>
          <a:p>
            <a:endParaRPr lang="pt-BR" sz="3300" dirty="0"/>
          </a:p>
          <a:p>
            <a:endParaRPr lang="pt-BR" sz="3300" dirty="0"/>
          </a:p>
          <a:p>
            <a:r>
              <a:rPr lang="pt-BR" sz="3300" dirty="0"/>
              <a:t>Pode-se dizer que </a:t>
            </a:r>
            <a:r>
              <a:rPr lang="pt-BR" sz="3300" b="1" u="sng" dirty="0"/>
              <a:t>essa dificuldade contribuiu</a:t>
            </a:r>
            <a:r>
              <a:rPr lang="pt-BR" sz="3300" dirty="0"/>
              <a:t>, mesmo que indiretamente, </a:t>
            </a:r>
            <a:r>
              <a:rPr lang="pt-BR" sz="3300" b="1" dirty="0">
                <a:solidFill>
                  <a:srgbClr val="FF0000"/>
                </a:solidFill>
              </a:rPr>
              <a:t>para que se alcançasse </a:t>
            </a:r>
            <a:r>
              <a:rPr lang="pt-BR" sz="3300" b="1" dirty="0">
                <a:solidFill>
                  <a:srgbClr val="0070C0"/>
                </a:solidFill>
              </a:rPr>
              <a:t>UMA NOVA VISÃO DAS RELAÇÕES ENTRE O TEÓRICO E O PRÁTICO, </a:t>
            </a:r>
            <a:r>
              <a:rPr lang="pt-BR" sz="3300" b="1" dirty="0">
                <a:solidFill>
                  <a:srgbClr val="FF0000"/>
                </a:solidFill>
              </a:rPr>
              <a:t>calcada no diagnóstico da impossibilidade de uma </a:t>
            </a:r>
            <a:r>
              <a:rPr lang="pt-BR" sz="3300" b="1" u="sng" dirty="0">
                <a:solidFill>
                  <a:srgbClr val="FF0000"/>
                </a:solidFill>
              </a:rPr>
              <a:t>conciliação pela via do conhecimento.</a:t>
            </a:r>
            <a:r>
              <a:rPr lang="pt-BR" sz="3300" u="sng" dirty="0"/>
              <a:t>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692696"/>
            <a:ext cx="8401080" cy="5879576"/>
          </a:xfrm>
        </p:spPr>
        <p:txBody>
          <a:bodyPr>
            <a:noAutofit/>
          </a:bodyPr>
          <a:lstStyle/>
          <a:p>
            <a:r>
              <a:rPr lang="pt-BR" sz="3000" dirty="0"/>
              <a:t>Para tanto contribuiu também a </a:t>
            </a:r>
            <a:r>
              <a:rPr lang="pt-BR" sz="3000" b="1" dirty="0"/>
              <a:t>CRÍTICA DE KANT À CONTINUIDADE HIERÁRQUICA DO CONHECIMENTO</a:t>
            </a:r>
            <a:r>
              <a:rPr lang="pt-BR" sz="3000" dirty="0"/>
              <a:t>, característica do século XVII, e impugnada no século seguinte, </a:t>
            </a:r>
            <a:r>
              <a:rPr lang="pt-BR" sz="3000" b="1" u="sng" dirty="0"/>
              <a:t>a partir da constatação de que, em pelo menos uma das partes do edifício único do saber, a Metafísica</a:t>
            </a:r>
            <a:r>
              <a:rPr lang="pt-BR" sz="3000" dirty="0"/>
              <a:t>, </a:t>
            </a:r>
            <a:r>
              <a:rPr lang="pt-BR" sz="3000" b="1" dirty="0">
                <a:solidFill>
                  <a:srgbClr val="FF0000"/>
                </a:solidFill>
              </a:rPr>
              <a:t>não se chegava a resultados cuja objetividade e certeza equivalessem ao que se obtinha nas outras ciências, como a Matemática e a Física.</a:t>
            </a:r>
            <a:r>
              <a:rPr lang="pt-BR" sz="3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1974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844824"/>
            <a:ext cx="8401080" cy="4727448"/>
          </a:xfrm>
        </p:spPr>
        <p:txBody>
          <a:bodyPr>
            <a:normAutofit/>
          </a:bodyPr>
          <a:lstStyle/>
          <a:p>
            <a:r>
              <a:rPr lang="pt-BR" sz="3300" dirty="0"/>
              <a:t>Essa </a:t>
            </a:r>
            <a:r>
              <a:rPr lang="pt-BR" sz="3300" b="1" dirty="0"/>
              <a:t>DIFERENÇA</a:t>
            </a:r>
            <a:r>
              <a:rPr lang="pt-BR" sz="3300" dirty="0"/>
              <a:t>, que podia ser detectada historicamente, </a:t>
            </a:r>
            <a:r>
              <a:rPr lang="pt-BR" sz="3300" b="1" dirty="0">
                <a:solidFill>
                  <a:srgbClr val="FF0000"/>
                </a:solidFill>
              </a:rPr>
              <a:t>tornava-se gritante a partir da consolidação da física newtoniana como ciência experimental totalmente autônoma.</a:t>
            </a:r>
            <a:r>
              <a:rPr lang="pt-BR" sz="33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9934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1196752"/>
            <a:ext cx="8401080" cy="5375520"/>
          </a:xfrm>
        </p:spPr>
        <p:txBody>
          <a:bodyPr>
            <a:normAutofit/>
          </a:bodyPr>
          <a:lstStyle/>
          <a:p>
            <a:r>
              <a:rPr lang="pt-BR" sz="3300" b="1" dirty="0"/>
              <a:t>O RESULTADO DA CRITICA KANTIANA</a:t>
            </a:r>
            <a:r>
              <a:rPr lang="pt-BR" sz="3300" dirty="0"/>
              <a:t> foi a delimitação do teórico como englobando apenas a Matemática e a ciência experimental e a deslocação da </a:t>
            </a:r>
            <a:r>
              <a:rPr lang="pt-BR" sz="3300" b="1" u="sng" dirty="0"/>
              <a:t>Metafísica para o campo do puro pensamento, em que é impossível alcançar resultados objetivamente comprováveis. </a:t>
            </a:r>
          </a:p>
        </p:txBody>
      </p:sp>
    </p:spTree>
    <p:extLst>
      <p:ext uri="{BB962C8B-B14F-4D97-AF65-F5344CB8AC3E}">
        <p14:creationId xmlns:p14="http://schemas.microsoft.com/office/powerpoint/2010/main" val="18199661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332656"/>
            <a:ext cx="8401080" cy="6239616"/>
          </a:xfrm>
        </p:spPr>
        <p:txBody>
          <a:bodyPr>
            <a:normAutofit/>
          </a:bodyPr>
          <a:lstStyle/>
          <a:p>
            <a:r>
              <a:rPr lang="pt-BR" sz="3000" dirty="0"/>
              <a:t>A conseqüência dessa delimitação foi a </a:t>
            </a:r>
            <a:r>
              <a:rPr lang="pt-BR" sz="3000" b="1" u="sng" dirty="0"/>
              <a:t>restrição da atividade do sujeito ao campo abrangido pela razão teórica</a:t>
            </a:r>
            <a:r>
              <a:rPr lang="pt-BR" sz="3000" dirty="0"/>
              <a:t>, </a:t>
            </a:r>
            <a:r>
              <a:rPr lang="pt-BR" sz="3000" b="1" dirty="0">
                <a:solidFill>
                  <a:srgbClr val="FF0000"/>
                </a:solidFill>
              </a:rPr>
              <a:t>ROMPENDO ASSIM A UNIDADE DO SUJEITO</a:t>
            </a:r>
            <a:r>
              <a:rPr lang="pt-BR" sz="3000" dirty="0"/>
              <a:t> que, na filosofia anterior, era o mesmo em qualquer campo do saber, </a:t>
            </a:r>
            <a:r>
              <a:rPr lang="pt-BR" sz="3000" b="1" dirty="0">
                <a:solidFill>
                  <a:srgbClr val="FF0000"/>
                </a:solidFill>
              </a:rPr>
              <a:t>uma vez que à unidade do sujeito correspondiam a unidade de método e a unidade do objeto, do ponto de vista metodológico.</a:t>
            </a:r>
            <a:r>
              <a:rPr lang="pt-BR" sz="3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85021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332656"/>
            <a:ext cx="8401080" cy="6239616"/>
          </a:xfrm>
        </p:spPr>
        <p:txBody>
          <a:bodyPr>
            <a:noAutofit/>
          </a:bodyPr>
          <a:lstStyle/>
          <a:p>
            <a:r>
              <a:rPr lang="pt-BR" sz="3300" dirty="0"/>
              <a:t>Restava, entretanto, </a:t>
            </a:r>
            <a:r>
              <a:rPr lang="pt-BR" sz="3300" b="1" dirty="0">
                <a:solidFill>
                  <a:srgbClr val="0070C0"/>
                </a:solidFill>
              </a:rPr>
              <a:t>a outra face do sujeito, precisamente a da ação moral</a:t>
            </a:r>
          </a:p>
          <a:p>
            <a:r>
              <a:rPr lang="pt-BR" sz="3300" b="1" u="sng" dirty="0"/>
              <a:t>Como a dimensão ética permanecesse</a:t>
            </a:r>
            <a:r>
              <a:rPr lang="pt-BR" sz="3300" dirty="0"/>
              <a:t>, pelos critérios kantianos de objetividade, </a:t>
            </a:r>
            <a:r>
              <a:rPr lang="pt-BR" sz="3300" b="1" dirty="0">
                <a:solidFill>
                  <a:srgbClr val="FF0000"/>
                </a:solidFill>
              </a:rPr>
              <a:t>FORA DO CAMPO TEÓRICO, A SOLUÇÃO FOI CONSTITUIR, ATRAVÉS DA RAZÃO PRÁTICA, </a:t>
            </a:r>
            <a:r>
              <a:rPr lang="pt-BR" sz="3300" b="1" dirty="0">
                <a:solidFill>
                  <a:srgbClr val="0070C0"/>
                </a:solidFill>
              </a:rPr>
              <a:t>O SUJEITO MORAL COMO INSTÂNCIA INDEPENDENTE.</a:t>
            </a:r>
            <a:r>
              <a:rPr lang="pt-BR" sz="3300" dirty="0">
                <a:solidFill>
                  <a:srgbClr val="0070C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7177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332656"/>
            <a:ext cx="8401080" cy="6239616"/>
          </a:xfrm>
        </p:spPr>
        <p:txBody>
          <a:bodyPr>
            <a:noAutofit/>
          </a:bodyPr>
          <a:lstStyle/>
          <a:p>
            <a:r>
              <a:rPr lang="pt-BR" sz="3300" b="1" u="sng" dirty="0"/>
              <a:t>Mas como a unidade substancial do sujeito havia sido rompida</a:t>
            </a:r>
            <a:r>
              <a:rPr lang="pt-BR" sz="3300" dirty="0"/>
              <a:t>, tanto o sujeito teórico quanto o sujeito prático estavam comprometidos com a ausência de substancialidade, </a:t>
            </a:r>
            <a:r>
              <a:rPr lang="pt-BR" sz="3300" b="1" dirty="0"/>
              <a:t>UMA VEZ QUE HAVIAM PERDIDO O ESTATUTO METAFÍSICO. </a:t>
            </a:r>
          </a:p>
          <a:p>
            <a:r>
              <a:rPr lang="pt-BR" sz="3300" b="1" dirty="0">
                <a:solidFill>
                  <a:srgbClr val="FF0000"/>
                </a:solidFill>
              </a:rPr>
              <a:t>A solução kantiana para a impossibilidade de afirmação da unidade metafísica do sujeito é a constituição puramente lógica da subjetividade.</a:t>
            </a:r>
          </a:p>
        </p:txBody>
      </p:sp>
    </p:spTree>
    <p:extLst>
      <p:ext uri="{BB962C8B-B14F-4D97-AF65-F5344CB8AC3E}">
        <p14:creationId xmlns:p14="http://schemas.microsoft.com/office/powerpoint/2010/main" val="36294414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332656"/>
            <a:ext cx="8401080" cy="6239616"/>
          </a:xfrm>
        </p:spPr>
        <p:txBody>
          <a:bodyPr>
            <a:normAutofit/>
          </a:bodyPr>
          <a:lstStyle/>
          <a:p>
            <a:r>
              <a:rPr lang="pt-BR" sz="3200" dirty="0"/>
              <a:t>Doravante, </a:t>
            </a:r>
            <a:r>
              <a:rPr lang="pt-BR" sz="3200" b="1" dirty="0">
                <a:solidFill>
                  <a:srgbClr val="FF0000"/>
                </a:solidFill>
              </a:rPr>
              <a:t>O SUJEITO NÃO É NEM SUBSTÂNCIA ESPIRITUAL</a:t>
            </a:r>
            <a:r>
              <a:rPr lang="pt-BR" sz="3200" dirty="0"/>
              <a:t>, </a:t>
            </a:r>
            <a:r>
              <a:rPr lang="pt-BR" sz="3200" b="1" dirty="0"/>
              <a:t>nem pessoa, nem consciência metafisicamente autônoma,</a:t>
            </a:r>
            <a:r>
              <a:rPr lang="pt-BR" sz="3200" dirty="0"/>
              <a:t> mas uma estrutura lógica de requisito formais do conhecimento.</a:t>
            </a:r>
          </a:p>
          <a:p>
            <a:endParaRPr lang="pt-BR" sz="3200" dirty="0"/>
          </a:p>
          <a:p>
            <a:r>
              <a:rPr lang="pt-BR" sz="3200" dirty="0"/>
              <a:t>O SUJEITO É PURA FORMA!</a:t>
            </a:r>
          </a:p>
        </p:txBody>
      </p:sp>
    </p:spTree>
    <p:extLst>
      <p:ext uri="{BB962C8B-B14F-4D97-AF65-F5344CB8AC3E}">
        <p14:creationId xmlns:p14="http://schemas.microsoft.com/office/powerpoint/2010/main" val="3100846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332656"/>
            <a:ext cx="8401080" cy="6239616"/>
          </a:xfrm>
        </p:spPr>
        <p:txBody>
          <a:bodyPr>
            <a:noAutofit/>
          </a:bodyPr>
          <a:lstStyle/>
          <a:p>
            <a:r>
              <a:rPr lang="pt-BR" sz="2800" b="1" u="sng"/>
              <a:t>No </a:t>
            </a:r>
            <a:r>
              <a:rPr lang="pt-BR" sz="2800" b="1" u="sng" dirty="0"/>
              <a:t>campo prático esse formalismo se repete</a:t>
            </a:r>
            <a:r>
              <a:rPr lang="pt-BR" sz="2800" dirty="0"/>
              <a:t>, </a:t>
            </a:r>
            <a:r>
              <a:rPr lang="pt-BR" sz="2800" b="1" dirty="0">
                <a:solidFill>
                  <a:srgbClr val="FF0000"/>
                </a:solidFill>
              </a:rPr>
              <a:t>com o intuito de purificar a dimensão ética de qualquer determinação sensível ou intelectual, o que comprometeria a autonomia da decisão moral.</a:t>
            </a:r>
            <a:r>
              <a:rPr lang="pt-BR" sz="2800" dirty="0"/>
              <a:t> </a:t>
            </a:r>
          </a:p>
          <a:p>
            <a:r>
              <a:rPr lang="pt-BR" sz="2800" dirty="0"/>
              <a:t>Ora, autonomia significa liberdade e liberdade é uma noção metafísica. </a:t>
            </a:r>
          </a:p>
          <a:p>
            <a:r>
              <a:rPr lang="pt-BR" sz="2800" b="1" dirty="0"/>
              <a:t>PARA NÃO REINTRODUZIR A METAFÍSICA</a:t>
            </a:r>
            <a:r>
              <a:rPr lang="pt-BR" sz="2800" dirty="0"/>
              <a:t>, que havia sido eliminada da concepção formal do sujeito, Kant é obrigado a conceber o fundamento da moral no nível da pura forma, sem qualquer conteúdo.</a:t>
            </a:r>
          </a:p>
        </p:txBody>
      </p:sp>
    </p:spTree>
    <p:extLst>
      <p:ext uri="{BB962C8B-B14F-4D97-AF65-F5344CB8AC3E}">
        <p14:creationId xmlns:p14="http://schemas.microsoft.com/office/powerpoint/2010/main" val="32243605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404664"/>
            <a:ext cx="8401080" cy="6167608"/>
          </a:xfrm>
        </p:spPr>
        <p:txBody>
          <a:bodyPr>
            <a:normAutofit/>
          </a:bodyPr>
          <a:lstStyle/>
          <a:p>
            <a:r>
              <a:rPr lang="pt-BR" sz="3000" dirty="0"/>
              <a:t>Foi assim que nasceu o célebre </a:t>
            </a:r>
            <a:r>
              <a:rPr lang="pt-BR" sz="3000" b="1" dirty="0"/>
              <a:t>IMPERATIVO CATEGÓRICO</a:t>
            </a:r>
            <a:r>
              <a:rPr lang="pt-BR" sz="3000" dirty="0"/>
              <a:t>, </a:t>
            </a:r>
            <a:r>
              <a:rPr lang="pt-BR" sz="3000" b="1" dirty="0">
                <a:solidFill>
                  <a:srgbClr val="FF0000"/>
                </a:solidFill>
              </a:rPr>
              <a:t>a partir do qual somente se admite como critério ético aquele, que puder ser concebido como absolutamente universal.</a:t>
            </a:r>
            <a:r>
              <a:rPr lang="pt-BR" sz="3000" dirty="0"/>
              <a:t> </a:t>
            </a:r>
          </a:p>
          <a:p>
            <a:r>
              <a:rPr lang="pt-BR" sz="3000" b="1" dirty="0"/>
              <a:t>O caráter absolutamente universal do imperativo ético o esvazia de TODO E QUALQUER CONTEÚDO DETERMINADO</a:t>
            </a:r>
            <a:r>
              <a:rPr lang="pt-BR" sz="3000" dirty="0"/>
              <a:t>, fazendo com que a razão prática, ao enunciá-lo, não se comprometa com qualquer motivação que não seja a pura e simples forma de lei moral. </a:t>
            </a:r>
          </a:p>
        </p:txBody>
      </p:sp>
    </p:spTree>
    <p:extLst>
      <p:ext uri="{BB962C8B-B14F-4D97-AF65-F5344CB8AC3E}">
        <p14:creationId xmlns:p14="http://schemas.microsoft.com/office/powerpoint/2010/main" val="9791597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332656"/>
            <a:ext cx="8401080" cy="6239616"/>
          </a:xfrm>
        </p:spPr>
        <p:txBody>
          <a:bodyPr>
            <a:normAutofit lnSpcReduction="10000"/>
          </a:bodyPr>
          <a:lstStyle/>
          <a:p>
            <a:r>
              <a:rPr lang="pt-BR" sz="3000" dirty="0"/>
              <a:t>No século XIX inglês, filósofos como </a:t>
            </a:r>
            <a:r>
              <a:rPr lang="pt-BR" sz="3000" dirty="0" err="1"/>
              <a:t>Benthan</a:t>
            </a:r>
            <a:r>
              <a:rPr lang="pt-BR" sz="3000" dirty="0"/>
              <a:t> e Stuart Mill </a:t>
            </a:r>
            <a:r>
              <a:rPr lang="pt-BR" sz="3000" b="1" dirty="0">
                <a:solidFill>
                  <a:srgbClr val="FF0000"/>
                </a:solidFill>
              </a:rPr>
              <a:t>propuseram que a utilidade do ato poderia ser medida da moralidade. </a:t>
            </a:r>
          </a:p>
          <a:p>
            <a:endParaRPr lang="pt-BR" sz="3000" dirty="0"/>
          </a:p>
          <a:p>
            <a:r>
              <a:rPr lang="pt-BR" sz="3000" b="1" dirty="0"/>
              <a:t>O QUE FOSSE MAIS ÚTIL PARA O MAIOR NÚMERO DE PESSOAS, OU O QUE PROPORCIONASSE A MAIOR SOMA DE FELICIDADE E BEM-ESTAR DEVERIA SER ELEITO COMO A AÇÃO MAIS JUSTA</a:t>
            </a:r>
            <a:r>
              <a:rPr lang="pt-BR" sz="3000" dirty="0"/>
              <a:t>. </a:t>
            </a:r>
          </a:p>
          <a:p>
            <a:endParaRPr lang="pt-BR" sz="3000" dirty="0"/>
          </a:p>
          <a:p>
            <a:r>
              <a:rPr lang="pt-BR" sz="3000" dirty="0"/>
              <a:t>Isto põe o difícil problema de eleição do valor que deverá medir a moralidade dos atos.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332656"/>
            <a:ext cx="8401080" cy="6239616"/>
          </a:xfrm>
        </p:spPr>
        <p:txBody>
          <a:bodyPr>
            <a:normAutofit/>
          </a:bodyPr>
          <a:lstStyle/>
          <a:p>
            <a:r>
              <a:rPr lang="pt-BR" sz="3300" b="1" dirty="0">
                <a:solidFill>
                  <a:srgbClr val="0070C0"/>
                </a:solidFill>
              </a:rPr>
              <a:t>Esse valor deverá ser a utilidade? </a:t>
            </a:r>
          </a:p>
          <a:p>
            <a:r>
              <a:rPr lang="pt-BR" sz="3300" b="1" dirty="0">
                <a:solidFill>
                  <a:srgbClr val="0070C0"/>
                </a:solidFill>
              </a:rPr>
              <a:t>Em que se fundamentaria essa afirmação? </a:t>
            </a:r>
          </a:p>
          <a:p>
            <a:endParaRPr lang="pt-BR" sz="3300" dirty="0"/>
          </a:p>
          <a:p>
            <a:r>
              <a:rPr lang="pt-BR" sz="3300" b="1" dirty="0">
                <a:solidFill>
                  <a:srgbClr val="FF0000"/>
                </a:solidFill>
              </a:rPr>
              <a:t>Felicidade, utilidade, bem-estar, prazer são critérios que podem, imediatamente, ser considerados como universais? </a:t>
            </a:r>
          </a:p>
          <a:p>
            <a:endParaRPr lang="pt-BR" sz="3300" dirty="0"/>
          </a:p>
          <a:p>
            <a:r>
              <a:rPr lang="pt-BR" sz="3300" dirty="0"/>
              <a:t>Como e por que elegemos tais e tais valores de preferência a outros?</a:t>
            </a:r>
          </a:p>
        </p:txBody>
      </p:sp>
    </p:spTree>
    <p:extLst>
      <p:ext uri="{BB962C8B-B14F-4D97-AF65-F5344CB8AC3E}">
        <p14:creationId xmlns:p14="http://schemas.microsoft.com/office/powerpoint/2010/main" val="10581861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476672"/>
            <a:ext cx="8401080" cy="6095600"/>
          </a:xfrm>
        </p:spPr>
        <p:txBody>
          <a:bodyPr>
            <a:noAutofit/>
          </a:bodyPr>
          <a:lstStyle/>
          <a:p>
            <a:r>
              <a:rPr lang="pt-BR" sz="2900" b="1" dirty="0">
                <a:solidFill>
                  <a:srgbClr val="FF0000"/>
                </a:solidFill>
              </a:rPr>
              <a:t>Uma coisa é certa: valores não são coisas, embora deles possamos ter experiência. </a:t>
            </a:r>
          </a:p>
          <a:p>
            <a:r>
              <a:rPr lang="pt-BR" sz="2900" b="1" u="sng" dirty="0"/>
              <a:t>Esta constatação encorajou alguns teóricos a afirmar que é possível pensar numa região de valores, indefiníveis objetivamente, mas que poderiam ser intuídos a partir de atitudes mentais e afetivas adequadas</a:t>
            </a:r>
            <a:r>
              <a:rPr lang="pt-BR" sz="2900" dirty="0"/>
              <a:t>. </a:t>
            </a:r>
          </a:p>
          <a:p>
            <a:r>
              <a:rPr lang="pt-BR" sz="2900" b="1" dirty="0">
                <a:solidFill>
                  <a:srgbClr val="FF0000"/>
                </a:solidFill>
              </a:rPr>
              <a:t>Seriam como essências que transcendem o mundo, mas às quais poderíamos ter acesso, de maneira semelhante à que os platônicos pensavam poder atingir um mundo de idéias.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476672"/>
            <a:ext cx="8401080" cy="6095600"/>
          </a:xfrm>
        </p:spPr>
        <p:txBody>
          <a:bodyPr>
            <a:noAutofit/>
          </a:bodyPr>
          <a:lstStyle/>
          <a:p>
            <a:r>
              <a:rPr lang="pt-BR" sz="2900" dirty="0" err="1"/>
              <a:t>Fenomenólogos</a:t>
            </a:r>
            <a:r>
              <a:rPr lang="pt-BR" sz="2900" dirty="0"/>
              <a:t> como </a:t>
            </a:r>
            <a:r>
              <a:rPr lang="pt-BR" sz="2900" dirty="0" err="1"/>
              <a:t>Scheller</a:t>
            </a:r>
            <a:r>
              <a:rPr lang="pt-BR" sz="2900" dirty="0"/>
              <a:t> esposaram esta concepção. </a:t>
            </a:r>
          </a:p>
          <a:p>
            <a:r>
              <a:rPr lang="pt-BR" sz="2900" b="1" dirty="0">
                <a:solidFill>
                  <a:schemeClr val="accent2">
                    <a:lumMod val="75000"/>
                  </a:schemeClr>
                </a:solidFill>
              </a:rPr>
              <a:t>Mas se a moral depende de "objetos" que nos transcendem a tal ponto, como entender a mediação entre tais essências e a ação concreta? </a:t>
            </a:r>
          </a:p>
          <a:p>
            <a:r>
              <a:rPr lang="pt-BR" sz="2900" b="1" dirty="0">
                <a:solidFill>
                  <a:srgbClr val="FF0000"/>
                </a:solidFill>
              </a:rPr>
              <a:t>Não cairíamos aqui numa outra armadilha do absoluto, análoga ao formalismo moral?</a:t>
            </a:r>
            <a:r>
              <a:rPr lang="pt-BR" sz="2900" dirty="0"/>
              <a:t> </a:t>
            </a:r>
            <a:r>
              <a:rPr lang="pt-BR" sz="2900" b="1" dirty="0"/>
              <a:t>CRITÉRIOS ÉTICOS DESPOJADOS DA CONCRETUDE MORAL NÃO SÃO MERAS PALAVRAS?</a:t>
            </a:r>
            <a:r>
              <a:rPr lang="pt-BR" sz="2900" dirty="0"/>
              <a:t> Em suma, é possível questionar a pertinência de "objetos ideais" a ações concretas. </a:t>
            </a:r>
          </a:p>
        </p:txBody>
      </p:sp>
    </p:spTree>
    <p:extLst>
      <p:ext uri="{BB962C8B-B14F-4D97-AF65-F5344CB8AC3E}">
        <p14:creationId xmlns:p14="http://schemas.microsoft.com/office/powerpoint/2010/main" val="8557597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476672"/>
            <a:ext cx="8401080" cy="6095600"/>
          </a:xfrm>
        </p:spPr>
        <p:txBody>
          <a:bodyPr>
            <a:normAutofit/>
          </a:bodyPr>
          <a:lstStyle/>
          <a:p>
            <a:r>
              <a:rPr lang="pt-BR" sz="3300" dirty="0"/>
              <a:t>Ou tais objetos estariam distanciados da densidade complexa da vida ética efetiva, caso em que seriam "meramente" ideais; ou, se concretos e reais, somente poderiam ser entendidos como duplicações de valores vividos, caso em que dificilmente se compreenderia a razão de sua existência. </a:t>
            </a:r>
          </a:p>
          <a:p>
            <a:r>
              <a:rPr lang="pt-BR" sz="3300" b="1" dirty="0">
                <a:solidFill>
                  <a:srgbClr val="FF0000"/>
                </a:solidFill>
              </a:rPr>
              <a:t>O fato é que a ética não pode ser separada da experiência efetiva dos valores.</a:t>
            </a:r>
          </a:p>
        </p:txBody>
      </p:sp>
    </p:spTree>
    <p:extLst>
      <p:ext uri="{BB962C8B-B14F-4D97-AF65-F5344CB8AC3E}">
        <p14:creationId xmlns:p14="http://schemas.microsoft.com/office/powerpoint/2010/main" val="10817633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260648"/>
            <a:ext cx="8401080" cy="6311624"/>
          </a:xfrm>
        </p:spPr>
        <p:txBody>
          <a:bodyPr>
            <a:noAutofit/>
          </a:bodyPr>
          <a:lstStyle/>
          <a:p>
            <a:r>
              <a:rPr lang="pt-BR" sz="2800" dirty="0"/>
              <a:t>A questão está em saber de que experiência se trata. </a:t>
            </a:r>
          </a:p>
          <a:p>
            <a:r>
              <a:rPr lang="pt-BR" sz="2800" b="1" dirty="0"/>
              <a:t>TENDÊNCIAS NEO-POSITIVISTAS EM FILOSOFIA QUESTIONARAM A CONCEPÇÃO QUE EXPUSEMOS </a:t>
            </a:r>
            <a:r>
              <a:rPr lang="pt-BR" sz="2800" dirty="0"/>
              <a:t>acima </a:t>
            </a:r>
            <a:r>
              <a:rPr lang="pt-BR" sz="2800" b="1" dirty="0">
                <a:solidFill>
                  <a:srgbClr val="FF0000"/>
                </a:solidFill>
              </a:rPr>
              <a:t>argumentando que palavras ou enunciados que não descrevem fatos ou não expressam tautologia lógico-matemáticas carecem de sentido objetivo. </a:t>
            </a:r>
          </a:p>
          <a:p>
            <a:r>
              <a:rPr lang="pt-BR" sz="2800" dirty="0"/>
              <a:t>Assim, proposições éticas alicerçadas em objetos ideais e que não denotem fatos de experiência não teriam significado real. Seriam, no máximo, expressões de emoções subjetivas. </a:t>
            </a:r>
          </a:p>
        </p:txBody>
      </p:sp>
    </p:spTree>
    <p:extLst>
      <p:ext uri="{BB962C8B-B14F-4D97-AF65-F5344CB8AC3E}">
        <p14:creationId xmlns:p14="http://schemas.microsoft.com/office/powerpoint/2010/main" val="41141751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260648"/>
            <a:ext cx="8401080" cy="6311624"/>
          </a:xfrm>
        </p:spPr>
        <p:txBody>
          <a:bodyPr>
            <a:normAutofit/>
          </a:bodyPr>
          <a:lstStyle/>
          <a:p>
            <a:endParaRPr lang="pt-BR" sz="3300" dirty="0"/>
          </a:p>
          <a:p>
            <a:r>
              <a:rPr lang="pt-BR" sz="3300" dirty="0"/>
              <a:t>Trata-se talvez do extremo oposto à concepção de um "mundo de valores". </a:t>
            </a:r>
          </a:p>
          <a:p>
            <a:r>
              <a:rPr lang="pt-BR" sz="3300" b="1" dirty="0">
                <a:solidFill>
                  <a:srgbClr val="FF0000"/>
                </a:solidFill>
              </a:rPr>
              <a:t>Mas, por outro lado, não se pode aceitar a exigência de que enunciados éticos se refiram direta e exclusivamente a fatos: isto seria violentar a especificidade da Ética. </a:t>
            </a:r>
          </a:p>
        </p:txBody>
      </p:sp>
    </p:spTree>
    <p:extLst>
      <p:ext uri="{BB962C8B-B14F-4D97-AF65-F5344CB8AC3E}">
        <p14:creationId xmlns:p14="http://schemas.microsoft.com/office/powerpoint/2010/main" val="6593247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260648"/>
            <a:ext cx="8401080" cy="6311624"/>
          </a:xfrm>
        </p:spPr>
        <p:txBody>
          <a:bodyPr>
            <a:normAutofit lnSpcReduction="10000"/>
          </a:bodyPr>
          <a:lstStyle/>
          <a:p>
            <a:r>
              <a:rPr lang="pt-BR" sz="2900" b="1" dirty="0">
                <a:solidFill>
                  <a:srgbClr val="FF0000"/>
                </a:solidFill>
              </a:rPr>
              <a:t>É o caso de se recordar aqui uma obviedade: as coisas ou os fatos são; os valores valem</a:t>
            </a:r>
            <a:r>
              <a:rPr lang="pt-BR" sz="2900" dirty="0"/>
              <a:t>. Isto não significa a inexistência da experiência moral. </a:t>
            </a:r>
          </a:p>
          <a:p>
            <a:r>
              <a:rPr lang="pt-BR" sz="2900" dirty="0"/>
              <a:t>Pelo contrário, esta é, provavelmente, a única realidade moral efetiva. </a:t>
            </a:r>
          </a:p>
          <a:p>
            <a:r>
              <a:rPr lang="pt-BR" sz="2900" dirty="0"/>
              <a:t>Só que se trata de uma experiência íntima, praticamente irredutível à descrição factual. </a:t>
            </a:r>
          </a:p>
          <a:p>
            <a:r>
              <a:rPr lang="pt-BR" sz="2900" b="1" u="sng" dirty="0"/>
              <a:t>Qualquer um que tenha vivido um conflito ético em alguma situação específica sabe avaliar a realidade dessa experiência íntima, e o seu caráter, muitas vezes doloroso, é a maior prova de sua existência real. </a:t>
            </a:r>
          </a:p>
        </p:txBody>
      </p:sp>
    </p:spTree>
    <p:extLst>
      <p:ext uri="{BB962C8B-B14F-4D97-AF65-F5344CB8AC3E}">
        <p14:creationId xmlns:p14="http://schemas.microsoft.com/office/powerpoint/2010/main" val="40123277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285720" y="260648"/>
            <a:ext cx="8401080" cy="6311624"/>
          </a:xfrm>
        </p:spPr>
        <p:txBody>
          <a:bodyPr>
            <a:normAutofit/>
          </a:bodyPr>
          <a:lstStyle/>
          <a:p>
            <a:r>
              <a:rPr lang="pt-BR" sz="3000" dirty="0"/>
              <a:t>Outra coisa é exprimi-la e descrevê-la como o faríamos com fatos. </a:t>
            </a:r>
          </a:p>
          <a:p>
            <a:r>
              <a:rPr lang="pt-BR" sz="3000" dirty="0"/>
              <a:t>Se aceitamos esta maior abrangência da noção de experiência, não há porque negar a significação da experiência moral e de suas expressões aproximativas ou indiretas. </a:t>
            </a:r>
          </a:p>
          <a:p>
            <a:r>
              <a:rPr lang="pt-BR" sz="3000" b="1" dirty="0">
                <a:solidFill>
                  <a:srgbClr val="FF0000"/>
                </a:solidFill>
              </a:rPr>
              <a:t>É próprio das vivências interiores poderem ser descritas apenas metaforicamente</a:t>
            </a:r>
            <a:r>
              <a:rPr lang="pt-BR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92640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23528" y="188640"/>
            <a:ext cx="8363272" cy="6383632"/>
          </a:xfrm>
        </p:spPr>
        <p:txBody>
          <a:bodyPr>
            <a:normAutofit/>
          </a:bodyPr>
          <a:lstStyle/>
          <a:p>
            <a:r>
              <a:rPr lang="pt-BR" sz="3300" b="1" dirty="0">
                <a:solidFill>
                  <a:srgbClr val="FF0000"/>
                </a:solidFill>
              </a:rPr>
              <a:t>A ausência de objetividade factual nos impede de esperar que a Ética seja a ciência de justa escolha. </a:t>
            </a:r>
          </a:p>
          <a:p>
            <a:r>
              <a:rPr lang="pt-BR" sz="3300" dirty="0"/>
              <a:t>Ela seria mais um discernimento do tipo daquele que, como vimos mais atrás, Aristóteles havia chamado de prudência. 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23528" y="188640"/>
            <a:ext cx="8363272" cy="6383632"/>
          </a:xfrm>
        </p:spPr>
        <p:txBody>
          <a:bodyPr>
            <a:normAutofit/>
          </a:bodyPr>
          <a:lstStyle/>
          <a:p>
            <a:endParaRPr lang="pt-BR" sz="3300" dirty="0">
              <a:solidFill>
                <a:srgbClr val="FF0000"/>
              </a:solidFill>
            </a:endParaRPr>
          </a:p>
          <a:p>
            <a:r>
              <a:rPr lang="pt-BR" sz="3300" dirty="0">
                <a:solidFill>
                  <a:srgbClr val="FF0000"/>
                </a:solidFill>
              </a:rPr>
              <a:t>O rápido sumário histórico que esboçamos aqui nos mostrou as dificuldades do formalismo e do intelectualismo, mas também as aporias do relativismo total e de um radical subjetivismo. </a:t>
            </a:r>
          </a:p>
        </p:txBody>
      </p:sp>
    </p:spTree>
    <p:extLst>
      <p:ext uri="{BB962C8B-B14F-4D97-AF65-F5344CB8AC3E}">
        <p14:creationId xmlns:p14="http://schemas.microsoft.com/office/powerpoint/2010/main" val="14077946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23528" y="188640"/>
            <a:ext cx="8363272" cy="6383632"/>
          </a:xfrm>
        </p:spPr>
        <p:txBody>
          <a:bodyPr>
            <a:normAutofit/>
          </a:bodyPr>
          <a:lstStyle/>
          <a:p>
            <a:endParaRPr lang="pt-BR" sz="3300" dirty="0"/>
          </a:p>
          <a:p>
            <a:r>
              <a:rPr lang="pt-BR" sz="3300" dirty="0"/>
              <a:t>Devemos aceitar, embora possa parecer paradoxal, </a:t>
            </a:r>
            <a:r>
              <a:rPr lang="pt-BR" sz="3300" b="1" dirty="0">
                <a:solidFill>
                  <a:srgbClr val="FF0000"/>
                </a:solidFill>
              </a:rPr>
              <a:t>que a experiência ética é íntima mas também intersubjetiva. </a:t>
            </a:r>
          </a:p>
          <a:p>
            <a:r>
              <a:rPr lang="pt-BR" sz="3300" b="1" dirty="0">
                <a:solidFill>
                  <a:srgbClr val="0070C0"/>
                </a:solidFill>
              </a:rPr>
              <a:t>Qualquer decisão moral é sempre tomada tendo como pano de fundo a comunidade humana. </a:t>
            </a:r>
          </a:p>
          <a:p>
            <a:endParaRPr lang="pt-BR" sz="3300" dirty="0"/>
          </a:p>
          <a:p>
            <a:r>
              <a:rPr lang="pt-BR" sz="3300" dirty="0"/>
              <a:t>O DISCERNIMENTO É INSEPARÁVEL DA INTIMIDADE E DA INTERSUBJETIVIDADE. </a:t>
            </a:r>
          </a:p>
        </p:txBody>
      </p:sp>
    </p:spTree>
    <p:extLst>
      <p:ext uri="{BB962C8B-B14F-4D97-AF65-F5344CB8AC3E}">
        <p14:creationId xmlns:p14="http://schemas.microsoft.com/office/powerpoint/2010/main" val="32683831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323528" y="188640"/>
            <a:ext cx="8363272" cy="6383632"/>
          </a:xfrm>
        </p:spPr>
        <p:txBody>
          <a:bodyPr>
            <a:normAutofit/>
          </a:bodyPr>
          <a:lstStyle/>
          <a:p>
            <a:r>
              <a:rPr lang="pt-BR" sz="3300" dirty="0"/>
              <a:t>Julgamos não apenas as ações mas o valor que nelas se encarna: a grandeza ou a mesquinharia existem não apenas nas ações grandiosas ou mesquinhas mas antes delas, embora, como valores, só sejam vivenciadas e julgadas na experiência. </a:t>
            </a:r>
          </a:p>
          <a:p>
            <a:r>
              <a:rPr lang="pt-BR" sz="3300" b="1" dirty="0">
                <a:solidFill>
                  <a:srgbClr val="0070C0"/>
                </a:solidFill>
              </a:rPr>
              <a:t>É esta aparente ambigüidade que faz com que qualquer decisão envolva risco, que é apenas a conseqüência de não sermos oniscientes.</a:t>
            </a:r>
          </a:p>
        </p:txBody>
      </p:sp>
    </p:spTree>
    <p:extLst>
      <p:ext uri="{BB962C8B-B14F-4D97-AF65-F5344CB8AC3E}">
        <p14:creationId xmlns:p14="http://schemas.microsoft.com/office/powerpoint/2010/main" val="34821052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lcão Envidraçado">
  <a:themeElements>
    <a:clrScheme name="Balcão Envidraçado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Balcão Envidraçado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Balcão Envidraçad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232</TotalTime>
  <Words>2852</Words>
  <Application>Microsoft Office PowerPoint</Application>
  <PresentationFormat>Apresentação na tela (4:3)</PresentationFormat>
  <Paragraphs>168</Paragraphs>
  <Slides>50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54" baseType="lpstr">
      <vt:lpstr>Century Schoolbook</vt:lpstr>
      <vt:lpstr>Wingdings</vt:lpstr>
      <vt:lpstr>Wingdings 2</vt:lpstr>
      <vt:lpstr>Balcão Envidraçado</vt:lpstr>
      <vt:lpstr>Ética e Moralidade</vt:lpstr>
      <vt:lpstr>Ética: primórdio da reflexão ocidental</vt:lpstr>
      <vt:lpstr>Ética: primórdio da reflexão ocidental</vt:lpstr>
      <vt:lpstr>Ética: primórdio da reflexão ocidental</vt:lpstr>
      <vt:lpstr>Ética: primórdio da reflexão ocidental</vt:lpstr>
      <vt:lpstr>Mundo natural e Ser Humano</vt:lpstr>
      <vt:lpstr>Mundo natural e Ser Humano</vt:lpstr>
      <vt:lpstr>Mundo natural e Ser Humano</vt:lpstr>
      <vt:lpstr>Mundo natural e Ser Humano</vt:lpstr>
      <vt:lpstr>Harmonia entre Ser Humano e Cosmos</vt:lpstr>
      <vt:lpstr>Harmonia entre Ser Humano e Cosmos</vt:lpstr>
      <vt:lpstr>Harmonia entre Ser Humano e Cosmos</vt:lpstr>
      <vt:lpstr>Ser humano e sua interioridade</vt:lpstr>
      <vt:lpstr>Ser humano e sua interioridade</vt:lpstr>
      <vt:lpstr>Ser humano e sua interioridade</vt:lpstr>
      <vt:lpstr>Ser humano e sua interioridade</vt:lpstr>
      <vt:lpstr>Ser humano e sua interioridade</vt:lpstr>
      <vt:lpstr>Ser humano e sua interioridade</vt:lpstr>
      <vt:lpstr>Ser humano e sua interioridade</vt:lpstr>
      <vt:lpstr>Interioridade como Subjetividade</vt:lpstr>
      <vt:lpstr>Interioridade como Subjetividade</vt:lpstr>
      <vt:lpstr>Interioridade como Subjetividade</vt:lpstr>
      <vt:lpstr>Interioridade como Subjetividade</vt:lpstr>
      <vt:lpstr>Interioridade como Subjetividade</vt:lpstr>
      <vt:lpstr>Ética racional</vt:lpstr>
      <vt:lpstr>Ética racional</vt:lpstr>
      <vt:lpstr>Ética racional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Ética e Moralidade</dc:title>
  <dc:creator>User</dc:creator>
  <cp:lastModifiedBy>leonardo piacente</cp:lastModifiedBy>
  <cp:revision>7</cp:revision>
  <dcterms:created xsi:type="dcterms:W3CDTF">2020-03-02T20:08:45Z</dcterms:created>
  <dcterms:modified xsi:type="dcterms:W3CDTF">2022-03-14T21:59:55Z</dcterms:modified>
</cp:coreProperties>
</file>