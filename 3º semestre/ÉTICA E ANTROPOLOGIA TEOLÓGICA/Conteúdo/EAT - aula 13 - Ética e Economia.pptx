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59" r:id="rId4"/>
    <p:sldId id="263" r:id="rId5"/>
    <p:sldId id="260" r:id="rId6"/>
    <p:sldId id="264" r:id="rId7"/>
    <p:sldId id="265" r:id="rId8"/>
    <p:sldId id="261" r:id="rId9"/>
    <p:sldId id="266" r:id="rId10"/>
    <p:sldId id="267" r:id="rId11"/>
    <p:sldId id="262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4" r:id="rId23"/>
    <p:sldId id="25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D581E-21D2-4A31-ABD8-F7109C2E1517}" v="4" dt="2022-05-16T21:13:08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piacente" userId="0add8016af67c0e5" providerId="LiveId" clId="{9FAD581E-21D2-4A31-ABD8-F7109C2E1517}"/>
    <pc:docChg chg="custSel addSld modSld">
      <pc:chgData name="leonardo piacente" userId="0add8016af67c0e5" providerId="LiveId" clId="{9FAD581E-21D2-4A31-ABD8-F7109C2E1517}" dt="2022-05-16T21:16:49.165" v="63" actId="120"/>
      <pc:docMkLst>
        <pc:docMk/>
      </pc:docMkLst>
      <pc:sldChg chg="modSp mod">
        <pc:chgData name="leonardo piacente" userId="0add8016af67c0e5" providerId="LiveId" clId="{9FAD581E-21D2-4A31-ABD8-F7109C2E1517}" dt="2022-05-16T21:16:40.080" v="62" actId="120"/>
        <pc:sldMkLst>
          <pc:docMk/>
          <pc:sldMk cId="2670620295" sldId="259"/>
        </pc:sldMkLst>
        <pc:spChg chg="mod">
          <ac:chgData name="leonardo piacente" userId="0add8016af67c0e5" providerId="LiveId" clId="{9FAD581E-21D2-4A31-ABD8-F7109C2E1517}" dt="2022-05-16T21:16:40.080" v="62" actId="120"/>
          <ac:spMkLst>
            <pc:docMk/>
            <pc:sldMk cId="2670620295" sldId="259"/>
            <ac:spMk id="3" creationId="{DAD93F8C-412B-F97A-AB59-3BDC595542F2}"/>
          </ac:spMkLst>
        </pc:spChg>
      </pc:sldChg>
      <pc:sldChg chg="modSp mod">
        <pc:chgData name="leonardo piacente" userId="0add8016af67c0e5" providerId="LiveId" clId="{9FAD581E-21D2-4A31-ABD8-F7109C2E1517}" dt="2022-05-16T21:16:49.165" v="63" actId="120"/>
        <pc:sldMkLst>
          <pc:docMk/>
          <pc:sldMk cId="4156736661" sldId="263"/>
        </pc:sldMkLst>
        <pc:spChg chg="mod">
          <ac:chgData name="leonardo piacente" userId="0add8016af67c0e5" providerId="LiveId" clId="{9FAD581E-21D2-4A31-ABD8-F7109C2E1517}" dt="2022-05-16T21:16:49.165" v="63" actId="120"/>
          <ac:spMkLst>
            <pc:docMk/>
            <pc:sldMk cId="4156736661" sldId="263"/>
            <ac:spMk id="3" creationId="{DAD93F8C-412B-F97A-AB59-3BDC595542F2}"/>
          </ac:spMkLst>
        </pc:spChg>
      </pc:sldChg>
      <pc:sldChg chg="modSp mod">
        <pc:chgData name="leonardo piacente" userId="0add8016af67c0e5" providerId="LiveId" clId="{9FAD581E-21D2-4A31-ABD8-F7109C2E1517}" dt="2022-05-16T21:13:55.442" v="12" actId="120"/>
        <pc:sldMkLst>
          <pc:docMk/>
          <pc:sldMk cId="4210660990" sldId="273"/>
        </pc:sldMkLst>
        <pc:spChg chg="mod">
          <ac:chgData name="leonardo piacente" userId="0add8016af67c0e5" providerId="LiveId" clId="{9FAD581E-21D2-4A31-ABD8-F7109C2E1517}" dt="2022-05-16T21:13:55.442" v="12" actId="120"/>
          <ac:spMkLst>
            <pc:docMk/>
            <pc:sldMk cId="4210660990" sldId="273"/>
            <ac:spMk id="3" creationId="{DAD93F8C-412B-F97A-AB59-3BDC595542F2}"/>
          </ac:spMkLst>
        </pc:spChg>
      </pc:sldChg>
      <pc:sldChg chg="modSp mod">
        <pc:chgData name="leonardo piacente" userId="0add8016af67c0e5" providerId="LiveId" clId="{9FAD581E-21D2-4A31-ABD8-F7109C2E1517}" dt="2022-05-16T21:16:05.219" v="58" actId="255"/>
        <pc:sldMkLst>
          <pc:docMk/>
          <pc:sldMk cId="1022503364" sldId="274"/>
        </pc:sldMkLst>
        <pc:spChg chg="mod">
          <ac:chgData name="leonardo piacente" userId="0add8016af67c0e5" providerId="LiveId" clId="{9FAD581E-21D2-4A31-ABD8-F7109C2E1517}" dt="2022-05-16T21:16:05.219" v="58" actId="255"/>
          <ac:spMkLst>
            <pc:docMk/>
            <pc:sldMk cId="1022503364" sldId="274"/>
            <ac:spMk id="3" creationId="{DAD93F8C-412B-F97A-AB59-3BDC595542F2}"/>
          </ac:spMkLst>
        </pc:spChg>
      </pc:sldChg>
      <pc:sldChg chg="modSp add mod">
        <pc:chgData name="leonardo piacente" userId="0add8016af67c0e5" providerId="LiveId" clId="{9FAD581E-21D2-4A31-ABD8-F7109C2E1517}" dt="2022-05-16T21:14:40.712" v="27" actId="6549"/>
        <pc:sldMkLst>
          <pc:docMk/>
          <pc:sldMk cId="4234217811" sldId="275"/>
        </pc:sldMkLst>
        <pc:spChg chg="mod">
          <ac:chgData name="leonardo piacente" userId="0add8016af67c0e5" providerId="LiveId" clId="{9FAD581E-21D2-4A31-ABD8-F7109C2E1517}" dt="2022-05-16T21:14:40.712" v="27" actId="6549"/>
          <ac:spMkLst>
            <pc:docMk/>
            <pc:sldMk cId="4234217811" sldId="275"/>
            <ac:spMk id="3" creationId="{DAD93F8C-412B-F97A-AB59-3BDC595542F2}"/>
          </ac:spMkLst>
        </pc:spChg>
      </pc:sldChg>
      <pc:sldChg chg="modSp add mod">
        <pc:chgData name="leonardo piacente" userId="0add8016af67c0e5" providerId="LiveId" clId="{9FAD581E-21D2-4A31-ABD8-F7109C2E1517}" dt="2022-05-16T21:15:07.762" v="39" actId="14100"/>
        <pc:sldMkLst>
          <pc:docMk/>
          <pc:sldMk cId="1992627754" sldId="276"/>
        </pc:sldMkLst>
        <pc:spChg chg="mod">
          <ac:chgData name="leonardo piacente" userId="0add8016af67c0e5" providerId="LiveId" clId="{9FAD581E-21D2-4A31-ABD8-F7109C2E1517}" dt="2022-05-16T21:15:07.762" v="39" actId="14100"/>
          <ac:spMkLst>
            <pc:docMk/>
            <pc:sldMk cId="1992627754" sldId="276"/>
            <ac:spMk id="3" creationId="{DAD93F8C-412B-F97A-AB59-3BDC595542F2}"/>
          </ac:spMkLst>
        </pc:spChg>
      </pc:sldChg>
      <pc:sldChg chg="modSp add mod">
        <pc:chgData name="leonardo piacente" userId="0add8016af67c0e5" providerId="LiveId" clId="{9FAD581E-21D2-4A31-ABD8-F7109C2E1517}" dt="2022-05-16T21:15:26.564" v="44" actId="255"/>
        <pc:sldMkLst>
          <pc:docMk/>
          <pc:sldMk cId="1634485240" sldId="277"/>
        </pc:sldMkLst>
        <pc:spChg chg="mod">
          <ac:chgData name="leonardo piacente" userId="0add8016af67c0e5" providerId="LiveId" clId="{9FAD581E-21D2-4A31-ABD8-F7109C2E1517}" dt="2022-05-16T21:15:26.564" v="44" actId="255"/>
          <ac:spMkLst>
            <pc:docMk/>
            <pc:sldMk cId="1634485240" sldId="277"/>
            <ac:spMk id="3" creationId="{DAD93F8C-412B-F97A-AB59-3BDC595542F2}"/>
          </ac:spMkLst>
        </pc:spChg>
      </pc:sldChg>
      <pc:sldChg chg="modSp add mod">
        <pc:chgData name="leonardo piacente" userId="0add8016af67c0e5" providerId="LiveId" clId="{9FAD581E-21D2-4A31-ABD8-F7109C2E1517}" dt="2022-05-16T21:15:50.616" v="53" actId="120"/>
        <pc:sldMkLst>
          <pc:docMk/>
          <pc:sldMk cId="457854535" sldId="278"/>
        </pc:sldMkLst>
        <pc:spChg chg="mod">
          <ac:chgData name="leonardo piacente" userId="0add8016af67c0e5" providerId="LiveId" clId="{9FAD581E-21D2-4A31-ABD8-F7109C2E1517}" dt="2022-05-16T21:15:50.616" v="53" actId="120"/>
          <ac:spMkLst>
            <pc:docMk/>
            <pc:sldMk cId="457854535" sldId="278"/>
            <ac:spMk id="3" creationId="{DAD93F8C-412B-F97A-AB59-3BDC595542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131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16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49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85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85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58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7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1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08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824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09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4671C-6308-4F4A-BDCE-9A4AF34C4372}" type="datetimeFigureOut">
              <a:rPr lang="pt-BR" smtClean="0"/>
              <a:t>16/05/2022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9AE33ED-B077-4F1F-AD59-184EF56893C8}" type="slidenum">
              <a:rPr lang="pt-BR" smtClean="0"/>
              <a:t>‹nº›</a:t>
            </a:fld>
            <a:endParaRPr lang="pt-BR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07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FA985-81B0-980C-A275-90FC1514F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ÉTICA E ECONOMIA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016F02-B671-9587-C484-57FE72CA60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t-BR" dirty="0"/>
              <a:t>ÉTICA E ANTROPOLOGIA TEOLÓGICA </a:t>
            </a:r>
          </a:p>
          <a:p>
            <a:pPr algn="l"/>
            <a:r>
              <a:rPr lang="pt-BR" dirty="0"/>
              <a:t>PROF. PE. LEONARDO HENRIQUE PIACENTE</a:t>
            </a:r>
          </a:p>
        </p:txBody>
      </p:sp>
    </p:spTree>
    <p:extLst>
      <p:ext uri="{BB962C8B-B14F-4D97-AF65-F5344CB8AC3E}">
        <p14:creationId xmlns:p14="http://schemas.microsoft.com/office/powerpoint/2010/main" val="280247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9D9E4-4E1C-AC59-9C42-80945D10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juntar economia e ética, sociedade e natureza</a:t>
            </a:r>
            <a:br>
              <a:rPr lang="pt-BR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40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F0AD67-3810-78A1-8BB8-0A7A8E9F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de maio de 2012</a:t>
            </a:r>
            <a:br>
              <a:rPr lang="pt-B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Ricardo Abramovay</a:t>
            </a:r>
            <a:r>
              <a:rPr lang="pt-B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é professor Sênior do Programa de Ciência Ambiental do IEE/USP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353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FANTASIOSO NÃO É a necessidade de mudanças profundas na organização social contemporânea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5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 A ILUSÃO DE que se pode persistir na maneira habitual de fazer as coisas, o chamado “business as usual”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620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Essa é uma das premissas básicas do recém-publicado relatório que as Nações Unidas encomendaram aos mais importantes nomes da economia ecológica mundial. Alguns de seus autores, como Tim Jackson e Peter Victor, estarão no Brasil por ocasião da Rio+20, participando do Encontro da Sociedade Internacional de Economia Ecológica, do Fórum de Empreendedorismo Social e dos Diálogos Sustentáveis.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73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mensagem básica de seus trabalhos, contrariamente ao que frequentemente se divulga, de forma equivocada, não é avessa ao crescimento econômico: </a:t>
            </a:r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trata-se, sim, de subordinar o crescimento tanto à satisfação de reais necessidades humanas como aos limites dos ecossistemas.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pt-BR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Essa subordinação tem o potencial de produzir mais e não menos bem-estar que o oferecido pelo padrão atual de uso dos recursos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cuja inviabilidade o texto coloca em destaque. 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55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407504"/>
            <a:ext cx="10412139" cy="5058841"/>
          </a:xfrm>
        </p:spPr>
        <p:txBody>
          <a:bodyPr>
            <a:noAutofit/>
          </a:bodyPr>
          <a:lstStyle/>
          <a:p>
            <a:pPr algn="just"/>
            <a:r>
              <a:rPr lang="pt-BR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título do relatório já é um verdadeiro programa de trabalho: “Construir uma economia-na-sociedade-na-natureza, que seja sustentável e desejável”. Vale a pena destrinchar essa estranha consigna.</a:t>
            </a:r>
            <a:endParaRPr lang="pt-B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ordem das palavras entre os traços de união é fundamental: </a:t>
            </a:r>
            <a:r>
              <a:rPr lang="pt-BR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longe [ECONOMIA] de ser uma esfera autônoma da vida social, regida por leis próprias e que funcionaria tanto melhor quanto menos recebesse interferências externas, </a:t>
            </a:r>
            <a:r>
              <a:rPr lang="pt-BR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economia está imersa, mergulhada, embebida na sociedade.</a:t>
            </a:r>
            <a:endParaRPr lang="pt-BR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4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pPr algn="just"/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bem verdade que os atores econômicos são movidos pela obtenção de ganhos individuais. </a:t>
            </a:r>
          </a:p>
          <a:p>
            <a:pPr algn="just"/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Mas reconhecer sua inserção significa </a:t>
            </a:r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admitir a possibilidade de que a cultura, as pressões, os movimentos e as reivindicações sociais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 EXPRIMAM NA VIDA ECONÔMICA POR MEIOS QUE VÃO MUITO ALÉM DAQUILO QUE OS PREÇOS SÃO CAPAZES DE DIZER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7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r>
              <a:rPr lang="pt-BR" sz="33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Mais que isso: significa que as INICIATIVAS ECONÔMICAS NÃO SÃO PRODUTOS EMERGENTES DE FORÇAS DESCENTRALIZADAS, mas, ao contrário, </a:t>
            </a:r>
            <a:r>
              <a:rPr lang="pt-BR" sz="33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RESPONDEM A INTERESSES E A CONCEPÇÕES QUE SE TRANSFORMAM AO LONGO DO TEMPO, PARA O BEM E PARA O MAL</a:t>
            </a:r>
            <a:r>
              <a:rPr lang="pt-BR" sz="33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3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28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ESSA É A RAIZ SOCIAL DA MAIS IMPORTANTE ASPIRAÇÃO DAS SOCIEDADES CONTEMPORÂNEAS QUE É A REINCORPORAÇÃO DA ÉTICA NO CORAÇÃO DA GESTÃO ECONÔMICA.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26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407504"/>
            <a:ext cx="10044391" cy="5058841"/>
          </a:xfrm>
        </p:spPr>
        <p:txBody>
          <a:bodyPr>
            <a:no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só não será um voto piedoso e inconsequente caso se admita a possibilidade de que a sociedade civil seja capaz de falar não apenas por meio de processos eleitorais ou de suas organizações próprias, mas também interferindo nas empresas e nos mercados. 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 ECONOMIA ESTÁ NA SOCIEDADE 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(primeiro traço de união) </a:t>
            </a:r>
            <a:r>
              <a:rPr lang="pt-BR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exatamente pelo fato de a sociedade se exprimir o tempo todo no interior da economia.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65469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pPr algn="just"/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Mas, contrariando o que reza a história das ciências sociais desde o séc. XVIII, </a:t>
            </a:r>
            <a:r>
              <a:rPr lang="pt-BR" sz="30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sociedade não pode ser analisada, ela mesma, de maneira autônoma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 reprodução social apoia-se na energia que o Planeta recebe do Sol e naquilo que a espécie humana extrai da superfície da Terra. Da mesma forma, ela depende dos inúmeros detritos que as sociedades produzem, sob a forma de lixo, poluição, emissões de gases de efeito estufa e erosão da biodiversidade.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2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ESTUDO DA VIDA SOCIAL SUPÕE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claro, o conhecimento das instituições, das desigualdades, da cultura, mas seu ponto de partida só pode ser a RELAÇÃO METABÓLICA ESTABELECIDA ENTRE A ESPÉCIE HUMANA E OS RECURSOS ENERGÉTICOS, MATERIAIS E BIÓTICOS EM QUE ELA SE FUNDAMENTA.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41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1960, quando o mundo tinha 3 bilhões de habitantes, esta questão não existia para as ciências sociais, nem para as empresas ou os governos. Tudo se passava como se a elevação da produtividade do capital e do trabalho fosse a condição necessária e suficiente para ampliar a riqueza social.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38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Hoje não: num mundo com 7 bilhões de habitantes e que ruma para 10 bilhões, </a:t>
            </a:r>
            <a:r>
              <a:rPr lang="pt-BR" sz="35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HÁ </a:t>
            </a:r>
            <a:r>
              <a:rPr lang="pt-BR" sz="35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MAIOR DESAFIO SOCIAL</a:t>
            </a:r>
            <a:r>
              <a:rPr lang="pt-BR" sz="35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O DE TORNAR COMPATÍVEL A SATISFAÇÃO DAS NECESSIDADES HUMANAS COM AS FRONTEIRAS ECOSSISTÊMICAS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algumas das quais já perigosamente ultrapassadas.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76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 economia verde (a mudança na matriz energética mundial, a ecoeficiência e a exploração sustentável da biodiversidade) é apenas uma das bases dessa compatibilização.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376841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 as informações produzidas desde o início de 2011 para a Rio+20, por relatórios da ONU e por estudos das grandes consultorias globais, convergem numa constatação básica: </a:t>
            </a:r>
            <a:r>
              <a:rPr lang="pt-BR" sz="30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mais que continuem avançando as transformações tecnológicas em direção a produção mais limpa</a:t>
            </a:r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 não serão suficientes para impedir</a:t>
            </a:r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o atual ritmo de crescimento econômico mundial comprometa a manutenção e a regeneração dos ecossistemas.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859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10352504" cy="5058841"/>
          </a:xfrm>
        </p:spPr>
        <p:txBody>
          <a:bodyPr>
            <a:no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ideia de que, onde houver escassez de energia e materiais, os mercados sinalizarão aos empresários as mudanças necessárias para que a oferta de bens e serviços permaneça, só pode ser encarada como um mito: O MITO DO CRESCIMENTO ECONÔMICO PERPÉTUO.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é por isso que o título do documento reivindica que esta economia-na-sociedade-na-natureza SEJA SUSTENTÁVEL, MAS QUE TAMBÉM SEJA DESEJÁVEL.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660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Autofit/>
          </a:bodyPr>
          <a:lstStyle/>
          <a:p>
            <a:pPr algn="just"/>
            <a:r>
              <a:rPr lang="pt-BR" sz="25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DESEJÁVEL</a:t>
            </a:r>
            <a:r>
              <a:rPr lang="pt-BR" sz="2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5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corresponde exatamente à urgente inserção de CONSIDERAÇÕES DE NATUREZA ÉTICA no interior das decisões econômicas.</a:t>
            </a:r>
            <a:r>
              <a:rPr lang="pt-BR" sz="2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Não se trata de colocar em funcionamento um sistema mecânico que apenas propicia aumento do emprego, da arrecadação de impostos e traz algum tipo de inovação, por mais importantes que seja garantir o trabalho remunerado, a saúde das contas públicas e a pesquisa em torno de novos produtos e processos.</a:t>
            </a:r>
            <a:r>
              <a:rPr lang="pt-BR" sz="25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palavra desejável </a:t>
            </a:r>
            <a:r>
              <a:rPr lang="pt-BR" sz="25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 o fato de que será cada vez mais importante entrar no mérito da real utilidade social daquilo que a economia oferece às sociedades humanas.</a:t>
            </a:r>
            <a:r>
              <a:rPr lang="pt-BR" sz="2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pt-BR" sz="2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17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407504"/>
            <a:ext cx="10024513" cy="5058841"/>
          </a:xfrm>
        </p:spPr>
        <p:txBody>
          <a:bodyPr>
            <a:noAutofit/>
          </a:bodyPr>
          <a:lstStyle/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que, por exemplo, mais mil carros por dia em São Paulo, se o trânsito está cada vez pior?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 mundo relativamente vazio, essa questão não se colocava. Diante da doença que marca o metabolismo social contemporâneo e da profunda desigualdade no uso dos recursos, </a:t>
            </a:r>
            <a:r>
              <a:rPr lang="pt-BR" sz="3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QUESTÃO CENTRAL DA GESTÃO ECONÔMICA NÃO CONSISTE APENAS EM SABER COMO SE PRODUZ (COM MAIOR OU MENOR ECOEFICIÊNCIA).</a:t>
            </a:r>
            <a:endParaRPr lang="pt-BR" sz="3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627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pPr algn="just"/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empresários, consumidores, governos e organizações civis, </a:t>
            </a:r>
            <a:r>
              <a:rPr lang="pt-BR" sz="35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MAIS IMPORTANTE HOJE É SABER PARA QUÊ E PARA QUEM SE OFERECEM OS BENS E OS SERVIÇOS QUE COMPÕEM A RIQUEZA SOCIAL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485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TRATA-SE DE DISCERNIR SE O AUMENTO DA RIQUEZA responde à lógica autônoma de um sistema que não sabe fazer outra coisa senão crescer</a:t>
            </a:r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5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 SE ELE TRAZ REAL PROSPERIDADE E MELHORIA PARA A VIDA DAS PESSOAS.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54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3F8C-412B-F97A-AB59-3BDC5955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407504"/>
            <a:ext cx="9520158" cy="5058841"/>
          </a:xfrm>
        </p:spPr>
        <p:txBody>
          <a:bodyPr>
            <a:normAutofit/>
          </a:bodyPr>
          <a:lstStyle/>
          <a:p>
            <a:r>
              <a:rPr lang="pt-BR" sz="3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Essa questão não está na pauta do que os governos vão discutir na Rio+20. Mas é fundamental que organizações da sociedade civil, governos e empresas sejam capazes de enfrentá-la.</a:t>
            </a:r>
            <a:endParaRPr lang="pt-BR" sz="35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503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DCFBE-1516-5820-E18A-F8C18970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ÉTICA E DESENVOLVIMENTO ECONÔMICO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0ED45-D3B5-B2FE-0B2A-D239CB845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15 de mar. de 2017 • Neste vídeo, Oscar </a:t>
            </a:r>
            <a:r>
              <a:rPr lang="pt-BR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Motomura</a:t>
            </a:r>
            <a:r>
              <a:rPr lang="pt-BR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comenta sobre a essência do sistema produtivo e ressalta como a ética interfere no desenvolvimento econômico de uma organização, comunidade e país.</a:t>
            </a:r>
            <a:endParaRPr lang="en-US" dirty="0"/>
          </a:p>
          <a:p>
            <a:r>
              <a:rPr lang="en-US" dirty="0"/>
              <a:t>youtube.com/</a:t>
            </a:r>
            <a:r>
              <a:rPr lang="en-US" dirty="0" err="1"/>
              <a:t>watch?v</a:t>
            </a:r>
            <a:r>
              <a:rPr lang="en-US" dirty="0"/>
              <a:t>=RNP3ogVvuy4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018485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eria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1236</Words>
  <Application>Microsoft Office PowerPoint</Application>
  <PresentationFormat>Widescreen</PresentationFormat>
  <Paragraphs>34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Palatino Linotype</vt:lpstr>
      <vt:lpstr>Roboto</vt:lpstr>
      <vt:lpstr>Times New Roman</vt:lpstr>
      <vt:lpstr>Galeria</vt:lpstr>
      <vt:lpstr>ÉTICA E ECONOMIA </vt:lpstr>
      <vt:lpstr>Para juntar economia e ética, sociedade e natureza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ÉTICA E DESENVOLVIMENTO ECONÔMICO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ECONOMIA </dc:title>
  <dc:creator>leonardo piacente</dc:creator>
  <cp:lastModifiedBy>leonardo piacente</cp:lastModifiedBy>
  <cp:revision>1</cp:revision>
  <dcterms:created xsi:type="dcterms:W3CDTF">2022-05-16T20:58:02Z</dcterms:created>
  <dcterms:modified xsi:type="dcterms:W3CDTF">2022-05-16T21:16:53Z</dcterms:modified>
</cp:coreProperties>
</file>